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26.xml" ContentType="application/vnd.openxmlformats-officedocument.presentationml.slide+xml"/>
  <Override PartName="/ppt/slides/slide27.xml" ContentType="application/vnd.openxmlformats-officedocument.presentationml.slide+xml"/>
  <Override PartName="/ppt/presentation.xml" ContentType="application/vnd.openxmlformats-officedocument.presentationml.presentation.main+xml"/>
  <Override PartName="/ppt/slides/slide25.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7.xml" ContentType="application/vnd.openxmlformats-officedocument.presentationml.notesSlide+xml"/>
  <Override PartName="/ppt/slideLayouts/slideLayout3.xml" ContentType="application/vnd.openxmlformats-officedocument.presentationml.slideLayout+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4.xml" ContentType="application/vnd.openxmlformats-officedocument.presentationml.notesSlide+xml"/>
  <Override PartName="/ppt/slideMasters/slideMaster1.xml" ContentType="application/vnd.openxmlformats-officedocument.presentationml.slideMaster+xml"/>
  <Override PartName="/ppt/notesSlides/notesSlide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1.xml" ContentType="application/vnd.openxmlformats-officedocument.presentationml.notesSlide+xml"/>
  <Override PartName="/ppt/theme/theme2.xml" ContentType="application/vnd.openxmlformats-officedocument.theme+xml"/>
  <Override PartName="/ppt/theme/theme3.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32"/>
  </p:notesMasterIdLst>
  <p:handoutMasterIdLst>
    <p:handoutMasterId r:id="rId33"/>
  </p:handoutMasterIdLst>
  <p:sldIdLst>
    <p:sldId id="685" r:id="rId5"/>
    <p:sldId id="686" r:id="rId6"/>
    <p:sldId id="687" r:id="rId7"/>
    <p:sldId id="688" r:id="rId8"/>
    <p:sldId id="723" r:id="rId9"/>
    <p:sldId id="691" r:id="rId10"/>
    <p:sldId id="729" r:id="rId11"/>
    <p:sldId id="692" r:id="rId12"/>
    <p:sldId id="693" r:id="rId13"/>
    <p:sldId id="694" r:id="rId14"/>
    <p:sldId id="724" r:id="rId15"/>
    <p:sldId id="696" r:id="rId16"/>
    <p:sldId id="697" r:id="rId17"/>
    <p:sldId id="711" r:id="rId18"/>
    <p:sldId id="699" r:id="rId19"/>
    <p:sldId id="700" r:id="rId20"/>
    <p:sldId id="712" r:id="rId21"/>
    <p:sldId id="713" r:id="rId22"/>
    <p:sldId id="714" r:id="rId23"/>
    <p:sldId id="733" r:id="rId24"/>
    <p:sldId id="732" r:id="rId25"/>
    <p:sldId id="715" r:id="rId26"/>
    <p:sldId id="719" r:id="rId27"/>
    <p:sldId id="730" r:id="rId28"/>
    <p:sldId id="725" r:id="rId29"/>
    <p:sldId id="710" r:id="rId30"/>
    <p:sldId id="728" r:id="rId31"/>
  </p:sldIdLst>
  <p:sldSz cx="9144000" cy="5143500" type="screen16x9"/>
  <p:notesSz cx="7086600" cy="93726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52" userDrawn="1">
          <p15:clr>
            <a:srgbClr val="A4A3A4"/>
          </p15:clr>
        </p15:guide>
        <p15:guide id="2" pos="2214" userDrawn="1">
          <p15:clr>
            <a:srgbClr val="A4A3A4"/>
          </p15:clr>
        </p15:guide>
        <p15:guide id="3" pos="223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5FF"/>
    <a:srgbClr val="A7ABFF"/>
    <a:srgbClr val="C5C8FF"/>
    <a:srgbClr val="004376"/>
    <a:srgbClr val="4F81BD"/>
    <a:srgbClr val="F3F4FF"/>
    <a:srgbClr val="E7E8FF"/>
    <a:srgbClr val="4C9BD3"/>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48" autoAdjust="0"/>
    <p:restoredTop sz="95565" autoAdjust="0"/>
  </p:normalViewPr>
  <p:slideViewPr>
    <p:cSldViewPr snapToGrid="0" snapToObjects="1">
      <p:cViewPr varScale="1">
        <p:scale>
          <a:sx n="139" d="100"/>
          <a:sy n="139" d="100"/>
        </p:scale>
        <p:origin x="264" y="114"/>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52"/>
        <p:guide pos="2214"/>
        <p:guide pos="2233"/>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customXml" Target="../customXml/item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4014102" y="2"/>
            <a:ext cx="3070860" cy="468630"/>
          </a:xfrm>
          <a:prstGeom prst="rect">
            <a:avLst/>
          </a:prstGeom>
        </p:spPr>
        <p:txBody>
          <a:bodyPr vert="horz" lIns="91427" tIns="45714" rIns="91427" bIns="45714" rtlCol="0"/>
          <a:lstStyle>
            <a:lvl1pPr algn="r">
              <a:defRPr sz="1200"/>
            </a:lvl1pPr>
          </a:lstStyle>
          <a:p>
            <a:fld id="{4FCF4903-D1A4-F14A-B207-A0D2CC9D4B8B}" type="datetimeFigureOut">
              <a:rPr lang="en-US" smtClean="0"/>
              <a:t>12/9/2015</a:t>
            </a:fld>
            <a:endParaRPr lang="en-US" dirty="0"/>
          </a:p>
        </p:txBody>
      </p:sp>
      <p:sp>
        <p:nvSpPr>
          <p:cNvPr id="4" name="Footer Placeholder 3"/>
          <p:cNvSpPr>
            <a:spLocks noGrp="1"/>
          </p:cNvSpPr>
          <p:nvPr>
            <p:ph type="ftr" sz="quarter" idx="2"/>
          </p:nvPr>
        </p:nvSpPr>
        <p:spPr>
          <a:xfrm>
            <a:off x="1" y="8902345"/>
            <a:ext cx="3070860" cy="468630"/>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14102" y="8902345"/>
            <a:ext cx="3070860" cy="468630"/>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4014102" y="2"/>
            <a:ext cx="3070860" cy="468630"/>
          </a:xfrm>
          <a:prstGeom prst="rect">
            <a:avLst/>
          </a:prstGeom>
        </p:spPr>
        <p:txBody>
          <a:bodyPr vert="horz" lIns="91427" tIns="45714" rIns="91427" bIns="45714" rtlCol="0"/>
          <a:lstStyle>
            <a:lvl1pPr algn="r">
              <a:defRPr sz="1200"/>
            </a:lvl1pPr>
          </a:lstStyle>
          <a:p>
            <a:fld id="{BC5B4241-C98F-4766-9E25-5F8403374385}" type="datetimeFigureOut">
              <a:rPr lang="de-DE" smtClean="0"/>
              <a:t>09.12.2015</a:t>
            </a:fld>
            <a:endParaRPr lang="de-DE" dirty="0"/>
          </a:p>
        </p:txBody>
      </p:sp>
      <p:sp>
        <p:nvSpPr>
          <p:cNvPr id="4" name="Folienbildplatzhalter 3"/>
          <p:cNvSpPr>
            <a:spLocks noGrp="1" noRot="1" noChangeAspect="1"/>
          </p:cNvSpPr>
          <p:nvPr>
            <p:ph type="sldImg" idx="2"/>
          </p:nvPr>
        </p:nvSpPr>
        <p:spPr>
          <a:xfrm>
            <a:off x="417513" y="701675"/>
            <a:ext cx="6251575" cy="3516313"/>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708661" y="4451985"/>
            <a:ext cx="5669280" cy="4217670"/>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902345"/>
            <a:ext cx="3070860" cy="468630"/>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4014102" y="8902345"/>
            <a:ext cx="3070860" cy="468630"/>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5</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11</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15</a:t>
            </a:fld>
            <a:endParaRPr lang="fr-FR" altLang="en-US" sz="1200"/>
          </a:p>
        </p:txBody>
      </p:sp>
      <p:sp>
        <p:nvSpPr>
          <p:cNvPr id="51203" name="Rectangle 2"/>
          <p:cNvSpPr>
            <a:spLocks noGrp="1" noRot="1" noChangeAspect="1" noChangeArrowheads="1" noTextEdit="1"/>
          </p:cNvSpPr>
          <p:nvPr>
            <p:ph type="sldImg"/>
          </p:nvPr>
        </p:nvSpPr>
        <p:spPr bwMode="auto">
          <a:xfrm>
            <a:off x="-303213" y="225425"/>
            <a:ext cx="7681913" cy="4322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81038" y="8099425"/>
            <a:ext cx="5718175" cy="1084263"/>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599675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20</a:t>
            </a:fld>
            <a:endParaRPr lang="fr-FR" altLang="en-US" sz="1200"/>
          </a:p>
        </p:txBody>
      </p:sp>
      <p:sp>
        <p:nvSpPr>
          <p:cNvPr id="51203" name="Rectangle 2"/>
          <p:cNvSpPr>
            <a:spLocks noGrp="1" noRot="1" noChangeAspect="1" noChangeArrowheads="1" noTextEdit="1"/>
          </p:cNvSpPr>
          <p:nvPr>
            <p:ph type="sldImg"/>
          </p:nvPr>
        </p:nvSpPr>
        <p:spPr bwMode="auto">
          <a:xfrm>
            <a:off x="-303213" y="225425"/>
            <a:ext cx="7681913" cy="4322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81038" y="8099425"/>
            <a:ext cx="5718175" cy="1084263"/>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7407092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22</a:t>
            </a:fld>
            <a:endParaRPr lang="fr-FR" altLang="en-US" sz="1200"/>
          </a:p>
        </p:txBody>
      </p:sp>
      <p:sp>
        <p:nvSpPr>
          <p:cNvPr id="51203" name="Rectangle 2"/>
          <p:cNvSpPr>
            <a:spLocks noGrp="1" noRot="1" noChangeAspect="1" noChangeArrowheads="1" noTextEdit="1"/>
          </p:cNvSpPr>
          <p:nvPr>
            <p:ph type="sldImg"/>
          </p:nvPr>
        </p:nvSpPr>
        <p:spPr bwMode="auto">
          <a:xfrm>
            <a:off x="-303213" y="225425"/>
            <a:ext cx="7681913" cy="4322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81038" y="8099425"/>
            <a:ext cx="5718175" cy="1084263"/>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1151841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24</a:t>
            </a:fld>
            <a:endParaRPr lang="fr-FR" altLang="en-US" sz="1200"/>
          </a:p>
        </p:txBody>
      </p:sp>
      <p:sp>
        <p:nvSpPr>
          <p:cNvPr id="51203" name="Rectangle 2"/>
          <p:cNvSpPr>
            <a:spLocks noGrp="1" noRot="1" noChangeAspect="1" noChangeArrowheads="1" noTextEdit="1"/>
          </p:cNvSpPr>
          <p:nvPr>
            <p:ph type="sldImg"/>
          </p:nvPr>
        </p:nvSpPr>
        <p:spPr bwMode="auto">
          <a:xfrm>
            <a:off x="-303213" y="225425"/>
            <a:ext cx="7681913" cy="4322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81038" y="8099425"/>
            <a:ext cx="5718175" cy="1084263"/>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13167479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25</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09/12/2015</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6.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Logistique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01.01</a:t>
            </a:r>
            <a:r>
              <a:rPr lang="fr-FR" sz="2000" b="1" dirty="0">
                <a:solidFill>
                  <a:srgbClr val="0070C0"/>
                </a:solidFill>
                <a:latin typeface="Arial" charset="0"/>
                <a:cs typeface="Arial" charset="0"/>
              </a:rPr>
              <a:t/>
            </a:r>
            <a:br>
              <a:rPr lang="fr-FR" sz="2000" b="1" dirty="0">
                <a:solidFill>
                  <a:srgbClr val="0070C0"/>
                </a:solidFill>
                <a:latin typeface="Arial" charset="0"/>
                <a:cs typeface="Arial" charset="0"/>
              </a:rPr>
            </a:br>
            <a:r>
              <a:rPr lang="fr-FR" sz="2000" b="1" dirty="0" smtClean="0">
                <a:solidFill>
                  <a:srgbClr val="0070C0"/>
                </a:solidFill>
                <a:latin typeface="Arial" charset="0"/>
                <a:cs typeface="Arial" charset="0"/>
              </a:rPr>
              <a:t>Données organisationnelles</a:t>
            </a:r>
            <a:endParaRPr lang="fr-FR" sz="1800" dirty="0" smtClean="0">
              <a:solidFill>
                <a:srgbClr val="0070C0"/>
              </a:solidFill>
              <a:latin typeface="Arial" charset="0"/>
              <a:cs typeface="Arial" charset="0"/>
            </a:endParaRPr>
          </a:p>
        </p:txBody>
      </p:sp>
      <p:sp>
        <p:nvSpPr>
          <p:cNvPr id="21506" name="Rectangle 2"/>
          <p:cNvSpPr>
            <a:spLocks noGrp="1"/>
          </p:cNvSpPr>
          <p:nvPr>
            <p:ph type="ctrTitle" idx="4294967295"/>
          </p:nvPr>
        </p:nvSpPr>
        <p:spPr>
          <a:xfrm>
            <a:off x="6245817" y="4002921"/>
            <a:ext cx="2772366" cy="708563"/>
          </a:xfrm>
        </p:spPr>
        <p:txBody>
          <a:bodyPr>
            <a:normAutofit/>
          </a:bodyPr>
          <a:lstStyle/>
          <a:p>
            <a:pPr algn="r" defTabSz="457200"/>
            <a:r>
              <a:rPr lang="fr-FR" altLang="en-US" sz="1800" dirty="0" smtClean="0">
                <a:solidFill>
                  <a:schemeClr val="tx1"/>
                </a:solidFill>
                <a:latin typeface="Arial" charset="0"/>
              </a:rPr>
              <a:t>Kamsar, le 15.12.2015</a:t>
            </a:r>
            <a:endParaRPr lang="en-US" altLang="en-US" sz="1800" dirty="0">
              <a:solidFill>
                <a:schemeClr val="tx1"/>
              </a:solidFill>
              <a:latin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a:t>
            </a:fld>
            <a:endParaRPr lang="fr-FR" altLang="en-US" sz="750"/>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23555" name="Slide Number Placeholder 3"/>
          <p:cNvSpPr>
            <a:spLocks noGrp="1"/>
          </p:cNvSpPr>
          <p:nvPr>
            <p:ph type="sldNum" sz="quarter" idx="4294967295"/>
          </p:nvPr>
        </p:nvSpPr>
        <p:spPr bwMode="auto">
          <a:xfrm>
            <a:off x="7543800" y="4767263"/>
            <a:ext cx="16002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6376B89C-69A1-4AA7-8B55-052D6C772B02}" type="slidenum">
              <a:rPr lang="en-US" altLang="en-US" sz="750"/>
              <a:pPr eaLnBrk="1" hangingPunct="1"/>
              <a:t>3</a:t>
            </a:fld>
            <a:endParaRPr lang="en-US" altLang="en-US" sz="750"/>
          </a:p>
        </p:txBody>
      </p:sp>
      <p:sp>
        <p:nvSpPr>
          <p:cNvPr id="5" name="Rectangle 4"/>
          <p:cNvSpPr/>
          <p:nvPr/>
        </p:nvSpPr>
        <p:spPr>
          <a:xfrm>
            <a:off x="1763272" y="1312720"/>
            <a:ext cx="4589859" cy="89748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Partager la terminologie SAP et maîtriser le verbatim propre à SAP</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Connaître les données de base organisationnelles pour la Logistique </a:t>
            </a:r>
            <a:endParaRPr lang="fr-FR" sz="900" dirty="0">
              <a:solidFill>
                <a:schemeClr val="tx1"/>
              </a:solidFill>
              <a:latin typeface="Arial" pitchFamily="34" charset="0"/>
              <a:cs typeface="Arial" pitchFamily="34" charset="0"/>
            </a:endParaRPr>
          </a:p>
        </p:txBody>
      </p:sp>
      <p:sp>
        <p:nvSpPr>
          <p:cNvPr id="7" name="Rectangle 6"/>
          <p:cNvSpPr/>
          <p:nvPr/>
        </p:nvSpPr>
        <p:spPr>
          <a:xfrm>
            <a:off x="1763272" y="2582383"/>
            <a:ext cx="4589859" cy="164635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buClr>
                <a:srgbClr val="DF0414"/>
              </a:buClr>
              <a:buFont typeface="Arial" charset="0"/>
              <a:buChar char="•"/>
              <a:defRPr/>
            </a:pPr>
            <a:r>
              <a:rPr lang="fr-FR" sz="900" dirty="0" smtClean="0">
                <a:solidFill>
                  <a:schemeClr val="tx1"/>
                </a:solidFill>
                <a:latin typeface="Arial" pitchFamily="34" charset="0"/>
                <a:cs typeface="Arial" pitchFamily="34" charset="0"/>
              </a:rPr>
              <a:t>Rappel de la structure organisationnelle de la Logistique </a:t>
            </a:r>
          </a:p>
          <a:p>
            <a:pPr marL="67866" lvl="1" indent="-67866" eaLnBrk="0" hangingPunct="0">
              <a:buClr>
                <a:srgbClr val="DF0414"/>
              </a:buClr>
              <a:buFont typeface="Arial" charset="0"/>
              <a:buChar char="•"/>
              <a:defRPr/>
            </a:pPr>
            <a:r>
              <a:rPr lang="fr-FR" sz="900" dirty="0" smtClean="0">
                <a:solidFill>
                  <a:schemeClr val="tx1"/>
                </a:solidFill>
                <a:latin typeface="Arial" pitchFamily="34" charset="0"/>
                <a:cs typeface="Arial" pitchFamily="34" charset="0"/>
              </a:rPr>
              <a:t>Créer un emplacement</a:t>
            </a:r>
          </a:p>
          <a:p>
            <a:pPr marL="67866" lvl="1" indent="-67866" eaLnBrk="0" hangingPunct="0">
              <a:buClr>
                <a:srgbClr val="DF0414"/>
              </a:buClr>
              <a:buFont typeface="Arial" charset="0"/>
              <a:buChar char="•"/>
              <a:defRPr/>
            </a:pPr>
            <a:r>
              <a:rPr lang="fr-FR" sz="900" dirty="0" smtClean="0">
                <a:solidFill>
                  <a:schemeClr val="tx1"/>
                </a:solidFill>
                <a:latin typeface="Arial" pitchFamily="34" charset="0"/>
                <a:cs typeface="Arial" pitchFamily="34" charset="0"/>
              </a:rPr>
              <a:t>Modifier un emplacement</a:t>
            </a:r>
          </a:p>
          <a:p>
            <a:pPr marL="67866" lvl="1" indent="-67866" eaLnBrk="0" hangingPunct="0">
              <a:buClr>
                <a:srgbClr val="DF0414"/>
              </a:buClr>
              <a:buFont typeface="Arial" charset="0"/>
              <a:buChar char="•"/>
              <a:defRPr/>
            </a:pPr>
            <a:r>
              <a:rPr lang="fr-FR" sz="900" dirty="0" smtClean="0">
                <a:solidFill>
                  <a:schemeClr val="tx1"/>
                </a:solidFill>
                <a:latin typeface="Arial" pitchFamily="34" charset="0"/>
                <a:cs typeface="Arial" pitchFamily="34" charset="0"/>
              </a:rPr>
              <a:t>Imprimer les étiquettes des emplacements</a:t>
            </a:r>
          </a:p>
          <a:p>
            <a:pPr marL="67866" lvl="1" indent="-67866" eaLnBrk="0" hangingPunct="0">
              <a:buClr>
                <a:srgbClr val="DF0414"/>
              </a:buClr>
              <a:buFont typeface="Arial" charset="0"/>
              <a:buChar char="•"/>
              <a:defRPr/>
            </a:pPr>
            <a:r>
              <a:rPr lang="fr-FR" sz="900" dirty="0" smtClean="0">
                <a:solidFill>
                  <a:schemeClr val="tx1"/>
                </a:solidFill>
                <a:latin typeface="Arial" pitchFamily="34" charset="0"/>
                <a:cs typeface="Arial" pitchFamily="34" charset="0"/>
              </a:rPr>
              <a:t>Afficher les emplacements vides pour un type de magasin</a:t>
            </a:r>
          </a:p>
          <a:p>
            <a:pPr marL="67866" lvl="1" indent="-67866" eaLnBrk="0" hangingPunct="0">
              <a:buClr>
                <a:srgbClr val="DF0414"/>
              </a:buClr>
              <a:buFont typeface="Arial" charset="0"/>
              <a:buChar char="•"/>
              <a:defRPr/>
            </a:pPr>
            <a:endParaRPr lang="fr-FR" sz="900" dirty="0">
              <a:solidFill>
                <a:schemeClr val="tx1"/>
              </a:solidFill>
              <a:latin typeface="Arial" pitchFamily="34" charset="0"/>
              <a:cs typeface="Arial" pitchFamily="34" charset="0"/>
            </a:endParaRPr>
          </a:p>
        </p:txBody>
      </p:sp>
      <p:sp>
        <p:nvSpPr>
          <p:cNvPr id="11" name="Rectangle 10"/>
          <p:cNvSpPr/>
          <p:nvPr/>
        </p:nvSpPr>
        <p:spPr>
          <a:xfrm>
            <a:off x="1661664" y="2268099"/>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 Heures</a:t>
              </a: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Surintendant Logistique</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Magasinier Guinée</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Coordinateur magasin</a:t>
              </a: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2"/>
          <p:cNvSpPr>
            <a:spLocks noGrp="1"/>
          </p:cNvSpPr>
          <p:nvPr>
            <p:ph type="title"/>
          </p:nvPr>
        </p:nvSpPr>
        <p:spPr/>
        <p:txBody>
          <a:bodyPr>
            <a:normAutofit/>
          </a:bodyPr>
          <a:lstStyle/>
          <a:p>
            <a:r>
              <a:rPr lang="fr-FR" altLang="en-US" dirty="0"/>
              <a:t>Agenda : </a:t>
            </a:r>
            <a:r>
              <a:rPr lang="fr-FR" altLang="en-US" dirty="0" smtClean="0"/>
              <a:t>1h30</a:t>
            </a:r>
            <a:endParaRPr lang="en-US" altLang="en-US" dirty="0"/>
          </a:p>
        </p:txBody>
      </p:sp>
      <p:pic>
        <p:nvPicPr>
          <p:cNvPr id="5" name="Imag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68173" y="1953491"/>
            <a:ext cx="2120785" cy="2392972"/>
          </a:xfrm>
          <a:prstGeom prst="rect">
            <a:avLst/>
          </a:prstGeom>
        </p:spPr>
      </p:pic>
      <p:graphicFrame>
        <p:nvGraphicFramePr>
          <p:cNvPr id="7" name="Espace réservé du contenu 5"/>
          <p:cNvGraphicFramePr>
            <a:graphicFrameLocks/>
          </p:cNvGraphicFramePr>
          <p:nvPr>
            <p:extLst>
              <p:ext uri="{D42A27DB-BD31-4B8C-83A1-F6EECF244321}">
                <p14:modId xmlns:p14="http://schemas.microsoft.com/office/powerpoint/2010/main" val="3689447907"/>
              </p:ext>
            </p:extLst>
          </p:nvPr>
        </p:nvGraphicFramePr>
        <p:xfrm>
          <a:off x="2758033" y="1291506"/>
          <a:ext cx="3627934" cy="2142491"/>
        </p:xfrm>
        <a:graphic>
          <a:graphicData uri="http://schemas.openxmlformats.org/drawingml/2006/table">
            <a:tbl>
              <a:tblPr firstRow="1" bandRow="1">
                <a:tableStyleId>{5C22544A-7EE6-4342-B048-85BDC9FD1C3A}</a:tableStyleId>
              </a:tblPr>
              <a:tblGrid>
                <a:gridCol w="1125910"/>
                <a:gridCol w="2502024"/>
              </a:tblGrid>
              <a:tr h="309310">
                <a:tc>
                  <a:txBody>
                    <a:bodyPr/>
                    <a:lstStyle/>
                    <a:p>
                      <a:pPr algn="ctr"/>
                      <a:r>
                        <a:rPr lang="fr-FR" sz="900" dirty="0" smtClean="0"/>
                        <a:t>Horaire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c>
                  <a:txBody>
                    <a:bodyPr/>
                    <a:lstStyle/>
                    <a:p>
                      <a:pPr algn="ctr">
                        <a:lnSpc>
                          <a:spcPct val="100000"/>
                        </a:lnSpc>
                        <a:spcBef>
                          <a:spcPts val="0"/>
                        </a:spcBef>
                        <a:spcAft>
                          <a:spcPts val="0"/>
                        </a:spcAft>
                      </a:pPr>
                      <a:r>
                        <a:rPr lang="fr-FR" sz="900" dirty="0" smtClean="0"/>
                        <a:t>Agenda Matinée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r>
              <a:tr h="436472">
                <a:tc>
                  <a:txBody>
                    <a:bodyPr/>
                    <a:lstStyle/>
                    <a:p>
                      <a:pPr algn="ctr"/>
                      <a:r>
                        <a:rPr lang="fr-FR" sz="900" dirty="0" smtClean="0"/>
                        <a:t>8h00 – 8h10</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Accueil / Introduction : 5 min</a:t>
                      </a:r>
                    </a:p>
                    <a:p>
                      <a:pPr>
                        <a:lnSpc>
                          <a:spcPct val="100000"/>
                        </a:lnSpc>
                        <a:spcBef>
                          <a:spcPts val="0"/>
                        </a:spcBef>
                        <a:spcAft>
                          <a:spcPts val="0"/>
                        </a:spcAft>
                      </a:pPr>
                      <a:r>
                        <a:rPr lang="fr-FR" sz="900" dirty="0" smtClean="0"/>
                        <a:t>Présentation du processus : 5 min</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r>
              <a:tr h="611060">
                <a:tc>
                  <a:txBody>
                    <a:bodyPr/>
                    <a:lstStyle/>
                    <a:p>
                      <a:pPr algn="ctr"/>
                      <a:r>
                        <a:rPr lang="fr-FR" sz="900" dirty="0" smtClean="0"/>
                        <a:t>8h10 – 8h20</a:t>
                      </a:r>
                      <a:endParaRPr lang="fr-FR" sz="900" dirty="0" smtClean="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a:lnSpc>
                          <a:spcPct val="100000"/>
                        </a:lnSpc>
                        <a:spcBef>
                          <a:spcPts val="0"/>
                        </a:spcBef>
                        <a:spcAft>
                          <a:spcPts val="0"/>
                        </a:spcAft>
                      </a:pPr>
                      <a:r>
                        <a:rPr lang="fr-FR" sz="900" dirty="0" smtClean="0"/>
                        <a:t>Structure organisationnelle</a:t>
                      </a:r>
                    </a:p>
                    <a:p>
                      <a:pPr marL="177800" indent="-177800">
                        <a:lnSpc>
                          <a:spcPct val="100000"/>
                        </a:lnSpc>
                        <a:spcBef>
                          <a:spcPts val="0"/>
                        </a:spcBef>
                        <a:spcAft>
                          <a:spcPts val="0"/>
                        </a:spcAft>
                        <a:buFont typeface="Arial" pitchFamily="34" charset="0"/>
                        <a:buChar char="•"/>
                      </a:pPr>
                      <a:r>
                        <a:rPr lang="fr-FR" sz="900" dirty="0" smtClean="0"/>
                        <a:t>Présentation : 10 min</a:t>
                      </a:r>
                    </a:p>
                  </a:txBody>
                  <a:tcPr marL="68566" marR="68566" marT="34292" marB="34292" anchor="ctr">
                    <a:solidFill>
                      <a:srgbClr val="F3F4FF"/>
                    </a:solidFill>
                  </a:tcPr>
                </a:tc>
              </a:tr>
              <a:tr h="785649">
                <a:tc>
                  <a:txBody>
                    <a:bodyPr/>
                    <a:lstStyle/>
                    <a:p>
                      <a:pPr algn="ctr"/>
                      <a:r>
                        <a:rPr lang="fr-FR" sz="900" dirty="0" smtClean="0"/>
                        <a:t>8h20 – 9h20</a:t>
                      </a:r>
                      <a:endParaRPr lang="fr-FR" sz="900" dirty="0" smtClean="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Les emplacements</a:t>
                      </a:r>
                    </a:p>
                    <a:p>
                      <a:pPr marL="177800" indent="-177800">
                        <a:lnSpc>
                          <a:spcPct val="100000"/>
                        </a:lnSpc>
                        <a:spcBef>
                          <a:spcPts val="0"/>
                        </a:spcBef>
                        <a:spcAft>
                          <a:spcPts val="0"/>
                        </a:spcAft>
                        <a:buFont typeface="Arial" pitchFamily="34" charset="0"/>
                        <a:buChar char="•"/>
                      </a:pPr>
                      <a:r>
                        <a:rPr lang="fr-FR" sz="900" dirty="0" smtClean="0"/>
                        <a:t>Présentation : 30 min</a:t>
                      </a:r>
                    </a:p>
                    <a:p>
                      <a:pPr marL="177800" indent="-177800">
                        <a:lnSpc>
                          <a:spcPct val="100000"/>
                        </a:lnSpc>
                        <a:spcBef>
                          <a:spcPts val="0"/>
                        </a:spcBef>
                        <a:spcAft>
                          <a:spcPts val="0"/>
                        </a:spcAft>
                        <a:buFont typeface="Arial" pitchFamily="34" charset="0"/>
                        <a:buChar char="•"/>
                      </a:pPr>
                      <a:r>
                        <a:rPr lang="fr-FR" sz="900" dirty="0" smtClean="0"/>
                        <a:t>Exercice dirigé</a:t>
                      </a:r>
                      <a:r>
                        <a:rPr lang="fr-FR" sz="900" baseline="0" dirty="0" smtClean="0"/>
                        <a:t> : 30 min</a:t>
                      </a:r>
                    </a:p>
                  </a:txBody>
                  <a:tcPr marL="68566" marR="68566" marT="34292" marB="34292" anchor="ctr">
                    <a:solidFill>
                      <a:srgbClr val="E7E8FF"/>
                    </a:solidFill>
                  </a:tcPr>
                </a:tc>
              </a:tr>
            </a:tbl>
          </a:graphicData>
        </a:graphic>
      </p:graphicFrame>
    </p:spTree>
    <p:extLst>
      <p:ext uri="{BB962C8B-B14F-4D97-AF65-F5344CB8AC3E}">
        <p14:creationId xmlns:p14="http://schemas.microsoft.com/office/powerpoint/2010/main" val="41803714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enjeux du processus</a:t>
            </a:r>
            <a:endParaRPr lang="en-US" altLang="en-US" dirty="0" smtClean="0"/>
          </a:p>
        </p:txBody>
      </p:sp>
      <p:sp>
        <p:nvSpPr>
          <p:cNvPr id="2" name="Espace réservé du contenu 1"/>
          <p:cNvSpPr>
            <a:spLocks noGrp="1"/>
          </p:cNvSpPr>
          <p:nvPr>
            <p:ph idx="1"/>
          </p:nvPr>
        </p:nvSpPr>
        <p:spPr>
          <a:xfrm>
            <a:off x="573578" y="1152525"/>
            <a:ext cx="8246571" cy="3240571"/>
          </a:xfrm>
        </p:spPr>
        <p:txBody>
          <a:bodyPr/>
          <a:lstStyle/>
          <a:p>
            <a:r>
              <a:rPr lang="fr-FR" dirty="0" smtClean="0"/>
              <a:t>La gestion des données organisationnelles permet de :</a:t>
            </a:r>
          </a:p>
          <a:p>
            <a:r>
              <a:rPr lang="fr-FR" b="1" dirty="0" smtClean="0">
                <a:solidFill>
                  <a:srgbClr val="0070C0"/>
                </a:solidFill>
              </a:rPr>
              <a:t>Pour la Logistique : </a:t>
            </a:r>
          </a:p>
          <a:p>
            <a:pPr marL="171450" indent="-171450">
              <a:buClr>
                <a:srgbClr val="0070C0"/>
              </a:buClr>
              <a:buSzPct val="100000"/>
              <a:buFont typeface="Arial" panose="020B0604020202020204" pitchFamily="34" charset="0"/>
              <a:buChar char="•"/>
            </a:pPr>
            <a:r>
              <a:rPr lang="fr-FR" dirty="0"/>
              <a:t>D</a:t>
            </a:r>
            <a:r>
              <a:rPr lang="fr-FR" dirty="0" smtClean="0"/>
              <a:t>éfinir la structure </a:t>
            </a:r>
            <a:r>
              <a:rPr lang="fr-FR" dirty="0" smtClean="0"/>
              <a:t>organisationnelle </a:t>
            </a:r>
            <a:r>
              <a:rPr lang="fr-FR" dirty="0" smtClean="0"/>
              <a:t>de la CBG </a:t>
            </a:r>
            <a:r>
              <a:rPr lang="fr-FR" dirty="0" smtClean="0"/>
              <a:t>et </a:t>
            </a:r>
            <a:r>
              <a:rPr lang="fr-FR" dirty="0" smtClean="0"/>
              <a:t>la traduire dans SAP</a:t>
            </a:r>
          </a:p>
          <a:p>
            <a:pPr marL="171450" indent="-171450">
              <a:buClr>
                <a:srgbClr val="0070C0"/>
              </a:buClr>
              <a:buSzPct val="100000"/>
              <a:buFont typeface="Arial" panose="020B0604020202020204" pitchFamily="34" charset="0"/>
              <a:buChar char="•"/>
            </a:pPr>
            <a:r>
              <a:rPr lang="fr-FR" dirty="0" smtClean="0"/>
              <a:t>Créer et modifier des </a:t>
            </a:r>
            <a:r>
              <a:rPr lang="fr-FR" dirty="0" smtClean="0"/>
              <a:t>emplacements </a:t>
            </a:r>
            <a:r>
              <a:rPr lang="fr-FR" dirty="0" smtClean="0"/>
              <a:t>– le reste des données organisationnelles est considéré comme inerte</a:t>
            </a:r>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La structure organisationnelle de la Logistique</a:t>
            </a:r>
            <a:endParaRPr lang="en-US" dirty="0"/>
          </a:p>
        </p:txBody>
      </p:sp>
      <p:pic>
        <p:nvPicPr>
          <p:cNvPr id="4" name="Image 3"/>
          <p:cNvPicPr/>
          <p:nvPr/>
        </p:nvPicPr>
        <p:blipFill>
          <a:blip r:embed="rId2">
            <a:extLst>
              <a:ext uri="{28A0092B-C50C-407E-A947-70E740481C1C}">
                <a14:useLocalDpi xmlns:a14="http://schemas.microsoft.com/office/drawing/2010/main" val="0"/>
              </a:ext>
            </a:extLst>
          </a:blip>
          <a:srcRect/>
          <a:stretch>
            <a:fillRect/>
          </a:stretch>
        </p:blipFill>
        <p:spPr bwMode="auto">
          <a:xfrm>
            <a:off x="669851" y="837313"/>
            <a:ext cx="7931889" cy="3468874"/>
          </a:xfrm>
          <a:prstGeom prst="rect">
            <a:avLst/>
          </a:prstGeom>
          <a:noFill/>
        </p:spPr>
      </p:pic>
      <p:sp>
        <p:nvSpPr>
          <p:cNvPr id="3" name="Rectangle à coins arrondis 2"/>
          <p:cNvSpPr/>
          <p:nvPr/>
        </p:nvSpPr>
        <p:spPr>
          <a:xfrm>
            <a:off x="5538159" y="1250830"/>
            <a:ext cx="448573"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1000" dirty="0" smtClean="0">
                <a:solidFill>
                  <a:schemeClr val="bg1"/>
                </a:solidFill>
              </a:rPr>
              <a:t>CBG</a:t>
            </a:r>
            <a:endParaRPr lang="en-US" sz="1000" dirty="0" err="1" smtClean="0">
              <a:solidFill>
                <a:schemeClr val="bg1"/>
              </a:solidFill>
            </a:endParaRPr>
          </a:p>
        </p:txBody>
      </p:sp>
      <p:sp>
        <p:nvSpPr>
          <p:cNvPr id="6" name="Rectangle à coins arrondis 5"/>
          <p:cNvSpPr/>
          <p:nvPr/>
        </p:nvSpPr>
        <p:spPr>
          <a:xfrm>
            <a:off x="4324709" y="1564261"/>
            <a:ext cx="494581"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smtClean="0">
                <a:solidFill>
                  <a:schemeClr val="bg1"/>
                </a:solidFill>
              </a:rPr>
              <a:t>GN02</a:t>
            </a:r>
            <a:endParaRPr lang="en-US" sz="900" dirty="0" err="1" smtClean="0">
              <a:solidFill>
                <a:schemeClr val="bg1"/>
              </a:solidFill>
            </a:endParaRPr>
          </a:p>
        </p:txBody>
      </p:sp>
      <p:sp>
        <p:nvSpPr>
          <p:cNvPr id="7" name="Rectangle à coins arrondis 6"/>
          <p:cNvSpPr/>
          <p:nvPr/>
        </p:nvSpPr>
        <p:spPr>
          <a:xfrm>
            <a:off x="3361360" y="1575761"/>
            <a:ext cx="494581"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smtClean="0">
                <a:solidFill>
                  <a:schemeClr val="bg1"/>
                </a:solidFill>
              </a:rPr>
              <a:t>GN01</a:t>
            </a:r>
            <a:endParaRPr lang="en-US" sz="900" dirty="0" err="1" smtClean="0">
              <a:solidFill>
                <a:schemeClr val="bg1"/>
              </a:solidFill>
            </a:endParaRPr>
          </a:p>
        </p:txBody>
      </p:sp>
      <p:sp>
        <p:nvSpPr>
          <p:cNvPr id="8" name="Rectangle à coins arrondis 7"/>
          <p:cNvSpPr/>
          <p:nvPr/>
        </p:nvSpPr>
        <p:spPr>
          <a:xfrm>
            <a:off x="5252584" y="1564261"/>
            <a:ext cx="494581"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smtClean="0">
                <a:solidFill>
                  <a:schemeClr val="bg1"/>
                </a:solidFill>
              </a:rPr>
              <a:t>GN03</a:t>
            </a:r>
            <a:endParaRPr lang="en-US" sz="900" dirty="0" err="1" smtClean="0">
              <a:solidFill>
                <a:schemeClr val="bg1"/>
              </a:solidFill>
            </a:endParaRPr>
          </a:p>
        </p:txBody>
      </p:sp>
      <p:sp>
        <p:nvSpPr>
          <p:cNvPr id="9" name="Rectangle à coins arrondis 8"/>
          <p:cNvSpPr/>
          <p:nvPr/>
        </p:nvSpPr>
        <p:spPr>
          <a:xfrm>
            <a:off x="6776584" y="1575761"/>
            <a:ext cx="494581"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smtClean="0">
                <a:solidFill>
                  <a:schemeClr val="bg1"/>
                </a:solidFill>
              </a:rPr>
              <a:t>BE01</a:t>
            </a:r>
            <a:endParaRPr lang="en-US" sz="900" dirty="0" err="1" smtClean="0">
              <a:solidFill>
                <a:schemeClr val="bg1"/>
              </a:solidFill>
            </a:endParaRPr>
          </a:p>
        </p:txBody>
      </p:sp>
      <p:sp>
        <p:nvSpPr>
          <p:cNvPr id="10" name="Rectangle à coins arrondis 9"/>
          <p:cNvSpPr/>
          <p:nvPr/>
        </p:nvSpPr>
        <p:spPr>
          <a:xfrm>
            <a:off x="7510799" y="1575761"/>
            <a:ext cx="494581"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smtClean="0">
                <a:solidFill>
                  <a:schemeClr val="bg1"/>
                </a:solidFill>
              </a:rPr>
              <a:t>US01</a:t>
            </a:r>
            <a:endParaRPr lang="en-US" sz="900" dirty="0" err="1" smtClean="0">
              <a:solidFill>
                <a:schemeClr val="bg1"/>
              </a:solidFill>
            </a:endParaRPr>
          </a:p>
        </p:txBody>
      </p:sp>
      <p:sp>
        <p:nvSpPr>
          <p:cNvPr id="11" name="Rectangle à coins arrondis 10"/>
          <p:cNvSpPr/>
          <p:nvPr/>
        </p:nvSpPr>
        <p:spPr>
          <a:xfrm>
            <a:off x="3337688" y="2413172"/>
            <a:ext cx="494581"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a:solidFill>
                  <a:schemeClr val="bg1"/>
                </a:solidFill>
              </a:rPr>
              <a:t>W</a:t>
            </a:r>
            <a:endParaRPr lang="en-US" sz="900" dirty="0" err="1" smtClean="0">
              <a:solidFill>
                <a:schemeClr val="bg1"/>
              </a:solidFill>
            </a:endParaRPr>
          </a:p>
        </p:txBody>
      </p:sp>
      <p:sp>
        <p:nvSpPr>
          <p:cNvPr id="12" name="Rectangle à coins arrondis 11"/>
          <p:cNvSpPr/>
          <p:nvPr/>
        </p:nvSpPr>
        <p:spPr>
          <a:xfrm>
            <a:off x="4044920" y="2413172"/>
            <a:ext cx="494581"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smtClean="0">
                <a:solidFill>
                  <a:schemeClr val="bg1"/>
                </a:solidFill>
              </a:rPr>
              <a:t>PHAR</a:t>
            </a:r>
            <a:endParaRPr lang="en-US" sz="900" dirty="0" err="1" smtClean="0">
              <a:solidFill>
                <a:schemeClr val="bg1"/>
              </a:solidFill>
            </a:endParaRPr>
          </a:p>
        </p:txBody>
      </p:sp>
      <p:sp>
        <p:nvSpPr>
          <p:cNvPr id="13" name="Rectangle à coins arrondis 12"/>
          <p:cNvSpPr/>
          <p:nvPr/>
        </p:nvSpPr>
        <p:spPr>
          <a:xfrm>
            <a:off x="4736906" y="2408074"/>
            <a:ext cx="494581"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a:solidFill>
                  <a:schemeClr val="bg1"/>
                </a:solidFill>
              </a:rPr>
              <a:t>S</a:t>
            </a:r>
            <a:endParaRPr lang="en-US" sz="900" dirty="0" err="1" smtClean="0">
              <a:solidFill>
                <a:schemeClr val="bg1"/>
              </a:solidFill>
            </a:endParaRPr>
          </a:p>
        </p:txBody>
      </p:sp>
      <p:sp>
        <p:nvSpPr>
          <p:cNvPr id="14" name="Rectangle à coins arrondis 13"/>
          <p:cNvSpPr/>
          <p:nvPr/>
        </p:nvSpPr>
        <p:spPr>
          <a:xfrm>
            <a:off x="2558435" y="1909965"/>
            <a:ext cx="494581"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a:solidFill>
                  <a:schemeClr val="bg1"/>
                </a:solidFill>
              </a:rPr>
              <a:t>W</a:t>
            </a:r>
            <a:endParaRPr lang="en-US" sz="900" dirty="0" err="1" smtClean="0">
              <a:solidFill>
                <a:schemeClr val="bg1"/>
              </a:solidFill>
            </a:endParaRPr>
          </a:p>
        </p:txBody>
      </p:sp>
      <p:sp>
        <p:nvSpPr>
          <p:cNvPr id="15" name="Rectangle à coins arrondis 14"/>
          <p:cNvSpPr/>
          <p:nvPr/>
        </p:nvSpPr>
        <p:spPr>
          <a:xfrm>
            <a:off x="3129851" y="2656150"/>
            <a:ext cx="432056"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smtClean="0">
                <a:solidFill>
                  <a:schemeClr val="bg1"/>
                </a:solidFill>
              </a:rPr>
              <a:t>WH1</a:t>
            </a:r>
            <a:endParaRPr lang="en-US" sz="900" dirty="0" err="1" smtClean="0">
              <a:solidFill>
                <a:schemeClr val="bg1"/>
              </a:solidFill>
            </a:endParaRPr>
          </a:p>
        </p:txBody>
      </p:sp>
      <p:sp>
        <p:nvSpPr>
          <p:cNvPr id="16" name="Rectangle à coins arrondis 15"/>
          <p:cNvSpPr/>
          <p:nvPr/>
        </p:nvSpPr>
        <p:spPr>
          <a:xfrm>
            <a:off x="6699114" y="2661116"/>
            <a:ext cx="391799" cy="176190"/>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smtClean="0">
                <a:solidFill>
                  <a:schemeClr val="bg1"/>
                </a:solidFill>
              </a:rPr>
              <a:t>ELE</a:t>
            </a:r>
            <a:endParaRPr lang="en-US" sz="900" dirty="0" err="1" smtClean="0">
              <a:solidFill>
                <a:schemeClr val="bg1"/>
              </a:solidFill>
            </a:endParaRPr>
          </a:p>
        </p:txBody>
      </p:sp>
      <p:sp>
        <p:nvSpPr>
          <p:cNvPr id="17" name="Rectangle à coins arrondis 16"/>
          <p:cNvSpPr/>
          <p:nvPr/>
        </p:nvSpPr>
        <p:spPr>
          <a:xfrm>
            <a:off x="1669914" y="3101848"/>
            <a:ext cx="486690"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700" dirty="0" smtClean="0">
                <a:solidFill>
                  <a:schemeClr val="bg1"/>
                </a:solidFill>
              </a:rPr>
              <a:t>900A01</a:t>
            </a:r>
            <a:endParaRPr lang="en-US" sz="700" dirty="0" err="1" smtClean="0">
              <a:solidFill>
                <a:schemeClr val="bg1"/>
              </a:solidFill>
            </a:endParaRPr>
          </a:p>
        </p:txBody>
      </p:sp>
      <p:sp>
        <p:nvSpPr>
          <p:cNvPr id="18" name="Rectangle à coins arrondis 17"/>
          <p:cNvSpPr/>
          <p:nvPr/>
        </p:nvSpPr>
        <p:spPr>
          <a:xfrm>
            <a:off x="3669236" y="2661116"/>
            <a:ext cx="432056"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smtClean="0">
                <a:solidFill>
                  <a:schemeClr val="bg1"/>
                </a:solidFill>
              </a:rPr>
              <a:t>BUT</a:t>
            </a:r>
            <a:endParaRPr lang="en-US" sz="900" dirty="0" err="1" smtClean="0">
              <a:solidFill>
                <a:schemeClr val="bg1"/>
              </a:solidFill>
            </a:endParaRPr>
          </a:p>
        </p:txBody>
      </p:sp>
      <p:sp>
        <p:nvSpPr>
          <p:cNvPr id="19" name="Rectangle à coins arrondis 18"/>
          <p:cNvSpPr/>
          <p:nvPr/>
        </p:nvSpPr>
        <p:spPr>
          <a:xfrm>
            <a:off x="4203739" y="2656150"/>
            <a:ext cx="432056"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smtClean="0">
                <a:solidFill>
                  <a:schemeClr val="bg1"/>
                </a:solidFill>
              </a:rPr>
              <a:t>EPI</a:t>
            </a:r>
            <a:endParaRPr lang="en-US" sz="900" dirty="0" err="1" smtClean="0">
              <a:solidFill>
                <a:schemeClr val="bg1"/>
              </a:solidFill>
            </a:endParaRPr>
          </a:p>
        </p:txBody>
      </p:sp>
      <p:sp>
        <p:nvSpPr>
          <p:cNvPr id="21" name="Rectangle à coins arrondis 20"/>
          <p:cNvSpPr/>
          <p:nvPr/>
        </p:nvSpPr>
        <p:spPr>
          <a:xfrm>
            <a:off x="7198242" y="2656150"/>
            <a:ext cx="432056"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smtClean="0">
                <a:solidFill>
                  <a:schemeClr val="bg1"/>
                </a:solidFill>
              </a:rPr>
              <a:t>PNT</a:t>
            </a:r>
            <a:endParaRPr lang="en-US" sz="900" dirty="0" err="1" smtClean="0">
              <a:solidFill>
                <a:schemeClr val="bg1"/>
              </a:solidFill>
            </a:endParaRPr>
          </a:p>
        </p:txBody>
      </p:sp>
      <p:sp>
        <p:nvSpPr>
          <p:cNvPr id="22" name="Rectangle à coins arrondis 21"/>
          <p:cNvSpPr/>
          <p:nvPr/>
        </p:nvSpPr>
        <p:spPr>
          <a:xfrm>
            <a:off x="7761868" y="2656150"/>
            <a:ext cx="432056"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smtClean="0">
                <a:solidFill>
                  <a:schemeClr val="bg1"/>
                </a:solidFill>
              </a:rPr>
              <a:t>PFE</a:t>
            </a:r>
            <a:endParaRPr lang="en-US" sz="900" dirty="0" err="1" smtClean="0">
              <a:solidFill>
                <a:schemeClr val="bg1"/>
              </a:solidFill>
            </a:endParaRPr>
          </a:p>
        </p:txBody>
      </p:sp>
      <p:sp>
        <p:nvSpPr>
          <p:cNvPr id="23" name="Rectangle à coins arrondis 22"/>
          <p:cNvSpPr/>
          <p:nvPr/>
        </p:nvSpPr>
        <p:spPr>
          <a:xfrm>
            <a:off x="1678541" y="3704017"/>
            <a:ext cx="486690"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700" dirty="0" smtClean="0">
                <a:solidFill>
                  <a:schemeClr val="bg1"/>
                </a:solidFill>
              </a:rPr>
              <a:t>90118</a:t>
            </a:r>
            <a:endParaRPr lang="en-US" sz="700" dirty="0" err="1" smtClean="0">
              <a:solidFill>
                <a:schemeClr val="bg1"/>
              </a:solidFill>
            </a:endParaRPr>
          </a:p>
        </p:txBody>
      </p:sp>
      <p:sp>
        <p:nvSpPr>
          <p:cNvPr id="24" name="Rectangle à coins arrondis 23"/>
          <p:cNvSpPr/>
          <p:nvPr/>
        </p:nvSpPr>
        <p:spPr>
          <a:xfrm>
            <a:off x="3331435" y="1925175"/>
            <a:ext cx="494581"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smtClean="0">
                <a:solidFill>
                  <a:schemeClr val="bg1"/>
                </a:solidFill>
              </a:rPr>
              <a:t>ALIM</a:t>
            </a:r>
            <a:endParaRPr lang="en-US" sz="900" dirty="0" err="1" smtClean="0">
              <a:solidFill>
                <a:schemeClr val="bg1"/>
              </a:solidFill>
            </a:endParaRPr>
          </a:p>
        </p:txBody>
      </p:sp>
      <p:sp>
        <p:nvSpPr>
          <p:cNvPr id="25" name="Rectangle à coins arrondis 24"/>
          <p:cNvSpPr/>
          <p:nvPr/>
        </p:nvSpPr>
        <p:spPr>
          <a:xfrm>
            <a:off x="4292210" y="1925175"/>
            <a:ext cx="494581"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smtClean="0">
                <a:solidFill>
                  <a:schemeClr val="bg1"/>
                </a:solidFill>
              </a:rPr>
              <a:t>OFEX</a:t>
            </a:r>
            <a:endParaRPr lang="en-US" sz="900" dirty="0" err="1" smtClean="0">
              <a:solidFill>
                <a:schemeClr val="bg1"/>
              </a:solidFill>
            </a:endParaRPr>
          </a:p>
        </p:txBody>
      </p:sp>
      <p:sp>
        <p:nvSpPr>
          <p:cNvPr id="26" name="Rectangle à coins arrondis 25"/>
          <p:cNvSpPr/>
          <p:nvPr/>
        </p:nvSpPr>
        <p:spPr>
          <a:xfrm>
            <a:off x="5842089" y="1925175"/>
            <a:ext cx="494581"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smtClean="0">
                <a:solidFill>
                  <a:schemeClr val="bg1"/>
                </a:solidFill>
              </a:rPr>
              <a:t>GARA</a:t>
            </a:r>
            <a:endParaRPr lang="en-US" sz="900" dirty="0" err="1" smtClean="0">
              <a:solidFill>
                <a:schemeClr val="bg1"/>
              </a:solidFill>
            </a:endParaRPr>
          </a:p>
        </p:txBody>
      </p:sp>
      <p:sp>
        <p:nvSpPr>
          <p:cNvPr id="27" name="Rectangle à coins arrondis 26"/>
          <p:cNvSpPr/>
          <p:nvPr/>
        </p:nvSpPr>
        <p:spPr>
          <a:xfrm>
            <a:off x="6771001" y="1925175"/>
            <a:ext cx="494581"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smtClean="0">
                <a:solidFill>
                  <a:schemeClr val="bg1"/>
                </a:solidFill>
              </a:rPr>
              <a:t>MSDK</a:t>
            </a:r>
            <a:endParaRPr lang="en-US" sz="900" dirty="0" err="1" smtClean="0">
              <a:solidFill>
                <a:schemeClr val="bg1"/>
              </a:solidFill>
            </a:endParaRPr>
          </a:p>
        </p:txBody>
      </p:sp>
      <p:sp>
        <p:nvSpPr>
          <p:cNvPr id="28" name="Rectangle à coins arrondis 27"/>
          <p:cNvSpPr/>
          <p:nvPr/>
        </p:nvSpPr>
        <p:spPr>
          <a:xfrm>
            <a:off x="7641065" y="1925175"/>
            <a:ext cx="494581" cy="181156"/>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dirty="0" smtClean="0">
                <a:solidFill>
                  <a:schemeClr val="bg1"/>
                </a:solidFill>
              </a:rPr>
              <a:t>LABO</a:t>
            </a:r>
            <a:endParaRPr lang="en-US" sz="900" dirty="0" err="1" smtClean="0">
              <a:solidFill>
                <a:schemeClr val="bg1"/>
              </a:solidFill>
            </a:endParaRPr>
          </a:p>
        </p:txBody>
      </p:sp>
      <p:sp>
        <p:nvSpPr>
          <p:cNvPr id="29" name="Rectangle à coins arrondis 28"/>
          <p:cNvSpPr/>
          <p:nvPr/>
        </p:nvSpPr>
        <p:spPr>
          <a:xfrm>
            <a:off x="241172" y="4311152"/>
            <a:ext cx="1259824" cy="165957"/>
          </a:xfrm>
          <a:prstGeom prst="roundRect">
            <a:avLst/>
          </a:prstGeom>
          <a:solidFill>
            <a:srgbClr val="FF0000"/>
          </a:solidFill>
          <a:ln>
            <a:solidFill>
              <a:srgbClr val="4D4F5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smtClean="0">
                <a:solidFill>
                  <a:schemeClr val="bg1"/>
                </a:solidFill>
              </a:rPr>
              <a:t>Exemple pour la CBG</a:t>
            </a:r>
            <a:endParaRPr lang="en-US" sz="900" dirty="0" err="1" smtClean="0">
              <a:solidFill>
                <a:schemeClr val="bg1"/>
              </a:solidFill>
            </a:endParaRPr>
          </a:p>
        </p:txBody>
      </p:sp>
    </p:spTree>
    <p:extLst>
      <p:ext uri="{BB962C8B-B14F-4D97-AF65-F5344CB8AC3E}">
        <p14:creationId xmlns:p14="http://schemas.microsoft.com/office/powerpoint/2010/main" val="27508140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re 1"/>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Gestion des emplacements</a:t>
            </a:r>
            <a:endParaRPr lang="en-US" altLang="en-US" dirty="0" smtClean="0"/>
          </a:p>
        </p:txBody>
      </p:sp>
      <p:sp>
        <p:nvSpPr>
          <p:cNvPr id="28678" name="AutoShape 6"/>
          <p:cNvSpPr>
            <a:spLocks noChangeArrowheads="1"/>
          </p:cNvSpPr>
          <p:nvPr/>
        </p:nvSpPr>
        <p:spPr bwMode="auto">
          <a:xfrm>
            <a:off x="1613861" y="1534837"/>
            <a:ext cx="1570434" cy="478201"/>
          </a:xfrm>
          <a:prstGeom prst="wedgeRoundRectCallout">
            <a:avLst>
              <a:gd name="adj1" fmla="val 56951"/>
              <a:gd name="adj2" fmla="val 99742"/>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ts val="225"/>
              </a:spcBef>
            </a:pPr>
            <a:r>
              <a:rPr lang="fr-FR" altLang="en-US" sz="1050" dirty="0">
                <a:cs typeface="Arial" panose="020B0604020202020204" pitchFamily="34" charset="0"/>
              </a:rPr>
              <a:t>Quand dois-je créer un </a:t>
            </a:r>
            <a:r>
              <a:rPr lang="fr-FR" altLang="en-US" sz="1050" dirty="0" smtClean="0">
                <a:cs typeface="Arial" panose="020B0604020202020204" pitchFamily="34" charset="0"/>
              </a:rPr>
              <a:t>emplacement </a:t>
            </a:r>
            <a:r>
              <a:rPr lang="fr-FR" altLang="en-US" sz="1050" dirty="0">
                <a:cs typeface="Arial" panose="020B0604020202020204" pitchFamily="34" charset="0"/>
              </a:rPr>
              <a:t>?</a:t>
            </a:r>
          </a:p>
        </p:txBody>
      </p:sp>
      <p:sp>
        <p:nvSpPr>
          <p:cNvPr id="28679" name="AutoShape 7"/>
          <p:cNvSpPr>
            <a:spLocks noChangeArrowheads="1"/>
          </p:cNvSpPr>
          <p:nvPr/>
        </p:nvSpPr>
        <p:spPr bwMode="auto">
          <a:xfrm>
            <a:off x="1613861" y="3595561"/>
            <a:ext cx="1647825" cy="478201"/>
          </a:xfrm>
          <a:prstGeom prst="wedgeRoundRectCallout">
            <a:avLst>
              <a:gd name="adj1" fmla="val 51847"/>
              <a:gd name="adj2" fmla="val -10732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Que trouve-t-on dans un </a:t>
            </a:r>
            <a:r>
              <a:rPr lang="fr-FR" altLang="en-US" sz="1050" dirty="0" smtClean="0">
                <a:solidFill>
                  <a:schemeClr val="bg1"/>
                </a:solidFill>
                <a:cs typeface="Arial" panose="020B0604020202020204" pitchFamily="34" charset="0"/>
              </a:rPr>
              <a:t>emplacement </a:t>
            </a:r>
            <a:r>
              <a:rPr lang="fr-FR" altLang="en-US" sz="1050" dirty="0">
                <a:solidFill>
                  <a:schemeClr val="bg1"/>
                </a:solidFill>
                <a:cs typeface="Arial" panose="020B0604020202020204" pitchFamily="34" charset="0"/>
              </a:rPr>
              <a:t>?</a:t>
            </a:r>
          </a:p>
        </p:txBody>
      </p:sp>
      <p:sp>
        <p:nvSpPr>
          <p:cNvPr id="28680" name="AutoShape 9"/>
          <p:cNvSpPr>
            <a:spLocks noChangeArrowheads="1"/>
          </p:cNvSpPr>
          <p:nvPr/>
        </p:nvSpPr>
        <p:spPr bwMode="auto">
          <a:xfrm>
            <a:off x="5059652" y="2103672"/>
            <a:ext cx="2592432" cy="656973"/>
          </a:xfrm>
          <a:prstGeom prst="wedgeRoundRectCallout">
            <a:avLst>
              <a:gd name="adj1" fmla="val -67236"/>
              <a:gd name="adj2" fmla="val -61064"/>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solidFill>
                  <a:schemeClr val="bg1"/>
                </a:solidFill>
              </a:rPr>
              <a:t>En masse, le responsable Logistique IT, sinon individuellement par le responsable magasin</a:t>
            </a:r>
            <a:endParaRPr lang="fr-FR" altLang="en-US" sz="1050" dirty="0">
              <a:solidFill>
                <a:schemeClr val="bg1"/>
              </a:solidFill>
            </a:endParaRPr>
          </a:p>
        </p:txBody>
      </p:sp>
      <p:sp>
        <p:nvSpPr>
          <p:cNvPr id="28681" name="AutoShape 12"/>
          <p:cNvSpPr>
            <a:spLocks noChangeArrowheads="1"/>
          </p:cNvSpPr>
          <p:nvPr/>
        </p:nvSpPr>
        <p:spPr bwMode="auto">
          <a:xfrm>
            <a:off x="4792287" y="1024903"/>
            <a:ext cx="2701669" cy="835746"/>
          </a:xfrm>
          <a:prstGeom prst="wedgeRoundRectCallout">
            <a:avLst>
              <a:gd name="adj1" fmla="val -55845"/>
              <a:gd name="adj2" fmla="val 45226"/>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t>Les emplacements peuvent être créés en masse ou individuellement lorsqu’un besoin de création est exprimé pour un type de magasin</a:t>
            </a:r>
            <a:endParaRPr lang="fr-FR" altLang="en-US" sz="1050" dirty="0"/>
          </a:p>
        </p:txBody>
      </p:sp>
      <p:sp>
        <p:nvSpPr>
          <p:cNvPr id="28682" name="AutoShape 6"/>
          <p:cNvSpPr>
            <a:spLocks noChangeArrowheads="1"/>
          </p:cNvSpPr>
          <p:nvPr/>
        </p:nvSpPr>
        <p:spPr bwMode="auto">
          <a:xfrm>
            <a:off x="1739947" y="2484250"/>
            <a:ext cx="1151334" cy="478201"/>
          </a:xfrm>
          <a:prstGeom prst="wedgeRoundRectCallout">
            <a:avLst>
              <a:gd name="adj1" fmla="val 86777"/>
              <a:gd name="adj2" fmla="val -38901"/>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Qui doit créer un </a:t>
            </a:r>
            <a:r>
              <a:rPr lang="fr-FR" altLang="en-US" sz="1050" dirty="0" smtClean="0">
                <a:solidFill>
                  <a:schemeClr val="bg1"/>
                </a:solidFill>
                <a:cs typeface="Arial" panose="020B0604020202020204" pitchFamily="34" charset="0"/>
              </a:rPr>
              <a:t>emplacement </a:t>
            </a:r>
            <a:r>
              <a:rPr lang="fr-FR" altLang="en-US" sz="1050" dirty="0">
                <a:solidFill>
                  <a:schemeClr val="bg1"/>
                </a:solidFill>
                <a:cs typeface="Arial" panose="020B0604020202020204" pitchFamily="34" charset="0"/>
              </a:rPr>
              <a:t>?</a:t>
            </a:r>
          </a:p>
        </p:txBody>
      </p:sp>
      <p:sp>
        <p:nvSpPr>
          <p:cNvPr id="28685" name="AutoShape 10"/>
          <p:cNvSpPr>
            <a:spLocks noChangeArrowheads="1"/>
          </p:cNvSpPr>
          <p:nvPr/>
        </p:nvSpPr>
        <p:spPr bwMode="auto">
          <a:xfrm>
            <a:off x="4940748" y="2889957"/>
            <a:ext cx="2893219" cy="1607588"/>
          </a:xfrm>
          <a:prstGeom prst="wedgeRoundRectCallout">
            <a:avLst>
              <a:gd name="adj1" fmla="val -57167"/>
              <a:gd name="adj2" fmla="val -40199"/>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marL="180975" indent="-180975"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buFont typeface="Arial" panose="020B0604020202020204" pitchFamily="34" charset="0"/>
              <a:buChar char="•"/>
            </a:pPr>
            <a:r>
              <a:rPr lang="fr-FR" altLang="en-US" sz="1050" dirty="0" smtClean="0">
                <a:solidFill>
                  <a:schemeClr val="bg1"/>
                </a:solidFill>
              </a:rPr>
              <a:t>C’est la plus petite unité d’espace disponible dans un magasin</a:t>
            </a:r>
          </a:p>
          <a:p>
            <a:pPr eaLnBrk="1" hangingPunct="1">
              <a:spcBef>
                <a:spcPts val="225"/>
              </a:spcBef>
              <a:buFont typeface="Arial" panose="020B0604020202020204" pitchFamily="34" charset="0"/>
              <a:buChar char="•"/>
            </a:pPr>
            <a:r>
              <a:rPr lang="fr-FR" altLang="en-US" sz="1050" dirty="0" smtClean="0">
                <a:solidFill>
                  <a:schemeClr val="bg1"/>
                </a:solidFill>
              </a:rPr>
              <a:t>Il indique le poste du magasin où les marchandises sont stockées : on y trouve donc les articles, quantités et lots stockés</a:t>
            </a:r>
          </a:p>
          <a:p>
            <a:pPr eaLnBrk="1" hangingPunct="1">
              <a:spcBef>
                <a:spcPts val="225"/>
              </a:spcBef>
              <a:buFont typeface="Arial" panose="020B0604020202020204" pitchFamily="34" charset="0"/>
              <a:buChar char="•"/>
            </a:pPr>
            <a:r>
              <a:rPr lang="fr-FR" altLang="en-US" sz="1050" dirty="0" smtClean="0">
                <a:solidFill>
                  <a:schemeClr val="bg1"/>
                </a:solidFill>
              </a:rPr>
              <a:t>Il indique également le </a:t>
            </a:r>
            <a:r>
              <a:rPr lang="fr-FR" altLang="en-US" sz="1050" dirty="0" err="1" smtClean="0">
                <a:solidFill>
                  <a:schemeClr val="bg1"/>
                </a:solidFill>
              </a:rPr>
              <a:t>n°de</a:t>
            </a:r>
            <a:r>
              <a:rPr lang="fr-FR" altLang="en-US" sz="1050" dirty="0" smtClean="0">
                <a:solidFill>
                  <a:schemeClr val="bg1"/>
                </a:solidFill>
              </a:rPr>
              <a:t> l’allée, de l’étagère et du casier sur l’étagère</a:t>
            </a:r>
            <a:endParaRPr lang="fr-FR" altLang="en-US" sz="1050" dirty="0">
              <a:solidFill>
                <a:schemeClr val="bg1"/>
              </a:solidFill>
            </a:endParaRPr>
          </a:p>
        </p:txBody>
      </p:sp>
      <p:pic>
        <p:nvPicPr>
          <p:cNvPr id="2" name="Imag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304734" y="1773937"/>
            <a:ext cx="1487553" cy="1877731"/>
          </a:xfrm>
          <a:prstGeom prst="rect">
            <a:avLst/>
          </a:prstGeom>
        </p:spPr>
      </p:pic>
    </p:spTree>
    <p:extLst>
      <p:ext uri="{BB962C8B-B14F-4D97-AF65-F5344CB8AC3E}">
        <p14:creationId xmlns:p14="http://schemas.microsoft.com/office/powerpoint/2010/main" val="1572544412"/>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062823" y="1783900"/>
            <a:ext cx="2048434" cy="1524132"/>
          </a:xfrm>
          <a:prstGeom prst="rect">
            <a:avLst/>
          </a:prstGeom>
        </p:spPr>
      </p:pic>
      <p:sp>
        <p:nvSpPr>
          <p:cNvPr id="29698" name="Titre 1"/>
          <p:cNvSpPr>
            <a:spLocks noGrp="1"/>
          </p:cNvSpPr>
          <p:nvPr>
            <p:ph type="title"/>
          </p:nvPr>
        </p:nvSpPr>
        <p:spPr/>
        <p:txBody>
          <a:bodyPr/>
          <a:lstStyle/>
          <a:p>
            <a:r>
              <a:rPr lang="fr-FR" altLang="en-US" sz="2400" dirty="0" smtClean="0"/>
              <a:t>Description du processus métier</a:t>
            </a:r>
            <a:br>
              <a:rPr lang="fr-FR" altLang="en-US" sz="2400" dirty="0" smtClean="0"/>
            </a:br>
            <a:endParaRPr lang="en-US" altLang="en-US" dirty="0" smtClean="0"/>
          </a:p>
        </p:txBody>
      </p:sp>
      <p:sp>
        <p:nvSpPr>
          <p:cNvPr id="20" name="Rectangle à coins arrondis 19"/>
          <p:cNvSpPr/>
          <p:nvPr/>
        </p:nvSpPr>
        <p:spPr>
          <a:xfrm>
            <a:off x="4355243" y="1405028"/>
            <a:ext cx="2874704" cy="656973"/>
          </a:xfrm>
          <a:prstGeom prst="wedgeRoundRectCallout">
            <a:avLst>
              <a:gd name="adj1" fmla="val -64419"/>
              <a:gd name="adj2" fmla="val 51026"/>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p>
            <a:pPr marL="171450" indent="-171450">
              <a:spcBef>
                <a:spcPts val="225"/>
              </a:spcBef>
              <a:buFont typeface="Arial" panose="020B0604020202020204" pitchFamily="34" charset="0"/>
              <a:buChar char="•"/>
            </a:pPr>
            <a:r>
              <a:rPr lang="fr-FR" sz="1050" dirty="0">
                <a:solidFill>
                  <a:schemeClr val="bg1"/>
                </a:solidFill>
                <a:latin typeface="Arial" panose="020B0604020202020204" pitchFamily="34" charset="0"/>
                <a:ea typeface="ＭＳ Ｐゴシック" panose="020B0600070205080204" pitchFamily="34" charset="-128"/>
              </a:rPr>
              <a:t>La gestion des </a:t>
            </a:r>
            <a:r>
              <a:rPr lang="fr-FR" sz="1050" dirty="0" smtClean="0">
                <a:solidFill>
                  <a:schemeClr val="bg1"/>
                </a:solidFill>
                <a:latin typeface="Arial" panose="020B0604020202020204" pitchFamily="34" charset="0"/>
                <a:ea typeface="ＭＳ Ｐゴシック" panose="020B0600070205080204" pitchFamily="34" charset="-128"/>
              </a:rPr>
              <a:t>emplacements </a:t>
            </a:r>
            <a:r>
              <a:rPr lang="fr-FR" sz="1050" dirty="0">
                <a:solidFill>
                  <a:schemeClr val="bg1"/>
                </a:solidFill>
                <a:latin typeface="Arial" panose="020B0604020202020204" pitchFamily="34" charset="0"/>
                <a:ea typeface="ＭＳ Ｐゴシック" panose="020B0600070205080204" pitchFamily="34" charset="-128"/>
              </a:rPr>
              <a:t>s’inscrit dans le cadre </a:t>
            </a:r>
            <a:r>
              <a:rPr lang="fr-FR" sz="1050" dirty="0" smtClean="0">
                <a:solidFill>
                  <a:schemeClr val="bg1"/>
                </a:solidFill>
                <a:latin typeface="Arial" panose="020B0604020202020204" pitchFamily="34" charset="0"/>
                <a:ea typeface="ＭＳ Ｐゴシック" panose="020B0600070205080204" pitchFamily="34" charset="-128"/>
              </a:rPr>
              <a:t>de la création des données organisationnelles de base</a:t>
            </a:r>
          </a:p>
        </p:txBody>
      </p:sp>
      <p:sp>
        <p:nvSpPr>
          <p:cNvPr id="29701" name="AutoShape 17"/>
          <p:cNvSpPr>
            <a:spLocks noChangeArrowheads="1"/>
          </p:cNvSpPr>
          <p:nvPr/>
        </p:nvSpPr>
        <p:spPr bwMode="auto">
          <a:xfrm>
            <a:off x="2726768" y="3777107"/>
            <a:ext cx="1237060"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Création emplacement</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9702" name="AutoShape 18"/>
          <p:cNvSpPr>
            <a:spLocks noChangeArrowheads="1"/>
          </p:cNvSpPr>
          <p:nvPr/>
        </p:nvSpPr>
        <p:spPr bwMode="auto">
          <a:xfrm>
            <a:off x="3952087" y="3777107"/>
            <a:ext cx="1235869" cy="400050"/>
          </a:xfrm>
          <a:prstGeom prst="chevron">
            <a:avLst>
              <a:gd name="adj" fmla="val 28676"/>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Modification emplacement</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4" name="AutoShape 19"/>
          <p:cNvSpPr>
            <a:spLocks noChangeArrowheads="1"/>
          </p:cNvSpPr>
          <p:nvPr/>
        </p:nvSpPr>
        <p:spPr bwMode="auto">
          <a:xfrm>
            <a:off x="5187956" y="3777107"/>
            <a:ext cx="1553086" cy="400050"/>
          </a:xfrm>
          <a:prstGeom prst="chevron">
            <a:avLst>
              <a:gd name="adj" fmla="val 28704"/>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r>
              <a:rPr lang="fr-FR" altLang="ko-KR" sz="800" b="1" dirty="0" smtClean="0">
                <a:solidFill>
                  <a:srgbClr val="FFFFFF"/>
                </a:solidFill>
                <a:latin typeface="Verdana" pitchFamily="34" charset="0"/>
                <a:ea typeface="ＭＳ Ｐゴシック"/>
                <a:cs typeface="Arial" pitchFamily="34" charset="0"/>
              </a:rPr>
              <a:t>Impression des étiquettes d’emplacement</a:t>
            </a:r>
            <a:endParaRPr lang="fr-FR" altLang="ko-KR" sz="800" b="1" dirty="0">
              <a:solidFill>
                <a:srgbClr val="FFFFFF"/>
              </a:solidFill>
              <a:latin typeface="Verdana" pitchFamily="34" charset="0"/>
              <a:ea typeface="ＭＳ Ｐゴシック"/>
              <a:cs typeface="Arial" pitchFamily="34" charset="0"/>
            </a:endParaRPr>
          </a:p>
        </p:txBody>
      </p:sp>
      <p:sp>
        <p:nvSpPr>
          <p:cNvPr id="14" name="AutoShape 19"/>
          <p:cNvSpPr>
            <a:spLocks noChangeArrowheads="1"/>
          </p:cNvSpPr>
          <p:nvPr/>
        </p:nvSpPr>
        <p:spPr bwMode="auto">
          <a:xfrm>
            <a:off x="5187956" y="3308032"/>
            <a:ext cx="1553086" cy="400050"/>
          </a:xfrm>
          <a:prstGeom prst="chevron">
            <a:avLst>
              <a:gd name="adj" fmla="val 28704"/>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r>
              <a:rPr lang="fr-FR" altLang="ko-KR" sz="800" b="1" dirty="0" smtClean="0">
                <a:solidFill>
                  <a:srgbClr val="FFFFFF"/>
                </a:solidFill>
                <a:latin typeface="Verdana" pitchFamily="34" charset="0"/>
                <a:ea typeface="ＭＳ Ｐゴシック"/>
                <a:cs typeface="Arial" pitchFamily="34" charset="0"/>
              </a:rPr>
              <a:t>Afficher les emplacements vides</a:t>
            </a:r>
            <a:endParaRPr lang="fr-FR" altLang="ko-KR" sz="800" b="1" dirty="0">
              <a:solidFill>
                <a:srgbClr val="FFFFFF"/>
              </a:solidFill>
              <a:latin typeface="Verdana" pitchFamily="34" charset="0"/>
              <a:ea typeface="ＭＳ Ｐゴシック"/>
              <a:cs typeface="Arial" pitchFamily="34" charset="0"/>
            </a:endParaRPr>
          </a:p>
        </p:txBody>
      </p:sp>
    </p:spTree>
    <p:extLst>
      <p:ext uri="{BB962C8B-B14F-4D97-AF65-F5344CB8AC3E}">
        <p14:creationId xmlns:p14="http://schemas.microsoft.com/office/powerpoint/2010/main" val="178853090"/>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re 4"/>
          <p:cNvSpPr>
            <a:spLocks noGrp="1"/>
          </p:cNvSpPr>
          <p:nvPr>
            <p:ph type="title"/>
          </p:nvPr>
        </p:nvSpPr>
        <p:spPr/>
        <p:txBody>
          <a:bodyPr>
            <a:normAutofit/>
          </a:bodyPr>
          <a:lstStyle/>
          <a:p>
            <a:r>
              <a:rPr lang="fr-FR" altLang="en-US" sz="2400" dirty="0" smtClean="0"/>
              <a:t>Le processus de création des emplacements</a:t>
            </a:r>
            <a:endParaRPr lang="en-US" altLang="en-US" sz="2400" dirty="0" smtClean="0"/>
          </a:p>
        </p:txBody>
      </p:sp>
      <p:pic>
        <p:nvPicPr>
          <p:cNvPr id="6" name="Imag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43471" y="869212"/>
            <a:ext cx="4657058" cy="3405076"/>
          </a:xfrm>
          <a:prstGeom prst="rect">
            <a:avLst/>
          </a:prstGeom>
          <a:noFill/>
        </p:spPr>
      </p:pic>
    </p:spTree>
    <p:extLst>
      <p:ext uri="{BB962C8B-B14F-4D97-AF65-F5344CB8AC3E}">
        <p14:creationId xmlns:p14="http://schemas.microsoft.com/office/powerpoint/2010/main" val="419295775"/>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grpSp>
        <p:nvGrpSpPr>
          <p:cNvPr id="2" name="Groupe 1"/>
          <p:cNvGrpSpPr/>
          <p:nvPr/>
        </p:nvGrpSpPr>
        <p:grpSpPr>
          <a:xfrm>
            <a:off x="275964" y="3270647"/>
            <a:ext cx="1076325" cy="1160860"/>
            <a:chOff x="610285" y="3065860"/>
            <a:chExt cx="1076325" cy="1160860"/>
          </a:xfrm>
        </p:grpSpPr>
        <p:sp>
          <p:nvSpPr>
            <p:cNvPr id="27" name="Rectangle 26"/>
            <p:cNvSpPr/>
            <p:nvPr/>
          </p:nvSpPr>
          <p:spPr bwMode="auto">
            <a:xfrm>
              <a:off x="736491" y="3319464"/>
              <a:ext cx="807244" cy="253603"/>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25" dirty="0">
                  <a:solidFill>
                    <a:schemeClr val="bg1"/>
                  </a:solidFill>
                  <a:latin typeface="Arial" pitchFamily="34" charset="0"/>
                  <a:cs typeface="Arial" pitchFamily="34" charset="0"/>
                </a:rPr>
                <a:t>Action</a:t>
              </a:r>
              <a:endParaRPr lang="en-US" sz="825" dirty="0">
                <a:solidFill>
                  <a:schemeClr val="bg1"/>
                </a:solidFill>
                <a:latin typeface="Arial" pitchFamily="34" charset="0"/>
                <a:cs typeface="Arial" pitchFamily="34" charset="0"/>
              </a:endParaRPr>
            </a:p>
          </p:txBody>
        </p:sp>
        <p:sp>
          <p:nvSpPr>
            <p:cNvPr id="28" name="Rectangle 27"/>
            <p:cNvSpPr/>
            <p:nvPr/>
          </p:nvSpPr>
          <p:spPr bwMode="auto">
            <a:xfrm>
              <a:off x="736491" y="3573067"/>
              <a:ext cx="807244" cy="167879"/>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b="1" dirty="0">
                  <a:solidFill>
                    <a:schemeClr val="bg1"/>
                  </a:solidFill>
                  <a:latin typeface="Arial Narrow" pitchFamily="34" charset="0"/>
                </a:rPr>
                <a:t>Transaction SAP</a:t>
              </a:r>
              <a:endParaRPr lang="en-US" sz="675" b="1" dirty="0">
                <a:solidFill>
                  <a:schemeClr val="bg1"/>
                </a:solidFill>
                <a:latin typeface="Arial Narrow" pitchFamily="34" charset="0"/>
              </a:endParaRPr>
            </a:p>
          </p:txBody>
        </p:sp>
        <p:sp>
          <p:nvSpPr>
            <p:cNvPr id="29" name="Rectangle 28"/>
            <p:cNvSpPr/>
            <p:nvPr/>
          </p:nvSpPr>
          <p:spPr bwMode="auto">
            <a:xfrm>
              <a:off x="736491" y="3740945"/>
              <a:ext cx="807244" cy="169069"/>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dirty="0">
                  <a:solidFill>
                    <a:schemeClr val="tx1">
                      <a:lumMod val="50000"/>
                    </a:schemeClr>
                  </a:solidFill>
                  <a:latin typeface="Arial Narrow" pitchFamily="34" charset="0"/>
                </a:rPr>
                <a:t>Acteurs</a:t>
              </a:r>
              <a:endParaRPr lang="en-US" sz="675" dirty="0">
                <a:solidFill>
                  <a:schemeClr val="tx1">
                    <a:lumMod val="50000"/>
                  </a:schemeClr>
                </a:solidFill>
                <a:latin typeface="Arial Narrow" pitchFamily="34" charset="0"/>
              </a:endParaRPr>
            </a:p>
          </p:txBody>
        </p:sp>
        <p:cxnSp>
          <p:nvCxnSpPr>
            <p:cNvPr id="30" name="Connecteur droit avec flèche 29"/>
            <p:cNvCxnSpPr/>
            <p:nvPr/>
          </p:nvCxnSpPr>
          <p:spPr bwMode="auto">
            <a:xfrm>
              <a:off x="736491" y="4079082"/>
              <a:ext cx="260747" cy="1190"/>
            </a:xfrm>
            <a:prstGeom prst="straightConnector1">
              <a:avLst/>
            </a:prstGeom>
            <a:ln>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bwMode="auto">
            <a:xfrm>
              <a:off x="1035730" y="3999310"/>
              <a:ext cx="583814" cy="219291"/>
            </a:xfrm>
            <a:prstGeom prst="rect">
              <a:avLst/>
            </a:prstGeom>
          </p:spPr>
          <p:txBody>
            <a:bodyPr wrap="none">
              <a:spAutoFit/>
            </a:bodyPr>
            <a:lstStyle/>
            <a:p>
              <a:pPr algn="ctr">
                <a:defRPr/>
              </a:pPr>
              <a:r>
                <a:rPr lang="fr-FR" sz="825" dirty="0">
                  <a:solidFill>
                    <a:prstClr val="black"/>
                  </a:solidFill>
                  <a:latin typeface="Arial Narrow" pitchFamily="34" charset="0"/>
                </a:rPr>
                <a:t>Lien direct</a:t>
              </a:r>
              <a:endParaRPr lang="en-US" sz="825" dirty="0">
                <a:solidFill>
                  <a:prstClr val="black"/>
                </a:solidFill>
                <a:latin typeface="Arial Narrow" pitchFamily="34" charset="0"/>
              </a:endParaRPr>
            </a:p>
          </p:txBody>
        </p:sp>
        <p:sp>
          <p:nvSpPr>
            <p:cNvPr id="32" name="Rectangle 31"/>
            <p:cNvSpPr/>
            <p:nvPr/>
          </p:nvSpPr>
          <p:spPr bwMode="auto">
            <a:xfrm>
              <a:off x="610285" y="3065860"/>
              <a:ext cx="1076325" cy="1160860"/>
            </a:xfrm>
            <a:prstGeom prst="rect">
              <a:avLst/>
            </a:prstGeom>
            <a:noFill/>
            <a:ln w="317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1"/>
                </a:solidFill>
              </a:endParaRPr>
            </a:p>
          </p:txBody>
        </p:sp>
        <p:sp>
          <p:nvSpPr>
            <p:cNvPr id="33" name="Rectangle 32"/>
            <p:cNvSpPr/>
            <p:nvPr/>
          </p:nvSpPr>
          <p:spPr bwMode="auto">
            <a:xfrm>
              <a:off x="610285" y="3065860"/>
              <a:ext cx="1076325" cy="230832"/>
            </a:xfrm>
            <a:prstGeom prst="rect">
              <a:avLst/>
            </a:prstGeom>
          </p:spPr>
          <p:txBody>
            <a:bodyPr>
              <a:spAutoFit/>
            </a:bodyPr>
            <a:lstStyle/>
            <a:p>
              <a:pPr algn="ctr">
                <a:defRPr/>
              </a:pPr>
              <a:r>
                <a:rPr lang="fr-FR" sz="900" b="1" dirty="0">
                  <a:solidFill>
                    <a:prstClr val="black"/>
                  </a:solidFill>
                  <a:cs typeface="Arial" pitchFamily="34" charset="0"/>
                </a:rPr>
                <a:t>Légende</a:t>
              </a:r>
              <a:endParaRPr lang="en-US" sz="900" b="1" dirty="0">
                <a:solidFill>
                  <a:prstClr val="black"/>
                </a:solidFill>
                <a:cs typeface="Arial" pitchFamily="34" charset="0"/>
              </a:endParaRPr>
            </a:p>
          </p:txBody>
        </p:sp>
      </p:grpSp>
      <p:grpSp>
        <p:nvGrpSpPr>
          <p:cNvPr id="39" name="Groupe 38"/>
          <p:cNvGrpSpPr/>
          <p:nvPr/>
        </p:nvGrpSpPr>
        <p:grpSpPr>
          <a:xfrm>
            <a:off x="1947918" y="2084982"/>
            <a:ext cx="1296000" cy="754857"/>
            <a:chOff x="1507778" y="2276353"/>
            <a:chExt cx="1258269" cy="754857"/>
          </a:xfrm>
        </p:grpSpPr>
        <p:sp>
          <p:nvSpPr>
            <p:cNvPr id="40" name="Rectangle 39"/>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a:solidFill>
                    <a:schemeClr val="bg1"/>
                  </a:solidFill>
                  <a:latin typeface="Arial" pitchFamily="34" charset="0"/>
                  <a:cs typeface="Arial" pitchFamily="34" charset="0"/>
                </a:rPr>
                <a:t>Créer </a:t>
              </a:r>
              <a:r>
                <a:rPr lang="fr-FR" sz="800" dirty="0" smtClean="0">
                  <a:solidFill>
                    <a:schemeClr val="bg1"/>
                  </a:solidFill>
                  <a:latin typeface="Arial" pitchFamily="34" charset="0"/>
                  <a:cs typeface="Arial" pitchFamily="34" charset="0"/>
                </a:rPr>
                <a:t>un emplacement</a:t>
              </a:r>
              <a:endParaRPr lang="en-US" sz="800" dirty="0">
                <a:solidFill>
                  <a:schemeClr val="bg1"/>
                </a:solidFill>
                <a:latin typeface="Arial" pitchFamily="34" charset="0"/>
                <a:cs typeface="Arial" pitchFamily="34" charset="0"/>
              </a:endParaRPr>
            </a:p>
          </p:txBody>
        </p:sp>
        <p:sp>
          <p:nvSpPr>
            <p:cNvPr id="41" name="Rectangle 40"/>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LS01</a:t>
              </a:r>
              <a:endParaRPr lang="en-US" sz="800" b="1" dirty="0">
                <a:solidFill>
                  <a:schemeClr val="bg1"/>
                </a:solidFill>
                <a:latin typeface="Arial" panose="020B0604020202020204" pitchFamily="34" charset="0"/>
                <a:cs typeface="Arial" panose="020B0604020202020204" pitchFamily="34" charset="0"/>
              </a:endParaRPr>
            </a:p>
          </p:txBody>
        </p:sp>
        <p:sp>
          <p:nvSpPr>
            <p:cNvPr id="43" name="Rectangle 4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Responsable magasin</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47" name="Connecteur en angle 46"/>
          <p:cNvCxnSpPr>
            <a:stCxn id="41" idx="3"/>
            <a:endCxn id="58" idx="1"/>
          </p:cNvCxnSpPr>
          <p:nvPr/>
        </p:nvCxnSpPr>
        <p:spPr>
          <a:xfrm>
            <a:off x="3243918" y="2516584"/>
            <a:ext cx="2366469" cy="2163"/>
          </a:xfrm>
          <a:prstGeom prst="bentConnector3">
            <a:avLst>
              <a:gd name="adj1" fmla="val 50000"/>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eur en angle 47"/>
          <p:cNvCxnSpPr>
            <a:stCxn id="41" idx="3"/>
            <a:endCxn id="61" idx="1"/>
          </p:cNvCxnSpPr>
          <p:nvPr/>
        </p:nvCxnSpPr>
        <p:spPr>
          <a:xfrm flipV="1">
            <a:off x="3243918" y="1405442"/>
            <a:ext cx="2366469" cy="1111142"/>
          </a:xfrm>
          <a:prstGeom prst="bentConnector3">
            <a:avLst>
              <a:gd name="adj1" fmla="val 50000"/>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nvGrpSpPr>
          <p:cNvPr id="50" name="Groupe 49"/>
          <p:cNvGrpSpPr/>
          <p:nvPr/>
        </p:nvGrpSpPr>
        <p:grpSpPr>
          <a:xfrm>
            <a:off x="5610387" y="973592"/>
            <a:ext cx="1296000" cy="2972141"/>
            <a:chOff x="3827406" y="1979447"/>
            <a:chExt cx="1258269" cy="2972141"/>
          </a:xfrm>
        </p:grpSpPr>
        <p:sp>
          <p:nvSpPr>
            <p:cNvPr id="56" name="Rectangle 55"/>
            <p:cNvSpPr/>
            <p:nvPr/>
          </p:nvSpPr>
          <p:spPr>
            <a:xfrm>
              <a:off x="3827406" y="3092752"/>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Afficher </a:t>
              </a:r>
              <a:r>
                <a:rPr lang="fr-FR" sz="800" dirty="0">
                  <a:solidFill>
                    <a:schemeClr val="bg1"/>
                  </a:solidFill>
                  <a:latin typeface="Arial" pitchFamily="34" charset="0"/>
                  <a:cs typeface="Arial" pitchFamily="34" charset="0"/>
                </a:rPr>
                <a:t>un </a:t>
              </a:r>
              <a:r>
                <a:rPr lang="fr-FR" sz="800" dirty="0" smtClean="0">
                  <a:solidFill>
                    <a:schemeClr val="bg1"/>
                  </a:solidFill>
                  <a:latin typeface="Arial" pitchFamily="34" charset="0"/>
                  <a:cs typeface="Arial" pitchFamily="34" charset="0"/>
                </a:rPr>
                <a:t>emplacement</a:t>
              </a:r>
              <a:endParaRPr lang="en-US" sz="800" dirty="0">
                <a:solidFill>
                  <a:schemeClr val="bg1"/>
                </a:solidFill>
                <a:latin typeface="Arial" pitchFamily="34" charset="0"/>
                <a:cs typeface="Arial" pitchFamily="34" charset="0"/>
              </a:endParaRPr>
            </a:p>
          </p:txBody>
        </p:sp>
        <p:sp>
          <p:nvSpPr>
            <p:cNvPr id="58" name="Rectangle 57"/>
            <p:cNvSpPr/>
            <p:nvPr/>
          </p:nvSpPr>
          <p:spPr>
            <a:xfrm>
              <a:off x="3827406" y="3416602"/>
              <a:ext cx="1258269"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LS03</a:t>
              </a:r>
              <a:endParaRPr lang="en-US" sz="800" b="1" dirty="0">
                <a:solidFill>
                  <a:schemeClr val="bg1"/>
                </a:solidFill>
                <a:latin typeface="Arial" panose="020B0604020202020204" pitchFamily="34" charset="0"/>
                <a:cs typeface="Arial" panose="020B0604020202020204" pitchFamily="34" charset="0"/>
              </a:endParaRPr>
            </a:p>
          </p:txBody>
        </p:sp>
        <p:sp>
          <p:nvSpPr>
            <p:cNvPr id="59" name="Rectangle 58"/>
            <p:cNvSpPr/>
            <p:nvPr/>
          </p:nvSpPr>
          <p:spPr>
            <a:xfrm>
              <a:off x="3827406" y="3625275"/>
              <a:ext cx="1258269"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sp>
          <p:nvSpPr>
            <p:cNvPr id="60" name="Rectangle 59"/>
            <p:cNvSpPr/>
            <p:nvPr/>
          </p:nvSpPr>
          <p:spPr>
            <a:xfrm>
              <a:off x="3827406" y="1979447"/>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Modifier </a:t>
              </a:r>
              <a:r>
                <a:rPr lang="fr-FR" sz="800" dirty="0">
                  <a:solidFill>
                    <a:schemeClr val="bg1"/>
                  </a:solidFill>
                  <a:latin typeface="Arial" pitchFamily="34" charset="0"/>
                  <a:cs typeface="Arial" pitchFamily="34" charset="0"/>
                </a:rPr>
                <a:t>un </a:t>
              </a:r>
              <a:r>
                <a:rPr lang="fr-FR" sz="800" dirty="0" smtClean="0">
                  <a:solidFill>
                    <a:schemeClr val="bg1"/>
                  </a:solidFill>
                  <a:latin typeface="Arial" pitchFamily="34" charset="0"/>
                  <a:cs typeface="Arial" pitchFamily="34" charset="0"/>
                </a:rPr>
                <a:t>emplacement</a:t>
              </a:r>
              <a:endParaRPr lang="en-US" sz="800" dirty="0">
                <a:solidFill>
                  <a:schemeClr val="bg1"/>
                </a:solidFill>
                <a:latin typeface="Arial" pitchFamily="34" charset="0"/>
                <a:cs typeface="Arial" pitchFamily="34" charset="0"/>
              </a:endParaRPr>
            </a:p>
          </p:txBody>
        </p:sp>
        <p:sp>
          <p:nvSpPr>
            <p:cNvPr id="61" name="Rectangle 60"/>
            <p:cNvSpPr/>
            <p:nvPr/>
          </p:nvSpPr>
          <p:spPr>
            <a:xfrm>
              <a:off x="3827406" y="2303297"/>
              <a:ext cx="1258269"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LS02</a:t>
              </a:r>
              <a:endParaRPr lang="en-US" sz="800" b="1" dirty="0">
                <a:solidFill>
                  <a:schemeClr val="bg1"/>
                </a:solidFill>
                <a:latin typeface="Arial" panose="020B0604020202020204" pitchFamily="34" charset="0"/>
                <a:cs typeface="Arial" panose="020B0604020202020204" pitchFamily="34" charset="0"/>
              </a:endParaRPr>
            </a:p>
          </p:txBody>
        </p:sp>
        <p:sp>
          <p:nvSpPr>
            <p:cNvPr id="62" name="Rectangle 61"/>
            <p:cNvSpPr/>
            <p:nvPr/>
          </p:nvSpPr>
          <p:spPr>
            <a:xfrm>
              <a:off x="3827406" y="2519991"/>
              <a:ext cx="1258269"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chemeClr val="tx1">
                      <a:lumMod val="50000"/>
                    </a:schemeClr>
                  </a:solidFill>
                  <a:latin typeface="Arial" panose="020B0604020202020204" pitchFamily="34" charset="0"/>
                  <a:cs typeface="Arial" panose="020B0604020202020204" pitchFamily="34" charset="0"/>
                </a:rPr>
                <a:t>Responsable magasin</a:t>
              </a:r>
              <a:endParaRPr lang="en-US" sz="800" dirty="0">
                <a:solidFill>
                  <a:schemeClr val="tx1">
                    <a:lumMod val="50000"/>
                  </a:schemeClr>
                </a:solidFill>
                <a:latin typeface="Arial" panose="020B0604020202020204" pitchFamily="34" charset="0"/>
                <a:cs typeface="Arial" panose="020B0604020202020204" pitchFamily="34" charset="0"/>
              </a:endParaRPr>
            </a:p>
            <a:p>
              <a:pPr algn="ctr"/>
              <a:endParaRPr lang="en-US" sz="800" dirty="0">
                <a:solidFill>
                  <a:schemeClr val="tx1">
                    <a:lumMod val="50000"/>
                  </a:schemeClr>
                </a:solidFill>
                <a:latin typeface="Arial" panose="020B0604020202020204" pitchFamily="34" charset="0"/>
                <a:cs typeface="Arial" panose="020B0604020202020204" pitchFamily="34" charset="0"/>
              </a:endParaRPr>
            </a:p>
          </p:txBody>
        </p:sp>
        <p:sp>
          <p:nvSpPr>
            <p:cNvPr id="63" name="Rectangle 62"/>
            <p:cNvSpPr/>
            <p:nvPr/>
          </p:nvSpPr>
          <p:spPr>
            <a:xfrm>
              <a:off x="3827406" y="4203065"/>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Afficher la liste des emplacements vides</a:t>
              </a:r>
              <a:endParaRPr lang="en-US" sz="800" dirty="0">
                <a:solidFill>
                  <a:schemeClr val="bg1"/>
                </a:solidFill>
                <a:latin typeface="Arial" pitchFamily="34" charset="0"/>
                <a:cs typeface="Arial" pitchFamily="34" charset="0"/>
              </a:endParaRPr>
            </a:p>
          </p:txBody>
        </p:sp>
        <p:sp>
          <p:nvSpPr>
            <p:cNvPr id="64" name="Rectangle 63"/>
            <p:cNvSpPr/>
            <p:nvPr/>
          </p:nvSpPr>
          <p:spPr>
            <a:xfrm>
              <a:off x="3827406" y="4526915"/>
              <a:ext cx="1258269"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LS04</a:t>
              </a:r>
              <a:endParaRPr lang="en-US" sz="800" b="1" dirty="0">
                <a:solidFill>
                  <a:schemeClr val="bg1"/>
                </a:solidFill>
                <a:latin typeface="Arial" panose="020B0604020202020204" pitchFamily="34" charset="0"/>
                <a:cs typeface="Arial" panose="020B0604020202020204" pitchFamily="34" charset="0"/>
              </a:endParaRPr>
            </a:p>
          </p:txBody>
        </p:sp>
        <p:sp>
          <p:nvSpPr>
            <p:cNvPr id="65" name="Rectangle 64"/>
            <p:cNvSpPr/>
            <p:nvPr/>
          </p:nvSpPr>
          <p:spPr>
            <a:xfrm>
              <a:off x="3827406" y="4735588"/>
              <a:ext cx="1258269"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66" name="Connecteur en angle 65"/>
          <p:cNvCxnSpPr>
            <a:stCxn id="41" idx="3"/>
            <a:endCxn id="64" idx="1"/>
          </p:cNvCxnSpPr>
          <p:nvPr/>
        </p:nvCxnSpPr>
        <p:spPr>
          <a:xfrm>
            <a:off x="3243918" y="2516584"/>
            <a:ext cx="2366469" cy="1112476"/>
          </a:xfrm>
          <a:prstGeom prst="bentConnector3">
            <a:avLst>
              <a:gd name="adj1" fmla="val 50000"/>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85639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3836636" y="1292346"/>
            <a:ext cx="2724238" cy="2326140"/>
          </a:xfrm>
          <a:prstGeom prst="rect">
            <a:avLst/>
          </a:prstGeom>
        </p:spPr>
      </p:pic>
      <p:sp>
        <p:nvSpPr>
          <p:cNvPr id="33795" name="Titre 3"/>
          <p:cNvSpPr>
            <a:spLocks noGrp="1"/>
          </p:cNvSpPr>
          <p:nvPr>
            <p:ph type="title"/>
          </p:nvPr>
        </p:nvSpPr>
        <p:spPr/>
        <p:txBody>
          <a:bodyPr/>
          <a:lstStyle/>
          <a:p>
            <a:r>
              <a:rPr lang="fr-FR" altLang="en-US" sz="2400" dirty="0"/>
              <a:t>Mode opératoire</a:t>
            </a:r>
            <a:br>
              <a:rPr lang="fr-FR" altLang="en-US" sz="2400" dirty="0"/>
            </a:br>
            <a:r>
              <a:rPr lang="fr-FR" altLang="en-US" dirty="0" smtClean="0"/>
              <a:t>LS01 </a:t>
            </a:r>
            <a:r>
              <a:rPr lang="fr-FR" altLang="en-US" dirty="0"/>
              <a:t>- Créer </a:t>
            </a:r>
            <a:r>
              <a:rPr lang="fr-FR" altLang="en-US" dirty="0" smtClean="0"/>
              <a:t>un emplacement – 1/2 </a:t>
            </a:r>
            <a:endParaRPr lang="en-US" altLang="en-US" dirty="0" smtClean="0"/>
          </a:p>
        </p:txBody>
      </p:sp>
      <p:cxnSp>
        <p:nvCxnSpPr>
          <p:cNvPr id="17" name="Connecteur droit 16"/>
          <p:cNvCxnSpPr/>
          <p:nvPr/>
        </p:nvCxnSpPr>
        <p:spPr>
          <a:xfrm flipV="1">
            <a:off x="5217397" y="2206748"/>
            <a:ext cx="777868" cy="702320"/>
          </a:xfrm>
          <a:prstGeom prst="line">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976037" y="2830881"/>
            <a:ext cx="188478" cy="12629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grpSp>
        <p:nvGrpSpPr>
          <p:cNvPr id="33794" name="Groupe 33793"/>
          <p:cNvGrpSpPr/>
          <p:nvPr/>
        </p:nvGrpSpPr>
        <p:grpSpPr>
          <a:xfrm>
            <a:off x="487093" y="1737028"/>
            <a:ext cx="3204199" cy="1938992"/>
            <a:chOff x="425491" y="1196439"/>
            <a:chExt cx="3204199" cy="1938992"/>
          </a:xfrm>
        </p:grpSpPr>
        <p:sp>
          <p:nvSpPr>
            <p:cNvPr id="8" name="ZoneTexte 7"/>
            <p:cNvSpPr txBox="1"/>
            <p:nvPr/>
          </p:nvSpPr>
          <p:spPr>
            <a:xfrm>
              <a:off x="591215" y="1196439"/>
              <a:ext cx="3038475" cy="1938992"/>
            </a:xfrm>
            <a:prstGeom prst="rect">
              <a:avLst/>
            </a:prstGeom>
            <a:noFill/>
          </p:spPr>
          <p:txBody>
            <a:bodyPr wrap="square" rtlCol="0">
              <a:spAutoFit/>
            </a:bodyPr>
            <a:lstStyle/>
            <a:p>
              <a:r>
                <a:rPr lang="fr-FR" sz="1200" dirty="0" smtClean="0">
                  <a:solidFill>
                    <a:srgbClr val="4D4F53"/>
                  </a:solidFill>
                </a:rPr>
                <a:t>Indiquer un n° de magasin WM</a:t>
              </a:r>
            </a:p>
            <a:p>
              <a:endParaRPr lang="fr-FR" sz="1200" dirty="0">
                <a:solidFill>
                  <a:srgbClr val="4D4F53"/>
                </a:solidFill>
              </a:endParaRPr>
            </a:p>
            <a:p>
              <a:endParaRPr lang="fr-FR" sz="1200" dirty="0" smtClean="0">
                <a:solidFill>
                  <a:srgbClr val="4D4F53"/>
                </a:solidFill>
              </a:endParaRPr>
            </a:p>
            <a:p>
              <a:r>
                <a:rPr lang="fr-FR" sz="1200" dirty="0" smtClean="0">
                  <a:solidFill>
                    <a:srgbClr val="4D4F53"/>
                  </a:solidFill>
                </a:rPr>
                <a:t>Choisir un type de magasin</a:t>
              </a:r>
            </a:p>
            <a:p>
              <a:endParaRPr lang="fr-FR" sz="1200" dirty="0">
                <a:solidFill>
                  <a:srgbClr val="4D4F53"/>
                </a:solidFill>
              </a:endParaRPr>
            </a:p>
            <a:p>
              <a:r>
                <a:rPr lang="fr-FR" sz="1200" dirty="0" smtClean="0">
                  <a:solidFill>
                    <a:srgbClr val="4D4F53"/>
                  </a:solidFill>
                </a:rPr>
                <a:t>Choisir un code pour l’emplacement à créer avec le n° de l’allée, de l’étagère et du casier sur l’étagère</a:t>
              </a:r>
            </a:p>
            <a:p>
              <a:endParaRPr lang="fr-FR" sz="1200" dirty="0">
                <a:solidFill>
                  <a:srgbClr val="4D4F53"/>
                </a:solidFill>
              </a:endParaRPr>
            </a:p>
            <a:p>
              <a:r>
                <a:rPr lang="fr-FR" sz="1200" dirty="0" smtClean="0">
                  <a:solidFill>
                    <a:srgbClr val="4D4F53"/>
                  </a:solidFill>
                </a:rPr>
                <a:t>Cliquer sur Entrer</a:t>
              </a:r>
            </a:p>
          </p:txBody>
        </p:sp>
        <p:sp>
          <p:nvSpPr>
            <p:cNvPr id="36" name="Ellipse 3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425491" y="183754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8" name="Ellipse 37"/>
            <p:cNvSpPr/>
            <p:nvPr/>
          </p:nvSpPr>
          <p:spPr>
            <a:xfrm>
              <a:off x="425491" y="219886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grpSp>
      <p:sp>
        <p:nvSpPr>
          <p:cNvPr id="27" name="Rectangle 26"/>
          <p:cNvSpPr/>
          <p:nvPr/>
        </p:nvSpPr>
        <p:spPr>
          <a:xfrm>
            <a:off x="4976037" y="2989884"/>
            <a:ext cx="188478" cy="12629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9" name="Rectangle 28"/>
          <p:cNvSpPr/>
          <p:nvPr/>
        </p:nvSpPr>
        <p:spPr>
          <a:xfrm>
            <a:off x="4976037" y="3167477"/>
            <a:ext cx="563526" cy="1141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0" name="Ellipse 29"/>
          <p:cNvSpPr/>
          <p:nvPr/>
        </p:nvSpPr>
        <p:spPr>
          <a:xfrm>
            <a:off x="4819901" y="268022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1" name="Ellipse 30"/>
          <p:cNvSpPr/>
          <p:nvPr/>
        </p:nvSpPr>
        <p:spPr>
          <a:xfrm>
            <a:off x="4819901" y="292385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2" name="Ellipse 31"/>
          <p:cNvSpPr/>
          <p:nvPr/>
        </p:nvSpPr>
        <p:spPr>
          <a:xfrm>
            <a:off x="4819901" y="313001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endParaRPr lang="fr-FR" sz="900" b="1" dirty="0" smtClean="0">
              <a:solidFill>
                <a:schemeClr val="bg1"/>
              </a:solidFill>
            </a:endParaRPr>
          </a:p>
        </p:txBody>
      </p:sp>
      <p:pic>
        <p:nvPicPr>
          <p:cNvPr id="3" name="Image 2"/>
          <p:cNvPicPr>
            <a:picLocks noChangeAspect="1"/>
          </p:cNvPicPr>
          <p:nvPr/>
        </p:nvPicPr>
        <p:blipFill>
          <a:blip r:embed="rId3"/>
          <a:stretch>
            <a:fillRect/>
          </a:stretch>
        </p:blipFill>
        <p:spPr>
          <a:xfrm>
            <a:off x="6073032" y="842980"/>
            <a:ext cx="1400808" cy="1449110"/>
          </a:xfrm>
          <a:prstGeom prst="rect">
            <a:avLst/>
          </a:prstGeom>
        </p:spPr>
      </p:pic>
      <p:pic>
        <p:nvPicPr>
          <p:cNvPr id="5" name="Image 4"/>
          <p:cNvPicPr>
            <a:picLocks noChangeAspect="1"/>
          </p:cNvPicPr>
          <p:nvPr/>
        </p:nvPicPr>
        <p:blipFill>
          <a:blip r:embed="rId4"/>
          <a:stretch>
            <a:fillRect/>
          </a:stretch>
        </p:blipFill>
        <p:spPr>
          <a:xfrm>
            <a:off x="7551607" y="520995"/>
            <a:ext cx="1437000" cy="3868842"/>
          </a:xfrm>
          <a:prstGeom prst="rect">
            <a:avLst/>
          </a:prstGeom>
        </p:spPr>
      </p:pic>
      <p:cxnSp>
        <p:nvCxnSpPr>
          <p:cNvPr id="33" name="Connecteur droit 32"/>
          <p:cNvCxnSpPr/>
          <p:nvPr/>
        </p:nvCxnSpPr>
        <p:spPr>
          <a:xfrm flipV="1">
            <a:off x="5217397" y="3053031"/>
            <a:ext cx="2256443" cy="27418"/>
          </a:xfrm>
          <a:prstGeom prst="line">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40" name="Ellipse 39"/>
          <p:cNvSpPr/>
          <p:nvPr/>
        </p:nvSpPr>
        <p:spPr>
          <a:xfrm>
            <a:off x="496681" y="34401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Tree>
    <p:extLst>
      <p:ext uri="{BB962C8B-B14F-4D97-AF65-F5344CB8AC3E}">
        <p14:creationId xmlns:p14="http://schemas.microsoft.com/office/powerpoint/2010/main" val="6514678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p:cNvPicPr>
            <a:picLocks noChangeAspect="1"/>
          </p:cNvPicPr>
          <p:nvPr/>
        </p:nvPicPr>
        <p:blipFill>
          <a:blip r:embed="rId2"/>
          <a:stretch>
            <a:fillRect/>
          </a:stretch>
        </p:blipFill>
        <p:spPr>
          <a:xfrm>
            <a:off x="4145840" y="233921"/>
            <a:ext cx="2595674" cy="4198424"/>
          </a:xfrm>
          <a:prstGeom prst="rect">
            <a:avLst/>
          </a:prstGeom>
        </p:spPr>
      </p:pic>
      <p:sp>
        <p:nvSpPr>
          <p:cNvPr id="62" name="Titre 3"/>
          <p:cNvSpPr>
            <a:spLocks noGrp="1"/>
          </p:cNvSpPr>
          <p:nvPr>
            <p:ph type="title"/>
          </p:nvPr>
        </p:nvSpPr>
        <p:spPr>
          <a:xfrm>
            <a:off x="457200" y="206375"/>
            <a:ext cx="8229600" cy="857250"/>
          </a:xfrm>
        </p:spPr>
        <p:txBody>
          <a:bodyPr/>
          <a:lstStyle/>
          <a:p>
            <a:r>
              <a:rPr lang="fr-FR" altLang="en-US" sz="2400" dirty="0"/>
              <a:t>Mode opératoire</a:t>
            </a:r>
            <a:br>
              <a:rPr lang="fr-FR" altLang="en-US" sz="2400" dirty="0"/>
            </a:br>
            <a:r>
              <a:rPr lang="fr-FR" altLang="en-US" dirty="0" smtClean="0"/>
              <a:t>LS01 </a:t>
            </a:r>
            <a:r>
              <a:rPr lang="fr-FR" altLang="en-US" dirty="0"/>
              <a:t>- Créer </a:t>
            </a:r>
            <a:r>
              <a:rPr lang="fr-FR" altLang="en-US" dirty="0" smtClean="0"/>
              <a:t>un emplacement</a:t>
            </a:r>
            <a:r>
              <a:rPr lang="fr-FR" altLang="en-US" dirty="0"/>
              <a:t> </a:t>
            </a:r>
            <a:r>
              <a:rPr lang="fr-FR" altLang="en-US" dirty="0" smtClean="0"/>
              <a:t>– 2/2</a:t>
            </a:r>
            <a:endParaRPr lang="en-US" altLang="en-US" dirty="0" smtClean="0"/>
          </a:p>
        </p:txBody>
      </p:sp>
      <p:pic>
        <p:nvPicPr>
          <p:cNvPr id="5" name="Image 4"/>
          <p:cNvPicPr>
            <a:picLocks noChangeAspect="1"/>
          </p:cNvPicPr>
          <p:nvPr/>
        </p:nvPicPr>
        <p:blipFill>
          <a:blip r:embed="rId3"/>
          <a:stretch>
            <a:fillRect/>
          </a:stretch>
        </p:blipFill>
        <p:spPr>
          <a:xfrm>
            <a:off x="6873811" y="843252"/>
            <a:ext cx="1707890" cy="440746"/>
          </a:xfrm>
          <a:prstGeom prst="rect">
            <a:avLst/>
          </a:prstGeom>
        </p:spPr>
      </p:pic>
      <p:pic>
        <p:nvPicPr>
          <p:cNvPr id="9" name="Image 8"/>
          <p:cNvPicPr>
            <a:picLocks noChangeAspect="1"/>
          </p:cNvPicPr>
          <p:nvPr/>
        </p:nvPicPr>
        <p:blipFill>
          <a:blip r:embed="rId4"/>
          <a:stretch>
            <a:fillRect/>
          </a:stretch>
        </p:blipFill>
        <p:spPr>
          <a:xfrm>
            <a:off x="6970731" y="1919014"/>
            <a:ext cx="1131278" cy="1906126"/>
          </a:xfrm>
          <a:prstGeom prst="rect">
            <a:avLst/>
          </a:prstGeom>
        </p:spPr>
      </p:pic>
      <p:sp>
        <p:nvSpPr>
          <p:cNvPr id="39" name="Rectangle 38"/>
          <p:cNvSpPr/>
          <p:nvPr/>
        </p:nvSpPr>
        <p:spPr>
          <a:xfrm>
            <a:off x="5240174" y="2783587"/>
            <a:ext cx="180755" cy="15377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0" name="Rectangle 39"/>
          <p:cNvSpPr/>
          <p:nvPr/>
        </p:nvSpPr>
        <p:spPr>
          <a:xfrm>
            <a:off x="5270952" y="1772814"/>
            <a:ext cx="159490" cy="1141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2" name="Ellipse 41"/>
          <p:cNvSpPr/>
          <p:nvPr/>
        </p:nvSpPr>
        <p:spPr>
          <a:xfrm>
            <a:off x="5071376" y="177022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44" name="Ellipse 43"/>
          <p:cNvSpPr/>
          <p:nvPr/>
        </p:nvSpPr>
        <p:spPr>
          <a:xfrm>
            <a:off x="5047498" y="278278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cxnSp>
        <p:nvCxnSpPr>
          <p:cNvPr id="45" name="Connecteur droit 44"/>
          <p:cNvCxnSpPr/>
          <p:nvPr/>
        </p:nvCxnSpPr>
        <p:spPr>
          <a:xfrm flipV="1">
            <a:off x="5573143" y="1357926"/>
            <a:ext cx="1497508" cy="465786"/>
          </a:xfrm>
          <a:prstGeom prst="line">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flipV="1">
            <a:off x="5654460" y="2851415"/>
            <a:ext cx="1219351" cy="17098"/>
          </a:xfrm>
          <a:prstGeom prst="line">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48" name="Groupe 47"/>
          <p:cNvGrpSpPr/>
          <p:nvPr/>
        </p:nvGrpSpPr>
        <p:grpSpPr>
          <a:xfrm>
            <a:off x="487093" y="1737028"/>
            <a:ext cx="3204199" cy="1384995"/>
            <a:chOff x="425491" y="1196439"/>
            <a:chExt cx="3204199" cy="1384995"/>
          </a:xfrm>
        </p:grpSpPr>
        <p:sp>
          <p:nvSpPr>
            <p:cNvPr id="54" name="ZoneTexte 53"/>
            <p:cNvSpPr txBox="1"/>
            <p:nvPr/>
          </p:nvSpPr>
          <p:spPr>
            <a:xfrm>
              <a:off x="591215" y="1196439"/>
              <a:ext cx="3038475" cy="1384995"/>
            </a:xfrm>
            <a:prstGeom prst="rect">
              <a:avLst/>
            </a:prstGeom>
            <a:noFill/>
          </p:spPr>
          <p:txBody>
            <a:bodyPr wrap="square" rtlCol="0">
              <a:spAutoFit/>
            </a:bodyPr>
            <a:lstStyle/>
            <a:p>
              <a:r>
                <a:rPr lang="fr-FR" sz="1200" dirty="0" smtClean="0">
                  <a:solidFill>
                    <a:srgbClr val="4D4F53"/>
                  </a:solidFill>
                </a:rPr>
                <a:t>Indiquer l’aire de stockage 001</a:t>
              </a:r>
            </a:p>
            <a:p>
              <a:endParaRPr lang="fr-FR" sz="1200" dirty="0">
                <a:solidFill>
                  <a:srgbClr val="4D4F53"/>
                </a:solidFill>
              </a:endParaRPr>
            </a:p>
            <a:p>
              <a:endParaRPr lang="fr-FR" sz="1200" dirty="0" smtClean="0">
                <a:solidFill>
                  <a:srgbClr val="4D4F53"/>
                </a:solidFill>
              </a:endParaRPr>
            </a:p>
            <a:p>
              <a:r>
                <a:rPr lang="fr-FR" sz="1200" dirty="0" smtClean="0">
                  <a:solidFill>
                    <a:srgbClr val="4D4F53"/>
                  </a:solidFill>
                </a:rPr>
                <a:t>Choisir un type d’emplacement </a:t>
              </a:r>
            </a:p>
            <a:p>
              <a:endParaRPr lang="fr-FR" sz="1200" dirty="0">
                <a:solidFill>
                  <a:srgbClr val="4D4F53"/>
                </a:solidFill>
              </a:endParaRPr>
            </a:p>
            <a:p>
              <a:r>
                <a:rPr lang="fr-FR" sz="1200" dirty="0" smtClean="0">
                  <a:solidFill>
                    <a:srgbClr val="4D4F53"/>
                  </a:solidFill>
                </a:rPr>
                <a:t>Cliquer sur Sauvegarder       pour voir apparaître en bas d’écran le message suivant : </a:t>
              </a:r>
            </a:p>
          </p:txBody>
        </p:sp>
        <p:sp>
          <p:nvSpPr>
            <p:cNvPr id="55" name="Ellipse 54"/>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56" name="Ellipse 55"/>
            <p:cNvSpPr/>
            <p:nvPr/>
          </p:nvSpPr>
          <p:spPr>
            <a:xfrm>
              <a:off x="425491" y="183754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57" name="Ellipse 56"/>
            <p:cNvSpPr/>
            <p:nvPr/>
          </p:nvSpPr>
          <p:spPr>
            <a:xfrm>
              <a:off x="425491" y="219886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grpSp>
      <p:sp>
        <p:nvSpPr>
          <p:cNvPr id="63" name="Ellipse 62"/>
          <p:cNvSpPr/>
          <p:nvPr/>
        </p:nvSpPr>
        <p:spPr>
          <a:xfrm>
            <a:off x="5744892" y="68867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pic>
        <p:nvPicPr>
          <p:cNvPr id="15" name="Image 14"/>
          <p:cNvPicPr>
            <a:picLocks noChangeAspect="1"/>
          </p:cNvPicPr>
          <p:nvPr/>
        </p:nvPicPr>
        <p:blipFill>
          <a:blip r:embed="rId5"/>
          <a:stretch>
            <a:fillRect/>
          </a:stretch>
        </p:blipFill>
        <p:spPr>
          <a:xfrm>
            <a:off x="1089641" y="3122023"/>
            <a:ext cx="1885950" cy="247650"/>
          </a:xfrm>
          <a:prstGeom prst="rect">
            <a:avLst/>
          </a:prstGeom>
        </p:spPr>
      </p:pic>
      <p:pic>
        <p:nvPicPr>
          <p:cNvPr id="64" name="Image 63"/>
          <p:cNvPicPr>
            <a:picLocks noChangeAspect="1"/>
          </p:cNvPicPr>
          <p:nvPr/>
        </p:nvPicPr>
        <p:blipFill>
          <a:blip r:embed="rId6"/>
          <a:stretch>
            <a:fillRect/>
          </a:stretch>
        </p:blipFill>
        <p:spPr>
          <a:xfrm>
            <a:off x="2216991" y="2651654"/>
            <a:ext cx="228600" cy="238125"/>
          </a:xfrm>
          <a:prstGeom prst="rect">
            <a:avLst/>
          </a:prstGeom>
        </p:spPr>
      </p:pic>
    </p:spTree>
    <p:extLst>
      <p:ext uri="{BB962C8B-B14F-4D97-AF65-F5344CB8AC3E}">
        <p14:creationId xmlns:p14="http://schemas.microsoft.com/office/powerpoint/2010/main" val="5488122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6" y="1058111"/>
            <a:ext cx="2201466" cy="527934"/>
          </a:xfrm>
          <a:prstGeom prst="rect">
            <a:avLst/>
          </a:prstGeom>
          <a:noFill/>
          <a:ln w="12700" algn="ctr">
            <a:noFill/>
            <a:miter lim="800000"/>
            <a:headEnd/>
            <a:tailEnd/>
          </a:ln>
        </p:spPr>
        <p:txBody>
          <a:bodyPr lIns="67500" tIns="35100" rIns="67500" bIns="35100">
            <a:spAutoFit/>
          </a:bodyPr>
          <a:lstStyle/>
          <a:p>
            <a:pPr>
              <a:lnSpc>
                <a:spcPct val="110000"/>
              </a:lnSpc>
              <a:buFont typeface="Wingdings" pitchFamily="2" charset="2"/>
              <a:buNone/>
              <a:defRPr/>
            </a:pPr>
            <a:endParaRPr lang="fr-FR" sz="1350" dirty="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Créer un nouvel emplacement</a:t>
            </a: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486918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4" name="Rectangle 3"/>
          <p:cNvSpPr/>
          <p:nvPr/>
        </p:nvSpPr>
        <p:spPr>
          <a:xfrm>
            <a:off x="1485900" y="1438025"/>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Numéro de magasin</a:t>
            </a:r>
            <a:endParaRPr lang="en-US" sz="1350" b="1" dirty="0">
              <a:solidFill>
                <a:schemeClr val="bg1"/>
              </a:solidFill>
              <a:latin typeface="Arial" pitchFamily="34" charset="0"/>
              <a:cs typeface="Arial" pitchFamily="34" charset="0"/>
            </a:endParaRPr>
          </a:p>
        </p:txBody>
      </p:sp>
      <p:sp>
        <p:nvSpPr>
          <p:cNvPr id="36868" name="Espace réservé du contenu 4"/>
          <p:cNvSpPr>
            <a:spLocks noGrp="1"/>
          </p:cNvSpPr>
          <p:nvPr>
            <p:ph idx="1"/>
          </p:nvPr>
        </p:nvSpPr>
        <p:spPr>
          <a:xfrm>
            <a:off x="1485900" y="2151774"/>
            <a:ext cx="6172200" cy="545432"/>
          </a:xfrm>
        </p:spPr>
        <p:txBody>
          <a:bodyPr/>
          <a:lstStyle/>
          <a:p>
            <a:r>
              <a:rPr lang="fr-FR" dirty="0" smtClean="0"/>
              <a:t>Un magasin physique complet est défini sous un numéro de magasin unique. Le numéro de magasin vous permet de gérer plusieurs bâtiments de </a:t>
            </a:r>
            <a:r>
              <a:rPr lang="fr-FR" dirty="0" smtClean="0"/>
              <a:t>magasins </a:t>
            </a:r>
            <a:r>
              <a:rPr lang="fr-FR" dirty="0" smtClean="0"/>
              <a:t>individuels qui, ensemble, forment un complexe de magasins complet.</a:t>
            </a:r>
            <a:r>
              <a:rPr lang="fr-FR" dirty="0"/>
              <a:t/>
            </a:r>
            <a:br>
              <a:rPr lang="fr-FR" dirty="0"/>
            </a:br>
            <a:r>
              <a:rPr lang="fr-FR" dirty="0"/>
              <a:t>Un Numéro de magasin est lié à un ou plusieurs </a:t>
            </a:r>
            <a:r>
              <a:rPr lang="fr-FR" dirty="0" smtClean="0"/>
              <a:t>magasins </a:t>
            </a:r>
            <a:r>
              <a:rPr lang="fr-FR" dirty="0"/>
              <a:t>MM en fonction du besoin. Il n’y a néanmoins pas de lien hiérarchique entre Numéro de Magasin et Division, ni Société</a:t>
            </a:r>
            <a:r>
              <a:rPr lang="fr-FR" dirty="0" smtClean="0"/>
              <a:t>. </a:t>
            </a:r>
          </a:p>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Pour la CBG, les numéros de magasin sont les suivants :</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W pour le magasin W de la division GN01 </a:t>
            </a:r>
            <a:r>
              <a:rPr lang="fr-FR" altLang="en-US" sz="1100" dirty="0" err="1" smtClean="0">
                <a:latin typeface="Arial" panose="020B0604020202020204" pitchFamily="34" charset="0"/>
                <a:ea typeface="ＭＳ Ｐゴシック" panose="020B0600070205080204" pitchFamily="34" charset="-128"/>
                <a:cs typeface="Arial" panose="020B0604020202020204" pitchFamily="34" charset="0"/>
              </a:rPr>
              <a:t>Kamsar</a:t>
            </a:r>
            <a:endParaRPr lang="fr-FR" altLang="en-US" sz="1100" dirty="0" smtClean="0">
              <a:latin typeface="Arial" panose="020B0604020202020204" pitchFamily="34" charset="0"/>
              <a:ea typeface="ＭＳ Ｐゴシック" panose="020B0600070205080204" pitchFamily="34" charset="-128"/>
              <a:cs typeface="Arial" panose="020B0604020202020204" pitchFamily="34" charset="0"/>
            </a:endParaRP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S pour le magasin S de la division GN02 </a:t>
            </a:r>
            <a:r>
              <a:rPr lang="fr-FR" altLang="en-US" sz="1100" dirty="0" err="1" smtClean="0">
                <a:latin typeface="Arial" panose="020B0604020202020204" pitchFamily="34" charset="0"/>
                <a:ea typeface="ＭＳ Ｐゴシック" panose="020B0600070205080204" pitchFamily="34" charset="-128"/>
                <a:cs typeface="Arial" panose="020B0604020202020204" pitchFamily="34" charset="0"/>
              </a:rPr>
              <a:t>Sangarédi</a:t>
            </a:r>
            <a:endParaRPr lang="fr-FR" altLang="en-US" sz="1100" dirty="0" smtClean="0">
              <a:latin typeface="Arial" panose="020B0604020202020204" pitchFamily="34" charset="0"/>
              <a:ea typeface="ＭＳ Ｐゴシック" panose="020B0600070205080204" pitchFamily="34" charset="-128"/>
              <a:cs typeface="Arial" panose="020B0604020202020204" pitchFamily="34" charset="0"/>
            </a:endParaRP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PHA pour la Pharmacie dans la division GN01 </a:t>
            </a:r>
            <a:r>
              <a:rPr lang="fr-FR" altLang="en-US" sz="1100" dirty="0" err="1" smtClean="0">
                <a:latin typeface="Arial" panose="020B0604020202020204" pitchFamily="34" charset="0"/>
                <a:ea typeface="ＭＳ Ｐゴシック" panose="020B0600070205080204" pitchFamily="34" charset="-128"/>
                <a:cs typeface="Arial" panose="020B0604020202020204" pitchFamily="34" charset="0"/>
              </a:rPr>
              <a:t>Kamsar</a:t>
            </a:r>
            <a:endParaRPr lang="fr-FR" altLang="en-US" sz="1100" dirty="0" smtClean="0">
              <a:latin typeface="Arial" panose="020B0604020202020204" pitchFamily="34" charset="0"/>
              <a:ea typeface="ＭＳ Ｐゴシック" panose="020B0600070205080204" pitchFamily="34" charset="-128"/>
              <a:cs typeface="Arial" panose="020B0604020202020204" pitchFamily="34" charset="0"/>
            </a:endParaRPr>
          </a:p>
        </p:txBody>
      </p:sp>
      <p:pic>
        <p:nvPicPr>
          <p:cNvPr id="2" name="Image 1"/>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39601"/>
            <a:ext cx="884968" cy="422288"/>
          </a:xfrm>
          <a:prstGeom prst="rect">
            <a:avLst/>
          </a:prstGeom>
        </p:spPr>
      </p:pic>
    </p:spTree>
    <p:extLst>
      <p:ext uri="{BB962C8B-B14F-4D97-AF65-F5344CB8AC3E}">
        <p14:creationId xmlns:p14="http://schemas.microsoft.com/office/powerpoint/2010/main" val="19931925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1922063"/>
            <a:ext cx="6172200" cy="1236371"/>
          </a:xfrm>
        </p:spPr>
        <p:txBody>
          <a:bodyPr/>
          <a:lstStyle/>
          <a:p>
            <a:r>
              <a:rPr lang="fr-FR" dirty="0"/>
              <a:t>Un Type de magasin est un magasin ou une zone de magasin défini pour un numéro de magasin. Il s’agit d’une subdivision physique ou logique d'un complexe de magasins, caractérisée par sa technique de stockage, l'espace utilisé, sa forme d’organisation ou sa fonction.</a:t>
            </a:r>
            <a:endParaRPr lang="en-US" dirty="0"/>
          </a:p>
          <a:p>
            <a:r>
              <a:rPr lang="fr-FR" dirty="0"/>
              <a:t>Un Type de magasin est rattaché à un Numéro de magasin unique. Un Numéro de magasin peut être subdivisé en plusieurs Types de magasin</a:t>
            </a:r>
            <a:endParaRPr lang="en-US" dirty="0"/>
          </a:p>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On distingue les types de magasin 9** qui sont des magasins temporaires de SAP et les types de magasin définis par la CBG avec par exemple  </a:t>
            </a:r>
            <a:r>
              <a:rPr lang="fr-FR" altLang="en-US" dirty="0">
                <a:latin typeface="Arial" panose="020B0604020202020204" pitchFamily="34" charset="0"/>
                <a:ea typeface="ＭＳ Ｐゴシック" panose="020B0600070205080204" pitchFamily="34" charset="-128"/>
                <a:cs typeface="Arial" panose="020B0604020202020204" pitchFamily="34" charset="0"/>
              </a:rPr>
              <a:t>:</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ELE magasin électrique</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GDH magasin Grand Hall</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WH1 Entrepôt n°1</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a:t>
            </a:r>
            <a:endParaRPr lang="fr-FR" altLang="en-US" sz="1100" dirty="0">
              <a:latin typeface="Arial" panose="020B0604020202020204" pitchFamily="34" charset="0"/>
              <a:ea typeface="ＭＳ Ｐゴシック" panose="020B0600070205080204" pitchFamily="34" charset="-128"/>
              <a:cs typeface="Arial" panose="020B0604020202020204" pitchFamily="34" charset="0"/>
            </a:endParaRPr>
          </a:p>
          <a:p>
            <a:pPr>
              <a:spcBef>
                <a:spcPts val="0"/>
              </a:spcBef>
              <a:buClr>
                <a:srgbClr val="4F81BD"/>
              </a:buClr>
              <a:buSzPct val="100000"/>
            </a:pPr>
            <a:endParaRPr lang="fr-FR" altLang="en-US" dirty="0">
              <a:latin typeface="Arial" panose="020B0604020202020204" pitchFamily="34" charset="0"/>
              <a:ea typeface="ＭＳ Ｐゴシック" panose="020B0600070205080204" pitchFamily="34" charset="-128"/>
              <a:cs typeface="Arial" panose="020B0604020202020204" pitchFamily="34" charset="0"/>
            </a:endParaRPr>
          </a:p>
          <a:p>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Rectangle 6"/>
          <p:cNvSpPr/>
          <p:nvPr/>
        </p:nvSpPr>
        <p:spPr>
          <a:xfrm>
            <a:off x="1485900" y="1208003"/>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Type de magasin</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209579"/>
            <a:ext cx="884968" cy="422288"/>
          </a:xfrm>
          <a:prstGeom prst="rect">
            <a:avLst/>
          </a:prstGeom>
        </p:spPr>
      </p:pic>
    </p:spTree>
    <p:extLst>
      <p:ext uri="{BB962C8B-B14F-4D97-AF65-F5344CB8AC3E}">
        <p14:creationId xmlns:p14="http://schemas.microsoft.com/office/powerpoint/2010/main" val="77530475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2124971"/>
            <a:ext cx="6172200" cy="830879"/>
          </a:xfrm>
        </p:spPr>
        <p:txBody>
          <a:bodyPr/>
          <a:lstStyle/>
          <a:p>
            <a:r>
              <a:rPr lang="fr-FR" dirty="0"/>
              <a:t>L'emplacement est la plus petite unité d'espace disponible dans un magasin. Il indique le poste du magasin où les marchandises sont ou peuvent être stockés (adresse de picking).</a:t>
            </a:r>
            <a:br>
              <a:rPr lang="fr-FR" dirty="0"/>
            </a:br>
            <a:r>
              <a:rPr lang="fr-FR" dirty="0"/>
              <a:t>Un emplacement est relié à un Type de Magasin. Un Type de Magasin est composé de plusieurs emplacements.</a:t>
            </a:r>
            <a:endParaRPr lang="en-US" dirty="0"/>
          </a:p>
          <a:p>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Emplacement</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543638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3215254" y="1007276"/>
            <a:ext cx="1901448" cy="1894482"/>
          </a:xfrm>
          <a:prstGeom prst="rect">
            <a:avLst/>
          </a:prstGeom>
        </p:spPr>
      </p:pic>
      <p:sp>
        <p:nvSpPr>
          <p:cNvPr id="7" name="Titre 3"/>
          <p:cNvSpPr>
            <a:spLocks noGrp="1"/>
          </p:cNvSpPr>
          <p:nvPr>
            <p:ph type="title"/>
          </p:nvPr>
        </p:nvSpPr>
        <p:spPr>
          <a:xfrm>
            <a:off x="457200" y="206375"/>
            <a:ext cx="8229600" cy="857250"/>
          </a:xfrm>
        </p:spPr>
        <p:txBody>
          <a:bodyPr>
            <a:normAutofit/>
          </a:bodyPr>
          <a:lstStyle/>
          <a:p>
            <a:r>
              <a:rPr lang="fr-FR" altLang="en-US" sz="2400" dirty="0"/>
              <a:t>Mode opératoire</a:t>
            </a:r>
            <a:br>
              <a:rPr lang="fr-FR" altLang="en-US" sz="2400" dirty="0"/>
            </a:br>
            <a:r>
              <a:rPr lang="fr-FR" altLang="en-US" dirty="0" smtClean="0"/>
              <a:t>LS02 – Modifier un emplacement</a:t>
            </a:r>
            <a:endParaRPr lang="en-US" altLang="en-US" dirty="0" smtClean="0"/>
          </a:p>
        </p:txBody>
      </p:sp>
      <p:sp>
        <p:nvSpPr>
          <p:cNvPr id="10" name="Rectangle 9"/>
          <p:cNvSpPr/>
          <p:nvPr/>
        </p:nvSpPr>
        <p:spPr>
          <a:xfrm>
            <a:off x="4082013" y="2293875"/>
            <a:ext cx="192276"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grpSp>
        <p:nvGrpSpPr>
          <p:cNvPr id="25" name="Groupe 24"/>
          <p:cNvGrpSpPr/>
          <p:nvPr/>
        </p:nvGrpSpPr>
        <p:grpSpPr>
          <a:xfrm>
            <a:off x="486491" y="1541069"/>
            <a:ext cx="3194611" cy="2492990"/>
            <a:chOff x="486491" y="1773078"/>
            <a:chExt cx="3194611" cy="2492990"/>
          </a:xfrm>
        </p:grpSpPr>
        <p:sp>
          <p:nvSpPr>
            <p:cNvPr id="28" name="ZoneTexte 27"/>
            <p:cNvSpPr txBox="1"/>
            <p:nvPr/>
          </p:nvSpPr>
          <p:spPr>
            <a:xfrm>
              <a:off x="642627" y="1773078"/>
              <a:ext cx="3038475" cy="2492990"/>
            </a:xfrm>
            <a:prstGeom prst="rect">
              <a:avLst/>
            </a:prstGeom>
            <a:noFill/>
          </p:spPr>
          <p:txBody>
            <a:bodyPr wrap="square" rtlCol="0">
              <a:spAutoFit/>
            </a:bodyPr>
            <a:lstStyle/>
            <a:p>
              <a:r>
                <a:rPr lang="fr-FR" sz="1200" dirty="0" smtClean="0">
                  <a:solidFill>
                    <a:srgbClr val="4D4F53"/>
                  </a:solidFill>
                </a:rPr>
                <a:t>Indiquer le numéro du magasin</a:t>
              </a:r>
            </a:p>
            <a:p>
              <a:endParaRPr lang="fr-FR" sz="1200" dirty="0">
                <a:solidFill>
                  <a:srgbClr val="4D4F53"/>
                </a:solidFill>
              </a:endParaRPr>
            </a:p>
            <a:p>
              <a:r>
                <a:rPr lang="fr-FR" sz="1200" dirty="0" smtClean="0">
                  <a:solidFill>
                    <a:srgbClr val="4D4F53"/>
                  </a:solidFill>
                </a:rPr>
                <a:t>Choisir le type de magasin</a:t>
              </a:r>
            </a:p>
            <a:p>
              <a:endParaRPr lang="fr-FR" sz="1200" dirty="0">
                <a:solidFill>
                  <a:srgbClr val="4D4F53"/>
                </a:solidFill>
              </a:endParaRPr>
            </a:p>
            <a:p>
              <a:endParaRPr lang="fr-FR" sz="1200" dirty="0">
                <a:solidFill>
                  <a:srgbClr val="4D4F53"/>
                </a:solidFill>
              </a:endParaRPr>
            </a:p>
            <a:p>
              <a:r>
                <a:rPr lang="fr-FR" sz="1200" dirty="0" smtClean="0">
                  <a:solidFill>
                    <a:srgbClr val="4D4F53"/>
                  </a:solidFill>
                </a:rPr>
                <a:t>Sélectionner l’emplacement à modifier</a:t>
              </a:r>
            </a:p>
            <a:p>
              <a:endParaRPr lang="fr-FR" sz="1200" dirty="0">
                <a:solidFill>
                  <a:srgbClr val="4D4F53"/>
                </a:solidFill>
              </a:endParaRPr>
            </a:p>
            <a:p>
              <a:r>
                <a:rPr lang="fr-FR" sz="1200" dirty="0" smtClean="0">
                  <a:solidFill>
                    <a:srgbClr val="4D4F53"/>
                  </a:solidFill>
                </a:rPr>
                <a:t>Cliquer sur Entrer</a:t>
              </a:r>
            </a:p>
            <a:p>
              <a:endParaRPr lang="fr-FR" sz="1200" dirty="0">
                <a:solidFill>
                  <a:srgbClr val="4D4F53"/>
                </a:solidFill>
              </a:endParaRPr>
            </a:p>
            <a:p>
              <a:r>
                <a:rPr lang="fr-FR" sz="1200" dirty="0" smtClean="0">
                  <a:solidFill>
                    <a:srgbClr val="4D4F53"/>
                  </a:solidFill>
                </a:rPr>
                <a:t>Modifier le Type d’emplacement</a:t>
              </a:r>
            </a:p>
            <a:p>
              <a:endParaRPr lang="fr-FR" sz="1200" dirty="0">
                <a:solidFill>
                  <a:srgbClr val="4D4F53"/>
                </a:solidFill>
              </a:endParaRPr>
            </a:p>
            <a:p>
              <a:r>
                <a:rPr lang="fr-FR" sz="1200" dirty="0" smtClean="0">
                  <a:solidFill>
                    <a:srgbClr val="4D4F53"/>
                  </a:solidFill>
                </a:rPr>
                <a:t>Cliquer sur Sauvegarder        : le message de confirmation suivant apparaît</a:t>
              </a:r>
            </a:p>
          </p:txBody>
        </p:sp>
        <p:sp>
          <p:nvSpPr>
            <p:cNvPr id="29" name="Ellipse 28"/>
            <p:cNvSpPr/>
            <p:nvPr/>
          </p:nvSpPr>
          <p:spPr>
            <a:xfrm>
              <a:off x="487093" y="182769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0" name="Ellipse 29"/>
            <p:cNvSpPr/>
            <p:nvPr/>
          </p:nvSpPr>
          <p:spPr>
            <a:xfrm>
              <a:off x="487093" y="220628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1" name="Ellipse 30"/>
            <p:cNvSpPr/>
            <p:nvPr/>
          </p:nvSpPr>
          <p:spPr>
            <a:xfrm>
              <a:off x="487093" y="274330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2" name="Ellipse 31"/>
            <p:cNvSpPr/>
            <p:nvPr/>
          </p:nvSpPr>
          <p:spPr>
            <a:xfrm>
              <a:off x="486491" y="310472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4" name="Ellipse 33"/>
            <p:cNvSpPr/>
            <p:nvPr/>
          </p:nvSpPr>
          <p:spPr>
            <a:xfrm>
              <a:off x="487093" y="348071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pic>
        <p:nvPicPr>
          <p:cNvPr id="3" name="Image 2"/>
          <p:cNvPicPr>
            <a:picLocks noChangeAspect="1"/>
          </p:cNvPicPr>
          <p:nvPr/>
        </p:nvPicPr>
        <p:blipFill>
          <a:blip r:embed="rId3"/>
          <a:stretch>
            <a:fillRect/>
          </a:stretch>
        </p:blipFill>
        <p:spPr>
          <a:xfrm>
            <a:off x="4919335" y="1266370"/>
            <a:ext cx="3822416" cy="3527352"/>
          </a:xfrm>
          <a:prstGeom prst="rect">
            <a:avLst/>
          </a:prstGeom>
        </p:spPr>
      </p:pic>
      <p:pic>
        <p:nvPicPr>
          <p:cNvPr id="6" name="Image 5"/>
          <p:cNvPicPr>
            <a:picLocks noChangeAspect="1"/>
          </p:cNvPicPr>
          <p:nvPr/>
        </p:nvPicPr>
        <p:blipFill>
          <a:blip r:embed="rId4"/>
          <a:stretch>
            <a:fillRect/>
          </a:stretch>
        </p:blipFill>
        <p:spPr>
          <a:xfrm>
            <a:off x="3489374" y="2922146"/>
            <a:ext cx="1185276" cy="1091524"/>
          </a:xfrm>
          <a:prstGeom prst="rect">
            <a:avLst/>
          </a:prstGeom>
        </p:spPr>
      </p:pic>
      <p:cxnSp>
        <p:nvCxnSpPr>
          <p:cNvPr id="17" name="Connecteur en angle 16"/>
          <p:cNvCxnSpPr/>
          <p:nvPr/>
        </p:nvCxnSpPr>
        <p:spPr>
          <a:xfrm rot="10800000" flipV="1">
            <a:off x="3836636" y="2703115"/>
            <a:ext cx="245376" cy="198641"/>
          </a:xfrm>
          <a:prstGeom prst="bentConnector3">
            <a:avLst>
              <a:gd name="adj1" fmla="val 50000"/>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4082013" y="2471012"/>
            <a:ext cx="192276"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6" name="Rectangle 35"/>
          <p:cNvSpPr/>
          <p:nvPr/>
        </p:nvSpPr>
        <p:spPr>
          <a:xfrm>
            <a:off x="4090860" y="2623412"/>
            <a:ext cx="502405"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7" name="Rectangle 36"/>
          <p:cNvSpPr/>
          <p:nvPr/>
        </p:nvSpPr>
        <p:spPr>
          <a:xfrm>
            <a:off x="5784982" y="3218914"/>
            <a:ext cx="222414"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38" name="Image 37"/>
          <p:cNvPicPr>
            <a:picLocks noChangeAspect="1"/>
          </p:cNvPicPr>
          <p:nvPr/>
        </p:nvPicPr>
        <p:blipFill>
          <a:blip r:embed="rId5"/>
          <a:stretch>
            <a:fillRect/>
          </a:stretch>
        </p:blipFill>
        <p:spPr>
          <a:xfrm>
            <a:off x="2212827" y="3543709"/>
            <a:ext cx="228600" cy="238125"/>
          </a:xfrm>
          <a:prstGeom prst="rect">
            <a:avLst/>
          </a:prstGeom>
        </p:spPr>
      </p:pic>
      <p:sp>
        <p:nvSpPr>
          <p:cNvPr id="39" name="Ellipse 38"/>
          <p:cNvSpPr/>
          <p:nvPr/>
        </p:nvSpPr>
        <p:spPr>
          <a:xfrm>
            <a:off x="5628846" y="319764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0" name="Ellipse 39"/>
          <p:cNvSpPr/>
          <p:nvPr/>
        </p:nvSpPr>
        <p:spPr>
          <a:xfrm>
            <a:off x="487093" y="361658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pic>
        <p:nvPicPr>
          <p:cNvPr id="41" name="Image 40"/>
          <p:cNvPicPr>
            <a:picLocks noChangeAspect="1"/>
          </p:cNvPicPr>
          <p:nvPr/>
        </p:nvPicPr>
        <p:blipFill>
          <a:blip r:embed="rId6"/>
          <a:stretch>
            <a:fillRect/>
          </a:stretch>
        </p:blipFill>
        <p:spPr>
          <a:xfrm>
            <a:off x="6808934" y="2874649"/>
            <a:ext cx="1131278" cy="1906126"/>
          </a:xfrm>
          <a:prstGeom prst="rect">
            <a:avLst/>
          </a:prstGeom>
        </p:spPr>
      </p:pic>
      <p:cxnSp>
        <p:nvCxnSpPr>
          <p:cNvPr id="42" name="Connecteur en angle 41"/>
          <p:cNvCxnSpPr/>
          <p:nvPr/>
        </p:nvCxnSpPr>
        <p:spPr>
          <a:xfrm>
            <a:off x="6333466" y="3284970"/>
            <a:ext cx="475468" cy="258739"/>
          </a:xfrm>
          <a:prstGeom prst="bentConnector3">
            <a:avLst>
              <a:gd name="adj1" fmla="val 50000"/>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43" name="Ellipse 42"/>
          <p:cNvSpPr/>
          <p:nvPr/>
        </p:nvSpPr>
        <p:spPr>
          <a:xfrm>
            <a:off x="6155069" y="131264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pic>
        <p:nvPicPr>
          <p:cNvPr id="27" name="Image 26"/>
          <p:cNvPicPr>
            <a:picLocks noChangeAspect="1"/>
          </p:cNvPicPr>
          <p:nvPr/>
        </p:nvPicPr>
        <p:blipFill>
          <a:blip r:embed="rId7"/>
          <a:stretch>
            <a:fillRect/>
          </a:stretch>
        </p:blipFill>
        <p:spPr>
          <a:xfrm>
            <a:off x="760908" y="4010840"/>
            <a:ext cx="1876425" cy="209550"/>
          </a:xfrm>
          <a:prstGeom prst="rect">
            <a:avLst/>
          </a:prstGeom>
        </p:spPr>
      </p:pic>
    </p:spTree>
    <p:extLst>
      <p:ext uri="{BB962C8B-B14F-4D97-AF65-F5344CB8AC3E}">
        <p14:creationId xmlns:p14="http://schemas.microsoft.com/office/powerpoint/2010/main" val="11447180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675930" y="1043860"/>
            <a:ext cx="3197518" cy="280879"/>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Modifier un emplacement</a:t>
            </a: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1" name="Groupe 30"/>
          <p:cNvGrpSpPr/>
          <p:nvPr/>
        </p:nvGrpSpPr>
        <p:grpSpPr>
          <a:xfrm>
            <a:off x="5174456" y="205978"/>
            <a:ext cx="3680275" cy="4299347"/>
            <a:chOff x="5174456" y="205978"/>
            <a:chExt cx="3680275" cy="4299347"/>
          </a:xfrm>
        </p:grpSpPr>
        <p:grpSp>
          <p:nvGrpSpPr>
            <p:cNvPr id="34" name="Groupe 33"/>
            <p:cNvGrpSpPr/>
            <p:nvPr/>
          </p:nvGrpSpPr>
          <p:grpSpPr>
            <a:xfrm>
              <a:off x="5174456" y="205978"/>
              <a:ext cx="3680275" cy="4299347"/>
              <a:chOff x="3707606" y="205978"/>
              <a:chExt cx="4105275" cy="4795838"/>
            </a:xfrm>
          </p:grpSpPr>
          <p:sp>
            <p:nvSpPr>
              <p:cNvPr id="37" name="Rectangle 36"/>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38" name="Connecteur droit 37"/>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9" name="Connecteur droit 38"/>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0" name="Connecteur droit 39"/>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5" name="Image 34"/>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6"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21117809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p:cNvPicPr>
            <a:picLocks noChangeAspect="1"/>
          </p:cNvPicPr>
          <p:nvPr/>
        </p:nvPicPr>
        <p:blipFill>
          <a:blip r:embed="rId2"/>
          <a:stretch>
            <a:fillRect/>
          </a:stretch>
        </p:blipFill>
        <p:spPr>
          <a:xfrm>
            <a:off x="234253" y="1076745"/>
            <a:ext cx="4097210" cy="2635326"/>
          </a:xfrm>
          <a:prstGeom prst="rect">
            <a:avLst/>
          </a:prstGeom>
        </p:spPr>
      </p:pic>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LM55 </a:t>
            </a:r>
            <a:r>
              <a:rPr lang="fr-FR" altLang="en-US" dirty="0"/>
              <a:t>– </a:t>
            </a:r>
            <a:r>
              <a:rPr lang="fr-FR" altLang="en-US" dirty="0" smtClean="0"/>
              <a:t>Imprimer l’étiquette emplacement</a:t>
            </a:r>
            <a:endParaRPr lang="en-US" dirty="0"/>
          </a:p>
        </p:txBody>
      </p:sp>
      <p:sp>
        <p:nvSpPr>
          <p:cNvPr id="20" name="ZoneTexte 19"/>
          <p:cNvSpPr txBox="1"/>
          <p:nvPr/>
        </p:nvSpPr>
        <p:spPr>
          <a:xfrm>
            <a:off x="6001382" y="1038958"/>
            <a:ext cx="3331932" cy="3231654"/>
          </a:xfrm>
          <a:prstGeom prst="rect">
            <a:avLst/>
          </a:prstGeom>
          <a:noFill/>
        </p:spPr>
        <p:txBody>
          <a:bodyPr wrap="square" rtlCol="0">
            <a:spAutoFit/>
          </a:bodyPr>
          <a:lstStyle/>
          <a:p>
            <a:r>
              <a:rPr lang="fr-FR" sz="1200" dirty="0" smtClean="0">
                <a:solidFill>
                  <a:srgbClr val="4D4F53"/>
                </a:solidFill>
              </a:rPr>
              <a:t>Renseigner le numéro de magasin</a:t>
            </a:r>
          </a:p>
          <a:p>
            <a:endParaRPr lang="fr-FR" sz="1200" dirty="0">
              <a:solidFill>
                <a:srgbClr val="4D4F53"/>
              </a:solidFill>
            </a:endParaRPr>
          </a:p>
          <a:p>
            <a:r>
              <a:rPr lang="fr-FR" sz="1200" dirty="0" smtClean="0">
                <a:solidFill>
                  <a:srgbClr val="4D4F53"/>
                </a:solidFill>
              </a:rPr>
              <a:t>Saisir le type de magasin</a:t>
            </a:r>
          </a:p>
          <a:p>
            <a:endParaRPr lang="fr-FR" sz="1200" dirty="0" smtClean="0">
              <a:solidFill>
                <a:srgbClr val="4D4F53"/>
              </a:solidFill>
            </a:endParaRPr>
          </a:p>
          <a:p>
            <a:r>
              <a:rPr lang="fr-FR" sz="1200" dirty="0" smtClean="0">
                <a:solidFill>
                  <a:srgbClr val="4D4F53"/>
                </a:solidFill>
              </a:rPr>
              <a:t>Saisir l’emplacement</a:t>
            </a:r>
            <a:endParaRPr lang="fr-FR" sz="1200" dirty="0">
              <a:solidFill>
                <a:srgbClr val="4D4F53"/>
              </a:solidFill>
            </a:endParaRPr>
          </a:p>
          <a:p>
            <a:endParaRPr lang="fr-FR" sz="1200" dirty="0" smtClean="0">
              <a:solidFill>
                <a:srgbClr val="4D4F53"/>
              </a:solidFill>
            </a:endParaRPr>
          </a:p>
          <a:p>
            <a:r>
              <a:rPr lang="fr-FR" sz="1200" dirty="0" smtClean="0">
                <a:solidFill>
                  <a:srgbClr val="4D4F53"/>
                </a:solidFill>
              </a:rPr>
              <a:t>Saisir l’unité de sortie pour l’impression</a:t>
            </a:r>
          </a:p>
          <a:p>
            <a:r>
              <a:rPr lang="fr-FR" sz="1200" dirty="0" smtClean="0">
                <a:solidFill>
                  <a:srgbClr val="4D4F53"/>
                </a:solidFill>
              </a:rPr>
              <a:t/>
            </a:r>
            <a:br>
              <a:rPr lang="fr-FR" sz="1200" dirty="0" smtClean="0">
                <a:solidFill>
                  <a:srgbClr val="4D4F53"/>
                </a:solidFill>
              </a:rPr>
            </a:br>
            <a:r>
              <a:rPr lang="fr-FR" sz="1200" dirty="0" smtClean="0">
                <a:solidFill>
                  <a:srgbClr val="4D4F53"/>
                </a:solidFill>
              </a:rPr>
              <a:t>Saisir le nom du formulaire</a:t>
            </a:r>
          </a:p>
          <a:p>
            <a:endParaRPr lang="fr-FR" sz="1200" dirty="0" smtClean="0">
              <a:solidFill>
                <a:srgbClr val="4D4F53"/>
              </a:solidFill>
            </a:endParaRPr>
          </a:p>
          <a:p>
            <a:r>
              <a:rPr lang="fr-FR" sz="1200" dirty="0" smtClean="0">
                <a:solidFill>
                  <a:srgbClr val="4D4F53"/>
                </a:solidFill>
              </a:rPr>
              <a:t>Décocher la case « Suppression après sortie »</a:t>
            </a:r>
          </a:p>
          <a:p>
            <a:endParaRPr lang="fr-FR" sz="1200" dirty="0" smtClean="0">
              <a:solidFill>
                <a:srgbClr val="4D4F53"/>
              </a:solidFill>
            </a:endParaRPr>
          </a:p>
          <a:p>
            <a:r>
              <a:rPr lang="fr-FR" sz="1200" dirty="0" smtClean="0">
                <a:solidFill>
                  <a:srgbClr val="4D4F53"/>
                </a:solidFill>
              </a:rPr>
              <a:t>Exécuter</a:t>
            </a:r>
          </a:p>
          <a:p>
            <a:endParaRPr lang="fr-FR" sz="1200" dirty="0" smtClean="0">
              <a:solidFill>
                <a:srgbClr val="4D4F53"/>
              </a:solidFill>
            </a:endParaRPr>
          </a:p>
          <a:p>
            <a:r>
              <a:rPr lang="fr-FR" sz="1200" dirty="0" smtClean="0">
                <a:solidFill>
                  <a:srgbClr val="4D4F53"/>
                </a:solidFill>
              </a:rPr>
              <a:t>Dans le pop-up, choisir l’imprimante PDF</a:t>
            </a:r>
          </a:p>
          <a:p>
            <a:endParaRPr lang="fr-FR" sz="1200" dirty="0" smtClean="0">
              <a:solidFill>
                <a:srgbClr val="4D4F53"/>
              </a:solidFill>
            </a:endParaRPr>
          </a:p>
          <a:p>
            <a:r>
              <a:rPr lang="fr-FR" sz="1200" dirty="0" smtClean="0">
                <a:solidFill>
                  <a:srgbClr val="4D4F53"/>
                </a:solidFill>
              </a:rPr>
              <a:t>Enregistrer le fichier et l’ouvrir </a:t>
            </a:r>
            <a:endParaRPr lang="fr-FR" sz="1200" dirty="0">
              <a:solidFill>
                <a:srgbClr val="4D4F53"/>
              </a:solidFill>
            </a:endParaRPr>
          </a:p>
        </p:txBody>
      </p:sp>
      <p:sp>
        <p:nvSpPr>
          <p:cNvPr id="21" name="Ellipse 20"/>
          <p:cNvSpPr/>
          <p:nvPr/>
        </p:nvSpPr>
        <p:spPr>
          <a:xfrm>
            <a:off x="5850352" y="1116213"/>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2" name="Ellipse 21"/>
          <p:cNvSpPr/>
          <p:nvPr/>
        </p:nvSpPr>
        <p:spPr>
          <a:xfrm>
            <a:off x="5850352" y="1472405"/>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3" name="Ellipse 22"/>
          <p:cNvSpPr/>
          <p:nvPr/>
        </p:nvSpPr>
        <p:spPr>
          <a:xfrm>
            <a:off x="5850352" y="1823037"/>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8" name="Ellipse 27"/>
          <p:cNvSpPr/>
          <p:nvPr/>
        </p:nvSpPr>
        <p:spPr>
          <a:xfrm>
            <a:off x="5850352" y="2192489"/>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cxnSp>
        <p:nvCxnSpPr>
          <p:cNvPr id="31" name="Connecteur en angle 30"/>
          <p:cNvCxnSpPr/>
          <p:nvPr/>
        </p:nvCxnSpPr>
        <p:spPr>
          <a:xfrm flipV="1">
            <a:off x="328033" y="1346316"/>
            <a:ext cx="2372709" cy="126089"/>
          </a:xfrm>
          <a:prstGeom prst="bentConnector3">
            <a:avLst>
              <a:gd name="adj1" fmla="val 50000"/>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Ellipse 33"/>
          <p:cNvSpPr/>
          <p:nvPr/>
        </p:nvSpPr>
        <p:spPr>
          <a:xfrm>
            <a:off x="5850352" y="2544429"/>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
        <p:nvSpPr>
          <p:cNvPr id="36" name="Rectangle 35"/>
          <p:cNvSpPr/>
          <p:nvPr/>
        </p:nvSpPr>
        <p:spPr>
          <a:xfrm>
            <a:off x="1799620" y="1572916"/>
            <a:ext cx="243042" cy="14435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5" name="Image 4"/>
          <p:cNvPicPr>
            <a:picLocks noChangeAspect="1"/>
          </p:cNvPicPr>
          <p:nvPr/>
        </p:nvPicPr>
        <p:blipFill>
          <a:blip r:embed="rId3"/>
          <a:stretch>
            <a:fillRect/>
          </a:stretch>
        </p:blipFill>
        <p:spPr>
          <a:xfrm>
            <a:off x="2689176" y="1038958"/>
            <a:ext cx="2981070" cy="1852642"/>
          </a:xfrm>
          <a:prstGeom prst="rect">
            <a:avLst/>
          </a:prstGeom>
        </p:spPr>
      </p:pic>
      <p:pic>
        <p:nvPicPr>
          <p:cNvPr id="6" name="Image 5"/>
          <p:cNvPicPr>
            <a:picLocks noChangeAspect="1"/>
          </p:cNvPicPr>
          <p:nvPr/>
        </p:nvPicPr>
        <p:blipFill>
          <a:blip r:embed="rId4"/>
          <a:stretch>
            <a:fillRect/>
          </a:stretch>
        </p:blipFill>
        <p:spPr>
          <a:xfrm>
            <a:off x="2164047" y="2980233"/>
            <a:ext cx="2672670" cy="1858550"/>
          </a:xfrm>
          <a:prstGeom prst="rect">
            <a:avLst/>
          </a:prstGeom>
        </p:spPr>
      </p:pic>
      <p:sp>
        <p:nvSpPr>
          <p:cNvPr id="26" name="Rectangle 25"/>
          <p:cNvSpPr/>
          <p:nvPr/>
        </p:nvSpPr>
        <p:spPr>
          <a:xfrm>
            <a:off x="1799620" y="1707782"/>
            <a:ext cx="243042" cy="14435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7" name="Rectangle 26"/>
          <p:cNvSpPr/>
          <p:nvPr/>
        </p:nvSpPr>
        <p:spPr>
          <a:xfrm>
            <a:off x="1792173" y="1865255"/>
            <a:ext cx="577433" cy="14435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2" name="Rectangle 31"/>
          <p:cNvSpPr/>
          <p:nvPr/>
        </p:nvSpPr>
        <p:spPr>
          <a:xfrm>
            <a:off x="1784479" y="2260319"/>
            <a:ext cx="759137" cy="14435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3" name="Rectangle 32"/>
          <p:cNvSpPr/>
          <p:nvPr/>
        </p:nvSpPr>
        <p:spPr>
          <a:xfrm>
            <a:off x="1784479" y="2433602"/>
            <a:ext cx="863861" cy="14435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8" name="Rectangle 37"/>
          <p:cNvSpPr/>
          <p:nvPr/>
        </p:nvSpPr>
        <p:spPr>
          <a:xfrm>
            <a:off x="3364371" y="1316234"/>
            <a:ext cx="1286662" cy="17430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9" name="Rectangle 38"/>
          <p:cNvSpPr/>
          <p:nvPr/>
        </p:nvSpPr>
        <p:spPr>
          <a:xfrm>
            <a:off x="2799047" y="4051835"/>
            <a:ext cx="1460672" cy="22359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0" name="Rectangle 39"/>
          <p:cNvSpPr/>
          <p:nvPr/>
        </p:nvSpPr>
        <p:spPr>
          <a:xfrm>
            <a:off x="1784480" y="2980233"/>
            <a:ext cx="140014" cy="15551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1" name="Ellipse 40"/>
          <p:cNvSpPr/>
          <p:nvPr/>
        </p:nvSpPr>
        <p:spPr>
          <a:xfrm>
            <a:off x="1527354" y="1549693"/>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42" name="Ellipse 41"/>
          <p:cNvSpPr/>
          <p:nvPr/>
        </p:nvSpPr>
        <p:spPr>
          <a:xfrm>
            <a:off x="1527354" y="1719574"/>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43" name="Ellipse 42"/>
          <p:cNvSpPr/>
          <p:nvPr/>
        </p:nvSpPr>
        <p:spPr>
          <a:xfrm>
            <a:off x="1537996" y="1900325"/>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44" name="Ellipse 43"/>
          <p:cNvSpPr/>
          <p:nvPr/>
        </p:nvSpPr>
        <p:spPr>
          <a:xfrm>
            <a:off x="1516579" y="2255207"/>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45" name="Ellipse 44"/>
          <p:cNvSpPr/>
          <p:nvPr/>
        </p:nvSpPr>
        <p:spPr>
          <a:xfrm>
            <a:off x="1518316" y="2448006"/>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
        <p:nvSpPr>
          <p:cNvPr id="46" name="Ellipse 45"/>
          <p:cNvSpPr/>
          <p:nvPr/>
        </p:nvSpPr>
        <p:spPr>
          <a:xfrm>
            <a:off x="1511975" y="2981171"/>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47" name="Ellipse 46"/>
          <p:cNvSpPr/>
          <p:nvPr/>
        </p:nvSpPr>
        <p:spPr>
          <a:xfrm>
            <a:off x="373250" y="1418341"/>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48" name="Ellipse 47"/>
          <p:cNvSpPr/>
          <p:nvPr/>
        </p:nvSpPr>
        <p:spPr>
          <a:xfrm>
            <a:off x="5850352" y="3310542"/>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49" name="Ellipse 48"/>
          <p:cNvSpPr/>
          <p:nvPr/>
        </p:nvSpPr>
        <p:spPr>
          <a:xfrm>
            <a:off x="3123692" y="1335968"/>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8</a:t>
            </a:r>
            <a:endParaRPr lang="fr-FR" sz="900" b="1" dirty="0" smtClean="0">
              <a:solidFill>
                <a:schemeClr val="bg1"/>
              </a:solidFill>
            </a:endParaRPr>
          </a:p>
        </p:txBody>
      </p:sp>
      <p:sp>
        <p:nvSpPr>
          <p:cNvPr id="50" name="Ellipse 49"/>
          <p:cNvSpPr/>
          <p:nvPr/>
        </p:nvSpPr>
        <p:spPr>
          <a:xfrm>
            <a:off x="2589308" y="4086342"/>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9</a:t>
            </a:r>
            <a:endParaRPr lang="fr-FR" sz="900" b="1" dirty="0" smtClean="0">
              <a:solidFill>
                <a:schemeClr val="bg1"/>
              </a:solidFill>
            </a:endParaRPr>
          </a:p>
        </p:txBody>
      </p:sp>
      <p:sp>
        <p:nvSpPr>
          <p:cNvPr id="51" name="Ellipse 50"/>
          <p:cNvSpPr/>
          <p:nvPr/>
        </p:nvSpPr>
        <p:spPr>
          <a:xfrm>
            <a:off x="5850352" y="2891600"/>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52" name="Ellipse 51"/>
          <p:cNvSpPr/>
          <p:nvPr/>
        </p:nvSpPr>
        <p:spPr>
          <a:xfrm>
            <a:off x="5850352" y="3652196"/>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8</a:t>
            </a:r>
            <a:endParaRPr lang="fr-FR" sz="900" b="1" dirty="0" smtClean="0">
              <a:solidFill>
                <a:schemeClr val="bg1"/>
              </a:solidFill>
            </a:endParaRPr>
          </a:p>
        </p:txBody>
      </p:sp>
      <p:sp>
        <p:nvSpPr>
          <p:cNvPr id="53" name="Ellipse 52"/>
          <p:cNvSpPr/>
          <p:nvPr/>
        </p:nvSpPr>
        <p:spPr>
          <a:xfrm>
            <a:off x="5850352" y="4008342"/>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cxnSp>
        <p:nvCxnSpPr>
          <p:cNvPr id="54" name="Connecteur en angle 53"/>
          <p:cNvCxnSpPr/>
          <p:nvPr/>
        </p:nvCxnSpPr>
        <p:spPr>
          <a:xfrm rot="10800000" flipV="1">
            <a:off x="4318570" y="2824150"/>
            <a:ext cx="678067" cy="486391"/>
          </a:xfrm>
          <a:prstGeom prst="bentConnector3">
            <a:avLst>
              <a:gd name="adj1" fmla="val 50000"/>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pic>
        <p:nvPicPr>
          <p:cNvPr id="19" name="Image 18"/>
          <p:cNvPicPr>
            <a:picLocks noChangeAspect="1"/>
          </p:cNvPicPr>
          <p:nvPr/>
        </p:nvPicPr>
        <p:blipFill>
          <a:blip r:embed="rId5"/>
          <a:stretch>
            <a:fillRect/>
          </a:stretch>
        </p:blipFill>
        <p:spPr>
          <a:xfrm>
            <a:off x="5424384" y="4264320"/>
            <a:ext cx="1150922" cy="805646"/>
          </a:xfrm>
          <a:prstGeom prst="rect">
            <a:avLst/>
          </a:prstGeom>
        </p:spPr>
      </p:pic>
      <p:cxnSp>
        <p:nvCxnSpPr>
          <p:cNvPr id="55" name="Connecteur en angle 54"/>
          <p:cNvCxnSpPr>
            <a:endCxn id="19" idx="1"/>
          </p:cNvCxnSpPr>
          <p:nvPr/>
        </p:nvCxnSpPr>
        <p:spPr>
          <a:xfrm>
            <a:off x="4836717" y="4162917"/>
            <a:ext cx="587667" cy="504226"/>
          </a:xfrm>
          <a:prstGeom prst="bentConnector3">
            <a:avLst>
              <a:gd name="adj1" fmla="val 50000"/>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915922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675930" y="1043860"/>
            <a:ext cx="3197518" cy="527934"/>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Imprimer l’étiquette d’un emplacement nouvellement créé</a:t>
            </a: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1" name="Groupe 30"/>
          <p:cNvGrpSpPr/>
          <p:nvPr/>
        </p:nvGrpSpPr>
        <p:grpSpPr>
          <a:xfrm>
            <a:off x="5174456" y="205978"/>
            <a:ext cx="3680275" cy="4299347"/>
            <a:chOff x="5174456" y="205978"/>
            <a:chExt cx="3680275" cy="4299347"/>
          </a:xfrm>
        </p:grpSpPr>
        <p:grpSp>
          <p:nvGrpSpPr>
            <p:cNvPr id="34" name="Groupe 33"/>
            <p:cNvGrpSpPr/>
            <p:nvPr/>
          </p:nvGrpSpPr>
          <p:grpSpPr>
            <a:xfrm>
              <a:off x="5174456" y="205978"/>
              <a:ext cx="3680275" cy="4299347"/>
              <a:chOff x="3707606" y="205978"/>
              <a:chExt cx="4105275" cy="4795838"/>
            </a:xfrm>
          </p:grpSpPr>
          <p:sp>
            <p:nvSpPr>
              <p:cNvPr id="37" name="Rectangle 36"/>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38" name="Connecteur droit 37"/>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9" name="Connecteur droit 38"/>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0" name="Connecteur droit 39"/>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5" name="Image 34"/>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6"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54294173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p:cNvPicPr>
            <a:picLocks noChangeAspect="1"/>
          </p:cNvPicPr>
          <p:nvPr/>
        </p:nvPicPr>
        <p:blipFill>
          <a:blip r:embed="rId2"/>
          <a:stretch>
            <a:fillRect/>
          </a:stretch>
        </p:blipFill>
        <p:spPr>
          <a:xfrm>
            <a:off x="204381" y="1232401"/>
            <a:ext cx="2497646" cy="2842588"/>
          </a:xfrm>
          <a:prstGeom prst="rect">
            <a:avLst/>
          </a:prstGeom>
        </p:spPr>
      </p:pic>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LS04 </a:t>
            </a:r>
            <a:r>
              <a:rPr lang="fr-FR" altLang="en-US" dirty="0"/>
              <a:t>– </a:t>
            </a:r>
            <a:r>
              <a:rPr lang="fr-FR" altLang="en-US" dirty="0" smtClean="0"/>
              <a:t>Afficher la liste des emplacements vides</a:t>
            </a:r>
            <a:endParaRPr lang="en-US" dirty="0"/>
          </a:p>
        </p:txBody>
      </p:sp>
      <p:sp>
        <p:nvSpPr>
          <p:cNvPr id="7" name="Rectangle 6"/>
          <p:cNvSpPr/>
          <p:nvPr/>
        </p:nvSpPr>
        <p:spPr>
          <a:xfrm>
            <a:off x="1158558" y="1967573"/>
            <a:ext cx="346545"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0" name="ZoneTexte 19"/>
          <p:cNvSpPr txBox="1"/>
          <p:nvPr/>
        </p:nvSpPr>
        <p:spPr>
          <a:xfrm>
            <a:off x="5567523" y="1797514"/>
            <a:ext cx="3331932" cy="2308324"/>
          </a:xfrm>
          <a:prstGeom prst="rect">
            <a:avLst/>
          </a:prstGeom>
          <a:noFill/>
        </p:spPr>
        <p:txBody>
          <a:bodyPr wrap="square" rtlCol="0">
            <a:spAutoFit/>
          </a:bodyPr>
          <a:lstStyle/>
          <a:p>
            <a:r>
              <a:rPr lang="fr-FR" sz="1200" dirty="0" smtClean="0">
                <a:solidFill>
                  <a:srgbClr val="4D4F53"/>
                </a:solidFill>
              </a:rPr>
              <a:t>Renseigner le numéro de magasin</a:t>
            </a:r>
          </a:p>
          <a:p>
            <a:endParaRPr lang="fr-FR" sz="1200" dirty="0">
              <a:solidFill>
                <a:srgbClr val="4D4F53"/>
              </a:solidFill>
            </a:endParaRPr>
          </a:p>
          <a:p>
            <a:r>
              <a:rPr lang="fr-FR" sz="1200" dirty="0" smtClean="0">
                <a:solidFill>
                  <a:srgbClr val="4D4F53"/>
                </a:solidFill>
              </a:rPr>
              <a:t>Saisir le type de magasin où l’on veut voir les emplacements vides</a:t>
            </a:r>
            <a:endParaRPr lang="fr-FR" sz="1200" dirty="0">
              <a:solidFill>
                <a:srgbClr val="4D4F53"/>
              </a:solidFill>
            </a:endParaRPr>
          </a:p>
          <a:p>
            <a:endParaRPr lang="fr-FR" sz="1200" dirty="0" smtClean="0">
              <a:solidFill>
                <a:srgbClr val="4D4F53"/>
              </a:solidFill>
            </a:endParaRPr>
          </a:p>
          <a:p>
            <a:r>
              <a:rPr lang="fr-FR" sz="1200" dirty="0" smtClean="0">
                <a:solidFill>
                  <a:srgbClr val="4D4F53"/>
                </a:solidFill>
              </a:rPr>
              <a:t>Saisir l’aire de stockage 001</a:t>
            </a:r>
          </a:p>
          <a:p>
            <a:endParaRPr lang="fr-FR" sz="1200" dirty="0">
              <a:solidFill>
                <a:srgbClr val="4D4F53"/>
              </a:solidFill>
            </a:endParaRPr>
          </a:p>
          <a:p>
            <a:r>
              <a:rPr lang="fr-FR" sz="1200" dirty="0" smtClean="0">
                <a:solidFill>
                  <a:srgbClr val="4D4F53"/>
                </a:solidFill>
              </a:rPr>
              <a:t>Appuyer sur Entrer</a:t>
            </a:r>
          </a:p>
          <a:p>
            <a:r>
              <a:rPr lang="fr-FR" sz="1200" dirty="0" smtClean="0">
                <a:solidFill>
                  <a:srgbClr val="4D4F53"/>
                </a:solidFill>
              </a:rPr>
              <a:t/>
            </a:r>
            <a:br>
              <a:rPr lang="fr-FR" sz="1200" dirty="0" smtClean="0">
                <a:solidFill>
                  <a:srgbClr val="4D4F53"/>
                </a:solidFill>
              </a:rPr>
            </a:br>
            <a:r>
              <a:rPr lang="fr-FR" sz="1200" dirty="0" smtClean="0">
                <a:solidFill>
                  <a:srgbClr val="4D4F53"/>
                </a:solidFill>
              </a:rPr>
              <a:t>La liste des emplacements vides pour le n° de magasin et le type de magasin choisis s’affiche. On retrouve l’emplacement créé précédemment</a:t>
            </a:r>
            <a:endParaRPr lang="fr-FR" sz="1200" dirty="0">
              <a:solidFill>
                <a:srgbClr val="4D4F53"/>
              </a:solidFill>
            </a:endParaRPr>
          </a:p>
        </p:txBody>
      </p:sp>
      <p:sp>
        <p:nvSpPr>
          <p:cNvPr id="21" name="Ellipse 20"/>
          <p:cNvSpPr/>
          <p:nvPr/>
        </p:nvSpPr>
        <p:spPr>
          <a:xfrm>
            <a:off x="5399626" y="1852135"/>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2" name="Ellipse 21"/>
          <p:cNvSpPr/>
          <p:nvPr/>
        </p:nvSpPr>
        <p:spPr>
          <a:xfrm>
            <a:off x="5399626" y="2230557"/>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3" name="Ellipse 22"/>
          <p:cNvSpPr/>
          <p:nvPr/>
        </p:nvSpPr>
        <p:spPr>
          <a:xfrm>
            <a:off x="5399626" y="2777390"/>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8" name="Ellipse 27"/>
          <p:cNvSpPr/>
          <p:nvPr/>
        </p:nvSpPr>
        <p:spPr>
          <a:xfrm>
            <a:off x="5399626" y="3135746"/>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pic>
        <p:nvPicPr>
          <p:cNvPr id="11" name="Image 10"/>
          <p:cNvPicPr>
            <a:picLocks noChangeAspect="1"/>
          </p:cNvPicPr>
          <p:nvPr/>
        </p:nvPicPr>
        <p:blipFill>
          <a:blip r:embed="rId3"/>
          <a:stretch>
            <a:fillRect/>
          </a:stretch>
        </p:blipFill>
        <p:spPr>
          <a:xfrm>
            <a:off x="1505103" y="2075310"/>
            <a:ext cx="3830128" cy="2793992"/>
          </a:xfrm>
          <a:prstGeom prst="rect">
            <a:avLst/>
          </a:prstGeom>
        </p:spPr>
      </p:pic>
      <p:sp>
        <p:nvSpPr>
          <p:cNvPr id="24" name="Ellipse 23"/>
          <p:cNvSpPr/>
          <p:nvPr/>
        </p:nvSpPr>
        <p:spPr>
          <a:xfrm>
            <a:off x="990659" y="1920735"/>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5" name="Ellipse 24"/>
          <p:cNvSpPr/>
          <p:nvPr/>
        </p:nvSpPr>
        <p:spPr>
          <a:xfrm>
            <a:off x="987323" y="2115061"/>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9" name="Ellipse 28"/>
          <p:cNvSpPr/>
          <p:nvPr/>
        </p:nvSpPr>
        <p:spPr>
          <a:xfrm>
            <a:off x="987322" y="2309387"/>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0" name="Ellipse 29"/>
          <p:cNvSpPr/>
          <p:nvPr/>
        </p:nvSpPr>
        <p:spPr>
          <a:xfrm>
            <a:off x="3481633" y="2087611"/>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cxnSp>
        <p:nvCxnSpPr>
          <p:cNvPr id="31" name="Connecteur en angle 30"/>
          <p:cNvCxnSpPr>
            <a:endCxn id="11" idx="0"/>
          </p:cNvCxnSpPr>
          <p:nvPr/>
        </p:nvCxnSpPr>
        <p:spPr>
          <a:xfrm>
            <a:off x="2701835" y="1731603"/>
            <a:ext cx="718332" cy="343707"/>
          </a:xfrm>
          <a:prstGeom prst="bentConnector2">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Ellipse 33"/>
          <p:cNvSpPr/>
          <p:nvPr/>
        </p:nvSpPr>
        <p:spPr>
          <a:xfrm>
            <a:off x="5399626" y="3528459"/>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
        <p:nvSpPr>
          <p:cNvPr id="35" name="Rectangle 34"/>
          <p:cNvSpPr/>
          <p:nvPr/>
        </p:nvSpPr>
        <p:spPr>
          <a:xfrm>
            <a:off x="1144473" y="2097833"/>
            <a:ext cx="243042" cy="14435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6" name="Rectangle 35"/>
          <p:cNvSpPr/>
          <p:nvPr/>
        </p:nvSpPr>
        <p:spPr>
          <a:xfrm>
            <a:off x="1180461" y="2258237"/>
            <a:ext cx="243042" cy="14435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7" name="Rectangle 36"/>
          <p:cNvSpPr/>
          <p:nvPr/>
        </p:nvSpPr>
        <p:spPr>
          <a:xfrm>
            <a:off x="1575902" y="4327793"/>
            <a:ext cx="3676581" cy="9090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Tree>
    <p:extLst>
      <p:ext uri="{BB962C8B-B14F-4D97-AF65-F5344CB8AC3E}">
        <p14:creationId xmlns:p14="http://schemas.microsoft.com/office/powerpoint/2010/main" val="37273553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638959" y="1063205"/>
            <a:ext cx="3197518" cy="280879"/>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Afficher la liste des emplacements vides</a:t>
            </a: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1" name="Groupe 30"/>
          <p:cNvGrpSpPr/>
          <p:nvPr/>
        </p:nvGrpSpPr>
        <p:grpSpPr>
          <a:xfrm>
            <a:off x="5174456" y="205978"/>
            <a:ext cx="3680275" cy="4299347"/>
            <a:chOff x="5174456" y="205978"/>
            <a:chExt cx="3680275" cy="4299347"/>
          </a:xfrm>
        </p:grpSpPr>
        <p:grpSp>
          <p:nvGrpSpPr>
            <p:cNvPr id="34" name="Groupe 33"/>
            <p:cNvGrpSpPr/>
            <p:nvPr/>
          </p:nvGrpSpPr>
          <p:grpSpPr>
            <a:xfrm>
              <a:off x="5174456" y="205978"/>
              <a:ext cx="3680275" cy="4299347"/>
              <a:chOff x="3707606" y="205978"/>
              <a:chExt cx="4105275" cy="4795838"/>
            </a:xfrm>
          </p:grpSpPr>
          <p:sp>
            <p:nvSpPr>
              <p:cNvPr id="37" name="Rectangle 36"/>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38" name="Connecteur droit 37"/>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9" name="Connecteur droit 38"/>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0" name="Connecteur droit 39"/>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5" name="Image 34"/>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6"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3467360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sz="2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r>
              <a:rPr lang="fr-FR" sz="1400" dirty="0">
                <a:latin typeface="Arial" panose="020B0604020202020204" pitchFamily="34" charset="0"/>
                <a:ea typeface="ＭＳ Ｐゴシック" panose="020B0600070205080204" pitchFamily="34" charset="-128"/>
                <a:cs typeface="Arial" panose="020B0604020202020204" pitchFamily="34" charset="0"/>
              </a:rPr>
              <a:t>Le processus de création et de gestion </a:t>
            </a:r>
            <a:r>
              <a:rPr lang="fr-FR" sz="1400" dirty="0" smtClean="0">
                <a:latin typeface="Arial" panose="020B0604020202020204" pitchFamily="34" charset="0"/>
                <a:ea typeface="ＭＳ Ｐゴシック" panose="020B0600070205080204" pitchFamily="34" charset="-128"/>
                <a:cs typeface="Arial" panose="020B0604020202020204" pitchFamily="34" charset="0"/>
              </a:rPr>
              <a:t>des emplacements s’inscrit </a:t>
            </a:r>
            <a:r>
              <a:rPr lang="fr-FR" sz="1400" dirty="0">
                <a:latin typeface="Arial" panose="020B0604020202020204" pitchFamily="34" charset="0"/>
                <a:ea typeface="ＭＳ Ｐゴシック" panose="020B0600070205080204" pitchFamily="34" charset="-128"/>
                <a:cs typeface="Arial" panose="020B0604020202020204" pitchFamily="34" charset="0"/>
              </a:rPr>
              <a:t>dans </a:t>
            </a:r>
            <a:r>
              <a:rPr lang="fr-FR" sz="1400" dirty="0" smtClean="0">
                <a:latin typeface="Arial" panose="020B0604020202020204" pitchFamily="34" charset="0"/>
                <a:ea typeface="ＭＳ Ｐゴシック" panose="020B0600070205080204" pitchFamily="34" charset="-128"/>
                <a:cs typeface="Arial" panose="020B0604020202020204" pitchFamily="34" charset="0"/>
              </a:rPr>
              <a:t>la structure organisationnelle de la Logistique de SAP dans WM</a:t>
            </a:r>
            <a:endParaRPr lang="fr-FR" sz="1400" dirty="0">
              <a:latin typeface="Arial" panose="020B0604020202020204" pitchFamily="34" charset="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La création et modification des emplacements permet de stocker des articles dans des adresses de prélèvement</a:t>
            </a:r>
          </a:p>
          <a:p>
            <a:pPr marL="171450" indent="-171450">
              <a:buClr>
                <a:srgbClr val="0070C0"/>
              </a:buClr>
              <a:buSzPct val="100000"/>
              <a:buFont typeface="Arial" panose="020B0604020202020204" pitchFamily="34" charset="0"/>
              <a:buChar char="•"/>
            </a:pP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Les étiquettes d’emplacements peuvent être imprimées</a:t>
            </a:r>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VHEKTECQ7ECW-1532981086-4348</_dlc_DocId>
    <_dlc_DocIdUrl xmlns="f36dd47d-0b23-43fd-9b2d-c5346ffa1660">
      <Url>http://projets.cbg-guinee.com/erp/_layouts/15/DocIdRedir.aspx?ID=VHEKTECQ7ECW-1532981086-4348</Url>
      <Description>VHEKTECQ7ECW-1532981086-4348</Description>
    </_dlc_DocIdUrl>
  </documentManagement>
</p:properties>
</file>

<file path=customXml/itemProps1.xml><?xml version="1.0" encoding="utf-8"?>
<ds:datastoreItem xmlns:ds="http://schemas.openxmlformats.org/officeDocument/2006/customXml" ds:itemID="{C01FF92A-9475-4F84-8C6C-5D6003C00C16}"/>
</file>

<file path=customXml/itemProps2.xml><?xml version="1.0" encoding="utf-8"?>
<ds:datastoreItem xmlns:ds="http://schemas.openxmlformats.org/officeDocument/2006/customXml" ds:itemID="{DFE7DD0B-0BE8-4E24-A363-4DD0A01C5DCF}"/>
</file>

<file path=customXml/itemProps3.xml><?xml version="1.0" encoding="utf-8"?>
<ds:datastoreItem xmlns:ds="http://schemas.openxmlformats.org/officeDocument/2006/customXml" ds:itemID="{1C74C604-7794-4627-A700-829866BB4ABD}"/>
</file>

<file path=customXml/itemProps4.xml><?xml version="1.0" encoding="utf-8"?>
<ds:datastoreItem xmlns:ds="http://schemas.openxmlformats.org/officeDocument/2006/customXml" ds:itemID="{6B08D313-DD74-49B0-B6A4-96BD802D9198}"/>
</file>

<file path=docProps/app.xml><?xml version="1.0" encoding="utf-8"?>
<Properties xmlns="http://schemas.openxmlformats.org/officeDocument/2006/extended-properties" xmlns:vt="http://schemas.openxmlformats.org/officeDocument/2006/docPropsVTypes">
  <Template/>
  <TotalTime>0</TotalTime>
  <Words>981</Words>
  <Application>Microsoft Office PowerPoint</Application>
  <PresentationFormat>Affichage à l'écran (16:9)</PresentationFormat>
  <Paragraphs>277</Paragraphs>
  <Slides>27</Slides>
  <Notes>10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27</vt:i4>
      </vt:variant>
    </vt:vector>
  </HeadingPairs>
  <TitlesOfParts>
    <vt:vector size="35" baseType="lpstr">
      <vt:lpstr>ＭＳ Ｐゴシック</vt:lpstr>
      <vt:lpstr>Arial</vt:lpstr>
      <vt:lpstr>Arial Narrow</vt:lpstr>
      <vt:lpstr>Calibri</vt:lpstr>
      <vt:lpstr>Courier New</vt:lpstr>
      <vt:lpstr>Verdana</vt:lpstr>
      <vt:lpstr>Wingdings</vt:lpstr>
      <vt:lpstr>TemplateBE_FR</vt:lpstr>
      <vt:lpstr>Kamsar, le 15.12.2015</vt:lpstr>
      <vt:lpstr>Présentation PowerPoint</vt:lpstr>
      <vt:lpstr>Objectifs de la formation</vt:lpstr>
      <vt:lpstr>Agenda : 1h30</vt:lpstr>
      <vt:lpstr>Présentation PowerPoint</vt:lpstr>
      <vt:lpstr>Description du processus métier Les enjeux du processus</vt:lpstr>
      <vt:lpstr>La structure organisationnelle de la Logistique</vt:lpstr>
      <vt:lpstr>Description du processus métier Gestion des emplacements</vt:lpstr>
      <vt:lpstr>Description du processus métier </vt:lpstr>
      <vt:lpstr>Le processus de création des emplacements</vt:lpstr>
      <vt:lpstr>Présentation PowerPoint</vt:lpstr>
      <vt:lpstr>Mode opératoire Présentation du mode opératoire dans SAP</vt:lpstr>
      <vt:lpstr>Mode opératoire LS01 - Créer un emplacement – 1/2 </vt:lpstr>
      <vt:lpstr>Mode opératoire LS01 - Créer un emplacement – 2/2</vt:lpstr>
      <vt:lpstr>Présentation PowerPoint</vt:lpstr>
      <vt:lpstr>Description des objets SAP</vt:lpstr>
      <vt:lpstr>Description des objets SAP</vt:lpstr>
      <vt:lpstr>Description des objets SAP</vt:lpstr>
      <vt:lpstr>Mode opératoire LS02 – Modifier un emplacement</vt:lpstr>
      <vt:lpstr>Présentation PowerPoint</vt:lpstr>
      <vt:lpstr>Mode opératoire LM55 – Imprimer l’étiquette emplacement</vt:lpstr>
      <vt:lpstr>Présentation PowerPoint</vt:lpstr>
      <vt:lpstr>Mode opératoire LS04 – Afficher la liste des emplacements vides</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Desquirez, Chloe</cp:lastModifiedBy>
  <cp:revision>3642</cp:revision>
  <cp:lastPrinted>2015-04-23T03:57:16Z</cp:lastPrinted>
  <dcterms:created xsi:type="dcterms:W3CDTF">2012-05-17T14:14:37Z</dcterms:created>
  <dcterms:modified xsi:type="dcterms:W3CDTF">2015-12-09T08:37:17Z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f783b309-d4ae-4ea6-a35b-6184a4fc56d6</vt:lpwstr>
  </property>
</Properties>
</file>