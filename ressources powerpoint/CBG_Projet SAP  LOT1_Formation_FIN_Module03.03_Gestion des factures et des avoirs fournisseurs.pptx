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29.xml" ContentType="application/vnd.openxmlformats-officedocument.presentationml.slide+xml"/>
  <Override PartName="/ppt/slides/slide30.xml" ContentType="application/vnd.openxmlformats-officedocument.presentationml.slide+xml"/>
  <Override PartName="/ppt/presentation.xml" ContentType="application/vnd.openxmlformats-officedocument.presentationml.presentation.main+xml"/>
  <Override PartName="/ppt/slides/slide2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xml" ContentType="application/vnd.openxmlformats-officedocument.presentationml.slide+xml"/>
  <Override PartName="/ppt/slides/slide13.xml" ContentType="application/vnd.openxmlformats-officedocument.presentationml.slide+xml"/>
  <Override PartName="/ppt/slides/slide27.xml" ContentType="application/vnd.openxmlformats-officedocument.presentationml.slide+xml"/>
  <Override PartName="/ppt/notesSlides/notesSlide6.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7.xml" ContentType="application/vnd.openxmlformats-officedocument.presentationml.notesSlide+xml"/>
  <Override PartName="/ppt/slideMasters/slideMaster1.xml" ContentType="application/vnd.openxmlformats-officedocument.presentationml.slideMaster+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2.xml" ContentType="application/vnd.openxmlformats-officedocument.theme+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3.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customXml/itemProps3.xml" ContentType="application/vnd.openxmlformats-officedocument.customXmlProperties+xml"/>
  <Override PartName="/docProps/custom.xml" ContentType="application/vnd.openxmlformats-officedocument.custom-properties+xml"/>
  <Override PartName="/customXml/itemProps2.xml" ContentType="application/vnd.openxmlformats-officedocument.customXmlProperties+xml"/>
  <Override PartName="/customXml/itemProps1.xml" ContentType="application/vnd.openxmlformats-officedocument.customXmlProperties+xml"/>
  <Override PartName="/docProps/core.xml" ContentType="application/vnd.openxmlformats-package.core-properties+xml"/>
  <Override PartName="/docProps/app.xml" ContentType="application/vnd.openxmlformats-officedocument.extended-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35"/>
  </p:notesMasterIdLst>
  <p:handoutMasterIdLst>
    <p:handoutMasterId r:id="rId36"/>
  </p:handoutMasterIdLst>
  <p:sldIdLst>
    <p:sldId id="685" r:id="rId5"/>
    <p:sldId id="686" r:id="rId6"/>
    <p:sldId id="687" r:id="rId7"/>
    <p:sldId id="688" r:id="rId8"/>
    <p:sldId id="723" r:id="rId9"/>
    <p:sldId id="744" r:id="rId10"/>
    <p:sldId id="745" r:id="rId11"/>
    <p:sldId id="747" r:id="rId12"/>
    <p:sldId id="746" r:id="rId13"/>
    <p:sldId id="724" r:id="rId14"/>
    <p:sldId id="748" r:id="rId15"/>
    <p:sldId id="729" r:id="rId16"/>
    <p:sldId id="730" r:id="rId17"/>
    <p:sldId id="749" r:id="rId18"/>
    <p:sldId id="750" r:id="rId19"/>
    <p:sldId id="753" r:id="rId20"/>
    <p:sldId id="751" r:id="rId21"/>
    <p:sldId id="752" r:id="rId22"/>
    <p:sldId id="732" r:id="rId23"/>
    <p:sldId id="757" r:id="rId24"/>
    <p:sldId id="756" r:id="rId25"/>
    <p:sldId id="755" r:id="rId26"/>
    <p:sldId id="754" r:id="rId27"/>
    <p:sldId id="758" r:id="rId28"/>
    <p:sldId id="759" r:id="rId29"/>
    <p:sldId id="760" r:id="rId30"/>
    <p:sldId id="699" r:id="rId31"/>
    <p:sldId id="725" r:id="rId32"/>
    <p:sldId id="710" r:id="rId33"/>
    <p:sldId id="728" r:id="rId34"/>
  </p:sldIdLst>
  <p:sldSz cx="9144000" cy="5143500" type="screen16x9"/>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1880">
          <p15:clr>
            <a:srgbClr val="A4A3A4"/>
          </p15:clr>
        </p15:guide>
        <p15:guide id="3" orient="horz" pos="89">
          <p15:clr>
            <a:srgbClr val="A4A3A4"/>
          </p15:clr>
        </p15:guide>
        <p15:guide id="4" orient="horz" pos="480">
          <p15:clr>
            <a:srgbClr val="A4A3A4"/>
          </p15:clr>
        </p15:guide>
        <p15:guide id="5" orient="horz" pos="719">
          <p15:clr>
            <a:srgbClr val="A4A3A4"/>
          </p15:clr>
        </p15:guide>
        <p15:guide id="6" pos="178">
          <p15:clr>
            <a:srgbClr val="A4A3A4"/>
          </p15:clr>
        </p15:guide>
        <p15:guide id="7" pos="2881">
          <p15:clr>
            <a:srgbClr val="A4A3A4"/>
          </p15:clr>
        </p15:guide>
        <p15:guide id="8" pos="5575">
          <p15:clr>
            <a:srgbClr val="A4A3A4"/>
          </p15:clr>
        </p15:guide>
        <p15:guide id="9" orient="horz" pos="16">
          <p15:clr>
            <a:srgbClr val="A4A3A4"/>
          </p15:clr>
        </p15:guide>
        <p15:guide id="10" orient="horz" pos="67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24" userDrawn="1">
          <p15:clr>
            <a:srgbClr val="A4A3A4"/>
          </p15:clr>
        </p15:guide>
        <p15:guide id="3" pos="214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5FF"/>
    <a:srgbClr val="A7ABFF"/>
    <a:srgbClr val="C5C8FF"/>
    <a:srgbClr val="004376"/>
    <a:srgbClr val="4F81BD"/>
    <a:srgbClr val="F3F4FF"/>
    <a:srgbClr val="E7E8FF"/>
    <a:srgbClr val="4C9BD3"/>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63" autoAdjust="0"/>
    <p:restoredTop sz="95565" autoAdjust="0"/>
  </p:normalViewPr>
  <p:slideViewPr>
    <p:cSldViewPr snapToGrid="0" snapToObjects="1">
      <p:cViewPr varScale="1">
        <p:scale>
          <a:sx n="123" d="100"/>
          <a:sy n="123" d="100"/>
        </p:scale>
        <p:origin x="708" y="108"/>
      </p:cViewPr>
      <p:guideLst>
        <p:guide orient="horz" pos="3049"/>
        <p:guide orient="horz" pos="1880"/>
        <p:guide orient="horz" pos="89"/>
        <p:guide orient="horz" pos="480"/>
        <p:guide orient="horz" pos="719"/>
        <p:guide pos="178"/>
        <p:guide pos="2881"/>
        <p:guide pos="5575"/>
        <p:guide orient="horz" pos="16"/>
        <p:guide orient="horz" pos="6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3127"/>
        <p:guide pos="2124"/>
        <p:guide pos="214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customXml" Target="../customXml/item4.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2945659" cy="496411"/>
          </a:xfrm>
          <a:prstGeom prst="rect">
            <a:avLst/>
          </a:prstGeom>
        </p:spPr>
        <p:txBody>
          <a:bodyPr vert="horz" lIns="91427" tIns="45714" rIns="91427" bIns="45714" rtlCol="0"/>
          <a:lstStyle>
            <a:lvl1pPr algn="l">
              <a:defRPr sz="1200"/>
            </a:lvl1pPr>
          </a:lstStyle>
          <a:p>
            <a:endParaRPr lang="en-US" dirty="0"/>
          </a:p>
        </p:txBody>
      </p:sp>
      <p:sp>
        <p:nvSpPr>
          <p:cNvPr id="3" name="Date Placeholder 2"/>
          <p:cNvSpPr>
            <a:spLocks noGrp="1"/>
          </p:cNvSpPr>
          <p:nvPr>
            <p:ph type="dt" sz="quarter" idx="1"/>
          </p:nvPr>
        </p:nvSpPr>
        <p:spPr>
          <a:xfrm>
            <a:off x="3850445" y="2"/>
            <a:ext cx="2945659" cy="496411"/>
          </a:xfrm>
          <a:prstGeom prst="rect">
            <a:avLst/>
          </a:prstGeom>
        </p:spPr>
        <p:txBody>
          <a:bodyPr vert="horz" lIns="91427" tIns="45714" rIns="91427" bIns="45714" rtlCol="0"/>
          <a:lstStyle>
            <a:lvl1pPr algn="r">
              <a:defRPr sz="1200"/>
            </a:lvl1pPr>
          </a:lstStyle>
          <a:p>
            <a:fld id="{4FCF4903-D1A4-F14A-B207-A0D2CC9D4B8B}" type="datetimeFigureOut">
              <a:rPr lang="en-US" smtClean="0"/>
              <a:t>1/26/2016</a:t>
            </a:fld>
            <a:endParaRPr lang="en-US" dirty="0"/>
          </a:p>
        </p:txBody>
      </p:sp>
      <p:sp>
        <p:nvSpPr>
          <p:cNvPr id="4" name="Footer Placeholder 3"/>
          <p:cNvSpPr>
            <a:spLocks noGrp="1"/>
          </p:cNvSpPr>
          <p:nvPr>
            <p:ph type="ftr" sz="quarter" idx="2"/>
          </p:nvPr>
        </p:nvSpPr>
        <p:spPr>
          <a:xfrm>
            <a:off x="1" y="9430093"/>
            <a:ext cx="2945659" cy="496411"/>
          </a:xfrm>
          <a:prstGeom prst="rect">
            <a:avLst/>
          </a:prstGeom>
        </p:spPr>
        <p:txBody>
          <a:bodyPr vert="horz" lIns="91427" tIns="45714" rIns="91427" bIns="45714"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50445" y="9430093"/>
            <a:ext cx="2945659" cy="496411"/>
          </a:xfrm>
          <a:prstGeom prst="rect">
            <a:avLst/>
          </a:prstGeom>
        </p:spPr>
        <p:txBody>
          <a:bodyPr vert="horz" lIns="91427" tIns="45714" rIns="91427" bIns="45714"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2945659" cy="496411"/>
          </a:xfrm>
          <a:prstGeom prst="rect">
            <a:avLst/>
          </a:prstGeom>
        </p:spPr>
        <p:txBody>
          <a:bodyPr vert="horz" lIns="91427" tIns="45714" rIns="91427" bIns="45714" rtlCol="0"/>
          <a:lstStyle>
            <a:lvl1pPr algn="l">
              <a:defRPr sz="1200"/>
            </a:lvl1pPr>
          </a:lstStyle>
          <a:p>
            <a:endParaRPr lang="de-DE" dirty="0"/>
          </a:p>
        </p:txBody>
      </p:sp>
      <p:sp>
        <p:nvSpPr>
          <p:cNvPr id="3" name="Datumsplatzhalter 2"/>
          <p:cNvSpPr>
            <a:spLocks noGrp="1"/>
          </p:cNvSpPr>
          <p:nvPr>
            <p:ph type="dt" idx="1"/>
          </p:nvPr>
        </p:nvSpPr>
        <p:spPr>
          <a:xfrm>
            <a:off x="3850445" y="2"/>
            <a:ext cx="2945659" cy="496411"/>
          </a:xfrm>
          <a:prstGeom prst="rect">
            <a:avLst/>
          </a:prstGeom>
        </p:spPr>
        <p:txBody>
          <a:bodyPr vert="horz" lIns="91427" tIns="45714" rIns="91427" bIns="45714" rtlCol="0"/>
          <a:lstStyle>
            <a:lvl1pPr algn="r">
              <a:defRPr sz="1200"/>
            </a:lvl1pPr>
          </a:lstStyle>
          <a:p>
            <a:fld id="{BC5B4241-C98F-4766-9E25-5F8403374385}" type="datetimeFigureOut">
              <a:rPr lang="de-DE" smtClean="0"/>
              <a:t>26.01.2016</a:t>
            </a:fld>
            <a:endParaRPr lang="de-DE" dirty="0"/>
          </a:p>
        </p:txBody>
      </p:sp>
      <p:sp>
        <p:nvSpPr>
          <p:cNvPr id="4" name="Folienbildplatzhalter 3"/>
          <p:cNvSpPr>
            <a:spLocks noGrp="1" noRot="1" noChangeAspect="1"/>
          </p:cNvSpPr>
          <p:nvPr>
            <p:ph type="sldImg" idx="2"/>
          </p:nvPr>
        </p:nvSpPr>
        <p:spPr>
          <a:xfrm>
            <a:off x="87313" y="742950"/>
            <a:ext cx="6623050" cy="3725863"/>
          </a:xfrm>
          <a:prstGeom prst="rect">
            <a:avLst/>
          </a:prstGeom>
          <a:noFill/>
          <a:ln w="12700">
            <a:solidFill>
              <a:prstClr val="black"/>
            </a:solidFill>
          </a:ln>
        </p:spPr>
        <p:txBody>
          <a:bodyPr vert="horz" lIns="91427" tIns="45714" rIns="91427" bIns="45714" rtlCol="0" anchor="ctr"/>
          <a:lstStyle/>
          <a:p>
            <a:endParaRPr lang="de-DE" dirty="0"/>
          </a:p>
        </p:txBody>
      </p:sp>
      <p:sp>
        <p:nvSpPr>
          <p:cNvPr id="5" name="Notizenplatzhalter 4"/>
          <p:cNvSpPr>
            <a:spLocks noGrp="1"/>
          </p:cNvSpPr>
          <p:nvPr>
            <p:ph type="body" sz="quarter" idx="3"/>
          </p:nvPr>
        </p:nvSpPr>
        <p:spPr>
          <a:xfrm>
            <a:off x="679768" y="4715907"/>
            <a:ext cx="5438140" cy="4467701"/>
          </a:xfrm>
          <a:prstGeom prst="rect">
            <a:avLst/>
          </a:prstGeom>
        </p:spPr>
        <p:txBody>
          <a:bodyPr vert="horz" lIns="91427" tIns="45714" rIns="91427" bIns="45714"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9430093"/>
            <a:ext cx="2945659" cy="496411"/>
          </a:xfrm>
          <a:prstGeom prst="rect">
            <a:avLst/>
          </a:prstGeom>
        </p:spPr>
        <p:txBody>
          <a:bodyPr vert="horz" lIns="91427" tIns="45714" rIns="91427" bIns="45714" rtlCol="0" anchor="b"/>
          <a:lstStyle>
            <a:lvl1pPr algn="l">
              <a:defRPr sz="1200"/>
            </a:lvl1pPr>
          </a:lstStyle>
          <a:p>
            <a:endParaRPr lang="de-DE" dirty="0"/>
          </a:p>
        </p:txBody>
      </p:sp>
      <p:sp>
        <p:nvSpPr>
          <p:cNvPr id="7" name="Foliennummernplatzhalter 6"/>
          <p:cNvSpPr>
            <a:spLocks noGrp="1"/>
          </p:cNvSpPr>
          <p:nvPr>
            <p:ph type="sldNum" sz="quarter" idx="5"/>
          </p:nvPr>
        </p:nvSpPr>
        <p:spPr>
          <a:xfrm>
            <a:off x="3850445" y="9430093"/>
            <a:ext cx="2945659" cy="496411"/>
          </a:xfrm>
          <a:prstGeom prst="rect">
            <a:avLst/>
          </a:prstGeom>
        </p:spPr>
        <p:txBody>
          <a:bodyPr vert="horz" lIns="91427" tIns="45714" rIns="91427" bIns="45714"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5</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10</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27</a:t>
            </a:fld>
            <a:endParaRPr lang="fr-FR" altLang="en-US" sz="1200"/>
          </a:p>
        </p:txBody>
      </p:sp>
      <p:sp>
        <p:nvSpPr>
          <p:cNvPr id="51203" name="Rectangle 2"/>
          <p:cNvSpPr>
            <a:spLocks noGrp="1" noRot="1" noChangeAspect="1" noChangeArrowheads="1" noTextEdit="1"/>
          </p:cNvSpPr>
          <p:nvPr>
            <p:ph type="sldImg"/>
          </p:nvPr>
        </p:nvSpPr>
        <p:spPr bwMode="auto">
          <a:xfrm>
            <a:off x="-676275" y="238125"/>
            <a:ext cx="8139113" cy="457993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53272" y="8579574"/>
            <a:ext cx="5485042" cy="1148540"/>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35996753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28</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26/01/2016</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7.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21.png"/><Relationship Id="rId2" Type="http://schemas.openxmlformats.org/officeDocument/2006/relationships/image" Target="../media/image17.png"/><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2"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3.xml"/><Relationship Id="rId6" Type="http://schemas.openxmlformats.org/officeDocument/2006/relationships/image" Target="../media/image42.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s>
</file>

<file path=ppt/slides/_rels/slide20.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8.png"/><Relationship Id="rId3" Type="http://schemas.openxmlformats.org/officeDocument/2006/relationships/image" Target="../media/image48.png"/><Relationship Id="rId7" Type="http://schemas.openxmlformats.org/officeDocument/2006/relationships/image" Target="../media/image52.png"/><Relationship Id="rId12" Type="http://schemas.openxmlformats.org/officeDocument/2006/relationships/image" Target="../media/image57.png"/><Relationship Id="rId17" Type="http://schemas.openxmlformats.org/officeDocument/2006/relationships/image" Target="../media/image62.png"/><Relationship Id="rId2" Type="http://schemas.openxmlformats.org/officeDocument/2006/relationships/image" Target="../media/image47.png"/><Relationship Id="rId16" Type="http://schemas.openxmlformats.org/officeDocument/2006/relationships/image" Target="../media/image61.png"/><Relationship Id="rId1" Type="http://schemas.openxmlformats.org/officeDocument/2006/relationships/slideLayout" Target="../slideLayouts/slideLayout3.xml"/><Relationship Id="rId6" Type="http://schemas.openxmlformats.org/officeDocument/2006/relationships/image" Target="../media/image51.png"/><Relationship Id="rId11" Type="http://schemas.openxmlformats.org/officeDocument/2006/relationships/image" Target="../media/image56.png"/><Relationship Id="rId5" Type="http://schemas.openxmlformats.org/officeDocument/2006/relationships/image" Target="../media/image50.png"/><Relationship Id="rId15" Type="http://schemas.openxmlformats.org/officeDocument/2006/relationships/image" Target="../media/image60.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png"/><Relationship Id="rId14" Type="http://schemas.openxmlformats.org/officeDocument/2006/relationships/image" Target="../media/image59.png"/></Relationships>
</file>

<file path=ppt/slides/_rels/slide2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3.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0.png"/><Relationship Id="rId7"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9.png"/><Relationship Id="rId4" Type="http://schemas.openxmlformats.org/officeDocument/2006/relationships/image" Target="../media/image7.png"/><Relationship Id="rId9" Type="http://schemas.openxmlformats.org/officeDocument/2006/relationships/image" Target="../media/image15.png"/></Relationships>
</file>

<file path=ppt/slides/_rels/slide25.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81.png"/><Relationship Id="rId3" Type="http://schemas.openxmlformats.org/officeDocument/2006/relationships/image" Target="../media/image72.png"/><Relationship Id="rId7" Type="http://schemas.openxmlformats.org/officeDocument/2006/relationships/image" Target="../media/image76.png"/><Relationship Id="rId12" Type="http://schemas.openxmlformats.org/officeDocument/2006/relationships/image" Target="../media/image80.png"/><Relationship Id="rId2" Type="http://schemas.openxmlformats.org/officeDocument/2006/relationships/image" Target="../media/image71.png"/><Relationship Id="rId1" Type="http://schemas.openxmlformats.org/officeDocument/2006/relationships/slideLayout" Target="../slideLayouts/slideLayout3.xml"/><Relationship Id="rId6" Type="http://schemas.openxmlformats.org/officeDocument/2006/relationships/image" Target="../media/image75.png"/><Relationship Id="rId11" Type="http://schemas.openxmlformats.org/officeDocument/2006/relationships/image" Target="../media/image79.png"/><Relationship Id="rId5" Type="http://schemas.openxmlformats.org/officeDocument/2006/relationships/image" Target="../media/image74.png"/><Relationship Id="rId10" Type="http://schemas.openxmlformats.org/officeDocument/2006/relationships/image" Target="../media/image78.png"/><Relationship Id="rId4" Type="http://schemas.openxmlformats.org/officeDocument/2006/relationships/image" Target="../media/image73.png"/><Relationship Id="rId9" Type="http://schemas.openxmlformats.org/officeDocument/2006/relationships/image" Target="../media/image77.png"/></Relationships>
</file>

<file path=ppt/slides/_rels/slide2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8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a:t>
            </a:r>
            <a:r>
              <a:rPr lang="fr-FR" sz="2800" b="1" dirty="0" smtClean="0">
                <a:solidFill>
                  <a:srgbClr val="0070C0"/>
                </a:solidFill>
                <a:latin typeface="Arial" charset="0"/>
                <a:cs typeface="Arial" charset="0"/>
              </a:rPr>
              <a:t>Utilisateurs- FINANCE </a:t>
            </a:r>
            <a:r>
              <a:rPr lang="fr-FR" sz="3200" b="1" dirty="0" smtClean="0">
                <a:solidFill>
                  <a:srgbClr val="0070C0"/>
                </a:solidFill>
                <a:latin typeface="Arial" charset="0"/>
                <a:cs typeface="Arial" charset="0"/>
              </a:rPr>
              <a:t/>
            </a:r>
            <a:br>
              <a:rPr lang="fr-FR" sz="3200" b="1" dirty="0" smtClean="0">
                <a:solidFill>
                  <a:srgbClr val="0070C0"/>
                </a:solidFill>
                <a:latin typeface="Arial" charset="0"/>
                <a:cs typeface="Arial" charset="0"/>
              </a:rPr>
            </a:br>
            <a:r>
              <a:rPr lang="fr-FR" sz="2000" b="1" dirty="0" smtClean="0">
                <a:solidFill>
                  <a:srgbClr val="0070C0"/>
                </a:solidFill>
                <a:latin typeface="Arial" charset="0"/>
                <a:cs typeface="Arial" charset="0"/>
              </a:rPr>
              <a:t>Module03.03</a:t>
            </a:r>
            <a:r>
              <a:rPr lang="fr-FR" sz="2000" b="1" dirty="0">
                <a:solidFill>
                  <a:srgbClr val="0070C0"/>
                </a:solidFill>
                <a:latin typeface="Arial" charset="0"/>
                <a:cs typeface="Arial" charset="0"/>
              </a:rPr>
              <a:t/>
            </a:r>
            <a:br>
              <a:rPr lang="fr-FR" sz="2000" b="1" dirty="0">
                <a:solidFill>
                  <a:srgbClr val="0070C0"/>
                </a:solidFill>
                <a:latin typeface="Arial" charset="0"/>
                <a:cs typeface="Arial" charset="0"/>
              </a:rPr>
            </a:br>
            <a:r>
              <a:rPr lang="fr-FR" sz="2000" b="1" dirty="0" smtClean="0">
                <a:solidFill>
                  <a:srgbClr val="0070C0"/>
                </a:solidFill>
                <a:latin typeface="Arial" charset="0"/>
                <a:cs typeface="Arial" charset="0"/>
              </a:rPr>
              <a:t>Gestion des Factures et Avoirs Fournisseur</a:t>
            </a:r>
            <a:endParaRPr lang="fr-FR" sz="1800" dirty="0" smtClean="0">
              <a:solidFill>
                <a:srgbClr val="0070C0"/>
              </a:solidFill>
              <a:latin typeface="Arial" charset="0"/>
              <a:cs typeface="Arial" charset="0"/>
            </a:endParaRPr>
          </a:p>
        </p:txBody>
      </p:sp>
      <p:sp>
        <p:nvSpPr>
          <p:cNvPr id="21506" name="Rectangle 2"/>
          <p:cNvSpPr>
            <a:spLocks noGrp="1"/>
          </p:cNvSpPr>
          <p:nvPr>
            <p:ph type="ctrTitle" idx="4294967295"/>
          </p:nvPr>
        </p:nvSpPr>
        <p:spPr>
          <a:xfrm>
            <a:off x="6245817" y="4002921"/>
            <a:ext cx="2772366" cy="708563"/>
          </a:xfrm>
        </p:spPr>
        <p:txBody>
          <a:bodyPr>
            <a:normAutofit/>
          </a:bodyPr>
          <a:lstStyle/>
          <a:p>
            <a:pPr algn="r" defTabSz="457200"/>
            <a:r>
              <a:rPr lang="fr-FR" altLang="en-US" sz="1800" dirty="0" smtClean="0">
                <a:solidFill>
                  <a:schemeClr val="tx1"/>
                </a:solidFill>
                <a:latin typeface="Arial" charset="0"/>
              </a:rPr>
              <a:t>Kamsar, le </a:t>
            </a:r>
            <a:r>
              <a:rPr lang="fr-FR" altLang="en-US" sz="1800" dirty="0" smtClean="0">
                <a:solidFill>
                  <a:schemeClr val="tx1"/>
                </a:solidFill>
                <a:latin typeface="Arial" charset="0"/>
              </a:rPr>
              <a:t>27</a:t>
            </a:r>
            <a:r>
              <a:rPr lang="fr-FR" altLang="en-US" sz="1800" dirty="0" smtClean="0">
                <a:solidFill>
                  <a:schemeClr val="tx1"/>
                </a:solidFill>
                <a:latin typeface="Arial" charset="0"/>
              </a:rPr>
              <a:t>.01.2016</a:t>
            </a:r>
            <a:endParaRPr lang="en-US" altLang="en-US" sz="1800" dirty="0">
              <a:solidFill>
                <a:schemeClr val="tx1"/>
              </a:solidFill>
              <a:latin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Modes opératoires</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2</a:t>
            </a:fld>
            <a:endParaRPr lang="fr-FR" altLang="en-US" sz="750"/>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23555" name="Slide Number Placeholder 3"/>
          <p:cNvSpPr>
            <a:spLocks noGrp="1"/>
          </p:cNvSpPr>
          <p:nvPr>
            <p:ph type="sldNum" sz="quarter" idx="4294967295"/>
          </p:nvPr>
        </p:nvSpPr>
        <p:spPr bwMode="auto">
          <a:xfrm>
            <a:off x="7543800" y="4767263"/>
            <a:ext cx="16002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6376B89C-69A1-4AA7-8B55-052D6C772B02}" type="slidenum">
              <a:rPr lang="en-US" altLang="en-US" sz="750"/>
              <a:pPr eaLnBrk="1" hangingPunct="1"/>
              <a:t>3</a:t>
            </a:fld>
            <a:endParaRPr lang="en-US" altLang="en-US" sz="750"/>
          </a:p>
        </p:txBody>
      </p:sp>
      <p:sp>
        <p:nvSpPr>
          <p:cNvPr id="5" name="Rectangle 4"/>
          <p:cNvSpPr/>
          <p:nvPr/>
        </p:nvSpPr>
        <p:spPr>
          <a:xfrm>
            <a:off x="1763272" y="1312294"/>
            <a:ext cx="4589859" cy="60150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lvl="0" indent="-67866" eaLnBrk="0" hangingPunct="0">
              <a:spcBef>
                <a:spcPts val="225"/>
              </a:spcBef>
              <a:buClr>
                <a:srgbClr val="4F81BD"/>
              </a:buClr>
              <a:buFont typeface="Arial" charset="0"/>
              <a:buChar char="•"/>
              <a:defRPr/>
            </a:pPr>
            <a:endParaRPr lang="fr-FR" sz="900" b="1" dirty="0" smtClean="0">
              <a:solidFill>
                <a:schemeClr val="tx1"/>
              </a:solidFill>
              <a:latin typeface="Arial" pitchFamily="34" charset="0"/>
              <a:cs typeface="Arial" pitchFamily="34" charset="0"/>
            </a:endParaRPr>
          </a:p>
          <a:p>
            <a:pPr marL="67866" lvl="0" indent="-67866" eaLnBrk="0" hangingPunct="0">
              <a:spcBef>
                <a:spcPts val="225"/>
              </a:spcBef>
              <a:buClr>
                <a:srgbClr val="4F81BD"/>
              </a:buClr>
              <a:buFont typeface="Arial" charset="0"/>
              <a:buChar char="•"/>
              <a:defRPr/>
            </a:pPr>
            <a:endParaRPr lang="fr-FR" sz="900" b="1" dirty="0" smtClean="0">
              <a:solidFill>
                <a:schemeClr val="tx1"/>
              </a:solidFill>
              <a:latin typeface="Arial" pitchFamily="34" charset="0"/>
              <a:cs typeface="Arial" pitchFamily="34" charset="0"/>
            </a:endParaRPr>
          </a:p>
          <a:p>
            <a:pPr marL="67866" lvl="0"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a:t>
            </a:r>
            <a:r>
              <a:rPr lang="fr-FR" sz="900" dirty="0" smtClean="0"/>
              <a:t>avoir </a:t>
            </a:r>
            <a:r>
              <a:rPr lang="fr-FR" sz="900" dirty="0"/>
              <a:t>saisir </a:t>
            </a:r>
            <a:r>
              <a:rPr lang="fr-FR" sz="900" dirty="0" smtClean="0"/>
              <a:t>une facture en référence à une commande d’achat</a:t>
            </a:r>
          </a:p>
          <a:p>
            <a:pPr marL="67866" lvl="0" indent="-67866" eaLnBrk="0" hangingPunct="0">
              <a:spcBef>
                <a:spcPts val="225"/>
              </a:spcBef>
              <a:buClr>
                <a:srgbClr val="4F81BD"/>
              </a:buClr>
              <a:buFont typeface="Arial" charset="0"/>
              <a:buChar char="•"/>
              <a:defRPr/>
            </a:pPr>
            <a:r>
              <a:rPr lang="fr-FR" sz="900" dirty="0" smtClean="0"/>
              <a:t>Savoir saisir une facture sans référence à une commande d’achat</a:t>
            </a:r>
            <a:endParaRPr lang="ru-RU" sz="900" dirty="0"/>
          </a:p>
          <a:p>
            <a:pPr marL="67866" lvl="0" indent="-67866" eaLnBrk="0" hangingPunct="0">
              <a:spcBef>
                <a:spcPts val="225"/>
              </a:spcBef>
              <a:buClr>
                <a:srgbClr val="4F81BD"/>
              </a:buClr>
              <a:buFont typeface="Arial" charset="0"/>
              <a:buChar char="•"/>
              <a:defRPr/>
            </a:pPr>
            <a:r>
              <a:rPr lang="fr-FR" sz="900" dirty="0"/>
              <a:t>Savoir saisir un </a:t>
            </a:r>
            <a:r>
              <a:rPr lang="fr-FR" sz="900" dirty="0" smtClean="0"/>
              <a:t>avoir fournisseur</a:t>
            </a:r>
          </a:p>
          <a:p>
            <a:pPr lvl="0" eaLnBrk="0" hangingPunct="0">
              <a:spcBef>
                <a:spcPts val="225"/>
              </a:spcBef>
              <a:buClr>
                <a:srgbClr val="4F81BD"/>
              </a:buClr>
              <a:defRPr/>
            </a:pPr>
            <a:endParaRPr lang="ru-RU" sz="900" b="1" dirty="0" smtClean="0"/>
          </a:p>
          <a:p>
            <a:pPr lvl="0" eaLnBrk="0" hangingPunct="0">
              <a:spcBef>
                <a:spcPts val="225"/>
              </a:spcBef>
              <a:buClr>
                <a:srgbClr val="4F81BD"/>
              </a:buClr>
              <a:defRPr/>
            </a:pPr>
            <a:endParaRPr lang="ru-RU" sz="900" b="1" dirty="0"/>
          </a:p>
          <a:p>
            <a:pPr marL="67866" indent="-67866" eaLnBrk="0" hangingPunct="0">
              <a:spcBef>
                <a:spcPts val="225"/>
              </a:spcBef>
              <a:buClr>
                <a:srgbClr val="4F81BD"/>
              </a:buClr>
              <a:buFont typeface="Arial" charset="0"/>
              <a:buChar char="•"/>
              <a:defRPr/>
            </a:pPr>
            <a:endParaRPr lang="fr-FR" sz="900" dirty="0" smtClean="0">
              <a:solidFill>
                <a:schemeClr val="tx1"/>
              </a:solidFill>
              <a:latin typeface="Arial" pitchFamily="34" charset="0"/>
              <a:cs typeface="Arial" pitchFamily="34" charset="0"/>
            </a:endParaRPr>
          </a:p>
        </p:txBody>
      </p:sp>
      <p:sp>
        <p:nvSpPr>
          <p:cNvPr id="7" name="Rectangle 6"/>
          <p:cNvSpPr/>
          <p:nvPr/>
        </p:nvSpPr>
        <p:spPr>
          <a:xfrm>
            <a:off x="1718686" y="3689526"/>
            <a:ext cx="4589859" cy="571106"/>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lvl="1" indent="-67866" eaLnBrk="0" hangingPunct="0">
              <a:spcBef>
                <a:spcPts val="225"/>
              </a:spcBef>
              <a:buClr>
                <a:srgbClr val="4F81BD"/>
              </a:buClr>
              <a:buFont typeface="Arial" charset="0"/>
              <a:buChar char="•"/>
              <a:defRPr/>
            </a:pPr>
            <a:endParaRPr lang="fr-FR" sz="900" b="1" dirty="0" smtClean="0"/>
          </a:p>
          <a:p>
            <a:pPr marL="67866" lvl="1" indent="-67866" eaLnBrk="0" hangingPunct="0">
              <a:spcBef>
                <a:spcPts val="225"/>
              </a:spcBef>
              <a:buClr>
                <a:srgbClr val="4F81BD"/>
              </a:buClr>
              <a:buFont typeface="Arial" charset="0"/>
              <a:buChar char="•"/>
              <a:defRPr/>
            </a:pPr>
            <a:r>
              <a:rPr lang="fr-FR" sz="900" dirty="0" smtClean="0"/>
              <a:t>Gestion des factures en référence à une commande d’achat</a:t>
            </a:r>
          </a:p>
          <a:p>
            <a:pPr marL="67866" lvl="1" indent="-67866" eaLnBrk="0" hangingPunct="0">
              <a:spcBef>
                <a:spcPts val="225"/>
              </a:spcBef>
              <a:buClr>
                <a:srgbClr val="4F81BD"/>
              </a:buClr>
              <a:buFont typeface="Arial" charset="0"/>
              <a:buChar char="•"/>
              <a:defRPr/>
            </a:pPr>
            <a:r>
              <a:rPr lang="fr-FR" sz="900" dirty="0"/>
              <a:t>Gestion des factures </a:t>
            </a:r>
            <a:r>
              <a:rPr lang="fr-FR" sz="900" dirty="0" smtClean="0"/>
              <a:t>sans </a:t>
            </a:r>
            <a:r>
              <a:rPr lang="fr-FR" sz="900" dirty="0"/>
              <a:t>référence à une commande d’achat</a:t>
            </a:r>
          </a:p>
          <a:p>
            <a:pPr marL="67866" lvl="1" indent="-67866" eaLnBrk="0" hangingPunct="0">
              <a:spcBef>
                <a:spcPts val="225"/>
              </a:spcBef>
              <a:buClr>
                <a:srgbClr val="4F81BD"/>
              </a:buClr>
              <a:buFont typeface="Arial" charset="0"/>
              <a:buChar char="•"/>
              <a:defRPr/>
            </a:pPr>
            <a:r>
              <a:rPr lang="fr-FR" sz="900" dirty="0"/>
              <a:t>Gestion des </a:t>
            </a:r>
            <a:r>
              <a:rPr lang="fr-FR" sz="900" dirty="0" smtClean="0"/>
              <a:t>avoirs fournisseur</a:t>
            </a:r>
            <a:endParaRPr lang="fr-FR" sz="900" dirty="0"/>
          </a:p>
          <a:p>
            <a:pPr marL="0" lvl="1" eaLnBrk="0" hangingPunct="0">
              <a:spcBef>
                <a:spcPts val="225"/>
              </a:spcBef>
              <a:buClr>
                <a:srgbClr val="4F81BD"/>
              </a:buClr>
              <a:defRPr/>
            </a:pPr>
            <a:endParaRPr lang="ru-RU" sz="900" dirty="0"/>
          </a:p>
          <a:p>
            <a:pPr marL="0" lvl="1" eaLnBrk="0" hangingPunct="0">
              <a:spcBef>
                <a:spcPts val="225"/>
              </a:spcBef>
              <a:buClr>
                <a:srgbClr val="4F81BD"/>
              </a:buClr>
              <a:defRPr/>
            </a:pPr>
            <a:endParaRPr lang="ru-RU" sz="900" dirty="0"/>
          </a:p>
        </p:txBody>
      </p:sp>
      <p:sp>
        <p:nvSpPr>
          <p:cNvPr id="11" name="Rectangle 10"/>
          <p:cNvSpPr/>
          <p:nvPr/>
        </p:nvSpPr>
        <p:spPr>
          <a:xfrm>
            <a:off x="1809824" y="3389444"/>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18686" y="1012639"/>
            <a:ext cx="822597" cy="300082"/>
          </a:xfrm>
          <a:prstGeom prst="rect">
            <a:avLst/>
          </a:prstGeom>
          <a:noFill/>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Objectifs</a:t>
            </a: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2</a:t>
              </a:r>
              <a:r>
                <a:rPr lang="fr-FR" sz="900" dirty="0" smtClean="0">
                  <a:solidFill>
                    <a:schemeClr val="tx1"/>
                  </a:solidFill>
                  <a:latin typeface="Arial" pitchFamily="34" charset="0"/>
                  <a:cs typeface="Arial" pitchFamily="34" charset="0"/>
                </a:rPr>
                <a:t> </a:t>
              </a:r>
              <a:r>
                <a:rPr lang="fr-FR" sz="900" dirty="0">
                  <a:solidFill>
                    <a:schemeClr val="tx1"/>
                  </a:solidFill>
                  <a:latin typeface="Arial" pitchFamily="34" charset="0"/>
                  <a:cs typeface="Arial" pitchFamily="34" charset="0"/>
                </a:rPr>
                <a:t>Heures</a:t>
              </a: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eaLnBrk="0" hangingPunct="0">
                <a:spcBef>
                  <a:spcPts val="225"/>
                </a:spcBef>
                <a:buClr>
                  <a:srgbClr val="4F81BD"/>
                </a:buClr>
                <a:defRPr/>
              </a:pPr>
              <a:endParaRPr lang="fr-FR" sz="900" dirty="0" smtClean="0">
                <a:solidFill>
                  <a:schemeClr val="tx1"/>
                </a:solidFill>
                <a:latin typeface="Arial" pitchFamily="34" charset="0"/>
                <a:cs typeface="Arial" pitchFamily="34" charset="0"/>
              </a:endParaRP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Comptables fournisseurs</a:t>
              </a: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endParaRPr lang="fr-FR" sz="900" dirty="0">
                <a:solidFill>
                  <a:schemeClr val="tx1"/>
                </a:solidFill>
                <a:latin typeface="Arial" pitchFamily="34" charset="0"/>
                <a:cs typeface="Arial" pitchFamily="34" charset="0"/>
              </a:endParaRP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re 2"/>
          <p:cNvSpPr>
            <a:spLocks noGrp="1"/>
          </p:cNvSpPr>
          <p:nvPr>
            <p:ph type="title"/>
          </p:nvPr>
        </p:nvSpPr>
        <p:spPr/>
        <p:txBody>
          <a:bodyPr>
            <a:normAutofit/>
          </a:bodyPr>
          <a:lstStyle/>
          <a:p>
            <a:r>
              <a:rPr lang="fr-FR" altLang="en-US" dirty="0"/>
              <a:t>Agenda : 2h00</a:t>
            </a:r>
            <a:endParaRPr lang="en-US" altLang="en-US" dirty="0"/>
          </a:p>
        </p:txBody>
      </p:sp>
      <p:graphicFrame>
        <p:nvGraphicFramePr>
          <p:cNvPr id="6" name="Espace réservé du contenu 5"/>
          <p:cNvGraphicFramePr>
            <a:graphicFrameLocks noGrp="1"/>
          </p:cNvGraphicFramePr>
          <p:nvPr>
            <p:ph idx="1"/>
            <p:extLst>
              <p:ext uri="{D42A27DB-BD31-4B8C-83A1-F6EECF244321}">
                <p14:modId xmlns:p14="http://schemas.microsoft.com/office/powerpoint/2010/main" val="2393497328"/>
              </p:ext>
            </p:extLst>
          </p:nvPr>
        </p:nvGraphicFramePr>
        <p:xfrm>
          <a:off x="2758033" y="1291506"/>
          <a:ext cx="3627934" cy="1967902"/>
        </p:xfrm>
        <a:graphic>
          <a:graphicData uri="http://schemas.openxmlformats.org/drawingml/2006/table">
            <a:tbl>
              <a:tblPr firstRow="1" bandRow="1">
                <a:tableStyleId>{5C22544A-7EE6-4342-B048-85BDC9FD1C3A}</a:tableStyleId>
              </a:tblPr>
              <a:tblGrid>
                <a:gridCol w="1125910"/>
                <a:gridCol w="2502024"/>
              </a:tblGrid>
              <a:tr h="309310">
                <a:tc>
                  <a:txBody>
                    <a:bodyPr/>
                    <a:lstStyle/>
                    <a:p>
                      <a:pPr algn="ctr"/>
                      <a:r>
                        <a:rPr lang="fr-FR" sz="900" dirty="0" smtClean="0"/>
                        <a:t>Horaire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c>
                  <a:txBody>
                    <a:bodyPr/>
                    <a:lstStyle/>
                    <a:p>
                      <a:pPr algn="ctr">
                        <a:lnSpc>
                          <a:spcPct val="100000"/>
                        </a:lnSpc>
                        <a:spcBef>
                          <a:spcPts val="0"/>
                        </a:spcBef>
                        <a:spcAft>
                          <a:spcPts val="0"/>
                        </a:spcAft>
                      </a:pPr>
                      <a:r>
                        <a:rPr lang="fr-FR" sz="900" dirty="0" smtClean="0"/>
                        <a:t>Agenda Matinée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r>
              <a:tr h="436472">
                <a:tc>
                  <a:txBody>
                    <a:bodyPr/>
                    <a:lstStyle/>
                    <a:p>
                      <a:pPr algn="ctr"/>
                      <a:r>
                        <a:rPr lang="fr-FR" sz="900" dirty="0" smtClean="0"/>
                        <a:t>8h00 – 8h15</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c>
                  <a:txBody>
                    <a:bodyPr/>
                    <a:lstStyle/>
                    <a:p>
                      <a:pPr>
                        <a:lnSpc>
                          <a:spcPct val="100000"/>
                        </a:lnSpc>
                        <a:spcBef>
                          <a:spcPts val="0"/>
                        </a:spcBef>
                        <a:spcAft>
                          <a:spcPts val="0"/>
                        </a:spcAft>
                      </a:pPr>
                      <a:r>
                        <a:rPr lang="fr-FR" sz="900" dirty="0" smtClean="0"/>
                        <a:t>Accueil / Introduction : 5 min</a:t>
                      </a:r>
                    </a:p>
                    <a:p>
                      <a:pPr>
                        <a:lnSpc>
                          <a:spcPct val="100000"/>
                        </a:lnSpc>
                        <a:spcBef>
                          <a:spcPts val="0"/>
                        </a:spcBef>
                        <a:spcAft>
                          <a:spcPts val="0"/>
                        </a:spcAft>
                      </a:pPr>
                      <a:r>
                        <a:rPr lang="fr-FR" sz="900" dirty="0" smtClean="0"/>
                        <a:t>Présentation du processus : 10 min</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r>
              <a:tr h="611060">
                <a:tc>
                  <a:txBody>
                    <a:bodyPr/>
                    <a:lstStyle/>
                    <a:p>
                      <a:pPr algn="ctr"/>
                      <a:r>
                        <a:rPr lang="fr-FR" sz="900" dirty="0" smtClean="0"/>
                        <a:t>8h15 – 9h35</a:t>
                      </a:r>
                      <a:endParaRPr lang="fr-FR" sz="900" dirty="0" smtClean="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a:lnSpc>
                          <a:spcPct val="100000"/>
                        </a:lnSpc>
                        <a:spcBef>
                          <a:spcPts val="0"/>
                        </a:spcBef>
                        <a:spcAft>
                          <a:spcPts val="0"/>
                        </a:spcAft>
                      </a:pPr>
                      <a:r>
                        <a:rPr lang="fr-FR" sz="900" dirty="0" smtClean="0"/>
                        <a:t>La représentation des</a:t>
                      </a:r>
                      <a:r>
                        <a:rPr lang="fr-FR" sz="900" baseline="0" dirty="0" smtClean="0"/>
                        <a:t> processus</a:t>
                      </a:r>
                      <a:endParaRPr lang="fr-FR" sz="900" dirty="0" smtClean="0"/>
                    </a:p>
                    <a:p>
                      <a:pPr marL="177800" indent="-177800">
                        <a:lnSpc>
                          <a:spcPct val="100000"/>
                        </a:lnSpc>
                        <a:spcBef>
                          <a:spcPts val="0"/>
                        </a:spcBef>
                        <a:spcAft>
                          <a:spcPts val="0"/>
                        </a:spcAft>
                        <a:buFont typeface="Arial" pitchFamily="34" charset="0"/>
                        <a:buChar char="•"/>
                      </a:pPr>
                      <a:r>
                        <a:rPr lang="fr-FR" sz="900" dirty="0" smtClean="0"/>
                        <a:t>Présentation : 30 min</a:t>
                      </a:r>
                    </a:p>
                    <a:p>
                      <a:pPr marL="177800" indent="-177800">
                        <a:lnSpc>
                          <a:spcPct val="100000"/>
                        </a:lnSpc>
                        <a:spcBef>
                          <a:spcPts val="0"/>
                        </a:spcBef>
                        <a:spcAft>
                          <a:spcPts val="0"/>
                        </a:spcAft>
                        <a:buFont typeface="Arial" pitchFamily="34" charset="0"/>
                        <a:buChar char="•"/>
                      </a:pPr>
                      <a:r>
                        <a:rPr lang="fr-FR" sz="900" dirty="0" smtClean="0"/>
                        <a:t>Exercice dirigé</a:t>
                      </a:r>
                      <a:r>
                        <a:rPr lang="fr-FR" sz="900" baseline="0" dirty="0" smtClean="0"/>
                        <a:t> : 50 min</a:t>
                      </a:r>
                      <a:endParaRPr lang="fr-FR" sz="900" baseline="0" dirty="0" smtClean="0">
                        <a:solidFill>
                          <a:schemeClr val="bg1"/>
                        </a:solidFill>
                        <a:latin typeface="Arial" pitchFamily="34" charset="0"/>
                        <a:cs typeface="Arial" pitchFamily="34" charset="0"/>
                      </a:endParaRPr>
                    </a:p>
                  </a:txBody>
                  <a:tcPr marL="68566" marR="68566" marT="34292" marB="34292" anchor="ctr">
                    <a:solidFill>
                      <a:srgbClr val="F3F4FF"/>
                    </a:solidFill>
                  </a:tcPr>
                </a:tc>
              </a:tr>
              <a:tr h="611060">
                <a:tc>
                  <a:txBody>
                    <a:bodyPr/>
                    <a:lstStyle/>
                    <a:p>
                      <a:pPr algn="ctr"/>
                      <a:r>
                        <a:rPr lang="fr-FR" sz="900" dirty="0" smtClean="0"/>
                        <a:t>9h35 – 10h00</a:t>
                      </a:r>
                      <a:endParaRPr lang="en-US" sz="900" dirty="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marL="177800" indent="-177800">
                        <a:lnSpc>
                          <a:spcPct val="100000"/>
                        </a:lnSpc>
                        <a:spcBef>
                          <a:spcPts val="0"/>
                        </a:spcBef>
                        <a:spcAft>
                          <a:spcPts val="0"/>
                        </a:spcAft>
                        <a:buFont typeface="Arial" pitchFamily="34" charset="0"/>
                        <a:buNone/>
                      </a:pPr>
                      <a:r>
                        <a:rPr lang="fr-FR" sz="900" baseline="0" dirty="0" smtClean="0"/>
                        <a:t>Question et libre échange </a:t>
                      </a:r>
                    </a:p>
                  </a:txBody>
                  <a:tcPr marL="68566" marR="68566" marT="34292" marB="34292" anchor="ctr">
                    <a:solidFill>
                      <a:srgbClr val="F3F4FF"/>
                    </a:solidFill>
                  </a:tcPr>
                </a:tc>
              </a:tr>
            </a:tbl>
          </a:graphicData>
        </a:graphic>
      </p:graphicFrame>
      <p:pic>
        <p:nvPicPr>
          <p:cNvPr id="5" name="Image 4"/>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468173" y="1953491"/>
            <a:ext cx="2120785" cy="2392972"/>
          </a:xfrm>
          <a:prstGeom prst="rect">
            <a:avLst/>
          </a:prstGeom>
        </p:spPr>
      </p:pic>
    </p:spTree>
    <p:extLst>
      <p:ext uri="{BB962C8B-B14F-4D97-AF65-F5344CB8AC3E}">
        <p14:creationId xmlns:p14="http://schemas.microsoft.com/office/powerpoint/2010/main" val="41803714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a:t>
            </a:r>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des </a:t>
            </a:r>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processus </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Modes opératoires</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5</a:t>
            </a:fld>
            <a:endParaRPr lang="fr-FR" altLang="en-US" sz="750"/>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700" dirty="0" smtClean="0">
                <a:cs typeface="Arial" panose="020B0604020202020204" pitchFamily="34" charset="0"/>
              </a:rPr>
              <a:t>Description du processus saisie d’une facture fournisseur en référence à une commande d’achat 1/2</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411726"/>
          </a:xfrm>
        </p:spPr>
        <p:txBody>
          <a:bodyPr/>
          <a:lstStyle/>
          <a:p>
            <a:r>
              <a:rPr lang="fr-FR" dirty="0"/>
              <a:t>Il s’agit ici de toutes les factures saisies dans le SAP sur la base d’une commande. Cela peut concerner soit une prestation de service ou la livraison de matière.</a:t>
            </a:r>
          </a:p>
          <a:p>
            <a:r>
              <a:rPr lang="fr-FR" dirty="0"/>
              <a:t>En ce qui concerne la prestation de service, avant la confirmation de l’enregistrement et la comptabilisation de la facture, une vérification est faite par le comptable entre la facture saisie dans SAP (en se basant sur les lignes de commande) et la facture papier envoyée par le fournisseur. </a:t>
            </a:r>
          </a:p>
          <a:p>
            <a:r>
              <a:rPr lang="fr-FR" dirty="0"/>
              <a:t>Si un écart apparait lors de cette vérification, la facture est préenregistrée (la comptabilisation est suspendue) en attendant la résolution de l’écart.  </a:t>
            </a:r>
          </a:p>
          <a:p>
            <a:r>
              <a:rPr lang="fr-FR" dirty="0"/>
              <a:t>En ce qui concerne la facture de livraison de matière, la facture est contrôlée par le service comptabilité avant sa saisie dans SAP. L’objectif du contrôle est vérifier les écarts en quantité et en valeur entre le entrées de marchandise et la facture.  </a:t>
            </a:r>
          </a:p>
          <a:p>
            <a:r>
              <a:rPr lang="fr-FR" dirty="0"/>
              <a:t>En cas d’écart (de quantité ou de prix) entre la réception et la facture papier, la facture n’est pas saisie dans le système. Le service comptabilité contacte par conséquence le service logistique pour clarification. 2 cas sont envisageables : </a:t>
            </a:r>
          </a:p>
          <a:p>
            <a:pPr marL="171450" lvl="0" indent="-171450">
              <a:buClr>
                <a:srgbClr val="0070C0"/>
              </a:buClr>
              <a:buSzPct val="100000"/>
              <a:buFont typeface="Arial" panose="020B0604020202020204" pitchFamily="34" charset="0"/>
              <a:buChar char="•"/>
            </a:pPr>
            <a:r>
              <a:rPr lang="fr-FR" dirty="0"/>
              <a:t>La commande ou réception saisie dans le système est erronée </a:t>
            </a:r>
          </a:p>
          <a:p>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6</a:t>
            </a:fld>
            <a:endParaRPr lang="fr-FR" altLang="en-US" sz="750">
              <a:solidFill>
                <a:srgbClr val="000000"/>
              </a:solidFill>
            </a:endParaRPr>
          </a:p>
        </p:txBody>
      </p:sp>
    </p:spTree>
    <p:extLst>
      <p:ext uri="{BB962C8B-B14F-4D97-AF65-F5344CB8AC3E}">
        <p14:creationId xmlns:p14="http://schemas.microsoft.com/office/powerpoint/2010/main" val="1521381538"/>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700" dirty="0" smtClean="0">
                <a:cs typeface="Arial" panose="020B0604020202020204" pitchFamily="34" charset="0"/>
              </a:rPr>
              <a:t>Description du processus saisie d’une facture fournisseur en référence à une commande 2/2</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411726"/>
          </a:xfrm>
        </p:spPr>
        <p:txBody>
          <a:bodyPr/>
          <a:lstStyle/>
          <a:p>
            <a:pPr marL="171450" lvl="0" indent="-171450">
              <a:buClr>
                <a:srgbClr val="0070C0"/>
              </a:buClr>
              <a:buSzPct val="100000"/>
              <a:buFont typeface="Arial" panose="020B0604020202020204" pitchFamily="34" charset="0"/>
              <a:buChar char="•"/>
            </a:pPr>
            <a:r>
              <a:rPr lang="fr-FR" dirty="0"/>
              <a:t>Erreur de facturation du fournisseur =&gt; La facture est retournée au fournisseur pour correction. </a:t>
            </a:r>
            <a:endParaRPr lang="fr-FR" dirty="0" smtClean="0"/>
          </a:p>
          <a:p>
            <a:pPr>
              <a:buClr>
                <a:srgbClr val="0070C0"/>
              </a:buClr>
              <a:buSzPct val="100000"/>
            </a:pPr>
            <a:r>
              <a:rPr lang="fr-FR" dirty="0"/>
              <a:t>Dans le cas où il n’y a pas d’écart, la facture est comptabilisée via la transaction MIRO et génère une pièce de  type « RE » : Facture </a:t>
            </a:r>
            <a:r>
              <a:rPr lang="fr-FR" dirty="0" smtClean="0"/>
              <a:t>Fournisseurs. </a:t>
            </a:r>
            <a:endParaRPr lang="fr-FR" dirty="0"/>
          </a:p>
          <a:p>
            <a:pPr lvl="0">
              <a:buClr>
                <a:srgbClr val="0070C0"/>
              </a:buClr>
              <a:buSzPct val="100000"/>
            </a:pPr>
            <a:endParaRPr lang="fr-FR" dirty="0"/>
          </a:p>
          <a:p>
            <a:pPr marL="171450" lvl="0" indent="-171450">
              <a:buClr>
                <a:srgbClr val="0070C0"/>
              </a:buClr>
              <a:buSzPct val="100000"/>
              <a:buFont typeface="Arial" panose="020B0604020202020204" pitchFamily="34" charset="0"/>
              <a:buChar char="•"/>
            </a:pPr>
            <a:endParaRPr lang="fr-FR" dirty="0"/>
          </a:p>
          <a:p>
            <a:pPr marL="171450" indent="-171450">
              <a:buClr>
                <a:srgbClr val="0070C0"/>
              </a:buClr>
              <a:buSzPct val="100000"/>
              <a:buFont typeface="Arial" panose="020B0604020202020204" pitchFamily="34" charset="0"/>
              <a:buChar char="•"/>
            </a:pPr>
            <a:endParaRPr lang="fr-FR" dirty="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7</a:t>
            </a:fld>
            <a:endParaRPr lang="fr-FR" altLang="en-US" sz="750">
              <a:solidFill>
                <a:srgbClr val="000000"/>
              </a:solidFill>
            </a:endParaRPr>
          </a:p>
        </p:txBody>
      </p:sp>
    </p:spTree>
    <p:extLst>
      <p:ext uri="{BB962C8B-B14F-4D97-AF65-F5344CB8AC3E}">
        <p14:creationId xmlns:p14="http://schemas.microsoft.com/office/powerpoint/2010/main" val="3236775068"/>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700" dirty="0" smtClean="0">
                <a:cs typeface="Arial" panose="020B0604020202020204" pitchFamily="34" charset="0"/>
              </a:rPr>
              <a:t>Description du processus saisie d’une facture fournisseur sans référence à une commande d’achat</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411726"/>
          </a:xfrm>
        </p:spPr>
        <p:txBody>
          <a:bodyPr/>
          <a:lstStyle/>
          <a:p>
            <a:r>
              <a:rPr lang="fr-FR" dirty="0"/>
              <a:t>La CBG a une liste des catégories d’achats autorisées qui peuvent être facturés sans commande : </a:t>
            </a:r>
            <a:endParaRPr lang="ru-RU" dirty="0"/>
          </a:p>
          <a:p>
            <a:pPr marL="72000" indent="-171450">
              <a:spcBef>
                <a:spcPts val="0"/>
              </a:spcBef>
              <a:buClr>
                <a:srgbClr val="4F81BD"/>
              </a:buClr>
              <a:buSzPct val="100000"/>
              <a:buFont typeface="Arial" panose="020B0604020202020204" pitchFamily="34" charset="0"/>
              <a:buChar char="•"/>
            </a:pPr>
            <a:r>
              <a:rPr lang="fr-FR" dirty="0">
                <a:ea typeface="ＭＳ Ｐゴシック" panose="020B0600070205080204" pitchFamily="34" charset="-128"/>
                <a:cs typeface="Arial" panose="020B0604020202020204" pitchFamily="34" charset="0"/>
              </a:rPr>
              <a:t>Telecom, frais postaux </a:t>
            </a:r>
            <a:endParaRPr lang="ru-RU" dirty="0">
              <a:ea typeface="ＭＳ Ｐゴシック" panose="020B0600070205080204" pitchFamily="34" charset="-128"/>
              <a:cs typeface="Arial" panose="020B0604020202020204" pitchFamily="34" charset="0"/>
            </a:endParaRPr>
          </a:p>
          <a:p>
            <a:pPr marL="72000" indent="-171450">
              <a:spcBef>
                <a:spcPts val="0"/>
              </a:spcBef>
              <a:buClr>
                <a:srgbClr val="4F81BD"/>
              </a:buClr>
              <a:buSzPct val="100000"/>
              <a:buFont typeface="Arial" panose="020B0604020202020204" pitchFamily="34" charset="0"/>
              <a:buChar char="•"/>
            </a:pPr>
            <a:r>
              <a:rPr lang="fr-FR" dirty="0">
                <a:ea typeface="ＭＳ Ｐゴシック" panose="020B0600070205080204" pitchFamily="34" charset="-128"/>
                <a:cs typeface="Arial" panose="020B0604020202020204" pitchFamily="34" charset="0"/>
              </a:rPr>
              <a:t>Energies, fluides non quantifiables à l’avance </a:t>
            </a:r>
            <a:endParaRPr lang="ru-RU" dirty="0">
              <a:ea typeface="ＭＳ Ｐゴシック" panose="020B0600070205080204" pitchFamily="34" charset="-128"/>
              <a:cs typeface="Arial" panose="020B0604020202020204" pitchFamily="34" charset="0"/>
            </a:endParaRPr>
          </a:p>
          <a:p>
            <a:pPr marL="72000" indent="-171450">
              <a:spcBef>
                <a:spcPts val="0"/>
              </a:spcBef>
              <a:buClr>
                <a:srgbClr val="4F81BD"/>
              </a:buClr>
              <a:buSzPct val="100000"/>
              <a:buFont typeface="Arial" panose="020B0604020202020204" pitchFamily="34" charset="0"/>
              <a:buChar char="•"/>
            </a:pPr>
            <a:r>
              <a:rPr lang="fr-FR" dirty="0">
                <a:ea typeface="ＭＳ Ｐゴシック" panose="020B0600070205080204" pitchFamily="34" charset="-128"/>
                <a:cs typeface="Arial" panose="020B0604020202020204" pitchFamily="34" charset="0"/>
              </a:rPr>
              <a:t>Voyages, déplacements (notes de frais)</a:t>
            </a:r>
            <a:endParaRPr lang="ru-RU" dirty="0">
              <a:ea typeface="ＭＳ Ｐゴシック" panose="020B0600070205080204" pitchFamily="34" charset="-128"/>
              <a:cs typeface="Arial" panose="020B0604020202020204" pitchFamily="34" charset="0"/>
            </a:endParaRPr>
          </a:p>
          <a:p>
            <a:pPr marL="72000" indent="-171450">
              <a:spcBef>
                <a:spcPts val="0"/>
              </a:spcBef>
              <a:buClr>
                <a:srgbClr val="4F81BD"/>
              </a:buClr>
              <a:buSzPct val="100000"/>
              <a:buFont typeface="Arial" panose="020B0604020202020204" pitchFamily="34" charset="0"/>
              <a:buChar char="•"/>
            </a:pPr>
            <a:r>
              <a:rPr lang="fr-FR" dirty="0">
                <a:ea typeface="ＭＳ Ｐゴシック" panose="020B0600070205080204" pitchFamily="34" charset="-128"/>
                <a:cs typeface="Arial" panose="020B0604020202020204" pitchFamily="34" charset="0"/>
              </a:rPr>
              <a:t>Assurances</a:t>
            </a:r>
            <a:endParaRPr lang="ru-RU" dirty="0">
              <a:ea typeface="ＭＳ Ｐゴシック" panose="020B0600070205080204" pitchFamily="34" charset="-128"/>
              <a:cs typeface="Arial" panose="020B0604020202020204" pitchFamily="34" charset="0"/>
            </a:endParaRPr>
          </a:p>
          <a:p>
            <a:pPr marL="72000" indent="-171450">
              <a:spcBef>
                <a:spcPts val="0"/>
              </a:spcBef>
              <a:buClr>
                <a:srgbClr val="4F81BD"/>
              </a:buClr>
              <a:buSzPct val="100000"/>
              <a:buFont typeface="Arial" panose="020B0604020202020204" pitchFamily="34" charset="0"/>
              <a:buChar char="•"/>
            </a:pPr>
            <a:r>
              <a:rPr lang="fr-FR" dirty="0">
                <a:ea typeface="ＭＳ Ｐゴシック" panose="020B0600070205080204" pitchFamily="34" charset="-128"/>
                <a:cs typeface="Arial" panose="020B0604020202020204" pitchFamily="34" charset="0"/>
              </a:rPr>
              <a:t>Loyers immobiliers et charges immeubles (certains loyers (ex : loyers des dispensaires) sont sur contrat et commande)</a:t>
            </a:r>
            <a:endParaRPr lang="ru-RU" dirty="0">
              <a:ea typeface="ＭＳ Ｐゴシック" panose="020B0600070205080204" pitchFamily="34" charset="-128"/>
              <a:cs typeface="Arial" panose="020B0604020202020204" pitchFamily="34" charset="0"/>
            </a:endParaRPr>
          </a:p>
          <a:p>
            <a:pPr marL="72000" indent="-171450">
              <a:spcBef>
                <a:spcPts val="0"/>
              </a:spcBef>
              <a:buClr>
                <a:srgbClr val="4F81BD"/>
              </a:buClr>
              <a:buSzPct val="100000"/>
              <a:buFont typeface="Arial" panose="020B0604020202020204" pitchFamily="34" charset="0"/>
              <a:buChar char="•"/>
            </a:pPr>
            <a:r>
              <a:rPr lang="fr-FR" dirty="0">
                <a:ea typeface="ＭＳ Ｐゴシック" panose="020B0600070205080204" pitchFamily="34" charset="-128"/>
                <a:cs typeface="Arial" panose="020B0604020202020204" pitchFamily="34" charset="0"/>
              </a:rPr>
              <a:t>Hôtels et restaurants </a:t>
            </a:r>
            <a:endParaRPr lang="ru-RU" dirty="0">
              <a:ea typeface="ＭＳ Ｐゴシック" panose="020B0600070205080204" pitchFamily="34" charset="-128"/>
              <a:cs typeface="Arial" panose="020B0604020202020204" pitchFamily="34" charset="0"/>
            </a:endParaRPr>
          </a:p>
          <a:p>
            <a:pPr marL="72000" indent="-171450">
              <a:spcBef>
                <a:spcPts val="0"/>
              </a:spcBef>
              <a:buClr>
                <a:srgbClr val="4F81BD"/>
              </a:buClr>
              <a:buSzPct val="100000"/>
              <a:buFont typeface="Arial" panose="020B0604020202020204" pitchFamily="34" charset="0"/>
              <a:buChar char="•"/>
            </a:pPr>
            <a:r>
              <a:rPr lang="fr-FR" dirty="0">
                <a:ea typeface="ＭＳ Ｐゴシック" panose="020B0600070205080204" pitchFamily="34" charset="-128"/>
                <a:cs typeface="Arial" panose="020B0604020202020204" pitchFamily="34" charset="0"/>
              </a:rPr>
              <a:t>Cliniques, pharmacies et les spécialistes </a:t>
            </a:r>
            <a:endParaRPr lang="ru-RU" dirty="0">
              <a:ea typeface="ＭＳ Ｐゴシック" panose="020B0600070205080204" pitchFamily="34" charset="-128"/>
              <a:cs typeface="Arial" panose="020B0604020202020204" pitchFamily="34" charset="0"/>
            </a:endParaRPr>
          </a:p>
          <a:p>
            <a:pPr marL="72000" indent="-171450">
              <a:spcBef>
                <a:spcPts val="0"/>
              </a:spcBef>
              <a:buClr>
                <a:srgbClr val="4F81BD"/>
              </a:buClr>
              <a:buSzPct val="100000"/>
              <a:buFont typeface="Arial" panose="020B0604020202020204" pitchFamily="34" charset="0"/>
              <a:buChar char="•"/>
            </a:pPr>
            <a:r>
              <a:rPr lang="fr-FR" dirty="0">
                <a:ea typeface="ＭＳ Ｐゴシック" panose="020B0600070205080204" pitchFamily="34" charset="-128"/>
                <a:cs typeface="Arial" panose="020B0604020202020204" pitchFamily="34" charset="0"/>
              </a:rPr>
              <a:t>Visas, permis de travail, permis de conduire…</a:t>
            </a:r>
            <a:endParaRPr lang="ru-RU" dirty="0">
              <a:ea typeface="ＭＳ Ｐゴシック" panose="020B0600070205080204" pitchFamily="34" charset="-128"/>
              <a:cs typeface="Arial" panose="020B0604020202020204" pitchFamily="34" charset="0"/>
            </a:endParaRPr>
          </a:p>
          <a:p>
            <a:r>
              <a:rPr lang="fr-FR" dirty="0" smtClean="0"/>
              <a:t>Dans </a:t>
            </a:r>
            <a:r>
              <a:rPr lang="fr-FR" dirty="0"/>
              <a:t>une 1</a:t>
            </a:r>
            <a:r>
              <a:rPr lang="fr-FR" baseline="30000" dirty="0"/>
              <a:t>er</a:t>
            </a:r>
            <a:r>
              <a:rPr lang="fr-FR" dirty="0"/>
              <a:t> temps, le service comptabilité reçu la facture papier. La facture </a:t>
            </a:r>
            <a:r>
              <a:rPr lang="fr-FR" dirty="0" smtClean="0"/>
              <a:t>fournisseur est saisie. Il est possible de rattacher la facture en pièce jointe dans SAP afin de permettre aux différents approbateurs de la visualiser. </a:t>
            </a:r>
            <a:endParaRPr lang="ru-RU" dirty="0"/>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8</a:t>
            </a:fld>
            <a:endParaRPr lang="fr-FR" altLang="en-US" sz="750">
              <a:solidFill>
                <a:srgbClr val="000000"/>
              </a:solidFill>
            </a:endParaRPr>
          </a:p>
        </p:txBody>
      </p:sp>
    </p:spTree>
    <p:extLst>
      <p:ext uri="{BB962C8B-B14F-4D97-AF65-F5344CB8AC3E}">
        <p14:creationId xmlns:p14="http://schemas.microsoft.com/office/powerpoint/2010/main" val="1736485851"/>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700" dirty="0" smtClean="0">
                <a:cs typeface="Arial" panose="020B0604020202020204" pitchFamily="34" charset="0"/>
              </a:rPr>
              <a:t>Description du processus saisie</a:t>
            </a:r>
            <a:r>
              <a:rPr lang="fr-FR" altLang="en-US" sz="2800" dirty="0" smtClean="0">
                <a:cs typeface="Arial" panose="020B0604020202020204" pitchFamily="34" charset="0"/>
              </a:rPr>
              <a:t> </a:t>
            </a:r>
            <a:r>
              <a:rPr lang="fr-FR" altLang="en-US" sz="2800" dirty="0">
                <a:cs typeface="Arial" panose="020B0604020202020204" pitchFamily="34" charset="0"/>
              </a:rPr>
              <a:t>d’un avoir fournisseur</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411726"/>
          </a:xfrm>
        </p:spPr>
        <p:txBody>
          <a:bodyPr/>
          <a:lstStyle/>
          <a:p>
            <a:pPr>
              <a:buClr>
                <a:srgbClr val="0070C0"/>
              </a:buClr>
              <a:buSzPct val="100000"/>
            </a:pPr>
            <a:r>
              <a:rPr lang="fr-FR" dirty="0"/>
              <a:t>Les écarts (quantité/prix) constatés au niveau d’une facture (par rapport à la réception/commande) peuvent </a:t>
            </a:r>
            <a:r>
              <a:rPr lang="fr-FR" dirty="0" smtClean="0"/>
              <a:t>donner lieu à l’établissement d’avoir qui vient en diminution de la dette de a CBG envers ses fournisseurs. </a:t>
            </a:r>
            <a:endParaRPr lang="fr-FR" dirty="0"/>
          </a:p>
          <a:p>
            <a:pPr lvl="0">
              <a:buClr>
                <a:srgbClr val="0070C0"/>
              </a:buClr>
              <a:buSzPct val="100000"/>
            </a:pPr>
            <a:endParaRPr lang="fr-FR" dirty="0"/>
          </a:p>
          <a:p>
            <a:pPr marL="171450" lvl="0" indent="-171450">
              <a:buClr>
                <a:srgbClr val="0070C0"/>
              </a:buClr>
              <a:buSzPct val="100000"/>
              <a:buFont typeface="Arial" panose="020B0604020202020204" pitchFamily="34" charset="0"/>
              <a:buChar char="•"/>
            </a:pPr>
            <a:endParaRPr lang="fr-FR" dirty="0"/>
          </a:p>
          <a:p>
            <a:pPr marL="171450" indent="-171450">
              <a:buClr>
                <a:srgbClr val="0070C0"/>
              </a:buClr>
              <a:buSzPct val="100000"/>
              <a:buFont typeface="Arial" panose="020B0604020202020204" pitchFamily="34" charset="0"/>
              <a:buChar char="•"/>
            </a:pPr>
            <a:endParaRPr lang="fr-FR" dirty="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9</a:t>
            </a:fld>
            <a:endParaRPr lang="fr-FR" altLang="en-US" sz="750">
              <a:solidFill>
                <a:srgbClr val="000000"/>
              </a:solidFill>
            </a:endParaRPr>
          </a:p>
        </p:txBody>
      </p:sp>
    </p:spTree>
    <p:extLst>
      <p:ext uri="{BB962C8B-B14F-4D97-AF65-F5344CB8AC3E}">
        <p14:creationId xmlns:p14="http://schemas.microsoft.com/office/powerpoint/2010/main" val="1646601071"/>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Modes opératoires</a:t>
            </a:r>
            <a:endPar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 </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10</a:t>
            </a:fld>
            <a:endParaRPr lang="fr-FR" altLang="en-US" sz="750"/>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mode opératoire dans SAP</a:t>
            </a:r>
            <a:endParaRPr lang="en-US" altLang="en-US" dirty="0" smtClean="0"/>
          </a:p>
        </p:txBody>
      </p:sp>
      <p:sp>
        <p:nvSpPr>
          <p:cNvPr id="32792" name="Espace réservé du numéro de diapositive 33"/>
          <p:cNvSpPr>
            <a:spLocks noGrp="1"/>
          </p:cNvSpPr>
          <p:nvPr>
            <p:ph type="sldNum" sz="quarter" idx="11"/>
          </p:nvPr>
        </p:nvSpPr>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fld id="{1961261D-50EE-437A-BA51-3E7588D0C470}" type="slidenum">
              <a:rPr lang="fr-FR" altLang="en-US" smtClean="0">
                <a:solidFill>
                  <a:srgbClr val="4D4F53"/>
                </a:solidFill>
              </a:rPr>
              <a:pPr/>
              <a:t>11</a:t>
            </a:fld>
            <a:endParaRPr lang="fr-FR" altLang="en-US">
              <a:solidFill>
                <a:srgbClr val="4D4F53"/>
              </a:solidFill>
            </a:endParaRPr>
          </a:p>
        </p:txBody>
      </p:sp>
      <p:grpSp>
        <p:nvGrpSpPr>
          <p:cNvPr id="49" name="Groupe 48"/>
          <p:cNvGrpSpPr/>
          <p:nvPr/>
        </p:nvGrpSpPr>
        <p:grpSpPr>
          <a:xfrm>
            <a:off x="814126" y="2175754"/>
            <a:ext cx="1421605" cy="756917"/>
            <a:chOff x="1507778" y="2276353"/>
            <a:chExt cx="1258269" cy="754857"/>
          </a:xfrm>
        </p:grpSpPr>
        <p:sp>
          <p:nvSpPr>
            <p:cNvPr id="4" name="Rectangle 3"/>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prstClr val="white"/>
                  </a:solidFill>
                  <a:latin typeface="Arial" pitchFamily="34" charset="0"/>
                  <a:cs typeface="Arial" pitchFamily="34" charset="0"/>
                </a:rPr>
                <a:t>Afficher doc. Article / Créer </a:t>
              </a:r>
              <a:r>
                <a:rPr lang="fr-FR" sz="800" dirty="0" err="1" smtClean="0">
                  <a:solidFill>
                    <a:prstClr val="white"/>
                  </a:solidFill>
                  <a:latin typeface="Arial" pitchFamily="34" charset="0"/>
                  <a:cs typeface="Arial" pitchFamily="34" charset="0"/>
                </a:rPr>
                <a:t>fact</a:t>
              </a:r>
              <a:r>
                <a:rPr lang="fr-FR" sz="800" dirty="0" smtClean="0">
                  <a:solidFill>
                    <a:prstClr val="white"/>
                  </a:solidFill>
                  <a:latin typeface="Arial" pitchFamily="34" charset="0"/>
                  <a:cs typeface="Arial" pitchFamily="34" charset="0"/>
                </a:rPr>
                <a:t>. fournisseur</a:t>
              </a:r>
              <a:endParaRPr lang="en-US" sz="800" dirty="0">
                <a:solidFill>
                  <a:prstClr val="white"/>
                </a:solidFill>
                <a:latin typeface="Arial" pitchFamily="34" charset="0"/>
                <a:cs typeface="Arial" pitchFamily="34" charset="0"/>
              </a:endParaRPr>
            </a:p>
          </p:txBody>
        </p:sp>
        <p:sp>
          <p:nvSpPr>
            <p:cNvPr id="12" name="Rectangle 11"/>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a:solidFill>
                    <a:prstClr val="white"/>
                  </a:solidFill>
                  <a:latin typeface="Arial" panose="020B0604020202020204" pitchFamily="34" charset="0"/>
                  <a:cs typeface="Arial" panose="020B0604020202020204" pitchFamily="34" charset="0"/>
                </a:rPr>
                <a:t>MB03 / MIRO</a:t>
              </a:r>
              <a:endParaRPr lang="en-US" sz="800" b="1" dirty="0">
                <a:solidFill>
                  <a:prstClr val="white"/>
                </a:solidFill>
                <a:latin typeface="Arial" panose="020B0604020202020204" pitchFamily="34" charset="0"/>
                <a:cs typeface="Arial" panose="020B0604020202020204" pitchFamily="34" charset="0"/>
              </a:endParaRPr>
            </a:p>
          </p:txBody>
        </p:sp>
        <p:sp>
          <p:nvSpPr>
            <p:cNvPr id="13" name="Rectangle 1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rgbClr val="4D4F53">
                      <a:lumMod val="50000"/>
                    </a:srgbClr>
                  </a:solidFill>
                  <a:latin typeface="Arial" panose="020B0604020202020204" pitchFamily="34" charset="0"/>
                  <a:cs typeface="Arial" panose="020B0604020202020204" pitchFamily="34" charset="0"/>
                </a:rPr>
                <a:t>Comptable Fournisseurs</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grpSp>
        <p:nvGrpSpPr>
          <p:cNvPr id="2" name="Groupe 1"/>
          <p:cNvGrpSpPr/>
          <p:nvPr/>
        </p:nvGrpSpPr>
        <p:grpSpPr>
          <a:xfrm>
            <a:off x="275964" y="3270647"/>
            <a:ext cx="1076325" cy="1160860"/>
            <a:chOff x="610285" y="3065860"/>
            <a:chExt cx="1076325" cy="1160860"/>
          </a:xfrm>
        </p:grpSpPr>
        <p:sp>
          <p:nvSpPr>
            <p:cNvPr id="27" name="Rectangle 26"/>
            <p:cNvSpPr/>
            <p:nvPr/>
          </p:nvSpPr>
          <p:spPr bwMode="auto">
            <a:xfrm>
              <a:off x="736491" y="3319464"/>
              <a:ext cx="807244" cy="253603"/>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25" dirty="0">
                  <a:solidFill>
                    <a:prstClr val="white"/>
                  </a:solidFill>
                  <a:latin typeface="Arial" pitchFamily="34" charset="0"/>
                  <a:cs typeface="Arial" pitchFamily="34" charset="0"/>
                </a:rPr>
                <a:t>Action</a:t>
              </a:r>
              <a:endParaRPr lang="en-US" sz="825" dirty="0">
                <a:solidFill>
                  <a:prstClr val="white"/>
                </a:solidFill>
                <a:latin typeface="Arial" pitchFamily="34" charset="0"/>
                <a:cs typeface="Arial" pitchFamily="34" charset="0"/>
              </a:endParaRPr>
            </a:p>
          </p:txBody>
        </p:sp>
        <p:sp>
          <p:nvSpPr>
            <p:cNvPr id="28" name="Rectangle 27"/>
            <p:cNvSpPr/>
            <p:nvPr/>
          </p:nvSpPr>
          <p:spPr bwMode="auto">
            <a:xfrm>
              <a:off x="736491" y="3573067"/>
              <a:ext cx="807244" cy="167879"/>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b="1" dirty="0">
                  <a:solidFill>
                    <a:prstClr val="white"/>
                  </a:solidFill>
                  <a:latin typeface="Arial Narrow" pitchFamily="34" charset="0"/>
                </a:rPr>
                <a:t>Transaction SAP</a:t>
              </a:r>
              <a:endParaRPr lang="en-US" sz="675" b="1" dirty="0">
                <a:solidFill>
                  <a:prstClr val="white"/>
                </a:solidFill>
                <a:latin typeface="Arial Narrow" pitchFamily="34" charset="0"/>
              </a:endParaRPr>
            </a:p>
          </p:txBody>
        </p:sp>
        <p:sp>
          <p:nvSpPr>
            <p:cNvPr id="29" name="Rectangle 28"/>
            <p:cNvSpPr/>
            <p:nvPr/>
          </p:nvSpPr>
          <p:spPr bwMode="auto">
            <a:xfrm>
              <a:off x="736491" y="3740945"/>
              <a:ext cx="807244" cy="169069"/>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dirty="0" smtClean="0">
                  <a:solidFill>
                    <a:srgbClr val="4D4F53">
                      <a:lumMod val="50000"/>
                    </a:srgbClr>
                  </a:solidFill>
                  <a:latin typeface="Arial Narrow" pitchFamily="34" charset="0"/>
                </a:rPr>
                <a:t>Acteurs </a:t>
              </a:r>
              <a:endParaRPr lang="en-US" sz="675" dirty="0">
                <a:solidFill>
                  <a:srgbClr val="4D4F53">
                    <a:lumMod val="50000"/>
                  </a:srgbClr>
                </a:solidFill>
                <a:latin typeface="Arial Narrow" pitchFamily="34" charset="0"/>
              </a:endParaRPr>
            </a:p>
          </p:txBody>
        </p:sp>
        <p:sp>
          <p:nvSpPr>
            <p:cNvPr id="31" name="Rectangle 30"/>
            <p:cNvSpPr/>
            <p:nvPr/>
          </p:nvSpPr>
          <p:spPr bwMode="auto">
            <a:xfrm>
              <a:off x="1235272" y="3999310"/>
              <a:ext cx="184730" cy="219291"/>
            </a:xfrm>
            <a:prstGeom prst="rect">
              <a:avLst/>
            </a:prstGeom>
          </p:spPr>
          <p:txBody>
            <a:bodyPr wrap="none">
              <a:spAutoFit/>
            </a:bodyPr>
            <a:lstStyle/>
            <a:p>
              <a:pPr algn="ctr">
                <a:defRPr/>
              </a:pPr>
              <a:endParaRPr lang="en-US" sz="825" dirty="0">
                <a:solidFill>
                  <a:prstClr val="black"/>
                </a:solidFill>
                <a:latin typeface="Arial Narrow" pitchFamily="34" charset="0"/>
              </a:endParaRPr>
            </a:p>
          </p:txBody>
        </p:sp>
        <p:sp>
          <p:nvSpPr>
            <p:cNvPr id="32" name="Rectangle 31"/>
            <p:cNvSpPr/>
            <p:nvPr/>
          </p:nvSpPr>
          <p:spPr bwMode="auto">
            <a:xfrm>
              <a:off x="610285" y="3065860"/>
              <a:ext cx="1076325" cy="1160860"/>
            </a:xfrm>
            <a:prstGeom prst="rect">
              <a:avLst/>
            </a:prstGeom>
            <a:noFill/>
            <a:ln w="317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900" dirty="0">
                <a:solidFill>
                  <a:srgbClr val="4D4F53"/>
                </a:solidFill>
              </a:endParaRPr>
            </a:p>
          </p:txBody>
        </p:sp>
        <p:sp>
          <p:nvSpPr>
            <p:cNvPr id="33" name="Rectangle 32"/>
            <p:cNvSpPr/>
            <p:nvPr/>
          </p:nvSpPr>
          <p:spPr bwMode="auto">
            <a:xfrm>
              <a:off x="610285" y="3065860"/>
              <a:ext cx="1076325" cy="230832"/>
            </a:xfrm>
            <a:prstGeom prst="rect">
              <a:avLst/>
            </a:prstGeom>
          </p:spPr>
          <p:txBody>
            <a:bodyPr>
              <a:spAutoFit/>
            </a:bodyPr>
            <a:lstStyle/>
            <a:p>
              <a:pPr algn="ctr">
                <a:defRPr/>
              </a:pPr>
              <a:r>
                <a:rPr lang="fr-FR" sz="900" b="1" dirty="0">
                  <a:solidFill>
                    <a:prstClr val="black"/>
                  </a:solidFill>
                  <a:cs typeface="Arial" pitchFamily="34" charset="0"/>
                </a:rPr>
                <a:t>Légende</a:t>
              </a:r>
              <a:endParaRPr lang="en-US" sz="900" b="1" dirty="0">
                <a:solidFill>
                  <a:prstClr val="black"/>
                </a:solidFill>
                <a:cs typeface="Arial" pitchFamily="34" charset="0"/>
              </a:endParaRPr>
            </a:p>
          </p:txBody>
        </p:sp>
      </p:grpSp>
      <p:grpSp>
        <p:nvGrpSpPr>
          <p:cNvPr id="39" name="Groupe 38"/>
          <p:cNvGrpSpPr/>
          <p:nvPr/>
        </p:nvGrpSpPr>
        <p:grpSpPr>
          <a:xfrm>
            <a:off x="2565267" y="2160586"/>
            <a:ext cx="1296000" cy="756917"/>
            <a:chOff x="1507778" y="2274293"/>
            <a:chExt cx="1258269" cy="756917"/>
          </a:xfrm>
        </p:grpSpPr>
        <p:sp>
          <p:nvSpPr>
            <p:cNvPr id="40" name="Rectangle 39"/>
            <p:cNvSpPr/>
            <p:nvPr/>
          </p:nvSpPr>
          <p:spPr>
            <a:xfrm>
              <a:off x="1507778" y="227429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prstClr val="white"/>
                  </a:solidFill>
                  <a:latin typeface="Arial" pitchFamily="34" charset="0"/>
                  <a:cs typeface="Arial" pitchFamily="34" charset="0"/>
                </a:rPr>
                <a:t>Préenregistrer </a:t>
              </a:r>
              <a:r>
                <a:rPr lang="fr-FR" sz="800" dirty="0" err="1" smtClean="0">
                  <a:solidFill>
                    <a:prstClr val="white"/>
                  </a:solidFill>
                  <a:latin typeface="Arial" pitchFamily="34" charset="0"/>
                  <a:cs typeface="Arial" pitchFamily="34" charset="0"/>
                </a:rPr>
                <a:t>fact</a:t>
              </a:r>
              <a:r>
                <a:rPr lang="fr-FR" sz="800" dirty="0" smtClean="0">
                  <a:solidFill>
                    <a:prstClr val="white"/>
                  </a:solidFill>
                  <a:latin typeface="Arial" pitchFamily="34" charset="0"/>
                  <a:cs typeface="Arial" pitchFamily="34" charset="0"/>
                </a:rPr>
                <a:t>. Frs / Saisir pièce </a:t>
              </a:r>
              <a:r>
                <a:rPr lang="fr-FR" sz="800" dirty="0" err="1" smtClean="0">
                  <a:solidFill>
                    <a:prstClr val="white"/>
                  </a:solidFill>
                  <a:latin typeface="Arial" pitchFamily="34" charset="0"/>
                  <a:cs typeface="Arial" pitchFamily="34" charset="0"/>
                </a:rPr>
                <a:t>pré-enregistrée</a:t>
              </a:r>
              <a:r>
                <a:rPr lang="fr-FR" sz="800" dirty="0" smtClean="0">
                  <a:solidFill>
                    <a:prstClr val="white"/>
                  </a:solidFill>
                  <a:latin typeface="Arial" pitchFamily="34" charset="0"/>
                  <a:cs typeface="Arial" pitchFamily="34" charset="0"/>
                </a:rPr>
                <a:t> </a:t>
              </a:r>
              <a:endParaRPr lang="en-US" sz="800" dirty="0">
                <a:solidFill>
                  <a:prstClr val="white"/>
                </a:solidFill>
                <a:latin typeface="Arial" pitchFamily="34" charset="0"/>
                <a:cs typeface="Arial" pitchFamily="34" charset="0"/>
              </a:endParaRPr>
            </a:p>
          </p:txBody>
        </p:sp>
        <p:sp>
          <p:nvSpPr>
            <p:cNvPr id="41" name="Rectangle 40"/>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a:solidFill>
                    <a:prstClr val="white"/>
                  </a:solidFill>
                  <a:latin typeface="Arial" panose="020B0604020202020204" pitchFamily="34" charset="0"/>
                  <a:cs typeface="Arial" panose="020B0604020202020204" pitchFamily="34" charset="0"/>
                </a:rPr>
                <a:t>FV60 </a:t>
              </a:r>
              <a:r>
                <a:rPr lang="fr-FR" sz="800" b="1" dirty="0" smtClean="0">
                  <a:solidFill>
                    <a:prstClr val="white"/>
                  </a:solidFill>
                  <a:latin typeface="Arial" panose="020B0604020202020204" pitchFamily="34" charset="0"/>
                  <a:cs typeface="Arial" panose="020B0604020202020204" pitchFamily="34" charset="0"/>
                </a:rPr>
                <a:t>/ </a:t>
              </a:r>
              <a:r>
                <a:rPr lang="fr-FR" sz="800" b="1" dirty="0">
                  <a:solidFill>
                    <a:prstClr val="white"/>
                  </a:solidFill>
                  <a:latin typeface="Arial" panose="020B0604020202020204" pitchFamily="34" charset="0"/>
                  <a:cs typeface="Arial" panose="020B0604020202020204" pitchFamily="34" charset="0"/>
                </a:rPr>
                <a:t>FBV0</a:t>
              </a:r>
              <a:endParaRPr lang="en-US" sz="800" b="1" dirty="0">
                <a:solidFill>
                  <a:prstClr val="white"/>
                </a:solidFill>
                <a:latin typeface="Arial" panose="020B0604020202020204" pitchFamily="34" charset="0"/>
                <a:cs typeface="Arial" panose="020B0604020202020204" pitchFamily="34" charset="0"/>
              </a:endParaRPr>
            </a:p>
          </p:txBody>
        </p:sp>
        <p:sp>
          <p:nvSpPr>
            <p:cNvPr id="43" name="Rectangle 4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rgbClr val="4D4F53">
                      <a:lumMod val="50000"/>
                    </a:srgbClr>
                  </a:solidFill>
                  <a:latin typeface="Arial" panose="020B0604020202020204" pitchFamily="34" charset="0"/>
                  <a:cs typeface="Arial" panose="020B0604020202020204" pitchFamily="34" charset="0"/>
                </a:rPr>
                <a:t>Comptable </a:t>
              </a:r>
              <a:r>
                <a:rPr lang="fr-FR" sz="800" dirty="0" smtClean="0">
                  <a:solidFill>
                    <a:srgbClr val="4D4F53">
                      <a:lumMod val="50000"/>
                    </a:srgbClr>
                  </a:solidFill>
                  <a:latin typeface="Arial" panose="020B0604020202020204" pitchFamily="34" charset="0"/>
                  <a:cs typeface="Arial" panose="020B0604020202020204" pitchFamily="34" charset="0"/>
                </a:rPr>
                <a:t>Fournisseurs</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grpSp>
        <p:nvGrpSpPr>
          <p:cNvPr id="47" name="Groupe 46"/>
          <p:cNvGrpSpPr/>
          <p:nvPr/>
        </p:nvGrpSpPr>
        <p:grpSpPr>
          <a:xfrm>
            <a:off x="4122846" y="2165706"/>
            <a:ext cx="1296000" cy="754857"/>
            <a:chOff x="1507778" y="2276353"/>
            <a:chExt cx="1258269" cy="754857"/>
          </a:xfrm>
        </p:grpSpPr>
        <p:sp>
          <p:nvSpPr>
            <p:cNvPr id="48" name="Rectangle 47"/>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prstClr val="white"/>
                  </a:solidFill>
                  <a:latin typeface="Arial" pitchFamily="34" charset="0"/>
                  <a:cs typeface="Arial" pitchFamily="34" charset="0"/>
                </a:rPr>
                <a:t>Saisir avoir fournisseur</a:t>
              </a:r>
              <a:endParaRPr lang="en-US" sz="800" dirty="0">
                <a:solidFill>
                  <a:prstClr val="white"/>
                </a:solidFill>
                <a:latin typeface="Arial" pitchFamily="34" charset="0"/>
                <a:cs typeface="Arial" pitchFamily="34" charset="0"/>
              </a:endParaRPr>
            </a:p>
          </p:txBody>
        </p:sp>
        <p:sp>
          <p:nvSpPr>
            <p:cNvPr id="50" name="Rectangle 49"/>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prstClr val="white"/>
                  </a:solidFill>
                  <a:latin typeface="Arial" panose="020B0604020202020204" pitchFamily="34" charset="0"/>
                  <a:cs typeface="Arial" panose="020B0604020202020204" pitchFamily="34" charset="0"/>
                </a:rPr>
                <a:t>FB65</a:t>
              </a:r>
              <a:endParaRPr lang="en-US" sz="800" b="1" dirty="0">
                <a:solidFill>
                  <a:prstClr val="white"/>
                </a:solidFill>
                <a:latin typeface="Arial" panose="020B0604020202020204" pitchFamily="34" charset="0"/>
                <a:cs typeface="Arial" panose="020B0604020202020204" pitchFamily="34" charset="0"/>
              </a:endParaRPr>
            </a:p>
          </p:txBody>
        </p:sp>
        <p:sp>
          <p:nvSpPr>
            <p:cNvPr id="56" name="Rectangle 55"/>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rgbClr val="4D4F53">
                      <a:lumMod val="50000"/>
                    </a:srgbClr>
                  </a:solidFill>
                  <a:latin typeface="Arial" panose="020B0604020202020204" pitchFamily="34" charset="0"/>
                  <a:cs typeface="Arial" panose="020B0604020202020204" pitchFamily="34" charset="0"/>
                </a:rPr>
                <a:t>Comptable </a:t>
              </a:r>
              <a:r>
                <a:rPr lang="fr-FR" sz="800" dirty="0" smtClean="0">
                  <a:solidFill>
                    <a:srgbClr val="4D4F53">
                      <a:lumMod val="50000"/>
                    </a:srgbClr>
                  </a:solidFill>
                  <a:latin typeface="Arial" panose="020B0604020202020204" pitchFamily="34" charset="0"/>
                  <a:cs typeface="Arial" panose="020B0604020202020204" pitchFamily="34" charset="0"/>
                </a:rPr>
                <a:t>Fournisseurs</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1932464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857250"/>
          </a:xfrm>
        </p:spPr>
        <p:txBody>
          <a:bodyPr>
            <a:normAutofit fontScale="90000"/>
          </a:bodyPr>
          <a:lstStyle/>
          <a:p>
            <a:r>
              <a:rPr lang="fr-FR" altLang="en-US" sz="2200" dirty="0">
                <a:cs typeface="Arial" panose="020B0604020202020204" pitchFamily="34" charset="0"/>
              </a:rPr>
              <a:t>M</a:t>
            </a:r>
            <a:r>
              <a:rPr lang="fr-FR" altLang="en-US" sz="2200" dirty="0" smtClean="0">
                <a:cs typeface="Arial" panose="020B0604020202020204" pitchFamily="34" charset="0"/>
              </a:rPr>
              <a:t>ode </a:t>
            </a:r>
            <a:r>
              <a:rPr lang="fr-FR" altLang="en-US" sz="2200" dirty="0">
                <a:cs typeface="Arial" panose="020B0604020202020204" pitchFamily="34" charset="0"/>
              </a:rPr>
              <a:t>opératoire dans </a:t>
            </a:r>
            <a:r>
              <a:rPr lang="fr-FR" altLang="en-US" sz="2200" dirty="0" smtClean="0">
                <a:cs typeface="Arial" panose="020B0604020202020204" pitchFamily="34" charset="0"/>
              </a:rPr>
              <a:t>SAP pour la </a:t>
            </a:r>
            <a:r>
              <a:rPr lang="fr-FR" altLang="en-US" sz="2200" dirty="0">
                <a:cs typeface="Arial" panose="020B0604020202020204" pitchFamily="34" charset="0"/>
              </a:rPr>
              <a:t>saisie d’une facture fournisseur en référence à une commande d’achat </a:t>
            </a:r>
            <a:r>
              <a:rPr lang="fr-FR" altLang="en-US" sz="2200" dirty="0" smtClean="0">
                <a:cs typeface="Arial" panose="020B0604020202020204" pitchFamily="34" charset="0"/>
              </a:rPr>
              <a:t>1/7</a:t>
            </a:r>
            <a:r>
              <a:rPr lang="fr-FR" altLang="en-US" sz="2400" dirty="0">
                <a:latin typeface="Arial" panose="020B0604020202020204" pitchFamily="34" charset="0"/>
                <a:cs typeface="Arial" panose="020B0604020202020204" pitchFamily="34" charset="0"/>
              </a:rPr>
              <a:t/>
            </a:r>
            <a:br>
              <a:rPr lang="fr-FR" altLang="en-US" sz="2400" dirty="0">
                <a:latin typeface="Arial" panose="020B0604020202020204" pitchFamily="34" charset="0"/>
                <a:cs typeface="Arial" panose="020B0604020202020204" pitchFamily="34" charset="0"/>
              </a:rPr>
            </a:b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smtClean="0">
                <a:cs typeface="Arial" panose="020B0604020202020204" pitchFamily="34" charset="0"/>
              </a:rPr>
              <a:t> Lancer </a:t>
            </a:r>
            <a:r>
              <a:rPr lang="fr-FR" dirty="0">
                <a:cs typeface="Arial" panose="020B0604020202020204" pitchFamily="34" charset="0"/>
              </a:rPr>
              <a:t>la transaction MB03. </a:t>
            </a:r>
            <a:r>
              <a:rPr lang="fr-FR" dirty="0" smtClean="0">
                <a:cs typeface="Arial" panose="020B0604020202020204" pitchFamily="34" charset="0"/>
              </a:rPr>
              <a:t>Le but de cette transaction en début du processus est de vérifier </a:t>
            </a:r>
            <a:r>
              <a:rPr lang="fr-FR" dirty="0">
                <a:cs typeface="Arial" panose="020B0604020202020204" pitchFamily="34" charset="0"/>
              </a:rPr>
              <a:t>les documents comptables générés à la confirmation de réception de la commande </a:t>
            </a:r>
            <a:r>
              <a:rPr lang="fr-FR" dirty="0" smtClean="0">
                <a:cs typeface="Arial" panose="020B0604020202020204" pitchFamily="34" charset="0"/>
              </a:rPr>
              <a:t>d'achat. </a:t>
            </a:r>
          </a:p>
          <a:p>
            <a:r>
              <a:rPr lang="fr-FR" dirty="0">
                <a:cs typeface="Arial" panose="020B0604020202020204" pitchFamily="34" charset="0"/>
              </a:rPr>
              <a:t>	</a:t>
            </a:r>
            <a:r>
              <a:rPr lang="fr-FR" dirty="0" smtClean="0">
                <a:cs typeface="Arial" panose="020B0604020202020204" pitchFamily="34" charset="0"/>
              </a:rPr>
              <a:t>								Renseigner le numéro du document article, l’exercice et faites « Entrée » </a:t>
            </a:r>
          </a:p>
          <a:p>
            <a:endParaRPr lang="fr-FR" dirty="0" smtClean="0">
              <a:cs typeface="Arial" panose="020B0604020202020204" pitchFamily="34" charset="0"/>
            </a:endParaRPr>
          </a:p>
          <a:p>
            <a:r>
              <a:rPr lang="fr-FR" dirty="0" smtClean="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cs typeface="Arial" panose="020B0604020202020204" pitchFamily="34" charset="0"/>
              </a:rPr>
              <a:t>Cliquer sur le pavé Pièces FI/CO….. L’écran suivant apparait : </a:t>
            </a: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12</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573578" y="1586947"/>
            <a:ext cx="3190875" cy="2371725"/>
          </a:xfrm>
          <a:prstGeom prst="rect">
            <a:avLst/>
          </a:prstGeom>
        </p:spPr>
      </p:pic>
      <p:pic>
        <p:nvPicPr>
          <p:cNvPr id="6" name="Image 5"/>
          <p:cNvPicPr>
            <a:picLocks noChangeAspect="1"/>
          </p:cNvPicPr>
          <p:nvPr/>
        </p:nvPicPr>
        <p:blipFill>
          <a:blip r:embed="rId3"/>
          <a:stretch>
            <a:fillRect/>
          </a:stretch>
        </p:blipFill>
        <p:spPr>
          <a:xfrm>
            <a:off x="4310069" y="1934818"/>
            <a:ext cx="3964464" cy="2222637"/>
          </a:xfrm>
          <a:prstGeom prst="rect">
            <a:avLst/>
          </a:prstGeom>
        </p:spPr>
      </p:pic>
      <p:pic>
        <p:nvPicPr>
          <p:cNvPr id="7" name="Image 6"/>
          <p:cNvPicPr>
            <a:picLocks noChangeAspect="1"/>
          </p:cNvPicPr>
          <p:nvPr/>
        </p:nvPicPr>
        <p:blipFill>
          <a:blip r:embed="rId4"/>
          <a:stretch>
            <a:fillRect/>
          </a:stretch>
        </p:blipFill>
        <p:spPr>
          <a:xfrm flipV="1">
            <a:off x="5926593" y="2359652"/>
            <a:ext cx="731416" cy="93738"/>
          </a:xfrm>
          <a:prstGeom prst="rect">
            <a:avLst/>
          </a:prstGeom>
        </p:spPr>
      </p:pic>
    </p:spTree>
    <p:extLst>
      <p:ext uri="{BB962C8B-B14F-4D97-AF65-F5344CB8AC3E}">
        <p14:creationId xmlns:p14="http://schemas.microsoft.com/office/powerpoint/2010/main" val="2327572429"/>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400" dirty="0">
                <a:cs typeface="Arial" panose="020B0604020202020204" pitchFamily="34" charset="0"/>
              </a:rPr>
              <a:t>Mode opératoire dans SAP pour la saisie d’une facture fournisseur en référence à une commande d’achat </a:t>
            </a:r>
            <a:r>
              <a:rPr lang="fr-FR" altLang="en-US" sz="2400" dirty="0" smtClean="0">
                <a:cs typeface="Arial" panose="020B0604020202020204" pitchFamily="34" charset="0"/>
              </a:rPr>
              <a:t>2/7</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smtClean="0">
                <a:cs typeface="Arial" panose="020B0604020202020204" pitchFamily="34" charset="0"/>
              </a:rPr>
              <a:t>								        En débit (clé 89) on a une entrée en stock sur le compte stock…..et au crédit									        (clé 96) on a le compte </a:t>
            </a:r>
            <a:r>
              <a:rPr lang="fr-FR" dirty="0" err="1" smtClean="0">
                <a:cs typeface="Arial" panose="020B0604020202020204" pitchFamily="34" charset="0"/>
              </a:rPr>
              <a:t>fct</a:t>
            </a:r>
            <a:r>
              <a:rPr lang="fr-FR" dirty="0" smtClean="0">
                <a:cs typeface="Arial" panose="020B0604020202020204" pitchFamily="34" charset="0"/>
              </a:rPr>
              <a:t>. non parvenues 	 				 </a:t>
            </a:r>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13</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152525"/>
            <a:ext cx="3192812" cy="2752834"/>
          </a:xfrm>
          <a:prstGeom prst="rect">
            <a:avLst/>
          </a:prstGeom>
        </p:spPr>
      </p:pic>
    </p:spTree>
    <p:extLst>
      <p:ext uri="{BB962C8B-B14F-4D97-AF65-F5344CB8AC3E}">
        <p14:creationId xmlns:p14="http://schemas.microsoft.com/office/powerpoint/2010/main" val="3432482702"/>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400" dirty="0">
                <a:cs typeface="Arial" panose="020B0604020202020204" pitchFamily="34" charset="0"/>
              </a:rPr>
              <a:t>Mode opératoire dans SAP pour la saisie d’une facture fournisseur en référence à une commande d’achat </a:t>
            </a:r>
            <a:r>
              <a:rPr lang="fr-FR" altLang="en-US" sz="2400" dirty="0" smtClean="0">
                <a:cs typeface="Arial" panose="020B0604020202020204" pitchFamily="34" charset="0"/>
              </a:rPr>
              <a:t>3/7</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80729"/>
          </a:xfrm>
        </p:spPr>
        <p:txBody>
          <a:bodyPr/>
          <a:lstStyle/>
          <a:p>
            <a:r>
              <a:rPr lang="fr-FR" dirty="0" smtClean="0">
                <a:cs typeface="Arial" panose="020B0604020202020204" pitchFamily="34" charset="0"/>
              </a:rPr>
              <a:t>Lancer la transaction MIRO : 			        Renseigner les zones suivantes :        La date de facture       le numéro de la cde et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smtClean="0">
                <a:cs typeface="Arial" panose="020B0604020202020204" pitchFamily="34" charset="0"/>
              </a:rPr>
              <a:t>faites « Entrée »  	</a:t>
            </a: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r>
              <a:rPr lang="fr-FR" dirty="0" smtClean="0">
                <a:cs typeface="Arial" panose="020B0604020202020204" pitchFamily="34" charset="0"/>
              </a:rPr>
              <a:t>					</a:t>
            </a:r>
            <a:endParaRPr lang="fr-FR" dirty="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14</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356103"/>
            <a:ext cx="2929039" cy="2208508"/>
          </a:xfrm>
          <a:prstGeom prst="rect">
            <a:avLst/>
          </a:prstGeom>
        </p:spPr>
      </p:pic>
      <p:pic>
        <p:nvPicPr>
          <p:cNvPr id="4" name="Image 3"/>
          <p:cNvPicPr>
            <a:picLocks noChangeAspect="1"/>
          </p:cNvPicPr>
          <p:nvPr/>
        </p:nvPicPr>
        <p:blipFill>
          <a:blip r:embed="rId3"/>
          <a:stretch>
            <a:fillRect/>
          </a:stretch>
        </p:blipFill>
        <p:spPr>
          <a:xfrm>
            <a:off x="984393" y="2152167"/>
            <a:ext cx="366709" cy="109147"/>
          </a:xfrm>
          <a:prstGeom prst="rect">
            <a:avLst/>
          </a:prstGeom>
        </p:spPr>
      </p:pic>
      <p:pic>
        <p:nvPicPr>
          <p:cNvPr id="5" name="Image 4"/>
          <p:cNvPicPr>
            <a:picLocks noChangeAspect="1"/>
          </p:cNvPicPr>
          <p:nvPr/>
        </p:nvPicPr>
        <p:blipFill>
          <a:blip r:embed="rId3"/>
          <a:stretch>
            <a:fillRect/>
          </a:stretch>
        </p:blipFill>
        <p:spPr>
          <a:xfrm flipV="1">
            <a:off x="1483243" y="3072926"/>
            <a:ext cx="391718" cy="80132"/>
          </a:xfrm>
          <a:prstGeom prst="rect">
            <a:avLst/>
          </a:prstGeom>
        </p:spPr>
      </p:pic>
      <p:pic>
        <p:nvPicPr>
          <p:cNvPr id="6" name="Image 5"/>
          <p:cNvPicPr>
            <a:picLocks noChangeAspect="1"/>
          </p:cNvPicPr>
          <p:nvPr/>
        </p:nvPicPr>
        <p:blipFill>
          <a:blip r:embed="rId4"/>
          <a:stretch>
            <a:fillRect/>
          </a:stretch>
        </p:blipFill>
        <p:spPr>
          <a:xfrm>
            <a:off x="1237688" y="1985726"/>
            <a:ext cx="317019" cy="353599"/>
          </a:xfrm>
          <a:prstGeom prst="rect">
            <a:avLst/>
          </a:prstGeom>
        </p:spPr>
      </p:pic>
      <p:pic>
        <p:nvPicPr>
          <p:cNvPr id="7" name="Image 6"/>
          <p:cNvPicPr>
            <a:picLocks noChangeAspect="1"/>
          </p:cNvPicPr>
          <p:nvPr/>
        </p:nvPicPr>
        <p:blipFill>
          <a:blip r:embed="rId5"/>
          <a:stretch>
            <a:fillRect/>
          </a:stretch>
        </p:blipFill>
        <p:spPr>
          <a:xfrm>
            <a:off x="5529368" y="1126054"/>
            <a:ext cx="317019" cy="353599"/>
          </a:xfrm>
          <a:prstGeom prst="rect">
            <a:avLst/>
          </a:prstGeom>
        </p:spPr>
      </p:pic>
      <p:pic>
        <p:nvPicPr>
          <p:cNvPr id="8" name="Image 7"/>
          <p:cNvPicPr>
            <a:picLocks noChangeAspect="1"/>
          </p:cNvPicPr>
          <p:nvPr/>
        </p:nvPicPr>
        <p:blipFill>
          <a:blip r:embed="rId6"/>
          <a:stretch>
            <a:fillRect/>
          </a:stretch>
        </p:blipFill>
        <p:spPr>
          <a:xfrm>
            <a:off x="6935013" y="1119958"/>
            <a:ext cx="310923" cy="359695"/>
          </a:xfrm>
          <a:prstGeom prst="rect">
            <a:avLst/>
          </a:prstGeom>
        </p:spPr>
      </p:pic>
      <p:pic>
        <p:nvPicPr>
          <p:cNvPr id="9" name="Image 8"/>
          <p:cNvPicPr>
            <a:picLocks noChangeAspect="1"/>
          </p:cNvPicPr>
          <p:nvPr/>
        </p:nvPicPr>
        <p:blipFill>
          <a:blip r:embed="rId7"/>
          <a:stretch>
            <a:fillRect/>
          </a:stretch>
        </p:blipFill>
        <p:spPr>
          <a:xfrm>
            <a:off x="3710816" y="1740563"/>
            <a:ext cx="4975984" cy="2265750"/>
          </a:xfrm>
          <a:prstGeom prst="rect">
            <a:avLst/>
          </a:prstGeom>
        </p:spPr>
      </p:pic>
      <p:pic>
        <p:nvPicPr>
          <p:cNvPr id="10" name="Image 9"/>
          <p:cNvPicPr>
            <a:picLocks noChangeAspect="1"/>
          </p:cNvPicPr>
          <p:nvPr/>
        </p:nvPicPr>
        <p:blipFill>
          <a:blip r:embed="rId8"/>
          <a:stretch>
            <a:fillRect/>
          </a:stretch>
        </p:blipFill>
        <p:spPr>
          <a:xfrm>
            <a:off x="6639855" y="2080717"/>
            <a:ext cx="1713695" cy="172405"/>
          </a:xfrm>
          <a:prstGeom prst="rect">
            <a:avLst/>
          </a:prstGeom>
        </p:spPr>
      </p:pic>
      <p:pic>
        <p:nvPicPr>
          <p:cNvPr id="11" name="Image 10"/>
          <p:cNvPicPr>
            <a:picLocks noChangeAspect="1"/>
          </p:cNvPicPr>
          <p:nvPr/>
        </p:nvPicPr>
        <p:blipFill>
          <a:blip r:embed="rId9"/>
          <a:stretch>
            <a:fillRect/>
          </a:stretch>
        </p:blipFill>
        <p:spPr>
          <a:xfrm>
            <a:off x="8227100" y="1997351"/>
            <a:ext cx="310923" cy="353599"/>
          </a:xfrm>
          <a:prstGeom prst="rect">
            <a:avLst/>
          </a:prstGeom>
        </p:spPr>
      </p:pic>
      <p:pic>
        <p:nvPicPr>
          <p:cNvPr id="12" name="Image 11"/>
          <p:cNvPicPr>
            <a:picLocks noChangeAspect="1"/>
          </p:cNvPicPr>
          <p:nvPr/>
        </p:nvPicPr>
        <p:blipFill>
          <a:blip r:embed="rId10"/>
          <a:stretch>
            <a:fillRect/>
          </a:stretch>
        </p:blipFill>
        <p:spPr>
          <a:xfrm>
            <a:off x="1770197" y="2893078"/>
            <a:ext cx="310923" cy="359695"/>
          </a:xfrm>
          <a:prstGeom prst="rect">
            <a:avLst/>
          </a:prstGeom>
        </p:spPr>
      </p:pic>
    </p:spTree>
    <p:extLst>
      <p:ext uri="{BB962C8B-B14F-4D97-AF65-F5344CB8AC3E}">
        <p14:creationId xmlns:p14="http://schemas.microsoft.com/office/powerpoint/2010/main" val="2124752247"/>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400" dirty="0">
                <a:cs typeface="Arial" panose="020B0604020202020204" pitchFamily="34" charset="0"/>
              </a:rPr>
              <a:t>Mode opératoire dans SAP pour la saisie d’une facture fournisseur en référence à une commande d’achat </a:t>
            </a:r>
            <a:r>
              <a:rPr lang="fr-FR" altLang="en-US" sz="2400" dirty="0" smtClean="0">
                <a:cs typeface="Arial" panose="020B0604020202020204" pitchFamily="34" charset="0"/>
              </a:rPr>
              <a:t>4/7</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r>
              <a:rPr lang="fr-FR" dirty="0">
                <a:cs typeface="Arial" panose="020B0604020202020204" pitchFamily="34" charset="0"/>
              </a:rPr>
              <a:t>	 Renseigner au niveau du fournisseur </a:t>
            </a:r>
            <a:r>
              <a:rPr lang="fr-FR" dirty="0" smtClean="0">
                <a:cs typeface="Arial" panose="020B0604020202020204" pitchFamily="34" charset="0"/>
              </a:rPr>
              <a:t>le montant du solde afin </a:t>
            </a:r>
          </a:p>
          <a:p>
            <a:r>
              <a:rPr lang="fr-FR" dirty="0">
                <a:cs typeface="Arial" panose="020B0604020202020204" pitchFamily="34" charset="0"/>
              </a:rPr>
              <a:t>	</a:t>
            </a:r>
            <a:r>
              <a:rPr lang="fr-FR" dirty="0" smtClean="0">
                <a:cs typeface="Arial" panose="020B0604020202020204" pitchFamily="34" charset="0"/>
              </a:rPr>
              <a:t>										d’équilibrer le solde. </a:t>
            </a: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15</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152525"/>
            <a:ext cx="4021669" cy="3026259"/>
          </a:xfrm>
          <a:prstGeom prst="rect">
            <a:avLst/>
          </a:prstGeom>
        </p:spPr>
      </p:pic>
      <p:pic>
        <p:nvPicPr>
          <p:cNvPr id="4" name="Image 3"/>
          <p:cNvPicPr>
            <a:picLocks noChangeAspect="1"/>
          </p:cNvPicPr>
          <p:nvPr/>
        </p:nvPicPr>
        <p:blipFill>
          <a:blip r:embed="rId3"/>
          <a:stretch>
            <a:fillRect/>
          </a:stretch>
        </p:blipFill>
        <p:spPr>
          <a:xfrm>
            <a:off x="1170158" y="2168169"/>
            <a:ext cx="371888" cy="109738"/>
          </a:xfrm>
          <a:prstGeom prst="rect">
            <a:avLst/>
          </a:prstGeom>
        </p:spPr>
      </p:pic>
      <p:pic>
        <p:nvPicPr>
          <p:cNvPr id="5" name="Image 4"/>
          <p:cNvPicPr>
            <a:picLocks noChangeAspect="1"/>
          </p:cNvPicPr>
          <p:nvPr/>
        </p:nvPicPr>
        <p:blipFill>
          <a:blip r:embed="rId4"/>
          <a:stretch>
            <a:fillRect/>
          </a:stretch>
        </p:blipFill>
        <p:spPr>
          <a:xfrm>
            <a:off x="2930936" y="1593647"/>
            <a:ext cx="1338847" cy="219655"/>
          </a:xfrm>
          <a:prstGeom prst="rect">
            <a:avLst/>
          </a:prstGeom>
        </p:spPr>
      </p:pic>
      <p:pic>
        <p:nvPicPr>
          <p:cNvPr id="6" name="Image 5"/>
          <p:cNvPicPr>
            <a:picLocks noChangeAspect="1"/>
          </p:cNvPicPr>
          <p:nvPr/>
        </p:nvPicPr>
        <p:blipFill>
          <a:blip r:embed="rId5"/>
          <a:stretch>
            <a:fillRect/>
          </a:stretch>
        </p:blipFill>
        <p:spPr>
          <a:xfrm>
            <a:off x="1456362" y="1991369"/>
            <a:ext cx="310923" cy="353599"/>
          </a:xfrm>
          <a:prstGeom prst="rect">
            <a:avLst/>
          </a:prstGeom>
        </p:spPr>
      </p:pic>
      <p:pic>
        <p:nvPicPr>
          <p:cNvPr id="10" name="Image 9"/>
          <p:cNvPicPr>
            <a:picLocks noChangeAspect="1"/>
          </p:cNvPicPr>
          <p:nvPr/>
        </p:nvPicPr>
        <p:blipFill>
          <a:blip r:embed="rId6"/>
          <a:stretch>
            <a:fillRect/>
          </a:stretch>
        </p:blipFill>
        <p:spPr>
          <a:xfrm>
            <a:off x="4132498" y="1390060"/>
            <a:ext cx="310923" cy="353599"/>
          </a:xfrm>
          <a:prstGeom prst="rect">
            <a:avLst/>
          </a:prstGeom>
        </p:spPr>
      </p:pic>
      <p:pic>
        <p:nvPicPr>
          <p:cNvPr id="11" name="Image 10"/>
          <p:cNvPicPr>
            <a:picLocks noChangeAspect="1"/>
          </p:cNvPicPr>
          <p:nvPr/>
        </p:nvPicPr>
        <p:blipFill>
          <a:blip r:embed="rId7"/>
          <a:stretch>
            <a:fillRect/>
          </a:stretch>
        </p:blipFill>
        <p:spPr>
          <a:xfrm>
            <a:off x="6067107" y="1601858"/>
            <a:ext cx="310923" cy="353599"/>
          </a:xfrm>
          <a:prstGeom prst="rect">
            <a:avLst/>
          </a:prstGeom>
        </p:spPr>
      </p:pic>
    </p:spTree>
    <p:extLst>
      <p:ext uri="{BB962C8B-B14F-4D97-AF65-F5344CB8AC3E}">
        <p14:creationId xmlns:p14="http://schemas.microsoft.com/office/powerpoint/2010/main" val="2544360822"/>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400" dirty="0">
                <a:cs typeface="Arial" panose="020B0604020202020204" pitchFamily="34" charset="0"/>
              </a:rPr>
              <a:t>Mode opératoire dans SAP pour la saisie d’une facture fournisseur en référence à une commande d’achat </a:t>
            </a:r>
            <a:r>
              <a:rPr lang="fr-FR" altLang="en-US" sz="2400" dirty="0" smtClean="0">
                <a:cs typeface="Arial" panose="020B0604020202020204" pitchFamily="34" charset="0"/>
              </a:rPr>
              <a:t>5/7</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smtClean="0">
                <a:cs typeface="Arial" panose="020B0604020202020204" pitchFamily="34" charset="0"/>
              </a:rPr>
              <a:t> 											Passer à l’onglet Paiement afin de mettre à jour : </a:t>
            </a:r>
          </a:p>
          <a:p>
            <a:r>
              <a:rPr lang="fr-FR" dirty="0">
                <a:cs typeface="Arial" panose="020B0604020202020204" pitchFamily="34" charset="0"/>
              </a:rPr>
              <a:t>	</a:t>
            </a:r>
            <a:r>
              <a:rPr lang="fr-FR" dirty="0" smtClean="0">
                <a:cs typeface="Arial" panose="020B0604020202020204" pitchFamily="34" charset="0"/>
              </a:rPr>
              <a:t>										 </a:t>
            </a:r>
            <a:r>
              <a:rPr lang="fr-FR" dirty="0">
                <a:cs typeface="Arial" panose="020B0604020202020204" pitchFamily="34" charset="0"/>
              </a:rPr>
              <a:t>la condition </a:t>
            </a:r>
            <a:r>
              <a:rPr lang="fr-FR" dirty="0" smtClean="0">
                <a:cs typeface="Arial" panose="020B0604020202020204" pitchFamily="34" charset="0"/>
              </a:rPr>
              <a:t>de paiement (la date de base se met automatique-</a:t>
            </a:r>
          </a:p>
          <a:p>
            <a:r>
              <a:rPr lang="fr-FR" dirty="0">
                <a:cs typeface="Arial" panose="020B0604020202020204" pitchFamily="34" charset="0"/>
              </a:rPr>
              <a:t>	</a:t>
            </a:r>
            <a:r>
              <a:rPr lang="fr-FR" dirty="0" smtClean="0">
                <a:cs typeface="Arial" panose="020B0604020202020204" pitchFamily="34" charset="0"/>
              </a:rPr>
              <a:t>										ment à jour)</a:t>
            </a:r>
          </a:p>
          <a:p>
            <a:r>
              <a:rPr lang="fr-FR" dirty="0">
                <a:cs typeface="Arial" panose="020B0604020202020204" pitchFamily="34" charset="0"/>
              </a:rPr>
              <a:t>	</a:t>
            </a:r>
            <a:r>
              <a:rPr lang="fr-FR" dirty="0" smtClean="0">
                <a:cs typeface="Arial" panose="020B0604020202020204" pitchFamily="34" charset="0"/>
              </a:rPr>
              <a:t>										le mode de paiement</a:t>
            </a:r>
          </a:p>
          <a:p>
            <a:r>
              <a:rPr lang="fr-FR" dirty="0">
                <a:cs typeface="Arial" panose="020B0604020202020204" pitchFamily="34" charset="0"/>
              </a:rPr>
              <a:t>	</a:t>
            </a:r>
            <a:r>
              <a:rPr lang="fr-FR" dirty="0" smtClean="0">
                <a:cs typeface="Arial" panose="020B0604020202020204" pitchFamily="34" charset="0"/>
              </a:rPr>
              <a:t>										la banque société</a:t>
            </a:r>
          </a:p>
          <a:p>
            <a:r>
              <a:rPr lang="fr-FR" dirty="0">
                <a:cs typeface="Arial" panose="020B0604020202020204" pitchFamily="34" charset="0"/>
              </a:rPr>
              <a:t>	</a:t>
            </a:r>
            <a:r>
              <a:rPr lang="fr-FR" dirty="0" smtClean="0">
                <a:cs typeface="Arial" panose="020B0604020202020204" pitchFamily="34" charset="0"/>
              </a:rPr>
              <a:t>										Puis cliquer sur « Simuler » : si les données sont exactes, sauve-</a:t>
            </a:r>
          </a:p>
          <a:p>
            <a:r>
              <a:rPr lang="fr-FR" dirty="0">
                <a:cs typeface="Arial" panose="020B0604020202020204" pitchFamily="34" charset="0"/>
              </a:rPr>
              <a:t>	</a:t>
            </a:r>
            <a:r>
              <a:rPr lang="fr-FR" dirty="0" smtClean="0">
                <a:cs typeface="Arial" panose="020B0604020202020204" pitchFamily="34" charset="0"/>
              </a:rPr>
              <a:t>										garder la facture. Un numéro de pièce apparait en bas de </a:t>
            </a:r>
          </a:p>
          <a:p>
            <a:r>
              <a:rPr lang="fr-FR" dirty="0">
                <a:cs typeface="Arial" panose="020B0604020202020204" pitchFamily="34" charset="0"/>
              </a:rPr>
              <a:t>	</a:t>
            </a:r>
            <a:r>
              <a:rPr lang="fr-FR" dirty="0" smtClean="0">
                <a:cs typeface="Arial" panose="020B0604020202020204" pitchFamily="34" charset="0"/>
              </a:rPr>
              <a:t>										l’écran : </a:t>
            </a:r>
          </a:p>
          <a:p>
            <a:r>
              <a:rPr lang="fr-FR" dirty="0">
                <a:cs typeface="Arial" panose="020B0604020202020204" pitchFamily="34" charset="0"/>
              </a:rPr>
              <a:t>																	</a:t>
            </a:r>
            <a:r>
              <a:rPr lang="fr-FR" dirty="0" smtClean="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16</a:t>
            </a:fld>
            <a:endParaRPr lang="fr-FR" altLang="en-US" sz="750">
              <a:solidFill>
                <a:srgbClr val="000000"/>
              </a:solidFill>
            </a:endParaRPr>
          </a:p>
        </p:txBody>
      </p:sp>
      <p:pic>
        <p:nvPicPr>
          <p:cNvPr id="8" name="Image 7"/>
          <p:cNvPicPr>
            <a:picLocks noChangeAspect="1"/>
          </p:cNvPicPr>
          <p:nvPr/>
        </p:nvPicPr>
        <p:blipFill>
          <a:blip r:embed="rId2"/>
          <a:stretch>
            <a:fillRect/>
          </a:stretch>
        </p:blipFill>
        <p:spPr>
          <a:xfrm>
            <a:off x="4587019" y="1464975"/>
            <a:ext cx="310923" cy="359695"/>
          </a:xfrm>
          <a:prstGeom prst="rect">
            <a:avLst/>
          </a:prstGeom>
        </p:spPr>
      </p:pic>
      <p:pic>
        <p:nvPicPr>
          <p:cNvPr id="9" name="Image 8"/>
          <p:cNvPicPr>
            <a:picLocks noChangeAspect="1"/>
          </p:cNvPicPr>
          <p:nvPr/>
        </p:nvPicPr>
        <p:blipFill>
          <a:blip r:embed="rId3"/>
          <a:stretch>
            <a:fillRect/>
          </a:stretch>
        </p:blipFill>
        <p:spPr>
          <a:xfrm>
            <a:off x="4572000" y="2170984"/>
            <a:ext cx="310923" cy="353599"/>
          </a:xfrm>
          <a:prstGeom prst="rect">
            <a:avLst/>
          </a:prstGeom>
        </p:spPr>
      </p:pic>
      <p:pic>
        <p:nvPicPr>
          <p:cNvPr id="10" name="Image 9"/>
          <p:cNvPicPr>
            <a:picLocks noChangeAspect="1"/>
          </p:cNvPicPr>
          <p:nvPr/>
        </p:nvPicPr>
        <p:blipFill>
          <a:blip r:embed="rId4"/>
          <a:stretch>
            <a:fillRect/>
          </a:stretch>
        </p:blipFill>
        <p:spPr>
          <a:xfrm>
            <a:off x="573578" y="1189630"/>
            <a:ext cx="3866827" cy="3292366"/>
          </a:xfrm>
          <a:prstGeom prst="rect">
            <a:avLst/>
          </a:prstGeom>
        </p:spPr>
      </p:pic>
      <p:pic>
        <p:nvPicPr>
          <p:cNvPr id="11" name="Image 10"/>
          <p:cNvPicPr>
            <a:picLocks noChangeAspect="1"/>
          </p:cNvPicPr>
          <p:nvPr/>
        </p:nvPicPr>
        <p:blipFill>
          <a:blip r:embed="rId5"/>
          <a:stretch>
            <a:fillRect/>
          </a:stretch>
        </p:blipFill>
        <p:spPr>
          <a:xfrm>
            <a:off x="2166476" y="2656976"/>
            <a:ext cx="615749" cy="115834"/>
          </a:xfrm>
          <a:prstGeom prst="rect">
            <a:avLst/>
          </a:prstGeom>
        </p:spPr>
      </p:pic>
      <p:pic>
        <p:nvPicPr>
          <p:cNvPr id="12" name="Image 11"/>
          <p:cNvPicPr>
            <a:picLocks noChangeAspect="1"/>
          </p:cNvPicPr>
          <p:nvPr/>
        </p:nvPicPr>
        <p:blipFill>
          <a:blip r:embed="rId6"/>
          <a:stretch>
            <a:fillRect/>
          </a:stretch>
        </p:blipFill>
        <p:spPr>
          <a:xfrm>
            <a:off x="948940" y="2463638"/>
            <a:ext cx="247451" cy="185589"/>
          </a:xfrm>
          <a:prstGeom prst="rect">
            <a:avLst/>
          </a:prstGeom>
        </p:spPr>
      </p:pic>
      <p:pic>
        <p:nvPicPr>
          <p:cNvPr id="13" name="Image 12"/>
          <p:cNvPicPr>
            <a:picLocks noChangeAspect="1"/>
          </p:cNvPicPr>
          <p:nvPr/>
        </p:nvPicPr>
        <p:blipFill>
          <a:blip r:embed="rId7"/>
          <a:stretch>
            <a:fillRect/>
          </a:stretch>
        </p:blipFill>
        <p:spPr>
          <a:xfrm>
            <a:off x="1642820" y="2104537"/>
            <a:ext cx="615563" cy="144839"/>
          </a:xfrm>
          <a:prstGeom prst="rect">
            <a:avLst/>
          </a:prstGeom>
        </p:spPr>
      </p:pic>
      <p:pic>
        <p:nvPicPr>
          <p:cNvPr id="14" name="Image 13"/>
          <p:cNvPicPr>
            <a:picLocks noChangeAspect="1"/>
          </p:cNvPicPr>
          <p:nvPr/>
        </p:nvPicPr>
        <p:blipFill>
          <a:blip r:embed="rId8"/>
          <a:stretch>
            <a:fillRect/>
          </a:stretch>
        </p:blipFill>
        <p:spPr>
          <a:xfrm>
            <a:off x="2168620" y="1911048"/>
            <a:ext cx="310923" cy="359695"/>
          </a:xfrm>
          <a:prstGeom prst="rect">
            <a:avLst/>
          </a:prstGeom>
        </p:spPr>
      </p:pic>
      <p:pic>
        <p:nvPicPr>
          <p:cNvPr id="15" name="Image 14"/>
          <p:cNvPicPr>
            <a:picLocks noChangeAspect="1"/>
          </p:cNvPicPr>
          <p:nvPr/>
        </p:nvPicPr>
        <p:blipFill>
          <a:blip r:embed="rId9"/>
          <a:stretch>
            <a:fillRect/>
          </a:stretch>
        </p:blipFill>
        <p:spPr>
          <a:xfrm>
            <a:off x="1098499" y="2272842"/>
            <a:ext cx="310923" cy="353599"/>
          </a:xfrm>
          <a:prstGeom prst="rect">
            <a:avLst/>
          </a:prstGeom>
        </p:spPr>
      </p:pic>
      <p:pic>
        <p:nvPicPr>
          <p:cNvPr id="16" name="Image 15"/>
          <p:cNvPicPr>
            <a:picLocks noChangeAspect="1"/>
          </p:cNvPicPr>
          <p:nvPr/>
        </p:nvPicPr>
        <p:blipFill>
          <a:blip r:embed="rId10"/>
          <a:stretch>
            <a:fillRect/>
          </a:stretch>
        </p:blipFill>
        <p:spPr>
          <a:xfrm>
            <a:off x="2691010" y="2472427"/>
            <a:ext cx="310923" cy="353599"/>
          </a:xfrm>
          <a:prstGeom prst="rect">
            <a:avLst/>
          </a:prstGeom>
        </p:spPr>
      </p:pic>
      <p:pic>
        <p:nvPicPr>
          <p:cNvPr id="17" name="Image 16"/>
          <p:cNvPicPr>
            <a:picLocks noChangeAspect="1"/>
          </p:cNvPicPr>
          <p:nvPr/>
        </p:nvPicPr>
        <p:blipFill>
          <a:blip r:embed="rId11"/>
          <a:stretch>
            <a:fillRect/>
          </a:stretch>
        </p:blipFill>
        <p:spPr>
          <a:xfrm>
            <a:off x="4571999" y="2510011"/>
            <a:ext cx="310923" cy="353599"/>
          </a:xfrm>
          <a:prstGeom prst="rect">
            <a:avLst/>
          </a:prstGeom>
        </p:spPr>
      </p:pic>
      <p:pic>
        <p:nvPicPr>
          <p:cNvPr id="18" name="Image 17"/>
          <p:cNvPicPr>
            <a:picLocks noChangeAspect="1"/>
          </p:cNvPicPr>
          <p:nvPr/>
        </p:nvPicPr>
        <p:blipFill>
          <a:blip r:embed="rId12"/>
          <a:stretch>
            <a:fillRect/>
          </a:stretch>
        </p:blipFill>
        <p:spPr>
          <a:xfrm>
            <a:off x="2161721" y="1584683"/>
            <a:ext cx="484791" cy="225747"/>
          </a:xfrm>
          <a:prstGeom prst="rect">
            <a:avLst/>
          </a:prstGeom>
        </p:spPr>
      </p:pic>
      <p:pic>
        <p:nvPicPr>
          <p:cNvPr id="19" name="Image 18"/>
          <p:cNvPicPr>
            <a:picLocks noChangeAspect="1"/>
          </p:cNvPicPr>
          <p:nvPr/>
        </p:nvPicPr>
        <p:blipFill>
          <a:blip r:embed="rId13"/>
          <a:stretch>
            <a:fillRect/>
          </a:stretch>
        </p:blipFill>
        <p:spPr>
          <a:xfrm>
            <a:off x="2564358" y="1427085"/>
            <a:ext cx="310923" cy="353599"/>
          </a:xfrm>
          <a:prstGeom prst="rect">
            <a:avLst/>
          </a:prstGeom>
        </p:spPr>
      </p:pic>
      <p:pic>
        <p:nvPicPr>
          <p:cNvPr id="20" name="Image 19"/>
          <p:cNvPicPr>
            <a:picLocks noChangeAspect="1"/>
          </p:cNvPicPr>
          <p:nvPr/>
        </p:nvPicPr>
        <p:blipFill>
          <a:blip r:embed="rId14"/>
          <a:stretch>
            <a:fillRect/>
          </a:stretch>
        </p:blipFill>
        <p:spPr>
          <a:xfrm>
            <a:off x="4587019" y="2851787"/>
            <a:ext cx="310923" cy="353599"/>
          </a:xfrm>
          <a:prstGeom prst="rect">
            <a:avLst/>
          </a:prstGeom>
        </p:spPr>
      </p:pic>
    </p:spTree>
    <p:extLst>
      <p:ext uri="{BB962C8B-B14F-4D97-AF65-F5344CB8AC3E}">
        <p14:creationId xmlns:p14="http://schemas.microsoft.com/office/powerpoint/2010/main" val="264533589"/>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400" dirty="0">
                <a:cs typeface="Arial" panose="020B0604020202020204" pitchFamily="34" charset="0"/>
              </a:rPr>
              <a:t>Mode opératoire dans SAP pour la saisie d’une facture fournisseur en référence à une commande d’achat </a:t>
            </a:r>
            <a:r>
              <a:rPr lang="fr-FR" altLang="en-US" sz="2400" dirty="0" smtClean="0">
                <a:cs typeface="Arial" panose="020B0604020202020204" pitchFamily="34" charset="0"/>
              </a:rPr>
              <a:t>6/7</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smtClean="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17</a:t>
            </a:fld>
            <a:endParaRPr lang="fr-FR" altLang="en-US" sz="750">
              <a:solidFill>
                <a:srgbClr val="000000"/>
              </a:solidFill>
            </a:endParaRPr>
          </a:p>
        </p:txBody>
      </p:sp>
      <p:pic>
        <p:nvPicPr>
          <p:cNvPr id="9" name="Image 8"/>
          <p:cNvPicPr>
            <a:picLocks noChangeAspect="1"/>
          </p:cNvPicPr>
          <p:nvPr/>
        </p:nvPicPr>
        <p:blipFill>
          <a:blip r:embed="rId2"/>
          <a:stretch>
            <a:fillRect/>
          </a:stretch>
        </p:blipFill>
        <p:spPr>
          <a:xfrm>
            <a:off x="573578" y="883404"/>
            <a:ext cx="5230537" cy="3208149"/>
          </a:xfrm>
          <a:prstGeom prst="rect">
            <a:avLst/>
          </a:prstGeom>
        </p:spPr>
      </p:pic>
      <p:pic>
        <p:nvPicPr>
          <p:cNvPr id="10" name="Image 9"/>
          <p:cNvPicPr>
            <a:picLocks noChangeAspect="1"/>
          </p:cNvPicPr>
          <p:nvPr/>
        </p:nvPicPr>
        <p:blipFill>
          <a:blip r:embed="rId3"/>
          <a:stretch>
            <a:fillRect/>
          </a:stretch>
        </p:blipFill>
        <p:spPr>
          <a:xfrm>
            <a:off x="573578" y="4222992"/>
            <a:ext cx="3362325" cy="238125"/>
          </a:xfrm>
          <a:prstGeom prst="rect">
            <a:avLst/>
          </a:prstGeom>
        </p:spPr>
      </p:pic>
    </p:spTree>
    <p:extLst>
      <p:ext uri="{BB962C8B-B14F-4D97-AF65-F5344CB8AC3E}">
        <p14:creationId xmlns:p14="http://schemas.microsoft.com/office/powerpoint/2010/main" val="1012417474"/>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400" dirty="0">
                <a:cs typeface="Arial" panose="020B0604020202020204" pitchFamily="34" charset="0"/>
              </a:rPr>
              <a:t>Mode opératoire dans SAP pour la saisie d’une facture fournisseur en référence à une commande d’achat </a:t>
            </a:r>
            <a:r>
              <a:rPr lang="fr-FR" altLang="en-US" sz="2400" dirty="0" smtClean="0">
                <a:cs typeface="Arial" panose="020B0604020202020204" pitchFamily="34" charset="0"/>
              </a:rPr>
              <a:t>7/7</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smtClean="0">
                <a:cs typeface="Arial" panose="020B0604020202020204" pitchFamily="34" charset="0"/>
              </a:rPr>
              <a:t>Affichage de la pièce via la transaction MIR4 : </a:t>
            </a:r>
          </a:p>
          <a:p>
            <a:r>
              <a:rPr lang="fr-FR" dirty="0" smtClean="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18</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418096"/>
            <a:ext cx="4858719" cy="2882683"/>
          </a:xfrm>
          <a:prstGeom prst="rect">
            <a:avLst/>
          </a:prstGeom>
        </p:spPr>
      </p:pic>
    </p:spTree>
    <p:extLst>
      <p:ext uri="{BB962C8B-B14F-4D97-AF65-F5344CB8AC3E}">
        <p14:creationId xmlns:p14="http://schemas.microsoft.com/office/powerpoint/2010/main" val="1560433943"/>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000" dirty="0">
                <a:latin typeface="+mn-lt"/>
                <a:cs typeface="Arial" panose="020B0604020202020204" pitchFamily="34" charset="0"/>
              </a:rPr>
              <a:t>M</a:t>
            </a:r>
            <a:r>
              <a:rPr lang="fr-FR" altLang="en-US" sz="2000" dirty="0" smtClean="0">
                <a:latin typeface="+mn-lt"/>
                <a:cs typeface="Arial" panose="020B0604020202020204" pitchFamily="34" charset="0"/>
              </a:rPr>
              <a:t>ode </a:t>
            </a:r>
            <a:r>
              <a:rPr lang="fr-FR" altLang="en-US" sz="2000" dirty="0">
                <a:latin typeface="+mn-lt"/>
                <a:cs typeface="Arial" panose="020B0604020202020204" pitchFamily="34" charset="0"/>
              </a:rPr>
              <a:t>opératoire dans </a:t>
            </a:r>
            <a:r>
              <a:rPr lang="fr-FR" altLang="en-US" sz="2000" dirty="0" smtClean="0">
                <a:latin typeface="+mn-lt"/>
                <a:cs typeface="Arial" panose="020B0604020202020204" pitchFamily="34" charset="0"/>
              </a:rPr>
              <a:t>SAP </a:t>
            </a:r>
            <a:r>
              <a:rPr lang="fr-FR" altLang="en-US" sz="2000" dirty="0">
                <a:latin typeface="+mn-lt"/>
                <a:cs typeface="Arial" panose="020B0604020202020204" pitchFamily="34" charset="0"/>
              </a:rPr>
              <a:t>pour la saisie d’une facture fournisseur </a:t>
            </a:r>
            <a:r>
              <a:rPr lang="fr-FR" altLang="en-US" sz="2000" dirty="0" smtClean="0">
                <a:latin typeface="+mn-lt"/>
                <a:cs typeface="Arial" panose="020B0604020202020204" pitchFamily="34" charset="0"/>
              </a:rPr>
              <a:t>sans </a:t>
            </a:r>
            <a:r>
              <a:rPr lang="fr-FR" altLang="en-US" sz="2000" dirty="0">
                <a:latin typeface="+mn-lt"/>
                <a:cs typeface="Arial" panose="020B0604020202020204" pitchFamily="34" charset="0"/>
              </a:rPr>
              <a:t>référence à une commande d’achat </a:t>
            </a:r>
            <a:r>
              <a:rPr lang="fr-FR" altLang="en-US" sz="2000" dirty="0" smtClean="0">
                <a:latin typeface="+mn-lt"/>
                <a:cs typeface="Arial" panose="020B0604020202020204" pitchFamily="34" charset="0"/>
              </a:rPr>
              <a:t>1/5</a:t>
            </a:r>
            <a:endParaRPr lang="en-US" altLang="en-US" sz="2000" dirty="0" smtClean="0">
              <a:latin typeface="+mn-lt"/>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smtClean="0">
                <a:cs typeface="Arial" panose="020B0604020202020204" pitchFamily="34" charset="0"/>
              </a:rPr>
              <a:t>Depuis le menu SAP : Gestion Comptable / Comptabilité Financière / Fournisseurs / Ecriture / </a:t>
            </a:r>
            <a:r>
              <a:rPr lang="fr-FR" dirty="0" err="1" smtClean="0">
                <a:cs typeface="Arial" panose="020B0604020202020204" pitchFamily="34" charset="0"/>
              </a:rPr>
              <a:t>Préenregistrement</a:t>
            </a:r>
            <a:r>
              <a:rPr lang="fr-FR" dirty="0" smtClean="0">
                <a:cs typeface="Arial" panose="020B0604020202020204" pitchFamily="34" charset="0"/>
              </a:rPr>
              <a:t> / Préenregistrer facture  : FV60 </a:t>
            </a:r>
          </a:p>
          <a:p>
            <a:r>
              <a:rPr lang="fr-FR" dirty="0" smtClean="0">
                <a:cs typeface="Arial" panose="020B0604020202020204" pitchFamily="34" charset="0"/>
              </a:rPr>
              <a:t>										Renseigner les données suivantes : </a:t>
            </a:r>
          </a:p>
          <a:p>
            <a:r>
              <a:rPr lang="fr-FR" dirty="0">
                <a:cs typeface="Arial" panose="020B0604020202020204" pitchFamily="34" charset="0"/>
              </a:rPr>
              <a:t>	</a:t>
            </a:r>
            <a:r>
              <a:rPr lang="fr-FR" dirty="0" smtClean="0">
                <a:cs typeface="Arial" panose="020B0604020202020204" pitchFamily="34" charset="0"/>
              </a:rPr>
              <a:t>									le code fournisseur et date de la facture</a:t>
            </a:r>
          </a:p>
          <a:p>
            <a:r>
              <a:rPr lang="fr-FR" dirty="0">
                <a:cs typeface="Arial" panose="020B0604020202020204" pitchFamily="34" charset="0"/>
              </a:rPr>
              <a:t>	</a:t>
            </a:r>
            <a:r>
              <a:rPr lang="fr-FR" dirty="0" smtClean="0">
                <a:cs typeface="Arial" panose="020B0604020202020204" pitchFamily="34" charset="0"/>
              </a:rPr>
              <a:t>									le montant</a:t>
            </a:r>
          </a:p>
          <a:p>
            <a:r>
              <a:rPr lang="fr-FR" dirty="0">
                <a:cs typeface="Arial" panose="020B0604020202020204" pitchFamily="34" charset="0"/>
              </a:rPr>
              <a:t>	</a:t>
            </a:r>
            <a:r>
              <a:rPr lang="fr-FR" dirty="0" smtClean="0">
                <a:cs typeface="Arial" panose="020B0604020202020204" pitchFamily="34" charset="0"/>
              </a:rPr>
              <a:t>									le compte général, le montant et le centre de coût si nécessaire</a:t>
            </a:r>
          </a:p>
          <a:p>
            <a:r>
              <a:rPr lang="fr-FR" dirty="0">
                <a:cs typeface="Arial" panose="020B0604020202020204" pitchFamily="34" charset="0"/>
              </a:rPr>
              <a:t>	</a:t>
            </a:r>
            <a:r>
              <a:rPr lang="fr-FR" dirty="0" smtClean="0">
                <a:cs typeface="Arial" panose="020B0604020202020204" pitchFamily="34" charset="0"/>
              </a:rPr>
              <a:t>									Passer à l’onglet Paiement</a:t>
            </a:r>
          </a:p>
          <a:p>
            <a:r>
              <a:rPr lang="fr-FR" dirty="0">
                <a:cs typeface="Arial" panose="020B0604020202020204" pitchFamily="34" charset="0"/>
              </a:rPr>
              <a:t>	</a:t>
            </a:r>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endParaRPr lang="fr-FR" dirty="0" smtClean="0">
              <a:cs typeface="Arial" panose="020B0604020202020204" pitchFamily="34" charset="0"/>
            </a:endParaRPr>
          </a:p>
          <a:p>
            <a:endParaRPr lang="fr-FR" dirty="0" smtClean="0">
              <a:cs typeface="Arial" panose="020B0604020202020204" pitchFamily="34" charset="0"/>
            </a:endParaRPr>
          </a:p>
          <a:p>
            <a:r>
              <a:rPr lang="fr-FR" dirty="0" smtClean="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19</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4184543" y="1999930"/>
            <a:ext cx="317019" cy="359695"/>
          </a:xfrm>
          <a:prstGeom prst="rect">
            <a:avLst/>
          </a:prstGeom>
        </p:spPr>
      </p:pic>
      <p:pic>
        <p:nvPicPr>
          <p:cNvPr id="10" name="Image 9"/>
          <p:cNvPicPr>
            <a:picLocks noChangeAspect="1"/>
          </p:cNvPicPr>
          <p:nvPr/>
        </p:nvPicPr>
        <p:blipFill>
          <a:blip r:embed="rId3"/>
          <a:stretch>
            <a:fillRect/>
          </a:stretch>
        </p:blipFill>
        <p:spPr>
          <a:xfrm>
            <a:off x="4192293" y="2346391"/>
            <a:ext cx="317019" cy="353599"/>
          </a:xfrm>
          <a:prstGeom prst="rect">
            <a:avLst/>
          </a:prstGeom>
        </p:spPr>
      </p:pic>
      <p:pic>
        <p:nvPicPr>
          <p:cNvPr id="14" name="Image 13"/>
          <p:cNvPicPr>
            <a:picLocks noChangeAspect="1"/>
          </p:cNvPicPr>
          <p:nvPr/>
        </p:nvPicPr>
        <p:blipFill>
          <a:blip r:embed="rId4"/>
          <a:stretch>
            <a:fillRect/>
          </a:stretch>
        </p:blipFill>
        <p:spPr>
          <a:xfrm>
            <a:off x="4192292" y="2699990"/>
            <a:ext cx="317019" cy="353599"/>
          </a:xfrm>
          <a:prstGeom prst="rect">
            <a:avLst/>
          </a:prstGeom>
        </p:spPr>
      </p:pic>
      <p:pic>
        <p:nvPicPr>
          <p:cNvPr id="15" name="Image 14"/>
          <p:cNvPicPr>
            <a:picLocks noChangeAspect="1"/>
          </p:cNvPicPr>
          <p:nvPr/>
        </p:nvPicPr>
        <p:blipFill>
          <a:blip r:embed="rId5"/>
          <a:stretch>
            <a:fillRect/>
          </a:stretch>
        </p:blipFill>
        <p:spPr>
          <a:xfrm>
            <a:off x="638541" y="1556200"/>
            <a:ext cx="3553751" cy="2925795"/>
          </a:xfrm>
          <a:prstGeom prst="rect">
            <a:avLst/>
          </a:prstGeom>
        </p:spPr>
      </p:pic>
      <p:pic>
        <p:nvPicPr>
          <p:cNvPr id="16" name="Image 15"/>
          <p:cNvPicPr>
            <a:picLocks noChangeAspect="1"/>
          </p:cNvPicPr>
          <p:nvPr/>
        </p:nvPicPr>
        <p:blipFill>
          <a:blip r:embed="rId6"/>
          <a:stretch>
            <a:fillRect/>
          </a:stretch>
        </p:blipFill>
        <p:spPr>
          <a:xfrm>
            <a:off x="1251725" y="2635638"/>
            <a:ext cx="487722" cy="274344"/>
          </a:xfrm>
          <a:prstGeom prst="rect">
            <a:avLst/>
          </a:prstGeom>
        </p:spPr>
      </p:pic>
      <p:pic>
        <p:nvPicPr>
          <p:cNvPr id="18" name="Image 17"/>
          <p:cNvPicPr>
            <a:picLocks noChangeAspect="1"/>
          </p:cNvPicPr>
          <p:nvPr/>
        </p:nvPicPr>
        <p:blipFill>
          <a:blip r:embed="rId7"/>
          <a:stretch>
            <a:fillRect/>
          </a:stretch>
        </p:blipFill>
        <p:spPr>
          <a:xfrm>
            <a:off x="1643625" y="2455790"/>
            <a:ext cx="317019" cy="359695"/>
          </a:xfrm>
          <a:prstGeom prst="rect">
            <a:avLst/>
          </a:prstGeom>
        </p:spPr>
      </p:pic>
      <p:pic>
        <p:nvPicPr>
          <p:cNvPr id="19" name="Image 18"/>
          <p:cNvPicPr>
            <a:picLocks noChangeAspect="1"/>
          </p:cNvPicPr>
          <p:nvPr/>
        </p:nvPicPr>
        <p:blipFill>
          <a:blip r:embed="rId8"/>
          <a:stretch>
            <a:fillRect/>
          </a:stretch>
        </p:blipFill>
        <p:spPr>
          <a:xfrm>
            <a:off x="1251725" y="3095743"/>
            <a:ext cx="627942" cy="217913"/>
          </a:xfrm>
          <a:prstGeom prst="rect">
            <a:avLst/>
          </a:prstGeom>
        </p:spPr>
      </p:pic>
      <p:pic>
        <p:nvPicPr>
          <p:cNvPr id="20" name="Image 19"/>
          <p:cNvPicPr>
            <a:picLocks noChangeAspect="1"/>
          </p:cNvPicPr>
          <p:nvPr/>
        </p:nvPicPr>
        <p:blipFill>
          <a:blip r:embed="rId9"/>
          <a:stretch>
            <a:fillRect/>
          </a:stretch>
        </p:blipFill>
        <p:spPr>
          <a:xfrm>
            <a:off x="1802134" y="2918943"/>
            <a:ext cx="317019" cy="353599"/>
          </a:xfrm>
          <a:prstGeom prst="rect">
            <a:avLst/>
          </a:prstGeom>
        </p:spPr>
      </p:pic>
      <p:pic>
        <p:nvPicPr>
          <p:cNvPr id="21" name="Image 20"/>
          <p:cNvPicPr>
            <a:picLocks noChangeAspect="1"/>
          </p:cNvPicPr>
          <p:nvPr/>
        </p:nvPicPr>
        <p:blipFill>
          <a:blip r:embed="rId10"/>
          <a:stretch>
            <a:fillRect/>
          </a:stretch>
        </p:blipFill>
        <p:spPr>
          <a:xfrm>
            <a:off x="719781" y="4093455"/>
            <a:ext cx="2651990" cy="256054"/>
          </a:xfrm>
          <a:prstGeom prst="rect">
            <a:avLst/>
          </a:prstGeom>
        </p:spPr>
      </p:pic>
      <p:pic>
        <p:nvPicPr>
          <p:cNvPr id="22" name="Image 21"/>
          <p:cNvPicPr>
            <a:picLocks noChangeAspect="1"/>
          </p:cNvPicPr>
          <p:nvPr/>
        </p:nvPicPr>
        <p:blipFill>
          <a:blip r:embed="rId4"/>
          <a:stretch>
            <a:fillRect/>
          </a:stretch>
        </p:blipFill>
        <p:spPr>
          <a:xfrm>
            <a:off x="3271979" y="3938410"/>
            <a:ext cx="317019" cy="353599"/>
          </a:xfrm>
          <a:prstGeom prst="rect">
            <a:avLst/>
          </a:prstGeom>
        </p:spPr>
      </p:pic>
    </p:spTree>
    <p:extLst>
      <p:ext uri="{BB962C8B-B14F-4D97-AF65-F5344CB8AC3E}">
        <p14:creationId xmlns:p14="http://schemas.microsoft.com/office/powerpoint/2010/main" val="560382683"/>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000" dirty="0">
                <a:latin typeface="+mn-lt"/>
                <a:cs typeface="Arial" panose="020B0604020202020204" pitchFamily="34" charset="0"/>
              </a:rPr>
              <a:t>M</a:t>
            </a:r>
            <a:r>
              <a:rPr lang="fr-FR" altLang="en-US" sz="2000" dirty="0" smtClean="0">
                <a:latin typeface="+mn-lt"/>
                <a:cs typeface="Arial" panose="020B0604020202020204" pitchFamily="34" charset="0"/>
              </a:rPr>
              <a:t>ode </a:t>
            </a:r>
            <a:r>
              <a:rPr lang="fr-FR" altLang="en-US" sz="2000" dirty="0">
                <a:latin typeface="+mn-lt"/>
                <a:cs typeface="Arial" panose="020B0604020202020204" pitchFamily="34" charset="0"/>
              </a:rPr>
              <a:t>opératoire dans </a:t>
            </a:r>
            <a:r>
              <a:rPr lang="fr-FR" altLang="en-US" sz="2000" dirty="0" smtClean="0">
                <a:latin typeface="+mn-lt"/>
                <a:cs typeface="Arial" panose="020B0604020202020204" pitchFamily="34" charset="0"/>
              </a:rPr>
              <a:t>SAP </a:t>
            </a:r>
            <a:r>
              <a:rPr lang="fr-FR" altLang="en-US" sz="2000" dirty="0">
                <a:latin typeface="+mn-lt"/>
                <a:cs typeface="Arial" panose="020B0604020202020204" pitchFamily="34" charset="0"/>
              </a:rPr>
              <a:t>pour la saisie d’une facture fournisseur </a:t>
            </a:r>
            <a:r>
              <a:rPr lang="fr-FR" altLang="en-US" sz="2000" dirty="0" smtClean="0">
                <a:latin typeface="+mn-lt"/>
                <a:cs typeface="Arial" panose="020B0604020202020204" pitchFamily="34" charset="0"/>
              </a:rPr>
              <a:t>sans </a:t>
            </a:r>
            <a:r>
              <a:rPr lang="fr-FR" altLang="en-US" sz="2000" dirty="0">
                <a:latin typeface="+mn-lt"/>
                <a:cs typeface="Arial" panose="020B0604020202020204" pitchFamily="34" charset="0"/>
              </a:rPr>
              <a:t>référence à une commande </a:t>
            </a:r>
            <a:r>
              <a:rPr lang="fr-FR" altLang="en-US" sz="2000" dirty="0" smtClean="0">
                <a:latin typeface="+mn-lt"/>
                <a:cs typeface="Arial" panose="020B0604020202020204" pitchFamily="34" charset="0"/>
              </a:rPr>
              <a:t>d’achat </a:t>
            </a:r>
            <a:r>
              <a:rPr lang="fr-FR" altLang="en-US" sz="2000" dirty="0" smtClean="0">
                <a:cs typeface="Arial" panose="020B0604020202020204" pitchFamily="34" charset="0"/>
              </a:rPr>
              <a:t>2/5</a:t>
            </a:r>
            <a:r>
              <a:rPr lang="fr-FR" altLang="en-US" sz="2000" dirty="0" smtClean="0">
                <a:latin typeface="+mn-lt"/>
                <a:cs typeface="Arial" panose="020B0604020202020204" pitchFamily="34" charset="0"/>
              </a:rPr>
              <a:t> </a:t>
            </a:r>
            <a:endParaRPr lang="en-US" altLang="en-US" sz="2000" dirty="0" smtClean="0">
              <a:latin typeface="+mn-lt"/>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smtClean="0">
                <a:cs typeface="Arial" panose="020B0604020202020204" pitchFamily="34" charset="0"/>
              </a:rPr>
              <a:t>										Renseigner les données suivantes : </a:t>
            </a:r>
          </a:p>
          <a:p>
            <a:r>
              <a:rPr lang="fr-FR" dirty="0">
                <a:cs typeface="Arial" panose="020B0604020202020204" pitchFamily="34" charset="0"/>
              </a:rPr>
              <a:t>	</a:t>
            </a:r>
            <a:r>
              <a:rPr lang="fr-FR" dirty="0" smtClean="0">
                <a:cs typeface="Arial" panose="020B0604020202020204" pitchFamily="34" charset="0"/>
              </a:rPr>
              <a:t>									La condition de paiement </a:t>
            </a:r>
          </a:p>
          <a:p>
            <a:r>
              <a:rPr lang="fr-FR" dirty="0">
                <a:cs typeface="Arial" panose="020B0604020202020204" pitchFamily="34" charset="0"/>
              </a:rPr>
              <a:t>	</a:t>
            </a:r>
            <a:r>
              <a:rPr lang="fr-FR" dirty="0" smtClean="0">
                <a:cs typeface="Arial" panose="020B0604020202020204" pitchFamily="34" charset="0"/>
              </a:rPr>
              <a:t>									le mode de paiement</a:t>
            </a:r>
          </a:p>
          <a:p>
            <a:r>
              <a:rPr lang="fr-FR" dirty="0">
                <a:cs typeface="Arial" panose="020B0604020202020204" pitchFamily="34" charset="0"/>
              </a:rPr>
              <a:t>	</a:t>
            </a:r>
            <a:r>
              <a:rPr lang="fr-FR" dirty="0" smtClean="0">
                <a:cs typeface="Arial" panose="020B0604020202020204" pitchFamily="34" charset="0"/>
              </a:rPr>
              <a:t>									la banque société</a:t>
            </a:r>
          </a:p>
          <a:p>
            <a:r>
              <a:rPr lang="fr-FR" dirty="0">
                <a:cs typeface="Arial" panose="020B0604020202020204" pitchFamily="34" charset="0"/>
              </a:rPr>
              <a:t>	</a:t>
            </a:r>
            <a:r>
              <a:rPr lang="fr-FR" dirty="0" smtClean="0">
                <a:cs typeface="Arial" panose="020B0604020202020204" pitchFamily="34" charset="0"/>
              </a:rPr>
              <a:t>									Cliquer sur le pavé Simuler : </a:t>
            </a:r>
          </a:p>
          <a:p>
            <a:endParaRPr lang="fr-FR" dirty="0" smtClean="0">
              <a:cs typeface="Arial" panose="020B0604020202020204" pitchFamily="34" charset="0"/>
            </a:endParaRPr>
          </a:p>
          <a:p>
            <a:r>
              <a:rPr lang="fr-FR" dirty="0" smtClean="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20</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4176315" y="1462003"/>
            <a:ext cx="310923" cy="359695"/>
          </a:xfrm>
          <a:prstGeom prst="rect">
            <a:avLst/>
          </a:prstGeom>
        </p:spPr>
      </p:pic>
      <p:pic>
        <p:nvPicPr>
          <p:cNvPr id="7" name="Image 6"/>
          <p:cNvPicPr>
            <a:picLocks noChangeAspect="1"/>
          </p:cNvPicPr>
          <p:nvPr/>
        </p:nvPicPr>
        <p:blipFill>
          <a:blip r:embed="rId3"/>
          <a:stretch>
            <a:fillRect/>
          </a:stretch>
        </p:blipFill>
        <p:spPr>
          <a:xfrm>
            <a:off x="4176315" y="1821698"/>
            <a:ext cx="310923" cy="353599"/>
          </a:xfrm>
          <a:prstGeom prst="rect">
            <a:avLst/>
          </a:prstGeom>
        </p:spPr>
      </p:pic>
      <p:pic>
        <p:nvPicPr>
          <p:cNvPr id="10" name="Image 9"/>
          <p:cNvPicPr>
            <a:picLocks noChangeAspect="1"/>
          </p:cNvPicPr>
          <p:nvPr/>
        </p:nvPicPr>
        <p:blipFill>
          <a:blip r:embed="rId4"/>
          <a:stretch>
            <a:fillRect/>
          </a:stretch>
        </p:blipFill>
        <p:spPr>
          <a:xfrm>
            <a:off x="4176315" y="2157213"/>
            <a:ext cx="310923" cy="359695"/>
          </a:xfrm>
          <a:prstGeom prst="rect">
            <a:avLst/>
          </a:prstGeom>
        </p:spPr>
      </p:pic>
      <p:pic>
        <p:nvPicPr>
          <p:cNvPr id="13" name="Image 12"/>
          <p:cNvPicPr>
            <a:picLocks noChangeAspect="1"/>
          </p:cNvPicPr>
          <p:nvPr/>
        </p:nvPicPr>
        <p:blipFill>
          <a:blip r:embed="rId5"/>
          <a:stretch>
            <a:fillRect/>
          </a:stretch>
        </p:blipFill>
        <p:spPr>
          <a:xfrm>
            <a:off x="4171047" y="2510812"/>
            <a:ext cx="316192" cy="365791"/>
          </a:xfrm>
          <a:prstGeom prst="rect">
            <a:avLst/>
          </a:prstGeom>
        </p:spPr>
      </p:pic>
      <p:pic>
        <p:nvPicPr>
          <p:cNvPr id="15" name="Image 14"/>
          <p:cNvPicPr>
            <a:picLocks noChangeAspect="1"/>
          </p:cNvPicPr>
          <p:nvPr/>
        </p:nvPicPr>
        <p:blipFill>
          <a:blip r:embed="rId6"/>
          <a:stretch>
            <a:fillRect/>
          </a:stretch>
        </p:blipFill>
        <p:spPr>
          <a:xfrm>
            <a:off x="571535" y="1216617"/>
            <a:ext cx="3599511" cy="3191781"/>
          </a:xfrm>
          <a:prstGeom prst="rect">
            <a:avLst/>
          </a:prstGeom>
        </p:spPr>
      </p:pic>
      <p:pic>
        <p:nvPicPr>
          <p:cNvPr id="16" name="Image 15"/>
          <p:cNvPicPr>
            <a:picLocks noChangeAspect="1"/>
          </p:cNvPicPr>
          <p:nvPr/>
        </p:nvPicPr>
        <p:blipFill>
          <a:blip r:embed="rId7"/>
          <a:stretch>
            <a:fillRect/>
          </a:stretch>
        </p:blipFill>
        <p:spPr>
          <a:xfrm>
            <a:off x="2215828" y="2330964"/>
            <a:ext cx="310923" cy="359695"/>
          </a:xfrm>
          <a:prstGeom prst="rect">
            <a:avLst/>
          </a:prstGeom>
        </p:spPr>
      </p:pic>
      <p:pic>
        <p:nvPicPr>
          <p:cNvPr id="17" name="Image 16"/>
          <p:cNvPicPr>
            <a:picLocks noChangeAspect="1"/>
          </p:cNvPicPr>
          <p:nvPr/>
        </p:nvPicPr>
        <p:blipFill>
          <a:blip r:embed="rId8"/>
          <a:stretch>
            <a:fillRect/>
          </a:stretch>
        </p:blipFill>
        <p:spPr>
          <a:xfrm>
            <a:off x="1007596" y="2996833"/>
            <a:ext cx="154529" cy="148585"/>
          </a:xfrm>
          <a:prstGeom prst="rect">
            <a:avLst/>
          </a:prstGeom>
        </p:spPr>
      </p:pic>
      <p:pic>
        <p:nvPicPr>
          <p:cNvPr id="18" name="Image 17"/>
          <p:cNvPicPr>
            <a:picLocks noChangeAspect="1"/>
          </p:cNvPicPr>
          <p:nvPr/>
        </p:nvPicPr>
        <p:blipFill>
          <a:blip r:embed="rId9"/>
          <a:stretch>
            <a:fillRect/>
          </a:stretch>
        </p:blipFill>
        <p:spPr>
          <a:xfrm>
            <a:off x="1087477" y="2820033"/>
            <a:ext cx="310923" cy="353599"/>
          </a:xfrm>
          <a:prstGeom prst="rect">
            <a:avLst/>
          </a:prstGeom>
        </p:spPr>
      </p:pic>
      <p:pic>
        <p:nvPicPr>
          <p:cNvPr id="19" name="Image 18"/>
          <p:cNvPicPr>
            <a:picLocks noChangeAspect="1"/>
          </p:cNvPicPr>
          <p:nvPr/>
        </p:nvPicPr>
        <p:blipFill>
          <a:blip r:embed="rId10"/>
          <a:stretch>
            <a:fillRect/>
          </a:stretch>
        </p:blipFill>
        <p:spPr>
          <a:xfrm>
            <a:off x="2323793" y="2982725"/>
            <a:ext cx="652329" cy="176799"/>
          </a:xfrm>
          <a:prstGeom prst="rect">
            <a:avLst/>
          </a:prstGeom>
        </p:spPr>
      </p:pic>
      <p:pic>
        <p:nvPicPr>
          <p:cNvPr id="20" name="Image 19"/>
          <p:cNvPicPr>
            <a:picLocks noChangeAspect="1"/>
          </p:cNvPicPr>
          <p:nvPr/>
        </p:nvPicPr>
        <p:blipFill>
          <a:blip r:embed="rId11"/>
          <a:stretch>
            <a:fillRect/>
          </a:stretch>
        </p:blipFill>
        <p:spPr>
          <a:xfrm>
            <a:off x="2846588" y="2820033"/>
            <a:ext cx="317019" cy="359695"/>
          </a:xfrm>
          <a:prstGeom prst="rect">
            <a:avLst/>
          </a:prstGeom>
        </p:spPr>
      </p:pic>
      <p:pic>
        <p:nvPicPr>
          <p:cNvPr id="21" name="Image 20"/>
          <p:cNvPicPr>
            <a:picLocks noChangeAspect="1"/>
          </p:cNvPicPr>
          <p:nvPr/>
        </p:nvPicPr>
        <p:blipFill>
          <a:blip r:embed="rId12"/>
          <a:stretch>
            <a:fillRect/>
          </a:stretch>
        </p:blipFill>
        <p:spPr>
          <a:xfrm>
            <a:off x="1852844" y="1853389"/>
            <a:ext cx="438950" cy="170703"/>
          </a:xfrm>
          <a:prstGeom prst="rect">
            <a:avLst/>
          </a:prstGeom>
        </p:spPr>
      </p:pic>
      <p:pic>
        <p:nvPicPr>
          <p:cNvPr id="22" name="Image 21"/>
          <p:cNvPicPr>
            <a:picLocks noChangeAspect="1"/>
          </p:cNvPicPr>
          <p:nvPr/>
        </p:nvPicPr>
        <p:blipFill>
          <a:blip r:embed="rId13"/>
          <a:stretch>
            <a:fillRect/>
          </a:stretch>
        </p:blipFill>
        <p:spPr>
          <a:xfrm>
            <a:off x="2201615" y="1660336"/>
            <a:ext cx="317019" cy="365792"/>
          </a:xfrm>
          <a:prstGeom prst="rect">
            <a:avLst/>
          </a:prstGeom>
        </p:spPr>
      </p:pic>
      <p:pic>
        <p:nvPicPr>
          <p:cNvPr id="23" name="Image 22"/>
          <p:cNvPicPr>
            <a:picLocks noChangeAspect="1"/>
          </p:cNvPicPr>
          <p:nvPr/>
        </p:nvPicPr>
        <p:blipFill>
          <a:blip r:embed="rId14"/>
          <a:stretch>
            <a:fillRect/>
          </a:stretch>
        </p:blipFill>
        <p:spPr>
          <a:xfrm>
            <a:off x="4250927" y="2820990"/>
            <a:ext cx="4016536" cy="1572106"/>
          </a:xfrm>
          <a:prstGeom prst="rect">
            <a:avLst/>
          </a:prstGeom>
        </p:spPr>
      </p:pic>
      <p:pic>
        <p:nvPicPr>
          <p:cNvPr id="24" name="Image 23"/>
          <p:cNvPicPr>
            <a:picLocks noChangeAspect="1"/>
          </p:cNvPicPr>
          <p:nvPr/>
        </p:nvPicPr>
        <p:blipFill>
          <a:blip r:embed="rId15"/>
          <a:stretch>
            <a:fillRect/>
          </a:stretch>
        </p:blipFill>
        <p:spPr>
          <a:xfrm>
            <a:off x="6896266" y="1938740"/>
            <a:ext cx="310923" cy="359695"/>
          </a:xfrm>
          <a:prstGeom prst="rect">
            <a:avLst/>
          </a:prstGeom>
        </p:spPr>
      </p:pic>
      <p:pic>
        <p:nvPicPr>
          <p:cNvPr id="25" name="Image 24"/>
          <p:cNvPicPr>
            <a:picLocks noChangeAspect="1"/>
          </p:cNvPicPr>
          <p:nvPr/>
        </p:nvPicPr>
        <p:blipFill>
          <a:blip r:embed="rId16"/>
          <a:stretch>
            <a:fillRect/>
          </a:stretch>
        </p:blipFill>
        <p:spPr>
          <a:xfrm>
            <a:off x="5650231" y="2972887"/>
            <a:ext cx="158510" cy="146317"/>
          </a:xfrm>
          <a:prstGeom prst="rect">
            <a:avLst/>
          </a:prstGeom>
        </p:spPr>
      </p:pic>
      <p:pic>
        <p:nvPicPr>
          <p:cNvPr id="26" name="Image 25"/>
          <p:cNvPicPr>
            <a:picLocks noChangeAspect="1"/>
          </p:cNvPicPr>
          <p:nvPr/>
        </p:nvPicPr>
        <p:blipFill>
          <a:blip r:embed="rId17"/>
          <a:stretch>
            <a:fillRect/>
          </a:stretch>
        </p:blipFill>
        <p:spPr>
          <a:xfrm>
            <a:off x="5729486" y="2802877"/>
            <a:ext cx="310923" cy="359695"/>
          </a:xfrm>
          <a:prstGeom prst="rect">
            <a:avLst/>
          </a:prstGeom>
        </p:spPr>
      </p:pic>
    </p:spTree>
    <p:extLst>
      <p:ext uri="{BB962C8B-B14F-4D97-AF65-F5344CB8AC3E}">
        <p14:creationId xmlns:p14="http://schemas.microsoft.com/office/powerpoint/2010/main" val="3326951250"/>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000" dirty="0">
                <a:latin typeface="+mn-lt"/>
                <a:cs typeface="Arial" panose="020B0604020202020204" pitchFamily="34" charset="0"/>
              </a:rPr>
              <a:t>M</a:t>
            </a:r>
            <a:r>
              <a:rPr lang="fr-FR" altLang="en-US" sz="2000" dirty="0" smtClean="0">
                <a:latin typeface="+mn-lt"/>
                <a:cs typeface="Arial" panose="020B0604020202020204" pitchFamily="34" charset="0"/>
              </a:rPr>
              <a:t>ode </a:t>
            </a:r>
            <a:r>
              <a:rPr lang="fr-FR" altLang="en-US" sz="2000" dirty="0">
                <a:latin typeface="+mn-lt"/>
                <a:cs typeface="Arial" panose="020B0604020202020204" pitchFamily="34" charset="0"/>
              </a:rPr>
              <a:t>opératoire dans </a:t>
            </a:r>
            <a:r>
              <a:rPr lang="fr-FR" altLang="en-US" sz="2000" dirty="0" smtClean="0">
                <a:latin typeface="+mn-lt"/>
                <a:cs typeface="Arial" panose="020B0604020202020204" pitchFamily="34" charset="0"/>
              </a:rPr>
              <a:t>SAP </a:t>
            </a:r>
            <a:r>
              <a:rPr lang="fr-FR" altLang="en-US" sz="2000" dirty="0">
                <a:latin typeface="+mn-lt"/>
                <a:cs typeface="Arial" panose="020B0604020202020204" pitchFamily="34" charset="0"/>
              </a:rPr>
              <a:t>pour la saisie d’une facture fournisseur </a:t>
            </a:r>
            <a:r>
              <a:rPr lang="fr-FR" altLang="en-US" sz="2000" dirty="0" smtClean="0">
                <a:latin typeface="+mn-lt"/>
                <a:cs typeface="Arial" panose="020B0604020202020204" pitchFamily="34" charset="0"/>
              </a:rPr>
              <a:t>sans </a:t>
            </a:r>
            <a:r>
              <a:rPr lang="fr-FR" altLang="en-US" sz="2000" dirty="0">
                <a:latin typeface="+mn-lt"/>
                <a:cs typeface="Arial" panose="020B0604020202020204" pitchFamily="34" charset="0"/>
              </a:rPr>
              <a:t>référence à une commande </a:t>
            </a:r>
            <a:r>
              <a:rPr lang="fr-FR" altLang="en-US" sz="2000" dirty="0" smtClean="0">
                <a:latin typeface="+mn-lt"/>
                <a:cs typeface="Arial" panose="020B0604020202020204" pitchFamily="34" charset="0"/>
              </a:rPr>
              <a:t>d’achat </a:t>
            </a:r>
            <a:r>
              <a:rPr lang="fr-FR" altLang="en-US" sz="2000" dirty="0" smtClean="0">
                <a:cs typeface="Arial" panose="020B0604020202020204" pitchFamily="34" charset="0"/>
              </a:rPr>
              <a:t>3/5</a:t>
            </a:r>
            <a:r>
              <a:rPr lang="fr-FR" altLang="en-US" sz="2000" dirty="0" smtClean="0">
                <a:latin typeface="+mn-lt"/>
                <a:cs typeface="Arial" panose="020B0604020202020204" pitchFamily="34" charset="0"/>
              </a:rPr>
              <a:t> </a:t>
            </a:r>
            <a:endParaRPr lang="en-US" altLang="en-US" sz="2000" dirty="0" smtClean="0">
              <a:latin typeface="+mn-lt"/>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smtClean="0">
                <a:cs typeface="Arial" panose="020B0604020202020204" pitchFamily="34" charset="0"/>
              </a:rPr>
              <a:t>Revenir en arrière en cliquant sur la touche verte     et faites : Pièce Préenregistrer. Le numéro de la pièce s ’affiche en bas de l’écran : </a:t>
            </a:r>
          </a:p>
          <a:p>
            <a:r>
              <a:rPr lang="fr-FR" dirty="0" smtClean="0">
                <a:cs typeface="Arial" panose="020B0604020202020204" pitchFamily="34" charset="0"/>
              </a:rPr>
              <a:t> 								</a:t>
            </a:r>
          </a:p>
          <a:p>
            <a:r>
              <a:rPr lang="fr-FR" dirty="0" smtClean="0">
                <a:cs typeface="Arial" panose="020B0604020202020204" pitchFamily="34" charset="0"/>
              </a:rPr>
              <a:t>Pour afficher la pièce faites la transaction FV63</a:t>
            </a:r>
          </a:p>
          <a:p>
            <a:endParaRPr lang="fr-FR" dirty="0" smtClean="0">
              <a:cs typeface="Arial" panose="020B0604020202020204" pitchFamily="34" charset="0"/>
            </a:endParaRPr>
          </a:p>
          <a:p>
            <a:r>
              <a:rPr lang="fr-FR" dirty="0" smtClean="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21</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3525385" y="1103444"/>
            <a:ext cx="310923" cy="359695"/>
          </a:xfrm>
          <a:prstGeom prst="rect">
            <a:avLst/>
          </a:prstGeom>
        </p:spPr>
      </p:pic>
      <p:pic>
        <p:nvPicPr>
          <p:cNvPr id="4" name="Image 3"/>
          <p:cNvPicPr>
            <a:picLocks noChangeAspect="1"/>
          </p:cNvPicPr>
          <p:nvPr/>
        </p:nvPicPr>
        <p:blipFill>
          <a:blip r:embed="rId3"/>
          <a:stretch>
            <a:fillRect/>
          </a:stretch>
        </p:blipFill>
        <p:spPr>
          <a:xfrm>
            <a:off x="558078" y="1463139"/>
            <a:ext cx="2819400" cy="219075"/>
          </a:xfrm>
          <a:prstGeom prst="rect">
            <a:avLst/>
          </a:prstGeom>
        </p:spPr>
      </p:pic>
    </p:spTree>
    <p:extLst>
      <p:ext uri="{BB962C8B-B14F-4D97-AF65-F5344CB8AC3E}">
        <p14:creationId xmlns:p14="http://schemas.microsoft.com/office/powerpoint/2010/main" val="1516398288"/>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000" dirty="0">
                <a:latin typeface="+mn-lt"/>
                <a:cs typeface="Arial" panose="020B0604020202020204" pitchFamily="34" charset="0"/>
              </a:rPr>
              <a:t>M</a:t>
            </a:r>
            <a:r>
              <a:rPr lang="fr-FR" altLang="en-US" sz="2000" dirty="0" smtClean="0">
                <a:latin typeface="+mn-lt"/>
                <a:cs typeface="Arial" panose="020B0604020202020204" pitchFamily="34" charset="0"/>
              </a:rPr>
              <a:t>ode </a:t>
            </a:r>
            <a:r>
              <a:rPr lang="fr-FR" altLang="en-US" sz="2000" dirty="0">
                <a:latin typeface="+mn-lt"/>
                <a:cs typeface="Arial" panose="020B0604020202020204" pitchFamily="34" charset="0"/>
              </a:rPr>
              <a:t>opératoire dans </a:t>
            </a:r>
            <a:r>
              <a:rPr lang="fr-FR" altLang="en-US" sz="2000" dirty="0" smtClean="0">
                <a:latin typeface="+mn-lt"/>
                <a:cs typeface="Arial" panose="020B0604020202020204" pitchFamily="34" charset="0"/>
              </a:rPr>
              <a:t>SAP </a:t>
            </a:r>
            <a:r>
              <a:rPr lang="fr-FR" altLang="en-US" sz="2000" dirty="0">
                <a:latin typeface="+mn-lt"/>
                <a:cs typeface="Arial" panose="020B0604020202020204" pitchFamily="34" charset="0"/>
              </a:rPr>
              <a:t>pour la saisie d’une facture fournisseur </a:t>
            </a:r>
            <a:r>
              <a:rPr lang="fr-FR" altLang="en-US" sz="2000" dirty="0" smtClean="0">
                <a:latin typeface="+mn-lt"/>
                <a:cs typeface="Arial" panose="020B0604020202020204" pitchFamily="34" charset="0"/>
              </a:rPr>
              <a:t>sans </a:t>
            </a:r>
            <a:r>
              <a:rPr lang="fr-FR" altLang="en-US" sz="2000" dirty="0">
                <a:latin typeface="+mn-lt"/>
                <a:cs typeface="Arial" panose="020B0604020202020204" pitchFamily="34" charset="0"/>
              </a:rPr>
              <a:t>référence à une commande d’achat </a:t>
            </a:r>
            <a:r>
              <a:rPr lang="fr-FR" altLang="en-US" sz="2000" dirty="0" smtClean="0">
                <a:cs typeface="Arial" panose="020B0604020202020204" pitchFamily="34" charset="0"/>
              </a:rPr>
              <a:t>4/5</a:t>
            </a:r>
            <a:endParaRPr lang="en-US" altLang="en-US" sz="2000" dirty="0" smtClean="0">
              <a:latin typeface="+mn-lt"/>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smtClean="0">
                <a:cs typeface="Arial" panose="020B0604020202020204" pitchFamily="34" charset="0"/>
              </a:rPr>
              <a:t>Depuis le menu SAP : Gestion Comptable / Comptabilité Financière / Grand livre / Pièce / Pièce Préenregistrées / Comptabiliser / Supprimer : FBV0</a:t>
            </a:r>
          </a:p>
          <a:p>
            <a:r>
              <a:rPr lang="fr-FR" dirty="0" smtClean="0">
                <a:cs typeface="Arial" panose="020B0604020202020204" pitchFamily="34" charset="0"/>
              </a:rPr>
              <a:t>								Renseigner les données suivantes : </a:t>
            </a:r>
          </a:p>
          <a:p>
            <a:r>
              <a:rPr lang="fr-FR" dirty="0">
                <a:cs typeface="Arial" panose="020B0604020202020204" pitchFamily="34" charset="0"/>
              </a:rPr>
              <a:t>	</a:t>
            </a:r>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La société, le numéro de la pièce préenregistrée ultérieurement et faites « Entrée »</a:t>
            </a:r>
          </a:p>
          <a:p>
            <a:r>
              <a:rPr lang="fr-FR" dirty="0" smtClean="0">
                <a:cs typeface="Arial" panose="020B0604020202020204" pitchFamily="34" charset="0"/>
              </a:rPr>
              <a:t> </a:t>
            </a:r>
          </a:p>
          <a:p>
            <a:endParaRPr lang="fr-FR" dirty="0" smtClean="0">
              <a:cs typeface="Arial" panose="020B0604020202020204" pitchFamily="34" charset="0"/>
            </a:endParaRPr>
          </a:p>
          <a:p>
            <a:endParaRPr lang="fr-FR" dirty="0" smtClean="0">
              <a:cs typeface="Arial" panose="020B0604020202020204" pitchFamily="34" charset="0"/>
            </a:endParaRPr>
          </a:p>
          <a:p>
            <a:r>
              <a:rPr lang="fr-FR" dirty="0" smtClean="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r>
              <a:rPr lang="fr-FR" dirty="0" smtClean="0">
                <a:cs typeface="Arial" panose="020B0604020202020204" pitchFamily="34" charset="0"/>
              </a:rPr>
              <a:t>Cliquer sur la disquette afin de comptabiliser. </a:t>
            </a: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22</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9" y="1662940"/>
            <a:ext cx="2704314" cy="2358871"/>
          </a:xfrm>
          <a:prstGeom prst="rect">
            <a:avLst/>
          </a:prstGeom>
        </p:spPr>
      </p:pic>
      <p:pic>
        <p:nvPicPr>
          <p:cNvPr id="4" name="Image 3"/>
          <p:cNvPicPr>
            <a:picLocks noChangeAspect="1"/>
          </p:cNvPicPr>
          <p:nvPr/>
        </p:nvPicPr>
        <p:blipFill>
          <a:blip r:embed="rId3"/>
          <a:stretch>
            <a:fillRect/>
          </a:stretch>
        </p:blipFill>
        <p:spPr>
          <a:xfrm>
            <a:off x="3494868" y="2256373"/>
            <a:ext cx="4364144" cy="1765438"/>
          </a:xfrm>
          <a:prstGeom prst="rect">
            <a:avLst/>
          </a:prstGeom>
        </p:spPr>
      </p:pic>
      <p:pic>
        <p:nvPicPr>
          <p:cNvPr id="5" name="Image 4"/>
          <p:cNvPicPr>
            <a:picLocks noChangeAspect="1"/>
          </p:cNvPicPr>
          <p:nvPr/>
        </p:nvPicPr>
        <p:blipFill>
          <a:blip r:embed="rId4"/>
          <a:stretch>
            <a:fillRect/>
          </a:stretch>
        </p:blipFill>
        <p:spPr>
          <a:xfrm>
            <a:off x="6603648" y="2607131"/>
            <a:ext cx="836910" cy="125727"/>
          </a:xfrm>
          <a:prstGeom prst="rect">
            <a:avLst/>
          </a:prstGeom>
        </p:spPr>
      </p:pic>
      <p:pic>
        <p:nvPicPr>
          <p:cNvPr id="6" name="Image 5"/>
          <p:cNvPicPr>
            <a:picLocks noChangeAspect="1"/>
          </p:cNvPicPr>
          <p:nvPr/>
        </p:nvPicPr>
        <p:blipFill>
          <a:blip r:embed="rId5"/>
          <a:stretch>
            <a:fillRect/>
          </a:stretch>
        </p:blipFill>
        <p:spPr>
          <a:xfrm>
            <a:off x="7338861" y="2391902"/>
            <a:ext cx="310923" cy="359695"/>
          </a:xfrm>
          <a:prstGeom prst="rect">
            <a:avLst/>
          </a:prstGeom>
        </p:spPr>
      </p:pic>
      <p:pic>
        <p:nvPicPr>
          <p:cNvPr id="7" name="Image 6"/>
          <p:cNvPicPr>
            <a:picLocks noChangeAspect="1"/>
          </p:cNvPicPr>
          <p:nvPr/>
        </p:nvPicPr>
        <p:blipFill>
          <a:blip r:embed="rId6"/>
          <a:stretch>
            <a:fillRect/>
          </a:stretch>
        </p:blipFill>
        <p:spPr>
          <a:xfrm>
            <a:off x="3339406" y="4040637"/>
            <a:ext cx="310923" cy="359695"/>
          </a:xfrm>
          <a:prstGeom prst="rect">
            <a:avLst/>
          </a:prstGeom>
        </p:spPr>
      </p:pic>
    </p:spTree>
    <p:extLst>
      <p:ext uri="{BB962C8B-B14F-4D97-AF65-F5344CB8AC3E}">
        <p14:creationId xmlns:p14="http://schemas.microsoft.com/office/powerpoint/2010/main" val="159917102"/>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000" dirty="0">
                <a:latin typeface="+mn-lt"/>
                <a:cs typeface="Arial" panose="020B0604020202020204" pitchFamily="34" charset="0"/>
              </a:rPr>
              <a:t>M</a:t>
            </a:r>
            <a:r>
              <a:rPr lang="fr-FR" altLang="en-US" sz="2000" dirty="0" smtClean="0">
                <a:latin typeface="+mn-lt"/>
                <a:cs typeface="Arial" panose="020B0604020202020204" pitchFamily="34" charset="0"/>
              </a:rPr>
              <a:t>ode </a:t>
            </a:r>
            <a:r>
              <a:rPr lang="fr-FR" altLang="en-US" sz="2000" dirty="0">
                <a:latin typeface="+mn-lt"/>
                <a:cs typeface="Arial" panose="020B0604020202020204" pitchFamily="34" charset="0"/>
              </a:rPr>
              <a:t>opératoire dans </a:t>
            </a:r>
            <a:r>
              <a:rPr lang="fr-FR" altLang="en-US" sz="2000" dirty="0" smtClean="0">
                <a:latin typeface="+mn-lt"/>
                <a:cs typeface="Arial" panose="020B0604020202020204" pitchFamily="34" charset="0"/>
              </a:rPr>
              <a:t>SAP </a:t>
            </a:r>
            <a:r>
              <a:rPr lang="fr-FR" altLang="en-US" sz="2000" dirty="0">
                <a:latin typeface="+mn-lt"/>
                <a:cs typeface="Arial" panose="020B0604020202020204" pitchFamily="34" charset="0"/>
              </a:rPr>
              <a:t>pour la saisie d’une facture fournisseur </a:t>
            </a:r>
            <a:r>
              <a:rPr lang="fr-FR" altLang="en-US" sz="2000" dirty="0" smtClean="0">
                <a:latin typeface="+mn-lt"/>
                <a:cs typeface="Arial" panose="020B0604020202020204" pitchFamily="34" charset="0"/>
              </a:rPr>
              <a:t>sans </a:t>
            </a:r>
            <a:r>
              <a:rPr lang="fr-FR" altLang="en-US" sz="2000" dirty="0">
                <a:latin typeface="+mn-lt"/>
                <a:cs typeface="Arial" panose="020B0604020202020204" pitchFamily="34" charset="0"/>
              </a:rPr>
              <a:t>référence à une commande d’achat </a:t>
            </a:r>
            <a:r>
              <a:rPr lang="fr-FR" altLang="en-US" sz="2000" dirty="0" smtClean="0">
                <a:cs typeface="Arial" panose="020B0604020202020204" pitchFamily="34" charset="0"/>
              </a:rPr>
              <a:t>5/5</a:t>
            </a:r>
            <a:endParaRPr lang="en-US" altLang="en-US" sz="2000" dirty="0" smtClean="0">
              <a:latin typeface="+mn-lt"/>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smtClean="0">
                <a:cs typeface="Arial" panose="020B0604020202020204" pitchFamily="34" charset="0"/>
              </a:rPr>
              <a:t>Le pop-up ci-dessous apparait : </a:t>
            </a:r>
          </a:p>
          <a:p>
            <a:endParaRPr lang="fr-FR" dirty="0" smtClean="0">
              <a:cs typeface="Arial" panose="020B0604020202020204" pitchFamily="34" charset="0"/>
            </a:endParaRPr>
          </a:p>
          <a:p>
            <a:r>
              <a:rPr lang="fr-FR" dirty="0" smtClean="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23</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498493"/>
            <a:ext cx="4191000" cy="1371600"/>
          </a:xfrm>
          <a:prstGeom prst="rect">
            <a:avLst/>
          </a:prstGeom>
        </p:spPr>
      </p:pic>
    </p:spTree>
    <p:extLst>
      <p:ext uri="{BB962C8B-B14F-4D97-AF65-F5344CB8AC3E}">
        <p14:creationId xmlns:p14="http://schemas.microsoft.com/office/powerpoint/2010/main" val="2127362441"/>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000" dirty="0">
                <a:latin typeface="+mn-lt"/>
                <a:cs typeface="Arial" panose="020B0604020202020204" pitchFamily="34" charset="0"/>
              </a:rPr>
              <a:t>M</a:t>
            </a:r>
            <a:r>
              <a:rPr lang="fr-FR" altLang="en-US" sz="2000" dirty="0" smtClean="0">
                <a:latin typeface="+mn-lt"/>
                <a:cs typeface="Arial" panose="020B0604020202020204" pitchFamily="34" charset="0"/>
              </a:rPr>
              <a:t>ode </a:t>
            </a:r>
            <a:r>
              <a:rPr lang="fr-FR" altLang="en-US" sz="2000" dirty="0">
                <a:latin typeface="+mn-lt"/>
                <a:cs typeface="Arial" panose="020B0604020202020204" pitchFamily="34" charset="0"/>
              </a:rPr>
              <a:t>opératoire dans </a:t>
            </a:r>
            <a:r>
              <a:rPr lang="fr-FR" altLang="en-US" sz="2000" dirty="0" smtClean="0">
                <a:latin typeface="+mn-lt"/>
                <a:cs typeface="Arial" panose="020B0604020202020204" pitchFamily="34" charset="0"/>
              </a:rPr>
              <a:t>SAP </a:t>
            </a:r>
            <a:r>
              <a:rPr lang="fr-FR" altLang="en-US" sz="2000" dirty="0">
                <a:latin typeface="+mn-lt"/>
                <a:cs typeface="Arial" panose="020B0604020202020204" pitchFamily="34" charset="0"/>
              </a:rPr>
              <a:t>pour la saisie </a:t>
            </a:r>
            <a:r>
              <a:rPr lang="fr-FR" altLang="en-US" sz="2000" dirty="0" smtClean="0">
                <a:latin typeface="+mn-lt"/>
                <a:cs typeface="Arial" panose="020B0604020202020204" pitchFamily="34" charset="0"/>
              </a:rPr>
              <a:t>d’un avoir fournisseur </a:t>
            </a:r>
            <a:r>
              <a:rPr lang="fr-FR" altLang="en-US" sz="2000" dirty="0" smtClean="0">
                <a:cs typeface="Arial" panose="020B0604020202020204" pitchFamily="34" charset="0"/>
              </a:rPr>
              <a:t>1/3</a:t>
            </a:r>
            <a:endParaRPr lang="en-US" altLang="en-US" sz="2000" dirty="0" smtClean="0">
              <a:latin typeface="+mn-lt"/>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smtClean="0">
                <a:cs typeface="Arial" panose="020B0604020202020204" pitchFamily="34" charset="0"/>
              </a:rPr>
              <a:t>Depuis le menu SAP : Gestion Comptable / Comptabilité Financière / Fournisseur / Ecriture / FB65 – Avoir </a:t>
            </a:r>
          </a:p>
          <a:p>
            <a:r>
              <a:rPr lang="fr-FR" dirty="0" smtClean="0">
                <a:cs typeface="Arial" panose="020B0604020202020204" pitchFamily="34" charset="0"/>
              </a:rPr>
              <a:t>										Renseigner les données suivantes :</a:t>
            </a:r>
          </a:p>
          <a:p>
            <a:r>
              <a:rPr lang="fr-FR" dirty="0">
                <a:cs typeface="Arial" panose="020B0604020202020204" pitchFamily="34" charset="0"/>
              </a:rPr>
              <a:t>	</a:t>
            </a:r>
            <a:r>
              <a:rPr lang="fr-FR" dirty="0" smtClean="0">
                <a:cs typeface="Arial" panose="020B0604020202020204" pitchFamily="34" charset="0"/>
              </a:rPr>
              <a:t>									Le code fournisseur et la date de pièce</a:t>
            </a:r>
          </a:p>
          <a:p>
            <a:r>
              <a:rPr lang="fr-FR" dirty="0">
                <a:cs typeface="Arial" panose="020B0604020202020204" pitchFamily="34" charset="0"/>
              </a:rPr>
              <a:t>	</a:t>
            </a:r>
            <a:r>
              <a:rPr lang="fr-FR" dirty="0" smtClean="0">
                <a:cs typeface="Arial" panose="020B0604020202020204" pitchFamily="34" charset="0"/>
              </a:rPr>
              <a:t>									le montant de l’avoir</a:t>
            </a:r>
          </a:p>
          <a:p>
            <a:r>
              <a:rPr lang="fr-FR" dirty="0">
                <a:cs typeface="Arial" panose="020B0604020202020204" pitchFamily="34" charset="0"/>
              </a:rPr>
              <a:t>	</a:t>
            </a:r>
            <a:r>
              <a:rPr lang="fr-FR" dirty="0" smtClean="0">
                <a:cs typeface="Arial" panose="020B0604020202020204" pitchFamily="34" charset="0"/>
              </a:rPr>
              <a:t>									le compte général, le montant et le centre de coût si nécessaire</a:t>
            </a:r>
          </a:p>
          <a:p>
            <a:r>
              <a:rPr lang="fr-FR" dirty="0">
                <a:cs typeface="Arial" panose="020B0604020202020204" pitchFamily="34" charset="0"/>
              </a:rPr>
              <a:t>	</a:t>
            </a:r>
            <a:r>
              <a:rPr lang="fr-FR" dirty="0" smtClean="0">
                <a:cs typeface="Arial" panose="020B0604020202020204" pitchFamily="34" charset="0"/>
              </a:rPr>
              <a:t>									Passer à l’onglet Paiement. </a:t>
            </a:r>
          </a:p>
          <a:p>
            <a:r>
              <a:rPr lang="fr-FR" dirty="0" smtClean="0">
                <a:cs typeface="Arial" panose="020B0604020202020204" pitchFamily="34" charset="0"/>
              </a:rPr>
              <a:t>  </a:t>
            </a:r>
          </a:p>
          <a:p>
            <a:r>
              <a:rPr lang="fr-FR" dirty="0" smtClean="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24</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573577" y="1361453"/>
            <a:ext cx="3626463" cy="2970323"/>
          </a:xfrm>
          <a:prstGeom prst="rect">
            <a:avLst/>
          </a:prstGeom>
        </p:spPr>
      </p:pic>
      <p:pic>
        <p:nvPicPr>
          <p:cNvPr id="6" name="Image 5"/>
          <p:cNvPicPr>
            <a:picLocks noChangeAspect="1"/>
          </p:cNvPicPr>
          <p:nvPr/>
        </p:nvPicPr>
        <p:blipFill>
          <a:blip r:embed="rId3"/>
          <a:stretch>
            <a:fillRect/>
          </a:stretch>
        </p:blipFill>
        <p:spPr>
          <a:xfrm>
            <a:off x="4200040" y="1813763"/>
            <a:ext cx="317019" cy="353599"/>
          </a:xfrm>
          <a:prstGeom prst="rect">
            <a:avLst/>
          </a:prstGeom>
        </p:spPr>
      </p:pic>
      <p:pic>
        <p:nvPicPr>
          <p:cNvPr id="7" name="Image 6"/>
          <p:cNvPicPr>
            <a:picLocks noChangeAspect="1"/>
          </p:cNvPicPr>
          <p:nvPr/>
        </p:nvPicPr>
        <p:blipFill>
          <a:blip r:embed="rId4"/>
          <a:stretch>
            <a:fillRect/>
          </a:stretch>
        </p:blipFill>
        <p:spPr>
          <a:xfrm>
            <a:off x="1194246" y="2529180"/>
            <a:ext cx="537190" cy="238052"/>
          </a:xfrm>
          <a:prstGeom prst="rect">
            <a:avLst/>
          </a:prstGeom>
        </p:spPr>
      </p:pic>
      <p:pic>
        <p:nvPicPr>
          <p:cNvPr id="8" name="Image 7"/>
          <p:cNvPicPr>
            <a:picLocks noChangeAspect="1"/>
          </p:cNvPicPr>
          <p:nvPr/>
        </p:nvPicPr>
        <p:blipFill>
          <a:blip r:embed="rId5"/>
          <a:stretch>
            <a:fillRect/>
          </a:stretch>
        </p:blipFill>
        <p:spPr>
          <a:xfrm>
            <a:off x="1631544" y="2352380"/>
            <a:ext cx="317019" cy="353599"/>
          </a:xfrm>
          <a:prstGeom prst="rect">
            <a:avLst/>
          </a:prstGeom>
        </p:spPr>
      </p:pic>
      <p:pic>
        <p:nvPicPr>
          <p:cNvPr id="9" name="Image 8"/>
          <p:cNvPicPr>
            <a:picLocks noChangeAspect="1"/>
          </p:cNvPicPr>
          <p:nvPr/>
        </p:nvPicPr>
        <p:blipFill>
          <a:blip r:embed="rId4"/>
          <a:stretch>
            <a:fillRect/>
          </a:stretch>
        </p:blipFill>
        <p:spPr>
          <a:xfrm>
            <a:off x="1168500" y="3139493"/>
            <a:ext cx="438950" cy="169853"/>
          </a:xfrm>
          <a:prstGeom prst="rect">
            <a:avLst/>
          </a:prstGeom>
        </p:spPr>
      </p:pic>
      <p:pic>
        <p:nvPicPr>
          <p:cNvPr id="10" name="Image 9"/>
          <p:cNvPicPr>
            <a:picLocks noChangeAspect="1"/>
          </p:cNvPicPr>
          <p:nvPr/>
        </p:nvPicPr>
        <p:blipFill>
          <a:blip r:embed="rId6"/>
          <a:stretch>
            <a:fillRect/>
          </a:stretch>
        </p:blipFill>
        <p:spPr>
          <a:xfrm>
            <a:off x="1479130" y="3001221"/>
            <a:ext cx="310923" cy="359695"/>
          </a:xfrm>
          <a:prstGeom prst="rect">
            <a:avLst/>
          </a:prstGeom>
        </p:spPr>
      </p:pic>
      <p:pic>
        <p:nvPicPr>
          <p:cNvPr id="11" name="Image 10"/>
          <p:cNvPicPr>
            <a:picLocks noChangeAspect="1"/>
          </p:cNvPicPr>
          <p:nvPr/>
        </p:nvPicPr>
        <p:blipFill>
          <a:blip r:embed="rId7"/>
          <a:stretch>
            <a:fillRect/>
          </a:stretch>
        </p:blipFill>
        <p:spPr>
          <a:xfrm>
            <a:off x="687650" y="4008840"/>
            <a:ext cx="2869212" cy="268195"/>
          </a:xfrm>
          <a:prstGeom prst="rect">
            <a:avLst/>
          </a:prstGeom>
        </p:spPr>
      </p:pic>
      <p:pic>
        <p:nvPicPr>
          <p:cNvPr id="12" name="Image 11"/>
          <p:cNvPicPr>
            <a:picLocks noChangeAspect="1"/>
          </p:cNvPicPr>
          <p:nvPr/>
        </p:nvPicPr>
        <p:blipFill>
          <a:blip r:embed="rId8"/>
          <a:stretch>
            <a:fillRect/>
          </a:stretch>
        </p:blipFill>
        <p:spPr>
          <a:xfrm>
            <a:off x="4200040" y="2167362"/>
            <a:ext cx="310923" cy="359695"/>
          </a:xfrm>
          <a:prstGeom prst="rect">
            <a:avLst/>
          </a:prstGeom>
        </p:spPr>
      </p:pic>
      <p:pic>
        <p:nvPicPr>
          <p:cNvPr id="13" name="Image 12"/>
          <p:cNvPicPr>
            <a:picLocks noChangeAspect="1"/>
          </p:cNvPicPr>
          <p:nvPr/>
        </p:nvPicPr>
        <p:blipFill>
          <a:blip r:embed="rId9"/>
          <a:stretch>
            <a:fillRect/>
          </a:stretch>
        </p:blipFill>
        <p:spPr>
          <a:xfrm>
            <a:off x="4193944" y="2493015"/>
            <a:ext cx="310923" cy="353599"/>
          </a:xfrm>
          <a:prstGeom prst="rect">
            <a:avLst/>
          </a:prstGeom>
        </p:spPr>
      </p:pic>
      <p:pic>
        <p:nvPicPr>
          <p:cNvPr id="14" name="Image 13"/>
          <p:cNvPicPr>
            <a:picLocks noChangeAspect="1"/>
          </p:cNvPicPr>
          <p:nvPr/>
        </p:nvPicPr>
        <p:blipFill>
          <a:blip r:embed="rId10"/>
          <a:stretch>
            <a:fillRect/>
          </a:stretch>
        </p:blipFill>
        <p:spPr>
          <a:xfrm>
            <a:off x="3431898" y="3851302"/>
            <a:ext cx="297702" cy="338563"/>
          </a:xfrm>
          <a:prstGeom prst="rect">
            <a:avLst/>
          </a:prstGeom>
        </p:spPr>
      </p:pic>
    </p:spTree>
    <p:extLst>
      <p:ext uri="{BB962C8B-B14F-4D97-AF65-F5344CB8AC3E}">
        <p14:creationId xmlns:p14="http://schemas.microsoft.com/office/powerpoint/2010/main" val="2412679553"/>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000" dirty="0">
                <a:latin typeface="+mn-lt"/>
                <a:cs typeface="Arial" panose="020B0604020202020204" pitchFamily="34" charset="0"/>
              </a:rPr>
              <a:t>M</a:t>
            </a:r>
            <a:r>
              <a:rPr lang="fr-FR" altLang="en-US" sz="2000" dirty="0" smtClean="0">
                <a:latin typeface="+mn-lt"/>
                <a:cs typeface="Arial" panose="020B0604020202020204" pitchFamily="34" charset="0"/>
              </a:rPr>
              <a:t>ode </a:t>
            </a:r>
            <a:r>
              <a:rPr lang="fr-FR" altLang="en-US" sz="2000" dirty="0">
                <a:latin typeface="+mn-lt"/>
                <a:cs typeface="Arial" panose="020B0604020202020204" pitchFamily="34" charset="0"/>
              </a:rPr>
              <a:t>opératoire dans </a:t>
            </a:r>
            <a:r>
              <a:rPr lang="fr-FR" altLang="en-US" sz="2000" dirty="0" smtClean="0">
                <a:latin typeface="+mn-lt"/>
                <a:cs typeface="Arial" panose="020B0604020202020204" pitchFamily="34" charset="0"/>
              </a:rPr>
              <a:t>SAP </a:t>
            </a:r>
            <a:r>
              <a:rPr lang="fr-FR" altLang="en-US" sz="2000" dirty="0">
                <a:latin typeface="+mn-lt"/>
                <a:cs typeface="Arial" panose="020B0604020202020204" pitchFamily="34" charset="0"/>
              </a:rPr>
              <a:t>pour la saisie </a:t>
            </a:r>
            <a:r>
              <a:rPr lang="fr-FR" altLang="en-US" sz="2000" dirty="0" smtClean="0">
                <a:latin typeface="+mn-lt"/>
                <a:cs typeface="Arial" panose="020B0604020202020204" pitchFamily="34" charset="0"/>
              </a:rPr>
              <a:t>d’un avoir fournisseur </a:t>
            </a:r>
            <a:r>
              <a:rPr lang="fr-FR" altLang="en-US" sz="2000" dirty="0" smtClean="0">
                <a:cs typeface="Arial" panose="020B0604020202020204" pitchFamily="34" charset="0"/>
              </a:rPr>
              <a:t>2/3</a:t>
            </a:r>
            <a:endParaRPr lang="en-US" altLang="en-US" sz="2000" dirty="0" smtClean="0">
              <a:latin typeface="+mn-lt"/>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smtClean="0">
                <a:cs typeface="Arial" panose="020B0604020202020204" pitchFamily="34" charset="0"/>
              </a:rPr>
              <a:t>											Renseigner les données suivantes : </a:t>
            </a:r>
          </a:p>
          <a:p>
            <a:r>
              <a:rPr lang="fr-FR" dirty="0">
                <a:cs typeface="Arial" panose="020B0604020202020204" pitchFamily="34" charset="0"/>
              </a:rPr>
              <a:t>	</a:t>
            </a:r>
            <a:r>
              <a:rPr lang="fr-FR" dirty="0" smtClean="0">
                <a:cs typeface="Arial" panose="020B0604020202020204" pitchFamily="34" charset="0"/>
              </a:rPr>
              <a:t>										La condition de paiement</a:t>
            </a:r>
          </a:p>
          <a:p>
            <a:r>
              <a:rPr lang="fr-FR" dirty="0">
                <a:cs typeface="Arial" panose="020B0604020202020204" pitchFamily="34" charset="0"/>
              </a:rPr>
              <a:t>	</a:t>
            </a:r>
            <a:r>
              <a:rPr lang="fr-FR" dirty="0" smtClean="0">
                <a:cs typeface="Arial" panose="020B0604020202020204" pitchFamily="34" charset="0"/>
              </a:rPr>
              <a:t>										le mode de paiement</a:t>
            </a:r>
          </a:p>
          <a:p>
            <a:r>
              <a:rPr lang="fr-FR" dirty="0">
                <a:cs typeface="Arial" panose="020B0604020202020204" pitchFamily="34" charset="0"/>
              </a:rPr>
              <a:t>	</a:t>
            </a:r>
            <a:r>
              <a:rPr lang="fr-FR" dirty="0" smtClean="0">
                <a:cs typeface="Arial" panose="020B0604020202020204" pitchFamily="34" charset="0"/>
              </a:rPr>
              <a:t>										la banque société</a:t>
            </a:r>
          </a:p>
          <a:p>
            <a:r>
              <a:rPr lang="fr-FR" dirty="0">
                <a:cs typeface="Arial" panose="020B0604020202020204" pitchFamily="34" charset="0"/>
              </a:rPr>
              <a:t>	</a:t>
            </a:r>
            <a:r>
              <a:rPr lang="fr-FR" dirty="0" smtClean="0">
                <a:cs typeface="Arial" panose="020B0604020202020204" pitchFamily="34" charset="0"/>
              </a:rPr>
              <a:t>										cliquer sur le pavé Simuler : </a:t>
            </a:r>
          </a:p>
          <a:p>
            <a:r>
              <a:rPr lang="fr-FR" dirty="0" smtClean="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25</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152525"/>
            <a:ext cx="3914049" cy="3140506"/>
          </a:xfrm>
          <a:prstGeom prst="rect">
            <a:avLst/>
          </a:prstGeom>
        </p:spPr>
      </p:pic>
      <p:pic>
        <p:nvPicPr>
          <p:cNvPr id="4" name="Image 3"/>
          <p:cNvPicPr>
            <a:picLocks noChangeAspect="1"/>
          </p:cNvPicPr>
          <p:nvPr/>
        </p:nvPicPr>
        <p:blipFill>
          <a:blip r:embed="rId3"/>
          <a:stretch>
            <a:fillRect/>
          </a:stretch>
        </p:blipFill>
        <p:spPr>
          <a:xfrm>
            <a:off x="4572000" y="1465051"/>
            <a:ext cx="310923" cy="353599"/>
          </a:xfrm>
          <a:prstGeom prst="rect">
            <a:avLst/>
          </a:prstGeom>
        </p:spPr>
      </p:pic>
      <p:pic>
        <p:nvPicPr>
          <p:cNvPr id="5" name="Image 4"/>
          <p:cNvPicPr>
            <a:picLocks noChangeAspect="1"/>
          </p:cNvPicPr>
          <p:nvPr/>
        </p:nvPicPr>
        <p:blipFill>
          <a:blip r:embed="rId4"/>
          <a:stretch>
            <a:fillRect/>
          </a:stretch>
        </p:blipFill>
        <p:spPr>
          <a:xfrm>
            <a:off x="2308769" y="2218150"/>
            <a:ext cx="310923" cy="353599"/>
          </a:xfrm>
          <a:prstGeom prst="rect">
            <a:avLst/>
          </a:prstGeom>
        </p:spPr>
      </p:pic>
      <p:pic>
        <p:nvPicPr>
          <p:cNvPr id="6" name="Image 5"/>
          <p:cNvPicPr>
            <a:picLocks noChangeAspect="1"/>
          </p:cNvPicPr>
          <p:nvPr/>
        </p:nvPicPr>
        <p:blipFill>
          <a:blip r:embed="rId5"/>
          <a:stretch>
            <a:fillRect/>
          </a:stretch>
        </p:blipFill>
        <p:spPr>
          <a:xfrm>
            <a:off x="4572000" y="1803099"/>
            <a:ext cx="310923" cy="359695"/>
          </a:xfrm>
          <a:prstGeom prst="rect">
            <a:avLst/>
          </a:prstGeom>
        </p:spPr>
      </p:pic>
      <p:pic>
        <p:nvPicPr>
          <p:cNvPr id="7" name="Image 6"/>
          <p:cNvPicPr>
            <a:picLocks noChangeAspect="1"/>
          </p:cNvPicPr>
          <p:nvPr/>
        </p:nvPicPr>
        <p:blipFill>
          <a:blip r:embed="rId6"/>
          <a:stretch>
            <a:fillRect/>
          </a:stretch>
        </p:blipFill>
        <p:spPr>
          <a:xfrm>
            <a:off x="1115399" y="2772810"/>
            <a:ext cx="310923" cy="359695"/>
          </a:xfrm>
          <a:prstGeom prst="rect">
            <a:avLst/>
          </a:prstGeom>
        </p:spPr>
      </p:pic>
      <p:pic>
        <p:nvPicPr>
          <p:cNvPr id="8" name="Image 7"/>
          <p:cNvPicPr>
            <a:picLocks noChangeAspect="1"/>
          </p:cNvPicPr>
          <p:nvPr/>
        </p:nvPicPr>
        <p:blipFill>
          <a:blip r:embed="rId7"/>
          <a:stretch>
            <a:fillRect/>
          </a:stretch>
        </p:blipFill>
        <p:spPr>
          <a:xfrm>
            <a:off x="1043634" y="2879540"/>
            <a:ext cx="194979" cy="146234"/>
          </a:xfrm>
          <a:prstGeom prst="rect">
            <a:avLst/>
          </a:prstGeom>
        </p:spPr>
      </p:pic>
      <p:pic>
        <p:nvPicPr>
          <p:cNvPr id="9" name="Image 8"/>
          <p:cNvPicPr>
            <a:picLocks noChangeAspect="1"/>
          </p:cNvPicPr>
          <p:nvPr/>
        </p:nvPicPr>
        <p:blipFill>
          <a:blip r:embed="rId8"/>
          <a:stretch>
            <a:fillRect/>
          </a:stretch>
        </p:blipFill>
        <p:spPr>
          <a:xfrm>
            <a:off x="2423959" y="3107538"/>
            <a:ext cx="761917" cy="192423"/>
          </a:xfrm>
          <a:prstGeom prst="rect">
            <a:avLst/>
          </a:prstGeom>
        </p:spPr>
      </p:pic>
      <p:pic>
        <p:nvPicPr>
          <p:cNvPr id="10" name="Image 9"/>
          <p:cNvPicPr>
            <a:picLocks noChangeAspect="1"/>
          </p:cNvPicPr>
          <p:nvPr/>
        </p:nvPicPr>
        <p:blipFill>
          <a:blip r:embed="rId9"/>
          <a:stretch>
            <a:fillRect/>
          </a:stretch>
        </p:blipFill>
        <p:spPr>
          <a:xfrm>
            <a:off x="4572000" y="2162794"/>
            <a:ext cx="310923" cy="359695"/>
          </a:xfrm>
          <a:prstGeom prst="rect">
            <a:avLst/>
          </a:prstGeom>
        </p:spPr>
      </p:pic>
      <p:pic>
        <p:nvPicPr>
          <p:cNvPr id="11" name="Image 10"/>
          <p:cNvPicPr>
            <a:picLocks noChangeAspect="1"/>
          </p:cNvPicPr>
          <p:nvPr/>
        </p:nvPicPr>
        <p:blipFill>
          <a:blip r:embed="rId10"/>
          <a:stretch>
            <a:fillRect/>
          </a:stretch>
        </p:blipFill>
        <p:spPr>
          <a:xfrm>
            <a:off x="3088994" y="2879540"/>
            <a:ext cx="310923" cy="359695"/>
          </a:xfrm>
          <a:prstGeom prst="rect">
            <a:avLst/>
          </a:prstGeom>
        </p:spPr>
      </p:pic>
      <p:pic>
        <p:nvPicPr>
          <p:cNvPr id="12" name="Image 11"/>
          <p:cNvPicPr>
            <a:picLocks noChangeAspect="1"/>
          </p:cNvPicPr>
          <p:nvPr/>
        </p:nvPicPr>
        <p:blipFill>
          <a:blip r:embed="rId8"/>
          <a:stretch>
            <a:fillRect/>
          </a:stretch>
        </p:blipFill>
        <p:spPr>
          <a:xfrm>
            <a:off x="2382714" y="1773950"/>
            <a:ext cx="568187" cy="230628"/>
          </a:xfrm>
          <a:prstGeom prst="rect">
            <a:avLst/>
          </a:prstGeom>
        </p:spPr>
      </p:pic>
      <p:pic>
        <p:nvPicPr>
          <p:cNvPr id="13" name="Image 12"/>
          <p:cNvPicPr>
            <a:picLocks noChangeAspect="1"/>
          </p:cNvPicPr>
          <p:nvPr/>
        </p:nvPicPr>
        <p:blipFill>
          <a:blip r:embed="rId11"/>
          <a:stretch>
            <a:fillRect/>
          </a:stretch>
        </p:blipFill>
        <p:spPr>
          <a:xfrm>
            <a:off x="2804219" y="1560378"/>
            <a:ext cx="336909" cy="389757"/>
          </a:xfrm>
          <a:prstGeom prst="rect">
            <a:avLst/>
          </a:prstGeom>
        </p:spPr>
      </p:pic>
      <p:pic>
        <p:nvPicPr>
          <p:cNvPr id="14" name="Image 13"/>
          <p:cNvPicPr>
            <a:picLocks noChangeAspect="1"/>
          </p:cNvPicPr>
          <p:nvPr/>
        </p:nvPicPr>
        <p:blipFill>
          <a:blip r:embed="rId12"/>
          <a:stretch>
            <a:fillRect/>
          </a:stretch>
        </p:blipFill>
        <p:spPr>
          <a:xfrm>
            <a:off x="4572000" y="2514484"/>
            <a:ext cx="335309" cy="390178"/>
          </a:xfrm>
          <a:prstGeom prst="rect">
            <a:avLst/>
          </a:prstGeom>
        </p:spPr>
      </p:pic>
      <p:pic>
        <p:nvPicPr>
          <p:cNvPr id="15" name="Image 14"/>
          <p:cNvPicPr>
            <a:picLocks noChangeAspect="1"/>
          </p:cNvPicPr>
          <p:nvPr/>
        </p:nvPicPr>
        <p:blipFill>
          <a:blip r:embed="rId13"/>
          <a:stretch>
            <a:fillRect/>
          </a:stretch>
        </p:blipFill>
        <p:spPr>
          <a:xfrm>
            <a:off x="4696863" y="2877249"/>
            <a:ext cx="3902710" cy="1415781"/>
          </a:xfrm>
          <a:prstGeom prst="rect">
            <a:avLst/>
          </a:prstGeom>
        </p:spPr>
      </p:pic>
    </p:spTree>
    <p:extLst>
      <p:ext uri="{BB962C8B-B14F-4D97-AF65-F5344CB8AC3E}">
        <p14:creationId xmlns:p14="http://schemas.microsoft.com/office/powerpoint/2010/main" val="4086404998"/>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000" dirty="0">
                <a:latin typeface="+mn-lt"/>
                <a:cs typeface="Arial" panose="020B0604020202020204" pitchFamily="34" charset="0"/>
              </a:rPr>
              <a:t>M</a:t>
            </a:r>
            <a:r>
              <a:rPr lang="fr-FR" altLang="en-US" sz="2000" dirty="0" smtClean="0">
                <a:latin typeface="+mn-lt"/>
                <a:cs typeface="Arial" panose="020B0604020202020204" pitchFamily="34" charset="0"/>
              </a:rPr>
              <a:t>ode </a:t>
            </a:r>
            <a:r>
              <a:rPr lang="fr-FR" altLang="en-US" sz="2000" dirty="0">
                <a:latin typeface="+mn-lt"/>
                <a:cs typeface="Arial" panose="020B0604020202020204" pitchFamily="34" charset="0"/>
              </a:rPr>
              <a:t>opératoire dans </a:t>
            </a:r>
            <a:r>
              <a:rPr lang="fr-FR" altLang="en-US" sz="2000" dirty="0" smtClean="0">
                <a:latin typeface="+mn-lt"/>
                <a:cs typeface="Arial" panose="020B0604020202020204" pitchFamily="34" charset="0"/>
              </a:rPr>
              <a:t>SAP </a:t>
            </a:r>
            <a:r>
              <a:rPr lang="fr-FR" altLang="en-US" sz="2000" dirty="0">
                <a:latin typeface="+mn-lt"/>
                <a:cs typeface="Arial" panose="020B0604020202020204" pitchFamily="34" charset="0"/>
              </a:rPr>
              <a:t>pour la saisie </a:t>
            </a:r>
            <a:r>
              <a:rPr lang="fr-FR" altLang="en-US" sz="2000" dirty="0" smtClean="0">
                <a:latin typeface="+mn-lt"/>
                <a:cs typeface="Arial" panose="020B0604020202020204" pitchFamily="34" charset="0"/>
              </a:rPr>
              <a:t>d’un avoir fournisseur </a:t>
            </a:r>
            <a:r>
              <a:rPr lang="fr-FR" altLang="en-US" sz="2000" dirty="0" smtClean="0">
                <a:cs typeface="Arial" panose="020B0604020202020204" pitchFamily="34" charset="0"/>
              </a:rPr>
              <a:t>3/3</a:t>
            </a:r>
            <a:endParaRPr lang="en-US" altLang="en-US" sz="2000" dirty="0" smtClean="0">
              <a:latin typeface="+mn-lt"/>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smtClean="0">
                <a:cs typeface="Arial" panose="020B0604020202020204" pitchFamily="34" charset="0"/>
              </a:rPr>
              <a:t>Revenir en arrière avec la flèche verte et faites Pièce / Comptabiliser. </a:t>
            </a:r>
          </a:p>
          <a:p>
            <a:r>
              <a:rPr lang="fr-FR" dirty="0" smtClean="0">
                <a:cs typeface="Arial" panose="020B0604020202020204" pitchFamily="34" charset="0"/>
              </a:rPr>
              <a:t>Le numéro de l’avoir apparait en bas de l’écran : </a:t>
            </a:r>
          </a:p>
          <a:p>
            <a:r>
              <a:rPr lang="fr-FR" dirty="0" smtClean="0">
                <a:cs typeface="Arial" panose="020B0604020202020204" pitchFamily="34" charset="0"/>
              </a:rPr>
              <a:t> </a:t>
            </a:r>
          </a:p>
          <a:p>
            <a:r>
              <a:rPr lang="fr-FR" dirty="0" smtClean="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26</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823796"/>
            <a:ext cx="2933700" cy="209550"/>
          </a:xfrm>
          <a:prstGeom prst="rect">
            <a:avLst/>
          </a:prstGeom>
        </p:spPr>
      </p:pic>
    </p:spTree>
    <p:extLst>
      <p:ext uri="{BB962C8B-B14F-4D97-AF65-F5344CB8AC3E}">
        <p14:creationId xmlns:p14="http://schemas.microsoft.com/office/powerpoint/2010/main" val="1391184434"/>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1196705" y="685097"/>
            <a:ext cx="2201466" cy="1213506"/>
          </a:xfrm>
          <a:prstGeom prst="rect">
            <a:avLst/>
          </a:prstGeom>
          <a:noFill/>
          <a:ln w="12700" algn="ctr">
            <a:noFill/>
            <a:miter lim="800000"/>
            <a:headEnd/>
            <a:tailEnd/>
          </a:ln>
        </p:spPr>
        <p:txBody>
          <a:bodyPr lIns="67500" tIns="35100" rIns="67500" bIns="35100">
            <a:spAutoFit/>
          </a:bodyPr>
          <a:lstStyle/>
          <a:p>
            <a:pPr>
              <a:lnSpc>
                <a:spcPct val="110000"/>
              </a:lnSpc>
              <a:buFont typeface="Wingdings" pitchFamily="2" charset="2"/>
              <a:buNone/>
              <a:defRPr/>
            </a:pPr>
            <a:endParaRPr lang="fr-FR" sz="1350" dirty="0">
              <a:solidFill>
                <a:srgbClr val="4F81BD"/>
              </a:solidFill>
              <a:latin typeface="Arial Narrow" pitchFamily="34" charset="0"/>
              <a:ea typeface="ＭＳ Ｐゴシック"/>
              <a:cs typeface="ＭＳ Ｐゴシック"/>
            </a:endParaRP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Enregistrer une facture fournisseur en référence à une cde et une sans référence</a:t>
            </a: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Enregistrer un avoir</a:t>
            </a:r>
            <a:endParaRPr lang="fr-FR" sz="1350" dirty="0">
              <a:solidFill>
                <a:srgbClr val="4F81BD"/>
              </a:solidFill>
              <a:latin typeface="Arial Narrow" pitchFamily="34" charset="0"/>
              <a:ea typeface="ＭＳ Ｐゴシック"/>
              <a:cs typeface="ＭＳ Ｐゴシック"/>
            </a:endParaRP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154869185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Modes opératoires</a:t>
            </a:r>
          </a:p>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28</a:t>
            </a:fld>
            <a:endParaRPr lang="fr-FR" altLang="en-US" sz="750"/>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ea typeface="ＭＳ Ｐゴシック" panose="020B0600070205080204" pitchFamily="34" charset="-128"/>
                <a:cs typeface="Arial" panose="020B0604020202020204" pitchFamily="34" charset="0"/>
              </a:rPr>
              <a:t>Synthèse</a:t>
            </a:r>
            <a:endParaRPr lang="en-US" altLang="en-US" sz="2400" dirty="0" smtClean="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1946275"/>
          </a:xfrm>
        </p:spPr>
        <p:txBody>
          <a:bodyPr/>
          <a:lstStyle/>
          <a:p>
            <a:pPr marL="171450" indent="-171450">
              <a:buClr>
                <a:srgbClr val="0070C0"/>
              </a:buClr>
              <a:buSzPct val="100000"/>
              <a:buFont typeface="Arial" panose="020B0604020202020204" pitchFamily="34" charset="0"/>
              <a:buChar char="•"/>
            </a:pPr>
            <a:r>
              <a:rPr lang="fr-FR" dirty="0" smtClean="0"/>
              <a:t>Ce processus combine des flux issus du module achat avec des flux comptables.  Des erreurs commises en amont auront des conséquences sur la finalisation des commandes.  </a:t>
            </a:r>
            <a:endParaRPr lang="ru-RU" dirty="0"/>
          </a:p>
          <a:p>
            <a:pPr>
              <a:buClr>
                <a:srgbClr val="0070C0"/>
              </a:buClr>
              <a:buSzPct val="100000"/>
            </a:pP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 </a:t>
            </a:r>
          </a:p>
        </p:txBody>
      </p:sp>
      <p:sp>
        <p:nvSpPr>
          <p:cNvPr id="46084" name="Espace réservé du numéro de diapositive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36DFBA8F-B79A-4011-8444-03085D4A6CB3}" type="slidenum">
              <a:rPr lang="fr-FR" altLang="en-US" sz="750"/>
              <a:pPr eaLnBrk="1" hangingPunct="1"/>
              <a:t>29</a:t>
            </a:fld>
            <a:endParaRPr lang="fr-FR" altLang="en-US" sz="750"/>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VHEKTECQ7ECW-1532981086-4832</_dlc_DocId>
    <_dlc_DocIdUrl xmlns="f36dd47d-0b23-43fd-9b2d-c5346ffa1660">
      <Url>http://extranet.cbg-guinee.com/erp/_layouts/15/DocIdRedir.aspx?ID=VHEKTECQ7ECW-1532981086-4832</Url>
      <Description>VHEKTECQ7ECW-1532981086-4832</Description>
    </_dlc_DocIdUrl>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5B87B29-62FD-49E3-86B5-8DCEB7473F97}"/>
</file>

<file path=customXml/itemProps2.xml><?xml version="1.0" encoding="utf-8"?>
<ds:datastoreItem xmlns:ds="http://schemas.openxmlformats.org/officeDocument/2006/customXml" ds:itemID="{6B08D313-DD74-49B0-B6A4-96BD802D9198}"/>
</file>

<file path=customXml/itemProps3.xml><?xml version="1.0" encoding="utf-8"?>
<ds:datastoreItem xmlns:ds="http://schemas.openxmlformats.org/officeDocument/2006/customXml" ds:itemID="{6BCEA3F1-FDE6-46B9-AA4D-9C5D345BA14F}"/>
</file>

<file path=customXml/itemProps4.xml><?xml version="1.0" encoding="utf-8"?>
<ds:datastoreItem xmlns:ds="http://schemas.openxmlformats.org/officeDocument/2006/customXml" ds:itemID="{DFE7DD0B-0BE8-4E24-A363-4DD0A01C5DCF}"/>
</file>

<file path=docProps/app.xml><?xml version="1.0" encoding="utf-8"?>
<Properties xmlns="http://schemas.openxmlformats.org/officeDocument/2006/extended-properties" xmlns:vt="http://schemas.openxmlformats.org/officeDocument/2006/docPropsVTypes">
  <Template/>
  <TotalTime>0</TotalTime>
  <Words>1023</Words>
  <Application>Microsoft Office PowerPoint</Application>
  <PresentationFormat>Affichage à l'écran (16:9)</PresentationFormat>
  <Paragraphs>320</Paragraphs>
  <Slides>30</Slides>
  <Notes>7</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30</vt:i4>
      </vt:variant>
    </vt:vector>
  </HeadingPairs>
  <TitlesOfParts>
    <vt:vector size="38" baseType="lpstr">
      <vt:lpstr>ＭＳ Ｐゴシック</vt:lpstr>
      <vt:lpstr>Arial</vt:lpstr>
      <vt:lpstr>Arial Narrow</vt:lpstr>
      <vt:lpstr>Calibri</vt:lpstr>
      <vt:lpstr>Courier New</vt:lpstr>
      <vt:lpstr>Verdana</vt:lpstr>
      <vt:lpstr>Wingdings</vt:lpstr>
      <vt:lpstr>TemplateBE_FR</vt:lpstr>
      <vt:lpstr>Kamsar, le 27.01.2016</vt:lpstr>
      <vt:lpstr>Présentation PowerPoint</vt:lpstr>
      <vt:lpstr>Objectifs de la formation</vt:lpstr>
      <vt:lpstr>Agenda : 2h00</vt:lpstr>
      <vt:lpstr>Présentation PowerPoint</vt:lpstr>
      <vt:lpstr>Description du processus saisie d’une facture fournisseur en référence à une commande d’achat 1/2 </vt:lpstr>
      <vt:lpstr>Description du processus saisie d’une facture fournisseur en référence à une commande 2/2 </vt:lpstr>
      <vt:lpstr>Description du processus saisie d’une facture fournisseur sans référence à une commande d’achat </vt:lpstr>
      <vt:lpstr>Description du processus saisie d’un avoir fournisseur </vt:lpstr>
      <vt:lpstr>Présentation PowerPoint</vt:lpstr>
      <vt:lpstr>Mode opératoire Présentation du mode opératoire dans SAP</vt:lpstr>
      <vt:lpstr>Mode opératoire dans SAP pour la saisie d’une facture fournisseur en référence à une commande d’achat 1/7  </vt:lpstr>
      <vt:lpstr>Mode opératoire dans SAP pour la saisie d’une facture fournisseur en référence à une commande d’achat 2/7 </vt:lpstr>
      <vt:lpstr>Mode opératoire dans SAP pour la saisie d’une facture fournisseur en référence à une commande d’achat 3/7 </vt:lpstr>
      <vt:lpstr>Mode opératoire dans SAP pour la saisie d’une facture fournisseur en référence à une commande d’achat 4/7 </vt:lpstr>
      <vt:lpstr>Mode opératoire dans SAP pour la saisie d’une facture fournisseur en référence à une commande d’achat 5/7 </vt:lpstr>
      <vt:lpstr>Mode opératoire dans SAP pour la saisie d’une facture fournisseur en référence à une commande d’achat 6/7 </vt:lpstr>
      <vt:lpstr>Mode opératoire dans SAP pour la saisie d’une facture fournisseur en référence à une commande d’achat 7/7 </vt:lpstr>
      <vt:lpstr>Mode opératoire dans SAP pour la saisie d’une facture fournisseur sans référence à une commande d’achat 1/5</vt:lpstr>
      <vt:lpstr>Mode opératoire dans SAP pour la saisie d’une facture fournisseur sans référence à une commande d’achat 2/5 </vt:lpstr>
      <vt:lpstr>Mode opératoire dans SAP pour la saisie d’une facture fournisseur sans référence à une commande d’achat 3/5 </vt:lpstr>
      <vt:lpstr>Mode opératoire dans SAP pour la saisie d’une facture fournisseur sans référence à une commande d’achat 4/5</vt:lpstr>
      <vt:lpstr>Mode opératoire dans SAP pour la saisie d’une facture fournisseur sans référence à une commande d’achat 5/5</vt:lpstr>
      <vt:lpstr>Mode opératoire dans SAP pour la saisie d’un avoir fournisseur 1/3</vt:lpstr>
      <vt:lpstr>Mode opératoire dans SAP pour la saisie d’un avoir fournisseur 2/3</vt:lpstr>
      <vt:lpstr>Mode opératoire dans SAP pour la saisie d’un avoir fournisseur 3/3</vt:lpstr>
      <vt:lpstr>Présentation PowerPoint</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Ogoundele, Jean Yves (CE)</cp:lastModifiedBy>
  <cp:revision>3770</cp:revision>
  <cp:lastPrinted>2016-01-26T13:33:35Z</cp:lastPrinted>
  <dcterms:created xsi:type="dcterms:W3CDTF">2012-05-17T14:14:37Z</dcterms:created>
  <dcterms:modified xsi:type="dcterms:W3CDTF">2016-01-26T13:33:50Z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3d90d515-4ad9-4fac-a656-cc5877ea47f9</vt:lpwstr>
  </property>
</Properties>
</file>