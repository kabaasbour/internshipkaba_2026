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6.xml" ContentType="application/vnd.openxmlformats-officedocument.presentationml.slide+xml"/>
  <Override PartName="/ppt/slides/slide27.xml" ContentType="application/vnd.openxmlformats-officedocument.presentationml.slide+xml"/>
  <Override PartName="/ppt/presentation.xml" ContentType="application/vnd.openxmlformats-officedocument.presentationml.presentation.main+xml"/>
  <Override PartName="/ppt/slides/slide2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4.xml" ContentType="application/vnd.openxmlformats-officedocument.presentationml.slide+xml"/>
  <Override PartName="/ppt/slides/slide15.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0.xml" ContentType="application/vnd.openxmlformats-officedocument.presentationml.notesSlide+xml"/>
  <Override PartName="/ppt/notesSlides/notesSlide7.xml" ContentType="application/vnd.openxmlformats-officedocument.presentationml.notesSlide+xml"/>
  <Override PartName="/ppt/slideMasters/slideMaster1.xml" ContentType="application/vnd.openxmlformats-officedocument.presentationml.slideMaster+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customXml/itemProps1.xml" ContentType="application/vnd.openxmlformats-officedocument.customXmlPropertie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32"/>
  </p:notesMasterIdLst>
  <p:handoutMasterIdLst>
    <p:handoutMasterId r:id="rId33"/>
  </p:handoutMasterIdLst>
  <p:sldIdLst>
    <p:sldId id="685" r:id="rId5"/>
    <p:sldId id="686" r:id="rId6"/>
    <p:sldId id="687" r:id="rId7"/>
    <p:sldId id="723" r:id="rId8"/>
    <p:sldId id="691" r:id="rId9"/>
    <p:sldId id="764" r:id="rId10"/>
    <p:sldId id="694" r:id="rId11"/>
    <p:sldId id="692" r:id="rId12"/>
    <p:sldId id="693" r:id="rId13"/>
    <p:sldId id="724" r:id="rId14"/>
    <p:sldId id="766" r:id="rId15"/>
    <p:sldId id="696" r:id="rId16"/>
    <p:sldId id="767" r:id="rId17"/>
    <p:sldId id="729" r:id="rId18"/>
    <p:sldId id="742" r:id="rId19"/>
    <p:sldId id="743" r:id="rId20"/>
    <p:sldId id="757" r:id="rId21"/>
    <p:sldId id="699" r:id="rId22"/>
    <p:sldId id="758" r:id="rId23"/>
    <p:sldId id="759" r:id="rId24"/>
    <p:sldId id="760" r:id="rId25"/>
    <p:sldId id="761" r:id="rId26"/>
    <p:sldId id="762" r:id="rId27"/>
    <p:sldId id="763" r:id="rId28"/>
    <p:sldId id="725" r:id="rId29"/>
    <p:sldId id="710" r:id="rId30"/>
    <p:sldId id="728" r:id="rId31"/>
  </p:sldIdLst>
  <p:sldSz cx="9144000" cy="5143500" type="screen16x9"/>
  <p:notesSz cx="6797675"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3003" userDrawn="1">
          <p15:clr>
            <a:srgbClr val="A4A3A4"/>
          </p15:clr>
        </p15:guide>
        <p15:guide id="3" orient="horz" pos="10" userDrawn="1">
          <p15:clr>
            <a:srgbClr val="A4A3A4"/>
          </p15:clr>
        </p15:guide>
        <p15:guide id="4" orient="horz" pos="1847" userDrawn="1">
          <p15:clr>
            <a:srgbClr val="A4A3A4"/>
          </p15:clr>
        </p15:guide>
        <p15:guide id="5" orient="horz" pos="735" userDrawn="1">
          <p15:clr>
            <a:srgbClr val="A4A3A4"/>
          </p15:clr>
        </p15:guide>
        <p15:guide id="6" pos="2835" userDrawn="1">
          <p15:clr>
            <a:srgbClr val="A4A3A4"/>
          </p15:clr>
        </p15:guide>
        <p15:guide id="7" pos="340" userDrawn="1">
          <p15:clr>
            <a:srgbClr val="A4A3A4"/>
          </p15:clr>
        </p15:guide>
        <p15:guide id="8" pos="5575">
          <p15:clr>
            <a:srgbClr val="A4A3A4"/>
          </p15:clr>
        </p15:guide>
        <p15:guide id="9" orient="horz" pos="32" userDrawn="1">
          <p15:clr>
            <a:srgbClr val="A4A3A4"/>
          </p15:clr>
        </p15:guide>
        <p15:guide id="10" orient="horz" pos="3185" userDrawn="1">
          <p15:clr>
            <a:srgbClr val="A4A3A4"/>
          </p15:clr>
        </p15:guide>
      </p15:sldGuideLst>
    </p:ext>
    <p:ext uri="{2D200454-40CA-4A62-9FC3-DE9A4176ACB9}">
      <p15:notesGuideLst xmlns:p15="http://schemas.microsoft.com/office/powerpoint/2012/main">
        <p15:guide id="1" orient="horz" pos="3110" userDrawn="1">
          <p15:clr>
            <a:srgbClr val="A4A3A4"/>
          </p15:clr>
        </p15:guide>
        <p15:guide id="2" pos="2124" userDrawn="1">
          <p15:clr>
            <a:srgbClr val="A4A3A4"/>
          </p15:clr>
        </p15:guide>
        <p15:guide id="3"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8FF"/>
    <a:srgbClr val="F3F4FF"/>
    <a:srgbClr val="D3D5FF"/>
    <a:srgbClr val="4F81BD"/>
    <a:srgbClr val="A7ABFF"/>
    <a:srgbClr val="C5C8FF"/>
    <a:srgbClr val="004376"/>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48" autoAdjust="0"/>
    <p:restoredTop sz="95565" autoAdjust="0"/>
  </p:normalViewPr>
  <p:slideViewPr>
    <p:cSldViewPr snapToGrid="0" snapToObjects="1">
      <p:cViewPr varScale="1">
        <p:scale>
          <a:sx n="118" d="100"/>
          <a:sy n="118" d="100"/>
        </p:scale>
        <p:origin x="864" y="96"/>
      </p:cViewPr>
      <p:guideLst>
        <p:guide orient="horz" pos="3049"/>
        <p:guide orient="horz" pos="3003"/>
        <p:guide orient="horz" pos="10"/>
        <p:guide orient="horz" pos="1847"/>
        <p:guide orient="horz" pos="735"/>
        <p:guide pos="2835"/>
        <p:guide pos="340"/>
        <p:guide pos="5575"/>
        <p:guide orient="horz" pos="32"/>
        <p:guide orient="horz" pos="318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92"/>
    </p:cViewPr>
  </p:sorterViewPr>
  <p:notesViewPr>
    <p:cSldViewPr snapToGrid="0" snapToObjects="1" showGuides="1">
      <p:cViewPr varScale="1">
        <p:scale>
          <a:sx n="50" d="100"/>
          <a:sy n="50" d="100"/>
        </p:scale>
        <p:origin x="-2952" y="-96"/>
      </p:cViewPr>
      <p:guideLst>
        <p:guide orient="horz" pos="3110"/>
        <p:guide pos="2124"/>
        <p:guide pos="214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customXml" Target="../customXml/item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2945659" cy="493633"/>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3850445" y="2"/>
            <a:ext cx="2945659" cy="493633"/>
          </a:xfrm>
          <a:prstGeom prst="rect">
            <a:avLst/>
          </a:prstGeom>
        </p:spPr>
        <p:txBody>
          <a:bodyPr vert="horz" lIns="91427" tIns="45714" rIns="91427" bIns="45714" rtlCol="0"/>
          <a:lstStyle>
            <a:lvl1pPr algn="r">
              <a:defRPr sz="1200"/>
            </a:lvl1pPr>
          </a:lstStyle>
          <a:p>
            <a:fld id="{4FCF4903-D1A4-F14A-B207-A0D2CC9D4B8B}" type="datetimeFigureOut">
              <a:rPr lang="en-US" smtClean="0"/>
              <a:t>12/21/2015</a:t>
            </a:fld>
            <a:endParaRPr lang="en-US" dirty="0"/>
          </a:p>
        </p:txBody>
      </p:sp>
      <p:sp>
        <p:nvSpPr>
          <p:cNvPr id="4" name="Footer Placeholder 3"/>
          <p:cNvSpPr>
            <a:spLocks noGrp="1"/>
          </p:cNvSpPr>
          <p:nvPr>
            <p:ph type="ftr" sz="quarter" idx="2"/>
          </p:nvPr>
        </p:nvSpPr>
        <p:spPr>
          <a:xfrm>
            <a:off x="1" y="9377318"/>
            <a:ext cx="2945659" cy="493633"/>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5" y="9377318"/>
            <a:ext cx="2945659" cy="493633"/>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2945659" cy="493633"/>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3850445" y="2"/>
            <a:ext cx="2945659" cy="493633"/>
          </a:xfrm>
          <a:prstGeom prst="rect">
            <a:avLst/>
          </a:prstGeom>
        </p:spPr>
        <p:txBody>
          <a:bodyPr vert="horz" lIns="91427" tIns="45714" rIns="91427" bIns="45714" rtlCol="0"/>
          <a:lstStyle>
            <a:lvl1pPr algn="r">
              <a:defRPr sz="1200"/>
            </a:lvl1pPr>
          </a:lstStyle>
          <a:p>
            <a:fld id="{BC5B4241-C98F-4766-9E25-5F8403374385}" type="datetimeFigureOut">
              <a:rPr lang="de-DE" smtClean="0"/>
              <a:t>21.12.2015</a:t>
            </a:fld>
            <a:endParaRPr lang="de-DE" dirty="0"/>
          </a:p>
        </p:txBody>
      </p:sp>
      <p:sp>
        <p:nvSpPr>
          <p:cNvPr id="4" name="Folienbildplatzhalter 3"/>
          <p:cNvSpPr>
            <a:spLocks noGrp="1" noRot="1" noChangeAspect="1"/>
          </p:cNvSpPr>
          <p:nvPr>
            <p:ph type="sldImg" idx="2"/>
          </p:nvPr>
        </p:nvSpPr>
        <p:spPr>
          <a:xfrm>
            <a:off x="107950" y="739775"/>
            <a:ext cx="6581775" cy="3703638"/>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679768" y="4689515"/>
            <a:ext cx="5438140" cy="4442698"/>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9377318"/>
            <a:ext cx="2945659" cy="493633"/>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50445" y="9377318"/>
            <a:ext cx="2945659" cy="493633"/>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4</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10</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13</a:t>
            </a:fld>
            <a:endParaRPr lang="de-DE" dirty="0"/>
          </a:p>
        </p:txBody>
      </p:sp>
    </p:spTree>
    <p:extLst>
      <p:ext uri="{BB962C8B-B14F-4D97-AF65-F5344CB8AC3E}">
        <p14:creationId xmlns:p14="http://schemas.microsoft.com/office/powerpoint/2010/main" val="1986736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14</a:t>
            </a:fld>
            <a:endParaRPr lang="de-DE" dirty="0"/>
          </a:p>
        </p:txBody>
      </p:sp>
    </p:spTree>
    <p:extLst>
      <p:ext uri="{BB962C8B-B14F-4D97-AF65-F5344CB8AC3E}">
        <p14:creationId xmlns:p14="http://schemas.microsoft.com/office/powerpoint/2010/main" val="2616438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18</a:t>
            </a:fld>
            <a:endParaRPr lang="fr-FR" altLang="en-US" sz="1200"/>
          </a:p>
        </p:txBody>
      </p:sp>
      <p:sp>
        <p:nvSpPr>
          <p:cNvPr id="51203" name="Rectangle 2"/>
          <p:cNvSpPr>
            <a:spLocks noGrp="1" noRot="1" noChangeAspect="1" noChangeArrowheads="1" noTextEdit="1"/>
          </p:cNvSpPr>
          <p:nvPr>
            <p:ph type="sldImg"/>
          </p:nvPr>
        </p:nvSpPr>
        <p:spPr bwMode="auto">
          <a:xfrm>
            <a:off x="-652463" y="238125"/>
            <a:ext cx="8091488" cy="45529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53272" y="8531560"/>
            <a:ext cx="5485042" cy="1142112"/>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19</a:t>
            </a:fld>
            <a:endParaRPr lang="de-DE" dirty="0"/>
          </a:p>
        </p:txBody>
      </p:sp>
    </p:spTree>
    <p:extLst>
      <p:ext uri="{BB962C8B-B14F-4D97-AF65-F5344CB8AC3E}">
        <p14:creationId xmlns:p14="http://schemas.microsoft.com/office/powerpoint/2010/main" val="3153421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20</a:t>
            </a:fld>
            <a:endParaRPr lang="de-DE" dirty="0"/>
          </a:p>
        </p:txBody>
      </p:sp>
    </p:spTree>
    <p:extLst>
      <p:ext uri="{BB962C8B-B14F-4D97-AF65-F5344CB8AC3E}">
        <p14:creationId xmlns:p14="http://schemas.microsoft.com/office/powerpoint/2010/main" val="3522581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24</a:t>
            </a:fld>
            <a:endParaRPr lang="fr-FR" altLang="en-US" sz="1200"/>
          </a:p>
        </p:txBody>
      </p:sp>
      <p:sp>
        <p:nvSpPr>
          <p:cNvPr id="51203" name="Rectangle 2"/>
          <p:cNvSpPr>
            <a:spLocks noGrp="1" noRot="1" noChangeAspect="1" noChangeArrowheads="1" noTextEdit="1"/>
          </p:cNvSpPr>
          <p:nvPr>
            <p:ph type="sldImg"/>
          </p:nvPr>
        </p:nvSpPr>
        <p:spPr bwMode="auto">
          <a:xfrm>
            <a:off x="-652463" y="238125"/>
            <a:ext cx="8091488" cy="45529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53272" y="8531560"/>
            <a:ext cx="5485042" cy="1142112"/>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40005650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25</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21/12/2015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1.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24.png"/><Relationship Id="rId2" Type="http://schemas.openxmlformats.org/officeDocument/2006/relationships/image" Target="../media/image36.png"/><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22.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Utilisateurs- </a:t>
            </a:r>
            <a:r>
              <a:rPr lang="fr-FR" sz="2800" b="1" dirty="0" smtClean="0">
                <a:solidFill>
                  <a:srgbClr val="0070C0"/>
                </a:solidFill>
                <a:latin typeface="Arial" charset="0"/>
                <a:cs typeface="Arial" charset="0"/>
              </a:rPr>
              <a:t>Achats</a:t>
            </a:r>
            <a:endParaRPr lang="fr-FR" sz="3200" b="1" dirty="0">
              <a:solidFill>
                <a:srgbClr val="0070C0"/>
              </a:solidFill>
              <a:latin typeface="Arial" charset="0"/>
              <a:cs typeface="Arial" charset="0"/>
            </a:endParaRPr>
          </a:p>
          <a:p>
            <a:r>
              <a:rPr lang="fr-FR" sz="2000" b="1" dirty="0" smtClean="0">
                <a:solidFill>
                  <a:srgbClr val="0070C0"/>
                </a:solidFill>
                <a:latin typeface="Arial" charset="0"/>
                <a:cs typeface="Arial" charset="0"/>
              </a:rPr>
              <a:t>Module Données </a:t>
            </a:r>
            <a:r>
              <a:rPr lang="fr-FR" sz="2000" b="1" dirty="0">
                <a:solidFill>
                  <a:srgbClr val="0070C0"/>
                </a:solidFill>
                <a:latin typeface="Arial" charset="0"/>
                <a:cs typeface="Arial" charset="0"/>
              </a:rPr>
              <a:t>de base </a:t>
            </a:r>
            <a:r>
              <a:rPr lang="fr-FR" sz="2000" b="1" dirty="0" smtClean="0">
                <a:solidFill>
                  <a:srgbClr val="0070C0"/>
                </a:solidFill>
                <a:latin typeface="Arial" charset="0"/>
                <a:cs typeface="Arial" charset="0"/>
              </a:rPr>
              <a:t>articles</a:t>
            </a:r>
            <a:endParaRPr lang="fr-FR" sz="1400" b="1" dirty="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Savoir créer un article </a:t>
            </a:r>
            <a:r>
              <a:rPr lang="fr-FR" sz="900" dirty="0" smtClean="0">
                <a:solidFill>
                  <a:schemeClr val="tx1"/>
                </a:solidFill>
                <a:latin typeface="Arial" pitchFamily="34" charset="0"/>
                <a:cs typeface="Arial" pitchFamily="34" charset="0"/>
              </a:rPr>
              <a:t>CBG</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Création d’un article </a:t>
            </a:r>
            <a:r>
              <a:rPr lang="fr-FR" sz="900" dirty="0" smtClean="0">
                <a:solidFill>
                  <a:schemeClr val="tx1"/>
                </a:solidFill>
                <a:latin typeface="Arial" pitchFamily="34" charset="0"/>
                <a:cs typeface="Arial" pitchFamily="34" charset="0"/>
              </a:rPr>
              <a:t>géré par lots (exemple d’une pièce de rechange)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Création </a:t>
            </a:r>
            <a:r>
              <a:rPr lang="fr-FR" sz="900" dirty="0">
                <a:solidFill>
                  <a:schemeClr val="tx1"/>
                </a:solidFill>
                <a:latin typeface="Arial" pitchFamily="34" charset="0"/>
                <a:cs typeface="Arial" pitchFamily="34" charset="0"/>
              </a:rPr>
              <a:t>d'un article </a:t>
            </a:r>
            <a:r>
              <a:rPr lang="fr-FR" sz="900" dirty="0" smtClean="0">
                <a:solidFill>
                  <a:schemeClr val="tx1"/>
                </a:solidFill>
                <a:latin typeface="Arial" pitchFamily="34" charset="0"/>
                <a:cs typeface="Arial" pitchFamily="34" charset="0"/>
              </a:rPr>
              <a:t>géré avec n° de série (exemple d’un équipement)</a:t>
            </a:r>
            <a:endParaRPr lang="en-US" sz="900" dirty="0">
              <a:solidFill>
                <a:schemeClr val="tx1"/>
              </a:solidFill>
              <a:latin typeface="Arial" pitchFamily="34" charset="0"/>
              <a:cs typeface="Arial" pitchFamily="34" charset="0"/>
            </a:endParaRPr>
          </a:p>
          <a:p>
            <a:pPr marL="67866" indent="-67866" eaLnBrk="0" hangingPunct="0">
              <a:spcBef>
                <a:spcPts val="225"/>
              </a:spcBef>
              <a:buClr>
                <a:srgbClr val="4F81BD"/>
              </a:buClr>
              <a:buFont typeface="Arial" charset="0"/>
              <a:buChar char="•"/>
              <a:defRPr/>
            </a:pPr>
            <a:endParaRPr lang="en-US" sz="900" dirty="0">
              <a:solidFill>
                <a:schemeClr val="tx1"/>
              </a:solidFill>
              <a:latin typeface="Arial" pitchFamily="34" charset="0"/>
              <a:cs typeface="Arial" pitchFamily="34" charset="0"/>
            </a:endParaRP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2 Heures</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Bureau de standardisation</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a:t>
              </a: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smtClean="0"/>
              <a:t>Les articles sont la données de base la plus centrale et la plus transverse du système. </a:t>
            </a:r>
          </a:p>
          <a:p>
            <a:r>
              <a:rPr lang="fr-FR" dirty="0" smtClean="0"/>
              <a:t>Ils représentent la codification d’un matériel ou d’un service au sein de l’entreprise, au travers d’une fiche article.</a:t>
            </a:r>
          </a:p>
          <a:p>
            <a:r>
              <a:rPr lang="fr-FR" dirty="0" smtClean="0"/>
              <a:t>Toute création on modification d’article (sauf modification des emplacement de stockage en magasin) doit faire l’objet d’une demande et est centralisée au Service Standardisation de la CBG.</a:t>
            </a:r>
          </a:p>
          <a:p>
            <a:r>
              <a:rPr lang="fr-FR" dirty="0" smtClean="0"/>
              <a:t>Cette fiche article contient les données majeures suivantes :</a:t>
            </a:r>
          </a:p>
          <a:p>
            <a:pPr marL="322971" lvl="1" indent="-171450">
              <a:buClr>
                <a:srgbClr val="0070C0"/>
              </a:buClr>
              <a:buSzPct val="100000"/>
              <a:buFont typeface="Wingdings" panose="05000000000000000000" pitchFamily="2" charset="2"/>
              <a:buChar char="§"/>
            </a:pPr>
            <a:r>
              <a:rPr lang="fr-FR" dirty="0" smtClean="0"/>
              <a:t>Un </a:t>
            </a:r>
            <a:r>
              <a:rPr lang="fr-FR" b="1" u="sng" dirty="0" smtClean="0"/>
              <a:t>code article </a:t>
            </a:r>
            <a:r>
              <a:rPr lang="fr-FR" dirty="0" smtClean="0"/>
              <a:t>qui permet son identification de manière univoque</a:t>
            </a:r>
          </a:p>
          <a:p>
            <a:pPr marL="322971" lvl="1" indent="-171450">
              <a:buClr>
                <a:srgbClr val="0070C0"/>
              </a:buClr>
              <a:buSzPct val="100000"/>
              <a:buFont typeface="Wingdings" panose="05000000000000000000" pitchFamily="2" charset="2"/>
              <a:buChar char="§"/>
            </a:pPr>
            <a:r>
              <a:rPr lang="fr-FR" dirty="0" smtClean="0"/>
              <a:t>Un </a:t>
            </a:r>
            <a:r>
              <a:rPr lang="fr-FR" b="1" u="sng" dirty="0" smtClean="0"/>
              <a:t>type article</a:t>
            </a:r>
            <a:r>
              <a:rPr lang="fr-FR" dirty="0" smtClean="0"/>
              <a:t>, qui régit le comportement de l’article et la tranche du numéro du code article</a:t>
            </a:r>
          </a:p>
          <a:p>
            <a:pPr marL="322971" lvl="1" indent="-171450">
              <a:buClr>
                <a:srgbClr val="0070C0"/>
              </a:buClr>
              <a:buSzPct val="100000"/>
              <a:buFont typeface="Wingdings" panose="05000000000000000000" pitchFamily="2" charset="2"/>
              <a:buChar char="§"/>
            </a:pPr>
            <a:r>
              <a:rPr lang="fr-FR" dirty="0" smtClean="0"/>
              <a:t>Des données fournies par les différents service de l’entreprise, qui définissent le comportement de l’article au travers des différents flux dans lesquels il peut être utilisé (achats, vente, mise en stock, etc.)</a:t>
            </a:r>
          </a:p>
          <a:p>
            <a:pPr marL="322971" lvl="1" indent="-171450">
              <a:buClr>
                <a:srgbClr val="0070C0"/>
              </a:buClr>
              <a:buSzPct val="100000"/>
              <a:buFont typeface="Wingdings" panose="05000000000000000000" pitchFamily="2" charset="2"/>
              <a:buChar char="§"/>
            </a:pPr>
            <a:r>
              <a:rPr lang="fr-FR" dirty="0" smtClean="0"/>
              <a:t>Ces données sont gérées au travers de </a:t>
            </a:r>
            <a:r>
              <a:rPr lang="fr-FR" b="1" u="sng" dirty="0" smtClean="0"/>
              <a:t>différents onglets</a:t>
            </a:r>
            <a:r>
              <a:rPr lang="fr-FR" dirty="0" smtClean="0"/>
              <a:t> qui permettent leur saisie en fonction de données organisationnelles (organisation commerciale, division, magasin, numéro de magasin WM)</a:t>
            </a:r>
            <a:endParaRPr lang="en-US" b="1" u="sng" dirty="0"/>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différents onglets de la fiche article</a:t>
            </a:r>
            <a:endParaRPr lang="en-US" altLang="en-US" dirty="0" smtClean="0"/>
          </a:p>
        </p:txBody>
      </p:sp>
      <p:sp>
        <p:nvSpPr>
          <p:cNvPr id="2" name="Espace réservé du contenu 1"/>
          <p:cNvSpPr>
            <a:spLocks noGrp="1"/>
          </p:cNvSpPr>
          <p:nvPr>
            <p:ph idx="1"/>
          </p:nvPr>
        </p:nvSpPr>
        <p:spPr>
          <a:xfrm>
            <a:off x="573579" y="1152525"/>
            <a:ext cx="6029522" cy="3240571"/>
          </a:xfrm>
        </p:spPr>
        <p:txBody>
          <a:bodyPr/>
          <a:lstStyle/>
          <a:p>
            <a:r>
              <a:rPr lang="fr-FR" dirty="0" smtClean="0"/>
              <a:t>Les données de la fiche article sont gérées dans différents onglets :</a:t>
            </a:r>
          </a:p>
          <a:p>
            <a:pPr marL="322971" lvl="1" indent="-171450">
              <a:buClr>
                <a:srgbClr val="0070C0"/>
              </a:buClr>
              <a:buSzPct val="100000"/>
              <a:buFont typeface="Wingdings" panose="05000000000000000000" pitchFamily="2" charset="2"/>
              <a:buChar char="§"/>
            </a:pPr>
            <a:r>
              <a:rPr lang="fr-FR" sz="1100" dirty="0"/>
              <a:t>Les Données de Base (1&amp;2), qui caractérisent la nature même de l’article</a:t>
            </a:r>
          </a:p>
          <a:p>
            <a:pPr marL="322971" lvl="1" indent="-171450">
              <a:buClr>
                <a:srgbClr val="0070C0"/>
              </a:buClr>
              <a:buSzPct val="100000"/>
              <a:buFont typeface="Wingdings" panose="05000000000000000000" pitchFamily="2" charset="2"/>
              <a:buChar char="§"/>
            </a:pPr>
            <a:r>
              <a:rPr lang="fr-FR" sz="1100" dirty="0"/>
              <a:t>Les données Classification, qui permettent de classifier les lots, uniquement requises si l’article est géré par lots</a:t>
            </a:r>
          </a:p>
          <a:p>
            <a:pPr marL="322971" lvl="1" indent="-171450">
              <a:buClr>
                <a:srgbClr val="0070C0"/>
              </a:buClr>
              <a:buSzPct val="100000"/>
              <a:buFont typeface="Wingdings" panose="05000000000000000000" pitchFamily="2" charset="2"/>
              <a:buChar char="§"/>
            </a:pPr>
            <a:r>
              <a:rPr lang="fr-FR" sz="1100" dirty="0"/>
              <a:t>Les données ADV pour l’organisation commerciale (1&amp;2), qui contiennent les données de vente de l’article si vendu</a:t>
            </a:r>
          </a:p>
          <a:p>
            <a:pPr marL="322971" lvl="1" indent="-171450">
              <a:buClr>
                <a:srgbClr val="0070C0"/>
              </a:buClr>
              <a:buSzPct val="100000"/>
              <a:buFont typeface="Wingdings" panose="05000000000000000000" pitchFamily="2" charset="2"/>
              <a:buChar char="§"/>
            </a:pPr>
            <a:r>
              <a:rPr lang="fr-FR" sz="1100" dirty="0"/>
              <a:t>Les données ADV pour la Division, qui contiennent les données nécessaires à l’expédition des articles</a:t>
            </a:r>
          </a:p>
          <a:p>
            <a:pPr marL="322971" lvl="1" indent="-171450">
              <a:buClr>
                <a:srgbClr val="0070C0"/>
              </a:buClr>
              <a:buSzPct val="100000"/>
              <a:buFont typeface="Wingdings" panose="05000000000000000000" pitchFamily="2" charset="2"/>
              <a:buChar char="§"/>
            </a:pPr>
            <a:r>
              <a:rPr lang="fr-FR" sz="1100" dirty="0"/>
              <a:t>Les données Achats, qui contiennent les données relatives aux Achats</a:t>
            </a:r>
          </a:p>
          <a:p>
            <a:pPr marL="322971" lvl="1" indent="-171450">
              <a:buClr>
                <a:srgbClr val="0070C0"/>
              </a:buClr>
              <a:buSzPct val="100000"/>
              <a:buFont typeface="Wingdings" panose="05000000000000000000" pitchFamily="2" charset="2"/>
              <a:buChar char="§"/>
            </a:pPr>
            <a:r>
              <a:rPr lang="fr-FR" sz="1100" dirty="0"/>
              <a:t>Les données Planification des Besoins (1, 2, 3&amp;4), qui définissent le comportement de l’article dans le processus MRP</a:t>
            </a:r>
          </a:p>
          <a:p>
            <a:pPr marL="322971" lvl="1" indent="-171450">
              <a:buClr>
                <a:srgbClr val="0070C0"/>
              </a:buClr>
              <a:buSzPct val="100000"/>
              <a:buFont typeface="Wingdings" panose="05000000000000000000" pitchFamily="2" charset="2"/>
              <a:buChar char="§"/>
            </a:pPr>
            <a:r>
              <a:rPr lang="fr-FR" sz="1100" dirty="0"/>
              <a:t>Les données Générales Division / Stockage (1&amp;2), qui définissent où et comment l’article peut être stocké</a:t>
            </a:r>
          </a:p>
          <a:p>
            <a:pPr marL="322971" lvl="1" indent="-171450">
              <a:buClr>
                <a:srgbClr val="0070C0"/>
              </a:buClr>
              <a:buSzPct val="100000"/>
              <a:buFont typeface="Wingdings" panose="05000000000000000000" pitchFamily="2" charset="2"/>
              <a:buChar char="§"/>
            </a:pPr>
            <a:r>
              <a:rPr lang="fr-FR" sz="1100" dirty="0"/>
              <a:t>Les données Gestion des Emplacements (1&amp;2), qui définissent le comportement de l’article dans les n° de magasins WM</a:t>
            </a:r>
          </a:p>
          <a:p>
            <a:pPr marL="322971" lvl="1" indent="-171450">
              <a:buClr>
                <a:srgbClr val="0070C0"/>
              </a:buClr>
              <a:buSzPct val="100000"/>
              <a:buFont typeface="Wingdings" panose="05000000000000000000" pitchFamily="2" charset="2"/>
              <a:buChar char="§"/>
            </a:pPr>
            <a:r>
              <a:rPr lang="fr-FR" sz="1100" dirty="0"/>
              <a:t>Les données Comptabilité (1&amp;2), qui définissent la classe de valorisation et la valorisation de l’article</a:t>
            </a:r>
            <a:endParaRPr lang="en-US" sz="1100" dirty="0"/>
          </a:p>
          <a:p>
            <a:pPr marL="322971" lvl="1" indent="-171450">
              <a:buClr>
                <a:srgbClr val="0070C0"/>
              </a:buClr>
              <a:buSzPct val="100000"/>
              <a:buFont typeface="Wingdings" panose="05000000000000000000" pitchFamily="2" charset="2"/>
              <a:buChar char="§"/>
            </a:pPr>
            <a:endParaRPr lang="en-US" sz="1100" dirty="0"/>
          </a:p>
        </p:txBody>
      </p:sp>
      <p:pic>
        <p:nvPicPr>
          <p:cNvPr id="4" name="Image 3"/>
          <p:cNvPicPr>
            <a:picLocks noChangeAspect="1"/>
          </p:cNvPicPr>
          <p:nvPr/>
        </p:nvPicPr>
        <p:blipFill>
          <a:blip r:embed="rId2"/>
          <a:stretch>
            <a:fillRect/>
          </a:stretch>
        </p:blipFill>
        <p:spPr>
          <a:xfrm>
            <a:off x="6777064" y="1262620"/>
            <a:ext cx="2099848" cy="2852424"/>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39305051"/>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p:cNvGraphicFramePr>
            <a:graphicFrameLocks noGrp="1"/>
          </p:cNvGraphicFramePr>
          <p:nvPr>
            <p:extLst>
              <p:ext uri="{D42A27DB-BD31-4B8C-83A1-F6EECF244321}">
                <p14:modId xmlns:p14="http://schemas.microsoft.com/office/powerpoint/2010/main" val="1054468012"/>
              </p:ext>
            </p:extLst>
          </p:nvPr>
        </p:nvGraphicFramePr>
        <p:xfrm>
          <a:off x="683666" y="2053687"/>
          <a:ext cx="7793762" cy="2264705"/>
        </p:xfrm>
        <a:graphic>
          <a:graphicData uri="http://schemas.openxmlformats.org/drawingml/2006/table">
            <a:tbl>
              <a:tblPr firstRow="1" firstCol="1" bandRow="1">
                <a:tableStyleId>{5C22544A-7EE6-4342-B048-85BDC9FD1C3A}</a:tableStyleId>
              </a:tblPr>
              <a:tblGrid>
                <a:gridCol w="529837"/>
                <a:gridCol w="1538243"/>
                <a:gridCol w="717847"/>
                <a:gridCol w="717846"/>
                <a:gridCol w="709301"/>
                <a:gridCol w="888763"/>
                <a:gridCol w="846033"/>
                <a:gridCol w="888763"/>
                <a:gridCol w="957129"/>
              </a:tblGrid>
              <a:tr h="442485">
                <a:tc>
                  <a:txBody>
                    <a:bodyPr/>
                    <a:lstStyle/>
                    <a:p>
                      <a:pPr algn="ctr">
                        <a:spcAft>
                          <a:spcPts val="0"/>
                        </a:spcAft>
                        <a:tabLst>
                          <a:tab pos="900430" algn="l"/>
                          <a:tab pos="300355" algn="l"/>
                          <a:tab pos="900430" algn="l"/>
                        </a:tabLst>
                      </a:pPr>
                      <a:r>
                        <a:rPr lang="fr-FR" sz="900" kern="1200" dirty="0">
                          <a:effectLst/>
                        </a:rPr>
                        <a:t>Types articles</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algn="ctr">
                        <a:spcAft>
                          <a:spcPts val="0"/>
                        </a:spcAft>
                        <a:tabLst>
                          <a:tab pos="900430" algn="l"/>
                          <a:tab pos="300355" algn="l"/>
                          <a:tab pos="900430" algn="l"/>
                        </a:tabLst>
                      </a:pPr>
                      <a:r>
                        <a:rPr lang="fr-FR" sz="900" kern="1200" dirty="0" smtClean="0">
                          <a:effectLst/>
                          <a:latin typeface="+mn-lt"/>
                          <a:ea typeface="+mn-ea"/>
                          <a:cs typeface="+mn-cs"/>
                        </a:rPr>
                        <a:t>Description</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algn="ctr">
                        <a:spcAft>
                          <a:spcPts val="0"/>
                        </a:spcAft>
                        <a:tabLst>
                          <a:tab pos="900430" algn="l"/>
                          <a:tab pos="300355" algn="l"/>
                          <a:tab pos="900430" algn="l"/>
                        </a:tabLst>
                      </a:pPr>
                      <a:r>
                        <a:rPr lang="fr-FR" sz="900" kern="1200" dirty="0">
                          <a:effectLst/>
                        </a:rPr>
                        <a:t>Achats possibles </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algn="ctr">
                        <a:spcAft>
                          <a:spcPts val="0"/>
                        </a:spcAft>
                        <a:tabLst>
                          <a:tab pos="900430" algn="l"/>
                          <a:tab pos="300355" algn="l"/>
                          <a:tab pos="900430" algn="l"/>
                        </a:tabLst>
                      </a:pPr>
                      <a:r>
                        <a:rPr lang="fr-FR" sz="900" kern="1200">
                          <a:effectLst/>
                        </a:rPr>
                        <a:t>Transferts internes</a:t>
                      </a:r>
                      <a:endParaRPr lang="en-US"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algn="ctr">
                        <a:spcAft>
                          <a:spcPts val="0"/>
                        </a:spcAft>
                        <a:tabLst>
                          <a:tab pos="900430" algn="l"/>
                          <a:tab pos="300355" algn="l"/>
                          <a:tab pos="900430" algn="l"/>
                        </a:tabLst>
                      </a:pPr>
                      <a:r>
                        <a:rPr lang="fr-FR" sz="900" kern="1200" dirty="0">
                          <a:effectLst/>
                        </a:rPr>
                        <a:t>Ventes possibles</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algn="ctr">
                        <a:spcAft>
                          <a:spcPts val="0"/>
                        </a:spcAft>
                        <a:tabLst>
                          <a:tab pos="900430" algn="l"/>
                          <a:tab pos="300355" algn="l"/>
                          <a:tab pos="900430" algn="l"/>
                        </a:tabLst>
                      </a:pPr>
                      <a:r>
                        <a:rPr lang="fr-FR" sz="900" kern="1200" dirty="0">
                          <a:effectLst/>
                        </a:rPr>
                        <a:t>Est-il géré en stock en quantité?</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algn="ctr">
                        <a:spcAft>
                          <a:spcPts val="0"/>
                        </a:spcAft>
                        <a:tabLst>
                          <a:tab pos="900430" algn="l"/>
                          <a:tab pos="300355" algn="l"/>
                          <a:tab pos="900430" algn="l"/>
                        </a:tabLst>
                      </a:pPr>
                      <a:r>
                        <a:rPr lang="fr-FR" sz="900" kern="1200" dirty="0">
                          <a:effectLst/>
                        </a:rPr>
                        <a:t>Est-il géré en stock en valeur ?</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algn="ctr">
                        <a:spcAft>
                          <a:spcPts val="0"/>
                        </a:spcAft>
                        <a:tabLst>
                          <a:tab pos="900430" algn="l"/>
                          <a:tab pos="300355" algn="l"/>
                          <a:tab pos="900430" algn="l"/>
                        </a:tabLst>
                      </a:pPr>
                      <a:r>
                        <a:rPr lang="fr-FR" sz="900" kern="1200" dirty="0">
                          <a:effectLst/>
                        </a:rPr>
                        <a:t>Ventes locales (refacturation)</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algn="ctr">
                        <a:spcAft>
                          <a:spcPts val="0"/>
                        </a:spcAft>
                        <a:tabLst>
                          <a:tab pos="900430" algn="l"/>
                          <a:tab pos="300355" algn="l"/>
                          <a:tab pos="900430" algn="l"/>
                        </a:tabLst>
                      </a:pPr>
                      <a:r>
                        <a:rPr lang="fr-FR" sz="900" kern="1200" dirty="0">
                          <a:effectLst/>
                        </a:rPr>
                        <a:t>Gestion par </a:t>
                      </a:r>
                      <a:r>
                        <a:rPr lang="fr-FR" sz="900" kern="1200" dirty="0" smtClean="0">
                          <a:effectLst/>
                        </a:rPr>
                        <a:t>Lot</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0" marR="0" marT="0" marB="0" anchor="ctr">
                    <a:solidFill>
                      <a:srgbClr val="4F81BD"/>
                    </a:solidFill>
                  </a:tcPr>
                </a:tc>
              </a:tr>
              <a:tr h="159085">
                <a:tc>
                  <a:txBody>
                    <a:bodyPr/>
                    <a:lstStyle/>
                    <a:p>
                      <a:pPr algn="ctr">
                        <a:spcAft>
                          <a:spcPts val="0"/>
                        </a:spcAft>
                        <a:tabLst>
                          <a:tab pos="900430" algn="l"/>
                          <a:tab pos="300355" algn="l"/>
                          <a:tab pos="900430" algn="l"/>
                        </a:tabLst>
                      </a:pPr>
                      <a:r>
                        <a:rPr lang="fr-FR" sz="900" kern="1200" dirty="0">
                          <a:effectLst/>
                        </a:rPr>
                        <a:t>ZALI</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algn="ctr">
                        <a:spcAft>
                          <a:spcPts val="0"/>
                        </a:spcAft>
                        <a:tabLst>
                          <a:tab pos="900430" algn="l"/>
                          <a:tab pos="457200" algn="l"/>
                        </a:tabLst>
                      </a:pPr>
                      <a:r>
                        <a:rPr lang="fr-FR" sz="900" kern="1200" dirty="0">
                          <a:solidFill>
                            <a:schemeClr val="dk1"/>
                          </a:solidFill>
                          <a:effectLst/>
                          <a:latin typeface="+mn-lt"/>
                          <a:ea typeface="+mn-ea"/>
                          <a:cs typeface="+mn-cs"/>
                        </a:rPr>
                        <a:t>CBG Produit alimentaire</a:t>
                      </a:r>
                      <a:endParaRPr lang="en-US" sz="900" kern="1200" dirty="0">
                        <a:solidFill>
                          <a:schemeClr val="dk1"/>
                        </a:solidFill>
                        <a:effectLst/>
                        <a:latin typeface="+mn-lt"/>
                        <a:ea typeface="+mn-ea"/>
                        <a:cs typeface="+mn-cs"/>
                      </a:endParaRPr>
                    </a:p>
                  </a:txBody>
                  <a:tcPr marL="68580" marR="68580" marT="0" marB="0" anchor="ctr">
                    <a:solidFill>
                      <a:srgbClr val="D3D5FF"/>
                    </a:solidFill>
                  </a:tcPr>
                </a:tc>
                <a:tc>
                  <a:txBody>
                    <a:bodyPr/>
                    <a:lstStyle/>
                    <a:p>
                      <a:pPr algn="ctr">
                        <a:spcAft>
                          <a:spcPts val="0"/>
                        </a:spcAft>
                        <a:tabLst>
                          <a:tab pos="900430" algn="l"/>
                          <a:tab pos="300355" algn="l"/>
                          <a:tab pos="900430" algn="l"/>
                        </a:tabLst>
                      </a:pPr>
                      <a:r>
                        <a:rPr lang="fr-FR" sz="900" kern="1200" dirty="0">
                          <a:effectLst/>
                        </a:rPr>
                        <a:t>X</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D3D5FF"/>
                    </a:solidFill>
                  </a:tcPr>
                </a:tc>
                <a:tc>
                  <a:txBody>
                    <a:bodyPr/>
                    <a:lstStyle/>
                    <a:p>
                      <a:pPr algn="ctr">
                        <a:spcAft>
                          <a:spcPts val="0"/>
                        </a:spcAft>
                        <a:tabLst>
                          <a:tab pos="900430" algn="l"/>
                          <a:tab pos="300355" algn="l"/>
                          <a:tab pos="900430" algn="l"/>
                        </a:tabLst>
                      </a:pPr>
                      <a:r>
                        <a:rPr lang="fr-FR" sz="900" kern="1200" dirty="0">
                          <a:effectLst/>
                        </a:rPr>
                        <a:t>X</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D3D5FF"/>
                    </a:solidFill>
                  </a:tcPr>
                </a:tc>
                <a:tc>
                  <a:txBody>
                    <a:bodyPr/>
                    <a:lstStyle/>
                    <a:p>
                      <a:pPr algn="ctr">
                        <a:spcAft>
                          <a:spcPts val="0"/>
                        </a:spcAft>
                        <a:tabLst>
                          <a:tab pos="900430" algn="l"/>
                          <a:tab pos="300355" algn="l"/>
                          <a:tab pos="900430" algn="l"/>
                        </a:tabLst>
                      </a:pPr>
                      <a:r>
                        <a:rPr lang="fr-FR" sz="900" kern="1200" dirty="0">
                          <a:effectLst/>
                        </a:rPr>
                        <a:t> </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D3D5FF"/>
                    </a:solidFill>
                  </a:tcPr>
                </a:tc>
                <a:tc>
                  <a:txBody>
                    <a:bodyPr/>
                    <a:lstStyle/>
                    <a:p>
                      <a:pPr algn="ctr">
                        <a:spcAft>
                          <a:spcPts val="0"/>
                        </a:spcAft>
                        <a:tabLst>
                          <a:tab pos="900430" algn="l"/>
                          <a:tab pos="300355" algn="l"/>
                          <a:tab pos="900430" algn="l"/>
                        </a:tabLst>
                      </a:pPr>
                      <a:r>
                        <a:rPr lang="fr-FR" sz="900" kern="1200" dirty="0">
                          <a:effectLst/>
                        </a:rPr>
                        <a:t>X</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solidFill>
                      <a:srgbClr val="D3D5FF"/>
                    </a:solidFill>
                  </a:tcPr>
                </a:tc>
                <a:tc>
                  <a:txBody>
                    <a:bodyPr/>
                    <a:lstStyle/>
                    <a:p>
                      <a:pPr algn="ctr">
                        <a:spcAft>
                          <a:spcPts val="0"/>
                        </a:spcAft>
                        <a:tabLst>
                          <a:tab pos="900430" algn="l"/>
                          <a:tab pos="300355" algn="l"/>
                          <a:tab pos="900430" algn="l"/>
                        </a:tabLst>
                      </a:pPr>
                      <a:r>
                        <a:rPr lang="fr-FR" sz="900" kern="1200" dirty="0">
                          <a:effectLst/>
                        </a:rPr>
                        <a:t>X</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D3D5FF"/>
                    </a:solidFill>
                  </a:tcPr>
                </a:tc>
                <a:tc>
                  <a:txBody>
                    <a:bodyPr/>
                    <a:lstStyle/>
                    <a:p>
                      <a:pPr algn="ctr">
                        <a:spcAft>
                          <a:spcPts val="0"/>
                        </a:spcAft>
                        <a:tabLst>
                          <a:tab pos="900430" algn="l"/>
                          <a:tab pos="300355" algn="l"/>
                          <a:tab pos="900430" algn="l"/>
                        </a:tabLst>
                      </a:pPr>
                      <a:r>
                        <a:rPr lang="fr-FR" sz="900" kern="1200" dirty="0">
                          <a:effectLst/>
                        </a:rPr>
                        <a:t>X</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D3D5FF"/>
                    </a:solidFill>
                  </a:tcPr>
                </a:tc>
                <a:tc>
                  <a:txBody>
                    <a:bodyPr/>
                    <a:lstStyle/>
                    <a:p>
                      <a:pPr algn="ctr">
                        <a:spcAft>
                          <a:spcPts val="0"/>
                        </a:spcAft>
                        <a:tabLst>
                          <a:tab pos="900430" algn="l"/>
                          <a:tab pos="300355" algn="l"/>
                          <a:tab pos="900430" algn="l"/>
                        </a:tabLst>
                      </a:pPr>
                      <a:r>
                        <a:rPr lang="fr-FR" sz="900" kern="1200" dirty="0">
                          <a:effectLst/>
                        </a:rPr>
                        <a:t>X</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0" marR="0" marT="0" marB="0">
                    <a:solidFill>
                      <a:srgbClr val="D3D5FF"/>
                    </a:solidFill>
                  </a:tcPr>
                </a:tc>
              </a:tr>
              <a:tr h="159085">
                <a:tc>
                  <a:txBody>
                    <a:bodyPr/>
                    <a:lstStyle/>
                    <a:p>
                      <a:pPr algn="ctr">
                        <a:spcAft>
                          <a:spcPts val="0"/>
                        </a:spcAft>
                        <a:tabLst>
                          <a:tab pos="900430" algn="l"/>
                          <a:tab pos="300355" algn="l"/>
                          <a:tab pos="900430" algn="l"/>
                        </a:tabLst>
                      </a:pPr>
                      <a:r>
                        <a:rPr lang="fr-FR" sz="900" kern="1200" dirty="0">
                          <a:effectLst/>
                        </a:rPr>
                        <a:t>ZMED</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algn="ctr">
                        <a:spcAft>
                          <a:spcPts val="0"/>
                        </a:spcAft>
                        <a:tabLst>
                          <a:tab pos="900430" algn="l"/>
                          <a:tab pos="457200" algn="l"/>
                        </a:tabLst>
                      </a:pPr>
                      <a:r>
                        <a:rPr lang="fr-FR" sz="900" kern="1200" dirty="0">
                          <a:solidFill>
                            <a:schemeClr val="dk1"/>
                          </a:solidFill>
                          <a:effectLst/>
                          <a:latin typeface="+mn-lt"/>
                          <a:ea typeface="+mn-ea"/>
                          <a:cs typeface="+mn-cs"/>
                        </a:rPr>
                        <a:t>CBG Article Médical</a:t>
                      </a:r>
                      <a:endParaRPr lang="en-US" sz="900" kern="1200" dirty="0">
                        <a:solidFill>
                          <a:schemeClr val="dk1"/>
                        </a:solidFill>
                        <a:effectLst/>
                        <a:latin typeface="+mn-lt"/>
                        <a:ea typeface="+mn-ea"/>
                        <a:cs typeface="+mn-cs"/>
                      </a:endParaRPr>
                    </a:p>
                  </a:txBody>
                  <a:tcPr marL="68580" marR="68580" marT="0" marB="0" anchor="ctr">
                    <a:solidFill>
                      <a:srgbClr val="F3F4FF"/>
                    </a:solidFill>
                  </a:tcPr>
                </a:tc>
                <a:tc>
                  <a:txBody>
                    <a:bodyPr/>
                    <a:lstStyle/>
                    <a:p>
                      <a:pPr algn="ctr">
                        <a:spcAft>
                          <a:spcPts val="0"/>
                        </a:spcAft>
                        <a:tabLst>
                          <a:tab pos="900430" algn="l"/>
                          <a:tab pos="300355" algn="l"/>
                          <a:tab pos="900430" algn="l"/>
                        </a:tabLst>
                      </a:pPr>
                      <a:r>
                        <a:rPr lang="fr-FR" sz="900" kern="1200" dirty="0">
                          <a:effectLst/>
                        </a:rPr>
                        <a:t>X</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F3F4FF"/>
                    </a:solidFill>
                  </a:tcPr>
                </a:tc>
                <a:tc>
                  <a:txBody>
                    <a:bodyPr/>
                    <a:lstStyle/>
                    <a:p>
                      <a:pPr algn="ctr">
                        <a:spcAft>
                          <a:spcPts val="0"/>
                        </a:spcAft>
                        <a:tabLst>
                          <a:tab pos="900430" algn="l"/>
                          <a:tab pos="300355" algn="l"/>
                          <a:tab pos="900430" algn="l"/>
                        </a:tabLst>
                      </a:pPr>
                      <a:r>
                        <a:rPr lang="fr-FR" sz="900" kern="1200" dirty="0">
                          <a:effectLst/>
                        </a:rPr>
                        <a:t>X</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F3F4FF"/>
                    </a:solidFill>
                  </a:tcPr>
                </a:tc>
                <a:tc>
                  <a:txBody>
                    <a:bodyPr/>
                    <a:lstStyle/>
                    <a:p>
                      <a:pPr algn="ctr">
                        <a:spcAft>
                          <a:spcPts val="0"/>
                        </a:spcAft>
                        <a:tabLst>
                          <a:tab pos="900430" algn="l"/>
                          <a:tab pos="300355" algn="l"/>
                          <a:tab pos="900430" algn="l"/>
                        </a:tabLst>
                      </a:pPr>
                      <a:r>
                        <a:rPr lang="fr-FR" sz="900" kern="1200" dirty="0">
                          <a:effectLst/>
                        </a:rPr>
                        <a:t> </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F3F4FF"/>
                    </a:solidFill>
                  </a:tcPr>
                </a:tc>
                <a:tc>
                  <a:txBody>
                    <a:bodyPr/>
                    <a:lstStyle/>
                    <a:p>
                      <a:pPr algn="ctr">
                        <a:spcAft>
                          <a:spcPts val="0"/>
                        </a:spcAft>
                        <a:tabLst>
                          <a:tab pos="900430" algn="l"/>
                          <a:tab pos="300355" algn="l"/>
                          <a:tab pos="900430" algn="l"/>
                        </a:tabLst>
                      </a:pPr>
                      <a:r>
                        <a:rPr lang="fr-FR" sz="900" kern="1200" dirty="0">
                          <a:effectLst/>
                        </a:rPr>
                        <a:t>X</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solidFill>
                      <a:srgbClr val="F3F4FF"/>
                    </a:solidFill>
                  </a:tcPr>
                </a:tc>
                <a:tc>
                  <a:txBody>
                    <a:bodyPr/>
                    <a:lstStyle/>
                    <a:p>
                      <a:pPr algn="ctr">
                        <a:spcAft>
                          <a:spcPts val="0"/>
                        </a:spcAft>
                        <a:tabLst>
                          <a:tab pos="900430" algn="l"/>
                          <a:tab pos="300355" algn="l"/>
                          <a:tab pos="900430" algn="l"/>
                        </a:tabLst>
                      </a:pPr>
                      <a:r>
                        <a:rPr lang="fr-FR" sz="900" kern="1200" dirty="0">
                          <a:effectLst/>
                        </a:rPr>
                        <a:t>X</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F3F4FF"/>
                    </a:solidFill>
                  </a:tcPr>
                </a:tc>
                <a:tc>
                  <a:txBody>
                    <a:bodyPr/>
                    <a:lstStyle/>
                    <a:p>
                      <a:pPr algn="ctr">
                        <a:spcAft>
                          <a:spcPts val="0"/>
                        </a:spcAft>
                        <a:tabLst>
                          <a:tab pos="900430" algn="l"/>
                          <a:tab pos="300355" algn="l"/>
                          <a:tab pos="900430" algn="l"/>
                        </a:tabLst>
                      </a:pPr>
                      <a:r>
                        <a:rPr lang="fr-FR" sz="900" kern="1200" dirty="0">
                          <a:effectLst/>
                        </a:rPr>
                        <a:t>X</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F3F4FF"/>
                    </a:solidFill>
                  </a:tcPr>
                </a:tc>
                <a:tc>
                  <a:txBody>
                    <a:bodyPr/>
                    <a:lstStyle/>
                    <a:p>
                      <a:pPr algn="ctr">
                        <a:spcAft>
                          <a:spcPts val="0"/>
                        </a:spcAft>
                        <a:tabLst>
                          <a:tab pos="900430" algn="l"/>
                          <a:tab pos="300355" algn="l"/>
                          <a:tab pos="900430" algn="l"/>
                        </a:tabLst>
                      </a:pPr>
                      <a:r>
                        <a:rPr lang="fr-FR" sz="900" kern="1200" dirty="0">
                          <a:effectLst/>
                        </a:rPr>
                        <a:t>X</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0" marR="0" marT="0" marB="0">
                    <a:solidFill>
                      <a:srgbClr val="F3F4FF"/>
                    </a:solidFill>
                  </a:tcPr>
                </a:tc>
              </a:tr>
              <a:tr h="159085">
                <a:tc>
                  <a:txBody>
                    <a:bodyPr/>
                    <a:lstStyle/>
                    <a:p>
                      <a:pPr algn="ctr">
                        <a:spcAft>
                          <a:spcPts val="0"/>
                        </a:spcAft>
                        <a:tabLst>
                          <a:tab pos="900430" algn="l"/>
                          <a:tab pos="300355" algn="l"/>
                          <a:tab pos="900430" algn="l"/>
                        </a:tabLst>
                      </a:pPr>
                      <a:r>
                        <a:rPr lang="fr-FR" sz="900" kern="1200" dirty="0" smtClean="0">
                          <a:effectLst/>
                        </a:rPr>
                        <a:t>ZCON</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CBG </a:t>
                      </a:r>
                      <a:r>
                        <a:rPr lang="fr-FR" sz="900" kern="1200" dirty="0" smtClean="0">
                          <a:solidFill>
                            <a:schemeClr val="dk1"/>
                          </a:solidFill>
                          <a:effectLst/>
                          <a:latin typeface="+mn-lt"/>
                          <a:ea typeface="+mn-ea"/>
                          <a:cs typeface="+mn-cs"/>
                        </a:rPr>
                        <a:t>Consommable</a:t>
                      </a:r>
                      <a:endParaRPr lang="en-US" sz="900" kern="1200" dirty="0">
                        <a:solidFill>
                          <a:schemeClr val="dk1"/>
                        </a:solidFill>
                        <a:effectLst/>
                        <a:latin typeface="+mn-lt"/>
                        <a:ea typeface="+mn-ea"/>
                        <a:cs typeface="+mn-cs"/>
                      </a:endParaRPr>
                    </a:p>
                  </a:txBody>
                  <a:tcPr marL="68580" marR="68580" marT="0"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a:solidFill>
                            <a:schemeClr val="dk1"/>
                          </a:solidFill>
                          <a:effectLst/>
                          <a:latin typeface="+mn-lt"/>
                          <a:ea typeface="+mn-ea"/>
                          <a:cs typeface="+mn-cs"/>
                        </a:rPr>
                        <a:t>X</a:t>
                      </a:r>
                      <a:endParaRPr lang="en-US" sz="900" kern="120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0" marR="0" marT="0" marB="0">
                    <a:solidFill>
                      <a:srgbClr val="D3D5FF"/>
                    </a:solidFill>
                  </a:tcPr>
                </a:tc>
              </a:tr>
              <a:tr h="159085">
                <a:tc>
                  <a:txBody>
                    <a:bodyPr/>
                    <a:lstStyle/>
                    <a:p>
                      <a:pPr marL="0" marR="0" indent="0" algn="ctr" defTabSz="389626" rtl="0" eaLnBrk="1" fontAlgn="auto" latinLnBrk="0" hangingPunct="1">
                        <a:lnSpc>
                          <a:spcPct val="100000"/>
                        </a:lnSpc>
                        <a:spcBef>
                          <a:spcPts val="0"/>
                        </a:spcBef>
                        <a:spcAft>
                          <a:spcPts val="0"/>
                        </a:spcAft>
                        <a:buClrTx/>
                        <a:buSzTx/>
                        <a:buFontTx/>
                        <a:buNone/>
                        <a:tabLst>
                          <a:tab pos="900430" algn="l"/>
                          <a:tab pos="300355" algn="l"/>
                          <a:tab pos="900430" algn="l"/>
                        </a:tabLst>
                        <a:defRPr/>
                      </a:pPr>
                      <a:r>
                        <a:rPr lang="en-US" sz="900" b="1" kern="1200" dirty="0" smtClean="0">
                          <a:solidFill>
                            <a:schemeClr val="lt1"/>
                          </a:solidFill>
                          <a:effectLst/>
                          <a:latin typeface="+mn-lt"/>
                          <a:ea typeface="+mn-ea"/>
                          <a:cs typeface="+mn-cs"/>
                        </a:rPr>
                        <a:t>ZEQP</a:t>
                      </a:r>
                      <a:endParaRPr lang="en-US" sz="900" b="1" kern="1200" dirty="0">
                        <a:solidFill>
                          <a:schemeClr val="lt1"/>
                        </a:solidFill>
                        <a:effectLst/>
                        <a:latin typeface="+mn-lt"/>
                        <a:ea typeface="+mn-ea"/>
                        <a:cs typeface="+mn-cs"/>
                      </a:endParaRPr>
                    </a:p>
                  </a:txBody>
                  <a:tcPr marL="68580" marR="68580" marT="9525" marB="0" anchor="ctr">
                    <a:solidFill>
                      <a:srgbClr val="4F81BD"/>
                    </a:solidFill>
                  </a:tcPr>
                </a:tc>
                <a:tc>
                  <a:txBody>
                    <a:bodyPr/>
                    <a:lstStyle/>
                    <a:p>
                      <a:pPr marL="0" algn="ctr" defTabSz="389626" rtl="0" eaLnBrk="1" latinLnBrk="0" hangingPunct="1">
                        <a:spcAft>
                          <a:spcPts val="0"/>
                        </a:spcAft>
                        <a:tabLst>
                          <a:tab pos="900430" algn="l"/>
                          <a:tab pos="300355" algn="l"/>
                          <a:tab pos="900430" algn="l"/>
                        </a:tabLst>
                      </a:pPr>
                      <a:r>
                        <a:rPr lang="en-US" sz="900" kern="1200" dirty="0" smtClean="0">
                          <a:solidFill>
                            <a:schemeClr val="dk1"/>
                          </a:solidFill>
                          <a:effectLst/>
                          <a:latin typeface="+mn-lt"/>
                          <a:ea typeface="+mn-ea"/>
                          <a:cs typeface="+mn-cs"/>
                        </a:rPr>
                        <a:t>CBG </a:t>
                      </a:r>
                      <a:r>
                        <a:rPr lang="en-US" sz="900" kern="1200" dirty="0" err="1" smtClean="0">
                          <a:solidFill>
                            <a:schemeClr val="dk1"/>
                          </a:solidFill>
                          <a:effectLst/>
                          <a:latin typeface="+mn-lt"/>
                          <a:ea typeface="+mn-ea"/>
                          <a:cs typeface="+mn-cs"/>
                        </a:rPr>
                        <a:t>Equipement</a:t>
                      </a:r>
                      <a:endParaRPr lang="en-US" sz="900" kern="1200" dirty="0">
                        <a:solidFill>
                          <a:schemeClr val="dk1"/>
                        </a:solidFill>
                        <a:effectLst/>
                        <a:latin typeface="+mn-lt"/>
                        <a:ea typeface="+mn-ea"/>
                        <a:cs typeface="+mn-cs"/>
                      </a:endParaRPr>
                    </a:p>
                  </a:txBody>
                  <a:tcPr marL="68580" marR="68580" marT="0" marB="0" anchor="ctr">
                    <a:solidFill>
                      <a:srgbClr val="E7E8FF"/>
                    </a:solidFill>
                  </a:tcPr>
                </a:tc>
                <a:tc>
                  <a:txBody>
                    <a:bodyPr/>
                    <a:lstStyle/>
                    <a:p>
                      <a:pPr marL="0" algn="ctr" defTabSz="389626" rtl="0" eaLnBrk="1" latinLnBrk="0" hangingPunct="1">
                        <a:spcAft>
                          <a:spcPts val="0"/>
                        </a:spcAft>
                        <a:tabLst>
                          <a:tab pos="900430" algn="l"/>
                          <a:tab pos="300355" algn="l"/>
                          <a:tab pos="900430" algn="l"/>
                        </a:tabLst>
                      </a:pPr>
                      <a:r>
                        <a:rPr lang="en-US" sz="900" kern="1200" dirty="0" smtClean="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E7E8FF"/>
                    </a:solidFill>
                  </a:tcPr>
                </a:tc>
                <a:tc>
                  <a:txBody>
                    <a:bodyPr/>
                    <a:lstStyle/>
                    <a:p>
                      <a:pPr marL="0" algn="ctr" defTabSz="389626" rtl="0" eaLnBrk="1" latinLnBrk="0" hangingPunct="1">
                        <a:spcAft>
                          <a:spcPts val="0"/>
                        </a:spcAft>
                        <a:tabLst>
                          <a:tab pos="900430" algn="l"/>
                          <a:tab pos="300355" algn="l"/>
                          <a:tab pos="900430" algn="l"/>
                        </a:tabLst>
                      </a:pPr>
                      <a:r>
                        <a:rPr lang="en-US" sz="900" kern="1200" dirty="0" smtClean="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solidFill>
                      <a:srgbClr val="E7E8FF"/>
                    </a:solidFill>
                  </a:tcPr>
                </a:tc>
                <a:tc>
                  <a:txBody>
                    <a:bodyPr/>
                    <a:lstStyle/>
                    <a:p>
                      <a:pPr marL="0" algn="ctr" defTabSz="389626" rtl="0" eaLnBrk="1" latinLnBrk="0" hangingPunct="1">
                        <a:spcAft>
                          <a:spcPts val="0"/>
                        </a:spcAft>
                        <a:tabLst>
                          <a:tab pos="900430" algn="l"/>
                          <a:tab pos="300355" algn="l"/>
                          <a:tab pos="900430" algn="l"/>
                        </a:tabLst>
                      </a:pPr>
                      <a:endParaRPr lang="en-US" sz="900" kern="1200" dirty="0">
                        <a:solidFill>
                          <a:schemeClr val="dk1"/>
                        </a:solidFill>
                        <a:effectLst/>
                        <a:latin typeface="+mn-lt"/>
                        <a:ea typeface="+mn-ea"/>
                        <a:cs typeface="+mn-cs"/>
                      </a:endParaRPr>
                    </a:p>
                  </a:txBody>
                  <a:tcPr marL="68580" marR="68580" marT="9525" marB="0" anchor="ctr">
                    <a:solidFill>
                      <a:srgbClr val="E7E8FF"/>
                    </a:solidFill>
                  </a:tcPr>
                </a:tc>
                <a:tc>
                  <a:txBody>
                    <a:bodyPr/>
                    <a:lstStyle/>
                    <a:p>
                      <a:pPr marL="0" algn="ctr" defTabSz="389626" rtl="0" eaLnBrk="1" latinLnBrk="0" hangingPunct="1">
                        <a:spcAft>
                          <a:spcPts val="0"/>
                        </a:spcAft>
                        <a:tabLst>
                          <a:tab pos="900430" algn="l"/>
                          <a:tab pos="300355" algn="l"/>
                          <a:tab pos="900430" algn="l"/>
                        </a:tabLst>
                      </a:pPr>
                      <a:r>
                        <a:rPr lang="en-US" sz="900" kern="1200" dirty="0" smtClean="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solidFill>
                      <a:srgbClr val="E7E8FF"/>
                    </a:solidFill>
                  </a:tcPr>
                </a:tc>
                <a:tc>
                  <a:txBody>
                    <a:bodyPr/>
                    <a:lstStyle/>
                    <a:p>
                      <a:pPr marL="0" algn="ctr" defTabSz="389626" rtl="0" eaLnBrk="1" latinLnBrk="0" hangingPunct="1">
                        <a:spcAft>
                          <a:spcPts val="0"/>
                        </a:spcAft>
                        <a:tabLst>
                          <a:tab pos="900430" algn="l"/>
                          <a:tab pos="300355" algn="l"/>
                          <a:tab pos="900430" algn="l"/>
                        </a:tabLst>
                      </a:pPr>
                      <a:r>
                        <a:rPr lang="en-US" sz="900" kern="1200" dirty="0" smtClean="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E7E8FF"/>
                    </a:solidFill>
                  </a:tcPr>
                </a:tc>
                <a:tc>
                  <a:txBody>
                    <a:bodyPr/>
                    <a:lstStyle/>
                    <a:p>
                      <a:pPr marL="0" algn="ctr" defTabSz="389626" rtl="0" eaLnBrk="1" latinLnBrk="0" hangingPunct="1">
                        <a:spcAft>
                          <a:spcPts val="0"/>
                        </a:spcAft>
                        <a:tabLst>
                          <a:tab pos="900430" algn="l"/>
                          <a:tab pos="300355" algn="l"/>
                          <a:tab pos="900430" algn="l"/>
                        </a:tabLst>
                      </a:pPr>
                      <a:endParaRPr lang="en-US" sz="900" kern="1200" dirty="0">
                        <a:solidFill>
                          <a:schemeClr val="dk1"/>
                        </a:solidFill>
                        <a:effectLst/>
                        <a:latin typeface="+mn-lt"/>
                        <a:ea typeface="+mn-ea"/>
                        <a:cs typeface="+mn-cs"/>
                      </a:endParaRPr>
                    </a:p>
                  </a:txBody>
                  <a:tcPr marL="68580" marR="68580" marT="9525" marB="0" anchor="ctr">
                    <a:solidFill>
                      <a:srgbClr val="E7E8FF"/>
                    </a:solidFill>
                  </a:tcPr>
                </a:tc>
                <a:tc>
                  <a:txBody>
                    <a:bodyPr/>
                    <a:lstStyle/>
                    <a:p>
                      <a:pPr marL="0" algn="ctr" defTabSz="389626" rtl="0" eaLnBrk="1" latinLnBrk="0" hangingPunct="1">
                        <a:spcAft>
                          <a:spcPts val="0"/>
                        </a:spcAft>
                        <a:tabLst>
                          <a:tab pos="900430" algn="l"/>
                          <a:tab pos="300355" algn="l"/>
                          <a:tab pos="900430" algn="l"/>
                        </a:tabLst>
                      </a:pPr>
                      <a:endParaRPr lang="en-US" sz="900" kern="1200" dirty="0">
                        <a:solidFill>
                          <a:schemeClr val="dk1"/>
                        </a:solidFill>
                        <a:effectLst/>
                        <a:latin typeface="+mn-lt"/>
                        <a:ea typeface="+mn-ea"/>
                        <a:cs typeface="+mn-cs"/>
                      </a:endParaRPr>
                    </a:p>
                  </a:txBody>
                  <a:tcPr marL="0" marR="0" marT="0" marB="0">
                    <a:solidFill>
                      <a:srgbClr val="E7E8FF"/>
                    </a:solidFill>
                  </a:tcPr>
                </a:tc>
              </a:tr>
              <a:tr h="159085">
                <a:tc>
                  <a:txBody>
                    <a:bodyPr/>
                    <a:lstStyle/>
                    <a:p>
                      <a:pPr algn="ctr">
                        <a:spcAft>
                          <a:spcPts val="0"/>
                        </a:spcAft>
                        <a:tabLst>
                          <a:tab pos="900430" algn="l"/>
                          <a:tab pos="300355" algn="l"/>
                          <a:tab pos="900430" algn="l"/>
                        </a:tabLst>
                      </a:pPr>
                      <a:r>
                        <a:rPr lang="fr-FR" sz="900" kern="1200" dirty="0">
                          <a:effectLst/>
                        </a:rPr>
                        <a:t>ZPRE</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CBG Pièce de rechange</a:t>
                      </a:r>
                      <a:endParaRPr lang="en-US" sz="900" kern="1200" dirty="0">
                        <a:solidFill>
                          <a:schemeClr val="dk1"/>
                        </a:solidFill>
                        <a:effectLst/>
                        <a:latin typeface="+mn-lt"/>
                        <a:ea typeface="+mn-ea"/>
                        <a:cs typeface="+mn-cs"/>
                      </a:endParaRPr>
                    </a:p>
                  </a:txBody>
                  <a:tcPr marL="68580" marR="68580" marT="0"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0" marR="0" marT="0" marB="0">
                    <a:solidFill>
                      <a:srgbClr val="D3D5FF"/>
                    </a:solidFill>
                  </a:tcPr>
                </a:tc>
              </a:tr>
              <a:tr h="36367">
                <a:tc>
                  <a:txBody>
                    <a:bodyPr/>
                    <a:lstStyle/>
                    <a:p>
                      <a:pPr algn="ctr">
                        <a:spcAft>
                          <a:spcPts val="0"/>
                        </a:spcAft>
                        <a:tabLst>
                          <a:tab pos="900430" algn="l"/>
                          <a:tab pos="300355" algn="l"/>
                          <a:tab pos="900430" algn="l"/>
                        </a:tabLst>
                      </a:pPr>
                      <a:r>
                        <a:rPr lang="fr-FR" sz="900" kern="1200" dirty="0" smtClean="0">
                          <a:effectLst/>
                        </a:rPr>
                        <a:t>ZFAN</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CBG </a:t>
                      </a:r>
                      <a:r>
                        <a:rPr lang="fr-FR" sz="900" kern="1200" dirty="0" smtClean="0">
                          <a:solidFill>
                            <a:schemeClr val="dk1"/>
                          </a:solidFill>
                          <a:effectLst/>
                          <a:latin typeface="+mn-lt"/>
                          <a:ea typeface="+mn-ea"/>
                          <a:cs typeface="+mn-cs"/>
                        </a:rPr>
                        <a:t>Article Fantôme</a:t>
                      </a:r>
                      <a:endParaRPr lang="en-US" sz="900" kern="1200" dirty="0">
                        <a:solidFill>
                          <a:schemeClr val="dk1"/>
                        </a:solidFill>
                        <a:effectLst/>
                        <a:latin typeface="+mn-lt"/>
                        <a:ea typeface="+mn-ea"/>
                        <a:cs typeface="+mn-cs"/>
                      </a:endParaRPr>
                    </a:p>
                  </a:txBody>
                  <a:tcPr marL="68580" marR="68580" marT="0"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0" marR="0" marT="0" marB="0">
                    <a:solidFill>
                      <a:srgbClr val="F3F4FF"/>
                    </a:solidFill>
                  </a:tcPr>
                </a:tc>
              </a:tr>
              <a:tr h="115576">
                <a:tc>
                  <a:txBody>
                    <a:bodyPr/>
                    <a:lstStyle/>
                    <a:p>
                      <a:pPr algn="ctr">
                        <a:spcAft>
                          <a:spcPts val="0"/>
                        </a:spcAft>
                        <a:tabLst>
                          <a:tab pos="900430" algn="l"/>
                          <a:tab pos="300355" algn="l"/>
                          <a:tab pos="900430" algn="l"/>
                        </a:tabLst>
                      </a:pPr>
                      <a:r>
                        <a:rPr lang="fr-FR" sz="900" kern="1200" dirty="0">
                          <a:effectLst/>
                        </a:rPr>
                        <a:t>ZPRF</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CBG Produit fini</a:t>
                      </a:r>
                      <a:endParaRPr lang="en-US" sz="900" kern="1200" dirty="0">
                        <a:solidFill>
                          <a:schemeClr val="dk1"/>
                        </a:solidFill>
                        <a:effectLst/>
                        <a:latin typeface="+mn-lt"/>
                        <a:ea typeface="+mn-ea"/>
                        <a:cs typeface="+mn-cs"/>
                      </a:endParaRPr>
                    </a:p>
                  </a:txBody>
                  <a:tcPr marL="68580" marR="68580" marT="0"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0" marR="0" marT="0" marB="0">
                    <a:solidFill>
                      <a:srgbClr val="D3D5FF"/>
                    </a:solidFill>
                  </a:tcPr>
                </a:tc>
              </a:tr>
              <a:tr h="100781">
                <a:tc>
                  <a:txBody>
                    <a:bodyPr/>
                    <a:lstStyle/>
                    <a:p>
                      <a:pPr algn="ctr">
                        <a:spcAft>
                          <a:spcPts val="0"/>
                        </a:spcAft>
                        <a:tabLst>
                          <a:tab pos="900430" algn="l"/>
                          <a:tab pos="300355" algn="l"/>
                          <a:tab pos="900430" algn="l"/>
                        </a:tabLst>
                      </a:pPr>
                      <a:r>
                        <a:rPr lang="fr-FR" sz="900" kern="1200" dirty="0">
                          <a:effectLst/>
                        </a:rPr>
                        <a:t>ZPAC</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CBG Article </a:t>
                      </a:r>
                      <a:r>
                        <a:rPr lang="fr-FR" sz="900" kern="1200" dirty="0" smtClean="0">
                          <a:solidFill>
                            <a:schemeClr val="dk1"/>
                          </a:solidFill>
                          <a:effectLst/>
                          <a:latin typeface="+mn-lt"/>
                          <a:ea typeface="+mn-ea"/>
                          <a:cs typeface="+mn-cs"/>
                        </a:rPr>
                        <a:t>d’emballage</a:t>
                      </a:r>
                      <a:endParaRPr lang="en-US" sz="900" kern="1200" dirty="0">
                        <a:solidFill>
                          <a:schemeClr val="dk1"/>
                        </a:solidFill>
                        <a:effectLst/>
                        <a:latin typeface="+mn-lt"/>
                        <a:ea typeface="+mn-ea"/>
                        <a:cs typeface="+mn-cs"/>
                      </a:endParaRPr>
                    </a:p>
                  </a:txBody>
                  <a:tcPr marL="68580" marR="68580" marT="0"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 </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0" marR="0" marT="0" marB="0">
                    <a:solidFill>
                      <a:srgbClr val="F3F4FF"/>
                    </a:solidFill>
                  </a:tcPr>
                </a:tc>
              </a:tr>
              <a:tr h="39554">
                <a:tc>
                  <a:txBody>
                    <a:bodyPr/>
                    <a:lstStyle/>
                    <a:p>
                      <a:pPr algn="ctr">
                        <a:spcAft>
                          <a:spcPts val="0"/>
                        </a:spcAft>
                        <a:tabLst>
                          <a:tab pos="900430" algn="l"/>
                          <a:tab pos="300355" algn="l"/>
                          <a:tab pos="900430" algn="l"/>
                        </a:tabLst>
                      </a:pPr>
                      <a:r>
                        <a:rPr lang="fr-FR" sz="900" kern="1200" dirty="0">
                          <a:effectLst/>
                        </a:rPr>
                        <a:t>ZSRV</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CBG Service</a:t>
                      </a:r>
                      <a:endParaRPr lang="en-US" sz="900" kern="1200" dirty="0">
                        <a:solidFill>
                          <a:schemeClr val="dk1"/>
                        </a:solidFill>
                        <a:effectLst/>
                        <a:latin typeface="+mn-lt"/>
                        <a:ea typeface="+mn-ea"/>
                        <a:cs typeface="+mn-cs"/>
                      </a:endParaRPr>
                    </a:p>
                  </a:txBody>
                  <a:tcPr marL="68580" marR="68580" marT="0"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a:solidFill>
                            <a:schemeClr val="dk1"/>
                          </a:solidFill>
                          <a:effectLst/>
                          <a:latin typeface="+mn-lt"/>
                          <a:ea typeface="+mn-ea"/>
                          <a:cs typeface="+mn-cs"/>
                        </a:rPr>
                        <a:t> </a:t>
                      </a:r>
                      <a:endParaRPr lang="en-US" sz="900" kern="120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0" marR="0" marT="0" marB="0">
                    <a:solidFill>
                      <a:srgbClr val="D3D5FF"/>
                    </a:solidFill>
                  </a:tcPr>
                </a:tc>
              </a:tr>
              <a:tr h="84580">
                <a:tc>
                  <a:txBody>
                    <a:bodyPr/>
                    <a:lstStyle/>
                    <a:p>
                      <a:pPr algn="ctr">
                        <a:spcAft>
                          <a:spcPts val="0"/>
                        </a:spcAft>
                        <a:tabLst>
                          <a:tab pos="900430" algn="l"/>
                          <a:tab pos="300355" algn="l"/>
                          <a:tab pos="900430" algn="l"/>
                        </a:tabLst>
                      </a:pPr>
                      <a:r>
                        <a:rPr lang="fr-FR" sz="900" kern="1200" dirty="0">
                          <a:effectLst/>
                        </a:rPr>
                        <a:t>ZSST</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CBG Article sous-traitant</a:t>
                      </a:r>
                      <a:endParaRPr lang="en-US" sz="900" kern="1200" dirty="0">
                        <a:solidFill>
                          <a:schemeClr val="dk1"/>
                        </a:solidFill>
                        <a:effectLst/>
                        <a:latin typeface="+mn-lt"/>
                        <a:ea typeface="+mn-ea"/>
                        <a:cs typeface="+mn-cs"/>
                      </a:endParaRPr>
                    </a:p>
                  </a:txBody>
                  <a:tcPr marL="68580" marR="68580" marT="0"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a:solidFill>
                            <a:schemeClr val="dk1"/>
                          </a:solidFill>
                          <a:effectLst/>
                          <a:latin typeface="+mn-lt"/>
                          <a:ea typeface="+mn-ea"/>
                          <a:cs typeface="+mn-cs"/>
                        </a:rPr>
                        <a:t>X</a:t>
                      </a:r>
                      <a:endParaRPr lang="en-US" sz="900" kern="120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0" marR="0" marT="0" marB="0">
                    <a:solidFill>
                      <a:srgbClr val="F3F4FF"/>
                    </a:solidFill>
                  </a:tcPr>
                </a:tc>
              </a:tr>
              <a:tr h="69785">
                <a:tc>
                  <a:txBody>
                    <a:bodyPr/>
                    <a:lstStyle/>
                    <a:p>
                      <a:pPr algn="ctr">
                        <a:spcAft>
                          <a:spcPts val="0"/>
                        </a:spcAft>
                        <a:tabLst>
                          <a:tab pos="900430" algn="l"/>
                          <a:tab pos="300355" algn="l"/>
                          <a:tab pos="900430" algn="l"/>
                        </a:tabLst>
                      </a:pPr>
                      <a:r>
                        <a:rPr lang="fr-FR" sz="900" kern="1200" dirty="0">
                          <a:effectLst/>
                        </a:rPr>
                        <a:t>ZOUT</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CBG Outillage</a:t>
                      </a:r>
                      <a:endParaRPr lang="en-US" sz="900" kern="1200" dirty="0">
                        <a:solidFill>
                          <a:schemeClr val="dk1"/>
                        </a:solidFill>
                        <a:effectLst/>
                        <a:latin typeface="+mn-lt"/>
                        <a:ea typeface="+mn-ea"/>
                        <a:cs typeface="+mn-cs"/>
                      </a:endParaRPr>
                    </a:p>
                  </a:txBody>
                  <a:tcPr marL="68580" marR="68580" marT="0"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endParaRPr lang="en-US" sz="900" kern="1200" dirty="0">
                        <a:solidFill>
                          <a:schemeClr val="dk1"/>
                        </a:solidFill>
                        <a:effectLst/>
                        <a:latin typeface="+mn-lt"/>
                        <a:ea typeface="+mn-ea"/>
                        <a:cs typeface="+mn-cs"/>
                      </a:endParaRPr>
                    </a:p>
                  </a:txBody>
                  <a:tcPr marL="68580" marR="68580" marT="9525" marB="0" anchor="ctr">
                    <a:solidFill>
                      <a:srgbClr val="D3D5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 </a:t>
                      </a:r>
                      <a:endParaRPr lang="en-US" sz="900" kern="1200" dirty="0">
                        <a:solidFill>
                          <a:schemeClr val="dk1"/>
                        </a:solidFill>
                        <a:effectLst/>
                        <a:latin typeface="+mn-lt"/>
                        <a:ea typeface="+mn-ea"/>
                        <a:cs typeface="+mn-cs"/>
                      </a:endParaRPr>
                    </a:p>
                  </a:txBody>
                  <a:tcPr marL="0" marR="0" marT="0" marB="0">
                    <a:solidFill>
                      <a:srgbClr val="D3D5FF"/>
                    </a:solidFill>
                  </a:tcPr>
                </a:tc>
              </a:tr>
              <a:tr h="122240">
                <a:tc>
                  <a:txBody>
                    <a:bodyPr/>
                    <a:lstStyle/>
                    <a:p>
                      <a:pPr algn="ctr">
                        <a:spcAft>
                          <a:spcPts val="0"/>
                        </a:spcAft>
                        <a:tabLst>
                          <a:tab pos="900430" algn="l"/>
                          <a:tab pos="300355" algn="l"/>
                          <a:tab pos="900430" algn="l"/>
                        </a:tabLst>
                      </a:pPr>
                      <a:r>
                        <a:rPr lang="fr-FR" sz="900" kern="1200" dirty="0">
                          <a:effectLst/>
                        </a:rPr>
                        <a:t>ZSMF</a:t>
                      </a:r>
                      <a:endParaRPr lang="en-US"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9525" marB="0" anchor="ctr">
                    <a:solidFill>
                      <a:srgbClr val="4F81BD"/>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CBG Produit Semi-fini</a:t>
                      </a:r>
                      <a:endParaRPr lang="en-US" sz="900" kern="1200" dirty="0">
                        <a:solidFill>
                          <a:schemeClr val="dk1"/>
                        </a:solidFill>
                        <a:effectLst/>
                        <a:latin typeface="+mn-lt"/>
                        <a:ea typeface="+mn-ea"/>
                        <a:cs typeface="+mn-cs"/>
                      </a:endParaRPr>
                    </a:p>
                  </a:txBody>
                  <a:tcPr marL="68580" marR="68580" marT="0"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endParaRPr lang="en-US" sz="900" kern="1200" dirty="0">
                        <a:solidFill>
                          <a:schemeClr val="dk1"/>
                        </a:solidFill>
                        <a:effectLst/>
                        <a:latin typeface="+mn-lt"/>
                        <a:ea typeface="+mn-ea"/>
                        <a:cs typeface="+mn-cs"/>
                      </a:endParaRPr>
                    </a:p>
                  </a:txBody>
                  <a:tcPr marL="68580" marR="68580" marT="9525" marB="0" anchor="ctr">
                    <a:solidFill>
                      <a:srgbClr val="F3F4FF"/>
                    </a:solidFill>
                  </a:tcPr>
                </a:tc>
                <a:tc>
                  <a:txBody>
                    <a:bodyPr/>
                    <a:lstStyle/>
                    <a:p>
                      <a:pPr marL="0" algn="ctr" defTabSz="389626" rtl="0" eaLnBrk="1" latinLnBrk="0" hangingPunct="1">
                        <a:spcAft>
                          <a:spcPts val="0"/>
                        </a:spcAft>
                        <a:tabLst>
                          <a:tab pos="900430" algn="l"/>
                          <a:tab pos="300355" algn="l"/>
                          <a:tab pos="900430" algn="l"/>
                        </a:tabLst>
                      </a:pPr>
                      <a:r>
                        <a:rPr lang="fr-FR" sz="900" kern="1200" dirty="0">
                          <a:solidFill>
                            <a:schemeClr val="dk1"/>
                          </a:solidFill>
                          <a:effectLst/>
                          <a:latin typeface="+mn-lt"/>
                          <a:ea typeface="+mn-ea"/>
                          <a:cs typeface="+mn-cs"/>
                        </a:rPr>
                        <a:t>X</a:t>
                      </a:r>
                      <a:endParaRPr lang="en-US" sz="900" kern="1200" dirty="0">
                        <a:solidFill>
                          <a:schemeClr val="dk1"/>
                        </a:solidFill>
                        <a:effectLst/>
                        <a:latin typeface="+mn-lt"/>
                        <a:ea typeface="+mn-ea"/>
                        <a:cs typeface="+mn-cs"/>
                      </a:endParaRPr>
                    </a:p>
                  </a:txBody>
                  <a:tcPr marL="0" marR="0" marT="0" marB="0">
                    <a:solidFill>
                      <a:srgbClr val="F3F4FF"/>
                    </a:solidFill>
                  </a:tcPr>
                </a:tc>
              </a:tr>
            </a:tbl>
          </a:graphicData>
        </a:graphic>
      </p:graphicFrame>
      <p:sp>
        <p:nvSpPr>
          <p:cNvPr id="5" name="Titre 4"/>
          <p:cNvSpPr>
            <a:spLocks noGrp="1"/>
          </p:cNvSpPr>
          <p:nvPr>
            <p:ph type="title"/>
          </p:nvPr>
        </p:nvSpPr>
        <p:spPr>
          <a:xfrm>
            <a:off x="457200" y="206375"/>
            <a:ext cx="8229600" cy="857250"/>
          </a:xfrm>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types articles définis pour la CBG</a:t>
            </a:r>
            <a:endParaRPr lang="en-US" altLang="en-US" dirty="0" smtClean="0"/>
          </a:p>
        </p:txBody>
      </p:sp>
      <p:sp>
        <p:nvSpPr>
          <p:cNvPr id="7" name="Espace réservé du contenu 1"/>
          <p:cNvSpPr txBox="1">
            <a:spLocks/>
          </p:cNvSpPr>
          <p:nvPr/>
        </p:nvSpPr>
        <p:spPr>
          <a:xfrm>
            <a:off x="573578" y="1152525"/>
            <a:ext cx="8246571" cy="3240571"/>
          </a:xfrm>
          <a:prstGeom prst="rect">
            <a:avLst/>
          </a:prstGeom>
        </p:spPr>
        <p:txBody>
          <a:bodyPr/>
          <a:lst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a:lstStyle>
          <a:p>
            <a:r>
              <a:rPr lang="fr-FR" dirty="0" smtClean="0"/>
              <a:t>Les types d’article sont définis pour classifier les articles (matières premières, produit finis, prestations de service, …) et spécifier les processus dans lesquels les articles de chaque type peuvent être utilisés.</a:t>
            </a:r>
          </a:p>
          <a:p>
            <a:r>
              <a:rPr lang="fr-FR" dirty="0" smtClean="0"/>
              <a:t>Dans le cadre de la mise en œuvre de la solution SAP CBG Lot 1, les 12 types articles suivants ont été définis :</a:t>
            </a:r>
          </a:p>
        </p:txBody>
      </p:sp>
    </p:spTree>
    <p:extLst>
      <p:ext uri="{BB962C8B-B14F-4D97-AF65-F5344CB8AC3E}">
        <p14:creationId xmlns:p14="http://schemas.microsoft.com/office/powerpoint/2010/main" val="419295775"/>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Gestion des articles</a:t>
            </a:r>
            <a:endParaRPr lang="en-US" altLang="en-US" dirty="0" smtClean="0"/>
          </a:p>
        </p:txBody>
      </p:sp>
      <p:sp>
        <p:nvSpPr>
          <p:cNvPr id="28678" name="AutoShape 6"/>
          <p:cNvSpPr>
            <a:spLocks noChangeArrowheads="1"/>
          </p:cNvSpPr>
          <p:nvPr/>
        </p:nvSpPr>
        <p:spPr bwMode="auto">
          <a:xfrm>
            <a:off x="1613861" y="1534837"/>
            <a:ext cx="1570434" cy="478201"/>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a:t>
            </a:r>
            <a:r>
              <a:rPr lang="fr-FR" altLang="en-US" sz="1050" dirty="0" smtClean="0">
                <a:cs typeface="Arial" panose="020B0604020202020204" pitchFamily="34" charset="0"/>
              </a:rPr>
              <a:t>créer un article ?</a:t>
            </a:r>
            <a:endParaRPr lang="fr-FR" altLang="en-US" sz="1050" dirty="0">
              <a:cs typeface="Arial" panose="020B0604020202020204" pitchFamily="34" charset="0"/>
            </a:endParaRPr>
          </a:p>
        </p:txBody>
      </p:sp>
      <p:sp>
        <p:nvSpPr>
          <p:cNvPr id="28679" name="AutoShape 7"/>
          <p:cNvSpPr>
            <a:spLocks noChangeArrowheads="1"/>
          </p:cNvSpPr>
          <p:nvPr/>
        </p:nvSpPr>
        <p:spPr bwMode="auto">
          <a:xfrm>
            <a:off x="1613861" y="3595561"/>
            <a:ext cx="1647825" cy="478201"/>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Que trouve-t-on dans un </a:t>
            </a:r>
            <a:r>
              <a:rPr lang="fr-FR" altLang="en-US" sz="1050" dirty="0" smtClean="0">
                <a:solidFill>
                  <a:schemeClr val="bg1"/>
                </a:solidFill>
                <a:cs typeface="Arial" panose="020B0604020202020204" pitchFamily="34" charset="0"/>
              </a:rPr>
              <a:t>article ?</a:t>
            </a:r>
            <a:endParaRPr lang="fr-FR" altLang="en-US" sz="1050" dirty="0">
              <a:solidFill>
                <a:schemeClr val="bg1"/>
              </a:solidFill>
              <a:cs typeface="Arial" panose="020B0604020202020204" pitchFamily="34" charset="0"/>
            </a:endParaRPr>
          </a:p>
        </p:txBody>
      </p:sp>
      <p:sp>
        <p:nvSpPr>
          <p:cNvPr id="28680" name="AutoShape 9"/>
          <p:cNvSpPr>
            <a:spLocks noChangeArrowheads="1"/>
          </p:cNvSpPr>
          <p:nvPr/>
        </p:nvSpPr>
        <p:spPr bwMode="auto">
          <a:xfrm>
            <a:off x="5155407" y="2618530"/>
            <a:ext cx="2166938" cy="299429"/>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Le bureau de standardisation</a:t>
            </a:r>
          </a:p>
        </p:txBody>
      </p:sp>
      <p:sp>
        <p:nvSpPr>
          <p:cNvPr id="28681" name="AutoShape 12"/>
          <p:cNvSpPr>
            <a:spLocks noChangeArrowheads="1"/>
          </p:cNvSpPr>
          <p:nvPr/>
        </p:nvSpPr>
        <p:spPr bwMode="auto">
          <a:xfrm>
            <a:off x="4888041" y="1566321"/>
            <a:ext cx="2701669" cy="478201"/>
          </a:xfrm>
          <a:prstGeom prst="wedgeRoundRectCallout">
            <a:avLst>
              <a:gd name="adj1" fmla="val -55845"/>
              <a:gd name="adj2" fmla="val 45226"/>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A chaque besoin d’achat d’un nouvel article</a:t>
            </a:r>
            <a:endParaRPr lang="fr-FR" altLang="en-US" sz="1050" dirty="0"/>
          </a:p>
        </p:txBody>
      </p:sp>
      <p:sp>
        <p:nvSpPr>
          <p:cNvPr id="28682" name="AutoShape 6"/>
          <p:cNvSpPr>
            <a:spLocks noChangeArrowheads="1"/>
          </p:cNvSpPr>
          <p:nvPr/>
        </p:nvSpPr>
        <p:spPr bwMode="auto">
          <a:xfrm>
            <a:off x="1231921" y="2603261"/>
            <a:ext cx="1666915" cy="299429"/>
          </a:xfrm>
          <a:prstGeom prst="wedgeRoundRectCallout">
            <a:avLst>
              <a:gd name="adj1" fmla="val 71436"/>
              <a:gd name="adj2" fmla="val -4052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a:t>
            </a:r>
            <a:r>
              <a:rPr lang="fr-FR" altLang="en-US" sz="1050" dirty="0" smtClean="0">
                <a:solidFill>
                  <a:schemeClr val="bg1"/>
                </a:solidFill>
                <a:cs typeface="Arial" panose="020B0604020202020204" pitchFamily="34" charset="0"/>
              </a:rPr>
              <a:t>créer un article?</a:t>
            </a:r>
            <a:endParaRPr lang="fr-FR" altLang="en-US" sz="1050" dirty="0">
              <a:solidFill>
                <a:schemeClr val="bg1"/>
              </a:solidFill>
              <a:cs typeface="Arial" panose="020B0604020202020204" pitchFamily="34" charset="0"/>
            </a:endParaRPr>
          </a:p>
        </p:txBody>
      </p:sp>
      <p:sp>
        <p:nvSpPr>
          <p:cNvPr id="28685" name="AutoShape 10"/>
          <p:cNvSpPr>
            <a:spLocks noChangeArrowheads="1"/>
          </p:cNvSpPr>
          <p:nvPr/>
        </p:nvSpPr>
        <p:spPr bwMode="auto">
          <a:xfrm>
            <a:off x="5072484" y="3520346"/>
            <a:ext cx="2893219" cy="478201"/>
          </a:xfrm>
          <a:prstGeom prst="wedgeRoundRectCallout">
            <a:avLst>
              <a:gd name="adj1" fmla="val -57167"/>
              <a:gd name="adj2" fmla="val -40199"/>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Les données de gestion de l’article, réparties en différents onglets</a:t>
            </a:r>
          </a:p>
        </p:txBody>
      </p:sp>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62823" y="1783900"/>
            <a:ext cx="2048434" cy="1524132"/>
          </a:xfrm>
          <a:prstGeom prst="rect">
            <a:avLst/>
          </a:prstGeom>
        </p:spPr>
      </p:pic>
      <p:sp>
        <p:nvSpPr>
          <p:cNvPr id="29698" name="Titre 1"/>
          <p:cNvSpPr>
            <a:spLocks noGrp="1"/>
          </p:cNvSpPr>
          <p:nvPr>
            <p:ph type="title"/>
          </p:nvPr>
        </p:nvSpPr>
        <p:spPr/>
        <p:txBody>
          <a:bodyPr/>
          <a:lstStyle/>
          <a:p>
            <a:r>
              <a:rPr lang="fr-FR" altLang="en-US" sz="2400" dirty="0" smtClean="0"/>
              <a:t>Description du processus métier</a:t>
            </a:r>
            <a:br>
              <a:rPr lang="fr-FR" altLang="en-US" sz="2400" dirty="0" smtClean="0"/>
            </a:br>
            <a:endParaRPr lang="en-US" altLang="en-US" dirty="0" smtClean="0"/>
          </a:p>
        </p:txBody>
      </p:sp>
      <p:sp>
        <p:nvSpPr>
          <p:cNvPr id="20" name="Rectangle à coins arrondis 19"/>
          <p:cNvSpPr/>
          <p:nvPr/>
        </p:nvSpPr>
        <p:spPr>
          <a:xfrm>
            <a:off x="4355243" y="1494414"/>
            <a:ext cx="2874704" cy="478201"/>
          </a:xfrm>
          <a:prstGeom prst="wedgeRoundRectCallout">
            <a:avLst>
              <a:gd name="adj1" fmla="val -64419"/>
              <a:gd name="adj2" fmla="val 51026"/>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a:spcBef>
                <a:spcPts val="225"/>
              </a:spcBef>
              <a:buFont typeface="Arial" panose="020B0604020202020204" pitchFamily="34" charset="0"/>
              <a:buChar char="•"/>
            </a:pPr>
            <a:r>
              <a:rPr lang="fr-FR" sz="1050" dirty="0">
                <a:solidFill>
                  <a:schemeClr val="bg1"/>
                </a:solidFill>
                <a:latin typeface="Arial" panose="020B0604020202020204" pitchFamily="34" charset="0"/>
                <a:ea typeface="ＭＳ Ｐゴシック" panose="020B0600070205080204" pitchFamily="34" charset="-128"/>
              </a:rPr>
              <a:t>La gestion </a:t>
            </a:r>
            <a:r>
              <a:rPr lang="fr-FR" sz="1050" dirty="0" smtClean="0">
                <a:solidFill>
                  <a:schemeClr val="bg1"/>
                </a:solidFill>
                <a:latin typeface="Arial" panose="020B0604020202020204" pitchFamily="34" charset="0"/>
                <a:ea typeface="ＭＳ Ｐゴシック" panose="020B0600070205080204" pitchFamily="34" charset="-128"/>
              </a:rPr>
              <a:t>des articles fait partie du processus Données de base Achats</a:t>
            </a:r>
          </a:p>
        </p:txBody>
      </p:sp>
      <p:grpSp>
        <p:nvGrpSpPr>
          <p:cNvPr id="2" name="Groupe 1"/>
          <p:cNvGrpSpPr/>
          <p:nvPr/>
        </p:nvGrpSpPr>
        <p:grpSpPr>
          <a:xfrm>
            <a:off x="3230288" y="3708848"/>
            <a:ext cx="2683425" cy="400050"/>
            <a:chOff x="3005355" y="3708848"/>
            <a:chExt cx="2683425" cy="400050"/>
          </a:xfrm>
        </p:grpSpPr>
        <p:sp>
          <p:nvSpPr>
            <p:cNvPr id="29701" name="AutoShape 17"/>
            <p:cNvSpPr>
              <a:spLocks noChangeArrowheads="1"/>
            </p:cNvSpPr>
            <p:nvPr/>
          </p:nvSpPr>
          <p:spPr bwMode="auto">
            <a:xfrm>
              <a:off x="4355243" y="3708848"/>
              <a:ext cx="1333537"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Créer l’article nécessaire</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13" name="AutoShape 16"/>
            <p:cNvSpPr>
              <a:spLocks noChangeArrowheads="1"/>
            </p:cNvSpPr>
            <p:nvPr/>
          </p:nvSpPr>
          <p:spPr bwMode="auto">
            <a:xfrm>
              <a:off x="3005355" y="3708848"/>
              <a:ext cx="1333537" cy="400050"/>
            </a:xfrm>
            <a:prstGeom prst="homePlate">
              <a:avLst>
                <a:gd name="adj" fmla="val 28403"/>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defRPr/>
              </a:pPr>
              <a:r>
                <a:rPr lang="fr-FR" altLang="ko-KR" sz="800" b="1" dirty="0" smtClean="0">
                  <a:solidFill>
                    <a:srgbClr val="FFFFFF"/>
                  </a:solidFill>
                  <a:latin typeface="Verdana" pitchFamily="34" charset="0"/>
                  <a:ea typeface="ＭＳ Ｐゴシック"/>
                  <a:cs typeface="Arial" pitchFamily="34" charset="0"/>
                </a:rPr>
                <a:t>Besoin d’un nouvel article</a:t>
              </a:r>
              <a:endParaRPr lang="fr-FR" altLang="ko-KR" sz="800" b="1" dirty="0">
                <a:solidFill>
                  <a:srgbClr val="FFFFFF"/>
                </a:solidFill>
                <a:latin typeface="Verdana" pitchFamily="34" charset="0"/>
                <a:ea typeface="ＭＳ Ｐゴシック"/>
                <a:cs typeface="Arial" pitchFamily="34" charset="0"/>
              </a:endParaRPr>
            </a:p>
          </p:txBody>
        </p:sp>
      </p:grpSp>
    </p:spTree>
    <p:extLst>
      <p:ext uri="{BB962C8B-B14F-4D97-AF65-F5344CB8AC3E}">
        <p14:creationId xmlns:p14="http://schemas.microsoft.com/office/powerpoint/2010/main" val="178853090"/>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1985487"/>
            <a:ext cx="6001941" cy="2048127"/>
          </a:xfrm>
        </p:spPr>
        <p:txBody>
          <a:bodyPr/>
          <a:lstStyle/>
          <a:p>
            <a:r>
              <a:rPr lang="fr-FR" dirty="0"/>
              <a:t>Une fiche article regroupe toutes les informations nécessaires à la gestion d’un article, triées selon différents </a:t>
            </a:r>
            <a:r>
              <a:rPr lang="fr-FR" dirty="0" smtClean="0"/>
              <a:t>critères</a:t>
            </a:r>
          </a:p>
          <a:p>
            <a:pPr>
              <a:spcBef>
                <a:spcPts val="600"/>
              </a:spcBef>
              <a:spcAft>
                <a:spcPts val="600"/>
              </a:spcAft>
            </a:pPr>
            <a:r>
              <a:rPr lang="fr-FR" dirty="0"/>
              <a:t>Les données d’une fiche article peuvent être réparties en deux catégories </a:t>
            </a:r>
            <a:r>
              <a:rPr lang="fr-FR" dirty="0" smtClean="0"/>
              <a:t>:</a:t>
            </a:r>
            <a:endParaRPr lang="fr-FR" dirty="0"/>
          </a:p>
          <a:p>
            <a:pPr indent="-285750">
              <a:spcBef>
                <a:spcPts val="0"/>
              </a:spcBef>
              <a:buClr>
                <a:srgbClr val="0070C0"/>
              </a:buClr>
              <a:buSzPct val="100000"/>
              <a:buFont typeface="Wingdings" panose="05000000000000000000" pitchFamily="2" charset="2"/>
              <a:buChar char="§"/>
            </a:pPr>
            <a:r>
              <a:rPr lang="fr-FR" dirty="0"/>
              <a:t>Données purement descriptives</a:t>
            </a:r>
          </a:p>
          <a:p>
            <a:pPr marL="0" lvl="1" indent="0">
              <a:spcBef>
                <a:spcPts val="0"/>
              </a:spcBef>
              <a:buClrTx/>
              <a:buSzPct val="100000"/>
              <a:buNone/>
            </a:pPr>
            <a:r>
              <a:rPr lang="fr-FR" dirty="0" smtClean="0"/>
              <a:t>Il </a:t>
            </a:r>
            <a:r>
              <a:rPr lang="fr-FR" dirty="0"/>
              <a:t>s’agit des données fournissant diverses informations, telles une désignation, une taille ou une dimension.</a:t>
            </a:r>
          </a:p>
          <a:p>
            <a:pPr indent="-285750">
              <a:spcBef>
                <a:spcPts val="0"/>
              </a:spcBef>
              <a:buClr>
                <a:srgbClr val="0070C0"/>
              </a:buClr>
              <a:buSzPct val="100000"/>
              <a:buFont typeface="Wingdings" panose="05000000000000000000" pitchFamily="2" charset="2"/>
              <a:buChar char="§"/>
            </a:pPr>
            <a:r>
              <a:rPr lang="fr-FR" dirty="0"/>
              <a:t>Données utilisées par le système pour exécuter une fonction de contrôle</a:t>
            </a:r>
          </a:p>
          <a:p>
            <a:pPr marL="0" lvl="1" indent="0">
              <a:spcBef>
                <a:spcPts val="0"/>
              </a:spcBef>
              <a:buClrTx/>
              <a:buSzPct val="100000"/>
              <a:buNone/>
            </a:pPr>
            <a:r>
              <a:rPr lang="fr-FR" dirty="0"/>
              <a:t>Exemples : le type de planification, le code prix</a:t>
            </a:r>
            <a:r>
              <a:rPr lang="fr-FR" dirty="0" smtClean="0"/>
              <a:t>.</a:t>
            </a:r>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La fiche article</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15945973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solidFill>
                    <a:schemeClr val="bg1"/>
                  </a:solidFill>
                  <a:latin typeface="Arial" pitchFamily="34" charset="0"/>
                  <a:cs typeface="Arial" pitchFamily="34" charset="0"/>
                </a:rPr>
                <a:t>Action</a:t>
              </a:r>
              <a:endParaRPr lang="en-US" sz="800"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3" name="Groupe 2"/>
          <p:cNvGrpSpPr/>
          <p:nvPr/>
        </p:nvGrpSpPr>
        <p:grpSpPr>
          <a:xfrm>
            <a:off x="3924000" y="1489963"/>
            <a:ext cx="1296000" cy="2232941"/>
            <a:chOff x="4142037" y="1489963"/>
            <a:chExt cx="1296000" cy="2232941"/>
          </a:xfrm>
        </p:grpSpPr>
        <p:grpSp>
          <p:nvGrpSpPr>
            <p:cNvPr id="37" name="Groupe 36"/>
            <p:cNvGrpSpPr/>
            <p:nvPr/>
          </p:nvGrpSpPr>
          <p:grpSpPr>
            <a:xfrm>
              <a:off x="4142037" y="1489963"/>
              <a:ext cx="1296000" cy="923045"/>
              <a:chOff x="1507778" y="2158123"/>
              <a:chExt cx="1258269" cy="923045"/>
            </a:xfrm>
          </p:grpSpPr>
          <p:sp>
            <p:nvSpPr>
              <p:cNvPr id="39" name="Rectangle 38"/>
              <p:cNvSpPr/>
              <p:nvPr/>
            </p:nvSpPr>
            <p:spPr>
              <a:xfrm>
                <a:off x="1507778" y="2158123"/>
                <a:ext cx="1258269" cy="44208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t>Création d’un </a:t>
                </a:r>
                <a:r>
                  <a:rPr lang="fr-FR" sz="800" dirty="0"/>
                  <a:t>article (pièce de rechange, acheté, géré par lots)</a:t>
                </a:r>
                <a:endParaRPr lang="en-US" sz="800" dirty="0">
                  <a:solidFill>
                    <a:schemeClr val="bg1"/>
                  </a:solidFill>
                  <a:latin typeface="Arial" pitchFamily="34" charset="0"/>
                  <a:cs typeface="Arial" pitchFamily="34" charset="0"/>
                </a:endParaRPr>
              </a:p>
            </p:txBody>
          </p:sp>
          <p:sp>
            <p:nvSpPr>
              <p:cNvPr id="40" name="Rectangle 3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t>MM01</a:t>
                </a:r>
                <a:endParaRPr lang="en-US" sz="800" b="1" dirty="0">
                  <a:solidFill>
                    <a:schemeClr val="bg1"/>
                  </a:solidFill>
                  <a:latin typeface="Arial" panose="020B0604020202020204" pitchFamily="34" charset="0"/>
                  <a:cs typeface="Arial" panose="020B0604020202020204" pitchFamily="34" charset="0"/>
                </a:endParaRPr>
              </a:p>
            </p:txBody>
          </p:sp>
          <p:sp>
            <p:nvSpPr>
              <p:cNvPr id="41" name="Rectangle 40"/>
              <p:cNvSpPr/>
              <p:nvPr/>
            </p:nvSpPr>
            <p:spPr>
              <a:xfrm>
                <a:off x="1507778" y="2815708"/>
                <a:ext cx="1258269" cy="26546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Bureau de standardisation</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20" name="Groupe 19"/>
            <p:cNvGrpSpPr/>
            <p:nvPr/>
          </p:nvGrpSpPr>
          <p:grpSpPr>
            <a:xfrm>
              <a:off x="4142037" y="2797812"/>
              <a:ext cx="1296000" cy="925092"/>
              <a:chOff x="1507778" y="2193421"/>
              <a:chExt cx="1258269" cy="925092"/>
            </a:xfrm>
          </p:grpSpPr>
          <p:sp>
            <p:nvSpPr>
              <p:cNvPr id="21" name="Rectangle 20"/>
              <p:cNvSpPr/>
              <p:nvPr/>
            </p:nvSpPr>
            <p:spPr>
              <a:xfrm>
                <a:off x="1507778" y="2193421"/>
                <a:ext cx="1258269" cy="406782"/>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solidFill>
                      <a:schemeClr val="bg1"/>
                    </a:solidFill>
                    <a:cs typeface="Arial" pitchFamily="34" charset="0"/>
                  </a:rPr>
                  <a:t>Création d'un article (équipement, acheté, géré avec n° de série)</a:t>
                </a:r>
                <a:endParaRPr lang="en-US" sz="800" dirty="0">
                  <a:solidFill>
                    <a:schemeClr val="bg1"/>
                  </a:solidFill>
                  <a:cs typeface="Arial" pitchFamily="34" charset="0"/>
                </a:endParaRPr>
              </a:p>
            </p:txBody>
          </p:sp>
          <p:sp>
            <p:nvSpPr>
              <p:cNvPr id="22" name="Rectangle 2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cs typeface="Arial" panose="020B0604020202020204" pitchFamily="34" charset="0"/>
                  </a:rPr>
                  <a:t>MM01</a:t>
                </a:r>
                <a:endParaRPr lang="en-US" sz="800" b="1" dirty="0">
                  <a:solidFill>
                    <a:schemeClr val="bg1"/>
                  </a:solidFill>
                  <a:cs typeface="Arial" panose="020B0604020202020204" pitchFamily="34" charset="0"/>
                </a:endParaRPr>
              </a:p>
            </p:txBody>
          </p:sp>
          <p:sp>
            <p:nvSpPr>
              <p:cNvPr id="23" name="Rectangle 22"/>
              <p:cNvSpPr/>
              <p:nvPr/>
            </p:nvSpPr>
            <p:spPr>
              <a:xfrm>
                <a:off x="1507778" y="2815707"/>
                <a:ext cx="1258269" cy="302806"/>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Bureau de standardisation</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3"/>
          <a:stretch>
            <a:fillRect/>
          </a:stretch>
        </p:blipFill>
        <p:spPr>
          <a:xfrm>
            <a:off x="5126957" y="3082922"/>
            <a:ext cx="2912490" cy="1972058"/>
          </a:xfrm>
          <a:prstGeom prst="rect">
            <a:avLst/>
          </a:prstGeom>
          <a:ln>
            <a:solidFill>
              <a:schemeClr val="tx1"/>
            </a:solidFill>
          </a:ln>
          <a:effectLst>
            <a:outerShdw blurRad="50800" dist="38100" dir="2700000" algn="tl" rotWithShape="0">
              <a:prstClr val="black">
                <a:alpha val="40000"/>
              </a:prstClr>
            </a:outerShdw>
          </a:effectLst>
        </p:spPr>
      </p:pic>
      <p:pic>
        <p:nvPicPr>
          <p:cNvPr id="4" name="Image 3"/>
          <p:cNvPicPr>
            <a:picLocks noChangeAspect="1"/>
          </p:cNvPicPr>
          <p:nvPr/>
        </p:nvPicPr>
        <p:blipFill>
          <a:blip r:embed="rId4"/>
          <a:stretch>
            <a:fillRect/>
          </a:stretch>
        </p:blipFill>
        <p:spPr>
          <a:xfrm>
            <a:off x="2358812" y="1473013"/>
            <a:ext cx="2099848" cy="2852424"/>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a:xfrm>
            <a:off x="457200" y="206375"/>
            <a:ext cx="4043363" cy="857250"/>
          </a:xfrm>
        </p:spPr>
        <p:txBody>
          <a:bodyPr>
            <a:normAutofit fontScale="90000"/>
          </a:bodyPr>
          <a:lstStyle/>
          <a:p>
            <a:r>
              <a:rPr lang="fr-FR" altLang="en-US" sz="2400" dirty="0" smtClean="0"/>
              <a:t>Mode opératoire</a:t>
            </a:r>
            <a:br>
              <a:rPr lang="fr-FR" altLang="en-US" sz="2400" dirty="0" smtClean="0"/>
            </a:br>
            <a:r>
              <a:rPr lang="fr-FR" altLang="en-US" dirty="0" smtClean="0"/>
              <a:t>MM01– Créer un </a:t>
            </a:r>
            <a:r>
              <a:rPr lang="fr-FR" altLang="en-US" dirty="0"/>
              <a:t>article (pièce de rechange, acheté, géré par lots</a:t>
            </a:r>
            <a:r>
              <a:rPr lang="fr-FR" altLang="en-US" dirty="0" smtClean="0"/>
              <a:t>) 1/5</a:t>
            </a:r>
            <a:endParaRPr lang="en-US" dirty="0"/>
          </a:p>
        </p:txBody>
      </p:sp>
      <p:sp>
        <p:nvSpPr>
          <p:cNvPr id="45" name="Rectangle 44"/>
          <p:cNvSpPr/>
          <p:nvPr/>
        </p:nvSpPr>
        <p:spPr>
          <a:xfrm>
            <a:off x="2386812" y="4165814"/>
            <a:ext cx="14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21" name="Image 20"/>
          <p:cNvPicPr>
            <a:picLocks noChangeAspect="1"/>
          </p:cNvPicPr>
          <p:nvPr/>
        </p:nvPicPr>
        <p:blipFill>
          <a:blip r:embed="rId5"/>
          <a:stretch>
            <a:fillRect/>
          </a:stretch>
        </p:blipFill>
        <p:spPr>
          <a:xfrm>
            <a:off x="282575" y="1159134"/>
            <a:ext cx="1830162" cy="1997173"/>
          </a:xfrm>
          <a:prstGeom prst="rect">
            <a:avLst/>
          </a:prstGeom>
          <a:ln>
            <a:solidFill>
              <a:schemeClr val="tx1"/>
            </a:solidFill>
          </a:ln>
          <a:effectLst>
            <a:outerShdw blurRad="50800" dist="38100" dir="2700000" algn="tl" rotWithShape="0">
              <a:prstClr val="black">
                <a:alpha val="40000"/>
              </a:prstClr>
            </a:outerShdw>
          </a:effectLst>
        </p:spPr>
      </p:pic>
      <p:sp>
        <p:nvSpPr>
          <p:cNvPr id="22" name="Rectangle 21"/>
          <p:cNvSpPr/>
          <p:nvPr/>
        </p:nvSpPr>
        <p:spPr>
          <a:xfrm>
            <a:off x="1129784" y="2100941"/>
            <a:ext cx="893463" cy="13917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200" dirty="0" err="1" smtClean="0">
              <a:solidFill>
                <a:srgbClr val="4D4F53"/>
              </a:solidFill>
            </a:endParaRPr>
          </a:p>
        </p:txBody>
      </p:sp>
      <p:sp>
        <p:nvSpPr>
          <p:cNvPr id="23" name="Rectangle 22"/>
          <p:cNvSpPr/>
          <p:nvPr/>
        </p:nvSpPr>
        <p:spPr>
          <a:xfrm>
            <a:off x="1129784" y="1985232"/>
            <a:ext cx="893463" cy="1152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200" dirty="0" err="1" smtClean="0">
              <a:solidFill>
                <a:srgbClr val="4D4F53"/>
              </a:solidFill>
            </a:endParaRPr>
          </a:p>
        </p:txBody>
      </p:sp>
      <p:sp>
        <p:nvSpPr>
          <p:cNvPr id="24" name="Ellipse 23"/>
          <p:cNvSpPr/>
          <p:nvPr/>
        </p:nvSpPr>
        <p:spPr>
          <a:xfrm>
            <a:off x="920929" y="202314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fr-FR" sz="900" b="1" dirty="0" smtClean="0">
                <a:solidFill>
                  <a:schemeClr val="bg1"/>
                </a:solidFill>
              </a:rPr>
              <a:t>1</a:t>
            </a:r>
          </a:p>
        </p:txBody>
      </p:sp>
      <p:sp>
        <p:nvSpPr>
          <p:cNvPr id="58" name="Ellipse 57"/>
          <p:cNvSpPr/>
          <p:nvPr/>
        </p:nvSpPr>
        <p:spPr>
          <a:xfrm>
            <a:off x="3406455" y="407034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59" name="Rectangle 58"/>
          <p:cNvSpPr/>
          <p:nvPr/>
        </p:nvSpPr>
        <p:spPr>
          <a:xfrm>
            <a:off x="3507867" y="4160568"/>
            <a:ext cx="14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0" name="Ellipse 59"/>
          <p:cNvSpPr/>
          <p:nvPr/>
        </p:nvSpPr>
        <p:spPr>
          <a:xfrm>
            <a:off x="5649110" y="330609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61" name="Rectangle 60"/>
          <p:cNvSpPr/>
          <p:nvPr/>
        </p:nvSpPr>
        <p:spPr>
          <a:xfrm>
            <a:off x="6464840" y="4872293"/>
            <a:ext cx="14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2" name="Rectangle 61"/>
          <p:cNvSpPr/>
          <p:nvPr/>
        </p:nvSpPr>
        <p:spPr>
          <a:xfrm>
            <a:off x="5806497" y="3409180"/>
            <a:ext cx="21600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0" name="Rectangle 69"/>
          <p:cNvSpPr/>
          <p:nvPr/>
        </p:nvSpPr>
        <p:spPr>
          <a:xfrm>
            <a:off x="5815043" y="3795133"/>
            <a:ext cx="144000"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2" name="Rectangle 71"/>
          <p:cNvSpPr/>
          <p:nvPr/>
        </p:nvSpPr>
        <p:spPr>
          <a:xfrm>
            <a:off x="5806496" y="4044429"/>
            <a:ext cx="25200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3" name="Ellipse 72"/>
          <p:cNvSpPr/>
          <p:nvPr/>
        </p:nvSpPr>
        <p:spPr>
          <a:xfrm>
            <a:off x="6265104" y="487229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endParaRPr lang="fr-FR" sz="800" b="1" dirty="0">
              <a:solidFill>
                <a:schemeClr val="bg1"/>
              </a:solidFill>
            </a:endParaRPr>
          </a:p>
        </p:txBody>
      </p:sp>
      <p:cxnSp>
        <p:nvCxnSpPr>
          <p:cNvPr id="79" name="Connecteur droit avec flèche 78"/>
          <p:cNvCxnSpPr>
            <a:stCxn id="4" idx="3"/>
            <a:endCxn id="6" idx="1"/>
          </p:cNvCxnSpPr>
          <p:nvPr/>
        </p:nvCxnSpPr>
        <p:spPr>
          <a:xfrm>
            <a:off x="4458660" y="2899225"/>
            <a:ext cx="668297" cy="1169726"/>
          </a:xfrm>
          <a:prstGeom prst="bentConnector3">
            <a:avLst>
              <a:gd name="adj1" fmla="val 50000"/>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5806497" y="3534903"/>
            <a:ext cx="21600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82" name="Rectangle 81"/>
          <p:cNvSpPr/>
          <p:nvPr/>
        </p:nvSpPr>
        <p:spPr>
          <a:xfrm>
            <a:off x="5815043" y="3661488"/>
            <a:ext cx="203320" cy="13364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83" name="Rectangle 82"/>
          <p:cNvSpPr/>
          <p:nvPr/>
        </p:nvSpPr>
        <p:spPr>
          <a:xfrm>
            <a:off x="5822161" y="3930441"/>
            <a:ext cx="144000"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grpSp>
        <p:nvGrpSpPr>
          <p:cNvPr id="92" name="Groupe 91"/>
          <p:cNvGrpSpPr/>
          <p:nvPr/>
        </p:nvGrpSpPr>
        <p:grpSpPr>
          <a:xfrm>
            <a:off x="4842327" y="138072"/>
            <a:ext cx="3969886" cy="2885405"/>
            <a:chOff x="4716914" y="2468"/>
            <a:chExt cx="3969886" cy="2885405"/>
          </a:xfrm>
        </p:grpSpPr>
        <p:sp>
          <p:nvSpPr>
            <p:cNvPr id="26" name="ZoneTexte 25"/>
            <p:cNvSpPr txBox="1"/>
            <p:nvPr/>
          </p:nvSpPr>
          <p:spPr>
            <a:xfrm>
              <a:off x="4842825" y="2468"/>
              <a:ext cx="3843975" cy="2885405"/>
            </a:xfrm>
            <a:prstGeom prst="rect">
              <a:avLst/>
            </a:prstGeom>
            <a:noFill/>
          </p:spPr>
          <p:txBody>
            <a:bodyPr wrap="square" rtlCol="0">
              <a:spAutoFit/>
            </a:bodyPr>
            <a:lstStyle/>
            <a:p>
              <a:pPr>
                <a:lnSpc>
                  <a:spcPct val="150000"/>
                </a:lnSpc>
              </a:pPr>
              <a:r>
                <a:rPr lang="fr-FR" sz="1100" dirty="0">
                  <a:solidFill>
                    <a:srgbClr val="4D4F53"/>
                  </a:solidFill>
                </a:rPr>
                <a:t>Saisir une </a:t>
              </a:r>
              <a:r>
                <a:rPr lang="fr-FR" sz="1100" dirty="0" smtClean="0">
                  <a:solidFill>
                    <a:srgbClr val="4D4F53"/>
                  </a:solidFill>
                </a:rPr>
                <a:t>Branche, </a:t>
              </a:r>
              <a:r>
                <a:rPr lang="fr-FR" sz="1100" dirty="0">
                  <a:solidFill>
                    <a:srgbClr val="4D4F53"/>
                  </a:solidFill>
                </a:rPr>
                <a:t>le </a:t>
              </a:r>
              <a:r>
                <a:rPr lang="fr-FR" sz="1100" dirty="0" smtClean="0">
                  <a:solidFill>
                    <a:srgbClr val="4D4F53"/>
                  </a:solidFill>
                </a:rPr>
                <a:t>Type Article, appuyer sur Entrer</a:t>
              </a:r>
            </a:p>
            <a:p>
              <a:pPr>
                <a:lnSpc>
                  <a:spcPct val="150000"/>
                </a:lnSpc>
              </a:pPr>
              <a:r>
                <a:rPr lang="fr-FR" sz="1100" dirty="0" smtClean="0">
                  <a:solidFill>
                    <a:srgbClr val="4D4F53"/>
                  </a:solidFill>
                </a:rPr>
                <a:t>Un </a:t>
              </a:r>
              <a:r>
                <a:rPr lang="fr-FR" sz="1100" dirty="0">
                  <a:solidFill>
                    <a:srgbClr val="4D4F53"/>
                  </a:solidFill>
                </a:rPr>
                <a:t>pop-up apparaît de </a:t>
              </a:r>
              <a:r>
                <a:rPr lang="fr-FR" sz="1100" dirty="0" smtClean="0">
                  <a:solidFill>
                    <a:srgbClr val="4D4F53"/>
                  </a:solidFill>
                </a:rPr>
                <a:t>« Sélection </a:t>
              </a:r>
              <a:r>
                <a:rPr lang="fr-FR" sz="1100" dirty="0">
                  <a:solidFill>
                    <a:srgbClr val="4D4F53"/>
                  </a:solidFill>
                </a:rPr>
                <a:t>des </a:t>
              </a:r>
              <a:r>
                <a:rPr lang="fr-FR" sz="1100" dirty="0" smtClean="0">
                  <a:solidFill>
                    <a:srgbClr val="4D4F53"/>
                  </a:solidFill>
                </a:rPr>
                <a:t>vues »: Cliquer </a:t>
              </a:r>
              <a:r>
                <a:rPr lang="fr-FR" sz="1100" dirty="0">
                  <a:solidFill>
                    <a:srgbClr val="4D4F53"/>
                  </a:solidFill>
                </a:rPr>
                <a:t>sur l'icône </a:t>
              </a:r>
              <a:r>
                <a:rPr lang="fr-FR" sz="1100" dirty="0" smtClean="0">
                  <a:solidFill>
                    <a:srgbClr val="4D4F53"/>
                  </a:solidFill>
                </a:rPr>
                <a:t>« Marquer tout »	</a:t>
              </a:r>
            </a:p>
            <a:p>
              <a:pPr>
                <a:lnSpc>
                  <a:spcPct val="150000"/>
                </a:lnSpc>
              </a:pPr>
              <a:r>
                <a:rPr lang="fr-FR" sz="1100" dirty="0" smtClean="0">
                  <a:solidFill>
                    <a:srgbClr val="4D4F53"/>
                  </a:solidFill>
                </a:rPr>
                <a:t>Cliquer sur l'icône « Suite »</a:t>
              </a:r>
              <a:endParaRPr lang="fr-FR" sz="1100" dirty="0">
                <a:solidFill>
                  <a:srgbClr val="4D4F53"/>
                </a:solidFill>
              </a:endParaRPr>
            </a:p>
            <a:p>
              <a:pPr>
                <a:lnSpc>
                  <a:spcPct val="150000"/>
                </a:lnSpc>
              </a:pPr>
              <a:r>
                <a:rPr lang="fr-FR" sz="1100" dirty="0" smtClean="0">
                  <a:solidFill>
                    <a:srgbClr val="4D4F53"/>
                  </a:solidFill>
                </a:rPr>
                <a:t>Dans </a:t>
              </a:r>
              <a:r>
                <a:rPr lang="fr-FR" sz="1100" dirty="0">
                  <a:solidFill>
                    <a:srgbClr val="4D4F53"/>
                  </a:solidFill>
                </a:rPr>
                <a:t>le second pop-up, saisir la </a:t>
              </a:r>
              <a:r>
                <a:rPr lang="fr-FR" sz="1100" dirty="0" smtClean="0">
                  <a:solidFill>
                    <a:srgbClr val="4D4F53"/>
                  </a:solidFill>
                </a:rPr>
                <a:t>Division, </a:t>
              </a:r>
            </a:p>
            <a:p>
              <a:pPr>
                <a:lnSpc>
                  <a:spcPct val="150000"/>
                </a:lnSpc>
              </a:pPr>
              <a:r>
                <a:rPr lang="fr-FR" sz="1100" dirty="0" smtClean="0">
                  <a:solidFill>
                    <a:srgbClr val="4D4F53"/>
                  </a:solidFill>
                </a:rPr>
                <a:t>Saisir le Magasin, </a:t>
              </a:r>
            </a:p>
            <a:p>
              <a:pPr>
                <a:lnSpc>
                  <a:spcPct val="150000"/>
                </a:lnSpc>
              </a:pPr>
              <a:r>
                <a:rPr lang="fr-FR" sz="1100" dirty="0" smtClean="0">
                  <a:solidFill>
                    <a:srgbClr val="4D4F53"/>
                  </a:solidFill>
                </a:rPr>
                <a:t>Saisir l'Organisation commerciale, </a:t>
              </a:r>
            </a:p>
            <a:p>
              <a:pPr>
                <a:lnSpc>
                  <a:spcPct val="150000"/>
                </a:lnSpc>
              </a:pPr>
              <a:r>
                <a:rPr lang="fr-FR" sz="1100" dirty="0" smtClean="0">
                  <a:solidFill>
                    <a:srgbClr val="4D4F53"/>
                  </a:solidFill>
                </a:rPr>
                <a:t>Saisir le Canal </a:t>
              </a:r>
              <a:r>
                <a:rPr lang="fr-FR" sz="1100" dirty="0">
                  <a:solidFill>
                    <a:srgbClr val="4D4F53"/>
                  </a:solidFill>
                </a:rPr>
                <a:t>de </a:t>
              </a:r>
              <a:r>
                <a:rPr lang="fr-FR" sz="1100" dirty="0" smtClean="0">
                  <a:solidFill>
                    <a:srgbClr val="4D4F53"/>
                  </a:solidFill>
                </a:rPr>
                <a:t>distribution </a:t>
              </a:r>
              <a:endParaRPr lang="fr-FR" sz="1100" dirty="0">
                <a:solidFill>
                  <a:srgbClr val="4D4F53"/>
                </a:solidFill>
              </a:endParaRPr>
            </a:p>
            <a:p>
              <a:pPr>
                <a:lnSpc>
                  <a:spcPct val="150000"/>
                </a:lnSpc>
              </a:pPr>
              <a:r>
                <a:rPr lang="fr-FR" sz="1100" dirty="0" smtClean="0">
                  <a:solidFill>
                    <a:srgbClr val="4D4F53"/>
                  </a:solidFill>
                </a:rPr>
                <a:t>Saisir Numéro magasin, </a:t>
              </a:r>
            </a:p>
            <a:p>
              <a:pPr>
                <a:lnSpc>
                  <a:spcPct val="150000"/>
                </a:lnSpc>
              </a:pPr>
              <a:r>
                <a:rPr lang="fr-FR" sz="1100" dirty="0" smtClean="0">
                  <a:solidFill>
                    <a:srgbClr val="4D4F53"/>
                  </a:solidFill>
                </a:rPr>
                <a:t>Saisir le Type </a:t>
              </a:r>
              <a:r>
                <a:rPr lang="fr-FR" sz="1100" dirty="0">
                  <a:solidFill>
                    <a:srgbClr val="4D4F53"/>
                  </a:solidFill>
                </a:rPr>
                <a:t>de </a:t>
              </a:r>
              <a:r>
                <a:rPr lang="fr-FR" sz="1100" dirty="0" smtClean="0">
                  <a:solidFill>
                    <a:srgbClr val="4D4F53"/>
                  </a:solidFill>
                </a:rPr>
                <a:t>magasin </a:t>
              </a:r>
              <a:endParaRPr lang="fr-FR" sz="1100" dirty="0">
                <a:solidFill>
                  <a:srgbClr val="4D4F53"/>
                </a:solidFill>
              </a:endParaRPr>
            </a:p>
            <a:p>
              <a:pPr>
                <a:lnSpc>
                  <a:spcPct val="150000"/>
                </a:lnSpc>
              </a:pPr>
              <a:r>
                <a:rPr lang="fr-FR" sz="1100" dirty="0" smtClean="0">
                  <a:solidFill>
                    <a:srgbClr val="4D4F53"/>
                  </a:solidFill>
                </a:rPr>
                <a:t>Cliquer </a:t>
              </a:r>
              <a:r>
                <a:rPr lang="fr-FR" sz="1100" dirty="0">
                  <a:solidFill>
                    <a:srgbClr val="4D4F53"/>
                  </a:solidFill>
                </a:rPr>
                <a:t>sur l'icône </a:t>
              </a:r>
              <a:r>
                <a:rPr lang="fr-FR" sz="1100" dirty="0" smtClean="0">
                  <a:solidFill>
                    <a:srgbClr val="4D4F53"/>
                  </a:solidFill>
                </a:rPr>
                <a:t>« Suite »</a:t>
              </a:r>
              <a:endParaRPr lang="fr-FR" sz="1100" dirty="0">
                <a:solidFill>
                  <a:srgbClr val="4D4F53"/>
                </a:solidFill>
              </a:endParaRPr>
            </a:p>
          </p:txBody>
        </p:sp>
        <p:sp>
          <p:nvSpPr>
            <p:cNvPr id="30" name="Ellipse 29"/>
            <p:cNvSpPr/>
            <p:nvPr/>
          </p:nvSpPr>
          <p:spPr>
            <a:xfrm>
              <a:off x="4716914" y="11404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4" name="Ellipse 33"/>
            <p:cNvSpPr/>
            <p:nvPr/>
          </p:nvSpPr>
          <p:spPr>
            <a:xfrm>
              <a:off x="4716914" y="37446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5" name="Ellipse 34"/>
            <p:cNvSpPr/>
            <p:nvPr/>
          </p:nvSpPr>
          <p:spPr>
            <a:xfrm>
              <a:off x="4716914" y="87381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75" name="Ellipse 74"/>
            <p:cNvSpPr/>
            <p:nvPr/>
          </p:nvSpPr>
          <p:spPr>
            <a:xfrm>
              <a:off x="4716914" y="110607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85" name="Image 84"/>
            <p:cNvPicPr>
              <a:picLocks noChangeAspect="1"/>
            </p:cNvPicPr>
            <p:nvPr/>
          </p:nvPicPr>
          <p:blipFill>
            <a:blip r:embed="rId6"/>
            <a:stretch>
              <a:fillRect/>
            </a:stretch>
          </p:blipFill>
          <p:spPr>
            <a:xfrm>
              <a:off x="6527995" y="2613797"/>
              <a:ext cx="149824" cy="149824"/>
            </a:xfrm>
            <a:prstGeom prst="rect">
              <a:avLst/>
            </a:prstGeom>
            <a:ln>
              <a:solidFill>
                <a:schemeClr val="tx1"/>
              </a:solidFill>
            </a:ln>
            <a:effectLst>
              <a:outerShdw blurRad="50800" dist="38100" dir="2700000" algn="tl" rotWithShape="0">
                <a:prstClr val="black">
                  <a:alpha val="40000"/>
                </a:prstClr>
              </a:outerShdw>
            </a:effectLst>
          </p:spPr>
        </p:pic>
        <p:pic>
          <p:nvPicPr>
            <p:cNvPr id="91" name="Image 90"/>
            <p:cNvPicPr>
              <a:picLocks noChangeAspect="1"/>
            </p:cNvPicPr>
            <p:nvPr/>
          </p:nvPicPr>
          <p:blipFill>
            <a:blip r:embed="rId6"/>
            <a:stretch>
              <a:fillRect/>
            </a:stretch>
          </p:blipFill>
          <p:spPr>
            <a:xfrm>
              <a:off x="6527995" y="883630"/>
              <a:ext cx="149824" cy="149824"/>
            </a:xfrm>
            <a:prstGeom prst="rect">
              <a:avLst/>
            </a:prstGeom>
            <a:ln>
              <a:solidFill>
                <a:schemeClr val="tx1"/>
              </a:solidFill>
            </a:ln>
            <a:effectLst>
              <a:outerShdw blurRad="50800" dist="38100" dir="2700000" algn="tl" rotWithShape="0">
                <a:prstClr val="black">
                  <a:alpha val="40000"/>
                </a:prstClr>
              </a:outerShdw>
            </a:effectLst>
          </p:spPr>
        </p:pic>
        <p:pic>
          <p:nvPicPr>
            <p:cNvPr id="89" name="Image 88"/>
            <p:cNvPicPr>
              <a:picLocks noChangeAspect="1"/>
            </p:cNvPicPr>
            <p:nvPr/>
          </p:nvPicPr>
          <p:blipFill>
            <a:blip r:embed="rId7"/>
            <a:stretch>
              <a:fillRect/>
            </a:stretch>
          </p:blipFill>
          <p:spPr>
            <a:xfrm>
              <a:off x="5956043" y="635000"/>
              <a:ext cx="180975" cy="161925"/>
            </a:xfrm>
            <a:prstGeom prst="rect">
              <a:avLst/>
            </a:prstGeom>
            <a:ln>
              <a:solidFill>
                <a:schemeClr val="tx1"/>
              </a:solidFill>
            </a:ln>
            <a:effectLst>
              <a:outerShdw blurRad="50800" dist="38100" dir="2700000" algn="tl" rotWithShape="0">
                <a:prstClr val="black">
                  <a:alpha val="40000"/>
                </a:prstClr>
              </a:outerShdw>
            </a:effectLst>
          </p:spPr>
        </p:pic>
        <p:sp>
          <p:nvSpPr>
            <p:cNvPr id="37" name="Ellipse 36"/>
            <p:cNvSpPr/>
            <p:nvPr/>
          </p:nvSpPr>
          <p:spPr>
            <a:xfrm>
              <a:off x="4716914" y="136683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0" name="Ellipse 39"/>
            <p:cNvSpPr/>
            <p:nvPr/>
          </p:nvSpPr>
          <p:spPr>
            <a:xfrm>
              <a:off x="4716914" y="161395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1" name="Ellipse 40"/>
            <p:cNvSpPr/>
            <p:nvPr/>
          </p:nvSpPr>
          <p:spPr>
            <a:xfrm>
              <a:off x="4716914" y="189594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3" name="Ellipse 42"/>
            <p:cNvSpPr/>
            <p:nvPr/>
          </p:nvSpPr>
          <p:spPr>
            <a:xfrm>
              <a:off x="4716914" y="213669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44" name="Ellipse 43"/>
            <p:cNvSpPr/>
            <p:nvPr/>
          </p:nvSpPr>
          <p:spPr>
            <a:xfrm>
              <a:off x="4716914" y="238034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9</a:t>
              </a:r>
              <a:endParaRPr lang="fr-FR" sz="900" b="1" dirty="0" smtClean="0">
                <a:solidFill>
                  <a:schemeClr val="bg1"/>
                </a:solidFill>
              </a:endParaRPr>
            </a:p>
          </p:txBody>
        </p:sp>
        <p:sp>
          <p:nvSpPr>
            <p:cNvPr id="46" name="Ellipse 45"/>
            <p:cNvSpPr/>
            <p:nvPr/>
          </p:nvSpPr>
          <p:spPr>
            <a:xfrm>
              <a:off x="4716914" y="261897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p>
          </p:txBody>
        </p:sp>
      </p:grpSp>
      <p:sp>
        <p:nvSpPr>
          <p:cNvPr id="36" name="Ellipse 35"/>
          <p:cNvSpPr/>
          <p:nvPr/>
        </p:nvSpPr>
        <p:spPr>
          <a:xfrm>
            <a:off x="2270674" y="407108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cxnSp>
        <p:nvCxnSpPr>
          <p:cNvPr id="7" name="Connecteur en angle 6"/>
          <p:cNvCxnSpPr>
            <a:stCxn id="21" idx="3"/>
            <a:endCxn id="4" idx="1"/>
          </p:cNvCxnSpPr>
          <p:nvPr/>
        </p:nvCxnSpPr>
        <p:spPr>
          <a:xfrm>
            <a:off x="2112737" y="2157721"/>
            <a:ext cx="246075" cy="741504"/>
          </a:xfrm>
          <a:prstGeom prst="bentConnector3">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47" name="Ellipse 46"/>
          <p:cNvSpPr/>
          <p:nvPr/>
        </p:nvSpPr>
        <p:spPr>
          <a:xfrm>
            <a:off x="5649110" y="347646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8" name="Ellipse 47"/>
          <p:cNvSpPr/>
          <p:nvPr/>
        </p:nvSpPr>
        <p:spPr>
          <a:xfrm>
            <a:off x="5649110" y="364839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9" name="Ellipse 48"/>
          <p:cNvSpPr/>
          <p:nvPr/>
        </p:nvSpPr>
        <p:spPr>
          <a:xfrm>
            <a:off x="5649110" y="377586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50" name="Ellipse 49"/>
          <p:cNvSpPr/>
          <p:nvPr/>
        </p:nvSpPr>
        <p:spPr>
          <a:xfrm>
            <a:off x="6017776" y="389743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51" name="Ellipse 50"/>
          <p:cNvSpPr/>
          <p:nvPr/>
        </p:nvSpPr>
        <p:spPr>
          <a:xfrm>
            <a:off x="6134874" y="404126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Tree>
    <p:extLst>
      <p:ext uri="{BB962C8B-B14F-4D97-AF65-F5344CB8AC3E}">
        <p14:creationId xmlns:p14="http://schemas.microsoft.com/office/powerpoint/2010/main" val="18872033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nvPicPr>
        <p:blipFill rotWithShape="1">
          <a:blip r:embed="rId3"/>
          <a:srcRect l="1598" t="1284" r="11076" b="2155"/>
          <a:stretch/>
        </p:blipFill>
        <p:spPr>
          <a:xfrm>
            <a:off x="539750" y="1153867"/>
            <a:ext cx="3032392" cy="2589376"/>
          </a:xfrm>
          <a:prstGeom prst="rect">
            <a:avLst/>
          </a:prstGeom>
          <a:ln>
            <a:solidFill>
              <a:schemeClr val="tx1"/>
            </a:solidFill>
          </a:ln>
          <a:effectLst>
            <a:outerShdw blurRad="50800" dist="38100" dir="2700000" algn="tl" rotWithShape="0">
              <a:prstClr val="black">
                <a:alpha val="40000"/>
              </a:prstClr>
            </a:outerShdw>
          </a:effectLst>
        </p:spPr>
      </p:pic>
      <p:sp>
        <p:nvSpPr>
          <p:cNvPr id="30" name="Titre 1"/>
          <p:cNvSpPr>
            <a:spLocks noGrp="1"/>
          </p:cNvSpPr>
          <p:nvPr>
            <p:ph type="title"/>
          </p:nvPr>
        </p:nvSpPr>
        <p:spPr>
          <a:xfrm>
            <a:off x="457200" y="206375"/>
            <a:ext cx="4043363" cy="857250"/>
          </a:xfrm>
        </p:spPr>
        <p:txBody>
          <a:bodyPr>
            <a:normAutofit fontScale="90000"/>
          </a:bodyPr>
          <a:lstStyle/>
          <a:p>
            <a:r>
              <a:rPr lang="fr-FR" altLang="en-US" sz="2400" dirty="0"/>
              <a:t>Mode opératoire</a:t>
            </a:r>
            <a:br>
              <a:rPr lang="fr-FR" altLang="en-US" sz="2400" dirty="0"/>
            </a:br>
            <a:r>
              <a:rPr lang="fr-FR" altLang="en-US" dirty="0" smtClean="0"/>
              <a:t>MM01– </a:t>
            </a:r>
            <a:r>
              <a:rPr lang="fr-FR" altLang="en-US" dirty="0"/>
              <a:t>Créer un </a:t>
            </a:r>
            <a:r>
              <a:rPr lang="fr-FR" altLang="en-US" dirty="0" smtClean="0"/>
              <a:t>article</a:t>
            </a:r>
            <a:r>
              <a:rPr lang="fr-FR" altLang="en-US" dirty="0"/>
              <a:t> </a:t>
            </a:r>
            <a:r>
              <a:rPr lang="fr-FR" altLang="en-US" dirty="0" smtClean="0"/>
              <a:t>(pièce de rechange</a:t>
            </a:r>
            <a:r>
              <a:rPr lang="fr-FR" altLang="en-US" dirty="0"/>
              <a:t>, acheté, géré par lots)</a:t>
            </a:r>
            <a:r>
              <a:rPr lang="fr-FR" altLang="en-US" dirty="0" smtClean="0"/>
              <a:t> </a:t>
            </a:r>
            <a:r>
              <a:rPr lang="fr-FR" altLang="en-US" dirty="0"/>
              <a:t>2/5</a:t>
            </a:r>
            <a:endParaRPr lang="en-US" dirty="0"/>
          </a:p>
        </p:txBody>
      </p:sp>
      <p:sp>
        <p:nvSpPr>
          <p:cNvPr id="35" name="Rectangle 34"/>
          <p:cNvSpPr/>
          <p:nvPr/>
        </p:nvSpPr>
        <p:spPr>
          <a:xfrm>
            <a:off x="1707461" y="1394239"/>
            <a:ext cx="158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200" dirty="0" err="1" smtClean="0">
              <a:solidFill>
                <a:srgbClr val="4D4F53"/>
              </a:solidFill>
            </a:endParaRPr>
          </a:p>
        </p:txBody>
      </p:sp>
      <p:sp>
        <p:nvSpPr>
          <p:cNvPr id="36" name="Ellipse 35"/>
          <p:cNvSpPr/>
          <p:nvPr/>
        </p:nvSpPr>
        <p:spPr>
          <a:xfrm>
            <a:off x="1561317" y="138366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fr-FR" sz="900" b="1" dirty="0" smtClean="0">
                <a:solidFill>
                  <a:schemeClr val="bg1"/>
                </a:solidFill>
              </a:rPr>
              <a:t>1</a:t>
            </a:r>
          </a:p>
        </p:txBody>
      </p:sp>
      <p:sp>
        <p:nvSpPr>
          <p:cNvPr id="37" name="Rectangle 36"/>
          <p:cNvSpPr/>
          <p:nvPr/>
        </p:nvSpPr>
        <p:spPr>
          <a:xfrm>
            <a:off x="2717653" y="1766768"/>
            <a:ext cx="350287"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9" name="Rectangle 38"/>
          <p:cNvSpPr/>
          <p:nvPr/>
        </p:nvSpPr>
        <p:spPr>
          <a:xfrm>
            <a:off x="1362332" y="1766768"/>
            <a:ext cx="180000"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0" name="Image 9"/>
          <p:cNvPicPr>
            <a:picLocks noChangeAspect="1"/>
          </p:cNvPicPr>
          <p:nvPr/>
        </p:nvPicPr>
        <p:blipFill rotWithShape="1">
          <a:blip r:embed="rId4"/>
          <a:srcRect t="1633"/>
          <a:stretch/>
        </p:blipFill>
        <p:spPr>
          <a:xfrm>
            <a:off x="3767848" y="2621537"/>
            <a:ext cx="2186463" cy="1693144"/>
          </a:xfrm>
          <a:prstGeom prst="rect">
            <a:avLst/>
          </a:prstGeom>
          <a:ln>
            <a:solidFill>
              <a:schemeClr val="tx1"/>
            </a:solidFill>
          </a:ln>
          <a:effectLst>
            <a:outerShdw blurRad="50800" dist="38100" dir="2700000" algn="tl" rotWithShape="0">
              <a:prstClr val="black">
                <a:alpha val="40000"/>
              </a:prstClr>
            </a:outerShdw>
          </a:effectLst>
        </p:spPr>
      </p:pic>
      <p:sp>
        <p:nvSpPr>
          <p:cNvPr id="40" name="Ellipse 39"/>
          <p:cNvSpPr/>
          <p:nvPr/>
        </p:nvSpPr>
        <p:spPr>
          <a:xfrm>
            <a:off x="5335607" y="366595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15" name="Image 14"/>
          <p:cNvPicPr>
            <a:picLocks noChangeAspect="1"/>
          </p:cNvPicPr>
          <p:nvPr/>
        </p:nvPicPr>
        <p:blipFill>
          <a:blip r:embed="rId5"/>
          <a:stretch>
            <a:fillRect/>
          </a:stretch>
        </p:blipFill>
        <p:spPr>
          <a:xfrm>
            <a:off x="6112869" y="2991019"/>
            <a:ext cx="2737444" cy="1547655"/>
          </a:xfrm>
          <a:prstGeom prst="rect">
            <a:avLst/>
          </a:prstGeom>
          <a:ln>
            <a:solidFill>
              <a:schemeClr val="tx1"/>
            </a:solidFill>
          </a:ln>
          <a:effectLst>
            <a:outerShdw blurRad="50800" dist="38100" dir="2700000" algn="tl" rotWithShape="0">
              <a:prstClr val="black">
                <a:alpha val="40000"/>
              </a:prstClr>
            </a:outerShdw>
          </a:effectLst>
        </p:spPr>
      </p:pic>
      <p:sp>
        <p:nvSpPr>
          <p:cNvPr id="42" name="Ellipse 41"/>
          <p:cNvSpPr/>
          <p:nvPr/>
        </p:nvSpPr>
        <p:spPr>
          <a:xfrm>
            <a:off x="6588742" y="391141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cxnSp>
        <p:nvCxnSpPr>
          <p:cNvPr id="52" name="Connecteur en angle 51"/>
          <p:cNvCxnSpPr>
            <a:stCxn id="10" idx="3"/>
            <a:endCxn id="15" idx="1"/>
          </p:cNvCxnSpPr>
          <p:nvPr/>
        </p:nvCxnSpPr>
        <p:spPr>
          <a:xfrm>
            <a:off x="5954311" y="3468109"/>
            <a:ext cx="158558" cy="296738"/>
          </a:xfrm>
          <a:prstGeom prst="bentConnector3">
            <a:avLst>
              <a:gd name="adj1" fmla="val 50000"/>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784451" y="3678553"/>
            <a:ext cx="1548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8" name="Rectangle 57"/>
          <p:cNvSpPr/>
          <p:nvPr/>
        </p:nvSpPr>
        <p:spPr>
          <a:xfrm>
            <a:off x="6221797" y="3946320"/>
            <a:ext cx="350287"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9" name="Rectangle 58"/>
          <p:cNvSpPr/>
          <p:nvPr/>
        </p:nvSpPr>
        <p:spPr>
          <a:xfrm>
            <a:off x="8298455" y="3937555"/>
            <a:ext cx="102549"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0" name="Rectangle 59"/>
          <p:cNvSpPr/>
          <p:nvPr/>
        </p:nvSpPr>
        <p:spPr>
          <a:xfrm>
            <a:off x="6260009" y="3161988"/>
            <a:ext cx="102549"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grpSp>
        <p:nvGrpSpPr>
          <p:cNvPr id="70" name="Groupe 69"/>
          <p:cNvGrpSpPr/>
          <p:nvPr/>
        </p:nvGrpSpPr>
        <p:grpSpPr>
          <a:xfrm>
            <a:off x="4292849" y="553219"/>
            <a:ext cx="4606015" cy="1869743"/>
            <a:chOff x="5493174" y="715641"/>
            <a:chExt cx="4330357" cy="1869743"/>
          </a:xfrm>
        </p:grpSpPr>
        <p:sp>
          <p:nvSpPr>
            <p:cNvPr id="5" name="ZoneTexte 4"/>
            <p:cNvSpPr txBox="1"/>
            <p:nvPr/>
          </p:nvSpPr>
          <p:spPr>
            <a:xfrm>
              <a:off x="5650743" y="715641"/>
              <a:ext cx="4172788" cy="1869743"/>
            </a:xfrm>
            <a:prstGeom prst="rect">
              <a:avLst/>
            </a:prstGeom>
            <a:noFill/>
          </p:spPr>
          <p:txBody>
            <a:bodyPr wrap="square" rtlCol="0">
              <a:spAutoFit/>
            </a:bodyPr>
            <a:lstStyle/>
            <a:p>
              <a:pPr>
                <a:lnSpc>
                  <a:spcPct val="150000"/>
                </a:lnSpc>
              </a:pPr>
              <a:r>
                <a:rPr lang="fr-FR" sz="1100" dirty="0" smtClean="0">
                  <a:solidFill>
                    <a:srgbClr val="4D4F53"/>
                  </a:solidFill>
                </a:rPr>
                <a:t>Onglet « Données </a:t>
              </a:r>
              <a:r>
                <a:rPr lang="fr-FR" sz="1100" dirty="0">
                  <a:solidFill>
                    <a:srgbClr val="4D4F53"/>
                  </a:solidFill>
                </a:rPr>
                <a:t>de base </a:t>
              </a:r>
              <a:r>
                <a:rPr lang="fr-FR" sz="1100" dirty="0" smtClean="0">
                  <a:solidFill>
                    <a:srgbClr val="4D4F53"/>
                  </a:solidFill>
                </a:rPr>
                <a:t>1 » </a:t>
              </a:r>
              <a:r>
                <a:rPr lang="fr-FR" sz="1100" dirty="0">
                  <a:solidFill>
                    <a:srgbClr val="4D4F53"/>
                  </a:solidFill>
                </a:rPr>
                <a:t>: saisir la </a:t>
              </a:r>
              <a:r>
                <a:rPr lang="fr-FR" sz="1100" dirty="0" smtClean="0">
                  <a:solidFill>
                    <a:srgbClr val="4D4F53"/>
                  </a:solidFill>
                </a:rPr>
                <a:t>Désignation article</a:t>
              </a:r>
            </a:p>
            <a:p>
              <a:pPr>
                <a:lnSpc>
                  <a:spcPct val="150000"/>
                </a:lnSpc>
              </a:pPr>
              <a:r>
                <a:rPr lang="fr-FR" sz="1100" dirty="0" smtClean="0">
                  <a:solidFill>
                    <a:srgbClr val="4D4F53"/>
                  </a:solidFill>
                </a:rPr>
                <a:t>Saisir l'Unité </a:t>
              </a:r>
              <a:r>
                <a:rPr lang="fr-FR" sz="1100" dirty="0">
                  <a:solidFill>
                    <a:srgbClr val="4D4F53"/>
                  </a:solidFill>
                </a:rPr>
                <a:t>de quantité de </a:t>
              </a:r>
              <a:r>
                <a:rPr lang="fr-FR" sz="1100" dirty="0" smtClean="0">
                  <a:solidFill>
                    <a:srgbClr val="4D4F53"/>
                  </a:solidFill>
                </a:rPr>
                <a:t>base</a:t>
              </a:r>
            </a:p>
            <a:p>
              <a:pPr>
                <a:lnSpc>
                  <a:spcPct val="150000"/>
                </a:lnSpc>
              </a:pPr>
              <a:r>
                <a:rPr lang="fr-FR" sz="1100" dirty="0" smtClean="0">
                  <a:solidFill>
                    <a:srgbClr val="4D4F53"/>
                  </a:solidFill>
                </a:rPr>
                <a:t>Saisir le Groupe marchandise puis cliquer sur l’onglet « Classification »</a:t>
              </a:r>
              <a:endParaRPr lang="fr-FR" sz="1100" dirty="0">
                <a:solidFill>
                  <a:srgbClr val="4D4F53"/>
                </a:solidFill>
              </a:endParaRPr>
            </a:p>
            <a:p>
              <a:pPr>
                <a:lnSpc>
                  <a:spcPct val="150000"/>
                </a:lnSpc>
              </a:pPr>
              <a:r>
                <a:rPr lang="fr-FR" sz="1100" dirty="0" smtClean="0">
                  <a:solidFill>
                    <a:srgbClr val="4D4F53"/>
                  </a:solidFill>
                </a:rPr>
                <a:t>Dans </a:t>
              </a:r>
              <a:r>
                <a:rPr lang="fr-FR" sz="1100" dirty="0">
                  <a:solidFill>
                    <a:srgbClr val="4D4F53"/>
                  </a:solidFill>
                </a:rPr>
                <a:t>le pop-up, sélectionner la </a:t>
              </a:r>
              <a:r>
                <a:rPr lang="fr-FR" sz="1100" dirty="0" smtClean="0">
                  <a:solidFill>
                    <a:srgbClr val="4D4F53"/>
                  </a:solidFill>
                </a:rPr>
                <a:t>Catégorie classe pour </a:t>
              </a:r>
              <a:r>
                <a:rPr lang="fr-FR" sz="1100" dirty="0">
                  <a:solidFill>
                    <a:srgbClr val="4D4F53"/>
                  </a:solidFill>
                </a:rPr>
                <a:t>la gestion par </a:t>
              </a:r>
              <a:r>
                <a:rPr lang="fr-FR" sz="1100" dirty="0" smtClean="0">
                  <a:solidFill>
                    <a:srgbClr val="4D4F53"/>
                  </a:solidFill>
                </a:rPr>
                <a:t>lots </a:t>
              </a:r>
            </a:p>
            <a:p>
              <a:pPr>
                <a:lnSpc>
                  <a:spcPct val="150000"/>
                </a:lnSpc>
              </a:pPr>
              <a:r>
                <a:rPr lang="fr-FR" sz="1100" dirty="0" smtClean="0">
                  <a:solidFill>
                    <a:srgbClr val="4D4F53"/>
                  </a:solidFill>
                </a:rPr>
                <a:t>Onglet «</a:t>
              </a:r>
              <a:r>
                <a:rPr lang="fr-FR" sz="1100" dirty="0">
                  <a:solidFill>
                    <a:srgbClr val="4D4F53"/>
                  </a:solidFill>
                </a:rPr>
                <a:t> Classification » : </a:t>
              </a:r>
              <a:r>
                <a:rPr lang="fr-FR" sz="1100" dirty="0" smtClean="0">
                  <a:solidFill>
                    <a:srgbClr val="4D4F53"/>
                  </a:solidFill>
                </a:rPr>
                <a:t>entrer </a:t>
              </a:r>
              <a:r>
                <a:rPr lang="fr-FR" sz="1100" dirty="0">
                  <a:solidFill>
                    <a:srgbClr val="4D4F53"/>
                  </a:solidFill>
                </a:rPr>
                <a:t>la </a:t>
              </a:r>
              <a:r>
                <a:rPr lang="fr-FR" sz="1100" dirty="0" smtClean="0">
                  <a:solidFill>
                    <a:srgbClr val="4D4F53"/>
                  </a:solidFill>
                </a:rPr>
                <a:t>Classe = CBG_LOTS</a:t>
              </a:r>
            </a:p>
            <a:p>
              <a:pPr>
                <a:lnSpc>
                  <a:spcPct val="150000"/>
                </a:lnSpc>
              </a:pPr>
              <a:r>
                <a:rPr lang="fr-FR" sz="1100" dirty="0" smtClean="0">
                  <a:solidFill>
                    <a:srgbClr val="4D4F53"/>
                  </a:solidFill>
                </a:rPr>
                <a:t>Entrer </a:t>
              </a:r>
              <a:r>
                <a:rPr lang="fr-FR" sz="1100" dirty="0">
                  <a:solidFill>
                    <a:srgbClr val="4D4F53"/>
                  </a:solidFill>
                </a:rPr>
                <a:t>le </a:t>
              </a:r>
              <a:r>
                <a:rPr lang="fr-FR" sz="1100" dirty="0" smtClean="0">
                  <a:solidFill>
                    <a:srgbClr val="4D4F53"/>
                  </a:solidFill>
                </a:rPr>
                <a:t>Statut </a:t>
              </a:r>
            </a:p>
            <a:p>
              <a:pPr>
                <a:lnSpc>
                  <a:spcPct val="150000"/>
                </a:lnSpc>
              </a:pPr>
              <a:r>
                <a:rPr lang="fr-FR" sz="1100" dirty="0" smtClean="0">
                  <a:solidFill>
                    <a:srgbClr val="4D4F53"/>
                  </a:solidFill>
                </a:rPr>
                <a:t>Cliquer sur la page suivante</a:t>
              </a:r>
              <a:endParaRPr lang="fr-FR" sz="1100" dirty="0">
                <a:solidFill>
                  <a:srgbClr val="4D4F53"/>
                </a:solidFill>
              </a:endParaRPr>
            </a:p>
          </p:txBody>
        </p:sp>
        <p:sp>
          <p:nvSpPr>
            <p:cNvPr id="12" name="Ellipse 11"/>
            <p:cNvSpPr/>
            <p:nvPr/>
          </p:nvSpPr>
          <p:spPr>
            <a:xfrm>
              <a:off x="5493174" y="83977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1</a:t>
              </a:r>
              <a:endParaRPr lang="fr-FR" sz="900" b="1" dirty="0" smtClean="0">
                <a:solidFill>
                  <a:schemeClr val="bg1"/>
                </a:solidFill>
              </a:endParaRPr>
            </a:p>
          </p:txBody>
        </p:sp>
        <p:sp>
          <p:nvSpPr>
            <p:cNvPr id="13" name="Ellipse 12"/>
            <p:cNvSpPr/>
            <p:nvPr/>
          </p:nvSpPr>
          <p:spPr>
            <a:xfrm>
              <a:off x="5496277" y="158611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pic>
          <p:nvPicPr>
            <p:cNvPr id="61" name="Image 60"/>
            <p:cNvPicPr>
              <a:picLocks noChangeAspect="1"/>
            </p:cNvPicPr>
            <p:nvPr/>
          </p:nvPicPr>
          <p:blipFill>
            <a:blip r:embed="rId6"/>
            <a:stretch>
              <a:fillRect/>
            </a:stretch>
          </p:blipFill>
          <p:spPr>
            <a:xfrm>
              <a:off x="7282982" y="2326333"/>
              <a:ext cx="152400" cy="171450"/>
            </a:xfrm>
            <a:prstGeom prst="rect">
              <a:avLst/>
            </a:prstGeom>
            <a:ln>
              <a:solidFill>
                <a:schemeClr val="tx1"/>
              </a:solidFill>
            </a:ln>
            <a:effectLst>
              <a:outerShdw blurRad="50800" dist="38100" dir="2700000" algn="tl" rotWithShape="0">
                <a:prstClr val="black">
                  <a:alpha val="40000"/>
                </a:prstClr>
              </a:outerShdw>
            </a:effectLst>
          </p:spPr>
        </p:pic>
        <p:sp>
          <p:nvSpPr>
            <p:cNvPr id="69" name="Ellipse 68"/>
            <p:cNvSpPr/>
            <p:nvPr/>
          </p:nvSpPr>
          <p:spPr>
            <a:xfrm>
              <a:off x="5498181" y="183168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29" name="Ellipse 28"/>
            <p:cNvSpPr/>
            <p:nvPr/>
          </p:nvSpPr>
          <p:spPr>
            <a:xfrm>
              <a:off x="5496277" y="108253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1" name="Ellipse 30"/>
            <p:cNvSpPr/>
            <p:nvPr/>
          </p:nvSpPr>
          <p:spPr>
            <a:xfrm>
              <a:off x="5496277" y="133153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2" name="Ellipse 31"/>
            <p:cNvSpPr/>
            <p:nvPr/>
          </p:nvSpPr>
          <p:spPr>
            <a:xfrm>
              <a:off x="5498181" y="207770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33" name="Ellipse 32"/>
            <p:cNvSpPr/>
            <p:nvPr/>
          </p:nvSpPr>
          <p:spPr>
            <a:xfrm>
              <a:off x="5498181" y="232344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7</a:t>
              </a:r>
              <a:endParaRPr lang="fr-FR" sz="900" b="1" dirty="0" smtClean="0">
                <a:solidFill>
                  <a:schemeClr val="bg1"/>
                </a:solidFill>
              </a:endParaRPr>
            </a:p>
          </p:txBody>
        </p:sp>
      </p:grpSp>
      <p:sp>
        <p:nvSpPr>
          <p:cNvPr id="25" name="Ellipse 24"/>
          <p:cNvSpPr/>
          <p:nvPr/>
        </p:nvSpPr>
        <p:spPr>
          <a:xfrm>
            <a:off x="1239698" y="174062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fr-FR" sz="900" b="1" dirty="0" smtClean="0">
                <a:solidFill>
                  <a:schemeClr val="bg1"/>
                </a:solidFill>
              </a:rPr>
              <a:t>2</a:t>
            </a:r>
          </a:p>
        </p:txBody>
      </p:sp>
      <p:sp>
        <p:nvSpPr>
          <p:cNvPr id="26" name="Ellipse 25"/>
          <p:cNvSpPr/>
          <p:nvPr/>
        </p:nvSpPr>
        <p:spPr>
          <a:xfrm>
            <a:off x="2571509" y="174756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fr-FR" sz="900" b="1" dirty="0" smtClean="0">
                <a:solidFill>
                  <a:schemeClr val="bg1"/>
                </a:solidFill>
              </a:rPr>
              <a:t>3</a:t>
            </a:r>
          </a:p>
        </p:txBody>
      </p:sp>
      <p:cxnSp>
        <p:nvCxnSpPr>
          <p:cNvPr id="4" name="Connecteur en angle 3"/>
          <p:cNvCxnSpPr>
            <a:stCxn id="9" idx="3"/>
            <a:endCxn id="10" idx="1"/>
          </p:cNvCxnSpPr>
          <p:nvPr/>
        </p:nvCxnSpPr>
        <p:spPr>
          <a:xfrm>
            <a:off x="3572142" y="2448555"/>
            <a:ext cx="195706" cy="1019554"/>
          </a:xfrm>
          <a:prstGeom prst="bentConnector3">
            <a:avLst>
              <a:gd name="adj1" fmla="val 50000"/>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8" name="Ellipse 37"/>
          <p:cNvSpPr/>
          <p:nvPr/>
        </p:nvSpPr>
        <p:spPr>
          <a:xfrm>
            <a:off x="8406442" y="390317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1" name="Ellipse 40"/>
          <p:cNvSpPr/>
          <p:nvPr/>
        </p:nvSpPr>
        <p:spPr>
          <a:xfrm>
            <a:off x="6374972" y="314038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7</a:t>
            </a:r>
            <a:endParaRPr lang="fr-FR" sz="900" b="1" dirty="0" smtClean="0">
              <a:solidFill>
                <a:schemeClr val="bg1"/>
              </a:solidFill>
            </a:endParaRPr>
          </a:p>
        </p:txBody>
      </p:sp>
    </p:spTree>
    <p:extLst>
      <p:ext uri="{BB962C8B-B14F-4D97-AF65-F5344CB8AC3E}">
        <p14:creationId xmlns:p14="http://schemas.microsoft.com/office/powerpoint/2010/main" val="17264877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rotWithShape="1">
          <a:blip r:embed="rId2"/>
          <a:srcRect r="5034"/>
          <a:stretch/>
        </p:blipFill>
        <p:spPr>
          <a:xfrm>
            <a:off x="358775" y="1154777"/>
            <a:ext cx="3050997" cy="606483"/>
          </a:xfrm>
          <a:prstGeom prst="rect">
            <a:avLst/>
          </a:prstGeom>
          <a:ln>
            <a:solidFill>
              <a:schemeClr val="tx1"/>
            </a:solidFill>
          </a:ln>
          <a:effectLst>
            <a:outerShdw blurRad="50800" dist="38100" dir="2700000" algn="tl" rotWithShape="0">
              <a:prstClr val="black">
                <a:alpha val="40000"/>
              </a:prstClr>
            </a:outerShdw>
          </a:effectLst>
        </p:spPr>
      </p:pic>
      <p:pic>
        <p:nvPicPr>
          <p:cNvPr id="6" name="Image 5"/>
          <p:cNvPicPr>
            <a:picLocks noChangeAspect="1"/>
          </p:cNvPicPr>
          <p:nvPr/>
        </p:nvPicPr>
        <p:blipFill rotWithShape="1">
          <a:blip r:embed="rId3"/>
          <a:srcRect t="22131"/>
          <a:stretch/>
        </p:blipFill>
        <p:spPr>
          <a:xfrm>
            <a:off x="772764" y="1674476"/>
            <a:ext cx="3134304" cy="2341714"/>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a:xfrm>
            <a:off x="457200" y="206375"/>
            <a:ext cx="4043363" cy="857250"/>
          </a:xfrm>
        </p:spPr>
        <p:txBody>
          <a:bodyPr>
            <a:normAutofit fontScale="90000"/>
          </a:bodyPr>
          <a:lstStyle/>
          <a:p>
            <a:r>
              <a:rPr lang="fr-FR" altLang="en-US" sz="2400" dirty="0"/>
              <a:t>Mode opératoire</a:t>
            </a:r>
            <a:br>
              <a:rPr lang="fr-FR" altLang="en-US" sz="2400" dirty="0"/>
            </a:br>
            <a:r>
              <a:rPr lang="fr-FR" altLang="en-US" dirty="0" smtClean="0"/>
              <a:t>MM01</a:t>
            </a:r>
            <a:r>
              <a:rPr lang="fr-FR" altLang="en-US" dirty="0"/>
              <a:t>– Créer un </a:t>
            </a:r>
            <a:r>
              <a:rPr lang="fr-FR" altLang="en-US" dirty="0" smtClean="0"/>
              <a:t>article (pièce </a:t>
            </a:r>
            <a:r>
              <a:rPr lang="fr-FR" altLang="en-US" dirty="0"/>
              <a:t>de rechange, acheté, géré par lots)</a:t>
            </a:r>
            <a:r>
              <a:rPr lang="fr-FR" altLang="en-US" dirty="0" smtClean="0"/>
              <a:t> 3/5</a:t>
            </a:r>
            <a:endParaRPr lang="en-US" dirty="0"/>
          </a:p>
        </p:txBody>
      </p:sp>
      <p:grpSp>
        <p:nvGrpSpPr>
          <p:cNvPr id="66" name="Groupe 65"/>
          <p:cNvGrpSpPr/>
          <p:nvPr/>
        </p:nvGrpSpPr>
        <p:grpSpPr>
          <a:xfrm>
            <a:off x="4870742" y="110626"/>
            <a:ext cx="3969886" cy="2631490"/>
            <a:chOff x="4870742" y="110626"/>
            <a:chExt cx="3969886" cy="2631490"/>
          </a:xfrm>
        </p:grpSpPr>
        <p:sp>
          <p:nvSpPr>
            <p:cNvPr id="13" name="ZoneTexte 12"/>
            <p:cNvSpPr txBox="1"/>
            <p:nvPr/>
          </p:nvSpPr>
          <p:spPr>
            <a:xfrm>
              <a:off x="4996653" y="110626"/>
              <a:ext cx="3843975" cy="2631490"/>
            </a:xfrm>
            <a:prstGeom prst="rect">
              <a:avLst/>
            </a:prstGeom>
            <a:noFill/>
          </p:spPr>
          <p:txBody>
            <a:bodyPr wrap="square" rtlCol="0">
              <a:spAutoFit/>
            </a:bodyPr>
            <a:lstStyle/>
            <a:p>
              <a:pPr>
                <a:lnSpc>
                  <a:spcPct val="150000"/>
                </a:lnSpc>
              </a:pPr>
              <a:r>
                <a:rPr lang="fr-FR" sz="1100" dirty="0" smtClean="0">
                  <a:solidFill>
                    <a:srgbClr val="4D4F53"/>
                  </a:solidFill>
                </a:rPr>
                <a:t>Cliquer sur l’Onglet « ADV </a:t>
              </a:r>
              <a:r>
                <a:rPr lang="fr-FR" sz="1100" dirty="0">
                  <a:solidFill>
                    <a:srgbClr val="4D4F53"/>
                  </a:solidFill>
                </a:rPr>
                <a:t>: </a:t>
              </a:r>
              <a:r>
                <a:rPr lang="fr-FR" sz="1100" dirty="0" err="1">
                  <a:solidFill>
                    <a:srgbClr val="4D4F53"/>
                  </a:solidFill>
                </a:rPr>
                <a:t>org</a:t>
              </a:r>
              <a:r>
                <a:rPr lang="fr-FR" sz="1100" dirty="0">
                  <a:solidFill>
                    <a:srgbClr val="4D4F53"/>
                  </a:solidFill>
                </a:rPr>
                <a:t>. </a:t>
              </a:r>
              <a:r>
                <a:rPr lang="fr-FR" sz="1100" dirty="0" err="1">
                  <a:solidFill>
                    <a:srgbClr val="4D4F53"/>
                  </a:solidFill>
                </a:rPr>
                <a:t>commerc</a:t>
              </a:r>
              <a:r>
                <a:rPr lang="fr-FR" sz="1100" dirty="0">
                  <a:solidFill>
                    <a:srgbClr val="4D4F53"/>
                  </a:solidFill>
                </a:rPr>
                <a:t>. </a:t>
              </a:r>
              <a:r>
                <a:rPr lang="fr-FR" sz="1100" dirty="0" smtClean="0">
                  <a:solidFill>
                    <a:srgbClr val="4D4F53"/>
                  </a:solidFill>
                </a:rPr>
                <a:t>1 », et y entrer </a:t>
              </a:r>
              <a:r>
                <a:rPr lang="fr-FR" sz="1100" dirty="0">
                  <a:solidFill>
                    <a:srgbClr val="4D4F53"/>
                  </a:solidFill>
                </a:rPr>
                <a:t>les </a:t>
              </a:r>
              <a:r>
                <a:rPr lang="fr-FR" sz="1100" dirty="0" smtClean="0">
                  <a:solidFill>
                    <a:srgbClr val="4D4F53"/>
                  </a:solidFill>
                </a:rPr>
                <a:t>Classifications fiscales pour </a:t>
              </a:r>
              <a:r>
                <a:rPr lang="fr-FR" sz="1100" dirty="0">
                  <a:solidFill>
                    <a:srgbClr val="4D4F53"/>
                  </a:solidFill>
                </a:rPr>
                <a:t>les différents </a:t>
              </a:r>
              <a:r>
                <a:rPr lang="fr-FR" sz="1100" dirty="0" smtClean="0">
                  <a:solidFill>
                    <a:srgbClr val="4D4F53"/>
                  </a:solidFill>
                </a:rPr>
                <a:t>pays = 0</a:t>
              </a:r>
              <a:endParaRPr lang="fr-FR" sz="1100" dirty="0">
                <a:solidFill>
                  <a:srgbClr val="4D4F53"/>
                </a:solidFill>
              </a:endParaRPr>
            </a:p>
            <a:p>
              <a:pPr>
                <a:lnSpc>
                  <a:spcPct val="150000"/>
                </a:lnSpc>
              </a:pPr>
              <a:r>
                <a:rPr lang="fr-FR" sz="1100" dirty="0" smtClean="0">
                  <a:solidFill>
                    <a:srgbClr val="4D4F53"/>
                  </a:solidFill>
                </a:rPr>
                <a:t>Cliquer sur l’Onglet « ADV </a:t>
              </a:r>
              <a:r>
                <a:rPr lang="fr-FR" sz="1100" dirty="0">
                  <a:solidFill>
                    <a:srgbClr val="4D4F53"/>
                  </a:solidFill>
                </a:rPr>
                <a:t>: données </a:t>
              </a:r>
              <a:r>
                <a:rPr lang="fr-FR" sz="1100" dirty="0" err="1">
                  <a:solidFill>
                    <a:srgbClr val="4D4F53"/>
                  </a:solidFill>
                </a:rPr>
                <a:t>gén</a:t>
              </a:r>
              <a:r>
                <a:rPr lang="fr-FR" sz="1100" dirty="0">
                  <a:solidFill>
                    <a:srgbClr val="4D4F53"/>
                  </a:solidFill>
                </a:rPr>
                <a:t>./</a:t>
              </a:r>
              <a:r>
                <a:rPr lang="fr-FR" sz="1100" dirty="0" smtClean="0">
                  <a:solidFill>
                    <a:srgbClr val="4D4F53"/>
                  </a:solidFill>
                </a:rPr>
                <a:t>div » </a:t>
              </a:r>
              <a:r>
                <a:rPr lang="fr-FR" sz="1100" dirty="0">
                  <a:solidFill>
                    <a:srgbClr val="4D4F53"/>
                  </a:solidFill>
                </a:rPr>
                <a:t>: saisir le </a:t>
              </a:r>
              <a:r>
                <a:rPr lang="fr-FR" sz="1100" dirty="0" smtClean="0">
                  <a:solidFill>
                    <a:srgbClr val="4D4F53"/>
                  </a:solidFill>
                </a:rPr>
                <a:t>Contrôle </a:t>
              </a:r>
              <a:r>
                <a:rPr lang="fr-FR" sz="1100" dirty="0">
                  <a:solidFill>
                    <a:srgbClr val="4D4F53"/>
                  </a:solidFill>
                </a:rPr>
                <a:t>des </a:t>
              </a:r>
              <a:r>
                <a:rPr lang="fr-FR" sz="1100" dirty="0" smtClean="0">
                  <a:solidFill>
                    <a:srgbClr val="4D4F53"/>
                  </a:solidFill>
                </a:rPr>
                <a:t>disponibilités </a:t>
              </a:r>
            </a:p>
            <a:p>
              <a:pPr>
                <a:lnSpc>
                  <a:spcPct val="150000"/>
                </a:lnSpc>
              </a:pPr>
              <a:r>
                <a:rPr lang="fr-FR" sz="1100" dirty="0" smtClean="0">
                  <a:solidFill>
                    <a:srgbClr val="4D4F53"/>
                  </a:solidFill>
                </a:rPr>
                <a:t>Cocher </a:t>
              </a:r>
              <a:r>
                <a:rPr lang="fr-FR" sz="1100" dirty="0">
                  <a:solidFill>
                    <a:srgbClr val="4D4F53"/>
                  </a:solidFill>
                </a:rPr>
                <a:t>la case </a:t>
              </a:r>
              <a:r>
                <a:rPr lang="fr-FR" sz="1100" dirty="0" smtClean="0">
                  <a:solidFill>
                    <a:srgbClr val="4D4F53"/>
                  </a:solidFill>
                </a:rPr>
                <a:t>« Gestion </a:t>
              </a:r>
              <a:r>
                <a:rPr lang="fr-FR" sz="1100" dirty="0">
                  <a:solidFill>
                    <a:srgbClr val="4D4F53"/>
                  </a:solidFill>
                </a:rPr>
                <a:t>par </a:t>
              </a:r>
              <a:r>
                <a:rPr lang="fr-FR" sz="1100" dirty="0" smtClean="0">
                  <a:solidFill>
                    <a:srgbClr val="4D4F53"/>
                  </a:solidFill>
                </a:rPr>
                <a:t>lots » si l’article est géré par lots</a:t>
              </a:r>
            </a:p>
            <a:p>
              <a:pPr>
                <a:lnSpc>
                  <a:spcPct val="150000"/>
                </a:lnSpc>
              </a:pPr>
              <a:r>
                <a:rPr lang="fr-FR" sz="1100" dirty="0">
                  <a:solidFill>
                    <a:srgbClr val="4D4F53"/>
                  </a:solidFill>
                </a:rPr>
                <a:t>I</a:t>
              </a:r>
              <a:r>
                <a:rPr lang="fr-FR" sz="1100" dirty="0" smtClean="0">
                  <a:solidFill>
                    <a:srgbClr val="4D4F53"/>
                  </a:solidFill>
                </a:rPr>
                <a:t>ndiquer </a:t>
              </a:r>
              <a:r>
                <a:rPr lang="fr-FR" sz="1100" dirty="0">
                  <a:solidFill>
                    <a:srgbClr val="4D4F53"/>
                  </a:solidFill>
                </a:rPr>
                <a:t>un </a:t>
              </a:r>
              <a:r>
                <a:rPr lang="fr-FR" sz="1100" dirty="0" smtClean="0">
                  <a:solidFill>
                    <a:srgbClr val="4D4F53"/>
                  </a:solidFill>
                </a:rPr>
                <a:t>Groupe </a:t>
              </a:r>
              <a:r>
                <a:rPr lang="fr-FR" sz="1100" dirty="0">
                  <a:solidFill>
                    <a:srgbClr val="4D4F53"/>
                  </a:solidFill>
                </a:rPr>
                <a:t>de </a:t>
              </a:r>
              <a:r>
                <a:rPr lang="fr-FR" sz="1100" dirty="0" smtClean="0">
                  <a:solidFill>
                    <a:srgbClr val="4D4F53"/>
                  </a:solidFill>
                </a:rPr>
                <a:t>transport</a:t>
              </a:r>
            </a:p>
            <a:p>
              <a:pPr>
                <a:lnSpc>
                  <a:spcPct val="150000"/>
                </a:lnSpc>
              </a:pPr>
              <a:r>
                <a:rPr lang="fr-FR" sz="1100" dirty="0" smtClean="0">
                  <a:solidFill>
                    <a:srgbClr val="4D4F53"/>
                  </a:solidFill>
                </a:rPr>
                <a:t>Renseigner un Groupe </a:t>
              </a:r>
              <a:r>
                <a:rPr lang="fr-FR" sz="1100" dirty="0">
                  <a:solidFill>
                    <a:srgbClr val="4D4F53"/>
                  </a:solidFill>
                </a:rPr>
                <a:t>de </a:t>
              </a:r>
              <a:r>
                <a:rPr lang="fr-FR" sz="1100" dirty="0" smtClean="0">
                  <a:solidFill>
                    <a:srgbClr val="4D4F53"/>
                  </a:solidFill>
                </a:rPr>
                <a:t>chargement</a:t>
              </a:r>
            </a:p>
            <a:p>
              <a:pPr>
                <a:lnSpc>
                  <a:spcPct val="150000"/>
                </a:lnSpc>
              </a:pPr>
              <a:r>
                <a:rPr lang="fr-FR" sz="1100" dirty="0" smtClean="0">
                  <a:solidFill>
                    <a:srgbClr val="4D4F53"/>
                  </a:solidFill>
                </a:rPr>
                <a:t>Renseigner un Groupe </a:t>
              </a:r>
              <a:r>
                <a:rPr lang="fr-FR" sz="1100" dirty="0">
                  <a:solidFill>
                    <a:srgbClr val="4D4F53"/>
                  </a:solidFill>
                </a:rPr>
                <a:t>Article Emballage </a:t>
              </a:r>
              <a:r>
                <a:rPr lang="fr-FR" sz="1100" dirty="0" smtClean="0">
                  <a:solidFill>
                    <a:srgbClr val="4D4F53"/>
                  </a:solidFill>
                </a:rPr>
                <a:t>Expédition</a:t>
              </a:r>
              <a:endParaRPr lang="fr-FR" sz="1100" dirty="0">
                <a:solidFill>
                  <a:srgbClr val="4D4F53"/>
                </a:solidFill>
              </a:endParaRPr>
            </a:p>
            <a:p>
              <a:pPr>
                <a:lnSpc>
                  <a:spcPct val="150000"/>
                </a:lnSpc>
              </a:pPr>
              <a:r>
                <a:rPr lang="fr-FR" sz="1100" dirty="0" smtClean="0">
                  <a:solidFill>
                    <a:srgbClr val="4D4F53"/>
                  </a:solidFill>
                </a:rPr>
                <a:t>Cliquer sur l’Onglet « Achats » </a:t>
              </a:r>
              <a:r>
                <a:rPr lang="fr-FR" sz="1100" dirty="0">
                  <a:solidFill>
                    <a:srgbClr val="4D4F53"/>
                  </a:solidFill>
                </a:rPr>
                <a:t>: entrer un </a:t>
              </a:r>
              <a:r>
                <a:rPr lang="fr-FR" sz="1100" dirty="0" smtClean="0">
                  <a:solidFill>
                    <a:srgbClr val="4D4F53"/>
                  </a:solidFill>
                </a:rPr>
                <a:t>Groupe d'acheteurs </a:t>
              </a:r>
            </a:p>
            <a:p>
              <a:pPr>
                <a:lnSpc>
                  <a:spcPct val="150000"/>
                </a:lnSpc>
              </a:pPr>
              <a:r>
                <a:rPr lang="fr-FR" sz="1100" dirty="0" smtClean="0">
                  <a:solidFill>
                    <a:srgbClr val="4D4F53"/>
                  </a:solidFill>
                </a:rPr>
                <a:t>Entrer une Clé </a:t>
              </a:r>
              <a:r>
                <a:rPr lang="fr-FR" sz="1100" dirty="0">
                  <a:solidFill>
                    <a:srgbClr val="4D4F53"/>
                  </a:solidFill>
                </a:rPr>
                <a:t>valeurs </a:t>
              </a:r>
              <a:r>
                <a:rPr lang="fr-FR" sz="1100" dirty="0" smtClean="0">
                  <a:solidFill>
                    <a:srgbClr val="4D4F53"/>
                  </a:solidFill>
                </a:rPr>
                <a:t>achats</a:t>
              </a:r>
              <a:endParaRPr lang="fr-FR" sz="1100" dirty="0">
                <a:solidFill>
                  <a:srgbClr val="4D4F53"/>
                </a:solidFill>
              </a:endParaRPr>
            </a:p>
          </p:txBody>
        </p:sp>
        <p:sp>
          <p:nvSpPr>
            <p:cNvPr id="14" name="Ellipse 13"/>
            <p:cNvSpPr/>
            <p:nvPr/>
          </p:nvSpPr>
          <p:spPr>
            <a:xfrm>
              <a:off x="4870742" y="20637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5" name="Ellipse 14"/>
            <p:cNvSpPr/>
            <p:nvPr/>
          </p:nvSpPr>
          <p:spPr>
            <a:xfrm>
              <a:off x="4870742" y="71526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6" name="Ellipse 15"/>
            <p:cNvSpPr/>
            <p:nvPr/>
          </p:nvSpPr>
          <p:spPr>
            <a:xfrm>
              <a:off x="4870742" y="173491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1" name="Ellipse 30"/>
            <p:cNvSpPr/>
            <p:nvPr/>
          </p:nvSpPr>
          <p:spPr>
            <a:xfrm>
              <a:off x="4870742" y="121659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2" name="Ellipse 31"/>
            <p:cNvSpPr/>
            <p:nvPr/>
          </p:nvSpPr>
          <p:spPr>
            <a:xfrm>
              <a:off x="4870742" y="147448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3" name="Ellipse 32"/>
            <p:cNvSpPr/>
            <p:nvPr/>
          </p:nvSpPr>
          <p:spPr>
            <a:xfrm>
              <a:off x="4870742" y="198957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34" name="Ellipse 33"/>
            <p:cNvSpPr/>
            <p:nvPr/>
          </p:nvSpPr>
          <p:spPr>
            <a:xfrm>
              <a:off x="4870742" y="222517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35" name="Ellipse 34"/>
            <p:cNvSpPr/>
            <p:nvPr/>
          </p:nvSpPr>
          <p:spPr>
            <a:xfrm>
              <a:off x="4870742" y="249624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grpSp>
      <p:sp>
        <p:nvSpPr>
          <p:cNvPr id="45" name="Ellipse 44"/>
          <p:cNvSpPr/>
          <p:nvPr/>
        </p:nvSpPr>
        <p:spPr>
          <a:xfrm>
            <a:off x="178466" y="115595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2" name="Rectangle 41"/>
          <p:cNvSpPr/>
          <p:nvPr/>
        </p:nvSpPr>
        <p:spPr>
          <a:xfrm>
            <a:off x="2062993" y="1413059"/>
            <a:ext cx="143647"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4" name="Rectangle 43"/>
          <p:cNvSpPr/>
          <p:nvPr/>
        </p:nvSpPr>
        <p:spPr>
          <a:xfrm>
            <a:off x="2063200" y="1528561"/>
            <a:ext cx="143647"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8" name="Ellipse 47"/>
          <p:cNvSpPr/>
          <p:nvPr/>
        </p:nvSpPr>
        <p:spPr>
          <a:xfrm>
            <a:off x="1396805" y="216709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49" name="Rectangle 48"/>
          <p:cNvSpPr/>
          <p:nvPr/>
        </p:nvSpPr>
        <p:spPr>
          <a:xfrm>
            <a:off x="1600303" y="2244387"/>
            <a:ext cx="143647"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1" name="Rectangle 50"/>
          <p:cNvSpPr/>
          <p:nvPr/>
        </p:nvSpPr>
        <p:spPr>
          <a:xfrm>
            <a:off x="1239955" y="2762723"/>
            <a:ext cx="229922"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2" name="Rectangle 51"/>
          <p:cNvSpPr/>
          <p:nvPr/>
        </p:nvSpPr>
        <p:spPr>
          <a:xfrm>
            <a:off x="2686676" y="2761953"/>
            <a:ext cx="229922"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3" name="Rectangle 52"/>
          <p:cNvSpPr/>
          <p:nvPr/>
        </p:nvSpPr>
        <p:spPr>
          <a:xfrm>
            <a:off x="1608849" y="3281822"/>
            <a:ext cx="296864"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1" name="Image 10"/>
          <p:cNvPicPr>
            <a:picLocks noChangeAspect="1"/>
          </p:cNvPicPr>
          <p:nvPr/>
        </p:nvPicPr>
        <p:blipFill>
          <a:blip r:embed="rId4"/>
          <a:stretch>
            <a:fillRect/>
          </a:stretch>
        </p:blipFill>
        <p:spPr>
          <a:xfrm>
            <a:off x="3555916" y="2742116"/>
            <a:ext cx="3207200" cy="1783542"/>
          </a:xfrm>
          <a:prstGeom prst="rect">
            <a:avLst/>
          </a:prstGeom>
          <a:ln>
            <a:solidFill>
              <a:schemeClr val="tx1"/>
            </a:solidFill>
          </a:ln>
          <a:effectLst>
            <a:outerShdw blurRad="50800" dist="38100" dir="2700000" algn="tl" rotWithShape="0">
              <a:prstClr val="black">
                <a:alpha val="40000"/>
              </a:prstClr>
            </a:outerShdw>
          </a:effectLst>
        </p:spPr>
      </p:pic>
      <p:sp>
        <p:nvSpPr>
          <p:cNvPr id="54" name="Ellipse 53"/>
          <p:cNvSpPr/>
          <p:nvPr/>
        </p:nvSpPr>
        <p:spPr>
          <a:xfrm>
            <a:off x="4612901" y="343639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55" name="Rectangle 54"/>
          <p:cNvSpPr/>
          <p:nvPr/>
        </p:nvSpPr>
        <p:spPr>
          <a:xfrm>
            <a:off x="4383063" y="3592878"/>
            <a:ext cx="229922"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6" name="Rectangle 55"/>
          <p:cNvSpPr/>
          <p:nvPr/>
        </p:nvSpPr>
        <p:spPr>
          <a:xfrm>
            <a:off x="4408387" y="4403427"/>
            <a:ext cx="304980"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5" name="Rectangle 64"/>
          <p:cNvSpPr/>
          <p:nvPr/>
        </p:nvSpPr>
        <p:spPr>
          <a:xfrm flipH="1">
            <a:off x="845018" y="2346198"/>
            <a:ext cx="586794" cy="15226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6" name="Ellipse 25"/>
          <p:cNvSpPr/>
          <p:nvPr/>
        </p:nvSpPr>
        <p:spPr>
          <a:xfrm>
            <a:off x="652417" y="231975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7" name="Ellipse 26"/>
          <p:cNvSpPr/>
          <p:nvPr/>
        </p:nvSpPr>
        <p:spPr>
          <a:xfrm>
            <a:off x="1075884" y="265852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8" name="Ellipse 27"/>
          <p:cNvSpPr/>
          <p:nvPr/>
        </p:nvSpPr>
        <p:spPr>
          <a:xfrm>
            <a:off x="2728565" y="258970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29" name="Ellipse 28"/>
          <p:cNvSpPr/>
          <p:nvPr/>
        </p:nvSpPr>
        <p:spPr>
          <a:xfrm>
            <a:off x="1924494" y="328182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30" name="Ellipse 29"/>
          <p:cNvSpPr/>
          <p:nvPr/>
        </p:nvSpPr>
        <p:spPr>
          <a:xfrm>
            <a:off x="4683407" y="424885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Tree>
    <p:extLst>
      <p:ext uri="{BB962C8B-B14F-4D97-AF65-F5344CB8AC3E}">
        <p14:creationId xmlns:p14="http://schemas.microsoft.com/office/powerpoint/2010/main" val="16725766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 38"/>
          <p:cNvPicPr>
            <a:picLocks noChangeAspect="1"/>
          </p:cNvPicPr>
          <p:nvPr/>
        </p:nvPicPr>
        <p:blipFill>
          <a:blip r:embed="rId2"/>
          <a:stretch>
            <a:fillRect/>
          </a:stretch>
        </p:blipFill>
        <p:spPr>
          <a:xfrm>
            <a:off x="380518" y="1156407"/>
            <a:ext cx="4207870" cy="2570325"/>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a:xfrm>
            <a:off x="457200" y="206375"/>
            <a:ext cx="4043363" cy="857250"/>
          </a:xfrm>
        </p:spPr>
        <p:txBody>
          <a:bodyPr>
            <a:normAutofit fontScale="90000"/>
          </a:bodyPr>
          <a:lstStyle/>
          <a:p>
            <a:r>
              <a:rPr lang="fr-FR" altLang="en-US" sz="2400" dirty="0"/>
              <a:t>Mode opératoire</a:t>
            </a:r>
            <a:br>
              <a:rPr lang="fr-FR" altLang="en-US" sz="2400" dirty="0"/>
            </a:br>
            <a:r>
              <a:rPr lang="fr-FR" altLang="en-US" dirty="0" smtClean="0"/>
              <a:t>MM01</a:t>
            </a:r>
            <a:r>
              <a:rPr lang="fr-FR" altLang="en-US" dirty="0"/>
              <a:t>– Créer un </a:t>
            </a:r>
            <a:r>
              <a:rPr lang="fr-FR" altLang="en-US" dirty="0" smtClean="0"/>
              <a:t>article (pièce </a:t>
            </a:r>
            <a:r>
              <a:rPr lang="fr-FR" altLang="en-US" dirty="0"/>
              <a:t>de rechange, acheté, géré par lots)</a:t>
            </a:r>
            <a:r>
              <a:rPr lang="fr-FR" altLang="en-US" dirty="0" smtClean="0"/>
              <a:t> 4/5</a:t>
            </a:r>
            <a:endParaRPr lang="en-US" dirty="0"/>
          </a:p>
        </p:txBody>
      </p:sp>
      <p:grpSp>
        <p:nvGrpSpPr>
          <p:cNvPr id="41" name="Groupe 40"/>
          <p:cNvGrpSpPr/>
          <p:nvPr/>
        </p:nvGrpSpPr>
        <p:grpSpPr>
          <a:xfrm>
            <a:off x="4955201" y="402626"/>
            <a:ext cx="3972989" cy="1361911"/>
            <a:chOff x="4837637" y="249966"/>
            <a:chExt cx="3972989" cy="1361911"/>
          </a:xfrm>
        </p:grpSpPr>
        <p:sp>
          <p:nvSpPr>
            <p:cNvPr id="5" name="ZoneTexte 4"/>
            <p:cNvSpPr txBox="1"/>
            <p:nvPr/>
          </p:nvSpPr>
          <p:spPr>
            <a:xfrm>
              <a:off x="4966651" y="249966"/>
              <a:ext cx="3843975" cy="1361911"/>
            </a:xfrm>
            <a:prstGeom prst="rect">
              <a:avLst/>
            </a:prstGeom>
            <a:noFill/>
          </p:spPr>
          <p:txBody>
            <a:bodyPr wrap="square" rtlCol="0">
              <a:spAutoFit/>
            </a:bodyPr>
            <a:lstStyle/>
            <a:p>
              <a:pPr>
                <a:lnSpc>
                  <a:spcPct val="150000"/>
                </a:lnSpc>
              </a:pPr>
              <a:r>
                <a:rPr lang="fr-FR" sz="1100" dirty="0" smtClean="0">
                  <a:solidFill>
                    <a:srgbClr val="4D4F53"/>
                  </a:solidFill>
                </a:rPr>
                <a:t>Onglet « </a:t>
              </a:r>
              <a:r>
                <a:rPr lang="fr-FR" sz="1100" dirty="0" err="1" smtClean="0">
                  <a:solidFill>
                    <a:srgbClr val="4D4F53"/>
                  </a:solidFill>
                </a:rPr>
                <a:t>Planif</a:t>
              </a:r>
              <a:r>
                <a:rPr lang="fr-FR" sz="1100" dirty="0">
                  <a:solidFill>
                    <a:srgbClr val="4D4F53"/>
                  </a:solidFill>
                </a:rPr>
                <a:t>. des besoins </a:t>
              </a:r>
              <a:r>
                <a:rPr lang="fr-FR" sz="1100" dirty="0" smtClean="0">
                  <a:solidFill>
                    <a:srgbClr val="4D4F53"/>
                  </a:solidFill>
                </a:rPr>
                <a:t>1 » </a:t>
              </a:r>
              <a:r>
                <a:rPr lang="fr-FR" sz="1100" dirty="0">
                  <a:solidFill>
                    <a:srgbClr val="4D4F53"/>
                  </a:solidFill>
                </a:rPr>
                <a:t>: entrer le </a:t>
              </a:r>
              <a:r>
                <a:rPr lang="fr-FR" sz="1100" dirty="0" smtClean="0">
                  <a:solidFill>
                    <a:srgbClr val="4D4F53"/>
                  </a:solidFill>
                </a:rPr>
                <a:t>Type </a:t>
              </a:r>
              <a:r>
                <a:rPr lang="fr-FR" sz="1100" dirty="0">
                  <a:solidFill>
                    <a:srgbClr val="4D4F53"/>
                  </a:solidFill>
                </a:rPr>
                <a:t>de </a:t>
              </a:r>
              <a:r>
                <a:rPr lang="fr-FR" sz="1100" dirty="0" smtClean="0">
                  <a:solidFill>
                    <a:srgbClr val="4D4F53"/>
                  </a:solidFill>
                </a:rPr>
                <a:t>planification</a:t>
              </a:r>
            </a:p>
            <a:p>
              <a:pPr>
                <a:lnSpc>
                  <a:spcPct val="150000"/>
                </a:lnSpc>
              </a:pPr>
              <a:r>
                <a:rPr lang="fr-FR" sz="1100" dirty="0" smtClean="0">
                  <a:solidFill>
                    <a:srgbClr val="4D4F53"/>
                  </a:solidFill>
                </a:rPr>
                <a:t>Renseigner le Gestionnaire</a:t>
              </a:r>
            </a:p>
            <a:p>
              <a:pPr>
                <a:lnSpc>
                  <a:spcPct val="150000"/>
                </a:lnSpc>
              </a:pPr>
              <a:r>
                <a:rPr lang="fr-FR" sz="1100" dirty="0" smtClean="0">
                  <a:solidFill>
                    <a:srgbClr val="4D4F53"/>
                  </a:solidFill>
                </a:rPr>
                <a:t>Renseigner la Clé </a:t>
              </a:r>
              <a:r>
                <a:rPr lang="fr-FR" sz="1100" dirty="0">
                  <a:solidFill>
                    <a:srgbClr val="4D4F53"/>
                  </a:solidFill>
                </a:rPr>
                <a:t>de calcul de la taille de </a:t>
              </a:r>
              <a:r>
                <a:rPr lang="fr-FR" sz="1100" dirty="0" smtClean="0">
                  <a:solidFill>
                    <a:srgbClr val="4D4F53"/>
                  </a:solidFill>
                </a:rPr>
                <a:t>lot</a:t>
              </a:r>
              <a:endParaRPr lang="fr-FR" sz="1100" dirty="0">
                <a:solidFill>
                  <a:srgbClr val="4D4F53"/>
                </a:solidFill>
              </a:endParaRPr>
            </a:p>
            <a:p>
              <a:pPr>
                <a:lnSpc>
                  <a:spcPct val="150000"/>
                </a:lnSpc>
              </a:pPr>
              <a:r>
                <a:rPr lang="fr-FR" sz="1100" dirty="0" smtClean="0">
                  <a:solidFill>
                    <a:srgbClr val="4D4F53"/>
                  </a:solidFill>
                </a:rPr>
                <a:t>Page « </a:t>
              </a:r>
              <a:r>
                <a:rPr lang="fr-FR" sz="1100" dirty="0" err="1" smtClean="0">
                  <a:solidFill>
                    <a:srgbClr val="4D4F53"/>
                  </a:solidFill>
                </a:rPr>
                <a:t>Planif</a:t>
              </a:r>
              <a:r>
                <a:rPr lang="fr-FR" sz="1100" dirty="0">
                  <a:solidFill>
                    <a:srgbClr val="4D4F53"/>
                  </a:solidFill>
                </a:rPr>
                <a:t>. des besoins </a:t>
              </a:r>
              <a:r>
                <a:rPr lang="fr-FR" sz="1100" dirty="0" smtClean="0">
                  <a:solidFill>
                    <a:srgbClr val="4D4F53"/>
                  </a:solidFill>
                </a:rPr>
                <a:t>2 » : entrer la Clé d'horizon </a:t>
              </a:r>
            </a:p>
            <a:p>
              <a:pPr>
                <a:lnSpc>
                  <a:spcPct val="150000"/>
                </a:lnSpc>
              </a:pPr>
              <a:r>
                <a:rPr lang="fr-FR" sz="1100" dirty="0" smtClean="0">
                  <a:solidFill>
                    <a:srgbClr val="4D4F53"/>
                  </a:solidFill>
                </a:rPr>
                <a:t>Renseigner le Délai prévisionnel de livraison en jours</a:t>
              </a:r>
              <a:endParaRPr lang="fr-FR" sz="1100" dirty="0">
                <a:solidFill>
                  <a:srgbClr val="4D4F53"/>
                </a:solidFill>
              </a:endParaRPr>
            </a:p>
          </p:txBody>
        </p:sp>
        <p:sp>
          <p:nvSpPr>
            <p:cNvPr id="6" name="Ellipse 5"/>
            <p:cNvSpPr/>
            <p:nvPr/>
          </p:nvSpPr>
          <p:spPr>
            <a:xfrm>
              <a:off x="4837637" y="34778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7" name="Ellipse 6"/>
            <p:cNvSpPr/>
            <p:nvPr/>
          </p:nvSpPr>
          <p:spPr>
            <a:xfrm>
              <a:off x="4837637" y="59321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2" name="Ellipse 21"/>
            <p:cNvSpPr/>
            <p:nvPr/>
          </p:nvSpPr>
          <p:spPr>
            <a:xfrm>
              <a:off x="4837637" y="85363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3" name="Ellipse 22"/>
            <p:cNvSpPr/>
            <p:nvPr/>
          </p:nvSpPr>
          <p:spPr>
            <a:xfrm>
              <a:off x="4837637" y="110390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4" name="Ellipse 23"/>
            <p:cNvSpPr/>
            <p:nvPr/>
          </p:nvSpPr>
          <p:spPr>
            <a:xfrm>
              <a:off x="4837637" y="134797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sp>
        <p:nvSpPr>
          <p:cNvPr id="53" name="Rectangle 52"/>
          <p:cNvSpPr/>
          <p:nvPr/>
        </p:nvSpPr>
        <p:spPr>
          <a:xfrm>
            <a:off x="3548044" y="3116366"/>
            <a:ext cx="216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4" name="Rectangle 53"/>
          <p:cNvSpPr/>
          <p:nvPr/>
        </p:nvSpPr>
        <p:spPr>
          <a:xfrm>
            <a:off x="1522691" y="2802874"/>
            <a:ext cx="143647"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5" name="Ellipse 54"/>
          <p:cNvSpPr/>
          <p:nvPr/>
        </p:nvSpPr>
        <p:spPr>
          <a:xfrm>
            <a:off x="1376547" y="271009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pic>
        <p:nvPicPr>
          <p:cNvPr id="17" name="Image 16"/>
          <p:cNvPicPr>
            <a:picLocks noChangeAspect="1"/>
          </p:cNvPicPr>
          <p:nvPr/>
        </p:nvPicPr>
        <p:blipFill rotWithShape="1">
          <a:blip r:embed="rId3"/>
          <a:srcRect l="1305" t="-376" r="197" b="14"/>
          <a:stretch/>
        </p:blipFill>
        <p:spPr>
          <a:xfrm>
            <a:off x="4023597" y="1985170"/>
            <a:ext cx="3732317" cy="2474782"/>
          </a:xfrm>
          <a:prstGeom prst="rect">
            <a:avLst/>
          </a:prstGeom>
          <a:ln>
            <a:solidFill>
              <a:schemeClr val="tx1"/>
            </a:solidFill>
          </a:ln>
          <a:effectLst>
            <a:outerShdw blurRad="50800" dist="38100" dir="2700000" algn="tl" rotWithShape="0">
              <a:prstClr val="black">
                <a:alpha val="40000"/>
              </a:prstClr>
            </a:outerShdw>
          </a:effectLst>
        </p:spPr>
      </p:pic>
      <p:sp>
        <p:nvSpPr>
          <p:cNvPr id="66" name="Rectangle 65"/>
          <p:cNvSpPr/>
          <p:nvPr/>
        </p:nvSpPr>
        <p:spPr>
          <a:xfrm>
            <a:off x="1522898" y="3574186"/>
            <a:ext cx="143647"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7" name="Rectangle 66"/>
          <p:cNvSpPr/>
          <p:nvPr/>
        </p:nvSpPr>
        <p:spPr>
          <a:xfrm>
            <a:off x="4977560" y="4228441"/>
            <a:ext cx="216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8" name="Rectangle 67"/>
          <p:cNvSpPr/>
          <p:nvPr/>
        </p:nvSpPr>
        <p:spPr>
          <a:xfrm>
            <a:off x="6823453" y="3942922"/>
            <a:ext cx="360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8" name="Ellipse 17"/>
          <p:cNvSpPr/>
          <p:nvPr/>
        </p:nvSpPr>
        <p:spPr>
          <a:xfrm>
            <a:off x="3341917" y="306798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19" name="Ellipse 18"/>
          <p:cNvSpPr/>
          <p:nvPr/>
        </p:nvSpPr>
        <p:spPr>
          <a:xfrm>
            <a:off x="1376547" y="337322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
        <p:nvSpPr>
          <p:cNvPr id="20" name="Ellipse 19"/>
          <p:cNvSpPr/>
          <p:nvPr/>
        </p:nvSpPr>
        <p:spPr>
          <a:xfrm>
            <a:off x="4850550" y="406093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1" name="Ellipse 20"/>
          <p:cNvSpPr/>
          <p:nvPr/>
        </p:nvSpPr>
        <p:spPr>
          <a:xfrm>
            <a:off x="6677309" y="378834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Tree>
    <p:extLst>
      <p:ext uri="{BB962C8B-B14F-4D97-AF65-F5344CB8AC3E}">
        <p14:creationId xmlns:p14="http://schemas.microsoft.com/office/powerpoint/2010/main" val="7984945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2"/>
          <a:srcRect l="794" t="1834"/>
          <a:stretch/>
        </p:blipFill>
        <p:spPr>
          <a:xfrm>
            <a:off x="4671426" y="1716531"/>
            <a:ext cx="3507737" cy="2388059"/>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a:xfrm>
            <a:off x="457200" y="206375"/>
            <a:ext cx="4043363" cy="857250"/>
          </a:xfrm>
        </p:spPr>
        <p:txBody>
          <a:bodyPr>
            <a:normAutofit fontScale="90000"/>
          </a:bodyPr>
          <a:lstStyle/>
          <a:p>
            <a:r>
              <a:rPr lang="fr-FR" altLang="en-US" sz="2400" dirty="0"/>
              <a:t>Mode opératoire</a:t>
            </a:r>
            <a:br>
              <a:rPr lang="fr-FR" altLang="en-US" sz="2400" dirty="0"/>
            </a:br>
            <a:r>
              <a:rPr lang="fr-FR" altLang="en-US" dirty="0" smtClean="0"/>
              <a:t>MM01– </a:t>
            </a:r>
            <a:r>
              <a:rPr lang="fr-FR" altLang="en-US" dirty="0"/>
              <a:t>Créer un </a:t>
            </a:r>
            <a:r>
              <a:rPr lang="fr-FR" altLang="en-US" dirty="0" smtClean="0"/>
              <a:t>article (pièce </a:t>
            </a:r>
            <a:r>
              <a:rPr lang="fr-FR" altLang="en-US" dirty="0"/>
              <a:t>de rechange, acheté, géré par lots)</a:t>
            </a:r>
            <a:r>
              <a:rPr lang="fr-FR" altLang="en-US" dirty="0" smtClean="0"/>
              <a:t> 5/5</a:t>
            </a:r>
            <a:endParaRPr lang="en-US" dirty="0"/>
          </a:p>
        </p:txBody>
      </p:sp>
      <p:pic>
        <p:nvPicPr>
          <p:cNvPr id="27" name="Image 26"/>
          <p:cNvPicPr>
            <a:picLocks noChangeAspect="1"/>
          </p:cNvPicPr>
          <p:nvPr/>
        </p:nvPicPr>
        <p:blipFill rotWithShape="1">
          <a:blip r:embed="rId3"/>
          <a:srcRect l="40" t="1558" r="108" b="3701"/>
          <a:stretch/>
        </p:blipFill>
        <p:spPr>
          <a:xfrm>
            <a:off x="291528" y="1145135"/>
            <a:ext cx="3312130" cy="2281728"/>
          </a:xfrm>
          <a:prstGeom prst="rect">
            <a:avLst/>
          </a:prstGeom>
          <a:ln>
            <a:solidFill>
              <a:schemeClr val="tx1"/>
            </a:solidFill>
          </a:ln>
          <a:effectLst>
            <a:outerShdw blurRad="50800" dist="38100" dir="2700000" algn="tl" rotWithShape="0">
              <a:prstClr val="black">
                <a:alpha val="40000"/>
              </a:prstClr>
            </a:outerShdw>
          </a:effectLst>
        </p:spPr>
      </p:pic>
      <p:sp>
        <p:nvSpPr>
          <p:cNvPr id="60" name="Ellipse 59"/>
          <p:cNvSpPr/>
          <p:nvPr/>
        </p:nvSpPr>
        <p:spPr>
          <a:xfrm>
            <a:off x="1101593" y="275598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61" name="Rectangle 60"/>
          <p:cNvSpPr/>
          <p:nvPr/>
        </p:nvSpPr>
        <p:spPr>
          <a:xfrm>
            <a:off x="1157737" y="2932113"/>
            <a:ext cx="180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2" name="Rectangle 61"/>
          <p:cNvSpPr/>
          <p:nvPr/>
        </p:nvSpPr>
        <p:spPr>
          <a:xfrm>
            <a:off x="2660372" y="2932113"/>
            <a:ext cx="252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28" name="Image 27"/>
          <p:cNvPicPr>
            <a:picLocks noChangeAspect="1"/>
          </p:cNvPicPr>
          <p:nvPr/>
        </p:nvPicPr>
        <p:blipFill>
          <a:blip r:embed="rId4"/>
          <a:stretch>
            <a:fillRect/>
          </a:stretch>
        </p:blipFill>
        <p:spPr>
          <a:xfrm>
            <a:off x="495908" y="3548402"/>
            <a:ext cx="4094717" cy="879913"/>
          </a:xfrm>
          <a:prstGeom prst="rect">
            <a:avLst/>
          </a:prstGeom>
          <a:ln>
            <a:solidFill>
              <a:schemeClr val="tx1"/>
            </a:solidFill>
          </a:ln>
          <a:effectLst>
            <a:outerShdw blurRad="50800" dist="38100" dir="2700000" algn="tl" rotWithShape="0">
              <a:prstClr val="black">
                <a:alpha val="40000"/>
              </a:prstClr>
            </a:outerShdw>
          </a:effectLst>
        </p:spPr>
      </p:pic>
      <p:sp>
        <p:nvSpPr>
          <p:cNvPr id="63" name="Ellipse 62"/>
          <p:cNvSpPr/>
          <p:nvPr/>
        </p:nvSpPr>
        <p:spPr>
          <a:xfrm>
            <a:off x="1389456" y="359546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64" name="Rectangle 63"/>
          <p:cNvSpPr/>
          <p:nvPr/>
        </p:nvSpPr>
        <p:spPr>
          <a:xfrm>
            <a:off x="1569456" y="3713446"/>
            <a:ext cx="648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5" name="Rectangle 64"/>
          <p:cNvSpPr/>
          <p:nvPr/>
        </p:nvSpPr>
        <p:spPr>
          <a:xfrm>
            <a:off x="5602426" y="3495096"/>
            <a:ext cx="648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9" name="Ellipse 28"/>
          <p:cNvSpPr/>
          <p:nvPr/>
        </p:nvSpPr>
        <p:spPr>
          <a:xfrm>
            <a:off x="5429543" y="341780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grpSp>
        <p:nvGrpSpPr>
          <p:cNvPr id="22" name="Groupe 21"/>
          <p:cNvGrpSpPr/>
          <p:nvPr/>
        </p:nvGrpSpPr>
        <p:grpSpPr>
          <a:xfrm>
            <a:off x="4379497" y="270081"/>
            <a:ext cx="4764503" cy="1652637"/>
            <a:chOff x="4840740" y="19229"/>
            <a:chExt cx="4400435" cy="1615827"/>
          </a:xfrm>
        </p:grpSpPr>
        <p:sp>
          <p:nvSpPr>
            <p:cNvPr id="5" name="ZoneTexte 4"/>
            <p:cNvSpPr txBox="1"/>
            <p:nvPr/>
          </p:nvSpPr>
          <p:spPr>
            <a:xfrm>
              <a:off x="4966650" y="19229"/>
              <a:ext cx="4274525" cy="1615827"/>
            </a:xfrm>
            <a:prstGeom prst="rect">
              <a:avLst/>
            </a:prstGeom>
            <a:noFill/>
          </p:spPr>
          <p:txBody>
            <a:bodyPr wrap="square" rtlCol="0">
              <a:spAutoFit/>
            </a:bodyPr>
            <a:lstStyle/>
            <a:p>
              <a:pPr>
                <a:lnSpc>
                  <a:spcPct val="150000"/>
                </a:lnSpc>
              </a:pPr>
              <a:r>
                <a:rPr lang="fr-FR" sz="1100" dirty="0" smtClean="0">
                  <a:solidFill>
                    <a:srgbClr val="4D4F53"/>
                  </a:solidFill>
                </a:rPr>
                <a:t>Onglet « Gestion </a:t>
              </a:r>
              <a:r>
                <a:rPr lang="fr-FR" sz="1100" dirty="0" err="1" smtClean="0">
                  <a:solidFill>
                    <a:srgbClr val="4D4F53"/>
                  </a:solidFill>
                </a:rPr>
                <a:t>empl</a:t>
              </a:r>
              <a:r>
                <a:rPr lang="fr-FR" sz="1100" dirty="0" smtClean="0">
                  <a:solidFill>
                    <a:srgbClr val="4D4F53"/>
                  </a:solidFill>
                </a:rPr>
                <a:t>. </a:t>
              </a:r>
              <a:r>
                <a:rPr lang="fr-FR" sz="1100" dirty="0">
                  <a:solidFill>
                    <a:srgbClr val="4D4F53"/>
                  </a:solidFill>
                </a:rPr>
                <a:t>magasin </a:t>
              </a:r>
              <a:r>
                <a:rPr lang="fr-FR" sz="1100" dirty="0" smtClean="0">
                  <a:solidFill>
                    <a:srgbClr val="4D4F53"/>
                  </a:solidFill>
                </a:rPr>
                <a:t>1 » </a:t>
              </a:r>
              <a:r>
                <a:rPr lang="fr-FR" sz="1100" dirty="0">
                  <a:solidFill>
                    <a:srgbClr val="4D4F53"/>
                  </a:solidFill>
                </a:rPr>
                <a:t>: entrer un Type de magasin pour SM </a:t>
              </a:r>
              <a:endParaRPr lang="fr-FR" sz="1100" dirty="0" smtClean="0">
                <a:solidFill>
                  <a:srgbClr val="4D4F53"/>
                </a:solidFill>
              </a:endParaRPr>
            </a:p>
            <a:p>
              <a:pPr>
                <a:lnSpc>
                  <a:spcPct val="150000"/>
                </a:lnSpc>
              </a:pPr>
              <a:r>
                <a:rPr lang="fr-FR" sz="1100" dirty="0" smtClean="0">
                  <a:solidFill>
                    <a:srgbClr val="4D4F53"/>
                  </a:solidFill>
                </a:rPr>
                <a:t>Renseigner un </a:t>
              </a:r>
              <a:r>
                <a:rPr lang="fr-FR" sz="1100" dirty="0">
                  <a:solidFill>
                    <a:srgbClr val="4D4F53"/>
                  </a:solidFill>
                </a:rPr>
                <a:t>Type de magasin pour EM </a:t>
              </a:r>
            </a:p>
            <a:p>
              <a:pPr>
                <a:lnSpc>
                  <a:spcPct val="150000"/>
                </a:lnSpc>
              </a:pPr>
              <a:r>
                <a:rPr lang="fr-FR" sz="1100" dirty="0">
                  <a:solidFill>
                    <a:srgbClr val="4D4F53"/>
                  </a:solidFill>
                </a:rPr>
                <a:t>Page </a:t>
              </a:r>
              <a:r>
                <a:rPr lang="fr-FR" sz="1100" dirty="0" smtClean="0">
                  <a:solidFill>
                    <a:srgbClr val="4D4F53"/>
                  </a:solidFill>
                </a:rPr>
                <a:t>« Gestion </a:t>
              </a:r>
              <a:r>
                <a:rPr lang="fr-FR" sz="1100" dirty="0">
                  <a:solidFill>
                    <a:srgbClr val="4D4F53"/>
                  </a:solidFill>
                </a:rPr>
                <a:t>emplacement magasin </a:t>
              </a:r>
              <a:r>
                <a:rPr lang="fr-FR" sz="1100" dirty="0" smtClean="0">
                  <a:solidFill>
                    <a:srgbClr val="4D4F53"/>
                  </a:solidFill>
                </a:rPr>
                <a:t>2 » </a:t>
              </a:r>
              <a:r>
                <a:rPr lang="fr-FR" sz="1100" dirty="0">
                  <a:solidFill>
                    <a:srgbClr val="4D4F53"/>
                  </a:solidFill>
                </a:rPr>
                <a:t>: saisir un Emplacement</a:t>
              </a:r>
            </a:p>
            <a:p>
              <a:pPr>
                <a:lnSpc>
                  <a:spcPct val="150000"/>
                </a:lnSpc>
              </a:pPr>
              <a:r>
                <a:rPr lang="fr-FR" sz="1100" dirty="0">
                  <a:solidFill>
                    <a:srgbClr val="4D4F53"/>
                  </a:solidFill>
                </a:rPr>
                <a:t>Page </a:t>
              </a:r>
              <a:r>
                <a:rPr lang="fr-FR" sz="1100" dirty="0" smtClean="0">
                  <a:solidFill>
                    <a:srgbClr val="4D4F53"/>
                  </a:solidFill>
                </a:rPr>
                <a:t>« Comptabilité 1 » </a:t>
              </a:r>
              <a:r>
                <a:rPr lang="fr-FR" sz="1100" dirty="0">
                  <a:solidFill>
                    <a:srgbClr val="4D4F53"/>
                  </a:solidFill>
                </a:rPr>
                <a:t>: entrer le </a:t>
              </a:r>
              <a:r>
                <a:rPr lang="fr-FR" sz="1100" dirty="0" smtClean="0">
                  <a:solidFill>
                    <a:srgbClr val="4D4F53"/>
                  </a:solidFill>
                </a:rPr>
                <a:t>Prix </a:t>
              </a:r>
              <a:r>
                <a:rPr lang="fr-FR" sz="1100" dirty="0">
                  <a:solidFill>
                    <a:srgbClr val="4D4F53"/>
                  </a:solidFill>
                </a:rPr>
                <a:t>moyen </a:t>
              </a:r>
              <a:r>
                <a:rPr lang="fr-FR" sz="1100" dirty="0" smtClean="0">
                  <a:solidFill>
                    <a:srgbClr val="4D4F53"/>
                  </a:solidFill>
                </a:rPr>
                <a:t>pondéré</a:t>
              </a:r>
              <a:endParaRPr lang="fr-FR" sz="1100" dirty="0">
                <a:solidFill>
                  <a:srgbClr val="4D4F53"/>
                </a:solidFill>
              </a:endParaRPr>
            </a:p>
            <a:p>
              <a:pPr>
                <a:lnSpc>
                  <a:spcPct val="150000"/>
                </a:lnSpc>
              </a:pPr>
              <a:r>
                <a:rPr lang="fr-FR" sz="1100" dirty="0" smtClean="0">
                  <a:solidFill>
                    <a:srgbClr val="4D4F53"/>
                  </a:solidFill>
                </a:rPr>
                <a:t>Sauvegarder</a:t>
              </a:r>
              <a:endParaRPr lang="fr-FR" sz="1100" dirty="0">
                <a:solidFill>
                  <a:srgbClr val="4D4F53"/>
                </a:solidFill>
              </a:endParaRPr>
            </a:p>
          </p:txBody>
        </p:sp>
        <p:sp>
          <p:nvSpPr>
            <p:cNvPr id="6" name="Ellipse 5"/>
            <p:cNvSpPr/>
            <p:nvPr/>
          </p:nvSpPr>
          <p:spPr>
            <a:xfrm>
              <a:off x="4840740" y="15938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7" name="Ellipse 6"/>
            <p:cNvSpPr/>
            <p:nvPr/>
          </p:nvSpPr>
          <p:spPr>
            <a:xfrm>
              <a:off x="4840740" y="40436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8" name="Ellipse 7"/>
            <p:cNvSpPr/>
            <p:nvPr/>
          </p:nvSpPr>
          <p:spPr>
            <a:xfrm>
              <a:off x="4840740" y="63732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pic>
          <p:nvPicPr>
            <p:cNvPr id="30" name="Image 29"/>
            <p:cNvPicPr>
              <a:picLocks noChangeAspect="1"/>
            </p:cNvPicPr>
            <p:nvPr/>
          </p:nvPicPr>
          <p:blipFill>
            <a:blip r:embed="rId5"/>
            <a:stretch>
              <a:fillRect/>
            </a:stretch>
          </p:blipFill>
          <p:spPr>
            <a:xfrm>
              <a:off x="5794095" y="1075814"/>
              <a:ext cx="247650" cy="247650"/>
            </a:xfrm>
            <a:prstGeom prst="rect">
              <a:avLst/>
            </a:prstGeom>
          </p:spPr>
        </p:pic>
        <p:sp>
          <p:nvSpPr>
            <p:cNvPr id="31" name="Ellipse 30"/>
            <p:cNvSpPr/>
            <p:nvPr/>
          </p:nvSpPr>
          <p:spPr>
            <a:xfrm>
              <a:off x="4840740" y="88515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33" name="Ellipse 32"/>
            <p:cNvSpPr/>
            <p:nvPr/>
          </p:nvSpPr>
          <p:spPr>
            <a:xfrm>
              <a:off x="4840740" y="112220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pic>
        <p:nvPicPr>
          <p:cNvPr id="32" name="Image 31"/>
          <p:cNvPicPr>
            <a:picLocks noChangeAspect="1"/>
          </p:cNvPicPr>
          <p:nvPr/>
        </p:nvPicPr>
        <p:blipFill>
          <a:blip r:embed="rId6"/>
          <a:stretch>
            <a:fillRect/>
          </a:stretch>
        </p:blipFill>
        <p:spPr>
          <a:xfrm>
            <a:off x="6105546" y="4236888"/>
            <a:ext cx="1981200" cy="295275"/>
          </a:xfrm>
          <a:prstGeom prst="rect">
            <a:avLst/>
          </a:prstGeom>
          <a:ln>
            <a:solidFill>
              <a:schemeClr val="tx1"/>
            </a:solidFill>
          </a:ln>
          <a:effectLst>
            <a:outerShdw blurRad="50800" dist="38100" dir="2700000" algn="tl" rotWithShape="0">
              <a:prstClr val="black">
                <a:alpha val="40000"/>
              </a:prstClr>
            </a:outerShdw>
          </a:effectLst>
        </p:spPr>
      </p:pic>
      <p:sp>
        <p:nvSpPr>
          <p:cNvPr id="34" name="Rectangle 33"/>
          <p:cNvSpPr/>
          <p:nvPr/>
        </p:nvSpPr>
        <p:spPr>
          <a:xfrm>
            <a:off x="6319823" y="4252610"/>
            <a:ext cx="237937" cy="23488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5" name="Ellipse 34"/>
          <p:cNvSpPr/>
          <p:nvPr/>
        </p:nvSpPr>
        <p:spPr>
          <a:xfrm>
            <a:off x="5959402" y="430723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cxnSp>
        <p:nvCxnSpPr>
          <p:cNvPr id="18" name="Connecteur droit avec flèche 17"/>
          <p:cNvCxnSpPr/>
          <p:nvPr/>
        </p:nvCxnSpPr>
        <p:spPr>
          <a:xfrm flipH="1">
            <a:off x="6024744" y="4091528"/>
            <a:ext cx="1" cy="216000"/>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6" name="Ellipse 25"/>
          <p:cNvSpPr/>
          <p:nvPr/>
        </p:nvSpPr>
        <p:spPr>
          <a:xfrm>
            <a:off x="2587300" y="275598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Tree>
    <p:extLst>
      <p:ext uri="{BB962C8B-B14F-4D97-AF65-F5344CB8AC3E}">
        <p14:creationId xmlns:p14="http://schemas.microsoft.com/office/powerpoint/2010/main" val="15527732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6" y="1058111"/>
            <a:ext cx="2540288" cy="756458"/>
          </a:xfrm>
          <a:prstGeom prst="rect">
            <a:avLst/>
          </a:prstGeom>
          <a:noFill/>
          <a:ln w="12700" algn="ctr">
            <a:noFill/>
            <a:miter lim="800000"/>
            <a:headEnd/>
            <a:tailEnd/>
          </a:ln>
        </p:spPr>
        <p:txBody>
          <a:bodyPr wrap="square"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a:t>
            </a:r>
            <a:r>
              <a:rPr lang="fr-FR" sz="1350" dirty="0">
                <a:solidFill>
                  <a:srgbClr val="4F81BD"/>
                </a:solidFill>
                <a:latin typeface="Arial Narrow" pitchFamily="34" charset="0"/>
                <a:ea typeface="ＭＳ Ｐゴシック"/>
                <a:cs typeface="ＭＳ Ｐゴシック"/>
              </a:rPr>
              <a:t>un article (pièce de rechange, acheté, géré par lots)</a:t>
            </a:r>
            <a:endParaRPr lang="fr-FR" sz="1350" dirty="0" smtClean="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3"/>
          <a:stretch>
            <a:fillRect/>
          </a:stretch>
        </p:blipFill>
        <p:spPr>
          <a:xfrm>
            <a:off x="249609" y="1141413"/>
            <a:ext cx="2181777" cy="1157406"/>
          </a:xfrm>
          <a:prstGeom prst="rect">
            <a:avLst/>
          </a:prstGeom>
          <a:ln>
            <a:solidFill>
              <a:schemeClr val="tx1"/>
            </a:solidFill>
          </a:ln>
          <a:effectLst>
            <a:outerShdw blurRad="50800" dist="38100" dir="2700000" algn="tl" rotWithShape="0">
              <a:prstClr val="black">
                <a:alpha val="40000"/>
              </a:prstClr>
            </a:outerShdw>
          </a:effectLst>
        </p:spPr>
      </p:pic>
      <p:sp>
        <p:nvSpPr>
          <p:cNvPr id="2" name="Titre 1"/>
          <p:cNvSpPr>
            <a:spLocks noGrp="1"/>
          </p:cNvSpPr>
          <p:nvPr>
            <p:ph type="title"/>
          </p:nvPr>
        </p:nvSpPr>
        <p:spPr>
          <a:xfrm>
            <a:off x="457200" y="206375"/>
            <a:ext cx="4043363" cy="857250"/>
          </a:xfrm>
        </p:spPr>
        <p:txBody>
          <a:bodyPr>
            <a:normAutofit fontScale="90000"/>
          </a:bodyPr>
          <a:lstStyle/>
          <a:p>
            <a:r>
              <a:rPr lang="fr-FR" altLang="en-US" sz="2400" dirty="0"/>
              <a:t>Mode opératoire</a:t>
            </a:r>
            <a:br>
              <a:rPr lang="fr-FR" altLang="en-US" sz="2400" dirty="0"/>
            </a:br>
            <a:r>
              <a:rPr lang="fr-FR" altLang="en-US" dirty="0" smtClean="0"/>
              <a:t>MM01– </a:t>
            </a:r>
            <a:r>
              <a:rPr lang="fr-FR" altLang="en-US" dirty="0"/>
              <a:t>Créer un article (équipement, acheté, géré avec n° de série) 1/5</a:t>
            </a:r>
            <a:endParaRPr lang="en-US" dirty="0"/>
          </a:p>
        </p:txBody>
      </p:sp>
      <p:sp>
        <p:nvSpPr>
          <p:cNvPr id="31" name="Ellipse 30"/>
          <p:cNvSpPr/>
          <p:nvPr/>
        </p:nvSpPr>
        <p:spPr>
          <a:xfrm>
            <a:off x="103465" y="114141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pic>
        <p:nvPicPr>
          <p:cNvPr id="5" name="Image 4"/>
          <p:cNvPicPr>
            <a:picLocks noChangeAspect="1"/>
          </p:cNvPicPr>
          <p:nvPr/>
        </p:nvPicPr>
        <p:blipFill>
          <a:blip r:embed="rId4"/>
          <a:stretch>
            <a:fillRect/>
          </a:stretch>
        </p:blipFill>
        <p:spPr>
          <a:xfrm>
            <a:off x="2082688" y="1970533"/>
            <a:ext cx="1823325" cy="2495076"/>
          </a:xfrm>
          <a:prstGeom prst="rect">
            <a:avLst/>
          </a:prstGeom>
          <a:ln>
            <a:solidFill>
              <a:schemeClr val="tx1"/>
            </a:solidFill>
          </a:ln>
          <a:effectLst>
            <a:outerShdw blurRad="50800" dist="38100" dir="2700000" algn="tl" rotWithShape="0">
              <a:prstClr val="black">
                <a:alpha val="40000"/>
              </a:prstClr>
            </a:outerShdw>
          </a:effectLst>
        </p:spPr>
      </p:pic>
      <p:sp>
        <p:nvSpPr>
          <p:cNvPr id="32" name="Ellipse 31"/>
          <p:cNvSpPr/>
          <p:nvPr/>
        </p:nvSpPr>
        <p:spPr>
          <a:xfrm>
            <a:off x="1927265" y="427709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3" name="Rectangle 32"/>
          <p:cNvSpPr/>
          <p:nvPr/>
        </p:nvSpPr>
        <p:spPr>
          <a:xfrm>
            <a:off x="2099127" y="4301246"/>
            <a:ext cx="14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6" name="Rectangle 35"/>
          <p:cNvSpPr/>
          <p:nvPr/>
        </p:nvSpPr>
        <p:spPr>
          <a:xfrm>
            <a:off x="3066354" y="4301246"/>
            <a:ext cx="14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41" name="Image 40"/>
          <p:cNvPicPr>
            <a:picLocks noChangeAspect="1"/>
          </p:cNvPicPr>
          <p:nvPr/>
        </p:nvPicPr>
        <p:blipFill>
          <a:blip r:embed="rId5"/>
          <a:stretch>
            <a:fillRect/>
          </a:stretch>
        </p:blipFill>
        <p:spPr>
          <a:xfrm>
            <a:off x="4024233" y="3044015"/>
            <a:ext cx="2912490" cy="1972058"/>
          </a:xfrm>
          <a:prstGeom prst="rect">
            <a:avLst/>
          </a:prstGeom>
          <a:ln>
            <a:solidFill>
              <a:schemeClr val="tx1"/>
            </a:solidFill>
          </a:ln>
          <a:effectLst>
            <a:outerShdw blurRad="50800" dist="38100" dir="2700000" algn="tl" rotWithShape="0">
              <a:prstClr val="black">
                <a:alpha val="40000"/>
              </a:prstClr>
            </a:outerShdw>
          </a:effectLst>
        </p:spPr>
      </p:pic>
      <p:sp>
        <p:nvSpPr>
          <p:cNvPr id="43" name="Rectangle 42"/>
          <p:cNvSpPr/>
          <p:nvPr/>
        </p:nvSpPr>
        <p:spPr>
          <a:xfrm>
            <a:off x="5362116" y="4833386"/>
            <a:ext cx="14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4" name="Rectangle 43"/>
          <p:cNvSpPr/>
          <p:nvPr/>
        </p:nvSpPr>
        <p:spPr>
          <a:xfrm>
            <a:off x="4703773" y="3370273"/>
            <a:ext cx="21600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6" name="Rectangle 45"/>
          <p:cNvSpPr/>
          <p:nvPr/>
        </p:nvSpPr>
        <p:spPr>
          <a:xfrm>
            <a:off x="4712319" y="3756226"/>
            <a:ext cx="144000"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7" name="Rectangle 46"/>
          <p:cNvSpPr/>
          <p:nvPr/>
        </p:nvSpPr>
        <p:spPr>
          <a:xfrm>
            <a:off x="4703772" y="4005522"/>
            <a:ext cx="25200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9" name="Rectangle 48"/>
          <p:cNvSpPr/>
          <p:nvPr/>
        </p:nvSpPr>
        <p:spPr>
          <a:xfrm>
            <a:off x="4703773" y="3495996"/>
            <a:ext cx="21600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0" name="Rectangle 49"/>
          <p:cNvSpPr/>
          <p:nvPr/>
        </p:nvSpPr>
        <p:spPr>
          <a:xfrm>
            <a:off x="4699639" y="3622582"/>
            <a:ext cx="21600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1" name="Rectangle 50"/>
          <p:cNvSpPr/>
          <p:nvPr/>
        </p:nvSpPr>
        <p:spPr>
          <a:xfrm>
            <a:off x="4719437" y="3891534"/>
            <a:ext cx="144000"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grpSp>
        <p:nvGrpSpPr>
          <p:cNvPr id="25" name="Groupe 22"/>
          <p:cNvGrpSpPr/>
          <p:nvPr/>
        </p:nvGrpSpPr>
        <p:grpSpPr>
          <a:xfrm>
            <a:off x="4752959" y="2468"/>
            <a:ext cx="3933841" cy="2885405"/>
            <a:chOff x="4752959" y="2468"/>
            <a:chExt cx="3933841" cy="2885405"/>
          </a:xfrm>
        </p:grpSpPr>
        <p:sp>
          <p:nvSpPr>
            <p:cNvPr id="26" name="ZoneTexte 23"/>
            <p:cNvSpPr txBox="1"/>
            <p:nvPr/>
          </p:nvSpPr>
          <p:spPr>
            <a:xfrm>
              <a:off x="4842825" y="2468"/>
              <a:ext cx="3843975" cy="2885405"/>
            </a:xfrm>
            <a:prstGeom prst="rect">
              <a:avLst/>
            </a:prstGeom>
            <a:noFill/>
          </p:spPr>
          <p:txBody>
            <a:bodyPr wrap="square" rtlCol="0">
              <a:spAutoFit/>
            </a:bodyPr>
            <a:lstStyle/>
            <a:p>
              <a:pPr>
                <a:lnSpc>
                  <a:spcPct val="150000"/>
                </a:lnSpc>
              </a:pPr>
              <a:r>
                <a:rPr lang="fr-FR" sz="1100" dirty="0">
                  <a:solidFill>
                    <a:srgbClr val="4D4F53"/>
                  </a:solidFill>
                </a:rPr>
                <a:t>Saisir une </a:t>
              </a:r>
              <a:r>
                <a:rPr lang="fr-FR" sz="1100" dirty="0" smtClean="0">
                  <a:solidFill>
                    <a:srgbClr val="4D4F53"/>
                  </a:solidFill>
                </a:rPr>
                <a:t>Branche, </a:t>
              </a:r>
              <a:r>
                <a:rPr lang="fr-FR" sz="1100" dirty="0">
                  <a:solidFill>
                    <a:srgbClr val="4D4F53"/>
                  </a:solidFill>
                </a:rPr>
                <a:t>le </a:t>
              </a:r>
              <a:r>
                <a:rPr lang="fr-FR" sz="1100" dirty="0" smtClean="0">
                  <a:solidFill>
                    <a:srgbClr val="4D4F53"/>
                  </a:solidFill>
                </a:rPr>
                <a:t>Type </a:t>
              </a:r>
              <a:r>
                <a:rPr lang="fr-FR" sz="1100" dirty="0">
                  <a:solidFill>
                    <a:srgbClr val="4D4F53"/>
                  </a:solidFill>
                </a:rPr>
                <a:t>Article </a:t>
              </a:r>
              <a:endParaRPr lang="fr-FR" sz="1100" dirty="0" smtClean="0">
                <a:solidFill>
                  <a:srgbClr val="4D4F53"/>
                </a:solidFill>
              </a:endParaRPr>
            </a:p>
            <a:p>
              <a:pPr>
                <a:lnSpc>
                  <a:spcPct val="150000"/>
                </a:lnSpc>
              </a:pPr>
              <a:r>
                <a:rPr lang="fr-FR" sz="1100" dirty="0" smtClean="0">
                  <a:solidFill>
                    <a:srgbClr val="4D4F53"/>
                  </a:solidFill>
                </a:rPr>
                <a:t>Un </a:t>
              </a:r>
              <a:r>
                <a:rPr lang="fr-FR" sz="1100" dirty="0">
                  <a:solidFill>
                    <a:srgbClr val="4D4F53"/>
                  </a:solidFill>
                </a:rPr>
                <a:t>pop-up apparaît de </a:t>
              </a:r>
              <a:r>
                <a:rPr lang="fr-FR" sz="1100" dirty="0" smtClean="0">
                  <a:solidFill>
                    <a:srgbClr val="4D4F53"/>
                  </a:solidFill>
                </a:rPr>
                <a:t>« Sélection </a:t>
              </a:r>
              <a:r>
                <a:rPr lang="fr-FR" sz="1100" dirty="0">
                  <a:solidFill>
                    <a:srgbClr val="4D4F53"/>
                  </a:solidFill>
                </a:rPr>
                <a:t>des </a:t>
              </a:r>
              <a:r>
                <a:rPr lang="fr-FR" sz="1100" dirty="0" smtClean="0">
                  <a:solidFill>
                    <a:srgbClr val="4D4F53"/>
                  </a:solidFill>
                </a:rPr>
                <a:t>vues », </a:t>
              </a:r>
              <a:r>
                <a:rPr lang="fr-FR" sz="1100" dirty="0">
                  <a:solidFill>
                    <a:srgbClr val="4D4F53"/>
                  </a:solidFill>
                </a:rPr>
                <a:t>cliquer sur l'icône « Marquer tout »	</a:t>
              </a:r>
              <a:endParaRPr lang="fr-FR" sz="1100" dirty="0" smtClean="0">
                <a:solidFill>
                  <a:srgbClr val="4D4F53"/>
                </a:solidFill>
              </a:endParaRPr>
            </a:p>
            <a:p>
              <a:pPr>
                <a:lnSpc>
                  <a:spcPct val="150000"/>
                </a:lnSpc>
              </a:pPr>
              <a:r>
                <a:rPr lang="fr-FR" sz="1100" dirty="0" smtClean="0">
                  <a:solidFill>
                    <a:srgbClr val="4D4F53"/>
                  </a:solidFill>
                </a:rPr>
                <a:t>Cliquer sur </a:t>
              </a:r>
              <a:r>
                <a:rPr lang="fr-FR" sz="1100" dirty="0">
                  <a:solidFill>
                    <a:srgbClr val="4D4F53"/>
                  </a:solidFill>
                </a:rPr>
                <a:t>l'icône « Suite »</a:t>
              </a:r>
            </a:p>
            <a:p>
              <a:pPr>
                <a:lnSpc>
                  <a:spcPct val="150000"/>
                </a:lnSpc>
              </a:pPr>
              <a:r>
                <a:rPr lang="fr-FR" sz="1100" dirty="0" smtClean="0">
                  <a:solidFill>
                    <a:srgbClr val="4D4F53"/>
                  </a:solidFill>
                </a:rPr>
                <a:t>Dans </a:t>
              </a:r>
              <a:r>
                <a:rPr lang="fr-FR" sz="1100" dirty="0">
                  <a:solidFill>
                    <a:srgbClr val="4D4F53"/>
                  </a:solidFill>
                </a:rPr>
                <a:t>le second pop-up, saisir la </a:t>
              </a:r>
              <a:r>
                <a:rPr lang="fr-FR" sz="1100" dirty="0" smtClean="0">
                  <a:solidFill>
                    <a:srgbClr val="4D4F53"/>
                  </a:solidFill>
                </a:rPr>
                <a:t>Division</a:t>
              </a:r>
            </a:p>
            <a:p>
              <a:pPr>
                <a:lnSpc>
                  <a:spcPct val="150000"/>
                </a:lnSpc>
              </a:pPr>
              <a:r>
                <a:rPr lang="fr-FR" sz="1100" dirty="0" smtClean="0">
                  <a:solidFill>
                    <a:srgbClr val="4D4F53"/>
                  </a:solidFill>
                </a:rPr>
                <a:t>Saisir le Magasin, </a:t>
              </a:r>
            </a:p>
            <a:p>
              <a:pPr>
                <a:lnSpc>
                  <a:spcPct val="150000"/>
                </a:lnSpc>
              </a:pPr>
              <a:r>
                <a:rPr lang="fr-FR" sz="1100" dirty="0" smtClean="0">
                  <a:solidFill>
                    <a:srgbClr val="4D4F53"/>
                  </a:solidFill>
                </a:rPr>
                <a:t>Saisir l‘organisation commerciale, </a:t>
              </a:r>
            </a:p>
            <a:p>
              <a:pPr>
                <a:lnSpc>
                  <a:spcPct val="150000"/>
                </a:lnSpc>
              </a:pPr>
              <a:r>
                <a:rPr lang="fr-FR" sz="1100" dirty="0" smtClean="0">
                  <a:solidFill>
                    <a:srgbClr val="4D4F53"/>
                  </a:solidFill>
                </a:rPr>
                <a:t>Saisir le canal </a:t>
              </a:r>
              <a:r>
                <a:rPr lang="fr-FR" sz="1100" dirty="0">
                  <a:solidFill>
                    <a:srgbClr val="4D4F53"/>
                  </a:solidFill>
                </a:rPr>
                <a:t>de </a:t>
              </a:r>
              <a:r>
                <a:rPr lang="fr-FR" sz="1100" dirty="0" smtClean="0">
                  <a:solidFill>
                    <a:srgbClr val="4D4F53"/>
                  </a:solidFill>
                </a:rPr>
                <a:t>distribution, </a:t>
              </a:r>
            </a:p>
            <a:p>
              <a:pPr>
                <a:lnSpc>
                  <a:spcPct val="150000"/>
                </a:lnSpc>
              </a:pPr>
              <a:r>
                <a:rPr lang="fr-FR" sz="1100" dirty="0" smtClean="0">
                  <a:solidFill>
                    <a:srgbClr val="4D4F53"/>
                  </a:solidFill>
                </a:rPr>
                <a:t>Saisir le Numéro magasin, </a:t>
              </a:r>
            </a:p>
            <a:p>
              <a:pPr>
                <a:lnSpc>
                  <a:spcPct val="150000"/>
                </a:lnSpc>
              </a:pPr>
              <a:r>
                <a:rPr lang="fr-FR" sz="1100" dirty="0" smtClean="0">
                  <a:solidFill>
                    <a:srgbClr val="4D4F53"/>
                  </a:solidFill>
                </a:rPr>
                <a:t>Saisir le Type </a:t>
              </a:r>
              <a:r>
                <a:rPr lang="fr-FR" sz="1100" dirty="0">
                  <a:solidFill>
                    <a:srgbClr val="4D4F53"/>
                  </a:solidFill>
                </a:rPr>
                <a:t>de </a:t>
              </a:r>
              <a:r>
                <a:rPr lang="fr-FR" sz="1100" dirty="0" smtClean="0">
                  <a:solidFill>
                    <a:srgbClr val="4D4F53"/>
                  </a:solidFill>
                </a:rPr>
                <a:t>magasin</a:t>
              </a:r>
              <a:endParaRPr lang="fr-FR" sz="1100" dirty="0">
                <a:solidFill>
                  <a:srgbClr val="4D4F53"/>
                </a:solidFill>
              </a:endParaRPr>
            </a:p>
            <a:p>
              <a:pPr>
                <a:lnSpc>
                  <a:spcPct val="150000"/>
                </a:lnSpc>
              </a:pPr>
              <a:r>
                <a:rPr lang="fr-FR" sz="1100" dirty="0" smtClean="0">
                  <a:solidFill>
                    <a:srgbClr val="4D4F53"/>
                  </a:solidFill>
                </a:rPr>
                <a:t>Cliquer </a:t>
              </a:r>
              <a:r>
                <a:rPr lang="fr-FR" sz="1100" dirty="0">
                  <a:solidFill>
                    <a:srgbClr val="4D4F53"/>
                  </a:solidFill>
                </a:rPr>
                <a:t>sur l'icône </a:t>
              </a:r>
              <a:r>
                <a:rPr lang="fr-FR" sz="1100" dirty="0" smtClean="0">
                  <a:solidFill>
                    <a:srgbClr val="4D4F53"/>
                  </a:solidFill>
                </a:rPr>
                <a:t>« Suite »</a:t>
              </a:r>
              <a:endParaRPr lang="fr-FR" sz="1100" dirty="0">
                <a:solidFill>
                  <a:srgbClr val="4D4F53"/>
                </a:solidFill>
              </a:endParaRPr>
            </a:p>
          </p:txBody>
        </p:sp>
        <p:sp>
          <p:nvSpPr>
            <p:cNvPr id="30" name="Ellipse 26"/>
            <p:cNvSpPr/>
            <p:nvPr/>
          </p:nvSpPr>
          <p:spPr>
            <a:xfrm>
              <a:off x="4752959" y="11404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4" name="Ellipse 27"/>
            <p:cNvSpPr/>
            <p:nvPr/>
          </p:nvSpPr>
          <p:spPr>
            <a:xfrm>
              <a:off x="4752959" y="36677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pic>
          <p:nvPicPr>
            <p:cNvPr id="38" name="Image 28"/>
            <p:cNvPicPr>
              <a:picLocks noChangeAspect="1"/>
            </p:cNvPicPr>
            <p:nvPr/>
          </p:nvPicPr>
          <p:blipFill>
            <a:blip r:embed="rId6"/>
            <a:stretch>
              <a:fillRect/>
            </a:stretch>
          </p:blipFill>
          <p:spPr>
            <a:xfrm>
              <a:off x="6519437" y="898679"/>
              <a:ext cx="149824" cy="149824"/>
            </a:xfrm>
            <a:prstGeom prst="rect">
              <a:avLst/>
            </a:prstGeom>
            <a:ln>
              <a:solidFill>
                <a:schemeClr val="tx1"/>
              </a:solidFill>
            </a:ln>
            <a:effectLst>
              <a:outerShdw blurRad="50800" dist="38100" dir="2700000" algn="tl" rotWithShape="0">
                <a:prstClr val="black">
                  <a:alpha val="40000"/>
                </a:prstClr>
              </a:outerShdw>
            </a:effectLst>
          </p:spPr>
        </p:pic>
        <p:sp>
          <p:nvSpPr>
            <p:cNvPr id="52" name="Ellipse 34"/>
            <p:cNvSpPr/>
            <p:nvPr/>
          </p:nvSpPr>
          <p:spPr>
            <a:xfrm>
              <a:off x="4752959" y="112177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63" name="Ellipse 36"/>
            <p:cNvSpPr/>
            <p:nvPr/>
          </p:nvSpPr>
          <p:spPr>
            <a:xfrm>
              <a:off x="4752959" y="87398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pic>
          <p:nvPicPr>
            <p:cNvPr id="64" name="Image 38"/>
            <p:cNvPicPr>
              <a:picLocks noChangeAspect="1"/>
            </p:cNvPicPr>
            <p:nvPr/>
          </p:nvPicPr>
          <p:blipFill>
            <a:blip r:embed="rId6"/>
            <a:stretch>
              <a:fillRect/>
            </a:stretch>
          </p:blipFill>
          <p:spPr>
            <a:xfrm>
              <a:off x="6519437" y="2641657"/>
              <a:ext cx="149824" cy="149824"/>
            </a:xfrm>
            <a:prstGeom prst="rect">
              <a:avLst/>
            </a:prstGeom>
            <a:ln>
              <a:solidFill>
                <a:schemeClr val="tx1"/>
              </a:solidFill>
            </a:ln>
            <a:effectLst>
              <a:outerShdw blurRad="50800" dist="38100" dir="2700000" algn="tl" rotWithShape="0">
                <a:prstClr val="black">
                  <a:alpha val="40000"/>
                </a:prstClr>
              </a:outerShdw>
            </a:effectLst>
          </p:spPr>
        </p:pic>
        <p:pic>
          <p:nvPicPr>
            <p:cNvPr id="65" name="Image 39"/>
            <p:cNvPicPr>
              <a:picLocks noChangeAspect="1"/>
            </p:cNvPicPr>
            <p:nvPr/>
          </p:nvPicPr>
          <p:blipFill>
            <a:blip r:embed="rId7"/>
            <a:stretch>
              <a:fillRect/>
            </a:stretch>
          </p:blipFill>
          <p:spPr>
            <a:xfrm>
              <a:off x="6022826" y="635000"/>
              <a:ext cx="180975" cy="161925"/>
            </a:xfrm>
            <a:prstGeom prst="rect">
              <a:avLst/>
            </a:prstGeom>
          </p:spPr>
        </p:pic>
        <p:sp>
          <p:nvSpPr>
            <p:cNvPr id="71" name="Ellipse 41"/>
            <p:cNvSpPr/>
            <p:nvPr/>
          </p:nvSpPr>
          <p:spPr>
            <a:xfrm>
              <a:off x="4752959" y="160690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72" name="Ellipse 44"/>
            <p:cNvSpPr/>
            <p:nvPr/>
          </p:nvSpPr>
          <p:spPr>
            <a:xfrm>
              <a:off x="4752959" y="135912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73" name="Ellipse 47"/>
            <p:cNvSpPr/>
            <p:nvPr/>
          </p:nvSpPr>
          <p:spPr>
            <a:xfrm>
              <a:off x="4752959" y="211156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74" name="Ellipse 52"/>
            <p:cNvSpPr/>
            <p:nvPr/>
          </p:nvSpPr>
          <p:spPr>
            <a:xfrm>
              <a:off x="4752959" y="186377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7</a:t>
              </a:r>
              <a:endParaRPr lang="fr-FR" sz="900" b="1" dirty="0" smtClean="0">
                <a:solidFill>
                  <a:schemeClr val="bg1"/>
                </a:solidFill>
              </a:endParaRPr>
            </a:p>
          </p:txBody>
        </p:sp>
        <p:sp>
          <p:nvSpPr>
            <p:cNvPr id="75" name="Ellipse 53"/>
            <p:cNvSpPr/>
            <p:nvPr/>
          </p:nvSpPr>
          <p:spPr>
            <a:xfrm>
              <a:off x="4752959" y="263671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p>
          </p:txBody>
        </p:sp>
        <p:sp>
          <p:nvSpPr>
            <p:cNvPr id="76" name="Ellipse 54"/>
            <p:cNvSpPr/>
            <p:nvPr/>
          </p:nvSpPr>
          <p:spPr>
            <a:xfrm>
              <a:off x="4752959" y="238892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grpSp>
      <p:sp>
        <p:nvSpPr>
          <p:cNvPr id="67" name="Rectangle 66"/>
          <p:cNvSpPr/>
          <p:nvPr/>
        </p:nvSpPr>
        <p:spPr>
          <a:xfrm>
            <a:off x="1071005" y="2073832"/>
            <a:ext cx="893463" cy="11501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200" dirty="0" err="1" smtClean="0">
              <a:solidFill>
                <a:srgbClr val="4D4F53"/>
              </a:solidFill>
            </a:endParaRPr>
          </a:p>
        </p:txBody>
      </p:sp>
      <p:sp>
        <p:nvSpPr>
          <p:cNvPr id="68" name="Rectangle 67"/>
          <p:cNvSpPr/>
          <p:nvPr/>
        </p:nvSpPr>
        <p:spPr>
          <a:xfrm>
            <a:off x="1071005" y="1939515"/>
            <a:ext cx="893463" cy="1152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200" dirty="0" err="1" smtClean="0">
              <a:solidFill>
                <a:srgbClr val="4D4F53"/>
              </a:solidFill>
            </a:endParaRPr>
          </a:p>
        </p:txBody>
      </p:sp>
      <p:sp>
        <p:nvSpPr>
          <p:cNvPr id="58" name="Ellipse 57"/>
          <p:cNvSpPr/>
          <p:nvPr/>
        </p:nvSpPr>
        <p:spPr>
          <a:xfrm>
            <a:off x="4581419" y="324742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59" name="Ellipse 58"/>
          <p:cNvSpPr/>
          <p:nvPr/>
        </p:nvSpPr>
        <p:spPr>
          <a:xfrm>
            <a:off x="5197413" y="481362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endParaRPr lang="fr-FR" sz="800" b="1" dirty="0">
              <a:solidFill>
                <a:schemeClr val="bg1"/>
              </a:solidFill>
            </a:endParaRPr>
          </a:p>
        </p:txBody>
      </p:sp>
      <p:sp>
        <p:nvSpPr>
          <p:cNvPr id="60" name="Ellipse 59"/>
          <p:cNvSpPr/>
          <p:nvPr/>
        </p:nvSpPr>
        <p:spPr>
          <a:xfrm>
            <a:off x="4581419" y="341779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61" name="Ellipse 60"/>
          <p:cNvSpPr/>
          <p:nvPr/>
        </p:nvSpPr>
        <p:spPr>
          <a:xfrm>
            <a:off x="4581419" y="358972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62" name="Ellipse 61"/>
          <p:cNvSpPr/>
          <p:nvPr/>
        </p:nvSpPr>
        <p:spPr>
          <a:xfrm>
            <a:off x="4581419" y="371719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66" name="Ellipse 65"/>
          <p:cNvSpPr/>
          <p:nvPr/>
        </p:nvSpPr>
        <p:spPr>
          <a:xfrm>
            <a:off x="4950085" y="383876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69" name="Ellipse 68"/>
          <p:cNvSpPr/>
          <p:nvPr/>
        </p:nvSpPr>
        <p:spPr>
          <a:xfrm>
            <a:off x="5067183" y="398259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
        <p:nvSpPr>
          <p:cNvPr id="70" name="Ellipse 69"/>
          <p:cNvSpPr/>
          <p:nvPr/>
        </p:nvSpPr>
        <p:spPr>
          <a:xfrm>
            <a:off x="2938634" y="410894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Tree>
    <p:extLst>
      <p:ext uri="{BB962C8B-B14F-4D97-AF65-F5344CB8AC3E}">
        <p14:creationId xmlns:p14="http://schemas.microsoft.com/office/powerpoint/2010/main" val="40961012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nvPicPr>
        <p:blipFill rotWithShape="1">
          <a:blip r:embed="rId3"/>
          <a:srcRect l="1598" t="1284" r="11076" b="2155"/>
          <a:stretch/>
        </p:blipFill>
        <p:spPr>
          <a:xfrm>
            <a:off x="539750" y="1153867"/>
            <a:ext cx="3032392" cy="2589376"/>
          </a:xfrm>
          <a:prstGeom prst="rect">
            <a:avLst/>
          </a:prstGeom>
          <a:ln>
            <a:solidFill>
              <a:schemeClr val="tx1"/>
            </a:solidFill>
          </a:ln>
          <a:effectLst>
            <a:outerShdw blurRad="50800" dist="38100" dir="2700000" algn="tl" rotWithShape="0">
              <a:prstClr val="black">
                <a:alpha val="40000"/>
              </a:prstClr>
            </a:outerShdw>
          </a:effectLst>
        </p:spPr>
      </p:pic>
      <p:grpSp>
        <p:nvGrpSpPr>
          <p:cNvPr id="27" name="Groupe 26"/>
          <p:cNvGrpSpPr/>
          <p:nvPr/>
        </p:nvGrpSpPr>
        <p:grpSpPr>
          <a:xfrm>
            <a:off x="5112848" y="276222"/>
            <a:ext cx="3357139" cy="1615827"/>
            <a:chOff x="5493174" y="713093"/>
            <a:chExt cx="3357139" cy="1615827"/>
          </a:xfrm>
        </p:grpSpPr>
        <p:sp>
          <p:nvSpPr>
            <p:cNvPr id="5" name="ZoneTexte 4"/>
            <p:cNvSpPr txBox="1"/>
            <p:nvPr/>
          </p:nvSpPr>
          <p:spPr>
            <a:xfrm>
              <a:off x="5605097" y="713093"/>
              <a:ext cx="3245216" cy="1615827"/>
            </a:xfrm>
            <a:prstGeom prst="rect">
              <a:avLst/>
            </a:prstGeom>
            <a:noFill/>
          </p:spPr>
          <p:txBody>
            <a:bodyPr wrap="square" rtlCol="0">
              <a:spAutoFit/>
            </a:bodyPr>
            <a:lstStyle/>
            <a:p>
              <a:pPr>
                <a:lnSpc>
                  <a:spcPct val="150000"/>
                </a:lnSpc>
              </a:pPr>
              <a:r>
                <a:rPr lang="fr-FR" sz="1100" dirty="0" smtClean="0">
                  <a:solidFill>
                    <a:srgbClr val="4D4F53"/>
                  </a:solidFill>
                </a:rPr>
                <a:t>Onglet « Données </a:t>
              </a:r>
              <a:r>
                <a:rPr lang="fr-FR" sz="1100" dirty="0">
                  <a:solidFill>
                    <a:srgbClr val="4D4F53"/>
                  </a:solidFill>
                </a:rPr>
                <a:t>de base </a:t>
              </a:r>
              <a:r>
                <a:rPr lang="fr-FR" sz="1100" dirty="0" smtClean="0">
                  <a:solidFill>
                    <a:srgbClr val="4D4F53"/>
                  </a:solidFill>
                </a:rPr>
                <a:t>1 » </a:t>
              </a:r>
              <a:r>
                <a:rPr lang="fr-FR" sz="1100" dirty="0">
                  <a:solidFill>
                    <a:srgbClr val="4D4F53"/>
                  </a:solidFill>
                </a:rPr>
                <a:t>: saisir la </a:t>
              </a:r>
              <a:r>
                <a:rPr lang="fr-FR" sz="1100" dirty="0" smtClean="0">
                  <a:solidFill>
                    <a:srgbClr val="4D4F53"/>
                  </a:solidFill>
                </a:rPr>
                <a:t>Désignation article</a:t>
              </a:r>
            </a:p>
            <a:p>
              <a:pPr>
                <a:lnSpc>
                  <a:spcPct val="150000"/>
                </a:lnSpc>
              </a:pPr>
              <a:r>
                <a:rPr lang="fr-FR" sz="1100" dirty="0" smtClean="0">
                  <a:solidFill>
                    <a:srgbClr val="4D4F53"/>
                  </a:solidFill>
                </a:rPr>
                <a:t>Saisir l'Unité </a:t>
              </a:r>
              <a:r>
                <a:rPr lang="fr-FR" sz="1100" dirty="0">
                  <a:solidFill>
                    <a:srgbClr val="4D4F53"/>
                  </a:solidFill>
                </a:rPr>
                <a:t>de quantité de </a:t>
              </a:r>
              <a:r>
                <a:rPr lang="fr-FR" sz="1100" dirty="0" smtClean="0">
                  <a:solidFill>
                    <a:srgbClr val="4D4F53"/>
                  </a:solidFill>
                </a:rPr>
                <a:t>base</a:t>
              </a:r>
            </a:p>
            <a:p>
              <a:pPr>
                <a:lnSpc>
                  <a:spcPct val="150000"/>
                </a:lnSpc>
              </a:pPr>
              <a:r>
                <a:rPr lang="fr-FR" sz="1100" dirty="0" smtClean="0">
                  <a:solidFill>
                    <a:srgbClr val="4D4F53"/>
                  </a:solidFill>
                </a:rPr>
                <a:t>Saisir </a:t>
              </a:r>
              <a:r>
                <a:rPr lang="fr-FR" sz="1100" dirty="0">
                  <a:solidFill>
                    <a:srgbClr val="4D4F53"/>
                  </a:solidFill>
                </a:rPr>
                <a:t>le </a:t>
              </a:r>
              <a:r>
                <a:rPr lang="fr-FR" sz="1100" dirty="0" smtClean="0">
                  <a:solidFill>
                    <a:srgbClr val="4D4F53"/>
                  </a:solidFill>
                </a:rPr>
                <a:t>Groupe marchandises</a:t>
              </a:r>
              <a:endParaRPr lang="fr-FR" sz="1100" dirty="0">
                <a:solidFill>
                  <a:srgbClr val="4D4F53"/>
                </a:solidFill>
              </a:endParaRPr>
            </a:p>
            <a:p>
              <a:pPr>
                <a:lnSpc>
                  <a:spcPct val="150000"/>
                </a:lnSpc>
              </a:pPr>
              <a:r>
                <a:rPr lang="fr-FR" sz="1100" dirty="0" smtClean="0">
                  <a:solidFill>
                    <a:srgbClr val="4D4F53"/>
                  </a:solidFill>
                </a:rPr>
                <a:t>Onglet « Données </a:t>
              </a:r>
              <a:r>
                <a:rPr lang="fr-FR" sz="1100" dirty="0">
                  <a:solidFill>
                    <a:srgbClr val="4D4F53"/>
                  </a:solidFill>
                </a:rPr>
                <a:t>de base </a:t>
              </a:r>
              <a:r>
                <a:rPr lang="fr-FR" sz="1100" dirty="0" smtClean="0">
                  <a:solidFill>
                    <a:srgbClr val="4D4F53"/>
                  </a:solidFill>
                </a:rPr>
                <a:t>2 » </a:t>
              </a:r>
              <a:r>
                <a:rPr lang="fr-FR" sz="1100" dirty="0">
                  <a:solidFill>
                    <a:srgbClr val="4D4F53"/>
                  </a:solidFill>
                </a:rPr>
                <a:t>: saisir si la marchandise est dangereuse dans le champ </a:t>
              </a:r>
              <a:r>
                <a:rPr lang="fr-FR" sz="1100" dirty="0" smtClean="0">
                  <a:solidFill>
                    <a:srgbClr val="4D4F53"/>
                  </a:solidFill>
                </a:rPr>
                <a:t>Matière</a:t>
              </a:r>
              <a:endParaRPr lang="fr-FR" sz="1100" dirty="0">
                <a:solidFill>
                  <a:srgbClr val="4D4F53"/>
                </a:solidFill>
              </a:endParaRPr>
            </a:p>
          </p:txBody>
        </p:sp>
        <p:sp>
          <p:nvSpPr>
            <p:cNvPr id="12" name="Ellipse 11"/>
            <p:cNvSpPr/>
            <p:nvPr/>
          </p:nvSpPr>
          <p:spPr>
            <a:xfrm>
              <a:off x="5493174" y="83977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3" name="Ellipse 12"/>
            <p:cNvSpPr/>
            <p:nvPr/>
          </p:nvSpPr>
          <p:spPr>
            <a:xfrm>
              <a:off x="5496277" y="158611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
          <p:nvSpPr>
            <p:cNvPr id="18" name="Ellipse 17"/>
            <p:cNvSpPr/>
            <p:nvPr/>
          </p:nvSpPr>
          <p:spPr>
            <a:xfrm>
              <a:off x="5496277" y="131676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9" name="Ellipse 18"/>
            <p:cNvSpPr/>
            <p:nvPr/>
          </p:nvSpPr>
          <p:spPr>
            <a:xfrm>
              <a:off x="5496277" y="181791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grpSp>
      <p:sp>
        <p:nvSpPr>
          <p:cNvPr id="35" name="Rectangle 34"/>
          <p:cNvSpPr/>
          <p:nvPr/>
        </p:nvSpPr>
        <p:spPr>
          <a:xfrm>
            <a:off x="1694210" y="1394049"/>
            <a:ext cx="158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200" dirty="0" err="1" smtClean="0">
              <a:solidFill>
                <a:srgbClr val="4D4F53"/>
              </a:solidFill>
            </a:endParaRPr>
          </a:p>
        </p:txBody>
      </p:sp>
      <p:sp>
        <p:nvSpPr>
          <p:cNvPr id="36" name="Ellipse 35"/>
          <p:cNvSpPr/>
          <p:nvPr/>
        </p:nvSpPr>
        <p:spPr>
          <a:xfrm>
            <a:off x="1565177" y="139404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fr-FR" sz="900" b="1" dirty="0" smtClean="0">
                <a:solidFill>
                  <a:schemeClr val="bg1"/>
                </a:solidFill>
              </a:rPr>
              <a:t>1</a:t>
            </a:r>
          </a:p>
        </p:txBody>
      </p:sp>
      <p:sp>
        <p:nvSpPr>
          <p:cNvPr id="37" name="Rectangle 36"/>
          <p:cNvSpPr/>
          <p:nvPr/>
        </p:nvSpPr>
        <p:spPr>
          <a:xfrm>
            <a:off x="2717653" y="1766768"/>
            <a:ext cx="350287"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9" name="Rectangle 38"/>
          <p:cNvSpPr/>
          <p:nvPr/>
        </p:nvSpPr>
        <p:spPr>
          <a:xfrm>
            <a:off x="1362522" y="1766768"/>
            <a:ext cx="180000"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4" name="Titre 1"/>
          <p:cNvSpPr>
            <a:spLocks noGrp="1"/>
          </p:cNvSpPr>
          <p:nvPr>
            <p:ph type="title"/>
          </p:nvPr>
        </p:nvSpPr>
        <p:spPr>
          <a:xfrm>
            <a:off x="457200" y="206375"/>
            <a:ext cx="4043363" cy="857250"/>
          </a:xfrm>
        </p:spPr>
        <p:txBody>
          <a:bodyPr>
            <a:normAutofit fontScale="90000"/>
          </a:bodyPr>
          <a:lstStyle/>
          <a:p>
            <a:r>
              <a:rPr lang="fr-FR" altLang="en-US" sz="2400" dirty="0"/>
              <a:t>Mode opératoire</a:t>
            </a:r>
            <a:br>
              <a:rPr lang="fr-FR" altLang="en-US" sz="2400" dirty="0"/>
            </a:br>
            <a:r>
              <a:rPr lang="fr-FR" altLang="en-US" dirty="0" smtClean="0"/>
              <a:t>MM01– </a:t>
            </a:r>
            <a:r>
              <a:rPr lang="fr-FR" altLang="en-US" dirty="0"/>
              <a:t>Créer un article (équipement, acheté, géré avec n° de série) </a:t>
            </a:r>
            <a:r>
              <a:rPr lang="fr-FR" altLang="en-US" dirty="0" smtClean="0"/>
              <a:t>2/5</a:t>
            </a:r>
            <a:endParaRPr lang="en-US" dirty="0"/>
          </a:p>
        </p:txBody>
      </p:sp>
      <p:pic>
        <p:nvPicPr>
          <p:cNvPr id="4" name="Image 3"/>
          <p:cNvPicPr>
            <a:picLocks noChangeAspect="1"/>
          </p:cNvPicPr>
          <p:nvPr/>
        </p:nvPicPr>
        <p:blipFill>
          <a:blip r:embed="rId4"/>
          <a:stretch>
            <a:fillRect/>
          </a:stretch>
        </p:blipFill>
        <p:spPr>
          <a:xfrm>
            <a:off x="4581249" y="2231702"/>
            <a:ext cx="3084114" cy="2228260"/>
          </a:xfrm>
          <a:prstGeom prst="rect">
            <a:avLst/>
          </a:prstGeom>
          <a:ln>
            <a:solidFill>
              <a:schemeClr val="tx1"/>
            </a:solidFill>
          </a:ln>
          <a:effectLst>
            <a:outerShdw blurRad="50800" dist="38100" dir="2700000" algn="tl" rotWithShape="0">
              <a:prstClr val="black">
                <a:alpha val="40000"/>
              </a:prstClr>
            </a:outerShdw>
          </a:effectLst>
        </p:spPr>
      </p:pic>
      <p:sp>
        <p:nvSpPr>
          <p:cNvPr id="57" name="Rectangle 56"/>
          <p:cNvSpPr/>
          <p:nvPr/>
        </p:nvSpPr>
        <p:spPr>
          <a:xfrm>
            <a:off x="5401677" y="2987451"/>
            <a:ext cx="176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20" name="Connecteur en angle 19"/>
          <p:cNvCxnSpPr/>
          <p:nvPr/>
        </p:nvCxnSpPr>
        <p:spPr>
          <a:xfrm rot="10800000" flipH="1" flipV="1">
            <a:off x="5410223" y="3093635"/>
            <a:ext cx="165046" cy="691368"/>
          </a:xfrm>
          <a:prstGeom prst="bentConnector4">
            <a:avLst>
              <a:gd name="adj1" fmla="val -138507"/>
              <a:gd name="adj2" fmla="val 10094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40" name="Ellipse 39"/>
          <p:cNvSpPr/>
          <p:nvPr/>
        </p:nvSpPr>
        <p:spPr>
          <a:xfrm>
            <a:off x="1233489" y="176676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1" name="Ellipse 20"/>
          <p:cNvSpPr/>
          <p:nvPr/>
        </p:nvSpPr>
        <p:spPr>
          <a:xfrm>
            <a:off x="2567706" y="176676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
        <p:nvSpPr>
          <p:cNvPr id="22" name="Ellipse 21"/>
          <p:cNvSpPr/>
          <p:nvPr/>
        </p:nvSpPr>
        <p:spPr>
          <a:xfrm>
            <a:off x="5264079" y="301800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cxnSp>
        <p:nvCxnSpPr>
          <p:cNvPr id="7" name="Connecteur en angle 6"/>
          <p:cNvCxnSpPr>
            <a:stCxn id="9" idx="3"/>
            <a:endCxn id="4" idx="1"/>
          </p:cNvCxnSpPr>
          <p:nvPr/>
        </p:nvCxnSpPr>
        <p:spPr>
          <a:xfrm>
            <a:off x="3572142" y="2448555"/>
            <a:ext cx="1009107" cy="897277"/>
          </a:xfrm>
          <a:prstGeom prst="bentConnector3">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25435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4872486" y="1458665"/>
            <a:ext cx="3607289" cy="1054157"/>
          </a:xfrm>
          <a:prstGeom prst="rect">
            <a:avLst/>
          </a:prstGeom>
          <a:ln>
            <a:solidFill>
              <a:schemeClr val="tx1"/>
            </a:solidFill>
          </a:ln>
          <a:effectLst>
            <a:outerShdw blurRad="50800" dist="38100" dir="2700000" algn="tl" rotWithShape="0">
              <a:prstClr val="black">
                <a:alpha val="40000"/>
              </a:prstClr>
            </a:outerShdw>
          </a:effectLst>
        </p:spPr>
      </p:pic>
      <p:pic>
        <p:nvPicPr>
          <p:cNvPr id="4" name="Image 3"/>
          <p:cNvPicPr>
            <a:picLocks noChangeAspect="1"/>
          </p:cNvPicPr>
          <p:nvPr/>
        </p:nvPicPr>
        <p:blipFill rotWithShape="1">
          <a:blip r:embed="rId3"/>
          <a:srcRect r="5034"/>
          <a:stretch/>
        </p:blipFill>
        <p:spPr>
          <a:xfrm>
            <a:off x="4127241" y="529150"/>
            <a:ext cx="3858676" cy="767035"/>
          </a:xfrm>
          <a:prstGeom prst="rect">
            <a:avLst/>
          </a:prstGeom>
          <a:ln>
            <a:solidFill>
              <a:schemeClr val="tx1"/>
            </a:solidFill>
          </a:ln>
          <a:effectLst>
            <a:outerShdw blurRad="50800" dist="38100" dir="2700000" algn="tl" rotWithShape="0">
              <a:prstClr val="black">
                <a:alpha val="40000"/>
              </a:prstClr>
            </a:outerShdw>
          </a:effectLst>
        </p:spPr>
      </p:pic>
      <p:sp>
        <p:nvSpPr>
          <p:cNvPr id="13" name="ZoneTexte 12"/>
          <p:cNvSpPr txBox="1"/>
          <p:nvPr/>
        </p:nvSpPr>
        <p:spPr>
          <a:xfrm>
            <a:off x="475983" y="1522136"/>
            <a:ext cx="3843975" cy="2885405"/>
          </a:xfrm>
          <a:prstGeom prst="rect">
            <a:avLst/>
          </a:prstGeom>
          <a:noFill/>
        </p:spPr>
        <p:txBody>
          <a:bodyPr wrap="square" rtlCol="0">
            <a:spAutoFit/>
          </a:bodyPr>
          <a:lstStyle/>
          <a:p>
            <a:pPr>
              <a:lnSpc>
                <a:spcPct val="150000"/>
              </a:lnSpc>
            </a:pPr>
            <a:r>
              <a:rPr lang="fr-FR" sz="1100" dirty="0" smtClean="0">
                <a:solidFill>
                  <a:srgbClr val="4D4F53"/>
                </a:solidFill>
              </a:rPr>
              <a:t>Onglet « ADV </a:t>
            </a:r>
            <a:r>
              <a:rPr lang="fr-FR" sz="1100" dirty="0">
                <a:solidFill>
                  <a:srgbClr val="4D4F53"/>
                </a:solidFill>
              </a:rPr>
              <a:t>: </a:t>
            </a:r>
            <a:r>
              <a:rPr lang="fr-FR" sz="1100" dirty="0" err="1">
                <a:solidFill>
                  <a:srgbClr val="4D4F53"/>
                </a:solidFill>
              </a:rPr>
              <a:t>org</a:t>
            </a:r>
            <a:r>
              <a:rPr lang="fr-FR" sz="1100" dirty="0">
                <a:solidFill>
                  <a:srgbClr val="4D4F53"/>
                </a:solidFill>
              </a:rPr>
              <a:t>. </a:t>
            </a:r>
            <a:r>
              <a:rPr lang="fr-FR" sz="1100" dirty="0" err="1">
                <a:solidFill>
                  <a:srgbClr val="4D4F53"/>
                </a:solidFill>
              </a:rPr>
              <a:t>commerc</a:t>
            </a:r>
            <a:r>
              <a:rPr lang="fr-FR" sz="1100" dirty="0">
                <a:solidFill>
                  <a:srgbClr val="4D4F53"/>
                </a:solidFill>
              </a:rPr>
              <a:t>. </a:t>
            </a:r>
            <a:r>
              <a:rPr lang="fr-FR" sz="1100" dirty="0" smtClean="0">
                <a:solidFill>
                  <a:srgbClr val="4D4F53"/>
                </a:solidFill>
              </a:rPr>
              <a:t>1 » </a:t>
            </a:r>
            <a:br>
              <a:rPr lang="fr-FR" sz="1100" dirty="0" smtClean="0">
                <a:solidFill>
                  <a:srgbClr val="4D4F53"/>
                </a:solidFill>
              </a:rPr>
            </a:br>
            <a:r>
              <a:rPr lang="fr-FR" sz="1100" dirty="0" smtClean="0">
                <a:solidFill>
                  <a:srgbClr val="4D4F53"/>
                </a:solidFill>
              </a:rPr>
              <a:t>Entrer </a:t>
            </a:r>
            <a:r>
              <a:rPr lang="fr-FR" sz="1100" dirty="0">
                <a:solidFill>
                  <a:srgbClr val="4D4F53"/>
                </a:solidFill>
              </a:rPr>
              <a:t>les "Classifications fiscales" pours les différents pays </a:t>
            </a:r>
          </a:p>
          <a:p>
            <a:pPr>
              <a:lnSpc>
                <a:spcPct val="150000"/>
              </a:lnSpc>
            </a:pPr>
            <a:r>
              <a:rPr lang="fr-FR" sz="1100" dirty="0" smtClean="0">
                <a:solidFill>
                  <a:srgbClr val="4D4F53"/>
                </a:solidFill>
              </a:rPr>
              <a:t>Onglet « ADV </a:t>
            </a:r>
            <a:r>
              <a:rPr lang="fr-FR" sz="1100" dirty="0">
                <a:solidFill>
                  <a:srgbClr val="4D4F53"/>
                </a:solidFill>
              </a:rPr>
              <a:t>: </a:t>
            </a:r>
            <a:r>
              <a:rPr lang="fr-FR" sz="1100" dirty="0" err="1">
                <a:solidFill>
                  <a:srgbClr val="4D4F53"/>
                </a:solidFill>
              </a:rPr>
              <a:t>org</a:t>
            </a:r>
            <a:r>
              <a:rPr lang="fr-FR" sz="1100" dirty="0">
                <a:solidFill>
                  <a:srgbClr val="4D4F53"/>
                </a:solidFill>
              </a:rPr>
              <a:t>. </a:t>
            </a:r>
            <a:r>
              <a:rPr lang="fr-FR" sz="1100" dirty="0" err="1">
                <a:solidFill>
                  <a:srgbClr val="4D4F53"/>
                </a:solidFill>
              </a:rPr>
              <a:t>commerc</a:t>
            </a:r>
            <a:r>
              <a:rPr lang="fr-FR" sz="1100" dirty="0">
                <a:solidFill>
                  <a:srgbClr val="4D4F53"/>
                </a:solidFill>
              </a:rPr>
              <a:t>. </a:t>
            </a:r>
            <a:r>
              <a:rPr lang="fr-FR" sz="1100" dirty="0" smtClean="0">
                <a:solidFill>
                  <a:srgbClr val="4D4F53"/>
                </a:solidFill>
              </a:rPr>
              <a:t>2 »</a:t>
            </a:r>
            <a:br>
              <a:rPr lang="fr-FR" sz="1100" dirty="0" smtClean="0">
                <a:solidFill>
                  <a:srgbClr val="4D4F53"/>
                </a:solidFill>
              </a:rPr>
            </a:br>
            <a:r>
              <a:rPr lang="fr-FR" sz="1100" dirty="0" smtClean="0">
                <a:solidFill>
                  <a:srgbClr val="4D4F53"/>
                </a:solidFill>
              </a:rPr>
              <a:t>Entrer </a:t>
            </a:r>
            <a:r>
              <a:rPr lang="fr-FR" sz="1100" dirty="0">
                <a:solidFill>
                  <a:srgbClr val="4D4F53"/>
                </a:solidFill>
              </a:rPr>
              <a:t>le </a:t>
            </a:r>
            <a:r>
              <a:rPr lang="fr-FR" sz="1100" dirty="0" err="1" smtClean="0">
                <a:solidFill>
                  <a:srgbClr val="4D4F53"/>
                </a:solidFill>
              </a:rPr>
              <a:t>Grpe</a:t>
            </a:r>
            <a:r>
              <a:rPr lang="fr-FR" sz="1100" dirty="0" smtClean="0">
                <a:solidFill>
                  <a:srgbClr val="4D4F53"/>
                </a:solidFill>
              </a:rPr>
              <a:t> </a:t>
            </a:r>
            <a:r>
              <a:rPr lang="fr-FR" sz="1100" dirty="0">
                <a:solidFill>
                  <a:srgbClr val="4D4F53"/>
                </a:solidFill>
              </a:rPr>
              <a:t>Types de </a:t>
            </a:r>
            <a:r>
              <a:rPr lang="fr-FR" sz="1100" dirty="0" smtClean="0">
                <a:solidFill>
                  <a:srgbClr val="4D4F53"/>
                </a:solidFill>
              </a:rPr>
              <a:t>poste</a:t>
            </a:r>
            <a:endParaRPr lang="fr-FR" sz="1100" dirty="0">
              <a:solidFill>
                <a:srgbClr val="4D4F53"/>
              </a:solidFill>
            </a:endParaRPr>
          </a:p>
          <a:p>
            <a:pPr>
              <a:lnSpc>
                <a:spcPct val="150000"/>
              </a:lnSpc>
            </a:pPr>
            <a:r>
              <a:rPr lang="fr-FR" sz="1100" dirty="0" smtClean="0">
                <a:solidFill>
                  <a:srgbClr val="4D4F53"/>
                </a:solidFill>
              </a:rPr>
              <a:t>Onglet « ADV </a:t>
            </a:r>
            <a:r>
              <a:rPr lang="fr-FR" sz="1100" dirty="0">
                <a:solidFill>
                  <a:srgbClr val="4D4F53"/>
                </a:solidFill>
              </a:rPr>
              <a:t>: données </a:t>
            </a:r>
            <a:r>
              <a:rPr lang="fr-FR" sz="1100" dirty="0" err="1">
                <a:solidFill>
                  <a:srgbClr val="4D4F53"/>
                </a:solidFill>
              </a:rPr>
              <a:t>gén</a:t>
            </a:r>
            <a:r>
              <a:rPr lang="fr-FR" sz="1100" dirty="0">
                <a:solidFill>
                  <a:srgbClr val="4D4F53"/>
                </a:solidFill>
              </a:rPr>
              <a:t>./</a:t>
            </a:r>
            <a:r>
              <a:rPr lang="fr-FR" sz="1100" dirty="0" smtClean="0">
                <a:solidFill>
                  <a:srgbClr val="4D4F53"/>
                </a:solidFill>
              </a:rPr>
              <a:t>div » </a:t>
            </a:r>
            <a:r>
              <a:rPr lang="fr-FR" sz="1100" dirty="0">
                <a:solidFill>
                  <a:srgbClr val="4D4F53"/>
                </a:solidFill>
              </a:rPr>
              <a:t/>
            </a:r>
            <a:br>
              <a:rPr lang="fr-FR" sz="1100" dirty="0">
                <a:solidFill>
                  <a:srgbClr val="4D4F53"/>
                </a:solidFill>
              </a:rPr>
            </a:br>
            <a:r>
              <a:rPr lang="fr-FR" sz="1100" dirty="0" smtClean="0">
                <a:solidFill>
                  <a:srgbClr val="4D4F53"/>
                </a:solidFill>
              </a:rPr>
              <a:t>Saisir </a:t>
            </a:r>
            <a:r>
              <a:rPr lang="fr-FR" sz="1100" dirty="0">
                <a:solidFill>
                  <a:srgbClr val="4D4F53"/>
                </a:solidFill>
              </a:rPr>
              <a:t>le </a:t>
            </a:r>
            <a:r>
              <a:rPr lang="fr-FR" sz="1100" dirty="0" smtClean="0">
                <a:solidFill>
                  <a:srgbClr val="4D4F53"/>
                </a:solidFill>
              </a:rPr>
              <a:t>Contrôle </a:t>
            </a:r>
            <a:r>
              <a:rPr lang="fr-FR" sz="1100" dirty="0">
                <a:solidFill>
                  <a:srgbClr val="4D4F53"/>
                </a:solidFill>
              </a:rPr>
              <a:t>des </a:t>
            </a:r>
            <a:r>
              <a:rPr lang="fr-FR" sz="1100" dirty="0" smtClean="0">
                <a:solidFill>
                  <a:srgbClr val="4D4F53"/>
                </a:solidFill>
              </a:rPr>
              <a:t>disponibilité</a:t>
            </a:r>
          </a:p>
          <a:p>
            <a:pPr>
              <a:lnSpc>
                <a:spcPct val="150000"/>
              </a:lnSpc>
            </a:pPr>
            <a:r>
              <a:rPr lang="fr-FR" sz="1100" dirty="0" smtClean="0">
                <a:solidFill>
                  <a:srgbClr val="4D4F53"/>
                </a:solidFill>
              </a:rPr>
              <a:t>Indiquer </a:t>
            </a:r>
            <a:r>
              <a:rPr lang="fr-FR" sz="1100" dirty="0">
                <a:solidFill>
                  <a:srgbClr val="4D4F53"/>
                </a:solidFill>
              </a:rPr>
              <a:t>un </a:t>
            </a:r>
            <a:r>
              <a:rPr lang="fr-FR" sz="1100" dirty="0" smtClean="0">
                <a:solidFill>
                  <a:srgbClr val="4D4F53"/>
                </a:solidFill>
              </a:rPr>
              <a:t>Groupe </a:t>
            </a:r>
            <a:r>
              <a:rPr lang="fr-FR" sz="1100" dirty="0">
                <a:solidFill>
                  <a:srgbClr val="4D4F53"/>
                </a:solidFill>
              </a:rPr>
              <a:t>de </a:t>
            </a:r>
            <a:r>
              <a:rPr lang="fr-FR" sz="1100" dirty="0" smtClean="0">
                <a:solidFill>
                  <a:srgbClr val="4D4F53"/>
                </a:solidFill>
              </a:rPr>
              <a:t>transport</a:t>
            </a:r>
          </a:p>
          <a:p>
            <a:pPr>
              <a:lnSpc>
                <a:spcPct val="150000"/>
              </a:lnSpc>
            </a:pPr>
            <a:r>
              <a:rPr lang="fr-FR" sz="1100" dirty="0" smtClean="0">
                <a:solidFill>
                  <a:srgbClr val="4D4F53"/>
                </a:solidFill>
              </a:rPr>
              <a:t>Indiquer un Groupe </a:t>
            </a:r>
            <a:r>
              <a:rPr lang="fr-FR" sz="1100" dirty="0">
                <a:solidFill>
                  <a:srgbClr val="4D4F53"/>
                </a:solidFill>
              </a:rPr>
              <a:t>de </a:t>
            </a:r>
            <a:r>
              <a:rPr lang="fr-FR" sz="1100" dirty="0" smtClean="0">
                <a:solidFill>
                  <a:srgbClr val="4D4F53"/>
                </a:solidFill>
              </a:rPr>
              <a:t>chargement</a:t>
            </a:r>
          </a:p>
          <a:p>
            <a:pPr>
              <a:lnSpc>
                <a:spcPct val="150000"/>
              </a:lnSpc>
            </a:pPr>
            <a:r>
              <a:rPr lang="fr-FR" sz="1100" dirty="0" smtClean="0">
                <a:solidFill>
                  <a:srgbClr val="4D4F53"/>
                </a:solidFill>
              </a:rPr>
              <a:t>Saisir </a:t>
            </a:r>
            <a:r>
              <a:rPr lang="fr-FR" sz="1100" dirty="0">
                <a:solidFill>
                  <a:srgbClr val="4D4F53"/>
                </a:solidFill>
              </a:rPr>
              <a:t>un </a:t>
            </a:r>
            <a:r>
              <a:rPr lang="fr-FR" sz="1100" dirty="0" smtClean="0">
                <a:solidFill>
                  <a:srgbClr val="4D4F53"/>
                </a:solidFill>
              </a:rPr>
              <a:t>Groupe </a:t>
            </a:r>
            <a:r>
              <a:rPr lang="fr-FR" sz="1100" dirty="0">
                <a:solidFill>
                  <a:srgbClr val="4D4F53"/>
                </a:solidFill>
              </a:rPr>
              <a:t>Article Emballage </a:t>
            </a:r>
            <a:r>
              <a:rPr lang="fr-FR" sz="1100" dirty="0" smtClean="0">
                <a:solidFill>
                  <a:srgbClr val="4D4F53"/>
                </a:solidFill>
              </a:rPr>
              <a:t>Expédition</a:t>
            </a:r>
          </a:p>
          <a:p>
            <a:pPr>
              <a:lnSpc>
                <a:spcPct val="150000"/>
              </a:lnSpc>
            </a:pPr>
            <a:r>
              <a:rPr lang="fr-FR" sz="1100" dirty="0" smtClean="0">
                <a:solidFill>
                  <a:srgbClr val="4D4F53"/>
                </a:solidFill>
              </a:rPr>
              <a:t>Dans </a:t>
            </a:r>
            <a:r>
              <a:rPr lang="fr-FR" sz="1100" dirty="0">
                <a:solidFill>
                  <a:srgbClr val="4D4F53"/>
                </a:solidFill>
              </a:rPr>
              <a:t>l'encart </a:t>
            </a:r>
            <a:r>
              <a:rPr lang="fr-FR" sz="1100" dirty="0" smtClean="0">
                <a:solidFill>
                  <a:srgbClr val="4D4F53"/>
                </a:solidFill>
              </a:rPr>
              <a:t>« Paramètres </a:t>
            </a:r>
            <a:r>
              <a:rPr lang="fr-FR" sz="1100" dirty="0">
                <a:solidFill>
                  <a:srgbClr val="4D4F53"/>
                </a:solidFill>
              </a:rPr>
              <a:t>généraux </a:t>
            </a:r>
            <a:r>
              <a:rPr lang="fr-FR" sz="1100" dirty="0" smtClean="0">
                <a:solidFill>
                  <a:srgbClr val="4D4F53"/>
                </a:solidFill>
              </a:rPr>
              <a:t>division »</a:t>
            </a:r>
            <a:br>
              <a:rPr lang="fr-FR" sz="1100" dirty="0" smtClean="0">
                <a:solidFill>
                  <a:srgbClr val="4D4F53"/>
                </a:solidFill>
              </a:rPr>
            </a:br>
            <a:r>
              <a:rPr lang="fr-FR" sz="1100" dirty="0" smtClean="0">
                <a:solidFill>
                  <a:srgbClr val="4D4F53"/>
                </a:solidFill>
              </a:rPr>
              <a:t>Saisir </a:t>
            </a:r>
            <a:r>
              <a:rPr lang="fr-FR" sz="1100" dirty="0">
                <a:solidFill>
                  <a:srgbClr val="4D4F53"/>
                </a:solidFill>
              </a:rPr>
              <a:t>un </a:t>
            </a:r>
            <a:r>
              <a:rPr lang="fr-FR" sz="1100" dirty="0" smtClean="0">
                <a:solidFill>
                  <a:srgbClr val="4D4F53"/>
                </a:solidFill>
              </a:rPr>
              <a:t>Profil </a:t>
            </a:r>
            <a:r>
              <a:rPr lang="fr-FR" sz="1100" dirty="0">
                <a:solidFill>
                  <a:srgbClr val="4D4F53"/>
                </a:solidFill>
              </a:rPr>
              <a:t>de n° de </a:t>
            </a:r>
            <a:r>
              <a:rPr lang="fr-FR" sz="1100" dirty="0" smtClean="0">
                <a:solidFill>
                  <a:srgbClr val="4D4F53"/>
                </a:solidFill>
              </a:rPr>
              <a:t>série</a:t>
            </a:r>
            <a:endParaRPr lang="fr-FR" sz="1100" dirty="0">
              <a:solidFill>
                <a:srgbClr val="4D4F53"/>
              </a:solidFill>
            </a:endParaRPr>
          </a:p>
        </p:txBody>
      </p:sp>
      <p:sp>
        <p:nvSpPr>
          <p:cNvPr id="14" name="Ellipse 13"/>
          <p:cNvSpPr/>
          <p:nvPr/>
        </p:nvSpPr>
        <p:spPr>
          <a:xfrm>
            <a:off x="346969" y="166228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5" name="Ellipse 14"/>
          <p:cNvSpPr/>
          <p:nvPr/>
        </p:nvSpPr>
        <p:spPr>
          <a:xfrm>
            <a:off x="346969" y="214370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6" name="Ellipse 15"/>
          <p:cNvSpPr/>
          <p:nvPr/>
        </p:nvSpPr>
        <p:spPr>
          <a:xfrm>
            <a:off x="350072" y="264060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3" name="Ellipse 32"/>
          <p:cNvSpPr/>
          <p:nvPr/>
        </p:nvSpPr>
        <p:spPr>
          <a:xfrm>
            <a:off x="346969" y="315119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35" name="Ellipse 34"/>
          <p:cNvSpPr/>
          <p:nvPr/>
        </p:nvSpPr>
        <p:spPr>
          <a:xfrm>
            <a:off x="350072" y="340533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6" name="Ellipse 35"/>
          <p:cNvSpPr/>
          <p:nvPr/>
        </p:nvSpPr>
        <p:spPr>
          <a:xfrm>
            <a:off x="346969" y="362864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37" name="Ellipse 36"/>
          <p:cNvSpPr/>
          <p:nvPr/>
        </p:nvSpPr>
        <p:spPr>
          <a:xfrm>
            <a:off x="350072" y="388278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7</a:t>
            </a:r>
            <a:endParaRPr lang="fr-FR" sz="900" b="1" dirty="0" smtClean="0">
              <a:solidFill>
                <a:schemeClr val="bg1"/>
              </a:solidFill>
            </a:endParaRPr>
          </a:p>
        </p:txBody>
      </p:sp>
      <p:sp>
        <p:nvSpPr>
          <p:cNvPr id="45" name="Ellipse 44"/>
          <p:cNvSpPr/>
          <p:nvPr/>
        </p:nvSpPr>
        <p:spPr>
          <a:xfrm>
            <a:off x="6195902" y="83090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2" name="Rectangle 41"/>
          <p:cNvSpPr/>
          <p:nvPr/>
        </p:nvSpPr>
        <p:spPr>
          <a:xfrm>
            <a:off x="6301907" y="827189"/>
            <a:ext cx="143647"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4" name="Rectangle 43"/>
          <p:cNvSpPr/>
          <p:nvPr/>
        </p:nvSpPr>
        <p:spPr>
          <a:xfrm>
            <a:off x="6302114" y="999771"/>
            <a:ext cx="143647"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8" name="Ellipse 47"/>
          <p:cNvSpPr/>
          <p:nvPr/>
        </p:nvSpPr>
        <p:spPr>
          <a:xfrm>
            <a:off x="7839773" y="185235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52" name="Rectangle 51"/>
          <p:cNvSpPr/>
          <p:nvPr/>
        </p:nvSpPr>
        <p:spPr>
          <a:xfrm>
            <a:off x="7610169" y="1892019"/>
            <a:ext cx="216000"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57" name="Connecteur en angle 56"/>
          <p:cNvCxnSpPr>
            <a:endCxn id="3" idx="1"/>
          </p:cNvCxnSpPr>
          <p:nvPr/>
        </p:nvCxnSpPr>
        <p:spPr>
          <a:xfrm rot="16200000" flipH="1">
            <a:off x="4346712" y="1459970"/>
            <a:ext cx="679624" cy="371923"/>
          </a:xfrm>
          <a:prstGeom prst="bentConnector3">
            <a:avLst>
              <a:gd name="adj1" fmla="val 99700"/>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8" name="Image 7"/>
          <p:cNvPicPr>
            <a:picLocks noChangeAspect="1"/>
          </p:cNvPicPr>
          <p:nvPr/>
        </p:nvPicPr>
        <p:blipFill>
          <a:blip r:embed="rId4"/>
          <a:stretch>
            <a:fillRect/>
          </a:stretch>
        </p:blipFill>
        <p:spPr>
          <a:xfrm>
            <a:off x="5361521" y="2602644"/>
            <a:ext cx="2464648" cy="2346345"/>
          </a:xfrm>
          <a:prstGeom prst="rect">
            <a:avLst/>
          </a:prstGeom>
          <a:ln>
            <a:solidFill>
              <a:schemeClr val="tx1"/>
            </a:solidFill>
          </a:ln>
          <a:effectLst>
            <a:outerShdw blurRad="50800" dist="38100" dir="2700000" algn="tl" rotWithShape="0">
              <a:prstClr val="black">
                <a:alpha val="40000"/>
              </a:prstClr>
            </a:outerShdw>
          </a:effectLst>
        </p:spPr>
      </p:pic>
      <p:sp>
        <p:nvSpPr>
          <p:cNvPr id="28" name="Rectangle 27"/>
          <p:cNvSpPr/>
          <p:nvPr/>
        </p:nvSpPr>
        <p:spPr>
          <a:xfrm>
            <a:off x="5992008" y="3401782"/>
            <a:ext cx="117192"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9" name="Rectangle 28"/>
          <p:cNvSpPr/>
          <p:nvPr/>
        </p:nvSpPr>
        <p:spPr>
          <a:xfrm>
            <a:off x="5726397" y="3745830"/>
            <a:ext cx="144000"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0" name="Rectangle 29"/>
          <p:cNvSpPr/>
          <p:nvPr/>
        </p:nvSpPr>
        <p:spPr>
          <a:xfrm>
            <a:off x="6825851" y="3752361"/>
            <a:ext cx="144000"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1" name="Rectangle 30"/>
          <p:cNvSpPr/>
          <p:nvPr/>
        </p:nvSpPr>
        <p:spPr>
          <a:xfrm>
            <a:off x="7080577" y="4701593"/>
            <a:ext cx="144000"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Rectangle 31"/>
          <p:cNvSpPr/>
          <p:nvPr/>
        </p:nvSpPr>
        <p:spPr>
          <a:xfrm>
            <a:off x="6005070" y="4102477"/>
            <a:ext cx="144000" cy="1022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Titre 1"/>
          <p:cNvSpPr>
            <a:spLocks noGrp="1"/>
          </p:cNvSpPr>
          <p:nvPr>
            <p:ph type="title"/>
          </p:nvPr>
        </p:nvSpPr>
        <p:spPr>
          <a:xfrm>
            <a:off x="457200" y="206375"/>
            <a:ext cx="4043363" cy="857250"/>
          </a:xfrm>
        </p:spPr>
        <p:txBody>
          <a:bodyPr>
            <a:normAutofit fontScale="90000"/>
          </a:bodyPr>
          <a:lstStyle/>
          <a:p>
            <a:r>
              <a:rPr lang="fr-FR" altLang="en-US" sz="2400" dirty="0"/>
              <a:t>Mode opératoire</a:t>
            </a:r>
            <a:br>
              <a:rPr lang="fr-FR" altLang="en-US" sz="2400" dirty="0"/>
            </a:br>
            <a:r>
              <a:rPr lang="fr-FR" altLang="en-US" dirty="0" smtClean="0"/>
              <a:t>MM01– </a:t>
            </a:r>
            <a:r>
              <a:rPr lang="fr-FR" altLang="en-US" dirty="0"/>
              <a:t>Créer un article (équipement, acheté, géré avec n° de série) </a:t>
            </a:r>
            <a:r>
              <a:rPr lang="fr-FR" altLang="en-US" dirty="0" smtClean="0"/>
              <a:t>3/5</a:t>
            </a:r>
            <a:endParaRPr lang="en-US" dirty="0"/>
          </a:p>
        </p:txBody>
      </p:sp>
      <p:sp>
        <p:nvSpPr>
          <p:cNvPr id="54" name="Ellipse 53"/>
          <p:cNvSpPr/>
          <p:nvPr/>
        </p:nvSpPr>
        <p:spPr>
          <a:xfrm>
            <a:off x="5829253" y="338187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8" name="Ellipse 37"/>
          <p:cNvSpPr/>
          <p:nvPr/>
        </p:nvSpPr>
        <p:spPr>
          <a:xfrm>
            <a:off x="5881392" y="371969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39" name="Ellipse 38"/>
          <p:cNvSpPr/>
          <p:nvPr/>
        </p:nvSpPr>
        <p:spPr>
          <a:xfrm>
            <a:off x="6969851" y="372622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0" name="Ellipse 39"/>
          <p:cNvSpPr/>
          <p:nvPr/>
        </p:nvSpPr>
        <p:spPr>
          <a:xfrm>
            <a:off x="6155970" y="407633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41" name="Ellipse 40"/>
          <p:cNvSpPr/>
          <p:nvPr/>
        </p:nvSpPr>
        <p:spPr>
          <a:xfrm>
            <a:off x="7224577" y="467545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7</a:t>
            </a:r>
            <a:endParaRPr lang="fr-FR" sz="900" b="1" dirty="0" smtClean="0">
              <a:solidFill>
                <a:schemeClr val="bg1"/>
              </a:solidFill>
            </a:endParaRPr>
          </a:p>
        </p:txBody>
      </p:sp>
      <p:cxnSp>
        <p:nvCxnSpPr>
          <p:cNvPr id="20" name="Connecteur en angle 19"/>
          <p:cNvCxnSpPr/>
          <p:nvPr/>
        </p:nvCxnSpPr>
        <p:spPr>
          <a:xfrm rot="16200000" flipH="1">
            <a:off x="4589732" y="3004027"/>
            <a:ext cx="1223395" cy="320183"/>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304755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preferRelativeResize="0">
            <a:picLocks/>
          </p:cNvPicPr>
          <p:nvPr/>
        </p:nvPicPr>
        <p:blipFill rotWithShape="1">
          <a:blip r:embed="rId2"/>
          <a:srcRect b="23793"/>
          <a:stretch/>
        </p:blipFill>
        <p:spPr>
          <a:xfrm>
            <a:off x="380518" y="1152183"/>
            <a:ext cx="2520000" cy="1584000"/>
          </a:xfrm>
          <a:prstGeom prst="rect">
            <a:avLst/>
          </a:prstGeom>
          <a:ln>
            <a:solidFill>
              <a:schemeClr val="tx1"/>
            </a:solidFill>
          </a:ln>
          <a:effectLst>
            <a:outerShdw blurRad="50800" dist="38100" dir="2700000" algn="tl" rotWithShape="0">
              <a:prstClr val="black">
                <a:alpha val="40000"/>
              </a:prstClr>
            </a:outerShdw>
          </a:effectLst>
        </p:spPr>
      </p:pic>
      <p:sp>
        <p:nvSpPr>
          <p:cNvPr id="54" name="Rectangle 53"/>
          <p:cNvSpPr/>
          <p:nvPr/>
        </p:nvSpPr>
        <p:spPr>
          <a:xfrm>
            <a:off x="1051252" y="1889193"/>
            <a:ext cx="144000" cy="8449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5" name="Ellipse 54"/>
          <p:cNvSpPr/>
          <p:nvPr/>
        </p:nvSpPr>
        <p:spPr>
          <a:xfrm>
            <a:off x="913049" y="177686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grpSp>
        <p:nvGrpSpPr>
          <p:cNvPr id="28" name="Groupe 50"/>
          <p:cNvGrpSpPr/>
          <p:nvPr/>
        </p:nvGrpSpPr>
        <p:grpSpPr>
          <a:xfrm>
            <a:off x="4778389" y="164241"/>
            <a:ext cx="4308461" cy="2631490"/>
            <a:chOff x="4835539" y="249966"/>
            <a:chExt cx="4308461" cy="2631490"/>
          </a:xfrm>
        </p:grpSpPr>
        <p:sp>
          <p:nvSpPr>
            <p:cNvPr id="5" name="ZoneTexte 51"/>
            <p:cNvSpPr txBox="1"/>
            <p:nvPr/>
          </p:nvSpPr>
          <p:spPr>
            <a:xfrm>
              <a:off x="4966651" y="249966"/>
              <a:ext cx="4177349" cy="2631490"/>
            </a:xfrm>
            <a:prstGeom prst="rect">
              <a:avLst/>
            </a:prstGeom>
            <a:noFill/>
          </p:spPr>
          <p:txBody>
            <a:bodyPr wrap="square" rtlCol="0">
              <a:spAutoFit/>
            </a:bodyPr>
            <a:lstStyle/>
            <a:p>
              <a:pPr>
                <a:lnSpc>
                  <a:spcPct val="150000"/>
                </a:lnSpc>
              </a:pPr>
              <a:r>
                <a:rPr lang="fr-FR" sz="1100" dirty="0" smtClean="0">
                  <a:solidFill>
                    <a:srgbClr val="4D4F53"/>
                  </a:solidFill>
                </a:rPr>
                <a:t>Onglet « Achats » </a:t>
              </a:r>
              <a:r>
                <a:rPr lang="fr-FR" sz="1100" dirty="0">
                  <a:solidFill>
                    <a:srgbClr val="4D4F53"/>
                  </a:solidFill>
                </a:rPr>
                <a:t>: entrer un </a:t>
              </a:r>
              <a:r>
                <a:rPr lang="fr-FR" sz="1100" dirty="0" smtClean="0">
                  <a:solidFill>
                    <a:srgbClr val="4D4F53"/>
                  </a:solidFill>
                </a:rPr>
                <a:t>Groupe d'acheteurs </a:t>
              </a:r>
              <a:endParaRPr lang="fr-FR" sz="1100" dirty="0">
                <a:solidFill>
                  <a:srgbClr val="4D4F53"/>
                </a:solidFill>
              </a:endParaRPr>
            </a:p>
            <a:p>
              <a:pPr>
                <a:lnSpc>
                  <a:spcPct val="150000"/>
                </a:lnSpc>
              </a:pPr>
              <a:r>
                <a:rPr lang="fr-FR" sz="1100" dirty="0" smtClean="0">
                  <a:solidFill>
                    <a:srgbClr val="4D4F53"/>
                  </a:solidFill>
                </a:rPr>
                <a:t>Renseigner une Clé </a:t>
              </a:r>
              <a:r>
                <a:rPr lang="fr-FR" sz="1100" dirty="0">
                  <a:solidFill>
                    <a:srgbClr val="4D4F53"/>
                  </a:solidFill>
                </a:rPr>
                <a:t>valeurs achats </a:t>
              </a:r>
            </a:p>
            <a:p>
              <a:pPr>
                <a:lnSpc>
                  <a:spcPct val="150000"/>
                </a:lnSpc>
              </a:pPr>
              <a:r>
                <a:rPr lang="fr-FR" sz="1100" dirty="0" smtClean="0">
                  <a:solidFill>
                    <a:srgbClr val="4D4F53"/>
                  </a:solidFill>
                </a:rPr>
                <a:t> </a:t>
              </a:r>
              <a:r>
                <a:rPr lang="fr-FR" sz="1100" dirty="0">
                  <a:solidFill>
                    <a:srgbClr val="4D4F53"/>
                  </a:solidFill>
                </a:rPr>
                <a:t>O</a:t>
              </a:r>
              <a:r>
                <a:rPr lang="fr-FR" sz="1100" dirty="0" smtClean="0">
                  <a:solidFill>
                    <a:srgbClr val="4D4F53"/>
                  </a:solidFill>
                </a:rPr>
                <a:t>nglet « </a:t>
              </a:r>
              <a:r>
                <a:rPr lang="fr-FR" sz="1100" dirty="0" err="1" smtClean="0">
                  <a:solidFill>
                    <a:srgbClr val="4D4F53"/>
                  </a:solidFill>
                </a:rPr>
                <a:t>Planif</a:t>
              </a:r>
              <a:r>
                <a:rPr lang="fr-FR" sz="1100" dirty="0">
                  <a:solidFill>
                    <a:srgbClr val="4D4F53"/>
                  </a:solidFill>
                </a:rPr>
                <a:t>. des besoins </a:t>
              </a:r>
              <a:r>
                <a:rPr lang="fr-FR" sz="1100" dirty="0" smtClean="0">
                  <a:solidFill>
                    <a:srgbClr val="4D4F53"/>
                  </a:solidFill>
                </a:rPr>
                <a:t>1 » </a:t>
              </a:r>
              <a:r>
                <a:rPr lang="fr-FR" sz="1100" dirty="0">
                  <a:solidFill>
                    <a:srgbClr val="4D4F53"/>
                  </a:solidFill>
                </a:rPr>
                <a:t>: entrer le </a:t>
              </a:r>
              <a:r>
                <a:rPr lang="fr-FR" sz="1100" dirty="0" smtClean="0">
                  <a:solidFill>
                    <a:srgbClr val="4D4F53"/>
                  </a:solidFill>
                </a:rPr>
                <a:t>Type </a:t>
              </a:r>
              <a:r>
                <a:rPr lang="fr-FR" sz="1100" dirty="0">
                  <a:solidFill>
                    <a:srgbClr val="4D4F53"/>
                  </a:solidFill>
                </a:rPr>
                <a:t>de </a:t>
              </a:r>
              <a:r>
                <a:rPr lang="fr-FR" sz="1100" dirty="0" smtClean="0">
                  <a:solidFill>
                    <a:srgbClr val="4D4F53"/>
                  </a:solidFill>
                </a:rPr>
                <a:t>planification</a:t>
              </a:r>
            </a:p>
            <a:p>
              <a:pPr>
                <a:lnSpc>
                  <a:spcPct val="150000"/>
                </a:lnSpc>
              </a:pPr>
              <a:r>
                <a:rPr lang="fr-FR" sz="1100" dirty="0" smtClean="0">
                  <a:solidFill>
                    <a:srgbClr val="4D4F53"/>
                  </a:solidFill>
                </a:rPr>
                <a:t>Renseigner </a:t>
              </a:r>
              <a:r>
                <a:rPr lang="fr-FR" sz="1100" dirty="0">
                  <a:solidFill>
                    <a:srgbClr val="4D4F53"/>
                  </a:solidFill>
                </a:rPr>
                <a:t>la </a:t>
              </a:r>
              <a:r>
                <a:rPr lang="fr-FR" sz="1100" dirty="0" smtClean="0">
                  <a:solidFill>
                    <a:srgbClr val="4D4F53"/>
                  </a:solidFill>
                </a:rPr>
                <a:t>Cadence </a:t>
              </a:r>
              <a:r>
                <a:rPr lang="fr-FR" sz="1100" dirty="0">
                  <a:solidFill>
                    <a:srgbClr val="4D4F53"/>
                  </a:solidFill>
                </a:rPr>
                <a:t>de </a:t>
              </a:r>
              <a:r>
                <a:rPr lang="fr-FR" sz="1100" dirty="0" smtClean="0">
                  <a:solidFill>
                    <a:srgbClr val="4D4F53"/>
                  </a:solidFill>
                </a:rPr>
                <a:t>planification</a:t>
              </a:r>
            </a:p>
            <a:p>
              <a:pPr>
                <a:lnSpc>
                  <a:spcPct val="150000"/>
                </a:lnSpc>
              </a:pPr>
              <a:r>
                <a:rPr lang="fr-FR" sz="1100" dirty="0" smtClean="0">
                  <a:solidFill>
                    <a:srgbClr val="4D4F53"/>
                  </a:solidFill>
                </a:rPr>
                <a:t>Renseigner le Gestionnaire</a:t>
              </a:r>
            </a:p>
            <a:p>
              <a:pPr>
                <a:lnSpc>
                  <a:spcPct val="150000"/>
                </a:lnSpc>
              </a:pPr>
              <a:r>
                <a:rPr lang="fr-FR" sz="1100" dirty="0" smtClean="0">
                  <a:solidFill>
                    <a:srgbClr val="4D4F53"/>
                  </a:solidFill>
                </a:rPr>
                <a:t>Renseigner la Clé </a:t>
              </a:r>
              <a:r>
                <a:rPr lang="fr-FR" sz="1100" dirty="0">
                  <a:solidFill>
                    <a:srgbClr val="4D4F53"/>
                  </a:solidFill>
                </a:rPr>
                <a:t>de calcul de la taille de </a:t>
              </a:r>
              <a:r>
                <a:rPr lang="fr-FR" sz="1100" dirty="0" smtClean="0">
                  <a:solidFill>
                    <a:srgbClr val="4D4F53"/>
                  </a:solidFill>
                </a:rPr>
                <a:t>lot</a:t>
              </a:r>
              <a:endParaRPr lang="fr-FR" sz="1100" dirty="0">
                <a:solidFill>
                  <a:srgbClr val="4D4F53"/>
                </a:solidFill>
              </a:endParaRPr>
            </a:p>
            <a:p>
              <a:pPr>
                <a:lnSpc>
                  <a:spcPct val="150000"/>
                </a:lnSpc>
              </a:pPr>
              <a:r>
                <a:rPr lang="fr-FR" sz="1100" dirty="0" smtClean="0">
                  <a:solidFill>
                    <a:srgbClr val="4D4F53"/>
                  </a:solidFill>
                </a:rPr>
                <a:t>Onglet « </a:t>
              </a:r>
              <a:r>
                <a:rPr lang="fr-FR" sz="1100" dirty="0" err="1" smtClean="0">
                  <a:solidFill>
                    <a:srgbClr val="4D4F53"/>
                  </a:solidFill>
                </a:rPr>
                <a:t>Planif</a:t>
              </a:r>
              <a:r>
                <a:rPr lang="fr-FR" sz="1100" dirty="0">
                  <a:solidFill>
                    <a:srgbClr val="4D4F53"/>
                  </a:solidFill>
                </a:rPr>
                <a:t>. des besoins </a:t>
              </a:r>
              <a:r>
                <a:rPr lang="fr-FR" sz="1100" dirty="0" smtClean="0">
                  <a:solidFill>
                    <a:srgbClr val="4D4F53"/>
                  </a:solidFill>
                </a:rPr>
                <a:t>2 » </a:t>
              </a:r>
              <a:r>
                <a:rPr lang="fr-FR" sz="1100" dirty="0">
                  <a:solidFill>
                    <a:srgbClr val="4D4F53"/>
                  </a:solidFill>
                </a:rPr>
                <a:t>: entrer le </a:t>
              </a:r>
              <a:r>
                <a:rPr lang="fr-FR" sz="1100" dirty="0" smtClean="0">
                  <a:solidFill>
                    <a:srgbClr val="4D4F53"/>
                  </a:solidFill>
                </a:rPr>
                <a:t>Type d'approvisionnement Renseigner la Clé d'horizon</a:t>
              </a:r>
            </a:p>
            <a:p>
              <a:pPr>
                <a:lnSpc>
                  <a:spcPct val="150000"/>
                </a:lnSpc>
              </a:pPr>
              <a:r>
                <a:rPr lang="fr-FR" sz="1100" dirty="0" smtClean="0">
                  <a:solidFill>
                    <a:srgbClr val="4D4F53"/>
                  </a:solidFill>
                </a:rPr>
                <a:t>Renseigner le Délai </a:t>
              </a:r>
              <a:r>
                <a:rPr lang="fr-FR" sz="1100" dirty="0">
                  <a:solidFill>
                    <a:srgbClr val="4D4F53"/>
                  </a:solidFill>
                </a:rPr>
                <a:t>prévisionnel de livraison en </a:t>
              </a:r>
              <a:r>
                <a:rPr lang="fr-FR" sz="1100" dirty="0" smtClean="0">
                  <a:solidFill>
                    <a:srgbClr val="4D4F53"/>
                  </a:solidFill>
                </a:rPr>
                <a:t>jours </a:t>
              </a:r>
              <a:endParaRPr lang="fr-FR" sz="1100" dirty="0">
                <a:solidFill>
                  <a:srgbClr val="4D4F53"/>
                </a:solidFill>
              </a:endParaRPr>
            </a:p>
            <a:p>
              <a:pPr>
                <a:lnSpc>
                  <a:spcPct val="150000"/>
                </a:lnSpc>
              </a:pPr>
              <a:r>
                <a:rPr lang="fr-FR" sz="1100" dirty="0" smtClean="0">
                  <a:solidFill>
                    <a:srgbClr val="4D4F53"/>
                  </a:solidFill>
                </a:rPr>
                <a:t>Renseigner </a:t>
              </a:r>
              <a:r>
                <a:rPr lang="fr-FR" sz="1100" dirty="0">
                  <a:solidFill>
                    <a:srgbClr val="4D4F53"/>
                  </a:solidFill>
                </a:rPr>
                <a:t>le </a:t>
              </a:r>
              <a:r>
                <a:rPr lang="fr-FR" sz="1100" dirty="0" smtClean="0">
                  <a:solidFill>
                    <a:srgbClr val="4D4F53"/>
                  </a:solidFill>
                </a:rPr>
                <a:t>Magasin </a:t>
              </a:r>
              <a:r>
                <a:rPr lang="fr-FR" sz="1100" dirty="0">
                  <a:solidFill>
                    <a:srgbClr val="4D4F53"/>
                  </a:solidFill>
                </a:rPr>
                <a:t>pour </a:t>
              </a:r>
              <a:r>
                <a:rPr lang="fr-FR" sz="1100" dirty="0" err="1">
                  <a:solidFill>
                    <a:srgbClr val="4D4F53"/>
                  </a:solidFill>
                </a:rPr>
                <a:t>appro</a:t>
              </a:r>
              <a:r>
                <a:rPr lang="fr-FR" sz="1100" dirty="0">
                  <a:solidFill>
                    <a:srgbClr val="4D4F53"/>
                  </a:solidFill>
                </a:rPr>
                <a:t>. </a:t>
              </a:r>
              <a:r>
                <a:rPr lang="fr-FR" sz="1100" dirty="0" err="1">
                  <a:solidFill>
                    <a:srgbClr val="4D4F53"/>
                  </a:solidFill>
                </a:rPr>
                <a:t>ext</a:t>
              </a:r>
              <a:r>
                <a:rPr lang="fr-FR" sz="1100" dirty="0">
                  <a:solidFill>
                    <a:srgbClr val="4D4F53"/>
                  </a:solidFill>
                </a:rPr>
                <a:t>. </a:t>
              </a:r>
            </a:p>
          </p:txBody>
        </p:sp>
        <p:sp>
          <p:nvSpPr>
            <p:cNvPr id="6" name="Ellipse 52"/>
            <p:cNvSpPr/>
            <p:nvPr/>
          </p:nvSpPr>
          <p:spPr>
            <a:xfrm>
              <a:off x="4837637" y="35398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7" name="Ellipse 55"/>
            <p:cNvSpPr/>
            <p:nvPr/>
          </p:nvSpPr>
          <p:spPr>
            <a:xfrm>
              <a:off x="4837637" y="61412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57" name="Ellipse 57"/>
            <p:cNvSpPr/>
            <p:nvPr/>
          </p:nvSpPr>
          <p:spPr>
            <a:xfrm>
              <a:off x="4835539" y="88862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
          <p:nvSpPr>
            <p:cNvPr id="39" name="Ellipse 58"/>
            <p:cNvSpPr/>
            <p:nvPr/>
          </p:nvSpPr>
          <p:spPr>
            <a:xfrm>
              <a:off x="4837637" y="111781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40" name="Ellipse 59"/>
            <p:cNvSpPr/>
            <p:nvPr/>
          </p:nvSpPr>
          <p:spPr>
            <a:xfrm>
              <a:off x="4837637" y="137795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2" name="Ellipse 60"/>
            <p:cNvSpPr/>
            <p:nvPr/>
          </p:nvSpPr>
          <p:spPr>
            <a:xfrm>
              <a:off x="4835539" y="165246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6" name="Ellipse 61"/>
            <p:cNvSpPr/>
            <p:nvPr/>
          </p:nvSpPr>
          <p:spPr>
            <a:xfrm>
              <a:off x="4837637" y="187963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7" name="Ellipse 62"/>
            <p:cNvSpPr/>
            <p:nvPr/>
          </p:nvSpPr>
          <p:spPr>
            <a:xfrm>
              <a:off x="4837637" y="2139773"/>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48" name="Ellipse 63"/>
            <p:cNvSpPr/>
            <p:nvPr/>
          </p:nvSpPr>
          <p:spPr>
            <a:xfrm>
              <a:off x="4835539" y="237793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
          <p:nvSpPr>
            <p:cNvPr id="49" name="Ellipse 64"/>
            <p:cNvSpPr/>
            <p:nvPr/>
          </p:nvSpPr>
          <p:spPr>
            <a:xfrm>
              <a:off x="4835539" y="260606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p>
          </p:txBody>
        </p:sp>
      </p:grpSp>
      <p:sp>
        <p:nvSpPr>
          <p:cNvPr id="19" name="Rectangle 18"/>
          <p:cNvSpPr/>
          <p:nvPr/>
        </p:nvSpPr>
        <p:spPr>
          <a:xfrm>
            <a:off x="1059193" y="2620914"/>
            <a:ext cx="14400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1" name="Ellipse 20"/>
          <p:cNvSpPr/>
          <p:nvPr/>
        </p:nvSpPr>
        <p:spPr>
          <a:xfrm>
            <a:off x="902826" y="251134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pic>
        <p:nvPicPr>
          <p:cNvPr id="11" name="Image 10"/>
          <p:cNvPicPr preferRelativeResize="0">
            <a:picLocks/>
          </p:cNvPicPr>
          <p:nvPr/>
        </p:nvPicPr>
        <p:blipFill>
          <a:blip r:embed="rId3"/>
          <a:stretch>
            <a:fillRect/>
          </a:stretch>
        </p:blipFill>
        <p:spPr>
          <a:xfrm>
            <a:off x="4629564" y="2856811"/>
            <a:ext cx="3534971" cy="2109872"/>
          </a:xfrm>
          <a:prstGeom prst="rect">
            <a:avLst/>
          </a:prstGeom>
          <a:ln>
            <a:solidFill>
              <a:schemeClr val="tx1"/>
            </a:solidFill>
          </a:ln>
          <a:effectLst>
            <a:outerShdw blurRad="50800" dist="38100" dir="2700000" algn="tl" rotWithShape="0">
              <a:prstClr val="black">
                <a:alpha val="40000"/>
              </a:prstClr>
            </a:outerShdw>
          </a:effectLst>
        </p:spPr>
      </p:pic>
      <p:sp>
        <p:nvSpPr>
          <p:cNvPr id="36" name="Rectangle 35"/>
          <p:cNvSpPr/>
          <p:nvPr/>
        </p:nvSpPr>
        <p:spPr>
          <a:xfrm>
            <a:off x="5550139" y="3537827"/>
            <a:ext cx="194731" cy="8449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7" name="Rectangle 36"/>
          <p:cNvSpPr/>
          <p:nvPr/>
        </p:nvSpPr>
        <p:spPr>
          <a:xfrm>
            <a:off x="5529176" y="4766145"/>
            <a:ext cx="232607" cy="13558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8" name="Rectangle 37"/>
          <p:cNvSpPr/>
          <p:nvPr/>
        </p:nvSpPr>
        <p:spPr>
          <a:xfrm>
            <a:off x="7202655" y="3880662"/>
            <a:ext cx="332035" cy="9774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1" name="Titre 1"/>
          <p:cNvSpPr>
            <a:spLocks noGrp="1"/>
          </p:cNvSpPr>
          <p:nvPr>
            <p:ph type="title"/>
          </p:nvPr>
        </p:nvSpPr>
        <p:spPr>
          <a:xfrm>
            <a:off x="457200" y="206375"/>
            <a:ext cx="4043363" cy="857250"/>
          </a:xfrm>
        </p:spPr>
        <p:txBody>
          <a:bodyPr>
            <a:normAutofit fontScale="90000"/>
          </a:bodyPr>
          <a:lstStyle/>
          <a:p>
            <a:r>
              <a:rPr lang="fr-FR" altLang="en-US" sz="2400" dirty="0"/>
              <a:t>Mode opératoire</a:t>
            </a:r>
            <a:br>
              <a:rPr lang="fr-FR" altLang="en-US" sz="2400" dirty="0"/>
            </a:br>
            <a:r>
              <a:rPr lang="fr-FR" altLang="en-US" dirty="0" smtClean="0"/>
              <a:t>MM01– </a:t>
            </a:r>
            <a:r>
              <a:rPr lang="fr-FR" altLang="en-US" dirty="0"/>
              <a:t>Créer un article (équipement, acheté, géré avec n° de série) 4</a:t>
            </a:r>
            <a:r>
              <a:rPr lang="fr-FR" altLang="en-US" dirty="0" smtClean="0"/>
              <a:t>/5</a:t>
            </a:r>
            <a:endParaRPr lang="en-US" dirty="0"/>
          </a:p>
        </p:txBody>
      </p:sp>
      <p:sp>
        <p:nvSpPr>
          <p:cNvPr id="45" name="Rectangle 44"/>
          <p:cNvSpPr/>
          <p:nvPr/>
        </p:nvSpPr>
        <p:spPr>
          <a:xfrm>
            <a:off x="7274330" y="4540107"/>
            <a:ext cx="226785" cy="14725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3" name="Image 2"/>
          <p:cNvPicPr>
            <a:picLocks noChangeAspect="1"/>
          </p:cNvPicPr>
          <p:nvPr/>
        </p:nvPicPr>
        <p:blipFill>
          <a:blip r:embed="rId4"/>
          <a:stretch>
            <a:fillRect/>
          </a:stretch>
        </p:blipFill>
        <p:spPr>
          <a:xfrm>
            <a:off x="1026190" y="2856811"/>
            <a:ext cx="3201566" cy="2028058"/>
          </a:xfrm>
          <a:prstGeom prst="rect">
            <a:avLst/>
          </a:prstGeom>
          <a:ln>
            <a:solidFill>
              <a:schemeClr val="tx1"/>
            </a:solidFill>
          </a:ln>
          <a:effectLst>
            <a:outerShdw blurRad="50800" dist="38100" dir="2700000" algn="tl" rotWithShape="0">
              <a:prstClr val="black">
                <a:alpha val="40000"/>
              </a:prstClr>
            </a:outerShdw>
          </a:effectLst>
        </p:spPr>
      </p:pic>
      <p:sp>
        <p:nvSpPr>
          <p:cNvPr id="25" name="Rectangle 24"/>
          <p:cNvSpPr/>
          <p:nvPr/>
        </p:nvSpPr>
        <p:spPr>
          <a:xfrm>
            <a:off x="1882687" y="4177937"/>
            <a:ext cx="137268" cy="1081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6" name="Rectangle 25"/>
          <p:cNvSpPr/>
          <p:nvPr/>
        </p:nvSpPr>
        <p:spPr>
          <a:xfrm>
            <a:off x="1866854" y="4764569"/>
            <a:ext cx="228780" cy="12505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5" name="Ellipse 34"/>
          <p:cNvSpPr/>
          <p:nvPr/>
        </p:nvSpPr>
        <p:spPr>
          <a:xfrm>
            <a:off x="1743131" y="4137426"/>
            <a:ext cx="139556" cy="14857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
        <p:nvSpPr>
          <p:cNvPr id="43" name="Rectangle 42"/>
          <p:cNvSpPr/>
          <p:nvPr/>
        </p:nvSpPr>
        <p:spPr>
          <a:xfrm>
            <a:off x="3423071" y="4407854"/>
            <a:ext cx="183024" cy="1081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4" name="Rectangle 43"/>
          <p:cNvSpPr/>
          <p:nvPr/>
        </p:nvSpPr>
        <p:spPr>
          <a:xfrm>
            <a:off x="1873475" y="4410641"/>
            <a:ext cx="183024" cy="1081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7" name="Ellipse 26"/>
          <p:cNvSpPr/>
          <p:nvPr/>
        </p:nvSpPr>
        <p:spPr>
          <a:xfrm>
            <a:off x="1738222" y="4362286"/>
            <a:ext cx="139556" cy="14857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9" name="Ellipse 28"/>
          <p:cNvSpPr/>
          <p:nvPr/>
        </p:nvSpPr>
        <p:spPr>
          <a:xfrm>
            <a:off x="3247697" y="4362286"/>
            <a:ext cx="139556" cy="14857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30" name="Ellipse 29"/>
          <p:cNvSpPr/>
          <p:nvPr/>
        </p:nvSpPr>
        <p:spPr>
          <a:xfrm>
            <a:off x="1743131" y="4766145"/>
            <a:ext cx="139556" cy="148576"/>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1" name="Ellipse 30"/>
          <p:cNvSpPr/>
          <p:nvPr/>
        </p:nvSpPr>
        <p:spPr>
          <a:xfrm>
            <a:off x="5430279" y="339151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32" name="Ellipse 31"/>
          <p:cNvSpPr/>
          <p:nvPr/>
        </p:nvSpPr>
        <p:spPr>
          <a:xfrm>
            <a:off x="7135160" y="377496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smtClean="0">
                <a:solidFill>
                  <a:schemeClr val="bg1"/>
                </a:solidFill>
              </a:rPr>
              <a:t>9</a:t>
            </a:r>
            <a:endParaRPr lang="fr-FR" sz="900" b="1" dirty="0">
              <a:solidFill>
                <a:schemeClr val="bg1"/>
              </a:solidFill>
            </a:endParaRPr>
          </a:p>
        </p:txBody>
      </p:sp>
      <p:sp>
        <p:nvSpPr>
          <p:cNvPr id="33" name="Ellipse 32"/>
          <p:cNvSpPr/>
          <p:nvPr/>
        </p:nvSpPr>
        <p:spPr>
          <a:xfrm>
            <a:off x="5381774" y="471568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smtClean="0">
                <a:solidFill>
                  <a:schemeClr val="bg1"/>
                </a:solidFill>
              </a:rPr>
              <a:t>8</a:t>
            </a:r>
            <a:endParaRPr lang="fr-FR" sz="900" b="1" dirty="0">
              <a:solidFill>
                <a:schemeClr val="bg1"/>
              </a:solidFill>
            </a:endParaRPr>
          </a:p>
        </p:txBody>
      </p:sp>
      <p:sp>
        <p:nvSpPr>
          <p:cNvPr id="34" name="Ellipse 33"/>
          <p:cNvSpPr/>
          <p:nvPr/>
        </p:nvSpPr>
        <p:spPr>
          <a:xfrm>
            <a:off x="7154210" y="440026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p>
        </p:txBody>
      </p:sp>
      <p:cxnSp>
        <p:nvCxnSpPr>
          <p:cNvPr id="22" name="Connecteur en angle 21"/>
          <p:cNvCxnSpPr>
            <a:endCxn id="3" idx="1"/>
          </p:cNvCxnSpPr>
          <p:nvPr/>
        </p:nvCxnSpPr>
        <p:spPr>
          <a:xfrm rot="16200000" flipH="1">
            <a:off x="286131" y="3130780"/>
            <a:ext cx="1109383" cy="370735"/>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50" name="Connecteur en angle 48"/>
          <p:cNvCxnSpPr>
            <a:endCxn id="11" idx="1"/>
          </p:cNvCxnSpPr>
          <p:nvPr/>
        </p:nvCxnSpPr>
        <p:spPr>
          <a:xfrm>
            <a:off x="4227756" y="3546086"/>
            <a:ext cx="401808" cy="365661"/>
          </a:xfrm>
          <a:prstGeom prst="bentConnector3">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78530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p:cNvPicPr>
            <a:picLocks noChangeAspect="1"/>
          </p:cNvPicPr>
          <p:nvPr/>
        </p:nvPicPr>
        <p:blipFill>
          <a:blip r:embed="rId2"/>
          <a:stretch>
            <a:fillRect/>
          </a:stretch>
        </p:blipFill>
        <p:spPr>
          <a:xfrm>
            <a:off x="3813850" y="2644332"/>
            <a:ext cx="3247099" cy="692275"/>
          </a:xfrm>
          <a:prstGeom prst="rect">
            <a:avLst/>
          </a:prstGeom>
          <a:ln>
            <a:solidFill>
              <a:schemeClr val="tx1"/>
            </a:solidFill>
          </a:ln>
          <a:effectLst>
            <a:outerShdw blurRad="50800" dist="38100" dir="2700000" algn="tl" rotWithShape="0">
              <a:prstClr val="black">
                <a:alpha val="40000"/>
              </a:prstClr>
            </a:outerShdw>
          </a:effectLst>
        </p:spPr>
      </p:pic>
      <p:pic>
        <p:nvPicPr>
          <p:cNvPr id="11" name="Image 10"/>
          <p:cNvPicPr>
            <a:picLocks noChangeAspect="1"/>
          </p:cNvPicPr>
          <p:nvPr/>
        </p:nvPicPr>
        <p:blipFill>
          <a:blip r:embed="rId3"/>
          <a:stretch>
            <a:fillRect/>
          </a:stretch>
        </p:blipFill>
        <p:spPr>
          <a:xfrm>
            <a:off x="517327" y="1150827"/>
            <a:ext cx="3296523" cy="1191318"/>
          </a:xfrm>
          <a:prstGeom prst="rect">
            <a:avLst/>
          </a:prstGeom>
          <a:ln>
            <a:solidFill>
              <a:schemeClr val="tx1"/>
            </a:solidFill>
          </a:ln>
          <a:effectLst>
            <a:outerShdw blurRad="50800" dist="38100" dir="2700000" algn="tl" rotWithShape="0">
              <a:prstClr val="black">
                <a:alpha val="40000"/>
              </a:prstClr>
            </a:outerShdw>
          </a:effectLst>
        </p:spPr>
      </p:pic>
      <p:sp>
        <p:nvSpPr>
          <p:cNvPr id="65" name="Rectangle 64"/>
          <p:cNvSpPr/>
          <p:nvPr/>
        </p:nvSpPr>
        <p:spPr>
          <a:xfrm>
            <a:off x="4662481" y="2748162"/>
            <a:ext cx="540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32" name="Image 31"/>
          <p:cNvPicPr>
            <a:picLocks noChangeAspect="1"/>
          </p:cNvPicPr>
          <p:nvPr/>
        </p:nvPicPr>
        <p:blipFill>
          <a:blip r:embed="rId4"/>
          <a:stretch>
            <a:fillRect/>
          </a:stretch>
        </p:blipFill>
        <p:spPr>
          <a:xfrm>
            <a:off x="5371806" y="4206893"/>
            <a:ext cx="1981200" cy="295275"/>
          </a:xfrm>
          <a:prstGeom prst="rect">
            <a:avLst/>
          </a:prstGeom>
          <a:ln>
            <a:solidFill>
              <a:schemeClr val="tx1"/>
            </a:solidFill>
          </a:ln>
          <a:effectLst>
            <a:outerShdw blurRad="50800" dist="38100" dir="2700000" algn="tl" rotWithShape="0">
              <a:prstClr val="black">
                <a:alpha val="40000"/>
              </a:prstClr>
            </a:outerShdw>
          </a:effectLst>
        </p:spPr>
      </p:pic>
      <p:sp>
        <p:nvSpPr>
          <p:cNvPr id="34" name="Rectangle 33"/>
          <p:cNvSpPr/>
          <p:nvPr/>
        </p:nvSpPr>
        <p:spPr>
          <a:xfrm>
            <a:off x="5565053" y="4218067"/>
            <a:ext cx="237937" cy="23488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42" name="Connecteur droit avec flèche 41"/>
          <p:cNvCxnSpPr/>
          <p:nvPr/>
        </p:nvCxnSpPr>
        <p:spPr>
          <a:xfrm>
            <a:off x="1980057" y="3426863"/>
            <a:ext cx="1" cy="231516"/>
          </a:xfrm>
          <a:prstGeom prst="straightConnector1">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402322" y="1976449"/>
            <a:ext cx="18000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smtClean="0">
              <a:solidFill>
                <a:srgbClr val="4D4F53"/>
              </a:solidFill>
            </a:endParaRPr>
          </a:p>
        </p:txBody>
      </p:sp>
      <p:sp>
        <p:nvSpPr>
          <p:cNvPr id="64" name="Rectangle 63"/>
          <p:cNvSpPr/>
          <p:nvPr/>
        </p:nvSpPr>
        <p:spPr>
          <a:xfrm>
            <a:off x="1407806" y="2091108"/>
            <a:ext cx="43200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3" name="Rectangle 32"/>
          <p:cNvSpPr/>
          <p:nvPr/>
        </p:nvSpPr>
        <p:spPr>
          <a:xfrm>
            <a:off x="2926324" y="1960360"/>
            <a:ext cx="252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smtClean="0">
              <a:solidFill>
                <a:srgbClr val="4D4F53"/>
              </a:solidFill>
            </a:endParaRPr>
          </a:p>
        </p:txBody>
      </p:sp>
      <p:pic>
        <p:nvPicPr>
          <p:cNvPr id="36" name="Image 35"/>
          <p:cNvPicPr>
            <a:picLocks noChangeAspect="1"/>
          </p:cNvPicPr>
          <p:nvPr/>
        </p:nvPicPr>
        <p:blipFill rotWithShape="1">
          <a:blip r:embed="rId5"/>
          <a:srcRect l="40" t="1558" r="108" b="3701"/>
          <a:stretch/>
        </p:blipFill>
        <p:spPr>
          <a:xfrm>
            <a:off x="979282" y="2560666"/>
            <a:ext cx="2520000" cy="1736029"/>
          </a:xfrm>
          <a:prstGeom prst="rect">
            <a:avLst/>
          </a:prstGeom>
          <a:ln>
            <a:solidFill>
              <a:schemeClr val="tx1"/>
            </a:solidFill>
          </a:ln>
          <a:effectLst>
            <a:outerShdw blurRad="50800" dist="38100" dir="2700000" algn="tl" rotWithShape="0">
              <a:prstClr val="black">
                <a:alpha val="40000"/>
              </a:prstClr>
            </a:outerShdw>
          </a:effectLst>
        </p:spPr>
      </p:pic>
      <p:pic>
        <p:nvPicPr>
          <p:cNvPr id="13" name="Image 12"/>
          <p:cNvPicPr>
            <a:picLocks noChangeAspect="1"/>
          </p:cNvPicPr>
          <p:nvPr/>
        </p:nvPicPr>
        <p:blipFill rotWithShape="1">
          <a:blip r:embed="rId6"/>
          <a:srcRect t="1" r="4843" b="2551"/>
          <a:stretch/>
        </p:blipFill>
        <p:spPr>
          <a:xfrm>
            <a:off x="5371806" y="3403779"/>
            <a:ext cx="3083081" cy="623931"/>
          </a:xfrm>
          <a:prstGeom prst="rect">
            <a:avLst/>
          </a:prstGeom>
          <a:ln>
            <a:solidFill>
              <a:schemeClr val="tx1"/>
            </a:solidFill>
          </a:ln>
          <a:effectLst>
            <a:outerShdw blurRad="50800" dist="38100" dir="2700000" algn="tl" rotWithShape="0">
              <a:prstClr val="black">
                <a:alpha val="40000"/>
              </a:prstClr>
            </a:outerShdw>
          </a:effectLst>
        </p:spPr>
      </p:pic>
      <p:sp>
        <p:nvSpPr>
          <p:cNvPr id="37" name="Rectangle 36"/>
          <p:cNvSpPr/>
          <p:nvPr/>
        </p:nvSpPr>
        <p:spPr>
          <a:xfrm>
            <a:off x="6209910" y="3880810"/>
            <a:ext cx="612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8" name="Rectangle 37"/>
          <p:cNvSpPr/>
          <p:nvPr/>
        </p:nvSpPr>
        <p:spPr>
          <a:xfrm>
            <a:off x="6223162" y="3544039"/>
            <a:ext cx="18000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smtClean="0">
              <a:solidFill>
                <a:srgbClr val="4D4F53"/>
              </a:solidFill>
            </a:endParaRPr>
          </a:p>
        </p:txBody>
      </p:sp>
      <p:cxnSp>
        <p:nvCxnSpPr>
          <p:cNvPr id="15" name="Connecteur en angle 14"/>
          <p:cNvCxnSpPr>
            <a:endCxn id="36" idx="1"/>
          </p:cNvCxnSpPr>
          <p:nvPr/>
        </p:nvCxnSpPr>
        <p:spPr>
          <a:xfrm rot="16200000" flipH="1">
            <a:off x="274614" y="2724013"/>
            <a:ext cx="1079020" cy="330315"/>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grpSp>
        <p:nvGrpSpPr>
          <p:cNvPr id="26" name="Groupe 25"/>
          <p:cNvGrpSpPr/>
          <p:nvPr/>
        </p:nvGrpSpPr>
        <p:grpSpPr>
          <a:xfrm>
            <a:off x="4840740" y="19229"/>
            <a:ext cx="4303260" cy="2631490"/>
            <a:chOff x="4840740" y="19229"/>
            <a:chExt cx="4303260" cy="2631490"/>
          </a:xfrm>
        </p:grpSpPr>
        <p:pic>
          <p:nvPicPr>
            <p:cNvPr id="30" name="Image 29"/>
            <p:cNvPicPr>
              <a:picLocks noChangeAspect="1"/>
            </p:cNvPicPr>
            <p:nvPr/>
          </p:nvPicPr>
          <p:blipFill rotWithShape="1">
            <a:blip r:embed="rId7"/>
            <a:srcRect t="18162" r="15220"/>
            <a:stretch/>
          </p:blipFill>
          <p:spPr>
            <a:xfrm>
              <a:off x="5789926" y="2399070"/>
              <a:ext cx="209958" cy="202673"/>
            </a:xfrm>
            <a:prstGeom prst="rect">
              <a:avLst/>
            </a:prstGeom>
          </p:spPr>
        </p:pic>
        <p:sp>
          <p:nvSpPr>
            <p:cNvPr id="5" name="ZoneTexte 4"/>
            <p:cNvSpPr txBox="1"/>
            <p:nvPr/>
          </p:nvSpPr>
          <p:spPr>
            <a:xfrm>
              <a:off x="4966651" y="19229"/>
              <a:ext cx="4177349" cy="2631490"/>
            </a:xfrm>
            <a:prstGeom prst="rect">
              <a:avLst/>
            </a:prstGeom>
            <a:noFill/>
          </p:spPr>
          <p:txBody>
            <a:bodyPr wrap="square" rtlCol="0">
              <a:spAutoFit/>
            </a:bodyPr>
            <a:lstStyle/>
            <a:p>
              <a:pPr>
                <a:lnSpc>
                  <a:spcPct val="150000"/>
                </a:lnSpc>
              </a:pPr>
              <a:r>
                <a:rPr lang="fr-FR" sz="1100" dirty="0" smtClean="0">
                  <a:solidFill>
                    <a:srgbClr val="4D4F53"/>
                  </a:solidFill>
                </a:rPr>
                <a:t>Onglet « </a:t>
              </a:r>
              <a:r>
                <a:rPr lang="fr-FR" sz="1100" dirty="0" err="1" smtClean="0">
                  <a:solidFill>
                    <a:srgbClr val="4D4F53"/>
                  </a:solidFill>
                </a:rPr>
                <a:t>Donn</a:t>
              </a:r>
              <a:r>
                <a:rPr lang="fr-FR" sz="1100" dirty="0">
                  <a:solidFill>
                    <a:srgbClr val="4D4F53"/>
                  </a:solidFill>
                </a:rPr>
                <a:t>. div/ stockage </a:t>
              </a:r>
              <a:r>
                <a:rPr lang="fr-FR" sz="1100" dirty="0" smtClean="0">
                  <a:solidFill>
                    <a:srgbClr val="4D4F53"/>
                  </a:solidFill>
                </a:rPr>
                <a:t>1 » </a:t>
              </a:r>
              <a:r>
                <a:rPr lang="fr-FR" sz="1100" dirty="0">
                  <a:solidFill>
                    <a:srgbClr val="4D4F53"/>
                  </a:solidFill>
                </a:rPr>
                <a:t>: saisir </a:t>
              </a:r>
              <a:r>
                <a:rPr lang="fr-FR" sz="1100" dirty="0" smtClean="0">
                  <a:solidFill>
                    <a:srgbClr val="4D4F53"/>
                  </a:solidFill>
                </a:rPr>
                <a:t>l'Unité </a:t>
              </a:r>
              <a:r>
                <a:rPr lang="fr-FR" sz="1100" dirty="0">
                  <a:solidFill>
                    <a:srgbClr val="4D4F53"/>
                  </a:solidFill>
                </a:rPr>
                <a:t>de quantité de </a:t>
              </a:r>
              <a:r>
                <a:rPr lang="fr-FR" sz="1100" dirty="0" smtClean="0">
                  <a:solidFill>
                    <a:srgbClr val="4D4F53"/>
                  </a:solidFill>
                </a:rPr>
                <a:t>base</a:t>
              </a:r>
            </a:p>
            <a:p>
              <a:pPr>
                <a:lnSpc>
                  <a:spcPct val="150000"/>
                </a:lnSpc>
              </a:pPr>
              <a:r>
                <a:rPr lang="fr-FR" sz="1100" dirty="0" smtClean="0">
                  <a:solidFill>
                    <a:srgbClr val="4D4F53"/>
                  </a:solidFill>
                </a:rPr>
                <a:t>Saisir l'Unité </a:t>
              </a:r>
              <a:r>
                <a:rPr lang="fr-FR" sz="1100" dirty="0">
                  <a:solidFill>
                    <a:srgbClr val="4D4F53"/>
                  </a:solidFill>
                </a:rPr>
                <a:t>de </a:t>
              </a:r>
              <a:r>
                <a:rPr lang="fr-FR" sz="1100" dirty="0" smtClean="0">
                  <a:solidFill>
                    <a:srgbClr val="4D4F53"/>
                  </a:solidFill>
                </a:rPr>
                <a:t>sortie </a:t>
              </a:r>
              <a:r>
                <a:rPr lang="fr-FR" sz="1100" dirty="0">
                  <a:solidFill>
                    <a:srgbClr val="4D4F53"/>
                  </a:solidFill>
                </a:rPr>
                <a:t>si </a:t>
              </a:r>
              <a:r>
                <a:rPr lang="fr-FR" sz="1100" dirty="0" smtClean="0">
                  <a:solidFill>
                    <a:srgbClr val="4D4F53"/>
                  </a:solidFill>
                </a:rPr>
                <a:t>alternative</a:t>
              </a:r>
            </a:p>
            <a:p>
              <a:pPr>
                <a:lnSpc>
                  <a:spcPct val="150000"/>
                </a:lnSpc>
              </a:pPr>
              <a:r>
                <a:rPr lang="fr-FR" sz="1100" dirty="0" smtClean="0">
                  <a:solidFill>
                    <a:srgbClr val="4D4F53"/>
                  </a:solidFill>
                </a:rPr>
                <a:t>Saisir </a:t>
              </a:r>
              <a:r>
                <a:rPr lang="fr-FR" sz="1100" dirty="0">
                  <a:solidFill>
                    <a:srgbClr val="4D4F53"/>
                  </a:solidFill>
                </a:rPr>
                <a:t>un </a:t>
              </a:r>
              <a:r>
                <a:rPr lang="fr-FR" sz="1100" dirty="0" smtClean="0">
                  <a:solidFill>
                    <a:srgbClr val="4D4F53"/>
                  </a:solidFill>
                </a:rPr>
                <a:t>Emplacement </a:t>
              </a:r>
              <a:r>
                <a:rPr lang="fr-FR" sz="1100" dirty="0">
                  <a:solidFill>
                    <a:srgbClr val="4D4F53"/>
                  </a:solidFill>
                </a:rPr>
                <a:t>par </a:t>
              </a:r>
              <a:r>
                <a:rPr lang="fr-FR" sz="1100" dirty="0" smtClean="0">
                  <a:solidFill>
                    <a:srgbClr val="4D4F53"/>
                  </a:solidFill>
                </a:rPr>
                <a:t>défaut</a:t>
              </a:r>
              <a:endParaRPr lang="fr-FR" sz="1100" dirty="0">
                <a:solidFill>
                  <a:srgbClr val="4D4F53"/>
                </a:solidFill>
              </a:endParaRPr>
            </a:p>
            <a:p>
              <a:pPr>
                <a:lnSpc>
                  <a:spcPct val="150000"/>
                </a:lnSpc>
              </a:pPr>
              <a:r>
                <a:rPr lang="fr-FR" sz="1100" dirty="0" smtClean="0">
                  <a:solidFill>
                    <a:srgbClr val="4D4F53"/>
                  </a:solidFill>
                </a:rPr>
                <a:t>Onglet « Gestion </a:t>
              </a:r>
              <a:r>
                <a:rPr lang="fr-FR" sz="1100" dirty="0">
                  <a:solidFill>
                    <a:srgbClr val="4D4F53"/>
                  </a:solidFill>
                </a:rPr>
                <a:t>emplacement magasin </a:t>
              </a:r>
              <a:r>
                <a:rPr lang="fr-FR" sz="1100" dirty="0" smtClean="0">
                  <a:solidFill>
                    <a:srgbClr val="4D4F53"/>
                  </a:solidFill>
                </a:rPr>
                <a:t>1 » </a:t>
              </a:r>
              <a:r>
                <a:rPr lang="fr-FR" sz="1100" dirty="0">
                  <a:solidFill>
                    <a:srgbClr val="4D4F53"/>
                  </a:solidFill>
                </a:rPr>
                <a:t>: entrer un </a:t>
              </a:r>
              <a:r>
                <a:rPr lang="fr-FR" sz="1100" dirty="0" smtClean="0">
                  <a:solidFill>
                    <a:srgbClr val="4D4F53"/>
                  </a:solidFill>
                </a:rPr>
                <a:t>Type </a:t>
              </a:r>
              <a:r>
                <a:rPr lang="fr-FR" sz="1100" dirty="0">
                  <a:solidFill>
                    <a:srgbClr val="4D4F53"/>
                  </a:solidFill>
                </a:rPr>
                <a:t>de magasin pour </a:t>
              </a:r>
              <a:r>
                <a:rPr lang="fr-FR" sz="1100" dirty="0" smtClean="0">
                  <a:solidFill>
                    <a:srgbClr val="4D4F53"/>
                  </a:solidFill>
                </a:rPr>
                <a:t>SM</a:t>
              </a:r>
            </a:p>
            <a:p>
              <a:pPr>
                <a:lnSpc>
                  <a:spcPct val="150000"/>
                </a:lnSpc>
              </a:pPr>
              <a:r>
                <a:rPr lang="fr-FR" sz="1100" dirty="0" smtClean="0">
                  <a:solidFill>
                    <a:srgbClr val="4D4F53"/>
                  </a:solidFill>
                </a:rPr>
                <a:t>Entrer </a:t>
              </a:r>
              <a:r>
                <a:rPr lang="fr-FR" sz="1100" dirty="0">
                  <a:solidFill>
                    <a:srgbClr val="4D4F53"/>
                  </a:solidFill>
                </a:rPr>
                <a:t>un </a:t>
              </a:r>
              <a:r>
                <a:rPr lang="fr-FR" sz="1100" dirty="0" smtClean="0">
                  <a:solidFill>
                    <a:srgbClr val="4D4F53"/>
                  </a:solidFill>
                </a:rPr>
                <a:t>Type </a:t>
              </a:r>
              <a:r>
                <a:rPr lang="fr-FR" sz="1100" dirty="0">
                  <a:solidFill>
                    <a:srgbClr val="4D4F53"/>
                  </a:solidFill>
                </a:rPr>
                <a:t>de magasin pour </a:t>
              </a:r>
              <a:r>
                <a:rPr lang="fr-FR" sz="1100" dirty="0" smtClean="0">
                  <a:solidFill>
                    <a:srgbClr val="4D4F53"/>
                  </a:solidFill>
                </a:rPr>
                <a:t>EM</a:t>
              </a:r>
              <a:endParaRPr lang="fr-FR" sz="1100" dirty="0">
                <a:solidFill>
                  <a:srgbClr val="4D4F53"/>
                </a:solidFill>
              </a:endParaRPr>
            </a:p>
            <a:p>
              <a:pPr>
                <a:lnSpc>
                  <a:spcPct val="150000"/>
                </a:lnSpc>
              </a:pPr>
              <a:r>
                <a:rPr lang="fr-FR" sz="1100" dirty="0" smtClean="0">
                  <a:solidFill>
                    <a:srgbClr val="4D4F53"/>
                  </a:solidFill>
                </a:rPr>
                <a:t>Onglet « Gestion </a:t>
              </a:r>
              <a:r>
                <a:rPr lang="fr-FR" sz="1100" dirty="0">
                  <a:solidFill>
                    <a:srgbClr val="4D4F53"/>
                  </a:solidFill>
                </a:rPr>
                <a:t>emplacement magasin </a:t>
              </a:r>
              <a:r>
                <a:rPr lang="fr-FR" sz="1100" dirty="0" smtClean="0">
                  <a:solidFill>
                    <a:srgbClr val="4D4F53"/>
                  </a:solidFill>
                </a:rPr>
                <a:t>2 » </a:t>
              </a:r>
              <a:r>
                <a:rPr lang="fr-FR" sz="1100" dirty="0">
                  <a:solidFill>
                    <a:srgbClr val="4D4F53"/>
                  </a:solidFill>
                </a:rPr>
                <a:t>: saisir un </a:t>
              </a:r>
              <a:r>
                <a:rPr lang="fr-FR" sz="1100" dirty="0" smtClean="0">
                  <a:solidFill>
                    <a:srgbClr val="4D4F53"/>
                  </a:solidFill>
                </a:rPr>
                <a:t>Emplacement</a:t>
              </a:r>
              <a:endParaRPr lang="fr-FR" sz="1100" dirty="0">
                <a:solidFill>
                  <a:srgbClr val="4D4F53"/>
                </a:solidFill>
              </a:endParaRPr>
            </a:p>
            <a:p>
              <a:pPr>
                <a:lnSpc>
                  <a:spcPct val="150000"/>
                </a:lnSpc>
              </a:pPr>
              <a:r>
                <a:rPr lang="fr-FR" sz="1100" dirty="0" smtClean="0">
                  <a:solidFill>
                    <a:srgbClr val="4D4F53"/>
                  </a:solidFill>
                </a:rPr>
                <a:t>Onglet « Comptabilité 1 » </a:t>
              </a:r>
              <a:r>
                <a:rPr lang="fr-FR" sz="1100" dirty="0">
                  <a:solidFill>
                    <a:srgbClr val="4D4F53"/>
                  </a:solidFill>
                </a:rPr>
                <a:t>: entrer une </a:t>
              </a:r>
              <a:r>
                <a:rPr lang="fr-FR" sz="1100" dirty="0" smtClean="0">
                  <a:solidFill>
                    <a:srgbClr val="4D4F53"/>
                  </a:solidFill>
                </a:rPr>
                <a:t>Classe </a:t>
              </a:r>
              <a:r>
                <a:rPr lang="fr-FR" sz="1100" dirty="0">
                  <a:solidFill>
                    <a:srgbClr val="4D4F53"/>
                  </a:solidFill>
                </a:rPr>
                <a:t>de </a:t>
              </a:r>
              <a:r>
                <a:rPr lang="fr-FR" sz="1100" dirty="0" smtClean="0">
                  <a:solidFill>
                    <a:srgbClr val="4D4F53"/>
                  </a:solidFill>
                </a:rPr>
                <a:t>valorisation </a:t>
              </a:r>
              <a:endParaRPr lang="fr-FR" sz="1100" dirty="0">
                <a:solidFill>
                  <a:srgbClr val="4D4F53"/>
                </a:solidFill>
              </a:endParaRPr>
            </a:p>
            <a:p>
              <a:pPr>
                <a:lnSpc>
                  <a:spcPct val="150000"/>
                </a:lnSpc>
              </a:pPr>
              <a:r>
                <a:rPr lang="fr-FR" sz="1100" dirty="0" smtClean="0">
                  <a:solidFill>
                    <a:srgbClr val="4D4F53"/>
                  </a:solidFill>
                </a:rPr>
                <a:t>Entrer </a:t>
              </a:r>
              <a:r>
                <a:rPr lang="fr-FR" sz="1100" dirty="0">
                  <a:solidFill>
                    <a:srgbClr val="4D4F53"/>
                  </a:solidFill>
                </a:rPr>
                <a:t>le </a:t>
              </a:r>
              <a:r>
                <a:rPr lang="fr-FR" sz="1100" dirty="0" smtClean="0">
                  <a:solidFill>
                    <a:srgbClr val="4D4F53"/>
                  </a:solidFill>
                </a:rPr>
                <a:t>Prix </a:t>
              </a:r>
              <a:r>
                <a:rPr lang="fr-FR" sz="1100" dirty="0">
                  <a:solidFill>
                    <a:srgbClr val="4D4F53"/>
                  </a:solidFill>
                </a:rPr>
                <a:t>moyen </a:t>
              </a:r>
              <a:r>
                <a:rPr lang="fr-FR" sz="1100" dirty="0" smtClean="0">
                  <a:solidFill>
                    <a:srgbClr val="4D4F53"/>
                  </a:solidFill>
                </a:rPr>
                <a:t>pondéré</a:t>
              </a:r>
              <a:endParaRPr lang="fr-FR" sz="1100" dirty="0">
                <a:solidFill>
                  <a:srgbClr val="4D4F53"/>
                </a:solidFill>
              </a:endParaRPr>
            </a:p>
            <a:p>
              <a:pPr>
                <a:lnSpc>
                  <a:spcPct val="150000"/>
                </a:lnSpc>
              </a:pPr>
              <a:r>
                <a:rPr lang="fr-FR" sz="1100" dirty="0" smtClean="0">
                  <a:solidFill>
                    <a:srgbClr val="4D4F53"/>
                  </a:solidFill>
                </a:rPr>
                <a:t>Sauvegarder</a:t>
              </a:r>
              <a:endParaRPr lang="fr-FR" sz="1100" dirty="0">
                <a:solidFill>
                  <a:srgbClr val="4D4F53"/>
                </a:solidFill>
              </a:endParaRPr>
            </a:p>
          </p:txBody>
        </p:sp>
        <p:sp>
          <p:nvSpPr>
            <p:cNvPr id="6" name="Ellipse 5"/>
            <p:cNvSpPr/>
            <p:nvPr/>
          </p:nvSpPr>
          <p:spPr>
            <a:xfrm>
              <a:off x="4840740" y="15938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7" name="Ellipse 6"/>
            <p:cNvSpPr/>
            <p:nvPr/>
          </p:nvSpPr>
          <p:spPr>
            <a:xfrm>
              <a:off x="4840740" y="89917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8" name="Ellipse 7"/>
            <p:cNvSpPr/>
            <p:nvPr/>
          </p:nvSpPr>
          <p:spPr>
            <a:xfrm>
              <a:off x="4840740" y="1388774"/>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31" name="Ellipse 30"/>
            <p:cNvSpPr/>
            <p:nvPr/>
          </p:nvSpPr>
          <p:spPr>
            <a:xfrm>
              <a:off x="4840740" y="189785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5" name="Ellipse 44"/>
            <p:cNvSpPr/>
            <p:nvPr/>
          </p:nvSpPr>
          <p:spPr>
            <a:xfrm>
              <a:off x="4846996" y="239829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
          <p:nvSpPr>
            <p:cNvPr id="40" name="Ellipse 39"/>
            <p:cNvSpPr/>
            <p:nvPr/>
          </p:nvSpPr>
          <p:spPr>
            <a:xfrm>
              <a:off x="4840740" y="642299"/>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41" name="Ellipse 40"/>
            <p:cNvSpPr/>
            <p:nvPr/>
          </p:nvSpPr>
          <p:spPr>
            <a:xfrm>
              <a:off x="4840740" y="40691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43" name="Ellipse 42"/>
            <p:cNvSpPr/>
            <p:nvPr/>
          </p:nvSpPr>
          <p:spPr>
            <a:xfrm>
              <a:off x="4840740" y="1643316"/>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7" name="Ellipse 46"/>
            <p:cNvSpPr/>
            <p:nvPr/>
          </p:nvSpPr>
          <p:spPr>
            <a:xfrm>
              <a:off x="4840740" y="214142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8</a:t>
              </a:r>
              <a:endParaRPr lang="fr-FR" sz="900" b="1" dirty="0" smtClean="0">
                <a:solidFill>
                  <a:schemeClr val="bg1"/>
                </a:solidFill>
              </a:endParaRPr>
            </a:p>
          </p:txBody>
        </p:sp>
      </p:grpSp>
      <p:sp>
        <p:nvSpPr>
          <p:cNvPr id="49" name="Titre 1"/>
          <p:cNvSpPr>
            <a:spLocks noGrp="1"/>
          </p:cNvSpPr>
          <p:nvPr>
            <p:ph type="title"/>
          </p:nvPr>
        </p:nvSpPr>
        <p:spPr>
          <a:xfrm>
            <a:off x="457200" y="206375"/>
            <a:ext cx="4043363" cy="857250"/>
          </a:xfrm>
        </p:spPr>
        <p:txBody>
          <a:bodyPr>
            <a:normAutofit fontScale="90000"/>
          </a:bodyPr>
          <a:lstStyle/>
          <a:p>
            <a:r>
              <a:rPr lang="fr-FR" altLang="en-US" sz="2400" dirty="0"/>
              <a:t>Mode opératoire</a:t>
            </a:r>
            <a:br>
              <a:rPr lang="fr-FR" altLang="en-US" sz="2400" dirty="0"/>
            </a:br>
            <a:r>
              <a:rPr lang="fr-FR" altLang="en-US" dirty="0" smtClean="0"/>
              <a:t>MM01– </a:t>
            </a:r>
            <a:r>
              <a:rPr lang="fr-FR" altLang="en-US" dirty="0"/>
              <a:t>Créer un article (équipement, acheté, géré avec n° de série) 5</a:t>
            </a:r>
            <a:r>
              <a:rPr lang="fr-FR" altLang="en-US" dirty="0" smtClean="0"/>
              <a:t>/5</a:t>
            </a:r>
            <a:endParaRPr lang="en-US" dirty="0"/>
          </a:p>
        </p:txBody>
      </p:sp>
      <p:sp>
        <p:nvSpPr>
          <p:cNvPr id="50" name="Rectangle 49"/>
          <p:cNvSpPr/>
          <p:nvPr/>
        </p:nvSpPr>
        <p:spPr>
          <a:xfrm>
            <a:off x="1636868" y="3921462"/>
            <a:ext cx="14400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smtClean="0">
              <a:solidFill>
                <a:srgbClr val="4D4F53"/>
              </a:solidFill>
            </a:endParaRPr>
          </a:p>
        </p:txBody>
      </p:sp>
      <p:sp>
        <p:nvSpPr>
          <p:cNvPr id="51" name="Rectangle 50"/>
          <p:cNvSpPr/>
          <p:nvPr/>
        </p:nvSpPr>
        <p:spPr>
          <a:xfrm>
            <a:off x="2782043" y="3917110"/>
            <a:ext cx="216000" cy="108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smtClean="0">
              <a:solidFill>
                <a:srgbClr val="4D4F53"/>
              </a:solidFill>
            </a:endParaRPr>
          </a:p>
        </p:txBody>
      </p:sp>
      <p:sp>
        <p:nvSpPr>
          <p:cNvPr id="46" name="Ellipse 45"/>
          <p:cNvSpPr/>
          <p:nvPr/>
        </p:nvSpPr>
        <p:spPr>
          <a:xfrm>
            <a:off x="3009183" y="388997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35" name="Ellipse 34"/>
          <p:cNvSpPr/>
          <p:nvPr/>
        </p:nvSpPr>
        <p:spPr>
          <a:xfrm>
            <a:off x="1780868" y="389382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48" name="Ellipse 47"/>
          <p:cNvSpPr/>
          <p:nvPr/>
        </p:nvSpPr>
        <p:spPr>
          <a:xfrm>
            <a:off x="6403162" y="3515790"/>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52" name="Ellipse 51"/>
          <p:cNvSpPr/>
          <p:nvPr/>
        </p:nvSpPr>
        <p:spPr>
          <a:xfrm>
            <a:off x="5491981" y="4129605"/>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
        <p:nvSpPr>
          <p:cNvPr id="53" name="Ellipse 52"/>
          <p:cNvSpPr/>
          <p:nvPr/>
        </p:nvSpPr>
        <p:spPr>
          <a:xfrm>
            <a:off x="5066212" y="2748162"/>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54" name="Ellipse 53"/>
          <p:cNvSpPr/>
          <p:nvPr/>
        </p:nvSpPr>
        <p:spPr>
          <a:xfrm>
            <a:off x="6789784" y="386083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8</a:t>
            </a:r>
            <a:endParaRPr lang="fr-FR" sz="900" b="1" dirty="0" smtClean="0">
              <a:solidFill>
                <a:schemeClr val="bg1"/>
              </a:solidFill>
            </a:endParaRPr>
          </a:p>
        </p:txBody>
      </p:sp>
      <p:cxnSp>
        <p:nvCxnSpPr>
          <p:cNvPr id="16" name="Connecteur en angle 15"/>
          <p:cNvCxnSpPr>
            <a:stCxn id="36" idx="3"/>
            <a:endCxn id="10" idx="1"/>
          </p:cNvCxnSpPr>
          <p:nvPr/>
        </p:nvCxnSpPr>
        <p:spPr>
          <a:xfrm flipV="1">
            <a:off x="3499282" y="2990470"/>
            <a:ext cx="314568" cy="438211"/>
          </a:xfrm>
          <a:prstGeom prst="bentConnector3">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9" name="Connecteur en angle 18"/>
          <p:cNvCxnSpPr>
            <a:endCxn id="13" idx="1"/>
          </p:cNvCxnSpPr>
          <p:nvPr/>
        </p:nvCxnSpPr>
        <p:spPr>
          <a:xfrm>
            <a:off x="4966651" y="3336607"/>
            <a:ext cx="405155" cy="379138"/>
          </a:xfrm>
          <a:prstGeom prst="bentConnector3">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1" name="Connecteur en angle 20"/>
          <p:cNvCxnSpPr>
            <a:stCxn id="13" idx="2"/>
            <a:endCxn id="32" idx="0"/>
          </p:cNvCxnSpPr>
          <p:nvPr/>
        </p:nvCxnSpPr>
        <p:spPr>
          <a:xfrm rot="5400000">
            <a:off x="6548286" y="3841831"/>
            <a:ext cx="179183" cy="550941"/>
          </a:xfrm>
          <a:prstGeom prst="bentConnector3">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60" name="Ellipse 59"/>
          <p:cNvSpPr/>
          <p:nvPr/>
        </p:nvSpPr>
        <p:spPr>
          <a:xfrm>
            <a:off x="1274907" y="1970427"/>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63" name="Ellipse 62"/>
          <p:cNvSpPr/>
          <p:nvPr/>
        </p:nvSpPr>
        <p:spPr>
          <a:xfrm>
            <a:off x="1274298" y="2104861"/>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9" name="Ellipse 28"/>
          <p:cNvSpPr/>
          <p:nvPr/>
        </p:nvSpPr>
        <p:spPr>
          <a:xfrm>
            <a:off x="2814739" y="1942718"/>
            <a:ext cx="14614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Tree>
    <p:extLst>
      <p:ext uri="{BB962C8B-B14F-4D97-AF65-F5344CB8AC3E}">
        <p14:creationId xmlns:p14="http://schemas.microsoft.com/office/powerpoint/2010/main" val="29226856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5" y="1058111"/>
            <a:ext cx="2669761" cy="756458"/>
          </a:xfrm>
          <a:prstGeom prst="rect">
            <a:avLst/>
          </a:prstGeom>
          <a:noFill/>
          <a:ln w="12700" algn="ctr">
            <a:noFill/>
            <a:miter lim="800000"/>
            <a:headEnd/>
            <a:tailEnd/>
          </a:ln>
        </p:spPr>
        <p:txBody>
          <a:bodyPr wrap="square"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a:t>
            </a:r>
            <a:r>
              <a:rPr lang="fr-FR" sz="1350" dirty="0">
                <a:solidFill>
                  <a:srgbClr val="4F81BD"/>
                </a:solidFill>
                <a:latin typeface="Arial Narrow" pitchFamily="34" charset="0"/>
                <a:ea typeface="ＭＳ Ｐゴシック"/>
                <a:cs typeface="ＭＳ Ｐゴシック"/>
              </a:rPr>
              <a:t>un article (équipement, acheté, géré avec </a:t>
            </a:r>
            <a:r>
              <a:rPr lang="fr-FR" sz="1350" dirty="0" smtClean="0">
                <a:solidFill>
                  <a:srgbClr val="4F81BD"/>
                </a:solidFill>
                <a:latin typeface="Arial Narrow" pitchFamily="34" charset="0"/>
                <a:ea typeface="ＭＳ Ｐゴシック"/>
                <a:cs typeface="ＭＳ Ｐゴシック"/>
              </a:rPr>
              <a:t>numéro de </a:t>
            </a:r>
            <a:r>
              <a:rPr lang="fr-FR" sz="1350" dirty="0">
                <a:solidFill>
                  <a:srgbClr val="4F81BD"/>
                </a:solidFill>
                <a:latin typeface="Arial Narrow" pitchFamily="34" charset="0"/>
                <a:ea typeface="ＭＳ Ｐゴシック"/>
                <a:cs typeface="ＭＳ Ｐゴシック"/>
              </a:rPr>
              <a:t>série)</a:t>
            </a:r>
            <a:endParaRPr lang="fr-FR" sz="1350" dirty="0" smtClean="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9345119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sz="1600" dirty="0" smtClean="0"/>
              <a:t>La création des articles fait partie du processus données de base achats</a:t>
            </a:r>
          </a:p>
          <a:p>
            <a:pPr marL="171450" indent="-171450">
              <a:buClr>
                <a:srgbClr val="0070C0"/>
              </a:buClr>
              <a:buSzPct val="100000"/>
              <a:buFont typeface="Arial" panose="020B0604020202020204" pitchFamily="34" charset="0"/>
              <a:buChar char="•"/>
            </a:pPr>
            <a:r>
              <a:rPr lang="fr-FR" sz="1600" dirty="0" smtClean="0"/>
              <a:t>Les articles sont créés et maintenus par le bureau de standardisation</a:t>
            </a:r>
          </a:p>
          <a:p>
            <a:pPr marL="171450" indent="-171450">
              <a:buClr>
                <a:srgbClr val="0070C0"/>
              </a:buClr>
              <a:buSzPct val="100000"/>
              <a:buFont typeface="Arial" panose="020B0604020202020204" pitchFamily="34" charset="0"/>
              <a:buChar char="•"/>
            </a:pPr>
            <a:r>
              <a:rPr lang="fr-FR" sz="1600" dirty="0" smtClean="0"/>
              <a:t>Les articles sont utilisés dans plusieurs transactions SAP. Certaines informations des données articles affectent les processus métier</a:t>
            </a:r>
          </a:p>
          <a:p>
            <a:pPr marL="171450" indent="-171450">
              <a:buClr>
                <a:srgbClr val="0070C0"/>
              </a:buClr>
              <a:buSzPct val="100000"/>
              <a:buFont typeface="Arial" panose="020B0604020202020204" pitchFamily="34" charset="0"/>
              <a:buChar char="•"/>
            </a:pPr>
            <a:r>
              <a:rPr lang="fr-FR" sz="1600" dirty="0" smtClean="0"/>
              <a:t>Les données articles sont structurantes pour le bon fonctionnement des processus Achats, Ventes et Maintenance</a:t>
            </a:r>
          </a:p>
          <a:p>
            <a:pPr marL="171450" indent="-171450">
              <a:buClr>
                <a:srgbClr val="0070C0"/>
              </a:buClr>
              <a:buSzPct val="100000"/>
              <a:buFont typeface="Arial" panose="020B0604020202020204" pitchFamily="34" charset="0"/>
              <a:buChar char="•"/>
            </a:pPr>
            <a:endParaRPr lang="en-US" sz="1600" dirty="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VHEKTECQ7ECW-1532981086-4381</_dlc_DocId>
    <_dlc_DocIdUrl xmlns="f36dd47d-0b23-43fd-9b2d-c5346ffa1660">
      <Url>http://extranet.cbg-guinee.com/erp/_layouts/15/DocIdRedir.aspx?ID=VHEKTECQ7ECW-1532981086-4381</Url>
      <Description>VHEKTECQ7ECW-1532981086-4381</Description>
    </_dlc_DocIdUrl>
  </documentManagement>
</p:properties>
</file>

<file path=customXml/itemProps1.xml><?xml version="1.0" encoding="utf-8"?>
<ds:datastoreItem xmlns:ds="http://schemas.openxmlformats.org/officeDocument/2006/customXml" ds:itemID="{14BA08AC-D587-4EB1-88A6-C19E703804A5}"/>
</file>

<file path=customXml/itemProps2.xml><?xml version="1.0" encoding="utf-8"?>
<ds:datastoreItem xmlns:ds="http://schemas.openxmlformats.org/officeDocument/2006/customXml" ds:itemID="{DFE7DD0B-0BE8-4E24-A363-4DD0A01C5DCF}"/>
</file>

<file path=customXml/itemProps3.xml><?xml version="1.0" encoding="utf-8"?>
<ds:datastoreItem xmlns:ds="http://schemas.openxmlformats.org/officeDocument/2006/customXml" ds:itemID="{E09F8057-4DFE-4127-8C74-C9A6C887F220}"/>
</file>

<file path=customXml/itemProps4.xml><?xml version="1.0" encoding="utf-8"?>
<ds:datastoreItem xmlns:ds="http://schemas.openxmlformats.org/officeDocument/2006/customXml" ds:itemID="{6B08D313-DD74-49B0-B6A4-96BD802D9198}"/>
</file>

<file path=docProps/app.xml><?xml version="1.0" encoding="utf-8"?>
<Properties xmlns="http://schemas.openxmlformats.org/officeDocument/2006/extended-properties" xmlns:vt="http://schemas.openxmlformats.org/officeDocument/2006/docPropsVTypes">
  <Template/>
  <TotalTime>0</TotalTime>
  <Words>1214</Words>
  <Application>Microsoft Office PowerPoint</Application>
  <PresentationFormat>Affichage à l'écran (16:9)</PresentationFormat>
  <Paragraphs>457</Paragraphs>
  <Slides>27</Slides>
  <Notes>12</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27</vt:i4>
      </vt:variant>
    </vt:vector>
  </HeadingPairs>
  <TitlesOfParts>
    <vt:vector size="36" baseType="lpstr">
      <vt:lpstr>ＭＳ Ｐゴシック</vt:lpstr>
      <vt:lpstr>Arial</vt:lpstr>
      <vt:lpstr>Arial Narrow</vt:lpstr>
      <vt:lpstr>Calibri</vt:lpstr>
      <vt:lpstr>Courier New</vt:lpstr>
      <vt:lpstr>Times New Roman</vt:lpstr>
      <vt:lpstr>Verdana</vt:lpstr>
      <vt:lpstr>Wingdings</vt:lpstr>
      <vt:lpstr>TemplateBE_FR</vt:lpstr>
      <vt:lpstr>Présentation PowerPoint</vt:lpstr>
      <vt:lpstr>Présentation PowerPoint</vt:lpstr>
      <vt:lpstr>Objectifs de la formation</vt:lpstr>
      <vt:lpstr>Présentation PowerPoint</vt:lpstr>
      <vt:lpstr>Description du processus métier Les enjeux du processus</vt:lpstr>
      <vt:lpstr>Description du processus métier Les différents onglets de la fiche article</vt:lpstr>
      <vt:lpstr>Description du processus métier Les types articles définis pour la CBG</vt:lpstr>
      <vt:lpstr>Description du processus métier Gestion des articles</vt:lpstr>
      <vt:lpstr>Description du processus métier </vt:lpstr>
      <vt:lpstr>Présentation PowerPoint</vt:lpstr>
      <vt:lpstr>Description des objets SAP</vt:lpstr>
      <vt:lpstr>Mode opératoire Présentation du mode opératoire dans SAP</vt:lpstr>
      <vt:lpstr>Mode opératoire MM01– Créer un article (pièce de rechange, acheté, géré par lots) 1/5</vt:lpstr>
      <vt:lpstr>Mode opératoire MM01– Créer un article (pièce de rechange, acheté, géré par lots) 2/5</vt:lpstr>
      <vt:lpstr>Mode opératoire MM01– Créer un article (pièce de rechange, acheté, géré par lots) 3/5</vt:lpstr>
      <vt:lpstr>Mode opératoire MM01– Créer un article (pièce de rechange, acheté, géré par lots) 4/5</vt:lpstr>
      <vt:lpstr>Mode opératoire MM01– Créer un article (pièce de rechange, acheté, géré par lots) 5/5</vt:lpstr>
      <vt:lpstr>Présentation PowerPoint</vt:lpstr>
      <vt:lpstr>Mode opératoire MM01– Créer un article (équipement, acheté, géré avec n° de série) 1/5</vt:lpstr>
      <vt:lpstr>Mode opératoire MM01– Créer un article (équipement, acheté, géré avec n° de série) 2/5</vt:lpstr>
      <vt:lpstr>Mode opératoire MM01– Créer un article (équipement, acheté, géré avec n° de série) 3/5</vt:lpstr>
      <vt:lpstr>Mode opératoire MM01– Créer un article (équipement, acheté, géré avec n° de série) 4/5</vt:lpstr>
      <vt:lpstr>Mode opératoire MM01– Créer un article (équipement, acheté, géré avec n° de série) 5/5</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Sardou, Yann</cp:lastModifiedBy>
  <cp:revision>3837</cp:revision>
  <cp:lastPrinted>2015-12-04T18:20:27Z</cp:lastPrinted>
  <dcterms:created xsi:type="dcterms:W3CDTF">2012-05-17T14:14:37Z</dcterms:created>
  <dcterms:modified xsi:type="dcterms:W3CDTF">2015-12-21T11:33:42Z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499171c4-837f-4a9b-983c-bacdb918b419</vt:lpwstr>
  </property>
</Properties>
</file>