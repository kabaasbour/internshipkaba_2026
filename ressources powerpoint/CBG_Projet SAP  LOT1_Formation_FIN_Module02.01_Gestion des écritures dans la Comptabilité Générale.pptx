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7.xml" ContentType="application/vnd.openxmlformats-officedocument.presentationml.slide+xml"/>
  <Override PartName="/ppt/slides/slide28.xml" ContentType="application/vnd.openxmlformats-officedocument.presentationml.slide+xml"/>
  <Override PartName="/ppt/presentation.xml" ContentType="application/vnd.openxmlformats-officedocument.presentationml.presentation.main+xml"/>
  <Override PartName="/ppt/slides/slide26.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6.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3"/>
  </p:notesMasterIdLst>
  <p:handoutMasterIdLst>
    <p:handoutMasterId r:id="rId34"/>
  </p:handoutMasterIdLst>
  <p:sldIdLst>
    <p:sldId id="685" r:id="rId5"/>
    <p:sldId id="686" r:id="rId6"/>
    <p:sldId id="687" r:id="rId7"/>
    <p:sldId id="688" r:id="rId8"/>
    <p:sldId id="723" r:id="rId9"/>
    <p:sldId id="769" r:id="rId10"/>
    <p:sldId id="772" r:id="rId11"/>
    <p:sldId id="775" r:id="rId12"/>
    <p:sldId id="724" r:id="rId13"/>
    <p:sldId id="779" r:id="rId14"/>
    <p:sldId id="765" r:id="rId15"/>
    <p:sldId id="780" r:id="rId16"/>
    <p:sldId id="788" r:id="rId17"/>
    <p:sldId id="770" r:id="rId18"/>
    <p:sldId id="790" r:id="rId19"/>
    <p:sldId id="789" r:id="rId20"/>
    <p:sldId id="783" r:id="rId21"/>
    <p:sldId id="784" r:id="rId22"/>
    <p:sldId id="791" r:id="rId23"/>
    <p:sldId id="773" r:id="rId24"/>
    <p:sldId id="785" r:id="rId25"/>
    <p:sldId id="776" r:id="rId26"/>
    <p:sldId id="786" r:id="rId27"/>
    <p:sldId id="787" r:id="rId28"/>
    <p:sldId id="699" r:id="rId29"/>
    <p:sldId id="725" r:id="rId30"/>
    <p:sldId id="710" r:id="rId31"/>
    <p:sldId id="728" r:id="rId32"/>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76" autoAdjust="0"/>
    <p:restoredTop sz="95565" autoAdjust="0"/>
  </p:normalViewPr>
  <p:slideViewPr>
    <p:cSldViewPr snapToGrid="0" snapToObjects="1">
      <p:cViewPr varScale="1">
        <p:scale>
          <a:sx n="123" d="100"/>
          <a:sy n="123" d="100"/>
        </p:scale>
        <p:origin x="234"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ustomXml" Target="../customXml/item4.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1/18/2016</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18.01.2016</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25</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26</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18/01/2016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6.png"/><Relationship Id="rId7"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11.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1.png"/><Relationship Id="rId7" Type="http://schemas.openxmlformats.org/officeDocument/2006/relationships/image" Target="../media/image11.png"/><Relationship Id="rId2"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20.png"/><Relationship Id="rId12" Type="http://schemas.openxmlformats.org/officeDocument/2006/relationships/image" Target="../media/image13.png"/><Relationship Id="rId2" Type="http://schemas.openxmlformats.org/officeDocument/2006/relationships/image" Target="../media/image42.png"/><Relationship Id="rId1" Type="http://schemas.openxmlformats.org/officeDocument/2006/relationships/slideLayout" Target="../slideLayouts/slideLayout3.xml"/><Relationship Id="rId6" Type="http://schemas.openxmlformats.org/officeDocument/2006/relationships/image" Target="../media/image46.png"/><Relationship Id="rId11" Type="http://schemas.openxmlformats.org/officeDocument/2006/relationships/image" Target="../media/image8.png"/><Relationship Id="rId5" Type="http://schemas.openxmlformats.org/officeDocument/2006/relationships/image" Target="../media/image45.png"/><Relationship Id="rId10" Type="http://schemas.openxmlformats.org/officeDocument/2006/relationships/image" Target="../media/image49.png"/><Relationship Id="rId4" Type="http://schemas.openxmlformats.org/officeDocument/2006/relationships/image" Target="../media/image44.png"/><Relationship Id="rId9"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0.png"/><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image" Target="../media/image58.png"/><Relationship Id="rId11" Type="http://schemas.openxmlformats.org/officeDocument/2006/relationships/image" Target="../media/image61.png"/><Relationship Id="rId5" Type="http://schemas.openxmlformats.org/officeDocument/2006/relationships/image" Target="../media/image52.png"/><Relationship Id="rId10" Type="http://schemas.openxmlformats.org/officeDocument/2006/relationships/image" Target="../media/image60.png"/><Relationship Id="rId4" Type="http://schemas.openxmlformats.org/officeDocument/2006/relationships/image" Target="../media/image57.png"/><Relationship Id="rId9" Type="http://schemas.openxmlformats.org/officeDocument/2006/relationships/image" Target="../media/image59.png"/></Relationships>
</file>

<file path=ppt/slides/_rels/slide2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5.png"/><Relationship Id="rId7" Type="http://schemas.openxmlformats.org/officeDocument/2006/relationships/image" Target="../media/image57.png"/><Relationship Id="rId2"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2.png"/><Relationship Id="rId9"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6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02.01</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des écritures dans la Comptabilité Générale   </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a:t>
            </a:r>
            <a:r>
              <a:rPr lang="fr-FR" altLang="en-US" sz="1800" dirty="0" smtClean="0">
                <a:solidFill>
                  <a:schemeClr val="tx1"/>
                </a:solidFill>
                <a:latin typeface="Arial" charset="0"/>
              </a:rPr>
              <a:t>19.01.2016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6481"/>
            <a:ext cx="4589859" cy="61537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Comprendre le fonctionnement des comptes généraux dans SAP</a:t>
            </a:r>
          </a:p>
          <a:p>
            <a:pPr eaLnBrk="0" hangingPunct="0">
              <a:spcBef>
                <a:spcPts val="225"/>
              </a:spcBef>
              <a:buClr>
                <a:srgbClr val="4F81BD"/>
              </a:buClr>
              <a:defRPr/>
            </a:pPr>
            <a:r>
              <a:rPr lang="fr-FR" sz="900" dirty="0" smtClean="0">
                <a:solidFill>
                  <a:schemeClr val="tx1"/>
                </a:solidFill>
                <a:latin typeface="Arial" pitchFamily="34" charset="0"/>
                <a:cs typeface="Arial" pitchFamily="34" charset="0"/>
              </a:rPr>
              <a:t>    </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3494868"/>
            <a:ext cx="4589859" cy="726276"/>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Enregistrement des pièces comptables</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Affichage et modification des pièces individuelles et en masse </a:t>
            </a: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Affichage des soldes</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Contrepassation individuelle et en masse</a:t>
            </a:r>
          </a:p>
          <a:p>
            <a:pPr marL="0" lvl="1" eaLnBrk="0" hangingPunct="0">
              <a:spcBef>
                <a:spcPts val="225"/>
              </a:spcBef>
              <a:buClr>
                <a:srgbClr val="4F81BD"/>
              </a:buClr>
              <a:defRPr/>
            </a:pPr>
            <a:r>
              <a:rPr lang="fr-FR" sz="900" dirty="0" smtClean="0">
                <a:solidFill>
                  <a:schemeClr val="tx1"/>
                </a:solidFill>
                <a:latin typeface="Arial" pitchFamily="34" charset="0"/>
                <a:cs typeface="Arial" pitchFamily="34" charset="0"/>
              </a:rPr>
              <a:t> </a:t>
            </a: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814852" y="3233542"/>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52317" y="1012639"/>
            <a:ext cx="755335" cy="300082"/>
          </a:xfrm>
          <a:prstGeom prst="rect">
            <a:avLst/>
          </a:prstGeom>
          <a:noFill/>
        </p:spPr>
        <p:txBody>
          <a:bodyPr wrap="none">
            <a:spAutoFit/>
          </a:bodyPr>
          <a:lstStyle/>
          <a:p>
            <a:pPr algn="ctr" eaLnBrk="0" hangingPunct="0">
              <a:spcBef>
                <a:spcPct val="20000"/>
              </a:spcBef>
              <a:buFont typeface="Arial" charset="0"/>
              <a:buNone/>
              <a:defRPr/>
            </a:pPr>
            <a:r>
              <a:rPr lang="fr-FR" sz="1350" b="1" dirty="0" smtClean="0">
                <a:solidFill>
                  <a:srgbClr val="4F81BD"/>
                </a:solidFill>
                <a:cs typeface="Arial" pitchFamily="34" charset="0"/>
              </a:rPr>
              <a:t>Objectif</a:t>
            </a:r>
            <a:endParaRPr lang="fr-FR" sz="1350" b="1" dirty="0">
              <a:solidFill>
                <a:srgbClr val="4F81BD"/>
              </a:solidFill>
              <a:cs typeface="Arial" pitchFamily="34" charset="0"/>
            </a:endParaRP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Généraux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a:t>
            </a:r>
            <a:r>
              <a:rPr lang="fr-FR" altLang="en-US" dirty="0" smtClean="0"/>
              <a:t>3h00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1991262349"/>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8h40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10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30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8h40– 10h10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30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1 h</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10h10 – 11h00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formation</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Description des 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Enregistrement des pièces de comptabilité générale, affichage des pièces, la modification individuelle et en masse</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t>Une pièce de compte général est créée directement dans la composante comptabilité générale (FI-GL), c’est-à-dire sans passer par une comptabilité auxiliaire comme c’est le cas pour les comptes tiers. </a:t>
            </a:r>
          </a:p>
          <a:p>
            <a:r>
              <a:rPr lang="fr-FR" dirty="0" smtClean="0"/>
              <a:t>La comptabilisation d’une pièce est pilotée par l’utilisation des comptes généraux. Ces derniers sont issus du Plan Comptable Opérationnel. « PCO » </a:t>
            </a:r>
            <a:r>
              <a:rPr lang="fr-FR" dirty="0"/>
              <a:t>Le plan comptable est le plus haut niveau de définition et de gestion des comptes </a:t>
            </a:r>
            <a:r>
              <a:rPr lang="fr-FR" dirty="0" smtClean="0"/>
              <a:t>tiers et des comptes généraux au sein d’une société.</a:t>
            </a:r>
            <a:endParaRPr lang="fr-FR" dirty="0"/>
          </a:p>
          <a:p>
            <a:r>
              <a:rPr lang="fr-FR" dirty="0" smtClean="0"/>
              <a:t>L’affichage d’une pièce comptable se fait via la transaction FB03. C’est la même transaction qui est utilisée quand il y a plus d’une pièce. Il faut cliquer sur le pavé liste de pièces pour pouvoir y mettre plusieurs pièces. </a:t>
            </a:r>
          </a:p>
          <a:p>
            <a:r>
              <a:rPr lang="fr-FR" dirty="0" smtClean="0"/>
              <a:t>La modification d’une pièce de comptabilité générale se fait via la transaction FB02. Vous pouvez modifier en masse des pièces de la comptabilité générale via la transaction de consultation : FBL3N.  </a:t>
            </a:r>
          </a:p>
          <a:p>
            <a:r>
              <a:rPr lang="fr-FR" dirty="0" smtClean="0"/>
              <a:t> </a:t>
            </a:r>
            <a:endParaRPr lang="ru-RU" dirty="0"/>
          </a:p>
          <a:p>
            <a:endParaRPr lang="fr-FR" dirty="0" smtClean="0">
              <a:cs typeface="Arial" panose="020B0604020202020204" pitchFamily="34" charset="0"/>
            </a:endParaRPr>
          </a:p>
          <a:p>
            <a:r>
              <a:rPr lang="fr-FR" dirty="0" smtClean="0">
                <a:cs typeface="Arial" panose="020B0604020202020204" pitchFamily="34" charset="0"/>
              </a:rPr>
              <a:t> </a:t>
            </a: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127952863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Affichage des soldes des comptes généraux</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t>Chaque pièce dans SAP est liée à une période comptable. La transaction FAGLB03 permet d’avoir une restitution des pièces période par période avec un solde débit, crédit, le solde et le solde cumulé de toutes les périodes. Grâce à la fonctionnalité drill-down, on peut retourner à l’affichage du compte général depuis la FAGLB03.     </a:t>
            </a:r>
            <a:endParaRPr lang="ru-RU" dirty="0"/>
          </a:p>
          <a:p>
            <a:endParaRPr lang="fr-FR" dirty="0" smtClean="0">
              <a:cs typeface="Arial" panose="020B0604020202020204" pitchFamily="34" charset="0"/>
            </a:endParaRPr>
          </a:p>
          <a:p>
            <a:r>
              <a:rPr lang="fr-FR" dirty="0" smtClean="0">
                <a:cs typeface="Arial" panose="020B0604020202020204" pitchFamily="34" charset="0"/>
              </a:rPr>
              <a:t> </a:t>
            </a: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7</a:t>
            </a:fld>
            <a:endParaRPr lang="fr-FR" altLang="en-US" sz="750">
              <a:solidFill>
                <a:srgbClr val="000000"/>
              </a:solidFill>
            </a:endParaRPr>
          </a:p>
        </p:txBody>
      </p:sp>
    </p:spTree>
    <p:extLst>
      <p:ext uri="{BB962C8B-B14F-4D97-AF65-F5344CB8AC3E}">
        <p14:creationId xmlns:p14="http://schemas.microsoft.com/office/powerpoint/2010/main" val="3438518521"/>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Contrepassation individuelle et en masse des pièces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t>Des erreurs sont possibles lors de la comptabilisation des pièces dans SAP. Ces erreurs ne sont pas irréversibles. Il faut identifier ces pièces comptables erronées et s’assurer que la période de comptabilisation sur laquelle on souhaite annuler est ouverte. </a:t>
            </a:r>
          </a:p>
          <a:p>
            <a:r>
              <a:rPr lang="fr-FR" dirty="0" smtClean="0"/>
              <a:t>La </a:t>
            </a:r>
            <a:r>
              <a:rPr lang="fr-FR" dirty="0"/>
              <a:t>contrepassation d’une pièce comptable se fait via la transaction FB08 quand il s’agit d’une contrepassation individuelle et par la F.80 quand il s’agit d’une contrepassation en masse.  </a:t>
            </a:r>
            <a:endParaRPr lang="ru-RU" dirty="0"/>
          </a:p>
          <a:p>
            <a:r>
              <a:rPr lang="fr-FR" dirty="0" smtClean="0"/>
              <a:t>  </a:t>
            </a:r>
            <a:endParaRPr lang="ru-RU" dirty="0"/>
          </a:p>
          <a:p>
            <a:endParaRPr lang="fr-FR" dirty="0" smtClean="0">
              <a:cs typeface="Arial" panose="020B0604020202020204" pitchFamily="34" charset="0"/>
            </a:endParaRPr>
          </a:p>
          <a:p>
            <a:r>
              <a:rPr lang="fr-FR" dirty="0" smtClean="0">
                <a:cs typeface="Arial" panose="020B0604020202020204" pitchFamily="34" charset="0"/>
              </a:rPr>
              <a:t> </a:t>
            </a: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8</a:t>
            </a:fld>
            <a:endParaRPr lang="fr-FR" altLang="en-US" sz="750">
              <a:solidFill>
                <a:srgbClr val="000000"/>
              </a:solidFill>
            </a:endParaRPr>
          </a:p>
        </p:txBody>
      </p:sp>
    </p:spTree>
    <p:extLst>
      <p:ext uri="{BB962C8B-B14F-4D97-AF65-F5344CB8AC3E}">
        <p14:creationId xmlns:p14="http://schemas.microsoft.com/office/powerpoint/2010/main" val="1426191567"/>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4711"/>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9</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10</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Créer une pièce de Compta </a:t>
              </a:r>
              <a:r>
                <a:rPr lang="fr-FR" sz="800" dirty="0" err="1" smtClean="0">
                  <a:solidFill>
                    <a:prstClr val="white"/>
                  </a:solidFill>
                  <a:latin typeface="Arial" pitchFamily="34" charset="0"/>
                  <a:cs typeface="Arial" pitchFamily="34" charset="0"/>
                </a:rPr>
                <a:t>Gle</a:t>
              </a:r>
              <a:r>
                <a:rPr lang="fr-FR" sz="800" dirty="0" smtClean="0">
                  <a:solidFill>
                    <a:prstClr val="white"/>
                  </a:solidFill>
                  <a:latin typeface="Arial" pitchFamily="34" charset="0"/>
                  <a:cs typeface="Arial" pitchFamily="34" charset="0"/>
                </a:rPr>
                <a:t> </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FB50</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Général</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prstClr val="white"/>
                  </a:solidFill>
                  <a:latin typeface="Arial" pitchFamily="34" charset="0"/>
                  <a:cs typeface="Arial" pitchFamily="34" charset="0"/>
                </a:rPr>
                <a:t>Action</a:t>
              </a:r>
              <a:endParaRPr lang="en-US" sz="825" dirty="0">
                <a:solidFill>
                  <a:prstClr val="white"/>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prstClr val="white"/>
                  </a:solidFill>
                  <a:latin typeface="Arial Narrow" pitchFamily="34" charset="0"/>
                </a:rPr>
                <a:t>Transaction SAP</a:t>
              </a:r>
              <a:endParaRPr lang="en-US" sz="675" b="1" dirty="0">
                <a:solidFill>
                  <a:prstClr val="white"/>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smtClean="0">
                  <a:solidFill>
                    <a:srgbClr val="4D4F53">
                      <a:lumMod val="50000"/>
                    </a:srgbClr>
                  </a:solidFill>
                  <a:latin typeface="Arial Narrow" pitchFamily="34" charset="0"/>
                </a:rPr>
                <a:t>Acteurs </a:t>
              </a:r>
              <a:endParaRPr lang="en-US" sz="675" dirty="0">
                <a:solidFill>
                  <a:srgbClr val="4D4F53">
                    <a:lumMod val="50000"/>
                  </a:srgbClr>
                </a:solidFill>
                <a:latin typeface="Arial Narrow" pitchFamily="34" charset="0"/>
              </a:endParaRPr>
            </a:p>
          </p:txBody>
        </p:sp>
        <p:sp>
          <p:nvSpPr>
            <p:cNvPr id="31" name="Rectangle 30"/>
            <p:cNvSpPr/>
            <p:nvPr/>
          </p:nvSpPr>
          <p:spPr bwMode="auto">
            <a:xfrm>
              <a:off x="1235272" y="3999310"/>
              <a:ext cx="184730" cy="219291"/>
            </a:xfrm>
            <a:prstGeom prst="rect">
              <a:avLst/>
            </a:prstGeom>
          </p:spPr>
          <p:txBody>
            <a:bodyPr wrap="none">
              <a:spAutoFit/>
            </a:bodyPr>
            <a:lstStyle/>
            <a:p>
              <a:pPr algn="ctr">
                <a:defRPr/>
              </a:pP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rgbClr val="4D4F53"/>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2565267" y="216058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Modifier une pièce de Compta </a:t>
              </a:r>
              <a:r>
                <a:rPr lang="fr-FR" sz="800" dirty="0" err="1" smtClean="0">
                  <a:solidFill>
                    <a:schemeClr val="bg1"/>
                  </a:solidFill>
                  <a:latin typeface="Arial" pitchFamily="34" charset="0"/>
                  <a:cs typeface="Arial" pitchFamily="34" charset="0"/>
                </a:rPr>
                <a:t>Gle</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FB02 / FBL3N</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Général</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122846" y="2165706"/>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une pièce de Compta </a:t>
              </a:r>
              <a:r>
                <a:rPr lang="fr-FR" sz="800" dirty="0" err="1" smtClean="0">
                  <a:solidFill>
                    <a:schemeClr val="bg1"/>
                  </a:solidFill>
                  <a:latin typeface="Arial" pitchFamily="34" charset="0"/>
                  <a:cs typeface="Arial" pitchFamily="34" charset="0"/>
                </a:rPr>
                <a:t>Gle</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FB03</a:t>
              </a:r>
              <a:endParaRPr lang="en-US" sz="800" b="1" dirty="0">
                <a:solidFill>
                  <a:schemeClr val="bg1"/>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Général</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58" name="Groupe 57"/>
          <p:cNvGrpSpPr/>
          <p:nvPr/>
        </p:nvGrpSpPr>
        <p:grpSpPr>
          <a:xfrm>
            <a:off x="5680425" y="2160586"/>
            <a:ext cx="1296000" cy="754857"/>
            <a:chOff x="1507778" y="2276353"/>
            <a:chExt cx="1258269" cy="754857"/>
          </a:xfrm>
        </p:grpSpPr>
        <p:sp>
          <p:nvSpPr>
            <p:cNvPr id="59" name="Rectangle 58"/>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Contrepasser une ou plusieurs pièces de Compta </a:t>
              </a:r>
              <a:r>
                <a:rPr lang="fr-FR" sz="800" dirty="0" err="1" smtClean="0">
                  <a:solidFill>
                    <a:schemeClr val="bg1"/>
                  </a:solidFill>
                  <a:latin typeface="Arial" pitchFamily="34" charset="0"/>
                  <a:cs typeface="Arial" pitchFamily="34" charset="0"/>
                </a:rPr>
                <a:t>Gle</a:t>
              </a:r>
              <a:endParaRPr lang="en-US" sz="800" dirty="0">
                <a:solidFill>
                  <a:schemeClr val="bg1"/>
                </a:solidFill>
                <a:latin typeface="Arial" pitchFamily="34" charset="0"/>
                <a:cs typeface="Arial" pitchFamily="34" charset="0"/>
              </a:endParaRPr>
            </a:p>
          </p:txBody>
        </p:sp>
        <p:sp>
          <p:nvSpPr>
            <p:cNvPr id="60" name="Rectangle 5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FB08 / F.80</a:t>
              </a:r>
              <a:endParaRPr lang="en-US" sz="800" b="1" dirty="0">
                <a:solidFill>
                  <a:schemeClr val="bg1"/>
                </a:solidFill>
                <a:latin typeface="Arial" panose="020B0604020202020204" pitchFamily="34" charset="0"/>
                <a:cs typeface="Arial" panose="020B0604020202020204" pitchFamily="34" charset="0"/>
              </a:endParaRPr>
            </a:p>
          </p:txBody>
        </p:sp>
        <p:sp>
          <p:nvSpPr>
            <p:cNvPr id="61" name="Rectangle 6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Général</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621415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création d’une pièce de comptabilité générale 1/3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Grand livre / Ecriture / FB50 – Saisir pièce de compte général</a:t>
            </a:r>
          </a:p>
          <a:p>
            <a:r>
              <a:rPr lang="fr-FR" dirty="0" smtClean="0">
                <a:cs typeface="Arial" panose="020B0604020202020204" pitchFamily="34" charset="0"/>
              </a:rPr>
              <a:t>Par défaut le </a:t>
            </a:r>
            <a:r>
              <a:rPr lang="fr-FR" dirty="0" smtClean="0">
                <a:cs typeface="Arial" panose="020B0604020202020204" pitchFamily="34" charset="0"/>
              </a:rPr>
              <a:t>type de pièce </a:t>
            </a:r>
            <a:r>
              <a:rPr lang="fr-FR" dirty="0" smtClean="0">
                <a:cs typeface="Arial" panose="020B0604020202020204" pitchFamily="34" charset="0"/>
              </a:rPr>
              <a:t>SA s’affiche. Il </a:t>
            </a:r>
            <a:r>
              <a:rPr lang="fr-FR" dirty="0" smtClean="0">
                <a:cs typeface="Arial" panose="020B0604020202020204" pitchFamily="34" charset="0"/>
              </a:rPr>
              <a:t>est non modifiable. Il peut être masqué ou affiché. Pour l’afficher :   </a:t>
            </a:r>
          </a:p>
          <a:p>
            <a:r>
              <a:rPr lang="fr-FR" dirty="0">
                <a:cs typeface="Arial" panose="020B0604020202020204" pitchFamily="34" charset="0"/>
              </a:rPr>
              <a:t>	</a:t>
            </a:r>
            <a:r>
              <a:rPr lang="fr-FR" dirty="0" smtClean="0">
                <a:cs typeface="Arial" panose="020B0604020202020204" pitchFamily="34" charset="0"/>
              </a:rPr>
              <a:t>										Cliquer sur le pavé Option traitement. </a:t>
            </a:r>
            <a:r>
              <a:rPr lang="fr-FR" dirty="0">
                <a:cs typeface="Arial" panose="020B0604020202020204" pitchFamily="34" charset="0"/>
              </a:rPr>
              <a:t>C</a:t>
            </a:r>
            <a:r>
              <a:rPr lang="fr-FR" dirty="0" smtClean="0">
                <a:cs typeface="Arial" panose="020B0604020202020204" pitchFamily="34" charset="0"/>
              </a:rPr>
              <a:t>e pop-up apparait : </a:t>
            </a:r>
          </a:p>
          <a:p>
            <a:r>
              <a:rPr lang="fr-FR" dirty="0">
                <a:cs typeface="Arial" panose="020B0604020202020204" pitchFamily="34" charset="0"/>
              </a:rPr>
              <a:t>	</a:t>
            </a:r>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Passer du mode pièce masquée au </a:t>
            </a:r>
            <a:r>
              <a:rPr lang="fr-FR" dirty="0" smtClean="0">
                <a:cs typeface="Arial" panose="020B0604020202020204" pitchFamily="34" charset="0"/>
              </a:rPr>
              <a:t>mode accessible. </a:t>
            </a:r>
            <a:endParaRPr lang="fr-FR" dirty="0" smtClean="0">
              <a:cs typeface="Arial" panose="020B0604020202020204" pitchFamily="34" charset="0"/>
            </a:endParaRPr>
          </a:p>
          <a:p>
            <a:r>
              <a:rPr lang="fr-FR" dirty="0" smtClean="0">
                <a:cs typeface="Arial" panose="020B0604020202020204" pitchFamily="34" charset="0"/>
              </a:rPr>
              <a:t>												Sauvegarder la modification en cliquant sur la disquette.</a:t>
            </a:r>
          </a:p>
          <a:p>
            <a:r>
              <a:rPr lang="fr-FR" dirty="0">
                <a:cs typeface="Arial" panose="020B0604020202020204" pitchFamily="34" charset="0"/>
              </a:rPr>
              <a:t>	</a:t>
            </a:r>
            <a:r>
              <a:rPr lang="fr-FR" dirty="0" smtClean="0">
                <a:cs typeface="Arial" panose="020B0604020202020204" pitchFamily="34" charset="0"/>
              </a:rPr>
              <a:t>											Cliquer sur la flèche verte pour revenir à l’écran de saisie.  </a:t>
            </a:r>
          </a:p>
          <a:p>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728061"/>
            <a:ext cx="3857323" cy="2753935"/>
          </a:xfrm>
          <a:prstGeom prst="rect">
            <a:avLst/>
          </a:prstGeom>
        </p:spPr>
      </p:pic>
      <p:sp>
        <p:nvSpPr>
          <p:cNvPr id="7" name="Rectangle 6"/>
          <p:cNvSpPr/>
          <p:nvPr/>
        </p:nvSpPr>
        <p:spPr>
          <a:xfrm>
            <a:off x="3029919" y="1984929"/>
            <a:ext cx="736168" cy="12185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5" name="Image 4"/>
          <p:cNvPicPr>
            <a:picLocks noChangeAspect="1"/>
          </p:cNvPicPr>
          <p:nvPr/>
        </p:nvPicPr>
        <p:blipFill>
          <a:blip r:embed="rId3"/>
          <a:stretch>
            <a:fillRect/>
          </a:stretch>
        </p:blipFill>
        <p:spPr>
          <a:xfrm>
            <a:off x="4564250" y="1831379"/>
            <a:ext cx="317019" cy="353599"/>
          </a:xfrm>
          <a:prstGeom prst="rect">
            <a:avLst/>
          </a:prstGeom>
        </p:spPr>
      </p:pic>
      <p:pic>
        <p:nvPicPr>
          <p:cNvPr id="8" name="Image 7"/>
          <p:cNvPicPr>
            <a:picLocks noChangeAspect="1"/>
          </p:cNvPicPr>
          <p:nvPr/>
        </p:nvPicPr>
        <p:blipFill>
          <a:blip r:embed="rId4"/>
          <a:stretch>
            <a:fillRect/>
          </a:stretch>
        </p:blipFill>
        <p:spPr>
          <a:xfrm>
            <a:off x="5772768" y="2142842"/>
            <a:ext cx="2923111" cy="1409594"/>
          </a:xfrm>
          <a:prstGeom prst="rect">
            <a:avLst/>
          </a:prstGeom>
        </p:spPr>
      </p:pic>
      <p:pic>
        <p:nvPicPr>
          <p:cNvPr id="10" name="Image 9"/>
          <p:cNvPicPr>
            <a:picLocks noChangeAspect="1"/>
          </p:cNvPicPr>
          <p:nvPr/>
        </p:nvPicPr>
        <p:blipFill>
          <a:blip r:embed="rId5"/>
          <a:stretch>
            <a:fillRect/>
          </a:stretch>
        </p:blipFill>
        <p:spPr>
          <a:xfrm>
            <a:off x="7601919" y="3205216"/>
            <a:ext cx="1084881" cy="137230"/>
          </a:xfrm>
          <a:prstGeom prst="rect">
            <a:avLst/>
          </a:prstGeom>
        </p:spPr>
      </p:pic>
      <p:pic>
        <p:nvPicPr>
          <p:cNvPr id="11" name="Image 10"/>
          <p:cNvPicPr>
            <a:picLocks noChangeAspect="1"/>
          </p:cNvPicPr>
          <p:nvPr/>
        </p:nvPicPr>
        <p:blipFill>
          <a:blip r:embed="rId3"/>
          <a:stretch>
            <a:fillRect/>
          </a:stretch>
        </p:blipFill>
        <p:spPr>
          <a:xfrm>
            <a:off x="3740926" y="1929980"/>
            <a:ext cx="317019" cy="353599"/>
          </a:xfrm>
          <a:prstGeom prst="rect">
            <a:avLst/>
          </a:prstGeom>
        </p:spPr>
      </p:pic>
      <p:pic>
        <p:nvPicPr>
          <p:cNvPr id="12" name="Image 11"/>
          <p:cNvPicPr>
            <a:picLocks noChangeAspect="1"/>
          </p:cNvPicPr>
          <p:nvPr/>
        </p:nvPicPr>
        <p:blipFill>
          <a:blip r:embed="rId6"/>
          <a:stretch>
            <a:fillRect/>
          </a:stretch>
        </p:blipFill>
        <p:spPr>
          <a:xfrm>
            <a:off x="4938785" y="3552435"/>
            <a:ext cx="317019" cy="353599"/>
          </a:xfrm>
          <a:prstGeom prst="rect">
            <a:avLst/>
          </a:prstGeom>
        </p:spPr>
      </p:pic>
      <p:pic>
        <p:nvPicPr>
          <p:cNvPr id="13" name="Image 12"/>
          <p:cNvPicPr>
            <a:picLocks noChangeAspect="1"/>
          </p:cNvPicPr>
          <p:nvPr/>
        </p:nvPicPr>
        <p:blipFill>
          <a:blip r:embed="rId7"/>
          <a:stretch>
            <a:fillRect/>
          </a:stretch>
        </p:blipFill>
        <p:spPr>
          <a:xfrm>
            <a:off x="4941360" y="3906034"/>
            <a:ext cx="317019" cy="353599"/>
          </a:xfrm>
          <a:prstGeom prst="rect">
            <a:avLst/>
          </a:prstGeom>
        </p:spPr>
      </p:pic>
      <p:pic>
        <p:nvPicPr>
          <p:cNvPr id="14" name="Image 13"/>
          <p:cNvPicPr>
            <a:picLocks noChangeAspect="1"/>
          </p:cNvPicPr>
          <p:nvPr/>
        </p:nvPicPr>
        <p:blipFill>
          <a:blip r:embed="rId8"/>
          <a:stretch>
            <a:fillRect/>
          </a:stretch>
        </p:blipFill>
        <p:spPr>
          <a:xfrm>
            <a:off x="6837691" y="2184978"/>
            <a:ext cx="164606" cy="152413"/>
          </a:xfrm>
          <a:prstGeom prst="rect">
            <a:avLst/>
          </a:prstGeom>
        </p:spPr>
      </p:pic>
      <p:pic>
        <p:nvPicPr>
          <p:cNvPr id="15" name="Image 14"/>
          <p:cNvPicPr>
            <a:picLocks noChangeAspect="1"/>
          </p:cNvPicPr>
          <p:nvPr/>
        </p:nvPicPr>
        <p:blipFill>
          <a:blip r:embed="rId6"/>
          <a:stretch>
            <a:fillRect/>
          </a:stretch>
        </p:blipFill>
        <p:spPr>
          <a:xfrm>
            <a:off x="8479662" y="3057462"/>
            <a:ext cx="317019" cy="353599"/>
          </a:xfrm>
          <a:prstGeom prst="rect">
            <a:avLst/>
          </a:prstGeom>
        </p:spPr>
      </p:pic>
      <p:pic>
        <p:nvPicPr>
          <p:cNvPr id="16" name="Image 15"/>
          <p:cNvPicPr>
            <a:picLocks noChangeAspect="1"/>
          </p:cNvPicPr>
          <p:nvPr/>
        </p:nvPicPr>
        <p:blipFill>
          <a:blip r:embed="rId7"/>
          <a:stretch>
            <a:fillRect/>
          </a:stretch>
        </p:blipFill>
        <p:spPr>
          <a:xfrm>
            <a:off x="6599578" y="2076244"/>
            <a:ext cx="317019" cy="353599"/>
          </a:xfrm>
          <a:prstGeom prst="rect">
            <a:avLst/>
          </a:prstGeom>
        </p:spPr>
      </p:pic>
      <p:pic>
        <p:nvPicPr>
          <p:cNvPr id="17" name="Image 16"/>
          <p:cNvPicPr>
            <a:picLocks noChangeAspect="1"/>
          </p:cNvPicPr>
          <p:nvPr/>
        </p:nvPicPr>
        <p:blipFill>
          <a:blip r:embed="rId9"/>
          <a:stretch>
            <a:fillRect/>
          </a:stretch>
        </p:blipFill>
        <p:spPr>
          <a:xfrm>
            <a:off x="4941360" y="4250146"/>
            <a:ext cx="317019" cy="359695"/>
          </a:xfrm>
          <a:prstGeom prst="rect">
            <a:avLst/>
          </a:prstGeom>
        </p:spPr>
      </p:pic>
      <p:pic>
        <p:nvPicPr>
          <p:cNvPr id="18" name="Image 17"/>
          <p:cNvPicPr>
            <a:picLocks noChangeAspect="1"/>
          </p:cNvPicPr>
          <p:nvPr/>
        </p:nvPicPr>
        <p:blipFill>
          <a:blip r:embed="rId9"/>
          <a:stretch>
            <a:fillRect/>
          </a:stretch>
        </p:blipFill>
        <p:spPr>
          <a:xfrm>
            <a:off x="7128276" y="2126637"/>
            <a:ext cx="317019" cy="359695"/>
          </a:xfrm>
          <a:prstGeom prst="rect">
            <a:avLst/>
          </a:prstGeom>
        </p:spPr>
      </p:pic>
      <p:pic>
        <p:nvPicPr>
          <p:cNvPr id="19" name="Image 18"/>
          <p:cNvPicPr>
            <a:picLocks noChangeAspect="1"/>
          </p:cNvPicPr>
          <p:nvPr/>
        </p:nvPicPr>
        <p:blipFill>
          <a:blip r:embed="rId10"/>
          <a:stretch>
            <a:fillRect/>
          </a:stretch>
        </p:blipFill>
        <p:spPr>
          <a:xfrm>
            <a:off x="7002297" y="2184978"/>
            <a:ext cx="210386" cy="120080"/>
          </a:xfrm>
          <a:prstGeom prst="rect">
            <a:avLst/>
          </a:prstGeom>
        </p:spPr>
      </p:pic>
    </p:spTree>
    <p:extLst>
      <p:ext uri="{BB962C8B-B14F-4D97-AF65-F5344CB8AC3E}">
        <p14:creationId xmlns:p14="http://schemas.microsoft.com/office/powerpoint/2010/main" val="110233164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Mode opératoire création d’une pièce de comptabilité générale </a:t>
            </a:r>
            <a:r>
              <a:rPr lang="fr-FR" altLang="en-US" sz="2700" dirty="0" smtClean="0">
                <a:cs typeface="Arial" panose="020B0604020202020204" pitchFamily="34" charset="0"/>
              </a:rPr>
              <a:t>2/3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3"/>
            <a:ext cx="8246571" cy="3490104"/>
          </a:xfrm>
        </p:spPr>
        <p:txBody>
          <a:bodyPr/>
          <a:lstStyle/>
          <a:p>
            <a:r>
              <a:rPr lang="fr-FR" dirty="0" smtClean="0">
                <a:cs typeface="Arial" panose="020B0604020202020204" pitchFamily="34" charset="0"/>
              </a:rPr>
              <a:t>													Renseigner :</a:t>
            </a:r>
          </a:p>
          <a:p>
            <a:r>
              <a:rPr lang="fr-FR" dirty="0">
                <a:cs typeface="Arial" panose="020B0604020202020204" pitchFamily="34" charset="0"/>
              </a:rPr>
              <a:t>	</a:t>
            </a:r>
            <a:r>
              <a:rPr lang="fr-FR" dirty="0" smtClean="0">
                <a:cs typeface="Arial" panose="020B0604020202020204" pitchFamily="34" charset="0"/>
              </a:rPr>
              <a:t>												La date de pièce 																			la référence et le texte d’en-tête</a:t>
            </a:r>
          </a:p>
          <a:p>
            <a:r>
              <a:rPr lang="fr-FR" dirty="0">
                <a:cs typeface="Arial" panose="020B0604020202020204" pitchFamily="34" charset="0"/>
              </a:rPr>
              <a:t>	</a:t>
            </a:r>
            <a:r>
              <a:rPr lang="fr-FR" dirty="0" smtClean="0">
                <a:cs typeface="Arial" panose="020B0604020202020204" pitchFamily="34" charset="0"/>
              </a:rPr>
              <a:t>												Au niveau des postes, renseigner : </a:t>
            </a:r>
          </a:p>
          <a:p>
            <a:r>
              <a:rPr lang="fr-FR" dirty="0">
                <a:cs typeface="Arial" panose="020B0604020202020204" pitchFamily="34" charset="0"/>
              </a:rPr>
              <a:t>	</a:t>
            </a:r>
            <a:r>
              <a:rPr lang="fr-FR" dirty="0" smtClean="0">
                <a:cs typeface="Arial" panose="020B0604020202020204" pitchFamily="34" charset="0"/>
              </a:rPr>
              <a:t>												Les comptes généraux à débiter et à créditer,</a:t>
            </a:r>
          </a:p>
          <a:p>
            <a:r>
              <a:rPr lang="fr-FR" dirty="0">
                <a:cs typeface="Arial" panose="020B0604020202020204" pitchFamily="34" charset="0"/>
              </a:rPr>
              <a:t>	</a:t>
            </a:r>
            <a:r>
              <a:rPr lang="fr-FR" dirty="0" smtClean="0">
                <a:cs typeface="Arial" panose="020B0604020202020204" pitchFamily="34" charset="0"/>
              </a:rPr>
              <a:t>												 les montants. Faites entrée afin d’avoir l’égalité.</a:t>
            </a:r>
          </a:p>
          <a:p>
            <a:r>
              <a:rPr lang="fr-FR" dirty="0">
                <a:cs typeface="Arial" panose="020B0604020202020204" pitchFamily="34" charset="0"/>
              </a:rPr>
              <a:t>	</a:t>
            </a:r>
            <a:r>
              <a:rPr lang="fr-FR" dirty="0" smtClean="0">
                <a:cs typeface="Arial" panose="020B0604020202020204" pitchFamily="34" charset="0"/>
              </a:rPr>
              <a:t>												Cliquer sur la pavé :                     afin d’avoir la</a:t>
            </a:r>
          </a:p>
          <a:p>
            <a:r>
              <a:rPr lang="fr-FR" dirty="0">
                <a:cs typeface="Arial" panose="020B0604020202020204" pitchFamily="34" charset="0"/>
              </a:rPr>
              <a:t>	</a:t>
            </a:r>
            <a:r>
              <a:rPr lang="fr-FR" dirty="0" smtClean="0">
                <a:cs typeface="Arial" panose="020B0604020202020204" pitchFamily="34" charset="0"/>
              </a:rPr>
              <a:t>												synthèse de la pièce.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991893"/>
            <a:ext cx="4277533" cy="2529210"/>
          </a:xfrm>
          <a:prstGeom prst="rect">
            <a:avLst/>
          </a:prstGeom>
        </p:spPr>
      </p:pic>
      <p:sp>
        <p:nvSpPr>
          <p:cNvPr id="8" name="Ellipse 7"/>
          <p:cNvSpPr/>
          <p:nvPr/>
        </p:nvSpPr>
        <p:spPr>
          <a:xfrm>
            <a:off x="5405304" y="13725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5425866" y="15653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5" name="Image 4"/>
          <p:cNvPicPr>
            <a:picLocks noChangeAspect="1"/>
          </p:cNvPicPr>
          <p:nvPr/>
        </p:nvPicPr>
        <p:blipFill>
          <a:blip r:embed="rId3"/>
          <a:stretch>
            <a:fillRect/>
          </a:stretch>
        </p:blipFill>
        <p:spPr>
          <a:xfrm>
            <a:off x="1743081" y="1902899"/>
            <a:ext cx="310923" cy="353599"/>
          </a:xfrm>
          <a:prstGeom prst="rect">
            <a:avLst/>
          </a:prstGeom>
        </p:spPr>
      </p:pic>
      <p:pic>
        <p:nvPicPr>
          <p:cNvPr id="6" name="Image 5"/>
          <p:cNvPicPr>
            <a:picLocks noChangeAspect="1"/>
          </p:cNvPicPr>
          <p:nvPr/>
        </p:nvPicPr>
        <p:blipFill>
          <a:blip r:embed="rId4"/>
          <a:stretch>
            <a:fillRect/>
          </a:stretch>
        </p:blipFill>
        <p:spPr>
          <a:xfrm>
            <a:off x="1529431" y="1617633"/>
            <a:ext cx="310923" cy="353599"/>
          </a:xfrm>
          <a:prstGeom prst="rect">
            <a:avLst/>
          </a:prstGeom>
        </p:spPr>
      </p:pic>
      <p:pic>
        <p:nvPicPr>
          <p:cNvPr id="12" name="Image 11"/>
          <p:cNvPicPr>
            <a:picLocks noChangeAspect="1"/>
          </p:cNvPicPr>
          <p:nvPr/>
        </p:nvPicPr>
        <p:blipFill>
          <a:blip r:embed="rId5"/>
          <a:stretch>
            <a:fillRect/>
          </a:stretch>
        </p:blipFill>
        <p:spPr>
          <a:xfrm>
            <a:off x="5345424" y="2187457"/>
            <a:ext cx="317019" cy="353599"/>
          </a:xfrm>
          <a:prstGeom prst="rect">
            <a:avLst/>
          </a:prstGeom>
        </p:spPr>
      </p:pic>
      <p:pic>
        <p:nvPicPr>
          <p:cNvPr id="13" name="Image 12"/>
          <p:cNvPicPr>
            <a:picLocks noChangeAspect="1"/>
          </p:cNvPicPr>
          <p:nvPr/>
        </p:nvPicPr>
        <p:blipFill>
          <a:blip r:embed="rId6"/>
          <a:stretch>
            <a:fillRect/>
          </a:stretch>
        </p:blipFill>
        <p:spPr>
          <a:xfrm>
            <a:off x="5394390" y="2541056"/>
            <a:ext cx="310923" cy="353599"/>
          </a:xfrm>
          <a:prstGeom prst="rect">
            <a:avLst/>
          </a:prstGeom>
        </p:spPr>
      </p:pic>
      <p:pic>
        <p:nvPicPr>
          <p:cNvPr id="14" name="Image 13"/>
          <p:cNvPicPr>
            <a:picLocks noChangeAspect="1"/>
          </p:cNvPicPr>
          <p:nvPr/>
        </p:nvPicPr>
        <p:blipFill>
          <a:blip r:embed="rId5"/>
          <a:stretch>
            <a:fillRect/>
          </a:stretch>
        </p:blipFill>
        <p:spPr>
          <a:xfrm>
            <a:off x="1058107" y="3133338"/>
            <a:ext cx="317019" cy="353599"/>
          </a:xfrm>
          <a:prstGeom prst="rect">
            <a:avLst/>
          </a:prstGeom>
        </p:spPr>
      </p:pic>
      <p:pic>
        <p:nvPicPr>
          <p:cNvPr id="15" name="Image 14"/>
          <p:cNvPicPr>
            <a:picLocks noChangeAspect="1"/>
          </p:cNvPicPr>
          <p:nvPr/>
        </p:nvPicPr>
        <p:blipFill>
          <a:blip r:embed="rId6"/>
          <a:stretch>
            <a:fillRect/>
          </a:stretch>
        </p:blipFill>
        <p:spPr>
          <a:xfrm>
            <a:off x="2192531" y="3102803"/>
            <a:ext cx="310923" cy="353599"/>
          </a:xfrm>
          <a:prstGeom prst="rect">
            <a:avLst/>
          </a:prstGeom>
        </p:spPr>
      </p:pic>
      <p:pic>
        <p:nvPicPr>
          <p:cNvPr id="16" name="Image 15"/>
          <p:cNvPicPr>
            <a:picLocks noChangeAspect="1"/>
          </p:cNvPicPr>
          <p:nvPr/>
        </p:nvPicPr>
        <p:blipFill>
          <a:blip r:embed="rId7"/>
          <a:stretch>
            <a:fillRect/>
          </a:stretch>
        </p:blipFill>
        <p:spPr>
          <a:xfrm>
            <a:off x="6899167" y="2926274"/>
            <a:ext cx="658839" cy="207064"/>
          </a:xfrm>
          <a:prstGeom prst="rect">
            <a:avLst/>
          </a:prstGeom>
        </p:spPr>
      </p:pic>
    </p:spTree>
    <p:extLst>
      <p:ext uri="{BB962C8B-B14F-4D97-AF65-F5344CB8AC3E}">
        <p14:creationId xmlns:p14="http://schemas.microsoft.com/office/powerpoint/2010/main" val="253819306"/>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Mode opératoire création d’une pièce de comptabilité générale </a:t>
            </a:r>
            <a:r>
              <a:rPr lang="fr-FR" altLang="en-US" sz="2700" dirty="0" smtClean="0">
                <a:cs typeface="Arial" panose="020B0604020202020204" pitchFamily="34" charset="0"/>
              </a:rPr>
              <a:t>3/3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3"/>
            <a:ext cx="8246571" cy="3490104"/>
          </a:xfrm>
        </p:spPr>
        <p:txBody>
          <a:bodyPr/>
          <a:lstStyle/>
          <a:p>
            <a:r>
              <a:rPr lang="fr-FR" dirty="0" smtClean="0">
                <a:cs typeface="Arial" panose="020B0604020202020204" pitchFamily="34" charset="0"/>
              </a:rPr>
              <a:t>											La pièce peut être comptabilisée à partir de cet écran : </a:t>
            </a:r>
          </a:p>
          <a:p>
            <a:r>
              <a:rPr lang="fr-FR" dirty="0">
                <a:cs typeface="Arial" panose="020B0604020202020204" pitchFamily="34" charset="0"/>
              </a:rPr>
              <a:t>	</a:t>
            </a:r>
            <a:r>
              <a:rPr lang="fr-FR" dirty="0" smtClean="0">
                <a:cs typeface="Arial" panose="020B0604020202020204" pitchFamily="34" charset="0"/>
              </a:rPr>
              <a:t>										Cliquer sur la disquette. </a:t>
            </a:r>
          </a:p>
          <a:p>
            <a:r>
              <a:rPr lang="fr-FR" dirty="0">
                <a:cs typeface="Arial" panose="020B0604020202020204" pitchFamily="34" charset="0"/>
              </a:rPr>
              <a:t>	</a:t>
            </a:r>
            <a:r>
              <a:rPr lang="fr-FR" dirty="0" smtClean="0">
                <a:cs typeface="Arial" panose="020B0604020202020204" pitchFamily="34" charset="0"/>
              </a:rPr>
              <a:t>										Un numéro de pièce est attribué. Il apparait en bas de l’ écran : </a:t>
            </a:r>
          </a:p>
          <a:p>
            <a:r>
              <a:rPr lang="fr-FR" dirty="0">
                <a:cs typeface="Arial" panose="020B0604020202020204" pitchFamily="34" charset="0"/>
              </a:rPr>
              <a:t>	</a:t>
            </a:r>
            <a:r>
              <a:rPr lang="fr-FR" dirty="0" smtClean="0">
                <a:cs typeface="Arial" panose="020B0604020202020204" pitchFamily="34" charset="0"/>
              </a:rPr>
              <a:t>																										  </a:t>
            </a:r>
          </a:p>
          <a:p>
            <a:endParaRPr lang="fr-FR" dirty="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573578" y="991893"/>
            <a:ext cx="3742700" cy="3490104"/>
          </a:xfrm>
          <a:prstGeom prst="rect">
            <a:avLst/>
          </a:prstGeom>
        </p:spPr>
      </p:pic>
      <p:pic>
        <p:nvPicPr>
          <p:cNvPr id="10" name="Image 9"/>
          <p:cNvPicPr>
            <a:picLocks noChangeAspect="1"/>
          </p:cNvPicPr>
          <p:nvPr/>
        </p:nvPicPr>
        <p:blipFill>
          <a:blip r:embed="rId3"/>
          <a:stretch>
            <a:fillRect/>
          </a:stretch>
        </p:blipFill>
        <p:spPr>
          <a:xfrm>
            <a:off x="4552975" y="1279072"/>
            <a:ext cx="317019" cy="353599"/>
          </a:xfrm>
          <a:prstGeom prst="rect">
            <a:avLst/>
          </a:prstGeom>
        </p:spPr>
      </p:pic>
      <p:pic>
        <p:nvPicPr>
          <p:cNvPr id="11" name="Image 10"/>
          <p:cNvPicPr>
            <a:picLocks noChangeAspect="1"/>
          </p:cNvPicPr>
          <p:nvPr/>
        </p:nvPicPr>
        <p:blipFill>
          <a:blip r:embed="rId3"/>
          <a:stretch>
            <a:fillRect/>
          </a:stretch>
        </p:blipFill>
        <p:spPr>
          <a:xfrm>
            <a:off x="1647043" y="1532112"/>
            <a:ext cx="317019" cy="353599"/>
          </a:xfrm>
          <a:prstGeom prst="rect">
            <a:avLst/>
          </a:prstGeom>
        </p:spPr>
      </p:pic>
      <p:pic>
        <p:nvPicPr>
          <p:cNvPr id="18" name="Image 17"/>
          <p:cNvPicPr>
            <a:picLocks noChangeAspect="1"/>
          </p:cNvPicPr>
          <p:nvPr/>
        </p:nvPicPr>
        <p:blipFill>
          <a:blip r:embed="rId4"/>
          <a:stretch>
            <a:fillRect/>
          </a:stretch>
        </p:blipFill>
        <p:spPr>
          <a:xfrm>
            <a:off x="1723249" y="1349847"/>
            <a:ext cx="159795" cy="249642"/>
          </a:xfrm>
          <a:prstGeom prst="rect">
            <a:avLst/>
          </a:prstGeom>
        </p:spPr>
      </p:pic>
      <p:pic>
        <p:nvPicPr>
          <p:cNvPr id="21" name="Image 20"/>
          <p:cNvPicPr>
            <a:picLocks noChangeAspect="1"/>
          </p:cNvPicPr>
          <p:nvPr/>
        </p:nvPicPr>
        <p:blipFill>
          <a:blip r:embed="rId5"/>
          <a:stretch>
            <a:fillRect/>
          </a:stretch>
        </p:blipFill>
        <p:spPr>
          <a:xfrm>
            <a:off x="4947027" y="2009775"/>
            <a:ext cx="2876550" cy="209550"/>
          </a:xfrm>
          <a:prstGeom prst="rect">
            <a:avLst/>
          </a:prstGeom>
        </p:spPr>
      </p:pic>
    </p:spTree>
    <p:extLst>
      <p:ext uri="{BB962C8B-B14F-4D97-AF65-F5344CB8AC3E}">
        <p14:creationId xmlns:p14="http://schemas.microsoft.com/office/powerpoint/2010/main" val="3259887174"/>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sur la modification individuelle 1/3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Lancer la transaction FB02 : Seules sont modifiables les zones accessibles telle que la zone affectation, la zone texte… </a:t>
            </a:r>
          </a:p>
          <a:p>
            <a:r>
              <a:rPr lang="fr-FR" dirty="0">
                <a:cs typeface="Arial" panose="020B0604020202020204" pitchFamily="34" charset="0"/>
              </a:rPr>
              <a:t>	</a:t>
            </a:r>
            <a:r>
              <a:rPr lang="fr-FR" dirty="0" smtClean="0">
                <a:cs typeface="Arial" panose="020B0604020202020204" pitchFamily="34" charset="0"/>
              </a:rPr>
              <a:t>							Renseigner le numéro de la pièce puis faites « Entrée »</a:t>
            </a:r>
          </a:p>
          <a:p>
            <a:r>
              <a:rPr lang="fr-FR" dirty="0" smtClean="0">
                <a:cs typeface="Arial" panose="020B0604020202020204" pitchFamily="34" charset="0"/>
              </a:rPr>
              <a:t> </a:t>
            </a:r>
          </a:p>
          <a:p>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Certaines zones de l’en-tête peuvent être modifiées. Pour cela, cliquer sur : </a:t>
            </a:r>
          </a:p>
          <a:p>
            <a:r>
              <a:rPr lang="fr-FR" dirty="0">
                <a:cs typeface="Arial" panose="020B0604020202020204" pitchFamily="34" charset="0"/>
              </a:rPr>
              <a:t>	</a:t>
            </a:r>
            <a:r>
              <a:rPr lang="fr-FR" dirty="0" smtClean="0">
                <a:cs typeface="Arial" panose="020B0604020202020204" pitchFamily="34" charset="0"/>
              </a:rPr>
              <a:t>							 l’icône en-tête : 	</a:t>
            </a:r>
          </a:p>
          <a:p>
            <a:r>
              <a:rPr lang="fr-FR" dirty="0" smtClean="0">
                <a:cs typeface="Arial" panose="020B0604020202020204" pitchFamily="34" charset="0"/>
              </a:rPr>
              <a:t>											</a:t>
            </a:r>
          </a:p>
          <a:p>
            <a:r>
              <a:rPr lang="fr-FR" dirty="0" smtClean="0">
                <a:cs typeface="Arial" panose="020B0604020202020204" pitchFamily="34" charset="0"/>
              </a:rPr>
              <a:t>								Les zones modifiables sont accessibles.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48354"/>
            <a:ext cx="2665568" cy="2465682"/>
          </a:xfrm>
          <a:prstGeom prst="rect">
            <a:avLst/>
          </a:prstGeom>
        </p:spPr>
      </p:pic>
      <p:pic>
        <p:nvPicPr>
          <p:cNvPr id="4" name="Image 3"/>
          <p:cNvPicPr>
            <a:picLocks noChangeAspect="1"/>
          </p:cNvPicPr>
          <p:nvPr/>
        </p:nvPicPr>
        <p:blipFill>
          <a:blip r:embed="rId3"/>
          <a:stretch>
            <a:fillRect/>
          </a:stretch>
        </p:blipFill>
        <p:spPr>
          <a:xfrm>
            <a:off x="3375103" y="1465052"/>
            <a:ext cx="317019" cy="353599"/>
          </a:xfrm>
          <a:prstGeom prst="rect">
            <a:avLst/>
          </a:prstGeom>
        </p:spPr>
      </p:pic>
      <p:pic>
        <p:nvPicPr>
          <p:cNvPr id="6" name="Image 5"/>
          <p:cNvPicPr>
            <a:picLocks noChangeAspect="1"/>
          </p:cNvPicPr>
          <p:nvPr/>
        </p:nvPicPr>
        <p:blipFill>
          <a:blip r:embed="rId3"/>
          <a:stretch>
            <a:fillRect/>
          </a:stretch>
        </p:blipFill>
        <p:spPr>
          <a:xfrm>
            <a:off x="2235978" y="2983886"/>
            <a:ext cx="317019" cy="353599"/>
          </a:xfrm>
          <a:prstGeom prst="rect">
            <a:avLst/>
          </a:prstGeom>
        </p:spPr>
      </p:pic>
      <p:pic>
        <p:nvPicPr>
          <p:cNvPr id="7" name="Image 6"/>
          <p:cNvPicPr>
            <a:picLocks noChangeAspect="1"/>
          </p:cNvPicPr>
          <p:nvPr/>
        </p:nvPicPr>
        <p:blipFill>
          <a:blip r:embed="rId4"/>
          <a:stretch>
            <a:fillRect/>
          </a:stretch>
        </p:blipFill>
        <p:spPr>
          <a:xfrm>
            <a:off x="3692122" y="1709606"/>
            <a:ext cx="3916851" cy="1514042"/>
          </a:xfrm>
          <a:prstGeom prst="rect">
            <a:avLst/>
          </a:prstGeom>
        </p:spPr>
      </p:pic>
      <p:pic>
        <p:nvPicPr>
          <p:cNvPr id="8" name="Image 7"/>
          <p:cNvPicPr>
            <a:picLocks noChangeAspect="1"/>
          </p:cNvPicPr>
          <p:nvPr/>
        </p:nvPicPr>
        <p:blipFill>
          <a:blip r:embed="rId5"/>
          <a:stretch>
            <a:fillRect/>
          </a:stretch>
        </p:blipFill>
        <p:spPr>
          <a:xfrm>
            <a:off x="4078992" y="2137430"/>
            <a:ext cx="164606" cy="140220"/>
          </a:xfrm>
          <a:prstGeom prst="rect">
            <a:avLst/>
          </a:prstGeom>
        </p:spPr>
      </p:pic>
      <p:pic>
        <p:nvPicPr>
          <p:cNvPr id="9" name="Image 8"/>
          <p:cNvPicPr>
            <a:picLocks noChangeAspect="1"/>
          </p:cNvPicPr>
          <p:nvPr/>
        </p:nvPicPr>
        <p:blipFill>
          <a:blip r:embed="rId6"/>
          <a:stretch>
            <a:fillRect/>
          </a:stretch>
        </p:blipFill>
        <p:spPr>
          <a:xfrm>
            <a:off x="4161295" y="2137430"/>
            <a:ext cx="317019" cy="353599"/>
          </a:xfrm>
          <a:prstGeom prst="rect">
            <a:avLst/>
          </a:prstGeom>
        </p:spPr>
      </p:pic>
      <p:pic>
        <p:nvPicPr>
          <p:cNvPr id="10" name="Image 9"/>
          <p:cNvPicPr>
            <a:picLocks noChangeAspect="1"/>
          </p:cNvPicPr>
          <p:nvPr/>
        </p:nvPicPr>
        <p:blipFill>
          <a:blip r:embed="rId6"/>
          <a:stretch>
            <a:fillRect/>
          </a:stretch>
        </p:blipFill>
        <p:spPr>
          <a:xfrm>
            <a:off x="3437097" y="3499222"/>
            <a:ext cx="317019" cy="353599"/>
          </a:xfrm>
          <a:prstGeom prst="rect">
            <a:avLst/>
          </a:prstGeom>
        </p:spPr>
      </p:pic>
      <p:pic>
        <p:nvPicPr>
          <p:cNvPr id="11" name="Image 10"/>
          <p:cNvPicPr>
            <a:picLocks noChangeAspect="1"/>
          </p:cNvPicPr>
          <p:nvPr/>
        </p:nvPicPr>
        <p:blipFill>
          <a:blip r:embed="rId7"/>
          <a:stretch>
            <a:fillRect/>
          </a:stretch>
        </p:blipFill>
        <p:spPr>
          <a:xfrm>
            <a:off x="4780836" y="3612557"/>
            <a:ext cx="3544728" cy="711469"/>
          </a:xfrm>
          <a:prstGeom prst="rect">
            <a:avLst/>
          </a:prstGeom>
        </p:spPr>
      </p:pic>
      <p:pic>
        <p:nvPicPr>
          <p:cNvPr id="12" name="Image 11"/>
          <p:cNvPicPr>
            <a:picLocks noChangeAspect="1"/>
          </p:cNvPicPr>
          <p:nvPr/>
        </p:nvPicPr>
        <p:blipFill>
          <a:blip r:embed="rId8"/>
          <a:stretch>
            <a:fillRect/>
          </a:stretch>
        </p:blipFill>
        <p:spPr>
          <a:xfrm>
            <a:off x="5514893" y="3707876"/>
            <a:ext cx="1397351" cy="106160"/>
          </a:xfrm>
          <a:prstGeom prst="rect">
            <a:avLst/>
          </a:prstGeom>
        </p:spPr>
      </p:pic>
    </p:spTree>
    <p:extLst>
      <p:ext uri="{BB962C8B-B14F-4D97-AF65-F5344CB8AC3E}">
        <p14:creationId xmlns:p14="http://schemas.microsoft.com/office/powerpoint/2010/main" val="21864777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sur la modification individuelle 2/3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a:cs typeface="Arial" panose="020B0604020202020204" pitchFamily="34" charset="0"/>
              </a:rPr>
              <a:t>	</a:t>
            </a:r>
            <a:r>
              <a:rPr lang="fr-FR" dirty="0" smtClean="0">
                <a:cs typeface="Arial" panose="020B0604020202020204" pitchFamily="34" charset="0"/>
              </a:rPr>
              <a:t>									Faire la modification dans les zones concernées. </a:t>
            </a:r>
          </a:p>
          <a:p>
            <a:r>
              <a:rPr lang="fr-FR" dirty="0">
                <a:cs typeface="Arial" panose="020B0604020202020204" pitchFamily="34" charset="0"/>
              </a:rPr>
              <a:t>	</a:t>
            </a:r>
            <a:r>
              <a:rPr lang="fr-FR" dirty="0" smtClean="0">
                <a:cs typeface="Arial" panose="020B0604020202020204" pitchFamily="34" charset="0"/>
              </a:rPr>
              <a:t>									Valider pour revenir à l’écran initial.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Pour sauvegarder la modification, cliquer sur la disquette.  </a:t>
            </a:r>
          </a:p>
          <a:p>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15</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8" y="1152525"/>
            <a:ext cx="3556700" cy="1668167"/>
          </a:xfrm>
          <a:prstGeom prst="rect">
            <a:avLst/>
          </a:prstGeom>
        </p:spPr>
      </p:pic>
      <p:pic>
        <p:nvPicPr>
          <p:cNvPr id="13" name="Image 12"/>
          <p:cNvPicPr>
            <a:picLocks noChangeAspect="1"/>
          </p:cNvPicPr>
          <p:nvPr/>
        </p:nvPicPr>
        <p:blipFill>
          <a:blip r:embed="rId3"/>
          <a:stretch>
            <a:fillRect/>
          </a:stretch>
        </p:blipFill>
        <p:spPr>
          <a:xfrm>
            <a:off x="1392344" y="1387449"/>
            <a:ext cx="1296612" cy="262151"/>
          </a:xfrm>
          <a:prstGeom prst="rect">
            <a:avLst/>
          </a:prstGeom>
        </p:spPr>
      </p:pic>
      <p:pic>
        <p:nvPicPr>
          <p:cNvPr id="14" name="Image 13"/>
          <p:cNvPicPr>
            <a:picLocks noChangeAspect="1"/>
          </p:cNvPicPr>
          <p:nvPr/>
        </p:nvPicPr>
        <p:blipFill>
          <a:blip r:embed="rId4"/>
          <a:stretch>
            <a:fillRect/>
          </a:stretch>
        </p:blipFill>
        <p:spPr>
          <a:xfrm>
            <a:off x="4150707" y="1152525"/>
            <a:ext cx="296590" cy="273319"/>
          </a:xfrm>
          <a:prstGeom prst="rect">
            <a:avLst/>
          </a:prstGeom>
        </p:spPr>
      </p:pic>
      <p:pic>
        <p:nvPicPr>
          <p:cNvPr id="15" name="Image 14"/>
          <p:cNvPicPr>
            <a:picLocks noChangeAspect="1"/>
          </p:cNvPicPr>
          <p:nvPr/>
        </p:nvPicPr>
        <p:blipFill>
          <a:blip r:embed="rId5"/>
          <a:stretch>
            <a:fillRect/>
          </a:stretch>
        </p:blipFill>
        <p:spPr>
          <a:xfrm flipV="1">
            <a:off x="3749873" y="2629020"/>
            <a:ext cx="207006" cy="191672"/>
          </a:xfrm>
          <a:prstGeom prst="rect">
            <a:avLst/>
          </a:prstGeom>
        </p:spPr>
      </p:pic>
      <p:pic>
        <p:nvPicPr>
          <p:cNvPr id="16" name="Image 15"/>
          <p:cNvPicPr>
            <a:picLocks noChangeAspect="1"/>
          </p:cNvPicPr>
          <p:nvPr/>
        </p:nvPicPr>
        <p:blipFill>
          <a:blip r:embed="rId6"/>
          <a:stretch>
            <a:fillRect/>
          </a:stretch>
        </p:blipFill>
        <p:spPr>
          <a:xfrm>
            <a:off x="4150707" y="1469752"/>
            <a:ext cx="306804" cy="359695"/>
          </a:xfrm>
          <a:prstGeom prst="rect">
            <a:avLst/>
          </a:prstGeom>
        </p:spPr>
      </p:pic>
      <p:pic>
        <p:nvPicPr>
          <p:cNvPr id="17" name="Image 16"/>
          <p:cNvPicPr>
            <a:picLocks noChangeAspect="1"/>
          </p:cNvPicPr>
          <p:nvPr/>
        </p:nvPicPr>
        <p:blipFill>
          <a:blip r:embed="rId7"/>
          <a:stretch>
            <a:fillRect/>
          </a:stretch>
        </p:blipFill>
        <p:spPr>
          <a:xfrm>
            <a:off x="4166864" y="3549759"/>
            <a:ext cx="317019" cy="353599"/>
          </a:xfrm>
          <a:prstGeom prst="rect">
            <a:avLst/>
          </a:prstGeom>
        </p:spPr>
      </p:pic>
      <p:pic>
        <p:nvPicPr>
          <p:cNvPr id="18" name="Image 17"/>
          <p:cNvPicPr>
            <a:picLocks noChangeAspect="1"/>
          </p:cNvPicPr>
          <p:nvPr/>
        </p:nvPicPr>
        <p:blipFill>
          <a:blip r:embed="rId4"/>
          <a:stretch>
            <a:fillRect/>
          </a:stretch>
        </p:blipFill>
        <p:spPr>
          <a:xfrm>
            <a:off x="2631185" y="1341724"/>
            <a:ext cx="317019" cy="353599"/>
          </a:xfrm>
          <a:prstGeom prst="rect">
            <a:avLst/>
          </a:prstGeom>
        </p:spPr>
      </p:pic>
      <p:pic>
        <p:nvPicPr>
          <p:cNvPr id="19" name="Image 18"/>
          <p:cNvPicPr>
            <a:picLocks noChangeAspect="1"/>
          </p:cNvPicPr>
          <p:nvPr/>
        </p:nvPicPr>
        <p:blipFill>
          <a:blip r:embed="rId6"/>
          <a:stretch>
            <a:fillRect/>
          </a:stretch>
        </p:blipFill>
        <p:spPr>
          <a:xfrm>
            <a:off x="3504063" y="2545008"/>
            <a:ext cx="317019" cy="359695"/>
          </a:xfrm>
          <a:prstGeom prst="rect">
            <a:avLst/>
          </a:prstGeom>
        </p:spPr>
      </p:pic>
      <p:pic>
        <p:nvPicPr>
          <p:cNvPr id="20" name="Image 19"/>
          <p:cNvPicPr>
            <a:picLocks noChangeAspect="1"/>
          </p:cNvPicPr>
          <p:nvPr/>
        </p:nvPicPr>
        <p:blipFill>
          <a:blip r:embed="rId8"/>
          <a:stretch>
            <a:fillRect/>
          </a:stretch>
        </p:blipFill>
        <p:spPr>
          <a:xfrm>
            <a:off x="4378358" y="1829448"/>
            <a:ext cx="4462220" cy="1631412"/>
          </a:xfrm>
          <a:prstGeom prst="rect">
            <a:avLst/>
          </a:prstGeom>
        </p:spPr>
      </p:pic>
      <p:pic>
        <p:nvPicPr>
          <p:cNvPr id="21" name="Image 20"/>
          <p:cNvPicPr>
            <a:picLocks noChangeAspect="1"/>
          </p:cNvPicPr>
          <p:nvPr/>
        </p:nvPicPr>
        <p:blipFill>
          <a:blip r:embed="rId5"/>
          <a:stretch>
            <a:fillRect/>
          </a:stretch>
        </p:blipFill>
        <p:spPr>
          <a:xfrm>
            <a:off x="5799303" y="1986608"/>
            <a:ext cx="164606" cy="152413"/>
          </a:xfrm>
          <a:prstGeom prst="rect">
            <a:avLst/>
          </a:prstGeom>
        </p:spPr>
      </p:pic>
      <p:pic>
        <p:nvPicPr>
          <p:cNvPr id="22" name="Image 21"/>
          <p:cNvPicPr>
            <a:picLocks noChangeAspect="1"/>
          </p:cNvPicPr>
          <p:nvPr/>
        </p:nvPicPr>
        <p:blipFill>
          <a:blip r:embed="rId7"/>
          <a:stretch>
            <a:fillRect/>
          </a:stretch>
        </p:blipFill>
        <p:spPr>
          <a:xfrm>
            <a:off x="5579369" y="2051121"/>
            <a:ext cx="317019" cy="353599"/>
          </a:xfrm>
          <a:prstGeom prst="rect">
            <a:avLst/>
          </a:prstGeom>
        </p:spPr>
      </p:pic>
    </p:spTree>
    <p:extLst>
      <p:ext uri="{BB962C8B-B14F-4D97-AF65-F5344CB8AC3E}">
        <p14:creationId xmlns:p14="http://schemas.microsoft.com/office/powerpoint/2010/main" val="3994808521"/>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sur la modification individuelle 3/3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Les modifications peuvent aussi concerner les postes de la pièce. </a:t>
            </a:r>
          </a:p>
          <a:p>
            <a:r>
              <a:rPr lang="fr-FR" dirty="0" smtClean="0">
                <a:cs typeface="Arial" panose="020B0604020202020204" pitchFamily="34" charset="0"/>
              </a:rPr>
              <a:t>Partir de l’écran initial de la FB02 et double cliquer sur le poste en question :</a:t>
            </a:r>
          </a:p>
          <a:p>
            <a:r>
              <a:rPr lang="fr-FR" dirty="0" smtClean="0">
                <a:cs typeface="Arial" panose="020B0604020202020204" pitchFamily="34" charset="0"/>
              </a:rPr>
              <a:t> </a:t>
            </a: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Mettre à jour les zones concernées par la modification et sauvegarder la modification en cliquant sur la disquette. </a:t>
            </a: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16</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9" y="1681567"/>
            <a:ext cx="3409486" cy="1549830"/>
          </a:xfrm>
          <a:prstGeom prst="rect">
            <a:avLst/>
          </a:prstGeom>
        </p:spPr>
      </p:pic>
      <p:pic>
        <p:nvPicPr>
          <p:cNvPr id="6" name="Image 5"/>
          <p:cNvPicPr>
            <a:picLocks noChangeAspect="1"/>
          </p:cNvPicPr>
          <p:nvPr/>
        </p:nvPicPr>
        <p:blipFill>
          <a:blip r:embed="rId3"/>
          <a:stretch>
            <a:fillRect/>
          </a:stretch>
        </p:blipFill>
        <p:spPr>
          <a:xfrm>
            <a:off x="4480504" y="1681566"/>
            <a:ext cx="3842206" cy="1549831"/>
          </a:xfrm>
          <a:prstGeom prst="rect">
            <a:avLst/>
          </a:prstGeom>
        </p:spPr>
      </p:pic>
      <p:pic>
        <p:nvPicPr>
          <p:cNvPr id="7" name="Image 6"/>
          <p:cNvPicPr>
            <a:picLocks noChangeAspect="1"/>
          </p:cNvPicPr>
          <p:nvPr/>
        </p:nvPicPr>
        <p:blipFill>
          <a:blip r:embed="rId4"/>
          <a:stretch>
            <a:fillRect/>
          </a:stretch>
        </p:blipFill>
        <p:spPr>
          <a:xfrm>
            <a:off x="573577" y="3425125"/>
            <a:ext cx="4403415" cy="1056871"/>
          </a:xfrm>
          <a:prstGeom prst="rect">
            <a:avLst/>
          </a:prstGeom>
        </p:spPr>
      </p:pic>
      <p:pic>
        <p:nvPicPr>
          <p:cNvPr id="8" name="Image 7"/>
          <p:cNvPicPr>
            <a:picLocks noChangeAspect="1"/>
          </p:cNvPicPr>
          <p:nvPr/>
        </p:nvPicPr>
        <p:blipFill>
          <a:blip r:embed="rId5"/>
          <a:stretch>
            <a:fillRect/>
          </a:stretch>
        </p:blipFill>
        <p:spPr>
          <a:xfrm>
            <a:off x="5321164" y="3037668"/>
            <a:ext cx="2304002" cy="139485"/>
          </a:xfrm>
          <a:prstGeom prst="rect">
            <a:avLst/>
          </a:prstGeom>
        </p:spPr>
      </p:pic>
      <p:pic>
        <p:nvPicPr>
          <p:cNvPr id="9" name="Image 8"/>
          <p:cNvPicPr>
            <a:picLocks noChangeAspect="1"/>
          </p:cNvPicPr>
          <p:nvPr/>
        </p:nvPicPr>
        <p:blipFill>
          <a:blip r:embed="rId6"/>
          <a:stretch>
            <a:fillRect/>
          </a:stretch>
        </p:blipFill>
        <p:spPr>
          <a:xfrm>
            <a:off x="5067467" y="2968566"/>
            <a:ext cx="310923" cy="359695"/>
          </a:xfrm>
          <a:prstGeom prst="rect">
            <a:avLst/>
          </a:prstGeom>
        </p:spPr>
      </p:pic>
      <p:pic>
        <p:nvPicPr>
          <p:cNvPr id="10" name="Image 9"/>
          <p:cNvPicPr>
            <a:picLocks noChangeAspect="1"/>
          </p:cNvPicPr>
          <p:nvPr/>
        </p:nvPicPr>
        <p:blipFill>
          <a:blip r:embed="rId6"/>
          <a:stretch>
            <a:fillRect/>
          </a:stretch>
        </p:blipFill>
        <p:spPr>
          <a:xfrm>
            <a:off x="637347" y="3194183"/>
            <a:ext cx="310923" cy="359695"/>
          </a:xfrm>
          <a:prstGeom prst="rect">
            <a:avLst/>
          </a:prstGeom>
        </p:spPr>
      </p:pic>
      <p:pic>
        <p:nvPicPr>
          <p:cNvPr id="11" name="Image 10"/>
          <p:cNvPicPr>
            <a:picLocks noChangeAspect="1"/>
          </p:cNvPicPr>
          <p:nvPr/>
        </p:nvPicPr>
        <p:blipFill>
          <a:blip r:embed="rId7"/>
          <a:stretch>
            <a:fillRect/>
          </a:stretch>
        </p:blipFill>
        <p:spPr>
          <a:xfrm>
            <a:off x="2196019" y="3477671"/>
            <a:ext cx="164606" cy="152413"/>
          </a:xfrm>
          <a:prstGeom prst="rect">
            <a:avLst/>
          </a:prstGeom>
        </p:spPr>
      </p:pic>
      <p:pic>
        <p:nvPicPr>
          <p:cNvPr id="12" name="Image 11"/>
          <p:cNvPicPr>
            <a:picLocks noChangeAspect="1"/>
          </p:cNvPicPr>
          <p:nvPr/>
        </p:nvPicPr>
        <p:blipFill>
          <a:blip r:embed="rId8"/>
          <a:stretch>
            <a:fillRect/>
          </a:stretch>
        </p:blipFill>
        <p:spPr>
          <a:xfrm>
            <a:off x="2278322" y="3495113"/>
            <a:ext cx="317019" cy="359695"/>
          </a:xfrm>
          <a:prstGeom prst="rect">
            <a:avLst/>
          </a:prstGeom>
        </p:spPr>
      </p:pic>
      <p:pic>
        <p:nvPicPr>
          <p:cNvPr id="13" name="Image 12"/>
          <p:cNvPicPr>
            <a:picLocks noChangeAspect="1"/>
          </p:cNvPicPr>
          <p:nvPr/>
        </p:nvPicPr>
        <p:blipFill>
          <a:blip r:embed="rId8"/>
          <a:stretch>
            <a:fillRect/>
          </a:stretch>
        </p:blipFill>
        <p:spPr>
          <a:xfrm>
            <a:off x="7870966" y="3200400"/>
            <a:ext cx="317019" cy="359695"/>
          </a:xfrm>
          <a:prstGeom prst="rect">
            <a:avLst/>
          </a:prstGeom>
        </p:spPr>
      </p:pic>
    </p:spTree>
    <p:extLst>
      <p:ext uri="{BB962C8B-B14F-4D97-AF65-F5344CB8AC3E}">
        <p14:creationId xmlns:p14="http://schemas.microsoft.com/office/powerpoint/2010/main" val="3332878806"/>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sur la modification en masse 1/3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Lancer la transaction de consultation des pièces des comptes généraux : FBL3N. 	</a:t>
            </a:r>
          </a:p>
          <a:p>
            <a:r>
              <a:rPr lang="fr-FR" dirty="0" smtClean="0">
                <a:cs typeface="Arial" panose="020B0604020202020204" pitchFamily="34" charset="0"/>
              </a:rPr>
              <a:t>									</a:t>
            </a:r>
            <a:r>
              <a:rPr lang="fr-FR" dirty="0">
                <a:cs typeface="Arial" panose="020B0604020202020204" pitchFamily="34" charset="0"/>
              </a:rPr>
              <a:t>Entrer le compte général sur lequel se trouve les pièces à modifier en 										masse. </a:t>
            </a:r>
          </a:p>
          <a:p>
            <a:r>
              <a:rPr lang="fr-FR" dirty="0" smtClean="0">
                <a:cs typeface="Arial" panose="020B0604020202020204" pitchFamily="34" charset="0"/>
              </a:rPr>
              <a:t>								</a:t>
            </a:r>
            <a:r>
              <a:rPr lang="fr-FR" dirty="0">
                <a:cs typeface="Arial" panose="020B0604020202020204" pitchFamily="34" charset="0"/>
              </a:rPr>
              <a:t>	Choisir le type de poste : PNS, postes rapprochés, tous les postes.  </a:t>
            </a:r>
          </a:p>
          <a:p>
            <a:r>
              <a:rPr lang="fr-FR" dirty="0">
                <a:cs typeface="Arial" panose="020B0604020202020204" pitchFamily="34" charset="0"/>
              </a:rPr>
              <a:t>									 Exécuter la requête. </a:t>
            </a:r>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17</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37863"/>
            <a:ext cx="3060457" cy="2731245"/>
          </a:xfrm>
          <a:prstGeom prst="rect">
            <a:avLst/>
          </a:prstGeom>
        </p:spPr>
      </p:pic>
      <p:pic>
        <p:nvPicPr>
          <p:cNvPr id="4" name="Image 3"/>
          <p:cNvPicPr>
            <a:picLocks noChangeAspect="1"/>
          </p:cNvPicPr>
          <p:nvPr/>
        </p:nvPicPr>
        <p:blipFill>
          <a:blip r:embed="rId3"/>
          <a:stretch>
            <a:fillRect/>
          </a:stretch>
        </p:blipFill>
        <p:spPr>
          <a:xfrm>
            <a:off x="3765609" y="1457303"/>
            <a:ext cx="310923" cy="353599"/>
          </a:xfrm>
          <a:prstGeom prst="rect">
            <a:avLst/>
          </a:prstGeom>
        </p:spPr>
      </p:pic>
      <p:pic>
        <p:nvPicPr>
          <p:cNvPr id="6" name="Image 5"/>
          <p:cNvPicPr>
            <a:picLocks noChangeAspect="1"/>
          </p:cNvPicPr>
          <p:nvPr/>
        </p:nvPicPr>
        <p:blipFill>
          <a:blip r:embed="rId4"/>
          <a:stretch>
            <a:fillRect/>
          </a:stretch>
        </p:blipFill>
        <p:spPr>
          <a:xfrm>
            <a:off x="2409507" y="1728522"/>
            <a:ext cx="310923" cy="353599"/>
          </a:xfrm>
          <a:prstGeom prst="rect">
            <a:avLst/>
          </a:prstGeom>
        </p:spPr>
      </p:pic>
      <p:pic>
        <p:nvPicPr>
          <p:cNvPr id="10" name="Image 9"/>
          <p:cNvPicPr>
            <a:picLocks noChangeAspect="1"/>
          </p:cNvPicPr>
          <p:nvPr/>
        </p:nvPicPr>
        <p:blipFill>
          <a:blip r:embed="rId5"/>
          <a:stretch>
            <a:fillRect/>
          </a:stretch>
        </p:blipFill>
        <p:spPr>
          <a:xfrm>
            <a:off x="3779914" y="2010816"/>
            <a:ext cx="310923" cy="353599"/>
          </a:xfrm>
          <a:prstGeom prst="rect">
            <a:avLst/>
          </a:prstGeom>
        </p:spPr>
      </p:pic>
      <p:pic>
        <p:nvPicPr>
          <p:cNvPr id="11" name="Image 10"/>
          <p:cNvPicPr>
            <a:picLocks noChangeAspect="1"/>
          </p:cNvPicPr>
          <p:nvPr/>
        </p:nvPicPr>
        <p:blipFill>
          <a:blip r:embed="rId6"/>
          <a:stretch>
            <a:fillRect/>
          </a:stretch>
        </p:blipFill>
        <p:spPr>
          <a:xfrm>
            <a:off x="1456362" y="2898645"/>
            <a:ext cx="310923" cy="353599"/>
          </a:xfrm>
          <a:prstGeom prst="rect">
            <a:avLst/>
          </a:prstGeom>
        </p:spPr>
      </p:pic>
      <p:pic>
        <p:nvPicPr>
          <p:cNvPr id="15" name="Image 14"/>
          <p:cNvPicPr>
            <a:picLocks noChangeAspect="1"/>
          </p:cNvPicPr>
          <p:nvPr/>
        </p:nvPicPr>
        <p:blipFill>
          <a:blip r:embed="rId7"/>
          <a:stretch>
            <a:fillRect/>
          </a:stretch>
        </p:blipFill>
        <p:spPr>
          <a:xfrm>
            <a:off x="3776865" y="2364415"/>
            <a:ext cx="317019" cy="353599"/>
          </a:xfrm>
          <a:prstGeom prst="rect">
            <a:avLst/>
          </a:prstGeom>
        </p:spPr>
      </p:pic>
      <p:pic>
        <p:nvPicPr>
          <p:cNvPr id="16" name="Image 15"/>
          <p:cNvPicPr>
            <a:picLocks noChangeAspect="1"/>
          </p:cNvPicPr>
          <p:nvPr/>
        </p:nvPicPr>
        <p:blipFill>
          <a:blip r:embed="rId8"/>
          <a:stretch>
            <a:fillRect/>
          </a:stretch>
        </p:blipFill>
        <p:spPr>
          <a:xfrm>
            <a:off x="681447" y="1548674"/>
            <a:ext cx="310923" cy="359695"/>
          </a:xfrm>
          <a:prstGeom prst="rect">
            <a:avLst/>
          </a:prstGeom>
        </p:spPr>
      </p:pic>
      <p:pic>
        <p:nvPicPr>
          <p:cNvPr id="17" name="Image 16"/>
          <p:cNvPicPr>
            <a:picLocks noChangeAspect="1"/>
          </p:cNvPicPr>
          <p:nvPr/>
        </p:nvPicPr>
        <p:blipFill>
          <a:blip r:embed="rId9"/>
          <a:stretch>
            <a:fillRect/>
          </a:stretch>
        </p:blipFill>
        <p:spPr>
          <a:xfrm>
            <a:off x="660659" y="1524270"/>
            <a:ext cx="164606" cy="140220"/>
          </a:xfrm>
          <a:prstGeom prst="rect">
            <a:avLst/>
          </a:prstGeom>
        </p:spPr>
      </p:pic>
    </p:spTree>
    <p:extLst>
      <p:ext uri="{BB962C8B-B14F-4D97-AF65-F5344CB8AC3E}">
        <p14:creationId xmlns:p14="http://schemas.microsoft.com/office/powerpoint/2010/main" val="2357179698"/>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sur la modification en masse 2/3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       Cocher les pièces en question ou s’il s’agit de la totalité des pièces du compte, cliquer sur le menu Traiter : Marquer Tout afin  </a:t>
            </a:r>
          </a:p>
          <a:p>
            <a:r>
              <a:rPr lang="fr-FR" dirty="0" smtClean="0">
                <a:cs typeface="Arial" panose="020B0604020202020204" pitchFamily="34" charset="0"/>
              </a:rPr>
              <a:t>	de tout sélectionner en une fois. Cliquer sur le pavé :         Modification en masse. </a:t>
            </a:r>
          </a:p>
          <a:p>
            <a:r>
              <a:rPr lang="fr-FR" dirty="0">
                <a:cs typeface="Arial" panose="020B0604020202020204" pitchFamily="34" charset="0"/>
              </a:rPr>
              <a:t>	</a:t>
            </a:r>
            <a:r>
              <a:rPr lang="fr-FR" dirty="0" smtClean="0">
                <a:cs typeface="Arial" panose="020B0604020202020204" pitchFamily="34" charset="0"/>
              </a:rPr>
              <a:t>										Renseigner la ou les zones à modifier comme indiqué ci dessous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Puis cliquer sur </a:t>
            </a: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18</a:t>
            </a:fld>
            <a:endParaRPr lang="fr-FR" altLang="en-US" sz="750">
              <a:solidFill>
                <a:srgbClr val="000000"/>
              </a:solidFill>
            </a:endParaRPr>
          </a:p>
        </p:txBody>
      </p:sp>
      <p:pic>
        <p:nvPicPr>
          <p:cNvPr id="10" name="Image 9"/>
          <p:cNvPicPr>
            <a:picLocks noChangeAspect="1"/>
          </p:cNvPicPr>
          <p:nvPr/>
        </p:nvPicPr>
        <p:blipFill>
          <a:blip r:embed="rId2"/>
          <a:stretch>
            <a:fillRect/>
          </a:stretch>
        </p:blipFill>
        <p:spPr>
          <a:xfrm>
            <a:off x="4257762" y="1485405"/>
            <a:ext cx="247650" cy="219075"/>
          </a:xfrm>
          <a:prstGeom prst="rect">
            <a:avLst/>
          </a:prstGeom>
        </p:spPr>
      </p:pic>
      <p:pic>
        <p:nvPicPr>
          <p:cNvPr id="15" name="Image 14"/>
          <p:cNvPicPr>
            <a:picLocks noChangeAspect="1"/>
          </p:cNvPicPr>
          <p:nvPr/>
        </p:nvPicPr>
        <p:blipFill>
          <a:blip r:embed="rId3"/>
          <a:stretch>
            <a:fillRect/>
          </a:stretch>
        </p:blipFill>
        <p:spPr>
          <a:xfrm>
            <a:off x="4869946" y="2020019"/>
            <a:ext cx="3816854" cy="1528147"/>
          </a:xfrm>
          <a:prstGeom prst="rect">
            <a:avLst/>
          </a:prstGeom>
        </p:spPr>
      </p:pic>
      <p:pic>
        <p:nvPicPr>
          <p:cNvPr id="16" name="Image 15"/>
          <p:cNvPicPr>
            <a:picLocks noChangeAspect="1"/>
          </p:cNvPicPr>
          <p:nvPr/>
        </p:nvPicPr>
        <p:blipFill>
          <a:blip r:embed="rId4"/>
          <a:stretch>
            <a:fillRect/>
          </a:stretch>
        </p:blipFill>
        <p:spPr>
          <a:xfrm>
            <a:off x="6234348" y="3637066"/>
            <a:ext cx="1504950" cy="200025"/>
          </a:xfrm>
          <a:prstGeom prst="rect">
            <a:avLst/>
          </a:prstGeom>
        </p:spPr>
      </p:pic>
      <p:pic>
        <p:nvPicPr>
          <p:cNvPr id="17" name="Image 16"/>
          <p:cNvPicPr>
            <a:picLocks noChangeAspect="1"/>
          </p:cNvPicPr>
          <p:nvPr/>
        </p:nvPicPr>
        <p:blipFill>
          <a:blip r:embed="rId5"/>
          <a:stretch>
            <a:fillRect/>
          </a:stretch>
        </p:blipFill>
        <p:spPr>
          <a:xfrm>
            <a:off x="5783462" y="3068663"/>
            <a:ext cx="1051291" cy="138093"/>
          </a:xfrm>
          <a:prstGeom prst="rect">
            <a:avLst/>
          </a:prstGeom>
        </p:spPr>
      </p:pic>
      <p:pic>
        <p:nvPicPr>
          <p:cNvPr id="4" name="Image 3"/>
          <p:cNvPicPr>
            <a:picLocks noChangeAspect="1"/>
          </p:cNvPicPr>
          <p:nvPr/>
        </p:nvPicPr>
        <p:blipFill>
          <a:blip r:embed="rId6"/>
          <a:stretch>
            <a:fillRect/>
          </a:stretch>
        </p:blipFill>
        <p:spPr>
          <a:xfrm>
            <a:off x="524952" y="1105900"/>
            <a:ext cx="317019" cy="353599"/>
          </a:xfrm>
          <a:prstGeom prst="rect">
            <a:avLst/>
          </a:prstGeom>
        </p:spPr>
      </p:pic>
      <p:pic>
        <p:nvPicPr>
          <p:cNvPr id="9" name="Image 8"/>
          <p:cNvPicPr>
            <a:picLocks noChangeAspect="1"/>
          </p:cNvPicPr>
          <p:nvPr/>
        </p:nvPicPr>
        <p:blipFill>
          <a:blip r:embed="rId7"/>
          <a:stretch>
            <a:fillRect/>
          </a:stretch>
        </p:blipFill>
        <p:spPr>
          <a:xfrm>
            <a:off x="5917329" y="1480385"/>
            <a:ext cx="317019" cy="353599"/>
          </a:xfrm>
          <a:prstGeom prst="rect">
            <a:avLst/>
          </a:prstGeom>
        </p:spPr>
      </p:pic>
      <p:pic>
        <p:nvPicPr>
          <p:cNvPr id="12" name="Image 11"/>
          <p:cNvPicPr>
            <a:picLocks noChangeAspect="1"/>
          </p:cNvPicPr>
          <p:nvPr/>
        </p:nvPicPr>
        <p:blipFill>
          <a:blip r:embed="rId8"/>
          <a:stretch>
            <a:fillRect/>
          </a:stretch>
        </p:blipFill>
        <p:spPr>
          <a:xfrm>
            <a:off x="7115543" y="3471619"/>
            <a:ext cx="1362030" cy="76548"/>
          </a:xfrm>
          <a:prstGeom prst="rect">
            <a:avLst/>
          </a:prstGeom>
        </p:spPr>
      </p:pic>
      <p:pic>
        <p:nvPicPr>
          <p:cNvPr id="13" name="Image 12"/>
          <p:cNvPicPr>
            <a:picLocks noChangeAspect="1"/>
          </p:cNvPicPr>
          <p:nvPr/>
        </p:nvPicPr>
        <p:blipFill>
          <a:blip r:embed="rId9"/>
          <a:stretch>
            <a:fillRect/>
          </a:stretch>
        </p:blipFill>
        <p:spPr>
          <a:xfrm>
            <a:off x="6864987" y="3371366"/>
            <a:ext cx="317019" cy="353599"/>
          </a:xfrm>
          <a:prstGeom prst="rect">
            <a:avLst/>
          </a:prstGeom>
        </p:spPr>
      </p:pic>
      <p:pic>
        <p:nvPicPr>
          <p:cNvPr id="14" name="Image 13"/>
          <p:cNvPicPr>
            <a:picLocks noChangeAspect="1"/>
          </p:cNvPicPr>
          <p:nvPr/>
        </p:nvPicPr>
        <p:blipFill>
          <a:blip r:embed="rId9"/>
          <a:stretch>
            <a:fillRect/>
          </a:stretch>
        </p:blipFill>
        <p:spPr>
          <a:xfrm>
            <a:off x="4960707" y="3548167"/>
            <a:ext cx="317019" cy="353599"/>
          </a:xfrm>
          <a:prstGeom prst="rect">
            <a:avLst/>
          </a:prstGeom>
        </p:spPr>
      </p:pic>
      <p:pic>
        <p:nvPicPr>
          <p:cNvPr id="20" name="Image 19"/>
          <p:cNvPicPr>
            <a:picLocks noChangeAspect="1"/>
          </p:cNvPicPr>
          <p:nvPr/>
        </p:nvPicPr>
        <p:blipFill>
          <a:blip r:embed="rId10"/>
          <a:stretch>
            <a:fillRect/>
          </a:stretch>
        </p:blipFill>
        <p:spPr>
          <a:xfrm>
            <a:off x="573578" y="1758012"/>
            <a:ext cx="3821951" cy="2723983"/>
          </a:xfrm>
          <a:prstGeom prst="rect">
            <a:avLst/>
          </a:prstGeom>
        </p:spPr>
      </p:pic>
      <p:pic>
        <p:nvPicPr>
          <p:cNvPr id="21" name="Image 20"/>
          <p:cNvPicPr>
            <a:picLocks noChangeAspect="1"/>
          </p:cNvPicPr>
          <p:nvPr/>
        </p:nvPicPr>
        <p:blipFill>
          <a:blip r:embed="rId11"/>
          <a:stretch>
            <a:fillRect/>
          </a:stretch>
        </p:blipFill>
        <p:spPr>
          <a:xfrm>
            <a:off x="683461" y="2967380"/>
            <a:ext cx="298730" cy="486955"/>
          </a:xfrm>
          <a:prstGeom prst="rect">
            <a:avLst/>
          </a:prstGeom>
        </p:spPr>
      </p:pic>
      <p:pic>
        <p:nvPicPr>
          <p:cNvPr id="22" name="Image 21"/>
          <p:cNvPicPr>
            <a:picLocks noChangeAspect="1"/>
          </p:cNvPicPr>
          <p:nvPr/>
        </p:nvPicPr>
        <p:blipFill>
          <a:blip r:embed="rId6"/>
          <a:stretch>
            <a:fillRect/>
          </a:stretch>
        </p:blipFill>
        <p:spPr>
          <a:xfrm>
            <a:off x="902380" y="2802224"/>
            <a:ext cx="317019" cy="353599"/>
          </a:xfrm>
          <a:prstGeom prst="rect">
            <a:avLst/>
          </a:prstGeom>
        </p:spPr>
      </p:pic>
      <p:pic>
        <p:nvPicPr>
          <p:cNvPr id="24" name="Image 23"/>
          <p:cNvPicPr>
            <a:picLocks noChangeAspect="1"/>
          </p:cNvPicPr>
          <p:nvPr/>
        </p:nvPicPr>
        <p:blipFill>
          <a:blip r:embed="rId12"/>
          <a:stretch>
            <a:fillRect/>
          </a:stretch>
        </p:blipFill>
        <p:spPr>
          <a:xfrm>
            <a:off x="1473218" y="2284663"/>
            <a:ext cx="213160" cy="226062"/>
          </a:xfrm>
          <a:prstGeom prst="rect">
            <a:avLst/>
          </a:prstGeom>
        </p:spPr>
      </p:pic>
      <p:pic>
        <p:nvPicPr>
          <p:cNvPr id="25" name="Image 24"/>
          <p:cNvPicPr>
            <a:picLocks noChangeAspect="1"/>
          </p:cNvPicPr>
          <p:nvPr/>
        </p:nvPicPr>
        <p:blipFill>
          <a:blip r:embed="rId7"/>
          <a:stretch>
            <a:fillRect/>
          </a:stretch>
        </p:blipFill>
        <p:spPr>
          <a:xfrm>
            <a:off x="1606567" y="2382876"/>
            <a:ext cx="317019" cy="353599"/>
          </a:xfrm>
          <a:prstGeom prst="rect">
            <a:avLst/>
          </a:prstGeom>
        </p:spPr>
      </p:pic>
    </p:spTree>
    <p:extLst>
      <p:ext uri="{BB962C8B-B14F-4D97-AF65-F5344CB8AC3E}">
        <p14:creationId xmlns:p14="http://schemas.microsoft.com/office/powerpoint/2010/main" val="3721809014"/>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sur la modification en masse 3/3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Cliquer sur le menu liste Rafraîchir pour voir apparaitre la modification faite        </a:t>
            </a:r>
            <a:r>
              <a:rPr lang="fr-FR" dirty="0">
                <a:cs typeface="Arial" panose="020B0604020202020204" pitchFamily="34" charset="0"/>
              </a:rPr>
              <a:t>	</a:t>
            </a:r>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19</a:t>
            </a:fld>
            <a:endParaRPr lang="fr-FR" altLang="en-US" sz="750">
              <a:solidFill>
                <a:srgbClr val="000000"/>
              </a:solidFill>
            </a:endParaRPr>
          </a:p>
        </p:txBody>
      </p:sp>
      <p:pic>
        <p:nvPicPr>
          <p:cNvPr id="23" name="Image 22"/>
          <p:cNvPicPr>
            <a:picLocks noChangeAspect="1"/>
          </p:cNvPicPr>
          <p:nvPr/>
        </p:nvPicPr>
        <p:blipFill>
          <a:blip r:embed="rId2"/>
          <a:stretch>
            <a:fillRect/>
          </a:stretch>
        </p:blipFill>
        <p:spPr>
          <a:xfrm>
            <a:off x="578744" y="1400497"/>
            <a:ext cx="3782494" cy="2195109"/>
          </a:xfrm>
          <a:prstGeom prst="rect">
            <a:avLst/>
          </a:prstGeom>
        </p:spPr>
      </p:pic>
      <p:pic>
        <p:nvPicPr>
          <p:cNvPr id="3" name="Image 2"/>
          <p:cNvPicPr>
            <a:picLocks noChangeAspect="1"/>
          </p:cNvPicPr>
          <p:nvPr/>
        </p:nvPicPr>
        <p:blipFill>
          <a:blip r:embed="rId3"/>
          <a:stretch>
            <a:fillRect/>
          </a:stretch>
        </p:blipFill>
        <p:spPr>
          <a:xfrm>
            <a:off x="883402" y="2231756"/>
            <a:ext cx="867905" cy="402955"/>
          </a:xfrm>
          <a:prstGeom prst="rect">
            <a:avLst/>
          </a:prstGeom>
        </p:spPr>
      </p:pic>
      <p:pic>
        <p:nvPicPr>
          <p:cNvPr id="5" name="Image 4"/>
          <p:cNvPicPr>
            <a:picLocks noChangeAspect="1"/>
          </p:cNvPicPr>
          <p:nvPr/>
        </p:nvPicPr>
        <p:blipFill>
          <a:blip r:embed="rId4"/>
          <a:stretch>
            <a:fillRect/>
          </a:stretch>
        </p:blipFill>
        <p:spPr>
          <a:xfrm>
            <a:off x="1712172" y="2120272"/>
            <a:ext cx="317019" cy="359695"/>
          </a:xfrm>
          <a:prstGeom prst="rect">
            <a:avLst/>
          </a:prstGeom>
        </p:spPr>
      </p:pic>
      <p:pic>
        <p:nvPicPr>
          <p:cNvPr id="6" name="Image 5"/>
          <p:cNvPicPr>
            <a:picLocks noChangeAspect="1"/>
          </p:cNvPicPr>
          <p:nvPr/>
        </p:nvPicPr>
        <p:blipFill>
          <a:blip r:embed="rId4"/>
          <a:stretch>
            <a:fillRect/>
          </a:stretch>
        </p:blipFill>
        <p:spPr>
          <a:xfrm>
            <a:off x="5211653" y="1116900"/>
            <a:ext cx="317019" cy="359695"/>
          </a:xfrm>
          <a:prstGeom prst="rect">
            <a:avLst/>
          </a:prstGeom>
        </p:spPr>
      </p:pic>
    </p:spTree>
    <p:extLst>
      <p:ext uri="{BB962C8B-B14F-4D97-AF65-F5344CB8AC3E}">
        <p14:creationId xmlns:p14="http://schemas.microsoft.com/office/powerpoint/2010/main" val="524318967"/>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92990"/>
            <a:ext cx="8229600" cy="970635"/>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sur l’affichage des soldes des comptes généraux 1/2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Grand Livre / Compte / FAGLB03 – Afficher soldes (nouveau)</a:t>
            </a:r>
          </a:p>
          <a:p>
            <a:r>
              <a:rPr lang="fr-FR" dirty="0" smtClean="0">
                <a:cs typeface="Arial" panose="020B0604020202020204" pitchFamily="34" charset="0"/>
              </a:rPr>
              <a:t>Lancer la transaction FAGLB03.  			 Renseigner le compte général à afficher. </a:t>
            </a:r>
          </a:p>
          <a:p>
            <a:r>
              <a:rPr lang="fr-FR" dirty="0">
                <a:cs typeface="Arial" panose="020B0604020202020204" pitchFamily="34" charset="0"/>
              </a:rPr>
              <a:t>	</a:t>
            </a:r>
            <a:r>
              <a:rPr lang="fr-FR" dirty="0" smtClean="0">
                <a:cs typeface="Arial" panose="020B0604020202020204" pitchFamily="34" charset="0"/>
              </a:rPr>
              <a:t>							 La société et l’exercice comptable apparaissent par défaut. </a:t>
            </a:r>
          </a:p>
          <a:p>
            <a:r>
              <a:rPr lang="fr-FR" dirty="0">
                <a:cs typeface="Arial" panose="020B0604020202020204" pitchFamily="34" charset="0"/>
              </a:rPr>
              <a:t>	</a:t>
            </a:r>
            <a:r>
              <a:rPr lang="fr-FR" dirty="0" smtClean="0">
                <a:cs typeface="Arial" panose="020B0604020202020204" pitchFamily="34" charset="0"/>
              </a:rPr>
              <a:t>							 Exécuter la requête 	</a:t>
            </a:r>
          </a:p>
          <a:p>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20</a:t>
            </a:fld>
            <a:endParaRPr lang="fr-FR" altLang="en-US" sz="750">
              <a:solidFill>
                <a:srgbClr val="000000"/>
              </a:solidFill>
            </a:endParaRPr>
          </a:p>
        </p:txBody>
      </p:sp>
      <p:pic>
        <p:nvPicPr>
          <p:cNvPr id="6" name="Image 5"/>
          <p:cNvPicPr>
            <a:picLocks noChangeAspect="1"/>
          </p:cNvPicPr>
          <p:nvPr/>
        </p:nvPicPr>
        <p:blipFill>
          <a:blip r:embed="rId2"/>
          <a:stretch>
            <a:fillRect/>
          </a:stretch>
        </p:blipFill>
        <p:spPr>
          <a:xfrm>
            <a:off x="3447894" y="1449553"/>
            <a:ext cx="310923" cy="353599"/>
          </a:xfrm>
          <a:prstGeom prst="rect">
            <a:avLst/>
          </a:prstGeom>
        </p:spPr>
      </p:pic>
      <p:pic>
        <p:nvPicPr>
          <p:cNvPr id="9" name="Image 8"/>
          <p:cNvPicPr>
            <a:picLocks noChangeAspect="1"/>
          </p:cNvPicPr>
          <p:nvPr/>
        </p:nvPicPr>
        <p:blipFill>
          <a:blip r:embed="rId3"/>
          <a:stretch>
            <a:fillRect/>
          </a:stretch>
        </p:blipFill>
        <p:spPr>
          <a:xfrm>
            <a:off x="3447894" y="1803152"/>
            <a:ext cx="310923" cy="353599"/>
          </a:xfrm>
          <a:prstGeom prst="rect">
            <a:avLst/>
          </a:prstGeom>
        </p:spPr>
      </p:pic>
      <p:pic>
        <p:nvPicPr>
          <p:cNvPr id="11" name="Image 10"/>
          <p:cNvPicPr>
            <a:picLocks noChangeAspect="1"/>
          </p:cNvPicPr>
          <p:nvPr/>
        </p:nvPicPr>
        <p:blipFill>
          <a:blip r:embed="rId4"/>
          <a:stretch>
            <a:fillRect/>
          </a:stretch>
        </p:blipFill>
        <p:spPr>
          <a:xfrm>
            <a:off x="3438271" y="2156751"/>
            <a:ext cx="317019" cy="353599"/>
          </a:xfrm>
          <a:prstGeom prst="rect">
            <a:avLst/>
          </a:prstGeom>
        </p:spPr>
      </p:pic>
      <p:pic>
        <p:nvPicPr>
          <p:cNvPr id="12" name="Image 11"/>
          <p:cNvPicPr>
            <a:picLocks noChangeAspect="1"/>
          </p:cNvPicPr>
          <p:nvPr/>
        </p:nvPicPr>
        <p:blipFill>
          <a:blip r:embed="rId5"/>
          <a:stretch>
            <a:fillRect/>
          </a:stretch>
        </p:blipFill>
        <p:spPr>
          <a:xfrm>
            <a:off x="573578" y="1744390"/>
            <a:ext cx="2313929" cy="1205558"/>
          </a:xfrm>
          <a:prstGeom prst="rect">
            <a:avLst/>
          </a:prstGeom>
        </p:spPr>
      </p:pic>
      <p:pic>
        <p:nvPicPr>
          <p:cNvPr id="13" name="Image 12"/>
          <p:cNvPicPr>
            <a:picLocks noChangeAspect="1"/>
          </p:cNvPicPr>
          <p:nvPr/>
        </p:nvPicPr>
        <p:blipFill>
          <a:blip r:embed="rId2"/>
          <a:stretch>
            <a:fillRect/>
          </a:stretch>
        </p:blipFill>
        <p:spPr>
          <a:xfrm>
            <a:off x="1960056" y="2218150"/>
            <a:ext cx="310923" cy="353599"/>
          </a:xfrm>
          <a:prstGeom prst="rect">
            <a:avLst/>
          </a:prstGeom>
        </p:spPr>
      </p:pic>
      <p:pic>
        <p:nvPicPr>
          <p:cNvPr id="14" name="Image 13"/>
          <p:cNvPicPr>
            <a:picLocks noChangeAspect="1"/>
          </p:cNvPicPr>
          <p:nvPr/>
        </p:nvPicPr>
        <p:blipFill>
          <a:blip r:embed="rId3"/>
          <a:stretch>
            <a:fillRect/>
          </a:stretch>
        </p:blipFill>
        <p:spPr>
          <a:xfrm>
            <a:off x="1804594" y="2487564"/>
            <a:ext cx="310923" cy="353599"/>
          </a:xfrm>
          <a:prstGeom prst="rect">
            <a:avLst/>
          </a:prstGeom>
        </p:spPr>
      </p:pic>
      <p:pic>
        <p:nvPicPr>
          <p:cNvPr id="15" name="Image 14"/>
          <p:cNvPicPr>
            <a:picLocks noChangeAspect="1"/>
          </p:cNvPicPr>
          <p:nvPr/>
        </p:nvPicPr>
        <p:blipFill>
          <a:blip r:embed="rId4"/>
          <a:stretch>
            <a:fillRect/>
          </a:stretch>
        </p:blipFill>
        <p:spPr>
          <a:xfrm>
            <a:off x="639653" y="2041351"/>
            <a:ext cx="317019" cy="353599"/>
          </a:xfrm>
          <a:prstGeom prst="rect">
            <a:avLst/>
          </a:prstGeom>
        </p:spPr>
      </p:pic>
      <p:pic>
        <p:nvPicPr>
          <p:cNvPr id="18" name="Image 17"/>
          <p:cNvPicPr>
            <a:picLocks noChangeAspect="1"/>
          </p:cNvPicPr>
          <p:nvPr/>
        </p:nvPicPr>
        <p:blipFill>
          <a:blip r:embed="rId6"/>
          <a:stretch>
            <a:fillRect/>
          </a:stretch>
        </p:blipFill>
        <p:spPr>
          <a:xfrm>
            <a:off x="3657456" y="2487564"/>
            <a:ext cx="4370665" cy="1994432"/>
          </a:xfrm>
          <a:prstGeom prst="rect">
            <a:avLst/>
          </a:prstGeom>
        </p:spPr>
      </p:pic>
    </p:spTree>
    <p:extLst>
      <p:ext uri="{BB962C8B-B14F-4D97-AF65-F5344CB8AC3E}">
        <p14:creationId xmlns:p14="http://schemas.microsoft.com/office/powerpoint/2010/main" val="339630924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92990"/>
            <a:ext cx="8229600" cy="970635"/>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sur l’affichage des soldes des comptes généraux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Le drill-down (double clic sur l’importe quel solde cumulé) amène à un affichage similaire à la FBL3N.</a:t>
            </a: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21</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379349"/>
            <a:ext cx="4812083" cy="3014421"/>
          </a:xfrm>
          <a:prstGeom prst="rect">
            <a:avLst/>
          </a:prstGeom>
        </p:spPr>
      </p:pic>
    </p:spTree>
    <p:extLst>
      <p:ext uri="{BB962C8B-B14F-4D97-AF65-F5344CB8AC3E}">
        <p14:creationId xmlns:p14="http://schemas.microsoft.com/office/powerpoint/2010/main" val="803634983"/>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92990"/>
            <a:ext cx="8229600" cy="970635"/>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sur la contrepassation de pièce individuelle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Grand Livre / Pièce / Contrepasser : FB08 – Contre passation individuelle 	</a:t>
            </a:r>
          </a:p>
          <a:p>
            <a:r>
              <a:rPr lang="fr-FR" dirty="0">
                <a:cs typeface="Arial" panose="020B0604020202020204" pitchFamily="34" charset="0"/>
              </a:rPr>
              <a:t>	</a:t>
            </a:r>
            <a:r>
              <a:rPr lang="fr-FR" dirty="0" smtClean="0">
                <a:cs typeface="Arial" panose="020B0604020202020204" pitchFamily="34" charset="0"/>
              </a:rPr>
              <a:t>									Renseigner le numéro de la pièce à contrepasser </a:t>
            </a:r>
          </a:p>
          <a:p>
            <a:r>
              <a:rPr lang="fr-FR" dirty="0">
                <a:cs typeface="Arial" panose="020B0604020202020204" pitchFamily="34" charset="0"/>
              </a:rPr>
              <a:t>	</a:t>
            </a:r>
            <a:r>
              <a:rPr lang="fr-FR" dirty="0" smtClean="0">
                <a:cs typeface="Arial" panose="020B0604020202020204" pitchFamily="34" charset="0"/>
              </a:rPr>
              <a:t>									La société et l’exercice comptable apparaissent par défaut</a:t>
            </a:r>
          </a:p>
          <a:p>
            <a:r>
              <a:rPr lang="fr-FR" dirty="0">
                <a:cs typeface="Arial" panose="020B0604020202020204" pitchFamily="34" charset="0"/>
              </a:rPr>
              <a:t>	</a:t>
            </a:r>
            <a:r>
              <a:rPr lang="fr-FR" dirty="0" smtClean="0">
                <a:cs typeface="Arial" panose="020B0604020202020204" pitchFamily="34" charset="0"/>
              </a:rPr>
              <a:t>									Renseigner le motif d’annulation </a:t>
            </a:r>
          </a:p>
          <a:p>
            <a:r>
              <a:rPr lang="fr-FR" dirty="0">
                <a:cs typeface="Arial" panose="020B0604020202020204" pitchFamily="34" charset="0"/>
              </a:rPr>
              <a:t>	</a:t>
            </a:r>
            <a:r>
              <a:rPr lang="fr-FR" dirty="0" smtClean="0">
                <a:cs typeface="Arial" panose="020B0604020202020204" pitchFamily="34" charset="0"/>
              </a:rPr>
              <a:t>									La date comptable et la période comptable découlent de la date de la</a:t>
            </a:r>
          </a:p>
          <a:p>
            <a:r>
              <a:rPr lang="fr-FR" dirty="0">
                <a:cs typeface="Arial" panose="020B0604020202020204" pitchFamily="34" charset="0"/>
              </a:rPr>
              <a:t>	</a:t>
            </a:r>
            <a:r>
              <a:rPr lang="fr-FR" dirty="0" smtClean="0">
                <a:cs typeface="Arial" panose="020B0604020202020204" pitchFamily="34" charset="0"/>
              </a:rPr>
              <a:t>									contrepassation</a:t>
            </a:r>
            <a:r>
              <a:rPr lang="fr-FR" dirty="0" smtClean="0">
                <a:cs typeface="Arial" panose="020B0604020202020204" pitchFamily="34" charset="0"/>
              </a:rPr>
              <a:t>. Ces données ne sont pas obligatoires. </a:t>
            </a:r>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Cliquer sur la disquette :       afin de sauvegarder.</a:t>
            </a:r>
          </a:p>
          <a:p>
            <a:r>
              <a:rPr lang="fr-FR" dirty="0">
                <a:cs typeface="Arial" panose="020B0604020202020204" pitchFamily="34" charset="0"/>
              </a:rPr>
              <a:t>	</a:t>
            </a:r>
            <a:r>
              <a:rPr lang="fr-FR" dirty="0" smtClean="0">
                <a:cs typeface="Arial" panose="020B0604020202020204" pitchFamily="34" charset="0"/>
              </a:rPr>
              <a:t>									Le numéro de la pièce de contrepassation apparait en bas de l’écran : </a:t>
            </a:r>
          </a:p>
          <a:p>
            <a:r>
              <a:rPr lang="fr-FR" dirty="0">
                <a:cs typeface="Arial" panose="020B0604020202020204" pitchFamily="34" charset="0"/>
              </a:rPr>
              <a:t>	</a:t>
            </a:r>
            <a:r>
              <a:rPr lang="fr-FR" dirty="0" smtClean="0">
                <a:cs typeface="Arial" panose="020B0604020202020204" pitchFamily="34" charset="0"/>
              </a:rPr>
              <a:t>									   </a:t>
            </a:r>
          </a:p>
          <a:p>
            <a:endParaRPr lang="fr-FR" dirty="0" smtClean="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22</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728061"/>
            <a:ext cx="3410516" cy="2534376"/>
          </a:xfrm>
          <a:prstGeom prst="rect">
            <a:avLst/>
          </a:prstGeom>
        </p:spPr>
      </p:pic>
      <p:pic>
        <p:nvPicPr>
          <p:cNvPr id="6" name="Image 5"/>
          <p:cNvPicPr>
            <a:picLocks noChangeAspect="1"/>
          </p:cNvPicPr>
          <p:nvPr/>
        </p:nvPicPr>
        <p:blipFill>
          <a:blip r:embed="rId3"/>
          <a:stretch>
            <a:fillRect/>
          </a:stretch>
        </p:blipFill>
        <p:spPr>
          <a:xfrm>
            <a:off x="4184543" y="1651577"/>
            <a:ext cx="310444" cy="353054"/>
          </a:xfrm>
          <a:prstGeom prst="rect">
            <a:avLst/>
          </a:prstGeom>
        </p:spPr>
      </p:pic>
      <p:pic>
        <p:nvPicPr>
          <p:cNvPr id="7" name="Image 6"/>
          <p:cNvPicPr>
            <a:picLocks noChangeAspect="1"/>
          </p:cNvPicPr>
          <p:nvPr/>
        </p:nvPicPr>
        <p:blipFill>
          <a:blip r:embed="rId4"/>
          <a:stretch>
            <a:fillRect/>
          </a:stretch>
        </p:blipFill>
        <p:spPr>
          <a:xfrm>
            <a:off x="2123374" y="2366068"/>
            <a:ext cx="310923" cy="359695"/>
          </a:xfrm>
          <a:prstGeom prst="rect">
            <a:avLst/>
          </a:prstGeom>
        </p:spPr>
      </p:pic>
      <p:pic>
        <p:nvPicPr>
          <p:cNvPr id="8" name="Image 7"/>
          <p:cNvPicPr>
            <a:picLocks noChangeAspect="1"/>
          </p:cNvPicPr>
          <p:nvPr/>
        </p:nvPicPr>
        <p:blipFill>
          <a:blip r:embed="rId5"/>
          <a:stretch>
            <a:fillRect/>
          </a:stretch>
        </p:blipFill>
        <p:spPr>
          <a:xfrm>
            <a:off x="4184544" y="2004631"/>
            <a:ext cx="310923" cy="353599"/>
          </a:xfrm>
          <a:prstGeom prst="rect">
            <a:avLst/>
          </a:prstGeom>
        </p:spPr>
      </p:pic>
      <p:pic>
        <p:nvPicPr>
          <p:cNvPr id="9" name="Image 8"/>
          <p:cNvPicPr>
            <a:picLocks noChangeAspect="1"/>
          </p:cNvPicPr>
          <p:nvPr/>
        </p:nvPicPr>
        <p:blipFill>
          <a:blip r:embed="rId6"/>
          <a:stretch>
            <a:fillRect/>
          </a:stretch>
        </p:blipFill>
        <p:spPr>
          <a:xfrm>
            <a:off x="1812451" y="2618864"/>
            <a:ext cx="310923" cy="353599"/>
          </a:xfrm>
          <a:prstGeom prst="rect">
            <a:avLst/>
          </a:prstGeom>
        </p:spPr>
      </p:pic>
      <p:pic>
        <p:nvPicPr>
          <p:cNvPr id="10" name="Image 9"/>
          <p:cNvPicPr>
            <a:picLocks noChangeAspect="1"/>
          </p:cNvPicPr>
          <p:nvPr/>
        </p:nvPicPr>
        <p:blipFill>
          <a:blip r:embed="rId7"/>
          <a:stretch>
            <a:fillRect/>
          </a:stretch>
        </p:blipFill>
        <p:spPr>
          <a:xfrm>
            <a:off x="4183933" y="2357686"/>
            <a:ext cx="311055" cy="346946"/>
          </a:xfrm>
          <a:prstGeom prst="rect">
            <a:avLst/>
          </a:prstGeom>
        </p:spPr>
      </p:pic>
      <p:pic>
        <p:nvPicPr>
          <p:cNvPr id="12" name="Image 11"/>
          <p:cNvPicPr>
            <a:picLocks noChangeAspect="1"/>
          </p:cNvPicPr>
          <p:nvPr/>
        </p:nvPicPr>
        <p:blipFill>
          <a:blip r:embed="rId8"/>
          <a:stretch>
            <a:fillRect/>
          </a:stretch>
        </p:blipFill>
        <p:spPr>
          <a:xfrm>
            <a:off x="4185696" y="2712914"/>
            <a:ext cx="310923" cy="353599"/>
          </a:xfrm>
          <a:prstGeom prst="rect">
            <a:avLst/>
          </a:prstGeom>
        </p:spPr>
      </p:pic>
      <p:pic>
        <p:nvPicPr>
          <p:cNvPr id="13" name="Image 12"/>
          <p:cNvPicPr>
            <a:picLocks noChangeAspect="1"/>
          </p:cNvPicPr>
          <p:nvPr/>
        </p:nvPicPr>
        <p:blipFill>
          <a:blip r:embed="rId8"/>
          <a:stretch>
            <a:fillRect/>
          </a:stretch>
        </p:blipFill>
        <p:spPr>
          <a:xfrm>
            <a:off x="1797288" y="3433363"/>
            <a:ext cx="310923" cy="353599"/>
          </a:xfrm>
          <a:prstGeom prst="rect">
            <a:avLst/>
          </a:prstGeom>
        </p:spPr>
      </p:pic>
      <p:pic>
        <p:nvPicPr>
          <p:cNvPr id="14" name="Image 13"/>
          <p:cNvPicPr>
            <a:picLocks noChangeAspect="1"/>
          </p:cNvPicPr>
          <p:nvPr/>
        </p:nvPicPr>
        <p:blipFill>
          <a:blip r:embed="rId9"/>
          <a:stretch>
            <a:fillRect/>
          </a:stretch>
        </p:blipFill>
        <p:spPr>
          <a:xfrm>
            <a:off x="5986059" y="3447168"/>
            <a:ext cx="209550" cy="171450"/>
          </a:xfrm>
          <a:prstGeom prst="rect">
            <a:avLst/>
          </a:prstGeom>
        </p:spPr>
      </p:pic>
      <p:pic>
        <p:nvPicPr>
          <p:cNvPr id="15" name="Image 14"/>
          <p:cNvPicPr>
            <a:picLocks noChangeAspect="1"/>
          </p:cNvPicPr>
          <p:nvPr/>
        </p:nvPicPr>
        <p:blipFill>
          <a:blip r:embed="rId10"/>
          <a:stretch>
            <a:fillRect/>
          </a:stretch>
        </p:blipFill>
        <p:spPr>
          <a:xfrm>
            <a:off x="4420730" y="4081462"/>
            <a:ext cx="2952750" cy="180975"/>
          </a:xfrm>
          <a:prstGeom prst="rect">
            <a:avLst/>
          </a:prstGeom>
        </p:spPr>
      </p:pic>
      <p:pic>
        <p:nvPicPr>
          <p:cNvPr id="3" name="Image 2"/>
          <p:cNvPicPr>
            <a:picLocks noChangeAspect="1"/>
          </p:cNvPicPr>
          <p:nvPr/>
        </p:nvPicPr>
        <p:blipFill>
          <a:blip r:embed="rId11"/>
          <a:stretch>
            <a:fillRect/>
          </a:stretch>
        </p:blipFill>
        <p:spPr>
          <a:xfrm>
            <a:off x="1741746" y="3099666"/>
            <a:ext cx="310923" cy="347502"/>
          </a:xfrm>
          <a:prstGeom prst="rect">
            <a:avLst/>
          </a:prstGeom>
        </p:spPr>
      </p:pic>
    </p:spTree>
    <p:extLst>
      <p:ext uri="{BB962C8B-B14F-4D97-AF65-F5344CB8AC3E}">
        <p14:creationId xmlns:p14="http://schemas.microsoft.com/office/powerpoint/2010/main" val="3970754780"/>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92990"/>
            <a:ext cx="8229600" cy="970635"/>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sur la contrepassation des pièces en masse  </a:t>
            </a:r>
            <a:r>
              <a:rPr lang="fr-FR" altLang="en-US" sz="2700" dirty="0">
                <a:cs typeface="Arial" panose="020B0604020202020204" pitchFamily="34" charset="0"/>
              </a:rPr>
              <a:t>1</a:t>
            </a:r>
            <a:r>
              <a:rPr lang="fr-FR" altLang="en-US" sz="2700" dirty="0" smtClean="0">
                <a:cs typeface="Arial" panose="020B0604020202020204" pitchFamily="34" charset="0"/>
              </a:rPr>
              <a:t>/2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Grand Livre / Pièce / Contrepasser : F.80 – Contre passation en masse</a:t>
            </a:r>
          </a:p>
          <a:p>
            <a:r>
              <a:rPr lang="fr-FR" dirty="0" smtClean="0">
                <a:cs typeface="Arial" panose="020B0604020202020204" pitchFamily="34" charset="0"/>
              </a:rPr>
              <a:t>Lancer le transaction F.80 :  	</a:t>
            </a:r>
          </a:p>
          <a:p>
            <a:r>
              <a:rPr lang="fr-FR" dirty="0">
                <a:cs typeface="Arial" panose="020B0604020202020204" pitchFamily="34" charset="0"/>
              </a:rPr>
              <a:t>	</a:t>
            </a:r>
            <a:r>
              <a:rPr lang="fr-FR" dirty="0" smtClean="0">
                <a:cs typeface="Arial" panose="020B0604020202020204" pitchFamily="34" charset="0"/>
              </a:rPr>
              <a:t>								Renseigner la société </a:t>
            </a:r>
          </a:p>
          <a:p>
            <a:r>
              <a:rPr lang="fr-FR" dirty="0">
                <a:cs typeface="Arial" panose="020B0604020202020204" pitchFamily="34" charset="0"/>
              </a:rPr>
              <a:t>	</a:t>
            </a:r>
            <a:r>
              <a:rPr lang="fr-FR" dirty="0" smtClean="0">
                <a:cs typeface="Arial" panose="020B0604020202020204" pitchFamily="34" charset="0"/>
              </a:rPr>
              <a:t>								Renseigner les numéros des pièces à contrepasser. Dans notre cas l’</a:t>
            </a:r>
            <a:r>
              <a:rPr lang="fr-FR" dirty="0" err="1" smtClean="0">
                <a:cs typeface="Arial" panose="020B0604020202020204" pitchFamily="34" charset="0"/>
              </a:rPr>
              <a:t>interval</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le 2600000377 à 2600000380</a:t>
            </a:r>
          </a:p>
          <a:p>
            <a:r>
              <a:rPr lang="fr-FR" dirty="0">
                <a:cs typeface="Arial" panose="020B0604020202020204" pitchFamily="34" charset="0"/>
              </a:rPr>
              <a:t>	</a:t>
            </a:r>
            <a:r>
              <a:rPr lang="fr-FR" dirty="0" smtClean="0">
                <a:cs typeface="Arial" panose="020B0604020202020204" pitchFamily="34" charset="0"/>
              </a:rPr>
              <a:t>								Renseigner l’exercice comptable </a:t>
            </a:r>
          </a:p>
          <a:p>
            <a:r>
              <a:rPr lang="fr-FR" dirty="0">
                <a:cs typeface="Arial" panose="020B0604020202020204" pitchFamily="34" charset="0"/>
              </a:rPr>
              <a:t>	</a:t>
            </a:r>
            <a:r>
              <a:rPr lang="fr-FR" dirty="0" smtClean="0">
                <a:cs typeface="Arial" panose="020B0604020202020204" pitchFamily="34" charset="0"/>
              </a:rPr>
              <a:t>								Renseigner le motif d’annulation puis exécuter la requête. </a:t>
            </a:r>
          </a:p>
          <a:p>
            <a:r>
              <a:rPr lang="fr-FR" dirty="0">
                <a:cs typeface="Arial" panose="020B0604020202020204" pitchFamily="34" charset="0"/>
              </a:rPr>
              <a:t>	</a:t>
            </a:r>
            <a:r>
              <a:rPr lang="fr-FR" dirty="0" smtClean="0">
                <a:cs typeface="Arial" panose="020B0604020202020204" pitchFamily="34" charset="0"/>
              </a:rPr>
              <a:t>								Il est possible de le faire en mode test. </a:t>
            </a: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991531"/>
            <a:ext cx="2855159" cy="2428203"/>
          </a:xfrm>
          <a:prstGeom prst="rect">
            <a:avLst/>
          </a:prstGeom>
        </p:spPr>
      </p:pic>
      <p:pic>
        <p:nvPicPr>
          <p:cNvPr id="4" name="Image 3"/>
          <p:cNvPicPr>
            <a:picLocks noChangeAspect="1"/>
          </p:cNvPicPr>
          <p:nvPr/>
        </p:nvPicPr>
        <p:blipFill>
          <a:blip r:embed="rId3"/>
          <a:stretch>
            <a:fillRect/>
          </a:stretch>
        </p:blipFill>
        <p:spPr>
          <a:xfrm>
            <a:off x="3757860" y="1991531"/>
            <a:ext cx="310923" cy="353599"/>
          </a:xfrm>
          <a:prstGeom prst="rect">
            <a:avLst/>
          </a:prstGeom>
        </p:spPr>
      </p:pic>
      <p:pic>
        <p:nvPicPr>
          <p:cNvPr id="6" name="Image 5"/>
          <p:cNvPicPr>
            <a:picLocks noChangeAspect="1"/>
          </p:cNvPicPr>
          <p:nvPr/>
        </p:nvPicPr>
        <p:blipFill>
          <a:blip r:embed="rId4"/>
          <a:stretch>
            <a:fillRect/>
          </a:stretch>
        </p:blipFill>
        <p:spPr>
          <a:xfrm>
            <a:off x="3757860" y="2345130"/>
            <a:ext cx="310923" cy="353599"/>
          </a:xfrm>
          <a:prstGeom prst="rect">
            <a:avLst/>
          </a:prstGeom>
        </p:spPr>
      </p:pic>
      <p:pic>
        <p:nvPicPr>
          <p:cNvPr id="7" name="Image 6"/>
          <p:cNvPicPr>
            <a:picLocks noChangeAspect="1"/>
          </p:cNvPicPr>
          <p:nvPr/>
        </p:nvPicPr>
        <p:blipFill>
          <a:blip r:embed="rId5"/>
          <a:stretch>
            <a:fillRect/>
          </a:stretch>
        </p:blipFill>
        <p:spPr>
          <a:xfrm>
            <a:off x="3757860" y="3028832"/>
            <a:ext cx="317019" cy="353599"/>
          </a:xfrm>
          <a:prstGeom prst="rect">
            <a:avLst/>
          </a:prstGeom>
        </p:spPr>
      </p:pic>
      <p:pic>
        <p:nvPicPr>
          <p:cNvPr id="8" name="Image 7"/>
          <p:cNvPicPr>
            <a:picLocks noChangeAspect="1"/>
          </p:cNvPicPr>
          <p:nvPr/>
        </p:nvPicPr>
        <p:blipFill>
          <a:blip r:embed="rId6"/>
          <a:stretch>
            <a:fillRect/>
          </a:stretch>
        </p:blipFill>
        <p:spPr>
          <a:xfrm>
            <a:off x="3763956" y="3401815"/>
            <a:ext cx="310923" cy="353599"/>
          </a:xfrm>
          <a:prstGeom prst="rect">
            <a:avLst/>
          </a:prstGeom>
        </p:spPr>
      </p:pic>
      <p:pic>
        <p:nvPicPr>
          <p:cNvPr id="9" name="Image 8"/>
          <p:cNvPicPr>
            <a:picLocks noChangeAspect="1"/>
          </p:cNvPicPr>
          <p:nvPr/>
        </p:nvPicPr>
        <p:blipFill>
          <a:blip r:embed="rId7"/>
          <a:stretch>
            <a:fillRect/>
          </a:stretch>
        </p:blipFill>
        <p:spPr>
          <a:xfrm>
            <a:off x="2091792" y="2212054"/>
            <a:ext cx="310923" cy="359695"/>
          </a:xfrm>
          <a:prstGeom prst="rect">
            <a:avLst/>
          </a:prstGeom>
        </p:spPr>
      </p:pic>
      <p:pic>
        <p:nvPicPr>
          <p:cNvPr id="10" name="Image 9"/>
          <p:cNvPicPr>
            <a:picLocks noChangeAspect="1"/>
          </p:cNvPicPr>
          <p:nvPr/>
        </p:nvPicPr>
        <p:blipFill>
          <a:blip r:embed="rId8"/>
          <a:stretch>
            <a:fillRect/>
          </a:stretch>
        </p:blipFill>
        <p:spPr>
          <a:xfrm>
            <a:off x="2389439" y="2345129"/>
            <a:ext cx="310923" cy="353599"/>
          </a:xfrm>
          <a:prstGeom prst="rect">
            <a:avLst/>
          </a:prstGeom>
        </p:spPr>
      </p:pic>
      <p:pic>
        <p:nvPicPr>
          <p:cNvPr id="12" name="Image 11"/>
          <p:cNvPicPr>
            <a:picLocks noChangeAspect="1"/>
          </p:cNvPicPr>
          <p:nvPr/>
        </p:nvPicPr>
        <p:blipFill>
          <a:blip r:embed="rId5"/>
          <a:stretch>
            <a:fillRect/>
          </a:stretch>
        </p:blipFill>
        <p:spPr>
          <a:xfrm>
            <a:off x="2094796" y="2478204"/>
            <a:ext cx="317019" cy="353599"/>
          </a:xfrm>
          <a:prstGeom prst="rect">
            <a:avLst/>
          </a:prstGeom>
        </p:spPr>
      </p:pic>
      <p:pic>
        <p:nvPicPr>
          <p:cNvPr id="13" name="Image 12"/>
          <p:cNvPicPr>
            <a:picLocks noChangeAspect="1"/>
          </p:cNvPicPr>
          <p:nvPr/>
        </p:nvPicPr>
        <p:blipFill>
          <a:blip r:embed="rId6"/>
          <a:stretch>
            <a:fillRect/>
          </a:stretch>
        </p:blipFill>
        <p:spPr>
          <a:xfrm>
            <a:off x="2001157" y="3748127"/>
            <a:ext cx="310923" cy="353599"/>
          </a:xfrm>
          <a:prstGeom prst="rect">
            <a:avLst/>
          </a:prstGeom>
        </p:spPr>
      </p:pic>
      <p:pic>
        <p:nvPicPr>
          <p:cNvPr id="15" name="Image 14"/>
          <p:cNvPicPr>
            <a:picLocks noChangeAspect="1"/>
          </p:cNvPicPr>
          <p:nvPr/>
        </p:nvPicPr>
        <p:blipFill>
          <a:blip r:embed="rId9"/>
          <a:stretch>
            <a:fillRect/>
          </a:stretch>
        </p:blipFill>
        <p:spPr>
          <a:xfrm>
            <a:off x="3774749" y="3748127"/>
            <a:ext cx="310923" cy="359695"/>
          </a:xfrm>
          <a:prstGeom prst="rect">
            <a:avLst/>
          </a:prstGeom>
        </p:spPr>
      </p:pic>
      <p:pic>
        <p:nvPicPr>
          <p:cNvPr id="16" name="Image 15"/>
          <p:cNvPicPr>
            <a:picLocks noChangeAspect="1"/>
          </p:cNvPicPr>
          <p:nvPr/>
        </p:nvPicPr>
        <p:blipFill>
          <a:blip r:embed="rId9"/>
          <a:stretch>
            <a:fillRect/>
          </a:stretch>
        </p:blipFill>
        <p:spPr>
          <a:xfrm>
            <a:off x="921670" y="4177618"/>
            <a:ext cx="310923" cy="359695"/>
          </a:xfrm>
          <a:prstGeom prst="rect">
            <a:avLst/>
          </a:prstGeom>
        </p:spPr>
      </p:pic>
    </p:spTree>
    <p:extLst>
      <p:ext uri="{BB962C8B-B14F-4D97-AF65-F5344CB8AC3E}">
        <p14:creationId xmlns:p14="http://schemas.microsoft.com/office/powerpoint/2010/main" val="1809450205"/>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92990"/>
            <a:ext cx="8229600" cy="970635"/>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sur la contrepassation des pièces en masse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Revenir sur l’écran précédent, décocher le mode test afin de l’exécuter en réel. </a:t>
            </a:r>
          </a:p>
          <a:p>
            <a:r>
              <a:rPr lang="fr-FR" dirty="0" smtClean="0">
                <a:cs typeface="Arial" panose="020B0604020202020204" pitchFamily="34" charset="0"/>
              </a:rPr>
              <a:t>Résultat de la contrepassation : 	</a:t>
            </a:r>
          </a:p>
          <a:p>
            <a:r>
              <a:rPr lang="fr-FR" dirty="0" smtClean="0">
                <a:cs typeface="Arial" panose="020B0604020202020204" pitchFamily="34" charset="0"/>
              </a:rPr>
              <a:t>											Schémas comptable de la pièce d’origine :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Schémas comptable de la pièce de contrepassation :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24</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2228" y="1712564"/>
            <a:ext cx="3883535" cy="2707170"/>
          </a:xfrm>
          <a:prstGeom prst="rect">
            <a:avLst/>
          </a:prstGeom>
        </p:spPr>
      </p:pic>
      <p:sp>
        <p:nvSpPr>
          <p:cNvPr id="11" name="Rectangle 10"/>
          <p:cNvSpPr/>
          <p:nvPr/>
        </p:nvSpPr>
        <p:spPr>
          <a:xfrm>
            <a:off x="1759059" y="3258715"/>
            <a:ext cx="395206" cy="91807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4" name="Image 3"/>
          <p:cNvPicPr>
            <a:picLocks noChangeAspect="1"/>
          </p:cNvPicPr>
          <p:nvPr/>
        </p:nvPicPr>
        <p:blipFill>
          <a:blip r:embed="rId3"/>
          <a:stretch>
            <a:fillRect/>
          </a:stretch>
        </p:blipFill>
        <p:spPr>
          <a:xfrm>
            <a:off x="4843219" y="2069024"/>
            <a:ext cx="2603311" cy="906651"/>
          </a:xfrm>
          <a:prstGeom prst="rect">
            <a:avLst/>
          </a:prstGeom>
        </p:spPr>
      </p:pic>
      <p:pic>
        <p:nvPicPr>
          <p:cNvPr id="6" name="Image 5"/>
          <p:cNvPicPr>
            <a:picLocks noChangeAspect="1"/>
          </p:cNvPicPr>
          <p:nvPr/>
        </p:nvPicPr>
        <p:blipFill>
          <a:blip r:embed="rId4"/>
          <a:stretch>
            <a:fillRect/>
          </a:stretch>
        </p:blipFill>
        <p:spPr>
          <a:xfrm>
            <a:off x="4905213" y="3473857"/>
            <a:ext cx="2657960" cy="1008139"/>
          </a:xfrm>
          <a:prstGeom prst="rect">
            <a:avLst/>
          </a:prstGeom>
        </p:spPr>
      </p:pic>
    </p:spTree>
    <p:extLst>
      <p:ext uri="{BB962C8B-B14F-4D97-AF65-F5344CB8AC3E}">
        <p14:creationId xmlns:p14="http://schemas.microsoft.com/office/powerpoint/2010/main" val="3824067581"/>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1899078"/>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une pièce de comptabilité générale </a:t>
            </a:r>
          </a:p>
          <a:p>
            <a:pPr marL="135731" indent="-135731">
              <a:lnSpc>
                <a:spcPct val="110000"/>
              </a:lnSpc>
              <a:buFont typeface="Wingdings" pitchFamily="2" charset="2"/>
              <a:buChar char="§"/>
              <a:defRPr/>
            </a:pPr>
            <a:r>
              <a:rPr lang="fr-FR" sz="1350" dirty="0">
                <a:solidFill>
                  <a:srgbClr val="4F81BD"/>
                </a:solidFill>
                <a:latin typeface="Arial Narrow" pitchFamily="34" charset="0"/>
                <a:ea typeface="ＭＳ Ｐゴシック"/>
                <a:cs typeface="ＭＳ Ｐゴシック"/>
              </a:rPr>
              <a:t>Choisir un compte général et à partir de la FBL3N procéder à la modification de certaines </a:t>
            </a:r>
            <a:r>
              <a:rPr lang="fr-FR" sz="1350" dirty="0" smtClean="0">
                <a:solidFill>
                  <a:srgbClr val="4F81BD"/>
                </a:solidFill>
                <a:latin typeface="Arial Narrow" pitchFamily="34" charset="0"/>
                <a:ea typeface="ＭＳ Ｐゴシック"/>
                <a:cs typeface="ＭＳ Ｐゴシック"/>
              </a:rPr>
              <a:t>zones sur une pièce comptable </a:t>
            </a: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Se familiariser avec les différentes transactions d’affichage.  </a:t>
            </a:r>
          </a:p>
          <a:p>
            <a:pPr>
              <a:lnSpc>
                <a:spcPct val="110000"/>
              </a:lnSpc>
              <a:defRPr/>
            </a:pPr>
            <a:endParaRPr lang="fr-FR" sz="1350" dirty="0" smtClean="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26</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La saisie d’une pièce comptable doit répondre aux normes en vigueur dans la société de même que les normes comptables. Même si des erreurs de comptabilisation peuvent être corrigées, il est préférable d’en éviter au maximum.   </a:t>
            </a:r>
          </a:p>
          <a:p>
            <a:pPr marL="171450" indent="-171450">
              <a:buClr>
                <a:srgbClr val="0070C0"/>
              </a:buClr>
              <a:buSzPct val="100000"/>
              <a:buFont typeface="Arial" panose="020B0604020202020204" pitchFamily="34" charset="0"/>
              <a:buChar char="•"/>
            </a:pP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27</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VHEKTECQ7ECW-1532981086-4828</_dlc_DocId>
    <_dlc_DocIdUrl xmlns="f36dd47d-0b23-43fd-9b2d-c5346ffa1660">
      <Url>http://extranet.cbg-guinee.com/erp/_layouts/15/DocIdRedir.aspx?ID=VHEKTECQ7ECW-1532981086-4828</Url>
      <Description>VHEKTECQ7ECW-1532981086-4828</Description>
    </_dlc_DocIdUrl>
  </documentManagement>
</p:properties>
</file>

<file path=customXml/itemProps1.xml><?xml version="1.0" encoding="utf-8"?>
<ds:datastoreItem xmlns:ds="http://schemas.openxmlformats.org/officeDocument/2006/customXml" ds:itemID="{A87B77D4-452B-4E0A-90E2-DCB9A6A46362}"/>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0645D10B-8CAE-4239-8F73-AFA16FF46076}"/>
</file>

<file path=customXml/itemProps4.xml><?xml version="1.0" encoding="utf-8"?>
<ds:datastoreItem xmlns:ds="http://schemas.openxmlformats.org/officeDocument/2006/customXml" ds:itemID="{6B08D313-DD74-49B0-B6A4-96BD802D9198}"/>
</file>

<file path=docProps/app.xml><?xml version="1.0" encoding="utf-8"?>
<Properties xmlns="http://schemas.openxmlformats.org/officeDocument/2006/extended-properties" xmlns:vt="http://schemas.openxmlformats.org/officeDocument/2006/docPropsVTypes">
  <Template/>
  <TotalTime>0</TotalTime>
  <Words>942</Words>
  <Application>Microsoft Office PowerPoint</Application>
  <PresentationFormat>Affichage à l'écran (16:9)</PresentationFormat>
  <Paragraphs>455</Paragraphs>
  <Slides>28</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28</vt:i4>
      </vt:variant>
    </vt:vector>
  </HeadingPairs>
  <TitlesOfParts>
    <vt:vector size="36" baseType="lpstr">
      <vt:lpstr>ＭＳ Ｐゴシック</vt:lpstr>
      <vt:lpstr>Arial</vt:lpstr>
      <vt:lpstr>Arial Narrow</vt:lpstr>
      <vt:lpstr>Calibri</vt:lpstr>
      <vt:lpstr>Courier New</vt:lpstr>
      <vt:lpstr>Verdana</vt:lpstr>
      <vt:lpstr>Wingdings</vt:lpstr>
      <vt:lpstr>TemplateBE_FR</vt:lpstr>
      <vt:lpstr>Kamsar, le 19.01.2016</vt:lpstr>
      <vt:lpstr>Présentation PowerPoint</vt:lpstr>
      <vt:lpstr>Objectifs de la formation</vt:lpstr>
      <vt:lpstr>Agenda : 3h00</vt:lpstr>
      <vt:lpstr>Présentation PowerPoint</vt:lpstr>
      <vt:lpstr>Enregistrement des pièces de comptabilité générale, affichage des pièces, la modification individuelle et en masse </vt:lpstr>
      <vt:lpstr>Affichage des soldes des comptes généraux </vt:lpstr>
      <vt:lpstr>Contrepassation individuelle et en masse des pièces  </vt:lpstr>
      <vt:lpstr>Présentation PowerPoint</vt:lpstr>
      <vt:lpstr>Mode opératoire Présentation du mode opératoire dans SAP</vt:lpstr>
      <vt:lpstr>Mode opératoire création d’une pièce de comptabilité générale 1/3 </vt:lpstr>
      <vt:lpstr>Mode opératoire création d’une pièce de comptabilité générale 2/3 </vt:lpstr>
      <vt:lpstr>Mode opératoire création d’une pièce de comptabilité générale 3/3 </vt:lpstr>
      <vt:lpstr>Mode opératoire sur la modification individuelle 1/3 </vt:lpstr>
      <vt:lpstr>Mode opératoire sur la modification individuelle 2/3 </vt:lpstr>
      <vt:lpstr>Mode opératoire sur la modification individuelle 3/3 </vt:lpstr>
      <vt:lpstr>Mode opératoire sur la modification en masse 1/3 </vt:lpstr>
      <vt:lpstr>Mode opératoire sur la modification en masse 2/3 </vt:lpstr>
      <vt:lpstr>Mode opératoire sur la modification en masse 3/3 </vt:lpstr>
      <vt:lpstr>Mode opératoire sur l’affichage des soldes des comptes généraux 1/2 </vt:lpstr>
      <vt:lpstr>Mode opératoire sur l’affichage des soldes des comptes généraux 2/2 </vt:lpstr>
      <vt:lpstr>Mode opératoire sur la contrepassation de pièce individuelle   </vt:lpstr>
      <vt:lpstr>Mode opératoire sur la contrepassation des pièces en masse  1/2 </vt:lpstr>
      <vt:lpstr>Mode opératoire sur la contrepassation des pièces en masse  2/2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4078</cp:revision>
  <cp:lastPrinted>2015-04-23T03:57:16Z</cp:lastPrinted>
  <dcterms:created xsi:type="dcterms:W3CDTF">2012-05-17T14:14:37Z</dcterms:created>
  <dcterms:modified xsi:type="dcterms:W3CDTF">2016-01-18T09:22:50Z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23951366-d6de-4537-9d51-5192e26247bb</vt:lpwstr>
  </property>
</Properties>
</file>