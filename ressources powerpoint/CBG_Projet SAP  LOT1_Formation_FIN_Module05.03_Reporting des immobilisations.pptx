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19.xml" ContentType="application/vnd.openxmlformats-officedocument.presentationml.slide+xml"/>
  <Override PartName="/ppt/slides/slide20.xml" ContentType="application/vnd.openxmlformats-officedocument.presentationml.slide+xml"/>
  <Override PartName="/ppt/presentation.xml" ContentType="application/vnd.openxmlformats-officedocument.presentationml.presentation.main+xml"/>
  <Override PartName="/ppt/slides/slide18.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4.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customXml/itemProps3.xml" ContentType="application/vnd.openxmlformats-officedocument.customXml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docProps/custom.xml" ContentType="application/vnd.openxmlformats-officedocument.custom-properties+xml"/>
  <Override PartName="/docProps/app.xml" ContentType="application/vnd.openxmlformats-officedocument.extended-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25"/>
  </p:notesMasterIdLst>
  <p:handoutMasterIdLst>
    <p:handoutMasterId r:id="rId26"/>
  </p:handoutMasterIdLst>
  <p:sldIdLst>
    <p:sldId id="685" r:id="rId5"/>
    <p:sldId id="686" r:id="rId6"/>
    <p:sldId id="687" r:id="rId7"/>
    <p:sldId id="688" r:id="rId8"/>
    <p:sldId id="723" r:id="rId9"/>
    <p:sldId id="815" r:id="rId10"/>
    <p:sldId id="724" r:id="rId11"/>
    <p:sldId id="818" r:id="rId12"/>
    <p:sldId id="817" r:id="rId13"/>
    <p:sldId id="819" r:id="rId14"/>
    <p:sldId id="822" r:id="rId15"/>
    <p:sldId id="823" r:id="rId16"/>
    <p:sldId id="820" r:id="rId17"/>
    <p:sldId id="824" r:id="rId18"/>
    <p:sldId id="821" r:id="rId19"/>
    <p:sldId id="825" r:id="rId20"/>
    <p:sldId id="699" r:id="rId21"/>
    <p:sldId id="725" r:id="rId22"/>
    <p:sldId id="710" r:id="rId23"/>
    <p:sldId id="728" r:id="rId24"/>
  </p:sldIdLst>
  <p:sldSz cx="9144000" cy="5143500" type="screen16x9"/>
  <p:notesSz cx="7086600" cy="93726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2952" userDrawn="1">
          <p15:clr>
            <a:srgbClr val="A4A3A4"/>
          </p15:clr>
        </p15:guide>
        <p15:guide id="2" pos="2214" userDrawn="1">
          <p15:clr>
            <a:srgbClr val="A4A3A4"/>
          </p15:clr>
        </p15:guide>
        <p15:guide id="3" pos="223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9BD3"/>
    <a:srgbClr val="D3D5FF"/>
    <a:srgbClr val="A7ABFF"/>
    <a:srgbClr val="C5C8FF"/>
    <a:srgbClr val="004376"/>
    <a:srgbClr val="4F81BD"/>
    <a:srgbClr val="F3F4FF"/>
    <a:srgbClr val="E7E8FF"/>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32" autoAdjust="0"/>
    <p:restoredTop sz="95565" autoAdjust="0"/>
  </p:normalViewPr>
  <p:slideViewPr>
    <p:cSldViewPr snapToGrid="0" snapToObjects="1">
      <p:cViewPr varScale="1">
        <p:scale>
          <a:sx n="123" d="100"/>
          <a:sy n="123" d="100"/>
        </p:scale>
        <p:origin x="360" y="108"/>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52"/>
        <p:guide pos="2214"/>
        <p:guide pos="2233"/>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ustomXml" Target="../customXml/item4.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4014102" y="2"/>
            <a:ext cx="3070860" cy="468630"/>
          </a:xfrm>
          <a:prstGeom prst="rect">
            <a:avLst/>
          </a:prstGeom>
        </p:spPr>
        <p:txBody>
          <a:bodyPr vert="horz" lIns="91427" tIns="45714" rIns="91427" bIns="45714" rtlCol="0"/>
          <a:lstStyle>
            <a:lvl1pPr algn="r">
              <a:defRPr sz="1200"/>
            </a:lvl1pPr>
          </a:lstStyle>
          <a:p>
            <a:fld id="{4FCF4903-D1A4-F14A-B207-A0D2CC9D4B8B}" type="datetimeFigureOut">
              <a:rPr lang="en-US" smtClean="0"/>
              <a:t>1/22/2016</a:t>
            </a:fld>
            <a:endParaRPr lang="en-US" dirty="0"/>
          </a:p>
        </p:txBody>
      </p:sp>
      <p:sp>
        <p:nvSpPr>
          <p:cNvPr id="4" name="Footer Placeholder 3"/>
          <p:cNvSpPr>
            <a:spLocks noGrp="1"/>
          </p:cNvSpPr>
          <p:nvPr>
            <p:ph type="ftr" sz="quarter" idx="2"/>
          </p:nvPr>
        </p:nvSpPr>
        <p:spPr>
          <a:xfrm>
            <a:off x="1" y="8902345"/>
            <a:ext cx="3070860" cy="468630"/>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14102" y="8902345"/>
            <a:ext cx="3070860" cy="468630"/>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4014102" y="2"/>
            <a:ext cx="3070860" cy="468630"/>
          </a:xfrm>
          <a:prstGeom prst="rect">
            <a:avLst/>
          </a:prstGeom>
        </p:spPr>
        <p:txBody>
          <a:bodyPr vert="horz" lIns="91427" tIns="45714" rIns="91427" bIns="45714" rtlCol="0"/>
          <a:lstStyle>
            <a:lvl1pPr algn="r">
              <a:defRPr sz="1200"/>
            </a:lvl1pPr>
          </a:lstStyle>
          <a:p>
            <a:fld id="{BC5B4241-C98F-4766-9E25-5F8403374385}" type="datetimeFigureOut">
              <a:rPr lang="de-DE" smtClean="0"/>
              <a:t>22.01.2016</a:t>
            </a:fld>
            <a:endParaRPr lang="de-DE" dirty="0"/>
          </a:p>
        </p:txBody>
      </p:sp>
      <p:sp>
        <p:nvSpPr>
          <p:cNvPr id="4" name="Folienbildplatzhalter 3"/>
          <p:cNvSpPr>
            <a:spLocks noGrp="1" noRot="1" noChangeAspect="1"/>
          </p:cNvSpPr>
          <p:nvPr>
            <p:ph type="sldImg" idx="2"/>
          </p:nvPr>
        </p:nvSpPr>
        <p:spPr>
          <a:xfrm>
            <a:off x="417513" y="701675"/>
            <a:ext cx="6251575" cy="3516313"/>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708661" y="4451985"/>
            <a:ext cx="5669280" cy="4217670"/>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902345"/>
            <a:ext cx="3070860" cy="468630"/>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4014102" y="8902345"/>
            <a:ext cx="3070860" cy="468630"/>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5</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7</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17</a:t>
            </a:fld>
            <a:endParaRPr lang="fr-FR" altLang="en-US" sz="1200"/>
          </a:p>
        </p:txBody>
      </p:sp>
      <p:sp>
        <p:nvSpPr>
          <p:cNvPr id="51203" name="Rectangle 2"/>
          <p:cNvSpPr>
            <a:spLocks noGrp="1" noRot="1" noChangeAspect="1" noChangeArrowheads="1" noTextEdit="1"/>
          </p:cNvSpPr>
          <p:nvPr>
            <p:ph type="sldImg"/>
          </p:nvPr>
        </p:nvSpPr>
        <p:spPr bwMode="auto">
          <a:xfrm>
            <a:off x="-303213" y="225425"/>
            <a:ext cx="7681913" cy="4322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81038" y="8099425"/>
            <a:ext cx="5718175" cy="1084263"/>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599675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18</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22/01/2016</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12" Type="http://schemas.openxmlformats.org/officeDocument/2006/relationships/image" Target="../media/image24.png"/><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14.png"/><Relationship Id="rId5" Type="http://schemas.openxmlformats.org/officeDocument/2006/relationships/image" Target="../media/image9.png"/><Relationship Id="rId10" Type="http://schemas.openxmlformats.org/officeDocument/2006/relationships/image" Target="../media/image23.png"/><Relationship Id="rId4" Type="http://schemas.openxmlformats.org/officeDocument/2006/relationships/image" Target="../media/image19.png"/><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24.png"/><Relationship Id="rId3" Type="http://schemas.openxmlformats.org/officeDocument/2006/relationships/image" Target="../media/image7.png"/><Relationship Id="rId7" Type="http://schemas.openxmlformats.org/officeDocument/2006/relationships/image" Target="../media/image21.png"/><Relationship Id="rId12" Type="http://schemas.openxmlformats.org/officeDocument/2006/relationships/image" Target="../media/image16.pn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7.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19.png"/><Relationship Id="rId9" Type="http://schemas.openxmlformats.org/officeDocument/2006/relationships/image" Target="../media/image23.png"/></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23.png"/><Relationship Id="rId3" Type="http://schemas.openxmlformats.org/officeDocument/2006/relationships/image" Target="../media/image30.png"/><Relationship Id="rId7" Type="http://schemas.openxmlformats.org/officeDocument/2006/relationships/image" Target="../media/image21.png"/><Relationship Id="rId12" Type="http://schemas.openxmlformats.org/officeDocument/2006/relationships/image" Target="../media/image34.png"/><Relationship Id="rId17" Type="http://schemas.openxmlformats.org/officeDocument/2006/relationships/image" Target="../media/image36.png"/><Relationship Id="rId2" Type="http://schemas.openxmlformats.org/officeDocument/2006/relationships/image" Target="../media/image29.png"/><Relationship Id="rId16" Type="http://schemas.openxmlformats.org/officeDocument/2006/relationships/image" Target="../media/image24.png"/><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33.png"/><Relationship Id="rId5" Type="http://schemas.openxmlformats.org/officeDocument/2006/relationships/image" Target="../media/image9.png"/><Relationship Id="rId15" Type="http://schemas.openxmlformats.org/officeDocument/2006/relationships/image" Target="../media/image27.png"/><Relationship Id="rId10" Type="http://schemas.openxmlformats.org/officeDocument/2006/relationships/image" Target="../media/image16.png"/><Relationship Id="rId4" Type="http://schemas.openxmlformats.org/officeDocument/2006/relationships/image" Target="../media/image19.png"/><Relationship Id="rId9" Type="http://schemas.openxmlformats.org/officeDocument/2006/relationships/image" Target="../media/image32.png"/><Relationship Id="rId14" Type="http://schemas.openxmlformats.org/officeDocument/2006/relationships/image" Target="../media/image35.png"/></Relationships>
</file>

<file path=ppt/slides/_rels/slide1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FINANCE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 05.03</a:t>
            </a:r>
            <a:r>
              <a:rPr lang="fr-FR" sz="2000" b="1" dirty="0">
                <a:solidFill>
                  <a:srgbClr val="0070C0"/>
                </a:solidFill>
                <a:latin typeface="Arial" charset="0"/>
                <a:cs typeface="Arial" charset="0"/>
              </a:rPr>
              <a:t/>
            </a:r>
            <a:br>
              <a:rPr lang="fr-FR" sz="2000" b="1" dirty="0">
                <a:solidFill>
                  <a:srgbClr val="0070C0"/>
                </a:solidFill>
                <a:latin typeface="Arial" charset="0"/>
                <a:cs typeface="Arial" charset="0"/>
              </a:rPr>
            </a:br>
            <a:r>
              <a:rPr lang="fr-FR" sz="2000" b="1" dirty="0" err="1" smtClean="0">
                <a:solidFill>
                  <a:srgbClr val="0070C0"/>
                </a:solidFill>
                <a:latin typeface="Arial" charset="0"/>
                <a:cs typeface="Arial" charset="0"/>
              </a:rPr>
              <a:t>Reporting</a:t>
            </a:r>
            <a:r>
              <a:rPr lang="fr-FR" sz="2000" b="1" dirty="0" smtClean="0">
                <a:solidFill>
                  <a:srgbClr val="0070C0"/>
                </a:solidFill>
                <a:latin typeface="Arial" charset="0"/>
                <a:cs typeface="Arial" charset="0"/>
              </a:rPr>
              <a:t> des immobilisations  </a:t>
            </a:r>
            <a:endParaRPr lang="fr-FR" sz="1800" dirty="0" smtClean="0">
              <a:solidFill>
                <a:srgbClr val="0070C0"/>
              </a:solidFill>
              <a:latin typeface="Arial" charset="0"/>
              <a:cs typeface="Arial" charset="0"/>
            </a:endParaRPr>
          </a:p>
        </p:txBody>
      </p:sp>
      <p:sp>
        <p:nvSpPr>
          <p:cNvPr id="21506" name="Rectangle 2"/>
          <p:cNvSpPr>
            <a:spLocks noGrp="1"/>
          </p:cNvSpPr>
          <p:nvPr>
            <p:ph type="ctrTitle" idx="4294967295"/>
          </p:nvPr>
        </p:nvSpPr>
        <p:spPr>
          <a:xfrm>
            <a:off x="6245817" y="4002921"/>
            <a:ext cx="2772366" cy="708563"/>
          </a:xfrm>
        </p:spPr>
        <p:txBody>
          <a:bodyPr>
            <a:normAutofit/>
          </a:bodyPr>
          <a:lstStyle/>
          <a:p>
            <a:pPr algn="r" defTabSz="457200"/>
            <a:r>
              <a:rPr lang="fr-FR" altLang="en-US" sz="1800" dirty="0" smtClean="0">
                <a:solidFill>
                  <a:schemeClr val="tx1"/>
                </a:solidFill>
                <a:latin typeface="Arial" charset="0"/>
              </a:rPr>
              <a:t>Kamsar, le 09.02.2016</a:t>
            </a:r>
            <a:endParaRPr lang="en-US" altLang="en-US" sz="1800" dirty="0">
              <a:solidFill>
                <a:schemeClr val="tx1"/>
              </a:solidFill>
              <a:latin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 opératoire </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2</a:t>
            </a:fld>
            <a:endParaRPr lang="fr-FR" altLang="en-US" sz="750"/>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23555" name="Slide Number Placeholder 3"/>
          <p:cNvSpPr>
            <a:spLocks noGrp="1"/>
          </p:cNvSpPr>
          <p:nvPr>
            <p:ph type="sldNum" sz="quarter" idx="4294967295"/>
          </p:nvPr>
        </p:nvSpPr>
        <p:spPr bwMode="auto">
          <a:xfrm>
            <a:off x="7543800" y="4767263"/>
            <a:ext cx="16002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6376B89C-69A1-4AA7-8B55-052D6C772B02}" type="slidenum">
              <a:rPr lang="en-US" altLang="en-US" sz="750"/>
              <a:pPr eaLnBrk="1" hangingPunct="1"/>
              <a:t>3</a:t>
            </a:fld>
            <a:endParaRPr lang="en-US" altLang="en-US" sz="750"/>
          </a:p>
        </p:txBody>
      </p:sp>
      <p:sp>
        <p:nvSpPr>
          <p:cNvPr id="5" name="Rectangle 4"/>
          <p:cNvSpPr/>
          <p:nvPr/>
        </p:nvSpPr>
        <p:spPr>
          <a:xfrm>
            <a:off x="1763272" y="1312720"/>
            <a:ext cx="4589859" cy="601073"/>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interpréter le </a:t>
            </a:r>
            <a:r>
              <a:rPr lang="fr-FR" sz="900" dirty="0" err="1" smtClean="0">
                <a:solidFill>
                  <a:schemeClr val="tx1"/>
                </a:solidFill>
                <a:latin typeface="Arial" pitchFamily="34" charset="0"/>
                <a:cs typeface="Arial" pitchFamily="34" charset="0"/>
              </a:rPr>
              <a:t>reporting</a:t>
            </a:r>
            <a:r>
              <a:rPr lang="fr-FR" sz="900" dirty="0" smtClean="0">
                <a:solidFill>
                  <a:schemeClr val="tx1"/>
                </a:solidFill>
                <a:latin typeface="Arial" pitchFamily="34" charset="0"/>
                <a:cs typeface="Arial" pitchFamily="34" charset="0"/>
              </a:rPr>
              <a:t> des immobilisations</a:t>
            </a:r>
            <a:endParaRPr lang="fr-FR" sz="900" dirty="0">
              <a:solidFill>
                <a:schemeClr val="tx1"/>
              </a:solidFill>
              <a:latin typeface="Arial" pitchFamily="34" charset="0"/>
              <a:cs typeface="Arial" pitchFamily="34" charset="0"/>
            </a:endParaRPr>
          </a:p>
        </p:txBody>
      </p:sp>
      <p:sp>
        <p:nvSpPr>
          <p:cNvPr id="7" name="Rectangle 6"/>
          <p:cNvSpPr/>
          <p:nvPr/>
        </p:nvSpPr>
        <p:spPr>
          <a:xfrm>
            <a:off x="1763272" y="3707367"/>
            <a:ext cx="4589859" cy="513777"/>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spcBef>
                <a:spcPts val="225"/>
              </a:spcBef>
              <a:buClr>
                <a:srgbClr val="4F81BD"/>
              </a:buClr>
              <a:buFont typeface="Arial" charset="0"/>
              <a:buChar char="•"/>
              <a:defRPr/>
            </a:pPr>
            <a:r>
              <a:rPr lang="fr-FR" sz="900" dirty="0" err="1" smtClean="0">
                <a:solidFill>
                  <a:schemeClr val="tx1"/>
                </a:solidFill>
                <a:latin typeface="Arial" pitchFamily="34" charset="0"/>
                <a:cs typeface="Arial" pitchFamily="34" charset="0"/>
              </a:rPr>
              <a:t>Reporting</a:t>
            </a:r>
            <a:r>
              <a:rPr lang="fr-FR" sz="900" dirty="0" smtClean="0">
                <a:solidFill>
                  <a:schemeClr val="tx1"/>
                </a:solidFill>
                <a:latin typeface="Arial" pitchFamily="34" charset="0"/>
                <a:cs typeface="Arial" pitchFamily="34" charset="0"/>
              </a:rPr>
              <a:t> des immobilisations</a:t>
            </a:r>
          </a:p>
          <a:p>
            <a:pPr marL="0" lvl="1" eaLnBrk="0" hangingPunct="0">
              <a:spcBef>
                <a:spcPts val="225"/>
              </a:spcBef>
              <a:buClr>
                <a:srgbClr val="4F81BD"/>
              </a:buClr>
              <a:defRPr/>
            </a:pPr>
            <a:r>
              <a:rPr lang="fr-FR" sz="900" dirty="0" smtClean="0">
                <a:solidFill>
                  <a:schemeClr val="tx1"/>
                </a:solidFill>
                <a:latin typeface="Arial" pitchFamily="34" charset="0"/>
                <a:cs typeface="Arial" pitchFamily="34" charset="0"/>
              </a:rPr>
              <a:t> </a:t>
            </a:r>
          </a:p>
        </p:txBody>
      </p:sp>
      <p:sp>
        <p:nvSpPr>
          <p:cNvPr id="11" name="Rectangle 10"/>
          <p:cNvSpPr/>
          <p:nvPr/>
        </p:nvSpPr>
        <p:spPr>
          <a:xfrm>
            <a:off x="1720991" y="3389444"/>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a:t>
              </a:r>
              <a:r>
                <a:rPr lang="fr-FR" sz="900" dirty="0" smtClean="0">
                  <a:solidFill>
                    <a:schemeClr val="tx1"/>
                  </a:solidFill>
                  <a:latin typeface="Arial" pitchFamily="34" charset="0"/>
                  <a:cs typeface="Arial" pitchFamily="34" charset="0"/>
                </a:rPr>
                <a:t> Heure</a:t>
              </a:r>
              <a:endParaRPr lang="fr-FR" sz="900" dirty="0">
                <a:solidFill>
                  <a:schemeClr val="tx1"/>
                </a:solidFill>
                <a:latin typeface="Arial" pitchFamily="34" charset="0"/>
                <a:cs typeface="Arial" pitchFamily="34" charset="0"/>
              </a:endParaRP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Comptables immobilisations  </a:t>
              </a:r>
            </a:p>
            <a:p>
              <a:pPr eaLnBrk="0" hangingPunct="0">
                <a:spcBef>
                  <a:spcPts val="225"/>
                </a:spcBef>
                <a:buClr>
                  <a:srgbClr val="4F81BD"/>
                </a:buClr>
                <a:defRPr/>
              </a:pPr>
              <a:endParaRPr lang="fr-FR" sz="900" dirty="0" smtClean="0">
                <a:solidFill>
                  <a:schemeClr val="tx1"/>
                </a:solidFill>
                <a:latin typeface="Arial" pitchFamily="34" charset="0"/>
                <a:cs typeface="Arial" pitchFamily="34" charset="0"/>
              </a:endParaRP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2"/>
          <p:cNvSpPr>
            <a:spLocks noGrp="1"/>
          </p:cNvSpPr>
          <p:nvPr>
            <p:ph type="title"/>
          </p:nvPr>
        </p:nvSpPr>
        <p:spPr/>
        <p:txBody>
          <a:bodyPr>
            <a:normAutofit/>
          </a:bodyPr>
          <a:lstStyle/>
          <a:p>
            <a:r>
              <a:rPr lang="fr-FR" altLang="en-US" dirty="0"/>
              <a:t>Agenda : 2h00</a:t>
            </a:r>
            <a:endParaRPr lang="en-US" altLang="en-US" dirty="0"/>
          </a:p>
        </p:txBody>
      </p:sp>
      <p:graphicFrame>
        <p:nvGraphicFramePr>
          <p:cNvPr id="6" name="Espace réservé du contenu 5"/>
          <p:cNvGraphicFramePr>
            <a:graphicFrameLocks noGrp="1"/>
          </p:cNvGraphicFramePr>
          <p:nvPr>
            <p:ph idx="1"/>
            <p:extLst>
              <p:ext uri="{D42A27DB-BD31-4B8C-83A1-F6EECF244321}">
                <p14:modId xmlns:p14="http://schemas.microsoft.com/office/powerpoint/2010/main" val="2937443542"/>
              </p:ext>
            </p:extLst>
          </p:nvPr>
        </p:nvGraphicFramePr>
        <p:xfrm>
          <a:off x="2758033" y="1291506"/>
          <a:ext cx="3627934" cy="1967902"/>
        </p:xfrm>
        <a:graphic>
          <a:graphicData uri="http://schemas.openxmlformats.org/drawingml/2006/table">
            <a:tbl>
              <a:tblPr firstRow="1" bandRow="1">
                <a:tableStyleId>{5C22544A-7EE6-4342-B048-85BDC9FD1C3A}</a:tableStyleId>
              </a:tblPr>
              <a:tblGrid>
                <a:gridCol w="1125910"/>
                <a:gridCol w="2502024"/>
              </a:tblGrid>
              <a:tr h="309310">
                <a:tc>
                  <a:txBody>
                    <a:bodyPr/>
                    <a:lstStyle/>
                    <a:p>
                      <a:pPr algn="ctr"/>
                      <a:r>
                        <a:rPr lang="fr-FR" sz="900" dirty="0" smtClean="0"/>
                        <a:t>Horaire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c>
                  <a:txBody>
                    <a:bodyPr/>
                    <a:lstStyle/>
                    <a:p>
                      <a:pPr algn="ctr">
                        <a:lnSpc>
                          <a:spcPct val="100000"/>
                        </a:lnSpc>
                        <a:spcBef>
                          <a:spcPts val="0"/>
                        </a:spcBef>
                        <a:spcAft>
                          <a:spcPts val="0"/>
                        </a:spcAft>
                      </a:pPr>
                      <a:r>
                        <a:rPr lang="fr-FR" sz="900" dirty="0" smtClean="0"/>
                        <a:t>Agenda Matinée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r>
              <a:tr h="436472">
                <a:tc>
                  <a:txBody>
                    <a:bodyPr/>
                    <a:lstStyle/>
                    <a:p>
                      <a:pPr algn="ctr"/>
                      <a:r>
                        <a:rPr lang="fr-FR" sz="900" dirty="0" smtClean="0"/>
                        <a:t>8h00 – 8h20</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Accueil / Introduction : 5 min</a:t>
                      </a:r>
                    </a:p>
                    <a:p>
                      <a:pPr>
                        <a:lnSpc>
                          <a:spcPct val="100000"/>
                        </a:lnSpc>
                        <a:spcBef>
                          <a:spcPts val="0"/>
                        </a:spcBef>
                        <a:spcAft>
                          <a:spcPts val="0"/>
                        </a:spcAft>
                      </a:pPr>
                      <a:r>
                        <a:rPr lang="fr-FR" sz="900" dirty="0" smtClean="0"/>
                        <a:t>Présentation des</a:t>
                      </a:r>
                      <a:r>
                        <a:rPr lang="fr-FR" sz="900" baseline="0" dirty="0" smtClean="0"/>
                        <a:t> p</a:t>
                      </a:r>
                      <a:r>
                        <a:rPr lang="fr-FR" sz="900" dirty="0" smtClean="0"/>
                        <a:t>rocessus : 15 min</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r>
              <a:tr h="611060">
                <a:tc>
                  <a:txBody>
                    <a:bodyPr/>
                    <a:lstStyle/>
                    <a:p>
                      <a:pPr algn="ctr"/>
                      <a:r>
                        <a:rPr lang="fr-FR" sz="900" dirty="0" smtClean="0"/>
                        <a:t>8h20 – 9h30</a:t>
                      </a:r>
                      <a:endParaRPr lang="fr-FR" sz="900" dirty="0" smtClean="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a:lnSpc>
                          <a:spcPct val="100000"/>
                        </a:lnSpc>
                        <a:spcBef>
                          <a:spcPts val="0"/>
                        </a:spcBef>
                        <a:spcAft>
                          <a:spcPts val="0"/>
                        </a:spcAft>
                      </a:pPr>
                      <a:r>
                        <a:rPr lang="fr-FR" sz="900" dirty="0" smtClean="0"/>
                        <a:t>La représentation des</a:t>
                      </a:r>
                      <a:r>
                        <a:rPr lang="fr-FR" sz="900" baseline="0" dirty="0" smtClean="0"/>
                        <a:t> processus</a:t>
                      </a:r>
                      <a:endParaRPr lang="fr-FR" sz="900" dirty="0" smtClean="0"/>
                    </a:p>
                    <a:p>
                      <a:pPr marL="177800" indent="-177800">
                        <a:lnSpc>
                          <a:spcPct val="100000"/>
                        </a:lnSpc>
                        <a:spcBef>
                          <a:spcPts val="0"/>
                        </a:spcBef>
                        <a:spcAft>
                          <a:spcPts val="0"/>
                        </a:spcAft>
                        <a:buFont typeface="Arial" pitchFamily="34" charset="0"/>
                        <a:buChar char="•"/>
                      </a:pPr>
                      <a:r>
                        <a:rPr lang="fr-FR" sz="900" dirty="0" smtClean="0"/>
                        <a:t>Présentation : 20 min</a:t>
                      </a:r>
                    </a:p>
                    <a:p>
                      <a:pPr marL="177800" indent="-177800">
                        <a:lnSpc>
                          <a:spcPct val="100000"/>
                        </a:lnSpc>
                        <a:spcBef>
                          <a:spcPts val="0"/>
                        </a:spcBef>
                        <a:spcAft>
                          <a:spcPts val="0"/>
                        </a:spcAft>
                        <a:buFont typeface="Arial" pitchFamily="34" charset="0"/>
                        <a:buChar char="•"/>
                      </a:pPr>
                      <a:r>
                        <a:rPr lang="fr-FR" sz="900" dirty="0" smtClean="0"/>
                        <a:t>Exercice dirigé</a:t>
                      </a:r>
                      <a:r>
                        <a:rPr lang="fr-FR" sz="900" baseline="0" dirty="0" smtClean="0"/>
                        <a:t> : 50 min</a:t>
                      </a:r>
                      <a:endParaRPr lang="fr-FR" sz="900" baseline="0" dirty="0" smtClean="0">
                        <a:solidFill>
                          <a:schemeClr val="bg1"/>
                        </a:solidFill>
                        <a:latin typeface="Arial" pitchFamily="34" charset="0"/>
                        <a:cs typeface="Arial" pitchFamily="34" charset="0"/>
                      </a:endParaRPr>
                    </a:p>
                  </a:txBody>
                  <a:tcPr marL="68566" marR="68566" marT="34292" marB="34292" anchor="ctr">
                    <a:solidFill>
                      <a:srgbClr val="F3F4FF"/>
                    </a:solidFill>
                  </a:tcPr>
                </a:tc>
              </a:tr>
              <a:tr h="611060">
                <a:tc>
                  <a:txBody>
                    <a:bodyPr/>
                    <a:lstStyle/>
                    <a:p>
                      <a:pPr algn="ctr"/>
                      <a:r>
                        <a:rPr lang="fr-FR" sz="900" dirty="0" smtClean="0"/>
                        <a:t>9h30 – 10h00</a:t>
                      </a:r>
                      <a:endParaRPr lang="en-US" sz="900" dirty="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marL="177800" indent="-177800">
                        <a:lnSpc>
                          <a:spcPct val="100000"/>
                        </a:lnSpc>
                        <a:spcBef>
                          <a:spcPts val="0"/>
                        </a:spcBef>
                        <a:spcAft>
                          <a:spcPts val="0"/>
                        </a:spcAft>
                        <a:buFont typeface="Arial" pitchFamily="34" charset="0"/>
                        <a:buNone/>
                      </a:pPr>
                      <a:r>
                        <a:rPr lang="fr-FR" sz="900" baseline="0" dirty="0" smtClean="0"/>
                        <a:t>Question et libre échange </a:t>
                      </a:r>
                    </a:p>
                  </a:txBody>
                  <a:tcPr marL="68566" marR="68566" marT="34292" marB="34292" anchor="ctr">
                    <a:solidFill>
                      <a:srgbClr val="F3F4FF"/>
                    </a:solidFill>
                  </a:tcPr>
                </a:tc>
              </a:tr>
            </a:tbl>
          </a:graphicData>
        </a:graphic>
      </p:graphicFrame>
      <p:pic>
        <p:nvPicPr>
          <p:cNvPr id="5" name="Imag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68173" y="1953491"/>
            <a:ext cx="2120785" cy="2392972"/>
          </a:xfrm>
          <a:prstGeom prst="rect">
            <a:avLst/>
          </a:prstGeom>
        </p:spPr>
      </p:pic>
    </p:spTree>
    <p:extLst>
      <p:ext uri="{BB962C8B-B14F-4D97-AF65-F5344CB8AC3E}">
        <p14:creationId xmlns:p14="http://schemas.microsoft.com/office/powerpoint/2010/main" val="41803714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a:t>
            </a:r>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du </a:t>
            </a:r>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processus </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5</a:t>
            </a:fld>
            <a:endParaRPr lang="fr-FR" altLang="en-US" sz="750"/>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700" dirty="0" err="1" smtClean="0">
                <a:cs typeface="Arial" panose="020B0604020202020204" pitchFamily="34" charset="0"/>
              </a:rPr>
              <a:t>Reporting</a:t>
            </a:r>
            <a:r>
              <a:rPr lang="fr-FR" altLang="en-US" sz="2700" dirty="0" smtClean="0">
                <a:cs typeface="Arial" panose="020B0604020202020204" pitchFamily="34" charset="0"/>
              </a:rPr>
              <a:t> des immobilisations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875654"/>
            <a:ext cx="8246571" cy="3611105"/>
          </a:xfrm>
        </p:spPr>
        <p:txBody>
          <a:bodyPr/>
          <a:lstStyle/>
          <a:p>
            <a:r>
              <a:rPr lang="fr-FR" dirty="0" smtClean="0"/>
              <a:t>SAP fourni plusieurs </a:t>
            </a:r>
            <a:r>
              <a:rPr lang="fr-FR" dirty="0" err="1" smtClean="0"/>
              <a:t>reporting</a:t>
            </a:r>
            <a:r>
              <a:rPr lang="fr-FR" dirty="0" smtClean="0"/>
              <a:t> pour les immobilisations. Parmi tous ces </a:t>
            </a:r>
            <a:r>
              <a:rPr lang="fr-FR" dirty="0" err="1" smtClean="0"/>
              <a:t>reportings</a:t>
            </a:r>
            <a:r>
              <a:rPr lang="fr-FR" dirty="0" smtClean="0"/>
              <a:t>, la grille d’évolution est la plus utilisée. </a:t>
            </a:r>
          </a:p>
          <a:p>
            <a:r>
              <a:rPr lang="fr-FR" dirty="0" smtClean="0"/>
              <a:t>Elle fait partir des annexes les plus importantes du bilan. </a:t>
            </a:r>
          </a:p>
          <a:p>
            <a:r>
              <a:rPr lang="fr-FR" dirty="0" smtClean="0"/>
              <a:t>Elle affiche toutes les modifications apportées aux existants d’immobilisations dans un exercice comptable.  </a:t>
            </a:r>
          </a:p>
          <a:p>
            <a:endParaRPr lang="ru-RU" b="1" dirty="0"/>
          </a:p>
          <a:p>
            <a:endParaRPr lang="ru-RU" dirty="0"/>
          </a:p>
          <a:p>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6</a:t>
            </a:fld>
            <a:endParaRPr lang="fr-FR" altLang="en-US" sz="750">
              <a:solidFill>
                <a:srgbClr val="000000"/>
              </a:solidFill>
            </a:endParaRPr>
          </a:p>
        </p:txBody>
      </p:sp>
    </p:spTree>
    <p:extLst>
      <p:ext uri="{BB962C8B-B14F-4D97-AF65-F5344CB8AC3E}">
        <p14:creationId xmlns:p14="http://schemas.microsoft.com/office/powerpoint/2010/main" val="2187568405"/>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Modes opératoires</a:t>
            </a:r>
            <a:endPar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 </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7</a:t>
            </a:fld>
            <a:endParaRPr lang="fr-FR" altLang="en-US" sz="750"/>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sp>
        <p:nvSpPr>
          <p:cNvPr id="32792" name="Espace réservé du numéro de diapositive 33"/>
          <p:cNvSpPr>
            <a:spLocks noGrp="1"/>
          </p:cNvSpPr>
          <p:nvPr>
            <p:ph type="sldNum" sz="quarter" idx="11"/>
          </p:nvPr>
        </p:nvSpPr>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fld id="{1961261D-50EE-437A-BA51-3E7588D0C470}" type="slidenum">
              <a:rPr lang="fr-FR" altLang="en-US" smtClean="0">
                <a:solidFill>
                  <a:srgbClr val="4D4F53"/>
                </a:solidFill>
              </a:rPr>
              <a:pPr/>
              <a:t>8</a:t>
            </a:fld>
            <a:endParaRPr lang="fr-FR" altLang="en-US">
              <a:solidFill>
                <a:srgbClr val="4D4F53"/>
              </a:solidFill>
            </a:endParaRPr>
          </a:p>
        </p:txBody>
      </p:sp>
      <p:grpSp>
        <p:nvGrpSpPr>
          <p:cNvPr id="49" name="Groupe 48"/>
          <p:cNvGrpSpPr/>
          <p:nvPr/>
        </p:nvGrpSpPr>
        <p:grpSpPr>
          <a:xfrm>
            <a:off x="814127" y="2175754"/>
            <a:ext cx="1270396" cy="756917"/>
            <a:chOff x="1507778" y="2276353"/>
            <a:chExt cx="1258269" cy="754857"/>
          </a:xfrm>
        </p:grpSpPr>
        <p:sp>
          <p:nvSpPr>
            <p:cNvPr id="4" name="Rectangle 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Grille d’évaluation des immobilisations</a:t>
              </a:r>
              <a:endParaRPr lang="en-US" sz="800" dirty="0">
                <a:solidFill>
                  <a:prstClr val="white"/>
                </a:solidFill>
                <a:latin typeface="Arial" pitchFamily="34" charset="0"/>
                <a:cs typeface="Arial" pitchFamily="34" charset="0"/>
              </a:endParaRPr>
            </a:p>
          </p:txBody>
        </p:sp>
        <p:sp>
          <p:nvSpPr>
            <p:cNvPr id="12" name="Rectangle 1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cs typeface="Arial" panose="020B0604020202020204" pitchFamily="34" charset="0"/>
                </a:rPr>
                <a:t> </a:t>
              </a:r>
              <a:r>
                <a:rPr lang="fr-FR" sz="800" dirty="0">
                  <a:cs typeface="Arial" panose="020B0604020202020204" pitchFamily="34" charset="0"/>
                </a:rPr>
                <a:t>S_ALR_87011990</a:t>
              </a:r>
              <a:endParaRPr lang="en-US" sz="800" b="1" dirty="0">
                <a:solidFill>
                  <a:prstClr val="white"/>
                </a:solidFill>
                <a:latin typeface="Arial" panose="020B0604020202020204" pitchFamily="34" charset="0"/>
                <a:cs typeface="Arial" panose="020B0604020202020204" pitchFamily="34" charset="0"/>
              </a:endParaRPr>
            </a:p>
          </p:txBody>
        </p:sp>
        <p:sp>
          <p:nvSpPr>
            <p:cNvPr id="13" name="Rectangle 1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rgbClr val="4D4F53">
                      <a:lumMod val="50000"/>
                    </a:srgbClr>
                  </a:solidFill>
                  <a:latin typeface="Arial" panose="020B0604020202020204" pitchFamily="34" charset="0"/>
                  <a:cs typeface="Arial" panose="020B0604020202020204" pitchFamily="34" charset="0"/>
                </a:rPr>
                <a:t>Comptable Immobilisations</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39" name="Groupe 38"/>
          <p:cNvGrpSpPr/>
          <p:nvPr/>
        </p:nvGrpSpPr>
        <p:grpSpPr>
          <a:xfrm>
            <a:off x="2455684" y="2165706"/>
            <a:ext cx="1296000" cy="756917"/>
            <a:chOff x="1507778" y="2274293"/>
            <a:chExt cx="1258269" cy="756917"/>
          </a:xfrm>
        </p:grpSpPr>
        <p:sp>
          <p:nvSpPr>
            <p:cNvPr id="40" name="Rectangle 39"/>
            <p:cNvSpPr/>
            <p:nvPr/>
          </p:nvSpPr>
          <p:spPr>
            <a:xfrm>
              <a:off x="1507778" y="227429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Liste d’inventaire par centres de coût </a:t>
              </a:r>
              <a:endParaRPr lang="en-US" sz="800" dirty="0">
                <a:solidFill>
                  <a:prstClr val="white"/>
                </a:solidFill>
                <a:latin typeface="Arial" pitchFamily="34" charset="0"/>
                <a:cs typeface="Arial" pitchFamily="34" charset="0"/>
              </a:endParaRPr>
            </a:p>
          </p:txBody>
        </p:sp>
        <p:sp>
          <p:nvSpPr>
            <p:cNvPr id="41" name="Rectangle 40"/>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cs typeface="Arial" panose="020B0604020202020204" pitchFamily="34" charset="0"/>
                </a:rPr>
                <a:t>S_ALR_87011979</a:t>
              </a:r>
              <a:endParaRPr lang="en-US" sz="800" b="1" dirty="0">
                <a:solidFill>
                  <a:prstClr val="white"/>
                </a:solidFill>
                <a:latin typeface="Arial" panose="020B0604020202020204" pitchFamily="34" charset="0"/>
                <a:cs typeface="Arial" panose="020B0604020202020204" pitchFamily="34" charset="0"/>
              </a:endParaRPr>
            </a:p>
          </p:txBody>
        </p:sp>
        <p:sp>
          <p:nvSpPr>
            <p:cNvPr id="43" name="Rectangle 4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rgbClr val="4D4F53">
                      <a:lumMod val="50000"/>
                    </a:srgbClr>
                  </a:solidFill>
                  <a:latin typeface="Arial" panose="020B0604020202020204" pitchFamily="34" charset="0"/>
                  <a:cs typeface="Arial" panose="020B0604020202020204" pitchFamily="34" charset="0"/>
                </a:rPr>
                <a:t>Comptable Immobilisations</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47" name="Groupe 46"/>
          <p:cNvGrpSpPr/>
          <p:nvPr/>
        </p:nvGrpSpPr>
        <p:grpSpPr>
          <a:xfrm>
            <a:off x="4122846" y="2165706"/>
            <a:ext cx="1296000" cy="754857"/>
            <a:chOff x="1507778" y="2276353"/>
            <a:chExt cx="1258269" cy="754857"/>
          </a:xfrm>
        </p:grpSpPr>
        <p:sp>
          <p:nvSpPr>
            <p:cNvPr id="48" name="Rectangle 47"/>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Liste d’inventaire par catégorie d’immobilisation </a:t>
              </a:r>
              <a:endParaRPr lang="en-US" sz="800" dirty="0">
                <a:solidFill>
                  <a:prstClr val="white"/>
                </a:solidFill>
                <a:latin typeface="Arial" pitchFamily="34" charset="0"/>
                <a:cs typeface="Arial" pitchFamily="34" charset="0"/>
              </a:endParaRPr>
            </a:p>
          </p:txBody>
        </p:sp>
        <p:sp>
          <p:nvSpPr>
            <p:cNvPr id="50" name="Rectangle 4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a:cs typeface="Arial" panose="020B0604020202020204" pitchFamily="34" charset="0"/>
                </a:rPr>
                <a:t>S_ALR_87011981</a:t>
              </a:r>
              <a:endParaRPr lang="en-US" sz="800" b="1" dirty="0">
                <a:solidFill>
                  <a:prstClr val="white"/>
                </a:solidFill>
                <a:latin typeface="Arial" panose="020B0604020202020204" pitchFamily="34" charset="0"/>
                <a:cs typeface="Arial" panose="020B0604020202020204" pitchFamily="34" charset="0"/>
              </a:endParaRPr>
            </a:p>
          </p:txBody>
        </p:sp>
        <p:sp>
          <p:nvSpPr>
            <p:cNvPr id="56" name="Rectangle 55"/>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Comptable </a:t>
              </a:r>
              <a:r>
                <a:rPr lang="fr-FR" sz="800" dirty="0" smtClean="0">
                  <a:solidFill>
                    <a:srgbClr val="4D4F53">
                      <a:lumMod val="50000"/>
                    </a:srgbClr>
                  </a:solidFill>
                  <a:latin typeface="Arial" panose="020B0604020202020204" pitchFamily="34" charset="0"/>
                  <a:cs typeface="Arial" panose="020B0604020202020204" pitchFamily="34" charset="0"/>
                </a:rPr>
                <a:t>Immobilisations</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58" name="Groupe 57"/>
          <p:cNvGrpSpPr/>
          <p:nvPr/>
        </p:nvGrpSpPr>
        <p:grpSpPr>
          <a:xfrm>
            <a:off x="5680425" y="2160586"/>
            <a:ext cx="1309311" cy="754857"/>
            <a:chOff x="1507778" y="2276353"/>
            <a:chExt cx="1258269" cy="754857"/>
          </a:xfrm>
        </p:grpSpPr>
        <p:sp>
          <p:nvSpPr>
            <p:cNvPr id="59" name="Rectangle 58"/>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Amortissement des immobilisations en service</a:t>
              </a:r>
              <a:endParaRPr lang="en-US" sz="800" dirty="0">
                <a:solidFill>
                  <a:prstClr val="white"/>
                </a:solidFill>
                <a:latin typeface="Arial" pitchFamily="34" charset="0"/>
                <a:cs typeface="Arial" pitchFamily="34" charset="0"/>
              </a:endParaRPr>
            </a:p>
          </p:txBody>
        </p:sp>
        <p:sp>
          <p:nvSpPr>
            <p:cNvPr id="60" name="Rectangle 5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a:cs typeface="Arial" panose="020B0604020202020204" pitchFamily="34" charset="0"/>
                </a:rPr>
                <a:t>S_ALR_87012936</a:t>
              </a:r>
              <a:endParaRPr lang="en-US" sz="800" b="1" dirty="0">
                <a:solidFill>
                  <a:prstClr val="white"/>
                </a:solidFill>
                <a:latin typeface="Arial" panose="020B0604020202020204" pitchFamily="34" charset="0"/>
                <a:cs typeface="Arial" panose="020B0604020202020204" pitchFamily="34" charset="0"/>
              </a:endParaRPr>
            </a:p>
          </p:txBody>
        </p:sp>
        <p:sp>
          <p:nvSpPr>
            <p:cNvPr id="61" name="Rectangle 60"/>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Comptable </a:t>
              </a:r>
              <a:r>
                <a:rPr lang="fr-FR" sz="800" dirty="0" smtClean="0">
                  <a:solidFill>
                    <a:srgbClr val="4D4F53">
                      <a:lumMod val="50000"/>
                    </a:srgbClr>
                  </a:solidFill>
                  <a:latin typeface="Arial" panose="020B0604020202020204" pitchFamily="34" charset="0"/>
                  <a:cs typeface="Arial" panose="020B0604020202020204" pitchFamily="34" charset="0"/>
                </a:rPr>
                <a:t>Immobilisations </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pic>
        <p:nvPicPr>
          <p:cNvPr id="2" name="Image 1"/>
          <p:cNvPicPr>
            <a:picLocks noChangeAspect="1"/>
          </p:cNvPicPr>
          <p:nvPr/>
        </p:nvPicPr>
        <p:blipFill>
          <a:blip r:embed="rId2"/>
          <a:stretch>
            <a:fillRect/>
          </a:stretch>
        </p:blipFill>
        <p:spPr>
          <a:xfrm>
            <a:off x="327067" y="3310707"/>
            <a:ext cx="1170533" cy="1249788"/>
          </a:xfrm>
          <a:prstGeom prst="rect">
            <a:avLst/>
          </a:prstGeom>
        </p:spPr>
      </p:pic>
    </p:spTree>
    <p:extLst>
      <p:ext uri="{BB962C8B-B14F-4D97-AF65-F5344CB8AC3E}">
        <p14:creationId xmlns:p14="http://schemas.microsoft.com/office/powerpoint/2010/main" val="13105574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a:t>
            </a:r>
            <a:r>
              <a:rPr lang="fr-FR" altLang="en-US" sz="2700" dirty="0">
                <a:cs typeface="Arial" panose="020B0604020202020204" pitchFamily="34" charset="0"/>
              </a:rPr>
              <a:t>opératoire </a:t>
            </a:r>
            <a:r>
              <a:rPr lang="fr-FR" altLang="en-US" sz="2700" dirty="0" smtClean="0">
                <a:cs typeface="Arial" panose="020B0604020202020204" pitchFamily="34" charset="0"/>
              </a:rPr>
              <a:t>pour édition des </a:t>
            </a:r>
            <a:r>
              <a:rPr lang="fr-FR" altLang="en-US" sz="2700" dirty="0" err="1" smtClean="0">
                <a:cs typeface="Arial" panose="020B0604020202020204" pitchFamily="34" charset="0"/>
              </a:rPr>
              <a:t>reportings</a:t>
            </a:r>
            <a:r>
              <a:rPr lang="fr-FR" altLang="en-US" sz="2700" dirty="0" smtClean="0">
                <a:cs typeface="Arial" panose="020B0604020202020204" pitchFamily="34" charset="0"/>
              </a:rPr>
              <a:t> des immobilisations : Grille d’évaluation des immobilisations 1/2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Depuis le menu SAP : Gestion Comptable / Comptabilité financière / Immobilisations / Système d’information / Etats relatifs à la comptabilité des immobilisations / Portefeuille des immobilisations / Liste d’inventaire  / Explication sur le bilan :</a:t>
            </a:r>
          </a:p>
          <a:p>
            <a:r>
              <a:rPr lang="fr-FR" dirty="0" smtClean="0">
                <a:cs typeface="Arial" panose="020B0604020202020204" pitchFamily="34" charset="0"/>
              </a:rPr>
              <a:t>Lancer la transaction : S_ALR_87011990			Renseigner les données  suivantes : </a:t>
            </a:r>
          </a:p>
          <a:p>
            <a:r>
              <a:rPr lang="fr-FR" dirty="0">
                <a:cs typeface="Arial" panose="020B0604020202020204" pitchFamily="34" charset="0"/>
              </a:rPr>
              <a:t>	</a:t>
            </a:r>
            <a:r>
              <a:rPr lang="fr-FR" dirty="0" smtClean="0">
                <a:cs typeface="Arial" panose="020B0604020202020204" pitchFamily="34" charset="0"/>
              </a:rPr>
              <a:t>								Société </a:t>
            </a:r>
          </a:p>
          <a:p>
            <a:r>
              <a:rPr lang="fr-FR" dirty="0">
                <a:cs typeface="Arial" panose="020B0604020202020204" pitchFamily="34" charset="0"/>
              </a:rPr>
              <a:t>	</a:t>
            </a:r>
            <a:r>
              <a:rPr lang="fr-FR" dirty="0" smtClean="0">
                <a:cs typeface="Arial" panose="020B0604020202020204" pitchFamily="34" charset="0"/>
              </a:rPr>
              <a:t>								Date d’analyse</a:t>
            </a:r>
          </a:p>
          <a:p>
            <a:r>
              <a:rPr lang="fr-FR" dirty="0">
                <a:cs typeface="Arial" panose="020B0604020202020204" pitchFamily="34" charset="0"/>
              </a:rPr>
              <a:t>	</a:t>
            </a:r>
            <a:r>
              <a:rPr lang="fr-FR" dirty="0" smtClean="0">
                <a:cs typeface="Arial" panose="020B0604020202020204" pitchFamily="34" charset="0"/>
              </a:rPr>
              <a:t>								Le tableau d’évaluation </a:t>
            </a:r>
          </a:p>
          <a:p>
            <a:r>
              <a:rPr lang="fr-FR" dirty="0">
                <a:cs typeface="Arial" panose="020B0604020202020204" pitchFamily="34" charset="0"/>
              </a:rPr>
              <a:t>	</a:t>
            </a:r>
            <a:r>
              <a:rPr lang="fr-FR" dirty="0" smtClean="0">
                <a:cs typeface="Arial" panose="020B0604020202020204" pitchFamily="34" charset="0"/>
              </a:rPr>
              <a:t>								Cocher lister les immobilisations ou autres choix en fonction du besoin</a:t>
            </a:r>
          </a:p>
          <a:p>
            <a:r>
              <a:rPr lang="fr-FR" dirty="0">
                <a:cs typeface="Arial" panose="020B0604020202020204" pitchFamily="34" charset="0"/>
              </a:rPr>
              <a:t>	</a:t>
            </a:r>
            <a:r>
              <a:rPr lang="fr-FR" dirty="0" smtClean="0">
                <a:cs typeface="Arial" panose="020B0604020202020204" pitchFamily="34" charset="0"/>
              </a:rPr>
              <a:t>								Exécuter </a:t>
            </a:r>
          </a:p>
          <a:p>
            <a:endParaRPr lang="fr-FR" dirty="0" smtClean="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9</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914041"/>
            <a:ext cx="3153764" cy="2510726"/>
          </a:xfrm>
          <a:prstGeom prst="rect">
            <a:avLst/>
          </a:prstGeom>
        </p:spPr>
      </p:pic>
      <p:pic>
        <p:nvPicPr>
          <p:cNvPr id="4" name="Image 3"/>
          <p:cNvPicPr>
            <a:picLocks noChangeAspect="1"/>
          </p:cNvPicPr>
          <p:nvPr/>
        </p:nvPicPr>
        <p:blipFill>
          <a:blip r:embed="rId3"/>
          <a:stretch>
            <a:fillRect/>
          </a:stretch>
        </p:blipFill>
        <p:spPr>
          <a:xfrm>
            <a:off x="3788857" y="2003067"/>
            <a:ext cx="310923" cy="353599"/>
          </a:xfrm>
          <a:prstGeom prst="rect">
            <a:avLst/>
          </a:prstGeom>
        </p:spPr>
      </p:pic>
      <p:pic>
        <p:nvPicPr>
          <p:cNvPr id="5" name="Image 4"/>
          <p:cNvPicPr>
            <a:picLocks noChangeAspect="1"/>
          </p:cNvPicPr>
          <p:nvPr/>
        </p:nvPicPr>
        <p:blipFill>
          <a:blip r:embed="rId4"/>
          <a:stretch>
            <a:fillRect/>
          </a:stretch>
        </p:blipFill>
        <p:spPr>
          <a:xfrm>
            <a:off x="3788857" y="2341630"/>
            <a:ext cx="310923" cy="353599"/>
          </a:xfrm>
          <a:prstGeom prst="rect">
            <a:avLst/>
          </a:prstGeom>
        </p:spPr>
      </p:pic>
      <p:pic>
        <p:nvPicPr>
          <p:cNvPr id="6" name="Image 5"/>
          <p:cNvPicPr>
            <a:picLocks noChangeAspect="1"/>
          </p:cNvPicPr>
          <p:nvPr/>
        </p:nvPicPr>
        <p:blipFill>
          <a:blip r:embed="rId5"/>
          <a:stretch>
            <a:fillRect/>
          </a:stretch>
        </p:blipFill>
        <p:spPr>
          <a:xfrm>
            <a:off x="3788857" y="2696865"/>
            <a:ext cx="310923" cy="353599"/>
          </a:xfrm>
          <a:prstGeom prst="rect">
            <a:avLst/>
          </a:prstGeom>
        </p:spPr>
      </p:pic>
      <p:pic>
        <p:nvPicPr>
          <p:cNvPr id="7" name="Image 6"/>
          <p:cNvPicPr>
            <a:picLocks noChangeAspect="1"/>
          </p:cNvPicPr>
          <p:nvPr/>
        </p:nvPicPr>
        <p:blipFill>
          <a:blip r:embed="rId6"/>
          <a:stretch>
            <a:fillRect/>
          </a:stretch>
        </p:blipFill>
        <p:spPr>
          <a:xfrm>
            <a:off x="3788857" y="3051299"/>
            <a:ext cx="310923" cy="359695"/>
          </a:xfrm>
          <a:prstGeom prst="rect">
            <a:avLst/>
          </a:prstGeom>
        </p:spPr>
      </p:pic>
      <p:pic>
        <p:nvPicPr>
          <p:cNvPr id="8" name="Image 7"/>
          <p:cNvPicPr>
            <a:picLocks noChangeAspect="1"/>
          </p:cNvPicPr>
          <p:nvPr/>
        </p:nvPicPr>
        <p:blipFill>
          <a:blip r:embed="rId7"/>
          <a:stretch>
            <a:fillRect/>
          </a:stretch>
        </p:blipFill>
        <p:spPr>
          <a:xfrm>
            <a:off x="3788857" y="3373780"/>
            <a:ext cx="310923" cy="359695"/>
          </a:xfrm>
          <a:prstGeom prst="rect">
            <a:avLst/>
          </a:prstGeom>
        </p:spPr>
      </p:pic>
      <p:pic>
        <p:nvPicPr>
          <p:cNvPr id="9" name="Image 8"/>
          <p:cNvPicPr>
            <a:picLocks noChangeAspect="1"/>
          </p:cNvPicPr>
          <p:nvPr/>
        </p:nvPicPr>
        <p:blipFill>
          <a:blip r:embed="rId8"/>
          <a:stretch>
            <a:fillRect/>
          </a:stretch>
        </p:blipFill>
        <p:spPr>
          <a:xfrm>
            <a:off x="2053047" y="2218150"/>
            <a:ext cx="310923" cy="353599"/>
          </a:xfrm>
          <a:prstGeom prst="rect">
            <a:avLst/>
          </a:prstGeom>
        </p:spPr>
      </p:pic>
      <p:pic>
        <p:nvPicPr>
          <p:cNvPr id="10" name="Image 9"/>
          <p:cNvPicPr>
            <a:picLocks noChangeAspect="1"/>
          </p:cNvPicPr>
          <p:nvPr/>
        </p:nvPicPr>
        <p:blipFill>
          <a:blip r:embed="rId9"/>
          <a:stretch>
            <a:fillRect/>
          </a:stretch>
        </p:blipFill>
        <p:spPr>
          <a:xfrm>
            <a:off x="2246295" y="2885690"/>
            <a:ext cx="310923" cy="353599"/>
          </a:xfrm>
          <a:prstGeom prst="rect">
            <a:avLst/>
          </a:prstGeom>
        </p:spPr>
      </p:pic>
      <p:pic>
        <p:nvPicPr>
          <p:cNvPr id="11" name="Image 10"/>
          <p:cNvPicPr>
            <a:picLocks noChangeAspect="1"/>
          </p:cNvPicPr>
          <p:nvPr/>
        </p:nvPicPr>
        <p:blipFill>
          <a:blip r:embed="rId10"/>
          <a:stretch>
            <a:fillRect/>
          </a:stretch>
        </p:blipFill>
        <p:spPr>
          <a:xfrm>
            <a:off x="1673338" y="3054346"/>
            <a:ext cx="310923" cy="353599"/>
          </a:xfrm>
          <a:prstGeom prst="rect">
            <a:avLst/>
          </a:prstGeom>
        </p:spPr>
      </p:pic>
      <p:cxnSp>
        <p:nvCxnSpPr>
          <p:cNvPr id="13" name="Connecteur droit avec flèche 12"/>
          <p:cNvCxnSpPr/>
          <p:nvPr/>
        </p:nvCxnSpPr>
        <p:spPr>
          <a:xfrm flipV="1">
            <a:off x="2053047" y="2817260"/>
            <a:ext cx="1891271" cy="413885"/>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14" name="Image 13"/>
          <p:cNvPicPr>
            <a:picLocks noChangeAspect="1"/>
          </p:cNvPicPr>
          <p:nvPr/>
        </p:nvPicPr>
        <p:blipFill>
          <a:blip r:embed="rId11"/>
          <a:stretch>
            <a:fillRect/>
          </a:stretch>
        </p:blipFill>
        <p:spPr>
          <a:xfrm>
            <a:off x="765248" y="3193932"/>
            <a:ext cx="310923" cy="359695"/>
          </a:xfrm>
          <a:prstGeom prst="rect">
            <a:avLst/>
          </a:prstGeom>
        </p:spPr>
      </p:pic>
      <p:pic>
        <p:nvPicPr>
          <p:cNvPr id="15" name="Image 14"/>
          <p:cNvPicPr>
            <a:picLocks noChangeAspect="1"/>
          </p:cNvPicPr>
          <p:nvPr/>
        </p:nvPicPr>
        <p:blipFill>
          <a:blip r:embed="rId12"/>
          <a:stretch>
            <a:fillRect/>
          </a:stretch>
        </p:blipFill>
        <p:spPr>
          <a:xfrm>
            <a:off x="735418" y="3364368"/>
            <a:ext cx="90036" cy="93251"/>
          </a:xfrm>
          <a:prstGeom prst="rect">
            <a:avLst/>
          </a:prstGeom>
        </p:spPr>
      </p:pic>
    </p:spTree>
    <p:extLst>
      <p:ext uri="{BB962C8B-B14F-4D97-AF65-F5344CB8AC3E}">
        <p14:creationId xmlns:p14="http://schemas.microsoft.com/office/powerpoint/2010/main" val="2461744227"/>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000" dirty="0">
                <a:cs typeface="Arial" panose="020B0604020202020204" pitchFamily="34" charset="0"/>
              </a:rPr>
              <a:t>Mode opératoire pour édition des </a:t>
            </a:r>
            <a:r>
              <a:rPr lang="fr-FR" altLang="en-US" sz="2000" dirty="0" err="1">
                <a:cs typeface="Arial" panose="020B0604020202020204" pitchFamily="34" charset="0"/>
              </a:rPr>
              <a:t>reportings</a:t>
            </a:r>
            <a:r>
              <a:rPr lang="fr-FR" altLang="en-US" sz="2000" dirty="0">
                <a:cs typeface="Arial" panose="020B0604020202020204" pitchFamily="34" charset="0"/>
              </a:rPr>
              <a:t> des immobilisations : Grille d’évaluation des </a:t>
            </a:r>
            <a:r>
              <a:rPr lang="fr-FR" altLang="en-US" sz="2000" dirty="0" smtClean="0">
                <a:cs typeface="Arial" panose="020B0604020202020204" pitchFamily="34" charset="0"/>
              </a:rPr>
              <a:t>immobilisations 2/2</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10</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34974" y="1152525"/>
            <a:ext cx="7563174" cy="3190432"/>
          </a:xfrm>
          <a:prstGeom prst="rect">
            <a:avLst/>
          </a:prstGeom>
        </p:spPr>
      </p:pic>
    </p:spTree>
    <p:extLst>
      <p:ext uri="{BB962C8B-B14F-4D97-AF65-F5344CB8AC3E}">
        <p14:creationId xmlns:p14="http://schemas.microsoft.com/office/powerpoint/2010/main" val="1178930478"/>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a:t>
            </a:r>
            <a:r>
              <a:rPr lang="fr-FR" altLang="en-US" sz="2700" dirty="0">
                <a:cs typeface="Arial" panose="020B0604020202020204" pitchFamily="34" charset="0"/>
              </a:rPr>
              <a:t>opératoire </a:t>
            </a:r>
            <a:r>
              <a:rPr lang="fr-FR" altLang="en-US" sz="2700" dirty="0" smtClean="0">
                <a:cs typeface="Arial" panose="020B0604020202020204" pitchFamily="34" charset="0"/>
              </a:rPr>
              <a:t>pour édition des </a:t>
            </a:r>
            <a:r>
              <a:rPr lang="fr-FR" altLang="en-US" sz="2700" dirty="0" err="1" smtClean="0">
                <a:cs typeface="Arial" panose="020B0604020202020204" pitchFamily="34" charset="0"/>
              </a:rPr>
              <a:t>reportings</a:t>
            </a:r>
            <a:r>
              <a:rPr lang="fr-FR" altLang="en-US" sz="2700" dirty="0" smtClean="0">
                <a:cs typeface="Arial" panose="020B0604020202020204" pitchFamily="34" charset="0"/>
              </a:rPr>
              <a:t> des immobilisations : Liste d’inventaire par centres de coût 1/2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Lancer la </a:t>
            </a:r>
            <a:r>
              <a:rPr lang="fr-FR" dirty="0">
                <a:cs typeface="Arial" panose="020B0604020202020204" pitchFamily="34" charset="0"/>
              </a:rPr>
              <a:t>transaction : </a:t>
            </a:r>
            <a:r>
              <a:rPr lang="fr-FR" dirty="0" smtClean="0">
                <a:cs typeface="Arial" panose="020B0604020202020204" pitchFamily="34" charset="0"/>
              </a:rPr>
              <a:t>S_ALR_87011979					Renseigner les données suivantes :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Société</a:t>
            </a:r>
          </a:p>
          <a:p>
            <a:r>
              <a:rPr lang="fr-FR" dirty="0">
                <a:cs typeface="Arial" panose="020B0604020202020204" pitchFamily="34" charset="0"/>
              </a:rPr>
              <a:t>	</a:t>
            </a:r>
            <a:r>
              <a:rPr lang="fr-FR" dirty="0" smtClean="0">
                <a:cs typeface="Arial" panose="020B0604020202020204" pitchFamily="34" charset="0"/>
              </a:rPr>
              <a:t>										Centre de coût si vous en voulez un particulier sinon blanc</a:t>
            </a:r>
          </a:p>
          <a:p>
            <a:r>
              <a:rPr lang="fr-FR" dirty="0">
                <a:cs typeface="Arial" panose="020B0604020202020204" pitchFamily="34" charset="0"/>
              </a:rPr>
              <a:t>	</a:t>
            </a:r>
            <a:r>
              <a:rPr lang="fr-FR" dirty="0" smtClean="0">
                <a:cs typeface="Arial" panose="020B0604020202020204" pitchFamily="34" charset="0"/>
              </a:rPr>
              <a:t>										Date d’analyse</a:t>
            </a:r>
          </a:p>
          <a:p>
            <a:r>
              <a:rPr lang="fr-FR" dirty="0">
                <a:cs typeface="Arial" panose="020B0604020202020204" pitchFamily="34" charset="0"/>
              </a:rPr>
              <a:t>	</a:t>
            </a:r>
            <a:r>
              <a:rPr lang="fr-FR" dirty="0" smtClean="0">
                <a:cs typeface="Arial" panose="020B0604020202020204" pitchFamily="34" charset="0"/>
              </a:rPr>
              <a:t>										Tableau d’évaluation </a:t>
            </a:r>
          </a:p>
          <a:p>
            <a:r>
              <a:rPr lang="fr-FR" dirty="0">
                <a:cs typeface="Arial" panose="020B0604020202020204" pitchFamily="34" charset="0"/>
              </a:rPr>
              <a:t>	</a:t>
            </a:r>
            <a:r>
              <a:rPr lang="fr-FR" dirty="0" smtClean="0">
                <a:cs typeface="Arial" panose="020B0604020202020204" pitchFamily="34" charset="0"/>
              </a:rPr>
              <a:t>										Exécuter 	</a:t>
            </a:r>
            <a:endParaRPr lang="fr-FR" dirty="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11</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343870"/>
            <a:ext cx="3835105" cy="3080895"/>
          </a:xfrm>
          <a:prstGeom prst="rect">
            <a:avLst/>
          </a:prstGeom>
        </p:spPr>
      </p:pic>
      <p:pic>
        <p:nvPicPr>
          <p:cNvPr id="4" name="Image 3"/>
          <p:cNvPicPr>
            <a:picLocks noChangeAspect="1"/>
          </p:cNvPicPr>
          <p:nvPr/>
        </p:nvPicPr>
        <p:blipFill>
          <a:blip r:embed="rId3"/>
          <a:stretch>
            <a:fillRect/>
          </a:stretch>
        </p:blipFill>
        <p:spPr>
          <a:xfrm>
            <a:off x="4571999" y="1472801"/>
            <a:ext cx="310923" cy="353599"/>
          </a:xfrm>
          <a:prstGeom prst="rect">
            <a:avLst/>
          </a:prstGeom>
        </p:spPr>
      </p:pic>
      <p:pic>
        <p:nvPicPr>
          <p:cNvPr id="5" name="Image 4"/>
          <p:cNvPicPr>
            <a:picLocks noChangeAspect="1"/>
          </p:cNvPicPr>
          <p:nvPr/>
        </p:nvPicPr>
        <p:blipFill>
          <a:blip r:embed="rId4"/>
          <a:stretch>
            <a:fillRect/>
          </a:stretch>
        </p:blipFill>
        <p:spPr>
          <a:xfrm>
            <a:off x="4571999" y="1819113"/>
            <a:ext cx="310923" cy="353599"/>
          </a:xfrm>
          <a:prstGeom prst="rect">
            <a:avLst/>
          </a:prstGeom>
        </p:spPr>
      </p:pic>
      <p:pic>
        <p:nvPicPr>
          <p:cNvPr id="6" name="Image 5"/>
          <p:cNvPicPr>
            <a:picLocks noChangeAspect="1"/>
          </p:cNvPicPr>
          <p:nvPr/>
        </p:nvPicPr>
        <p:blipFill>
          <a:blip r:embed="rId5"/>
          <a:stretch>
            <a:fillRect/>
          </a:stretch>
        </p:blipFill>
        <p:spPr>
          <a:xfrm>
            <a:off x="4571998" y="2165425"/>
            <a:ext cx="310923" cy="353599"/>
          </a:xfrm>
          <a:prstGeom prst="rect">
            <a:avLst/>
          </a:prstGeom>
        </p:spPr>
      </p:pic>
      <p:pic>
        <p:nvPicPr>
          <p:cNvPr id="7" name="Image 6"/>
          <p:cNvPicPr>
            <a:picLocks noChangeAspect="1"/>
          </p:cNvPicPr>
          <p:nvPr/>
        </p:nvPicPr>
        <p:blipFill>
          <a:blip r:embed="rId6"/>
          <a:stretch>
            <a:fillRect/>
          </a:stretch>
        </p:blipFill>
        <p:spPr>
          <a:xfrm>
            <a:off x="4571999" y="2511737"/>
            <a:ext cx="310923" cy="353599"/>
          </a:xfrm>
          <a:prstGeom prst="rect">
            <a:avLst/>
          </a:prstGeom>
        </p:spPr>
      </p:pic>
      <p:pic>
        <p:nvPicPr>
          <p:cNvPr id="8" name="Image 7"/>
          <p:cNvPicPr>
            <a:picLocks noChangeAspect="1"/>
          </p:cNvPicPr>
          <p:nvPr/>
        </p:nvPicPr>
        <p:blipFill>
          <a:blip r:embed="rId7"/>
          <a:stretch>
            <a:fillRect/>
          </a:stretch>
        </p:blipFill>
        <p:spPr>
          <a:xfrm>
            <a:off x="4548273" y="2858049"/>
            <a:ext cx="310923" cy="359695"/>
          </a:xfrm>
          <a:prstGeom prst="rect">
            <a:avLst/>
          </a:prstGeom>
        </p:spPr>
      </p:pic>
      <p:pic>
        <p:nvPicPr>
          <p:cNvPr id="10" name="Image 9"/>
          <p:cNvPicPr>
            <a:picLocks noChangeAspect="1"/>
          </p:cNvPicPr>
          <p:nvPr/>
        </p:nvPicPr>
        <p:blipFill>
          <a:blip r:embed="rId8"/>
          <a:stretch>
            <a:fillRect/>
          </a:stretch>
        </p:blipFill>
        <p:spPr>
          <a:xfrm>
            <a:off x="726657" y="2089218"/>
            <a:ext cx="158510" cy="152413"/>
          </a:xfrm>
          <a:prstGeom prst="rect">
            <a:avLst/>
          </a:prstGeom>
        </p:spPr>
      </p:pic>
      <p:pic>
        <p:nvPicPr>
          <p:cNvPr id="11" name="Image 10"/>
          <p:cNvPicPr>
            <a:picLocks noChangeAspect="1"/>
          </p:cNvPicPr>
          <p:nvPr/>
        </p:nvPicPr>
        <p:blipFill>
          <a:blip r:embed="rId9"/>
          <a:stretch>
            <a:fillRect/>
          </a:stretch>
        </p:blipFill>
        <p:spPr>
          <a:xfrm>
            <a:off x="2335668" y="2158138"/>
            <a:ext cx="310923" cy="353599"/>
          </a:xfrm>
          <a:prstGeom prst="rect">
            <a:avLst/>
          </a:prstGeom>
        </p:spPr>
      </p:pic>
      <p:pic>
        <p:nvPicPr>
          <p:cNvPr id="12" name="Image 11"/>
          <p:cNvPicPr>
            <a:picLocks noChangeAspect="1"/>
          </p:cNvPicPr>
          <p:nvPr/>
        </p:nvPicPr>
        <p:blipFill>
          <a:blip r:embed="rId10"/>
          <a:stretch>
            <a:fillRect/>
          </a:stretch>
        </p:blipFill>
        <p:spPr>
          <a:xfrm>
            <a:off x="3796605" y="2530718"/>
            <a:ext cx="310923" cy="353599"/>
          </a:xfrm>
          <a:prstGeom prst="rect">
            <a:avLst/>
          </a:prstGeom>
        </p:spPr>
      </p:pic>
      <p:pic>
        <p:nvPicPr>
          <p:cNvPr id="13" name="Image 12"/>
          <p:cNvPicPr>
            <a:picLocks noChangeAspect="1"/>
          </p:cNvPicPr>
          <p:nvPr/>
        </p:nvPicPr>
        <p:blipFill>
          <a:blip r:embed="rId11"/>
          <a:stretch>
            <a:fillRect/>
          </a:stretch>
        </p:blipFill>
        <p:spPr>
          <a:xfrm>
            <a:off x="2646591" y="2937852"/>
            <a:ext cx="310923" cy="353599"/>
          </a:xfrm>
          <a:prstGeom prst="rect">
            <a:avLst/>
          </a:prstGeom>
        </p:spPr>
      </p:pic>
      <p:pic>
        <p:nvPicPr>
          <p:cNvPr id="14" name="Image 13"/>
          <p:cNvPicPr>
            <a:picLocks noChangeAspect="1"/>
          </p:cNvPicPr>
          <p:nvPr/>
        </p:nvPicPr>
        <p:blipFill>
          <a:blip r:embed="rId12"/>
          <a:stretch>
            <a:fillRect/>
          </a:stretch>
        </p:blipFill>
        <p:spPr>
          <a:xfrm>
            <a:off x="805912" y="1909370"/>
            <a:ext cx="310923" cy="359695"/>
          </a:xfrm>
          <a:prstGeom prst="rect">
            <a:avLst/>
          </a:prstGeom>
        </p:spPr>
      </p:pic>
    </p:spTree>
    <p:extLst>
      <p:ext uri="{BB962C8B-B14F-4D97-AF65-F5344CB8AC3E}">
        <p14:creationId xmlns:p14="http://schemas.microsoft.com/office/powerpoint/2010/main" val="3246648236"/>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a:t>
            </a:r>
            <a:r>
              <a:rPr lang="fr-FR" altLang="en-US" sz="2700" dirty="0">
                <a:cs typeface="Arial" panose="020B0604020202020204" pitchFamily="34" charset="0"/>
              </a:rPr>
              <a:t>opératoire </a:t>
            </a:r>
            <a:r>
              <a:rPr lang="fr-FR" altLang="en-US" sz="2700" dirty="0" smtClean="0">
                <a:cs typeface="Arial" panose="020B0604020202020204" pitchFamily="34" charset="0"/>
              </a:rPr>
              <a:t>pour édition des </a:t>
            </a:r>
            <a:r>
              <a:rPr lang="fr-FR" altLang="en-US" sz="2700" dirty="0" err="1" smtClean="0">
                <a:cs typeface="Arial" panose="020B0604020202020204" pitchFamily="34" charset="0"/>
              </a:rPr>
              <a:t>reportings</a:t>
            </a:r>
            <a:r>
              <a:rPr lang="fr-FR" altLang="en-US" sz="2700" dirty="0" smtClean="0">
                <a:cs typeface="Arial" panose="020B0604020202020204" pitchFamily="34" charset="0"/>
              </a:rPr>
              <a:t> des immobilisations : Liste d’inventaire par centres de coût 2/2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12</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937648"/>
            <a:ext cx="7291812" cy="3463871"/>
          </a:xfrm>
          <a:prstGeom prst="rect">
            <a:avLst/>
          </a:prstGeom>
        </p:spPr>
      </p:pic>
    </p:spTree>
    <p:extLst>
      <p:ext uri="{BB962C8B-B14F-4D97-AF65-F5344CB8AC3E}">
        <p14:creationId xmlns:p14="http://schemas.microsoft.com/office/powerpoint/2010/main" val="2064498667"/>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200" dirty="0">
                <a:cs typeface="Arial" panose="020B0604020202020204" pitchFamily="34" charset="0"/>
              </a:rPr>
              <a:t>M</a:t>
            </a:r>
            <a:r>
              <a:rPr lang="fr-FR" altLang="en-US" sz="2200" dirty="0" smtClean="0">
                <a:cs typeface="Arial" panose="020B0604020202020204" pitchFamily="34" charset="0"/>
              </a:rPr>
              <a:t>ode </a:t>
            </a:r>
            <a:r>
              <a:rPr lang="fr-FR" altLang="en-US" sz="2200" dirty="0">
                <a:cs typeface="Arial" panose="020B0604020202020204" pitchFamily="34" charset="0"/>
              </a:rPr>
              <a:t>opératoire </a:t>
            </a:r>
            <a:r>
              <a:rPr lang="fr-FR" altLang="en-US" sz="2200" dirty="0" smtClean="0">
                <a:cs typeface="Arial" panose="020B0604020202020204" pitchFamily="34" charset="0"/>
              </a:rPr>
              <a:t>pour édition des </a:t>
            </a:r>
            <a:r>
              <a:rPr lang="fr-FR" altLang="en-US" sz="2200" dirty="0" err="1" smtClean="0">
                <a:cs typeface="Arial" panose="020B0604020202020204" pitchFamily="34" charset="0"/>
              </a:rPr>
              <a:t>reportings</a:t>
            </a:r>
            <a:r>
              <a:rPr lang="fr-FR" altLang="en-US" sz="2200" dirty="0" smtClean="0">
                <a:cs typeface="Arial" panose="020B0604020202020204" pitchFamily="34" charset="0"/>
              </a:rPr>
              <a:t> des immobilisations : Liste d’inventaire par catégorie d’immobilisation 1/2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Lancer la transaction </a:t>
            </a:r>
            <a:r>
              <a:rPr lang="fr-FR" dirty="0" smtClean="0">
                <a:latin typeface="Arial" panose="020B0604020202020204" pitchFamily="34" charset="0"/>
                <a:cs typeface="Arial" panose="020B0604020202020204" pitchFamily="34" charset="0"/>
              </a:rPr>
              <a:t>: </a:t>
            </a:r>
            <a:r>
              <a:rPr lang="fr-FR" dirty="0">
                <a:cs typeface="Arial" panose="020B0604020202020204" pitchFamily="34" charset="0"/>
              </a:rPr>
              <a:t>S_ALR_87011981				Renseigner les données suivantes : </a:t>
            </a:r>
          </a:p>
          <a:p>
            <a:r>
              <a:rPr lang="fr-FR" dirty="0">
                <a:latin typeface="Arial" panose="020B0604020202020204" pitchFamily="34" charset="0"/>
                <a:cs typeface="Arial" panose="020B0604020202020204" pitchFamily="34" charset="0"/>
              </a:rPr>
              <a:t>											</a:t>
            </a:r>
            <a:r>
              <a:rPr lang="fr-FR" dirty="0">
                <a:cs typeface="Arial" panose="020B0604020202020204" pitchFamily="34" charset="0"/>
              </a:rPr>
              <a:t>Société</a:t>
            </a:r>
          </a:p>
          <a:p>
            <a:r>
              <a:rPr lang="fr-FR" dirty="0">
                <a:cs typeface="Arial" panose="020B0604020202020204" pitchFamily="34" charset="0"/>
              </a:rPr>
              <a:t>											</a:t>
            </a:r>
            <a:r>
              <a:rPr lang="fr-FR" dirty="0" smtClean="0">
                <a:cs typeface="Arial" panose="020B0604020202020204" pitchFamily="34" charset="0"/>
              </a:rPr>
              <a:t>Catégorie </a:t>
            </a:r>
            <a:r>
              <a:rPr lang="fr-FR" dirty="0">
                <a:cs typeface="Arial" panose="020B0604020202020204" pitchFamily="34" charset="0"/>
              </a:rPr>
              <a:t>si vous en voulez un particulier sinon blanc</a:t>
            </a:r>
          </a:p>
          <a:p>
            <a:r>
              <a:rPr lang="fr-FR" dirty="0">
                <a:cs typeface="Arial" panose="020B0604020202020204" pitchFamily="34" charset="0"/>
              </a:rPr>
              <a:t>											Date d’analyse</a:t>
            </a:r>
          </a:p>
          <a:p>
            <a:r>
              <a:rPr lang="fr-FR" dirty="0">
                <a:cs typeface="Arial" panose="020B0604020202020204" pitchFamily="34" charset="0"/>
              </a:rPr>
              <a:t>											Tableau d’évaluation </a:t>
            </a:r>
          </a:p>
          <a:p>
            <a:r>
              <a:rPr lang="fr-FR" dirty="0">
                <a:cs typeface="Arial" panose="020B0604020202020204" pitchFamily="34" charset="0"/>
              </a:rPr>
              <a:t>											Exécuter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13</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394847"/>
            <a:ext cx="3688456" cy="3087149"/>
          </a:xfrm>
          <a:prstGeom prst="rect">
            <a:avLst/>
          </a:prstGeom>
        </p:spPr>
      </p:pic>
      <p:pic>
        <p:nvPicPr>
          <p:cNvPr id="4" name="Image 3"/>
          <p:cNvPicPr>
            <a:picLocks noChangeAspect="1"/>
          </p:cNvPicPr>
          <p:nvPr/>
        </p:nvPicPr>
        <p:blipFill>
          <a:blip r:embed="rId3"/>
          <a:stretch>
            <a:fillRect/>
          </a:stretch>
        </p:blipFill>
        <p:spPr>
          <a:xfrm>
            <a:off x="4571999" y="1449554"/>
            <a:ext cx="310923" cy="353599"/>
          </a:xfrm>
          <a:prstGeom prst="rect">
            <a:avLst/>
          </a:prstGeom>
        </p:spPr>
      </p:pic>
      <p:pic>
        <p:nvPicPr>
          <p:cNvPr id="5" name="Image 4"/>
          <p:cNvPicPr>
            <a:picLocks noChangeAspect="1"/>
          </p:cNvPicPr>
          <p:nvPr/>
        </p:nvPicPr>
        <p:blipFill>
          <a:blip r:embed="rId4"/>
          <a:stretch>
            <a:fillRect/>
          </a:stretch>
        </p:blipFill>
        <p:spPr>
          <a:xfrm>
            <a:off x="4541401" y="1803153"/>
            <a:ext cx="310923" cy="353599"/>
          </a:xfrm>
          <a:prstGeom prst="rect">
            <a:avLst/>
          </a:prstGeom>
        </p:spPr>
      </p:pic>
      <p:pic>
        <p:nvPicPr>
          <p:cNvPr id="6" name="Image 5"/>
          <p:cNvPicPr>
            <a:picLocks noChangeAspect="1"/>
          </p:cNvPicPr>
          <p:nvPr/>
        </p:nvPicPr>
        <p:blipFill>
          <a:blip r:embed="rId5"/>
          <a:stretch>
            <a:fillRect/>
          </a:stretch>
        </p:blipFill>
        <p:spPr>
          <a:xfrm>
            <a:off x="4556700" y="2133966"/>
            <a:ext cx="310923" cy="353599"/>
          </a:xfrm>
          <a:prstGeom prst="rect">
            <a:avLst/>
          </a:prstGeom>
        </p:spPr>
      </p:pic>
      <p:pic>
        <p:nvPicPr>
          <p:cNvPr id="7" name="Image 6"/>
          <p:cNvPicPr>
            <a:picLocks noChangeAspect="1"/>
          </p:cNvPicPr>
          <p:nvPr/>
        </p:nvPicPr>
        <p:blipFill>
          <a:blip r:embed="rId6"/>
          <a:stretch>
            <a:fillRect/>
          </a:stretch>
        </p:blipFill>
        <p:spPr>
          <a:xfrm>
            <a:off x="4571999" y="2510351"/>
            <a:ext cx="310923" cy="353599"/>
          </a:xfrm>
          <a:prstGeom prst="rect">
            <a:avLst/>
          </a:prstGeom>
        </p:spPr>
      </p:pic>
      <p:pic>
        <p:nvPicPr>
          <p:cNvPr id="8" name="Image 7"/>
          <p:cNvPicPr>
            <a:picLocks noChangeAspect="1"/>
          </p:cNvPicPr>
          <p:nvPr/>
        </p:nvPicPr>
        <p:blipFill>
          <a:blip r:embed="rId7"/>
          <a:stretch>
            <a:fillRect/>
          </a:stretch>
        </p:blipFill>
        <p:spPr>
          <a:xfrm>
            <a:off x="4571999" y="2870793"/>
            <a:ext cx="310923" cy="359695"/>
          </a:xfrm>
          <a:prstGeom prst="rect">
            <a:avLst/>
          </a:prstGeom>
        </p:spPr>
      </p:pic>
      <p:pic>
        <p:nvPicPr>
          <p:cNvPr id="9" name="Image 8"/>
          <p:cNvPicPr>
            <a:picLocks noChangeAspect="1"/>
          </p:cNvPicPr>
          <p:nvPr/>
        </p:nvPicPr>
        <p:blipFill>
          <a:blip r:embed="rId8"/>
          <a:stretch>
            <a:fillRect/>
          </a:stretch>
        </p:blipFill>
        <p:spPr>
          <a:xfrm>
            <a:off x="2262344" y="2218150"/>
            <a:ext cx="310923" cy="353599"/>
          </a:xfrm>
          <a:prstGeom prst="rect">
            <a:avLst/>
          </a:prstGeom>
        </p:spPr>
      </p:pic>
      <p:pic>
        <p:nvPicPr>
          <p:cNvPr id="10" name="Image 9"/>
          <p:cNvPicPr>
            <a:picLocks noChangeAspect="1"/>
          </p:cNvPicPr>
          <p:nvPr/>
        </p:nvPicPr>
        <p:blipFill>
          <a:blip r:embed="rId9"/>
          <a:stretch>
            <a:fillRect/>
          </a:stretch>
        </p:blipFill>
        <p:spPr>
          <a:xfrm>
            <a:off x="3579630" y="2584822"/>
            <a:ext cx="310923" cy="353599"/>
          </a:xfrm>
          <a:prstGeom prst="rect">
            <a:avLst/>
          </a:prstGeom>
        </p:spPr>
      </p:pic>
      <p:pic>
        <p:nvPicPr>
          <p:cNvPr id="11" name="Image 10"/>
          <p:cNvPicPr>
            <a:picLocks noChangeAspect="1"/>
          </p:cNvPicPr>
          <p:nvPr/>
        </p:nvPicPr>
        <p:blipFill>
          <a:blip r:embed="rId10"/>
          <a:stretch>
            <a:fillRect/>
          </a:stretch>
        </p:blipFill>
        <p:spPr>
          <a:xfrm>
            <a:off x="2573267" y="2966335"/>
            <a:ext cx="310923" cy="353599"/>
          </a:xfrm>
          <a:prstGeom prst="rect">
            <a:avLst/>
          </a:prstGeom>
        </p:spPr>
      </p:pic>
      <p:pic>
        <p:nvPicPr>
          <p:cNvPr id="12" name="Image 11"/>
          <p:cNvPicPr>
            <a:picLocks noChangeAspect="1"/>
          </p:cNvPicPr>
          <p:nvPr/>
        </p:nvPicPr>
        <p:blipFill>
          <a:blip r:embed="rId11"/>
          <a:stretch>
            <a:fillRect/>
          </a:stretch>
        </p:blipFill>
        <p:spPr>
          <a:xfrm>
            <a:off x="2238618" y="3173273"/>
            <a:ext cx="310923" cy="353599"/>
          </a:xfrm>
          <a:prstGeom prst="rect">
            <a:avLst/>
          </a:prstGeom>
        </p:spPr>
      </p:pic>
      <p:pic>
        <p:nvPicPr>
          <p:cNvPr id="13" name="Image 12"/>
          <p:cNvPicPr>
            <a:picLocks noChangeAspect="1"/>
          </p:cNvPicPr>
          <p:nvPr/>
        </p:nvPicPr>
        <p:blipFill>
          <a:blip r:embed="rId12"/>
          <a:stretch>
            <a:fillRect/>
          </a:stretch>
        </p:blipFill>
        <p:spPr>
          <a:xfrm>
            <a:off x="720559" y="2133966"/>
            <a:ext cx="116215" cy="120365"/>
          </a:xfrm>
          <a:prstGeom prst="rect">
            <a:avLst/>
          </a:prstGeom>
        </p:spPr>
      </p:pic>
      <p:pic>
        <p:nvPicPr>
          <p:cNvPr id="14" name="Image 13"/>
          <p:cNvPicPr>
            <a:picLocks noChangeAspect="1"/>
          </p:cNvPicPr>
          <p:nvPr/>
        </p:nvPicPr>
        <p:blipFill>
          <a:blip r:embed="rId13"/>
          <a:stretch>
            <a:fillRect/>
          </a:stretch>
        </p:blipFill>
        <p:spPr>
          <a:xfrm>
            <a:off x="778666" y="1960438"/>
            <a:ext cx="310923" cy="359695"/>
          </a:xfrm>
          <a:prstGeom prst="rect">
            <a:avLst/>
          </a:prstGeom>
        </p:spPr>
      </p:pic>
    </p:spTree>
    <p:extLst>
      <p:ext uri="{BB962C8B-B14F-4D97-AF65-F5344CB8AC3E}">
        <p14:creationId xmlns:p14="http://schemas.microsoft.com/office/powerpoint/2010/main" val="2296932571"/>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200" dirty="0">
                <a:cs typeface="Arial" panose="020B0604020202020204" pitchFamily="34" charset="0"/>
              </a:rPr>
              <a:t>M</a:t>
            </a:r>
            <a:r>
              <a:rPr lang="fr-FR" altLang="en-US" sz="2200" dirty="0" smtClean="0">
                <a:cs typeface="Arial" panose="020B0604020202020204" pitchFamily="34" charset="0"/>
              </a:rPr>
              <a:t>ode </a:t>
            </a:r>
            <a:r>
              <a:rPr lang="fr-FR" altLang="en-US" sz="2200" dirty="0">
                <a:cs typeface="Arial" panose="020B0604020202020204" pitchFamily="34" charset="0"/>
              </a:rPr>
              <a:t>opératoire </a:t>
            </a:r>
            <a:r>
              <a:rPr lang="fr-FR" altLang="en-US" sz="2200" dirty="0" smtClean="0">
                <a:cs typeface="Arial" panose="020B0604020202020204" pitchFamily="34" charset="0"/>
              </a:rPr>
              <a:t>pour édition des </a:t>
            </a:r>
            <a:r>
              <a:rPr lang="fr-FR" altLang="en-US" sz="2200" dirty="0" err="1" smtClean="0">
                <a:cs typeface="Arial" panose="020B0604020202020204" pitchFamily="34" charset="0"/>
              </a:rPr>
              <a:t>reportings</a:t>
            </a:r>
            <a:r>
              <a:rPr lang="fr-FR" altLang="en-US" sz="2200" dirty="0" smtClean="0">
                <a:cs typeface="Arial" panose="020B0604020202020204" pitchFamily="34" charset="0"/>
              </a:rPr>
              <a:t> des immobilisations : Liste d’inventaire par catégorie d’immobilisation 2/2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14</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152525"/>
            <a:ext cx="5539593" cy="3329471"/>
          </a:xfrm>
          <a:prstGeom prst="rect">
            <a:avLst/>
          </a:prstGeom>
        </p:spPr>
      </p:pic>
    </p:spTree>
    <p:extLst>
      <p:ext uri="{BB962C8B-B14F-4D97-AF65-F5344CB8AC3E}">
        <p14:creationId xmlns:p14="http://schemas.microsoft.com/office/powerpoint/2010/main" val="923118087"/>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200" dirty="0">
                <a:cs typeface="Arial" panose="020B0604020202020204" pitchFamily="34" charset="0"/>
              </a:rPr>
              <a:t>M</a:t>
            </a:r>
            <a:r>
              <a:rPr lang="fr-FR" altLang="en-US" sz="2200" dirty="0" smtClean="0">
                <a:cs typeface="Arial" panose="020B0604020202020204" pitchFamily="34" charset="0"/>
              </a:rPr>
              <a:t>ode </a:t>
            </a:r>
            <a:r>
              <a:rPr lang="fr-FR" altLang="en-US" sz="2200" dirty="0">
                <a:cs typeface="Arial" panose="020B0604020202020204" pitchFamily="34" charset="0"/>
              </a:rPr>
              <a:t>opératoire </a:t>
            </a:r>
            <a:r>
              <a:rPr lang="fr-FR" altLang="en-US" sz="2200" dirty="0" smtClean="0">
                <a:cs typeface="Arial" panose="020B0604020202020204" pitchFamily="34" charset="0"/>
              </a:rPr>
              <a:t>pour édition des </a:t>
            </a:r>
            <a:r>
              <a:rPr lang="fr-FR" altLang="en-US" sz="2200" dirty="0" err="1" smtClean="0">
                <a:cs typeface="Arial" panose="020B0604020202020204" pitchFamily="34" charset="0"/>
              </a:rPr>
              <a:t>reportings</a:t>
            </a:r>
            <a:r>
              <a:rPr lang="fr-FR" altLang="en-US" sz="2200" dirty="0" smtClean="0">
                <a:cs typeface="Arial" panose="020B0604020202020204" pitchFamily="34" charset="0"/>
              </a:rPr>
              <a:t> des immobilisations : Amortissement des immobilisations en service (simulation d’amortissement) 1/2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Lancer la transaction : S_ALR_87012936					Renseigner les données suivantes :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Société </a:t>
            </a:r>
          </a:p>
          <a:p>
            <a:r>
              <a:rPr lang="fr-FR" dirty="0">
                <a:cs typeface="Arial" panose="020B0604020202020204" pitchFamily="34" charset="0"/>
              </a:rPr>
              <a:t>	</a:t>
            </a:r>
            <a:r>
              <a:rPr lang="fr-FR" dirty="0" smtClean="0">
                <a:cs typeface="Arial" panose="020B0604020202020204" pitchFamily="34" charset="0"/>
              </a:rPr>
              <a:t>										Numéro d’</a:t>
            </a:r>
            <a:r>
              <a:rPr lang="fr-FR" dirty="0" err="1" smtClean="0">
                <a:cs typeface="Arial" panose="020B0604020202020204" pitchFamily="34" charset="0"/>
              </a:rPr>
              <a:t>immo</a:t>
            </a:r>
            <a:r>
              <a:rPr lang="fr-FR" dirty="0" smtClean="0">
                <a:cs typeface="Arial" panose="020B0604020202020204" pitchFamily="34" charset="0"/>
              </a:rPr>
              <a:t> si une </a:t>
            </a:r>
            <a:r>
              <a:rPr lang="fr-FR" dirty="0" err="1" smtClean="0">
                <a:cs typeface="Arial" panose="020B0604020202020204" pitchFamily="34" charset="0"/>
              </a:rPr>
              <a:t>immo</a:t>
            </a:r>
            <a:r>
              <a:rPr lang="fr-FR" dirty="0" smtClean="0">
                <a:cs typeface="Arial" panose="020B0604020202020204" pitchFamily="34" charset="0"/>
              </a:rPr>
              <a:t>. en particulier sinon blanc</a:t>
            </a:r>
          </a:p>
          <a:p>
            <a:r>
              <a:rPr lang="fr-FR" dirty="0">
                <a:cs typeface="Arial" panose="020B0604020202020204" pitchFamily="34" charset="0"/>
              </a:rPr>
              <a:t>	</a:t>
            </a:r>
            <a:r>
              <a:rPr lang="fr-FR" dirty="0" smtClean="0">
                <a:cs typeface="Arial" panose="020B0604020202020204" pitchFamily="34" charset="0"/>
              </a:rPr>
              <a:t>										Catégorie d’</a:t>
            </a:r>
            <a:r>
              <a:rPr lang="fr-FR" dirty="0" err="1" smtClean="0">
                <a:cs typeface="Arial" panose="020B0604020202020204" pitchFamily="34" charset="0"/>
              </a:rPr>
              <a:t>immo</a:t>
            </a:r>
            <a:r>
              <a:rPr lang="fr-FR" dirty="0" smtClean="0">
                <a:cs typeface="Arial" panose="020B0604020202020204" pitchFamily="34" charset="0"/>
              </a:rPr>
              <a:t>. en particulier sinon blanc</a:t>
            </a:r>
          </a:p>
          <a:p>
            <a:r>
              <a:rPr lang="fr-FR" dirty="0">
                <a:cs typeface="Arial" panose="020B0604020202020204" pitchFamily="34" charset="0"/>
              </a:rPr>
              <a:t>	</a:t>
            </a:r>
            <a:r>
              <a:rPr lang="fr-FR" dirty="0" smtClean="0">
                <a:cs typeface="Arial" panose="020B0604020202020204" pitchFamily="34" charset="0"/>
              </a:rPr>
              <a:t>										Date d’analyse</a:t>
            </a:r>
          </a:p>
          <a:p>
            <a:r>
              <a:rPr lang="fr-FR" dirty="0">
                <a:cs typeface="Arial" panose="020B0604020202020204" pitchFamily="34" charset="0"/>
              </a:rPr>
              <a:t>	</a:t>
            </a:r>
            <a:r>
              <a:rPr lang="fr-FR" dirty="0" smtClean="0">
                <a:cs typeface="Arial" panose="020B0604020202020204" pitchFamily="34" charset="0"/>
              </a:rPr>
              <a:t>										Tableau d’évaluation</a:t>
            </a:r>
          </a:p>
          <a:p>
            <a:r>
              <a:rPr lang="fr-FR" dirty="0">
                <a:cs typeface="Arial" panose="020B0604020202020204" pitchFamily="34" charset="0"/>
              </a:rPr>
              <a:t>	</a:t>
            </a:r>
            <a:r>
              <a:rPr lang="fr-FR" dirty="0" smtClean="0">
                <a:cs typeface="Arial" panose="020B0604020202020204" pitchFamily="34" charset="0"/>
              </a:rPr>
              <a:t>										Une mise en forme apparait par défaut</a:t>
            </a:r>
          </a:p>
          <a:p>
            <a:r>
              <a:rPr lang="fr-FR" dirty="0">
                <a:cs typeface="Arial" panose="020B0604020202020204" pitchFamily="34" charset="0"/>
              </a:rPr>
              <a:t>	</a:t>
            </a:r>
            <a:r>
              <a:rPr lang="fr-FR" dirty="0" smtClean="0">
                <a:cs typeface="Arial" panose="020B0604020202020204" pitchFamily="34" charset="0"/>
              </a:rPr>
              <a:t>										Exécuter 	</a:t>
            </a:r>
            <a:endParaRPr lang="fr-FR" dirty="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15</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601099" y="1402597"/>
            <a:ext cx="3866686" cy="3079399"/>
          </a:xfrm>
          <a:prstGeom prst="rect">
            <a:avLst/>
          </a:prstGeom>
        </p:spPr>
      </p:pic>
      <p:pic>
        <p:nvPicPr>
          <p:cNvPr id="4" name="Image 3"/>
          <p:cNvPicPr>
            <a:picLocks noChangeAspect="1"/>
          </p:cNvPicPr>
          <p:nvPr/>
        </p:nvPicPr>
        <p:blipFill>
          <a:blip r:embed="rId3"/>
          <a:stretch>
            <a:fillRect/>
          </a:stretch>
        </p:blipFill>
        <p:spPr>
          <a:xfrm>
            <a:off x="4541401" y="1462003"/>
            <a:ext cx="310923" cy="359695"/>
          </a:xfrm>
          <a:prstGeom prst="rect">
            <a:avLst/>
          </a:prstGeom>
        </p:spPr>
      </p:pic>
      <p:pic>
        <p:nvPicPr>
          <p:cNvPr id="5" name="Image 4"/>
          <p:cNvPicPr>
            <a:picLocks noChangeAspect="1"/>
          </p:cNvPicPr>
          <p:nvPr/>
        </p:nvPicPr>
        <p:blipFill>
          <a:blip r:embed="rId4"/>
          <a:stretch>
            <a:fillRect/>
          </a:stretch>
        </p:blipFill>
        <p:spPr>
          <a:xfrm>
            <a:off x="4571999" y="1821698"/>
            <a:ext cx="310923" cy="353599"/>
          </a:xfrm>
          <a:prstGeom prst="rect">
            <a:avLst/>
          </a:prstGeom>
        </p:spPr>
      </p:pic>
      <p:pic>
        <p:nvPicPr>
          <p:cNvPr id="6" name="Image 5"/>
          <p:cNvPicPr>
            <a:picLocks noChangeAspect="1"/>
          </p:cNvPicPr>
          <p:nvPr/>
        </p:nvPicPr>
        <p:blipFill>
          <a:blip r:embed="rId5"/>
          <a:stretch>
            <a:fillRect/>
          </a:stretch>
        </p:blipFill>
        <p:spPr>
          <a:xfrm>
            <a:off x="4585280" y="2181589"/>
            <a:ext cx="305391" cy="347307"/>
          </a:xfrm>
          <a:prstGeom prst="rect">
            <a:avLst/>
          </a:prstGeom>
        </p:spPr>
      </p:pic>
      <p:pic>
        <p:nvPicPr>
          <p:cNvPr id="7" name="Image 6"/>
          <p:cNvPicPr>
            <a:picLocks noChangeAspect="1"/>
          </p:cNvPicPr>
          <p:nvPr/>
        </p:nvPicPr>
        <p:blipFill>
          <a:blip r:embed="rId6"/>
          <a:stretch>
            <a:fillRect/>
          </a:stretch>
        </p:blipFill>
        <p:spPr>
          <a:xfrm>
            <a:off x="4587497" y="2499082"/>
            <a:ext cx="310923" cy="353599"/>
          </a:xfrm>
          <a:prstGeom prst="rect">
            <a:avLst/>
          </a:prstGeom>
        </p:spPr>
      </p:pic>
      <p:pic>
        <p:nvPicPr>
          <p:cNvPr id="8" name="Image 7"/>
          <p:cNvPicPr>
            <a:picLocks noChangeAspect="1"/>
          </p:cNvPicPr>
          <p:nvPr/>
        </p:nvPicPr>
        <p:blipFill>
          <a:blip r:embed="rId7"/>
          <a:stretch>
            <a:fillRect/>
          </a:stretch>
        </p:blipFill>
        <p:spPr>
          <a:xfrm>
            <a:off x="4587497" y="2852681"/>
            <a:ext cx="310923" cy="359695"/>
          </a:xfrm>
          <a:prstGeom prst="rect">
            <a:avLst/>
          </a:prstGeom>
        </p:spPr>
      </p:pic>
      <p:pic>
        <p:nvPicPr>
          <p:cNvPr id="9" name="Image 8"/>
          <p:cNvPicPr>
            <a:picLocks noChangeAspect="1"/>
          </p:cNvPicPr>
          <p:nvPr/>
        </p:nvPicPr>
        <p:blipFill>
          <a:blip r:embed="rId8"/>
          <a:stretch>
            <a:fillRect/>
          </a:stretch>
        </p:blipFill>
        <p:spPr>
          <a:xfrm>
            <a:off x="4579747" y="3212376"/>
            <a:ext cx="310923" cy="359695"/>
          </a:xfrm>
          <a:prstGeom prst="rect">
            <a:avLst/>
          </a:prstGeom>
        </p:spPr>
      </p:pic>
      <p:pic>
        <p:nvPicPr>
          <p:cNvPr id="10" name="Image 9"/>
          <p:cNvPicPr>
            <a:picLocks noChangeAspect="1"/>
          </p:cNvPicPr>
          <p:nvPr/>
        </p:nvPicPr>
        <p:blipFill>
          <a:blip r:embed="rId9"/>
          <a:stretch>
            <a:fillRect/>
          </a:stretch>
        </p:blipFill>
        <p:spPr>
          <a:xfrm>
            <a:off x="4587497" y="3560940"/>
            <a:ext cx="310923" cy="359695"/>
          </a:xfrm>
          <a:prstGeom prst="rect">
            <a:avLst/>
          </a:prstGeom>
        </p:spPr>
      </p:pic>
      <p:pic>
        <p:nvPicPr>
          <p:cNvPr id="11" name="Image 10"/>
          <p:cNvPicPr>
            <a:picLocks noChangeAspect="1"/>
          </p:cNvPicPr>
          <p:nvPr/>
        </p:nvPicPr>
        <p:blipFill>
          <a:blip r:embed="rId10"/>
          <a:stretch>
            <a:fillRect/>
          </a:stretch>
        </p:blipFill>
        <p:spPr>
          <a:xfrm>
            <a:off x="717728" y="1798470"/>
            <a:ext cx="163203" cy="169031"/>
          </a:xfrm>
          <a:prstGeom prst="rect">
            <a:avLst/>
          </a:prstGeom>
        </p:spPr>
      </p:pic>
      <p:pic>
        <p:nvPicPr>
          <p:cNvPr id="12" name="Image 11"/>
          <p:cNvPicPr>
            <a:picLocks noChangeAspect="1"/>
          </p:cNvPicPr>
          <p:nvPr/>
        </p:nvPicPr>
        <p:blipFill>
          <a:blip r:embed="rId11"/>
          <a:stretch>
            <a:fillRect/>
          </a:stretch>
        </p:blipFill>
        <p:spPr>
          <a:xfrm>
            <a:off x="786983" y="1607806"/>
            <a:ext cx="310923" cy="359695"/>
          </a:xfrm>
          <a:prstGeom prst="rect">
            <a:avLst/>
          </a:prstGeom>
        </p:spPr>
      </p:pic>
      <p:pic>
        <p:nvPicPr>
          <p:cNvPr id="13" name="Image 12"/>
          <p:cNvPicPr>
            <a:picLocks noChangeAspect="1"/>
          </p:cNvPicPr>
          <p:nvPr/>
        </p:nvPicPr>
        <p:blipFill>
          <a:blip r:embed="rId12"/>
          <a:stretch>
            <a:fillRect/>
          </a:stretch>
        </p:blipFill>
        <p:spPr>
          <a:xfrm>
            <a:off x="2351459" y="1821894"/>
            <a:ext cx="310923" cy="359695"/>
          </a:xfrm>
          <a:prstGeom prst="rect">
            <a:avLst/>
          </a:prstGeom>
        </p:spPr>
      </p:pic>
      <p:pic>
        <p:nvPicPr>
          <p:cNvPr id="14" name="Image 13"/>
          <p:cNvPicPr>
            <a:picLocks noChangeAspect="1"/>
          </p:cNvPicPr>
          <p:nvPr/>
        </p:nvPicPr>
        <p:blipFill>
          <a:blip r:embed="rId13"/>
          <a:stretch>
            <a:fillRect/>
          </a:stretch>
        </p:blipFill>
        <p:spPr>
          <a:xfrm>
            <a:off x="3915935" y="2041351"/>
            <a:ext cx="310923" cy="353599"/>
          </a:xfrm>
          <a:prstGeom prst="rect">
            <a:avLst/>
          </a:prstGeom>
        </p:spPr>
      </p:pic>
      <p:pic>
        <p:nvPicPr>
          <p:cNvPr id="15" name="Image 14"/>
          <p:cNvPicPr>
            <a:picLocks noChangeAspect="1"/>
          </p:cNvPicPr>
          <p:nvPr/>
        </p:nvPicPr>
        <p:blipFill>
          <a:blip r:embed="rId14"/>
          <a:stretch>
            <a:fillRect/>
          </a:stretch>
        </p:blipFill>
        <p:spPr>
          <a:xfrm>
            <a:off x="3702529" y="2398195"/>
            <a:ext cx="304826" cy="347502"/>
          </a:xfrm>
          <a:prstGeom prst="rect">
            <a:avLst/>
          </a:prstGeom>
        </p:spPr>
      </p:pic>
      <p:pic>
        <p:nvPicPr>
          <p:cNvPr id="16" name="Image 15"/>
          <p:cNvPicPr>
            <a:picLocks noChangeAspect="1"/>
          </p:cNvPicPr>
          <p:nvPr/>
        </p:nvPicPr>
        <p:blipFill>
          <a:blip r:embed="rId15"/>
          <a:stretch>
            <a:fillRect/>
          </a:stretch>
        </p:blipFill>
        <p:spPr>
          <a:xfrm>
            <a:off x="2667913" y="3032528"/>
            <a:ext cx="310923" cy="353599"/>
          </a:xfrm>
          <a:prstGeom prst="rect">
            <a:avLst/>
          </a:prstGeom>
        </p:spPr>
      </p:pic>
      <p:pic>
        <p:nvPicPr>
          <p:cNvPr id="17" name="Image 16"/>
          <p:cNvPicPr>
            <a:picLocks noChangeAspect="1"/>
          </p:cNvPicPr>
          <p:nvPr/>
        </p:nvPicPr>
        <p:blipFill>
          <a:blip r:embed="rId16"/>
          <a:stretch>
            <a:fillRect/>
          </a:stretch>
        </p:blipFill>
        <p:spPr>
          <a:xfrm>
            <a:off x="2297134" y="3193380"/>
            <a:ext cx="310923" cy="359695"/>
          </a:xfrm>
          <a:prstGeom prst="rect">
            <a:avLst/>
          </a:prstGeom>
        </p:spPr>
      </p:pic>
      <p:pic>
        <p:nvPicPr>
          <p:cNvPr id="18" name="Image 17"/>
          <p:cNvPicPr>
            <a:picLocks noChangeAspect="1"/>
          </p:cNvPicPr>
          <p:nvPr/>
        </p:nvPicPr>
        <p:blipFill>
          <a:blip r:embed="rId17"/>
          <a:stretch>
            <a:fillRect/>
          </a:stretch>
        </p:blipFill>
        <p:spPr>
          <a:xfrm>
            <a:off x="2758220" y="3636199"/>
            <a:ext cx="310923" cy="359695"/>
          </a:xfrm>
          <a:prstGeom prst="rect">
            <a:avLst/>
          </a:prstGeom>
        </p:spPr>
      </p:pic>
    </p:spTree>
    <p:extLst>
      <p:ext uri="{BB962C8B-B14F-4D97-AF65-F5344CB8AC3E}">
        <p14:creationId xmlns:p14="http://schemas.microsoft.com/office/powerpoint/2010/main" val="639204562"/>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200" dirty="0">
                <a:cs typeface="Arial" panose="020B0604020202020204" pitchFamily="34" charset="0"/>
              </a:rPr>
              <a:t>M</a:t>
            </a:r>
            <a:r>
              <a:rPr lang="fr-FR" altLang="en-US" sz="2200" dirty="0" smtClean="0">
                <a:cs typeface="Arial" panose="020B0604020202020204" pitchFamily="34" charset="0"/>
              </a:rPr>
              <a:t>ode </a:t>
            </a:r>
            <a:r>
              <a:rPr lang="fr-FR" altLang="en-US" sz="2200" dirty="0">
                <a:cs typeface="Arial" panose="020B0604020202020204" pitchFamily="34" charset="0"/>
              </a:rPr>
              <a:t>opératoire </a:t>
            </a:r>
            <a:r>
              <a:rPr lang="fr-FR" altLang="en-US" sz="2200" dirty="0" smtClean="0">
                <a:cs typeface="Arial" panose="020B0604020202020204" pitchFamily="34" charset="0"/>
              </a:rPr>
              <a:t>pour édition des </a:t>
            </a:r>
            <a:r>
              <a:rPr lang="fr-FR" altLang="en-US" sz="2200" dirty="0" err="1" smtClean="0">
                <a:cs typeface="Arial" panose="020B0604020202020204" pitchFamily="34" charset="0"/>
              </a:rPr>
              <a:t>reportings</a:t>
            </a:r>
            <a:r>
              <a:rPr lang="fr-FR" altLang="en-US" sz="2200" dirty="0" smtClean="0">
                <a:cs typeface="Arial" panose="020B0604020202020204" pitchFamily="34" charset="0"/>
              </a:rPr>
              <a:t> des immobilisations : Amortissement des immobilisations en service (simulation d’amortissement) 2/2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16</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457200" y="1152524"/>
            <a:ext cx="7392692" cy="3329471"/>
          </a:xfrm>
          <a:prstGeom prst="rect">
            <a:avLst/>
          </a:prstGeom>
        </p:spPr>
      </p:pic>
    </p:spTree>
    <p:extLst>
      <p:ext uri="{BB962C8B-B14F-4D97-AF65-F5344CB8AC3E}">
        <p14:creationId xmlns:p14="http://schemas.microsoft.com/office/powerpoint/2010/main" val="2580662640"/>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5" y="1058111"/>
            <a:ext cx="3063507" cy="756458"/>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Lancer différents </a:t>
            </a:r>
            <a:r>
              <a:rPr lang="fr-FR" sz="1350" dirty="0" err="1" smtClean="0">
                <a:solidFill>
                  <a:srgbClr val="4F81BD"/>
                </a:solidFill>
                <a:latin typeface="Arial Narrow" pitchFamily="34" charset="0"/>
                <a:ea typeface="ＭＳ Ｐゴシック"/>
                <a:cs typeface="ＭＳ Ｐゴシック"/>
              </a:rPr>
              <a:t>reportings</a:t>
            </a:r>
            <a:r>
              <a:rPr lang="fr-FR" sz="1350" dirty="0" smtClean="0">
                <a:solidFill>
                  <a:srgbClr val="4F81BD"/>
                </a:solidFill>
                <a:latin typeface="Arial Narrow" pitchFamily="34" charset="0"/>
                <a:ea typeface="ＭＳ Ｐゴシック"/>
                <a:cs typeface="ＭＳ Ｐゴシック"/>
              </a:rPr>
              <a:t> et se familiariser vous avec leurs présentations</a:t>
            </a:r>
          </a:p>
          <a:p>
            <a:pPr marL="135731" indent="-135731">
              <a:lnSpc>
                <a:spcPct val="110000"/>
              </a:lnSpc>
              <a:buFont typeface="Wingdings" pitchFamily="2" charset="2"/>
              <a:buChar char="§"/>
              <a:defRPr/>
            </a:pPr>
            <a:endParaRPr lang="fr-FR" sz="1350" dirty="0">
              <a:solidFill>
                <a:srgbClr val="4F81BD"/>
              </a:solidFill>
              <a:latin typeface="Arial Narrow" pitchFamily="34" charset="0"/>
              <a:ea typeface="ＭＳ Ｐゴシック"/>
              <a:cs typeface="ＭＳ Ｐゴシック"/>
            </a:endParaRP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54869185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18</a:t>
            </a:fld>
            <a:endParaRPr lang="fr-FR" altLang="en-US" sz="750"/>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ea typeface="ＭＳ Ｐゴシック" panose="020B0600070205080204" pitchFamily="34" charset="-128"/>
                <a:cs typeface="Arial" panose="020B0604020202020204" pitchFamily="34" charset="0"/>
              </a:rPr>
              <a:t>Synthèse</a:t>
            </a:r>
            <a:endParaRPr lang="en-US" altLang="en-US" sz="2400" dirty="0" smtClean="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endParaRPr lang="fr-FR" altLang="en-US" sz="1400" dirty="0">
              <a:ea typeface="ＭＳ Ｐゴシック" panose="020B0600070205080204" pitchFamily="34" charset="-128"/>
              <a:cs typeface="Arial" panose="020B0604020202020204" pitchFamily="34" charset="0"/>
            </a:endParaRPr>
          </a:p>
          <a:p>
            <a:pPr marL="171450" indent="-171450">
              <a:buClr>
                <a:srgbClr val="0070C0"/>
              </a:buClr>
              <a:buSzPct val="100000"/>
              <a:buFont typeface="Arial" panose="020B0604020202020204" pitchFamily="34" charset="0"/>
              <a:buChar char="•"/>
            </a:pPr>
            <a:r>
              <a:rPr lang="fr-FR" altLang="en-US" dirty="0" smtClean="0">
                <a:ea typeface="ＭＳ Ｐゴシック" panose="020B0600070205080204" pitchFamily="34" charset="-128"/>
                <a:cs typeface="Arial" panose="020B0604020202020204" pitchFamily="34" charset="0"/>
              </a:rPr>
              <a:t>Les reports sont de très bons moyens de suivi et reflètent l’état des immobilisations dans le système. Pensez à les utiliser le plus souvent possible. </a:t>
            </a:r>
          </a:p>
          <a:p>
            <a:pPr>
              <a:buClr>
                <a:srgbClr val="0070C0"/>
              </a:buClr>
              <a:buSzPct val="100000"/>
            </a:pPr>
            <a:endParaRPr lang="fr-FR" altLang="en-US" sz="1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4" name="Espace réservé du numéro de diapositive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36DFBA8F-B79A-4011-8444-03085D4A6CB3}" type="slidenum">
              <a:rPr lang="fr-FR" altLang="en-US" sz="750"/>
              <a:pPr eaLnBrk="1" hangingPunct="1"/>
              <a:t>19</a:t>
            </a:fld>
            <a:endParaRPr lang="fr-FR" altLang="en-US" sz="750"/>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VHEKTECQ7ECW-1532981086-4842</_dlc_DocId>
    <_dlc_DocIdUrl xmlns="f36dd47d-0b23-43fd-9b2d-c5346ffa1660">
      <Url>http://projets.cbg-guinee.com/erp/_layouts/15/DocIdRedir.aspx?ID=VHEKTECQ7ECW-1532981086-4842</Url>
      <Description>VHEKTECQ7ECW-1532981086-4842</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C1D6AA3-7BE3-479A-8259-94B8D9B67A0D}"/>
</file>

<file path=customXml/itemProps2.xml><?xml version="1.0" encoding="utf-8"?>
<ds:datastoreItem xmlns:ds="http://schemas.openxmlformats.org/officeDocument/2006/customXml" ds:itemID="{6B08D313-DD74-49B0-B6A4-96BD802D9198}"/>
</file>

<file path=customXml/itemProps3.xml><?xml version="1.0" encoding="utf-8"?>
<ds:datastoreItem xmlns:ds="http://schemas.openxmlformats.org/officeDocument/2006/customXml" ds:itemID="{DFE7DD0B-0BE8-4E24-A363-4DD0A01C5DCF}"/>
</file>

<file path=customXml/itemProps4.xml><?xml version="1.0" encoding="utf-8"?>
<ds:datastoreItem xmlns:ds="http://schemas.openxmlformats.org/officeDocument/2006/customXml" ds:itemID="{53072F4B-F6B2-44C0-99C7-A2408F2EA514}"/>
</file>

<file path=docProps/app.xml><?xml version="1.0" encoding="utf-8"?>
<Properties xmlns="http://schemas.openxmlformats.org/officeDocument/2006/extended-properties" xmlns:vt="http://schemas.openxmlformats.org/officeDocument/2006/docPropsVTypes">
  <Template/>
  <TotalTime>0</TotalTime>
  <Words>491</Words>
  <Application>Microsoft Office PowerPoint</Application>
  <PresentationFormat>Affichage à l'écran (16:9)</PresentationFormat>
  <Paragraphs>207</Paragraphs>
  <Slides>20</Slides>
  <Notes>7</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20</vt:i4>
      </vt:variant>
    </vt:vector>
  </HeadingPairs>
  <TitlesOfParts>
    <vt:vector size="28" baseType="lpstr">
      <vt:lpstr>ＭＳ Ｐゴシック</vt:lpstr>
      <vt:lpstr>Arial</vt:lpstr>
      <vt:lpstr>Arial Narrow</vt:lpstr>
      <vt:lpstr>Calibri</vt:lpstr>
      <vt:lpstr>Courier New</vt:lpstr>
      <vt:lpstr>Verdana</vt:lpstr>
      <vt:lpstr>Wingdings</vt:lpstr>
      <vt:lpstr>TemplateBE_FR</vt:lpstr>
      <vt:lpstr>Kamsar, le 09.02.2016</vt:lpstr>
      <vt:lpstr>Présentation PowerPoint</vt:lpstr>
      <vt:lpstr>Objectifs de la formation</vt:lpstr>
      <vt:lpstr>Agenda : 2h00</vt:lpstr>
      <vt:lpstr>Présentation PowerPoint</vt:lpstr>
      <vt:lpstr>Reporting des immobilisations   </vt:lpstr>
      <vt:lpstr>Présentation PowerPoint</vt:lpstr>
      <vt:lpstr>Mode opératoire Présentation du mode opératoire dans SAP</vt:lpstr>
      <vt:lpstr>Mode opératoire pour édition des reportings des immobilisations : Grille d’évaluation des immobilisations 1/2    </vt:lpstr>
      <vt:lpstr>Mode opératoire pour édition des reportings des immobilisations : Grille d’évaluation des immobilisations 2/2 </vt:lpstr>
      <vt:lpstr>Mode opératoire pour édition des reportings des immobilisations : Liste d’inventaire par centres de coût 1/2  </vt:lpstr>
      <vt:lpstr>Mode opératoire pour édition des reportings des immobilisations : Liste d’inventaire par centres de coût 2/2   </vt:lpstr>
      <vt:lpstr>Mode opératoire pour édition des reportings des immobilisations : Liste d’inventaire par catégorie d’immobilisation 1/2   </vt:lpstr>
      <vt:lpstr>Mode opératoire pour édition des reportings des immobilisations : Liste d’inventaire par catégorie d’immobilisation 2/2   </vt:lpstr>
      <vt:lpstr>Mode opératoire pour édition des reportings des immobilisations : Amortissement des immobilisations en service (simulation d’amortissement) 1/2    </vt:lpstr>
      <vt:lpstr>Mode opératoire pour édition des reportings des immobilisations : Amortissement des immobilisations en service (simulation d’amortissement) 2/2    </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Ogoundele, Jean Yves (CE)</cp:lastModifiedBy>
  <cp:revision>3922</cp:revision>
  <cp:lastPrinted>2015-04-23T03:57:16Z</cp:lastPrinted>
  <dcterms:created xsi:type="dcterms:W3CDTF">2012-05-17T14:14:37Z</dcterms:created>
  <dcterms:modified xsi:type="dcterms:W3CDTF">2016-01-22T18:01:11Z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43819224-027a-4a00-ae34-305352bcbaaa</vt:lpwstr>
  </property>
</Properties>
</file>