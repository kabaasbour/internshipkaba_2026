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44.xml" ContentType="application/vnd.openxmlformats-officedocument.presentationml.slide+xml"/>
  <Override PartName="/ppt/slides/slide45.xml" ContentType="application/vnd.openxmlformats-officedocument.presentationml.slide+xml"/>
  <Override PartName="/ppt/presentation.xml" ContentType="application/vnd.openxmlformats-officedocument.presentationml.presentation.main+xml"/>
  <Override PartName="/ppt/slides/slide43.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2.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notesSlides/notesSlide7.xml" ContentType="application/vnd.openxmlformats-officedocument.presentationml.notesSlide+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Slides/notesSlide6.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4.xml" ContentType="application/vnd.openxmlformats-officedocument.presentationml.notesSlide+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3.xml" ContentType="application/vnd.openxmlformats-officedocument.customXml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50"/>
  </p:notesMasterIdLst>
  <p:handoutMasterIdLst>
    <p:handoutMasterId r:id="rId51"/>
  </p:handoutMasterIdLst>
  <p:sldIdLst>
    <p:sldId id="685" r:id="rId5"/>
    <p:sldId id="686" r:id="rId6"/>
    <p:sldId id="687" r:id="rId7"/>
    <p:sldId id="688" r:id="rId8"/>
    <p:sldId id="723" r:id="rId9"/>
    <p:sldId id="691" r:id="rId10"/>
    <p:sldId id="800" r:id="rId11"/>
    <p:sldId id="801" r:id="rId12"/>
    <p:sldId id="802" r:id="rId13"/>
    <p:sldId id="803" r:id="rId14"/>
    <p:sldId id="804" r:id="rId15"/>
    <p:sldId id="805" r:id="rId16"/>
    <p:sldId id="806" r:id="rId17"/>
    <p:sldId id="807" r:id="rId18"/>
    <p:sldId id="808" r:id="rId19"/>
    <p:sldId id="809" r:id="rId20"/>
    <p:sldId id="810" r:id="rId21"/>
    <p:sldId id="811" r:id="rId22"/>
    <p:sldId id="812" r:id="rId23"/>
    <p:sldId id="813" r:id="rId24"/>
    <p:sldId id="814" r:id="rId25"/>
    <p:sldId id="815" r:id="rId26"/>
    <p:sldId id="724" r:id="rId27"/>
    <p:sldId id="765" r:id="rId28"/>
    <p:sldId id="818" r:id="rId29"/>
    <p:sldId id="819" r:id="rId30"/>
    <p:sldId id="820" r:id="rId31"/>
    <p:sldId id="821" r:id="rId32"/>
    <p:sldId id="822" r:id="rId33"/>
    <p:sldId id="826" r:id="rId34"/>
    <p:sldId id="827" r:id="rId35"/>
    <p:sldId id="828" r:id="rId36"/>
    <p:sldId id="823" r:id="rId37"/>
    <p:sldId id="833" r:id="rId38"/>
    <p:sldId id="834" r:id="rId39"/>
    <p:sldId id="832" r:id="rId40"/>
    <p:sldId id="831" r:id="rId41"/>
    <p:sldId id="829" r:id="rId42"/>
    <p:sldId id="824" r:id="rId43"/>
    <p:sldId id="825" r:id="rId44"/>
    <p:sldId id="817" r:id="rId45"/>
    <p:sldId id="699" r:id="rId46"/>
    <p:sldId id="725" r:id="rId47"/>
    <p:sldId id="710" r:id="rId48"/>
    <p:sldId id="728" r:id="rId49"/>
  </p:sldIdLst>
  <p:sldSz cx="9144000" cy="5143500" type="screen16x9"/>
  <p:notesSz cx="7086600" cy="9372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52" userDrawn="1">
          <p15:clr>
            <a:srgbClr val="A4A3A4"/>
          </p15:clr>
        </p15:guide>
        <p15:guide id="2" pos="2214" userDrawn="1">
          <p15:clr>
            <a:srgbClr val="A4A3A4"/>
          </p15:clr>
        </p15:guide>
        <p15:guide id="3" pos="22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9BD3"/>
    <a:srgbClr val="D3D5FF"/>
    <a:srgbClr val="A7ABFF"/>
    <a:srgbClr val="C5C8FF"/>
    <a:srgbClr val="004376"/>
    <a:srgbClr val="4F81BD"/>
    <a:srgbClr val="F3F4FF"/>
    <a:srgbClr val="E7E8FF"/>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32" autoAdjust="0"/>
    <p:restoredTop sz="95565" autoAdjust="0"/>
  </p:normalViewPr>
  <p:slideViewPr>
    <p:cSldViewPr snapToGrid="0" snapToObjects="1">
      <p:cViewPr varScale="1">
        <p:scale>
          <a:sx n="123" d="100"/>
          <a:sy n="123" d="100"/>
        </p:scale>
        <p:origin x="360" y="108"/>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52"/>
        <p:guide pos="2214"/>
        <p:guide pos="2233"/>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customXml" Target="../customXml/item4.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4014102" y="2"/>
            <a:ext cx="3070860" cy="468630"/>
          </a:xfrm>
          <a:prstGeom prst="rect">
            <a:avLst/>
          </a:prstGeom>
        </p:spPr>
        <p:txBody>
          <a:bodyPr vert="horz" lIns="91427" tIns="45714" rIns="91427" bIns="45714" rtlCol="0"/>
          <a:lstStyle>
            <a:lvl1pPr algn="r">
              <a:defRPr sz="1200"/>
            </a:lvl1pPr>
          </a:lstStyle>
          <a:p>
            <a:fld id="{4FCF4903-D1A4-F14A-B207-A0D2CC9D4B8B}" type="datetimeFigureOut">
              <a:rPr lang="en-US" smtClean="0"/>
              <a:t>12/15/2015</a:t>
            </a:fld>
            <a:endParaRPr lang="en-US" dirty="0"/>
          </a:p>
        </p:txBody>
      </p:sp>
      <p:sp>
        <p:nvSpPr>
          <p:cNvPr id="4" name="Footer Placeholder 3"/>
          <p:cNvSpPr>
            <a:spLocks noGrp="1"/>
          </p:cNvSpPr>
          <p:nvPr>
            <p:ph type="ftr" sz="quarter" idx="2"/>
          </p:nvPr>
        </p:nvSpPr>
        <p:spPr>
          <a:xfrm>
            <a:off x="1" y="8902345"/>
            <a:ext cx="3070860" cy="468630"/>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14102" y="8902345"/>
            <a:ext cx="3070860" cy="468630"/>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4014102" y="2"/>
            <a:ext cx="3070860" cy="468630"/>
          </a:xfrm>
          <a:prstGeom prst="rect">
            <a:avLst/>
          </a:prstGeom>
        </p:spPr>
        <p:txBody>
          <a:bodyPr vert="horz" lIns="91427" tIns="45714" rIns="91427" bIns="45714" rtlCol="0"/>
          <a:lstStyle>
            <a:lvl1pPr algn="r">
              <a:defRPr sz="1200"/>
            </a:lvl1pPr>
          </a:lstStyle>
          <a:p>
            <a:fld id="{BC5B4241-C98F-4766-9E25-5F8403374385}" type="datetimeFigureOut">
              <a:rPr lang="de-DE" smtClean="0"/>
              <a:t>15.12.2015</a:t>
            </a:fld>
            <a:endParaRPr lang="de-DE" dirty="0"/>
          </a:p>
        </p:txBody>
      </p:sp>
      <p:sp>
        <p:nvSpPr>
          <p:cNvPr id="4" name="Folienbildplatzhalter 3"/>
          <p:cNvSpPr>
            <a:spLocks noGrp="1" noRot="1" noChangeAspect="1"/>
          </p:cNvSpPr>
          <p:nvPr>
            <p:ph type="sldImg" idx="2"/>
          </p:nvPr>
        </p:nvSpPr>
        <p:spPr>
          <a:xfrm>
            <a:off x="417513" y="701675"/>
            <a:ext cx="6251575" cy="351631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708661" y="4451985"/>
            <a:ext cx="5669280" cy="4217670"/>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902345"/>
            <a:ext cx="3070860" cy="468630"/>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4014102" y="8902345"/>
            <a:ext cx="3070860" cy="468630"/>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23</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42</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43</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15/12/2015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51.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FINANCE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05.00</a:t>
            </a:r>
            <a:r>
              <a:rPr lang="fr-FR" sz="2000" b="1" dirty="0">
                <a:solidFill>
                  <a:srgbClr val="0070C0"/>
                </a:solidFill>
                <a:latin typeface="Arial" charset="0"/>
                <a:cs typeface="Arial" charset="0"/>
              </a:rPr>
              <a:t/>
            </a:r>
            <a:br>
              <a:rPr lang="fr-FR" sz="2000" b="1" dirty="0">
                <a:solidFill>
                  <a:srgbClr val="0070C0"/>
                </a:solidFill>
                <a:latin typeface="Arial" charset="0"/>
                <a:cs typeface="Arial" charset="0"/>
              </a:rPr>
            </a:br>
            <a:r>
              <a:rPr lang="fr-FR" sz="2000" b="1" dirty="0" smtClean="0">
                <a:solidFill>
                  <a:srgbClr val="0070C0"/>
                </a:solidFill>
                <a:latin typeface="Arial" charset="0"/>
                <a:cs typeface="Arial" charset="0"/>
              </a:rPr>
              <a:t>Comptabilité des immobilisations  </a:t>
            </a:r>
            <a:endParaRPr lang="fr-FR" sz="1800" dirty="0" smtClean="0">
              <a:solidFill>
                <a:srgbClr val="0070C0"/>
              </a:solidFill>
              <a:latin typeface="Arial" charset="0"/>
              <a:cs typeface="Arial" charset="0"/>
            </a:endParaRPr>
          </a:p>
        </p:txBody>
      </p:sp>
      <p:sp>
        <p:nvSpPr>
          <p:cNvPr id="21506" name="Rectangle 2"/>
          <p:cNvSpPr>
            <a:spLocks noGrp="1"/>
          </p:cNvSpPr>
          <p:nvPr>
            <p:ph type="ctrTitle" idx="4294967295"/>
          </p:nvPr>
        </p:nvSpPr>
        <p:spPr>
          <a:xfrm>
            <a:off x="6245817" y="4002921"/>
            <a:ext cx="2772366" cy="708563"/>
          </a:xfrm>
        </p:spPr>
        <p:txBody>
          <a:bodyPr>
            <a:normAutofit/>
          </a:bodyPr>
          <a:lstStyle/>
          <a:p>
            <a:pPr algn="r" defTabSz="457200"/>
            <a:r>
              <a:rPr lang="fr-FR" altLang="en-US" sz="1800" dirty="0" smtClean="0">
                <a:solidFill>
                  <a:schemeClr val="tx1"/>
                </a:solidFill>
                <a:latin typeface="Arial" charset="0"/>
              </a:rPr>
              <a:t>Kamsar, le </a:t>
            </a:r>
            <a:r>
              <a:rPr lang="fr-FR" altLang="en-US" sz="1800" dirty="0" smtClean="0">
                <a:solidFill>
                  <a:schemeClr val="tx1"/>
                </a:solidFill>
                <a:latin typeface="Arial" charset="0"/>
              </a:rPr>
              <a:t>09</a:t>
            </a:r>
            <a:r>
              <a:rPr lang="fr-FR" altLang="en-US" sz="1800" dirty="0" smtClean="0">
                <a:solidFill>
                  <a:schemeClr val="tx1"/>
                </a:solidFill>
                <a:latin typeface="Arial" charset="0"/>
              </a:rPr>
              <a:t>.02.2016</a:t>
            </a:r>
            <a:endParaRPr lang="en-US" altLang="en-US" sz="1800" dirty="0">
              <a:solidFill>
                <a:schemeClr val="tx1"/>
              </a:solidFill>
              <a:latin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 des différents sous-processus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a:t>
            </a:fld>
            <a:endParaRPr lang="fr-FR" altLang="en-US" sz="750"/>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Comprendre la structure organisationnelle des immobilisations</a:t>
            </a:r>
          </a:p>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Savoir gérer les immobilisations depuis leur en cours jusqu’à leur mise en service   </a:t>
            </a:r>
            <a:r>
              <a:rPr lang="fr-FR" sz="900" dirty="0" smtClean="0">
                <a:solidFill>
                  <a:schemeClr val="tx1"/>
                </a:solidFill>
                <a:latin typeface="Arial" pitchFamily="34" charset="0"/>
                <a:cs typeface="Arial" pitchFamily="34" charset="0"/>
              </a:rPr>
              <a:t>  </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gérer les mouvements sur les immobilisations </a:t>
            </a:r>
          </a:p>
          <a:p>
            <a:pPr eaLnBrk="0" hangingPunct="0">
              <a:spcBef>
                <a:spcPts val="225"/>
              </a:spcBef>
              <a:buClr>
                <a:srgbClr val="4F81BD"/>
              </a:buClr>
              <a:defRPr/>
            </a:pPr>
            <a:endParaRPr lang="fr-FR" sz="900" dirty="0">
              <a:solidFill>
                <a:schemeClr val="tx1"/>
              </a:solidFill>
              <a:latin typeface="Arial" pitchFamily="34" charset="0"/>
              <a:cs typeface="Arial" pitchFamily="34" charset="0"/>
            </a:endParaRPr>
          </a:p>
        </p:txBody>
      </p:sp>
      <p:sp>
        <p:nvSpPr>
          <p:cNvPr id="7" name="Rectangle 6"/>
          <p:cNvSpPr/>
          <p:nvPr/>
        </p:nvSpPr>
        <p:spPr>
          <a:xfrm>
            <a:off x="1763272" y="2990505"/>
            <a:ext cx="4589859" cy="123063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Gestion des immobilisations en cours et de leur mise en service</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Structure organisationnelle des immobilisations</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Gestion de la fiche d’immobilisation</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Gestion des mouvements sur les immobilisations</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Gestion de l’amortissement des immobilisations </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Gestion des </a:t>
            </a:r>
            <a:r>
              <a:rPr lang="fr-FR" sz="900" dirty="0" err="1" smtClean="0">
                <a:solidFill>
                  <a:schemeClr val="tx1"/>
                </a:solidFill>
                <a:latin typeface="Arial" pitchFamily="34" charset="0"/>
                <a:cs typeface="Arial" pitchFamily="34" charset="0"/>
              </a:rPr>
              <a:t>reportings</a:t>
            </a:r>
            <a:r>
              <a:rPr lang="fr-FR" sz="900" dirty="0" smtClean="0">
                <a:solidFill>
                  <a:schemeClr val="tx1"/>
                </a:solidFill>
                <a:latin typeface="Arial" pitchFamily="34" charset="0"/>
                <a:cs typeface="Arial" pitchFamily="34" charset="0"/>
              </a:rPr>
              <a:t> des immobilisations  </a:t>
            </a:r>
            <a:endParaRPr lang="fr-FR" sz="900" dirty="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p:txBody>
      </p:sp>
      <p:sp>
        <p:nvSpPr>
          <p:cNvPr id="11" name="Rectangle 10"/>
          <p:cNvSpPr/>
          <p:nvPr/>
        </p:nvSpPr>
        <p:spPr>
          <a:xfrm>
            <a:off x="1763272" y="2628957"/>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a:t>
              </a:r>
              <a:r>
                <a:rPr lang="fr-FR" sz="900" dirty="0" smtClean="0">
                  <a:solidFill>
                    <a:schemeClr val="tx1"/>
                  </a:solidFill>
                  <a:latin typeface="Arial" pitchFamily="34" charset="0"/>
                  <a:cs typeface="Arial" pitchFamily="34" charset="0"/>
                </a:rPr>
                <a:t> Heure</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Comptables immobilisations  </a:t>
              </a:r>
            </a:p>
            <a:p>
              <a:pPr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2h00</a:t>
            </a:r>
            <a:endParaRPr lang="en-US" altLang="en-US"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2937443542"/>
              </p:ext>
            </p:extLst>
          </p:nvPr>
        </p:nvGraphicFramePr>
        <p:xfrm>
          <a:off x="2758033" y="1291506"/>
          <a:ext cx="3627934" cy="1967902"/>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8h20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des</a:t>
                      </a:r>
                      <a:r>
                        <a:rPr lang="fr-FR" sz="900" baseline="0" dirty="0" smtClean="0"/>
                        <a:t> p</a:t>
                      </a:r>
                      <a:r>
                        <a:rPr lang="fr-FR" sz="900" dirty="0" smtClean="0"/>
                        <a:t>rocessus : 15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8h20 – 9h30</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La représentation des</a:t>
                      </a:r>
                      <a:r>
                        <a:rPr lang="fr-FR" sz="900" baseline="0" dirty="0" smtClean="0"/>
                        <a:t> processus</a:t>
                      </a:r>
                      <a:endParaRPr lang="fr-FR" sz="900" dirty="0" smtClean="0"/>
                    </a:p>
                    <a:p>
                      <a:pPr marL="177800" indent="-177800">
                        <a:lnSpc>
                          <a:spcPct val="100000"/>
                        </a:lnSpc>
                        <a:spcBef>
                          <a:spcPts val="0"/>
                        </a:spcBef>
                        <a:spcAft>
                          <a:spcPts val="0"/>
                        </a:spcAft>
                        <a:buFont typeface="Arial" pitchFamily="34" charset="0"/>
                        <a:buChar char="•"/>
                      </a:pPr>
                      <a:r>
                        <a:rPr lang="fr-FR" sz="900" dirty="0" smtClean="0"/>
                        <a:t>Présentation : 20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50 min</a:t>
                      </a:r>
                      <a:endParaRPr lang="fr-FR" sz="900" baseline="0" dirty="0" smtClean="0">
                        <a:solidFill>
                          <a:schemeClr val="bg1"/>
                        </a:solidFill>
                        <a:latin typeface="Arial" pitchFamily="34" charset="0"/>
                        <a:cs typeface="Arial" pitchFamily="34" charset="0"/>
                      </a:endParaRPr>
                    </a:p>
                  </a:txBody>
                  <a:tcPr marL="68566" marR="68566" marT="34292" marB="34292" anchor="ctr">
                    <a:solidFill>
                      <a:srgbClr val="F3F4FF"/>
                    </a:solidFill>
                  </a:tcPr>
                </a:tc>
              </a:tr>
              <a:tr h="611060">
                <a:tc>
                  <a:txBody>
                    <a:bodyPr/>
                    <a:lstStyle/>
                    <a:p>
                      <a:pPr algn="ctr"/>
                      <a:r>
                        <a:rPr lang="fr-FR" sz="900" dirty="0" smtClean="0"/>
                        <a:t>9h30 – 10h00</a:t>
                      </a:r>
                      <a:endParaRPr lang="en-US" sz="900" dirty="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marL="177800" indent="-177800">
                        <a:lnSpc>
                          <a:spcPct val="100000"/>
                        </a:lnSpc>
                        <a:spcBef>
                          <a:spcPts val="0"/>
                        </a:spcBef>
                        <a:spcAft>
                          <a:spcPts val="0"/>
                        </a:spcAft>
                        <a:buFont typeface="Arial" pitchFamily="34" charset="0"/>
                        <a:buNone/>
                      </a:pPr>
                      <a:r>
                        <a:rPr lang="fr-FR" sz="900" baseline="0" dirty="0" smtClean="0"/>
                        <a:t>Question et libre échange </a:t>
                      </a:r>
                    </a:p>
                  </a:txBody>
                  <a:tcPr marL="68566" marR="68566" marT="34292" marB="34292" anchor="ctr">
                    <a:solidFill>
                      <a:srgbClr val="F3F4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a:t>
            </a:r>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des </a:t>
            </a:r>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processus </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5</a:t>
            </a:fld>
            <a:endParaRPr lang="fr-FR" altLang="en-US" sz="750"/>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smtClean="0">
                <a:cs typeface="Arial" panose="020B0604020202020204" pitchFamily="34" charset="0"/>
              </a:rPr>
              <a:t>Description du processus de gestion immobilisations en cours et leur mise en service</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Dès lors qu’un projet est lancé, une immobilisation en cours est créée. Elle est rattachée à l’élément d’OTP de niveau 1.</a:t>
            </a:r>
          </a:p>
          <a:p>
            <a:r>
              <a:rPr lang="fr-FR" dirty="0" smtClean="0">
                <a:cs typeface="Arial" panose="020B0604020202020204" pitchFamily="34" charset="0"/>
              </a:rPr>
              <a:t>Dans SAP, une commande d’achat est créée par le département Achat sur la base de l’offre sélectionnée. Cette commande d’achat indique l’article correspondant à l’équipement ou au service à acheter. Cette commande d’achat doit porter comme imputation analytique l’élément d’OTP lié à l’activité. </a:t>
            </a:r>
          </a:p>
          <a:p>
            <a:r>
              <a:rPr lang="fr-FR" dirty="0" smtClean="0">
                <a:cs typeface="Arial" panose="020B0604020202020204" pitchFamily="34" charset="0"/>
              </a:rPr>
              <a:t>La création de la commande d’achat génère un engagement sur le budget du projet puisqu’il est diminué du montant de l’achat. Cette commande d’achat est ensuite soumise à un processus d’approbation.</a:t>
            </a:r>
          </a:p>
          <a:p>
            <a:r>
              <a:rPr lang="fr-FR" dirty="0" smtClean="0">
                <a:cs typeface="Arial" panose="020B0604020202020204" pitchFamily="34" charset="0"/>
              </a:rPr>
              <a:t>La réception de l’équipement génère automatiquement les écritures comptables suivantes imputées sur l’élément d’OTP renseigné dans la commande d’achat.    </a:t>
            </a:r>
            <a:endParaRPr lang="ru-RU" dirty="0">
              <a:cs typeface="Arial" panose="020B0604020202020204" pitchFamily="34" charset="0"/>
            </a:endParaRPr>
          </a:p>
          <a:p>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6</a:t>
            </a:fld>
            <a:endParaRPr lang="fr-FR" altLang="en-US" sz="750">
              <a:solidFill>
                <a:srgbClr val="000000"/>
              </a:solidFill>
            </a:endParaRPr>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smtClean="0">
                <a:cs typeface="Arial" panose="020B0604020202020204" pitchFamily="34" charset="0"/>
              </a:rPr>
              <a:t>Description de la structure organisationnelle des immobilisations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Quatre éléments composent la structure organisationnelle des immobilisations : </a:t>
            </a:r>
          </a:p>
          <a:p>
            <a:pPr marL="322971" lvl="1" indent="-171450">
              <a:buClr>
                <a:srgbClr val="0070C0"/>
              </a:buClr>
              <a:buSzPct val="100000"/>
            </a:pPr>
            <a:r>
              <a:rPr lang="fr-FR" dirty="0">
                <a:cs typeface="Arial" panose="020B0604020202020204" pitchFamily="34" charset="0"/>
              </a:rPr>
              <a:t> </a:t>
            </a:r>
            <a:r>
              <a:rPr lang="fr-FR" dirty="0"/>
              <a:t>Plan d’évaluation </a:t>
            </a:r>
          </a:p>
          <a:p>
            <a:pPr marL="322971" lvl="1" indent="-171450">
              <a:buClr>
                <a:srgbClr val="0070C0"/>
              </a:buClr>
              <a:buSzPct val="100000"/>
            </a:pPr>
            <a:r>
              <a:rPr lang="fr-FR" dirty="0"/>
              <a:t> Tableaux d’évaluation </a:t>
            </a:r>
          </a:p>
          <a:p>
            <a:pPr marL="322971" lvl="1" indent="-171450">
              <a:buClr>
                <a:srgbClr val="0070C0"/>
              </a:buClr>
              <a:buSzPct val="100000"/>
            </a:pPr>
            <a:r>
              <a:rPr lang="fr-FR" dirty="0"/>
              <a:t> Catégories d’immobilisation</a:t>
            </a:r>
          </a:p>
          <a:p>
            <a:pPr marL="322971" lvl="1" indent="-171450">
              <a:buClr>
                <a:srgbClr val="0070C0"/>
              </a:buClr>
              <a:buSzPct val="100000"/>
            </a:pPr>
            <a:r>
              <a:rPr lang="fr-FR" dirty="0"/>
              <a:t> Clés d’affectation.</a:t>
            </a:r>
          </a:p>
          <a:p>
            <a:r>
              <a:rPr lang="fr-FR" dirty="0">
                <a:cs typeface="Arial" panose="020B0604020202020204" pitchFamily="34" charset="0"/>
              </a:rPr>
              <a:t>	</a:t>
            </a:r>
            <a:endParaRPr lang="ru-RU" dirty="0">
              <a:cs typeface="Arial" panose="020B0604020202020204" pitchFamily="34" charset="0"/>
            </a:endParaRPr>
          </a:p>
          <a:p>
            <a:r>
              <a:rPr lang="fr-CA"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7</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2718649" y="1437792"/>
            <a:ext cx="5800725" cy="2851123"/>
          </a:xfrm>
          <a:prstGeom prst="rect">
            <a:avLst/>
          </a:prstGeom>
        </p:spPr>
      </p:pic>
    </p:spTree>
    <p:extLst>
      <p:ext uri="{BB962C8B-B14F-4D97-AF65-F5344CB8AC3E}">
        <p14:creationId xmlns:p14="http://schemas.microsoft.com/office/powerpoint/2010/main" val="3311226172"/>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smtClean="0">
                <a:cs typeface="Arial" panose="020B0604020202020204" pitchFamily="34" charset="0"/>
              </a:rPr>
              <a:t>Description de la structure organisationnelle des immobilisations 1/2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a:t>Le Plan d’évaluation </a:t>
            </a:r>
            <a:endParaRPr lang="ru-RU" dirty="0"/>
          </a:p>
          <a:p>
            <a:r>
              <a:rPr lang="fr-FR" dirty="0"/>
              <a:t>Le plan d’évaluation est un répertoire de tableaux d’évaluation nécessaires aux différents types d’évaluation. Il pilote l’ensemble des règles d’amortissement et d’évaluation des </a:t>
            </a:r>
            <a:r>
              <a:rPr lang="fr-FR" dirty="0" smtClean="0"/>
              <a:t>immobilisations. Le plan d’Evaluation de la CBG est « CBG »</a:t>
            </a:r>
            <a:endParaRPr lang="ru-RU" dirty="0"/>
          </a:p>
          <a:p>
            <a:r>
              <a:rPr lang="fr-FR" dirty="0"/>
              <a:t>En général, il est nécessaire et recommandé de définir un plan d’évaluation par pays pour permettre de gérer les spécificités légales </a:t>
            </a:r>
            <a:r>
              <a:rPr lang="fr-FR" dirty="0" smtClean="0"/>
              <a:t>locales. Les </a:t>
            </a:r>
            <a:r>
              <a:rPr lang="fr-FR" dirty="0"/>
              <a:t>sociétés héritent de ces spécificités en étant rattachées à un plan d’évaluation unique.</a:t>
            </a:r>
            <a:endParaRPr lang="ru-RU" dirty="0"/>
          </a:p>
          <a:p>
            <a:r>
              <a:rPr lang="fr-FR" dirty="0"/>
              <a:t>Il est possible de rattacher plusieurs sociétés à un même plan d’évaluation dès lors qu'elles utilisent le même plan de compte opérationnel.</a:t>
            </a:r>
            <a:endParaRPr lang="ru-RU" dirty="0"/>
          </a:p>
          <a:p>
            <a:r>
              <a:rPr lang="fr-FR" dirty="0"/>
              <a:t>Le plan d’évaluation est constitué de tableaux d’évaluations.</a:t>
            </a:r>
            <a:endParaRPr lang="ru-RU" dirty="0"/>
          </a:p>
          <a:p>
            <a:r>
              <a:rPr lang="fr-FR" dirty="0"/>
              <a:t>Les tableaux d’évaluation présentent l’évaluation des fiches immobilisations pour des opérations bien déterminées, appelées « motifs d’évaluation » (par exemple, le calcul de l’amortissement comptable, fiscal ou économique, etc..)</a:t>
            </a:r>
            <a:endParaRPr lang="ru-RU" dirty="0"/>
          </a:p>
          <a:p>
            <a:endParaRPr lang="fr-FR" dirty="0" smtClean="0">
              <a:cs typeface="Arial" panose="020B0604020202020204" pitchFamily="34" charset="0"/>
            </a:endParaRPr>
          </a:p>
          <a:p>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8</a:t>
            </a:fld>
            <a:endParaRPr lang="fr-FR" altLang="en-US" sz="750">
              <a:solidFill>
                <a:srgbClr val="000000"/>
              </a:solidFill>
            </a:endParaRPr>
          </a:p>
        </p:txBody>
      </p:sp>
    </p:spTree>
    <p:extLst>
      <p:ext uri="{BB962C8B-B14F-4D97-AF65-F5344CB8AC3E}">
        <p14:creationId xmlns:p14="http://schemas.microsoft.com/office/powerpoint/2010/main" val="2340172163"/>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smtClean="0">
                <a:cs typeface="Arial" panose="020B0604020202020204" pitchFamily="34" charset="0"/>
              </a:rPr>
              <a:t>Description de la structure organisationnelle des immobilisations 2/2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a:t>Afin de permettre la comptabilisation des écritures dans chacune des normes, chaque tableau est lié au seul </a:t>
            </a:r>
            <a:r>
              <a:rPr lang="fr-FR" dirty="0" err="1" smtClean="0"/>
              <a:t>ledger</a:t>
            </a:r>
            <a:r>
              <a:rPr lang="fr-FR" dirty="0" smtClean="0"/>
              <a:t>. Celui  </a:t>
            </a:r>
            <a:r>
              <a:rPr lang="fr-FR" dirty="0"/>
              <a:t>utilisé à la CBG : </a:t>
            </a:r>
            <a:r>
              <a:rPr lang="fr-FR" dirty="0" smtClean="0"/>
              <a:t>« US GAAP ».</a:t>
            </a:r>
            <a:endParaRPr lang="ru-RU" dirty="0"/>
          </a:p>
          <a:p>
            <a:r>
              <a:rPr lang="fr-FR" dirty="0"/>
              <a:t>Un seul tableau d’évaluation : évaluation comptable sera géré dans le système SAP : </a:t>
            </a:r>
            <a:r>
              <a:rPr lang="fr-FR" dirty="0" smtClean="0"/>
              <a:t>01 </a:t>
            </a:r>
            <a:r>
              <a:rPr lang="fr-FR" dirty="0"/>
              <a:t>– « Amortissement Comptable » </a:t>
            </a:r>
            <a:endParaRPr lang="ru-RU" dirty="0"/>
          </a:p>
          <a:p>
            <a:r>
              <a:rPr lang="fr-FR" dirty="0">
                <a:cs typeface="Arial" panose="020B0604020202020204" pitchFamily="34" charset="0"/>
              </a:rPr>
              <a:t>	</a:t>
            </a:r>
            <a:endParaRPr lang="ru-RU" dirty="0">
              <a:cs typeface="Arial" panose="020B0604020202020204" pitchFamily="34" charset="0"/>
            </a:endParaRPr>
          </a:p>
          <a:p>
            <a:r>
              <a:rPr lang="fr-CA"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9</a:t>
            </a:fld>
            <a:endParaRPr lang="fr-FR" altLang="en-US" sz="750">
              <a:solidFill>
                <a:srgbClr val="000000"/>
              </a:solidFill>
            </a:endParaRPr>
          </a:p>
        </p:txBody>
      </p:sp>
    </p:spTree>
    <p:extLst>
      <p:ext uri="{BB962C8B-B14F-4D97-AF65-F5344CB8AC3E}">
        <p14:creationId xmlns:p14="http://schemas.microsoft.com/office/powerpoint/2010/main" val="930372293"/>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smtClean="0">
                <a:cs typeface="Arial" panose="020B0604020202020204" pitchFamily="34" charset="0"/>
              </a:rPr>
              <a:t>Description de la structure organisationnelle des immobilisations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smtClean="0">
                <a:cs typeface="Arial" panose="020B0604020202020204" pitchFamily="34" charset="0"/>
              </a:rPr>
              <a:t>La catégorie d’immobilisation : 	</a:t>
            </a:r>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La catégorie d’immobilisation est le principal critère de ventilation de </a:t>
            </a:r>
          </a:p>
          <a:p>
            <a:r>
              <a:rPr lang="fr-FR" dirty="0">
                <a:cs typeface="Arial" panose="020B0604020202020204" pitchFamily="34" charset="0"/>
              </a:rPr>
              <a:t>	</a:t>
            </a:r>
            <a:r>
              <a:rPr lang="fr-FR" dirty="0" smtClean="0">
                <a:cs typeface="Arial" panose="020B0604020202020204" pitchFamily="34" charset="0"/>
              </a:rPr>
              <a:t>								</a:t>
            </a:r>
            <a:r>
              <a:rPr lang="fr-FR" dirty="0" smtClean="0">
                <a:cs typeface="Arial" panose="020B0604020202020204" pitchFamily="34" charset="0"/>
              </a:rPr>
              <a:t>de </a:t>
            </a:r>
            <a:r>
              <a:rPr lang="fr-FR" dirty="0" smtClean="0">
                <a:cs typeface="Arial" panose="020B0604020202020204" pitchFamily="34" charset="0"/>
              </a:rPr>
              <a:t>l’actif. Elle pilote la création de la fiche immobilisation. Chaque fi-</a:t>
            </a:r>
          </a:p>
          <a:p>
            <a:r>
              <a:rPr lang="fr-FR" dirty="0">
                <a:cs typeface="Arial" panose="020B0604020202020204" pitchFamily="34" charset="0"/>
              </a:rPr>
              <a:t>	</a:t>
            </a:r>
            <a:r>
              <a:rPr lang="fr-FR" dirty="0" smtClean="0">
                <a:cs typeface="Arial" panose="020B0604020202020204" pitchFamily="34" charset="0"/>
              </a:rPr>
              <a:t>								</a:t>
            </a:r>
            <a:r>
              <a:rPr lang="fr-FR" dirty="0" err="1" smtClean="0">
                <a:cs typeface="Arial" panose="020B0604020202020204" pitchFamily="34" charset="0"/>
              </a:rPr>
              <a:t>che</a:t>
            </a:r>
            <a:r>
              <a:rPr lang="fr-FR" dirty="0" smtClean="0">
                <a:cs typeface="Arial" panose="020B0604020202020204" pitchFamily="34" charset="0"/>
              </a:rPr>
              <a:t> </a:t>
            </a:r>
            <a:r>
              <a:rPr lang="fr-FR" dirty="0" smtClean="0">
                <a:cs typeface="Arial" panose="020B0604020202020204" pitchFamily="34" charset="0"/>
              </a:rPr>
              <a:t>immobilisation est affectée de manière univoque à une catégorie</a:t>
            </a:r>
          </a:p>
          <a:p>
            <a:r>
              <a:rPr lang="fr-FR" dirty="0">
                <a:cs typeface="Arial" panose="020B0604020202020204" pitchFamily="34" charset="0"/>
              </a:rPr>
              <a:t>	</a:t>
            </a:r>
            <a:r>
              <a:rPr lang="fr-FR" dirty="0" smtClean="0">
                <a:cs typeface="Arial" panose="020B0604020202020204" pitchFamily="34" charset="0"/>
              </a:rPr>
              <a:t>								</a:t>
            </a:r>
            <a:r>
              <a:rPr lang="fr-FR" dirty="0" smtClean="0">
                <a:cs typeface="Arial" panose="020B0604020202020204" pitchFamily="34" charset="0"/>
              </a:rPr>
              <a:t>et </a:t>
            </a:r>
            <a:r>
              <a:rPr lang="fr-FR" dirty="0" smtClean="0">
                <a:cs typeface="Arial" panose="020B0604020202020204" pitchFamily="34" charset="0"/>
              </a:rPr>
              <a:t>à une société. Elle pilote notamment : </a:t>
            </a:r>
          </a:p>
          <a:p>
            <a:r>
              <a:rPr lang="fr-FR" dirty="0">
                <a:cs typeface="Arial" panose="020B0604020202020204" pitchFamily="34" charset="0"/>
              </a:rPr>
              <a:t>	</a:t>
            </a:r>
            <a:r>
              <a:rPr lang="fr-FR" dirty="0" smtClean="0">
                <a:cs typeface="Arial" panose="020B0604020202020204" pitchFamily="34" charset="0"/>
              </a:rPr>
              <a:t>								les schémas comptables pour l’ensemble des mouvements des</a:t>
            </a:r>
          </a:p>
          <a:p>
            <a:r>
              <a:rPr lang="fr-FR" dirty="0">
                <a:cs typeface="Arial" panose="020B0604020202020204" pitchFamily="34" charset="0"/>
              </a:rPr>
              <a:t>	</a:t>
            </a:r>
            <a:r>
              <a:rPr lang="fr-FR" dirty="0" smtClean="0">
                <a:cs typeface="Arial" panose="020B0604020202020204" pitchFamily="34" charset="0"/>
              </a:rPr>
              <a:t>								fiches d’immobilisations via la clé d’affectation des comptes,</a:t>
            </a:r>
          </a:p>
          <a:p>
            <a:r>
              <a:rPr lang="fr-FR" dirty="0">
                <a:cs typeface="Arial" panose="020B0604020202020204" pitchFamily="34" charset="0"/>
              </a:rPr>
              <a:t>	</a:t>
            </a:r>
            <a:r>
              <a:rPr lang="fr-FR" dirty="0" smtClean="0">
                <a:cs typeface="Arial" panose="020B0604020202020204" pitchFamily="34" charset="0"/>
              </a:rPr>
              <a:t>								les informations à renseigner de manière obligatoire ou </a:t>
            </a:r>
            <a:r>
              <a:rPr lang="fr-FR" dirty="0" err="1" smtClean="0">
                <a:cs typeface="Arial" panose="020B0604020202020204" pitchFamily="34" charset="0"/>
              </a:rPr>
              <a:t>faculta</a:t>
            </a:r>
            <a:r>
              <a:rPr lang="fr-FR" dirty="0" smtClean="0">
                <a:cs typeface="Arial" panose="020B0604020202020204" pitchFamily="34" charset="0"/>
              </a:rPr>
              <a:t>-</a:t>
            </a:r>
          </a:p>
          <a:p>
            <a:r>
              <a:rPr lang="fr-FR" dirty="0">
                <a:cs typeface="Arial" panose="020B0604020202020204" pitchFamily="34" charset="0"/>
              </a:rPr>
              <a:t>	</a:t>
            </a:r>
            <a:r>
              <a:rPr lang="fr-FR" dirty="0" smtClean="0">
                <a:cs typeface="Arial" panose="020B0604020202020204" pitchFamily="34" charset="0"/>
              </a:rPr>
              <a:t>								</a:t>
            </a:r>
            <a:r>
              <a:rPr lang="fr-FR" dirty="0" err="1" smtClean="0">
                <a:cs typeface="Arial" panose="020B0604020202020204" pitchFamily="34" charset="0"/>
              </a:rPr>
              <a:t>tive</a:t>
            </a:r>
            <a:r>
              <a:rPr lang="fr-FR" dirty="0" smtClean="0">
                <a:cs typeface="Arial" panose="020B0604020202020204" pitchFamily="34" charset="0"/>
              </a:rPr>
              <a:t> dans les fiches (structure d’écran)</a:t>
            </a:r>
          </a:p>
          <a:p>
            <a:r>
              <a:rPr lang="fr-FR" dirty="0">
                <a:cs typeface="Arial" panose="020B0604020202020204" pitchFamily="34" charset="0"/>
              </a:rPr>
              <a:t>	</a:t>
            </a:r>
            <a:r>
              <a:rPr lang="fr-FR" dirty="0" smtClean="0">
                <a:cs typeface="Arial" panose="020B0604020202020204" pitchFamily="34" charset="0"/>
              </a:rPr>
              <a:t>								la tranche de numérotation des fiches</a:t>
            </a:r>
          </a:p>
          <a:p>
            <a:r>
              <a:rPr lang="fr-FR" dirty="0">
                <a:cs typeface="Arial" panose="020B0604020202020204" pitchFamily="34" charset="0"/>
              </a:rPr>
              <a:t>	</a:t>
            </a:r>
            <a:r>
              <a:rPr lang="fr-FR" dirty="0" smtClean="0">
                <a:cs typeface="Arial" panose="020B0604020202020204" pitchFamily="34" charset="0"/>
              </a:rPr>
              <a:t>								le régime d’amortissement et la durée des fiches.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10</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1363110"/>
            <a:ext cx="3076575" cy="2819400"/>
          </a:xfrm>
          <a:prstGeom prst="rect">
            <a:avLst/>
          </a:prstGeom>
        </p:spPr>
      </p:pic>
    </p:spTree>
    <p:extLst>
      <p:ext uri="{BB962C8B-B14F-4D97-AF65-F5344CB8AC3E}">
        <p14:creationId xmlns:p14="http://schemas.microsoft.com/office/powerpoint/2010/main" val="2359944240"/>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smtClean="0">
                <a:cs typeface="Arial" panose="020B0604020202020204" pitchFamily="34" charset="0"/>
              </a:rPr>
              <a:t>Description de la structure organisationnelle des immobilisations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smtClean="0">
                <a:cs typeface="Arial" panose="020B0604020202020204" pitchFamily="34" charset="0"/>
              </a:rPr>
              <a:t>La clé d’affectation :			</a:t>
            </a:r>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  Chaque catégorie est rattachée à une clé d’affectation de compte. La clé</a:t>
            </a:r>
          </a:p>
          <a:p>
            <a:r>
              <a:rPr lang="fr-FR" dirty="0">
                <a:cs typeface="Arial" panose="020B0604020202020204" pitchFamily="34" charset="0"/>
              </a:rPr>
              <a:t>	</a:t>
            </a:r>
            <a:r>
              <a:rPr lang="fr-FR" dirty="0" smtClean="0">
                <a:cs typeface="Arial" panose="020B0604020202020204" pitchFamily="34" charset="0"/>
              </a:rPr>
              <a:t>							  </a:t>
            </a:r>
            <a:r>
              <a:rPr lang="fr-FR" dirty="0" smtClean="0">
                <a:cs typeface="Arial" panose="020B0604020202020204" pitchFamily="34" charset="0"/>
              </a:rPr>
              <a:t>d’affectation </a:t>
            </a:r>
            <a:r>
              <a:rPr lang="fr-FR" dirty="0" smtClean="0">
                <a:cs typeface="Arial" panose="020B0604020202020204" pitchFamily="34" charset="0"/>
              </a:rPr>
              <a:t>de comptes permet d’affecter à toutes les fiches d’</a:t>
            </a:r>
            <a:r>
              <a:rPr lang="fr-FR" dirty="0" err="1" smtClean="0">
                <a:cs typeface="Arial" panose="020B0604020202020204" pitchFamily="34" charset="0"/>
              </a:rPr>
              <a:t>immo</a:t>
            </a:r>
            <a:r>
              <a:rPr lang="fr-FR" dirty="0" smtClean="0">
                <a:cs typeface="Arial" panose="020B0604020202020204" pitchFamily="34" charset="0"/>
              </a:rPr>
              <a:t>-</a:t>
            </a:r>
          </a:p>
          <a:p>
            <a:r>
              <a:rPr lang="fr-FR" dirty="0">
                <a:cs typeface="Arial" panose="020B0604020202020204" pitchFamily="34" charset="0"/>
              </a:rPr>
              <a:t>	</a:t>
            </a:r>
            <a:r>
              <a:rPr lang="fr-FR" dirty="0" smtClean="0">
                <a:cs typeface="Arial" panose="020B0604020202020204" pitchFamily="34" charset="0"/>
              </a:rPr>
              <a:t>							  </a:t>
            </a:r>
            <a:r>
              <a:rPr lang="fr-FR" dirty="0" err="1" smtClean="0">
                <a:cs typeface="Arial" panose="020B0604020202020204" pitchFamily="34" charset="0"/>
              </a:rPr>
              <a:t>bilisation</a:t>
            </a:r>
            <a:r>
              <a:rPr lang="fr-FR" dirty="0" smtClean="0">
                <a:cs typeface="Arial" panose="020B0604020202020204" pitchFamily="34" charset="0"/>
              </a:rPr>
              <a:t> </a:t>
            </a:r>
            <a:r>
              <a:rPr lang="fr-FR" dirty="0" smtClean="0">
                <a:cs typeface="Arial" panose="020B0604020202020204" pitchFamily="34" charset="0"/>
              </a:rPr>
              <a:t>d’une catégorie des schémas d’écriture et par conséquent</a:t>
            </a:r>
          </a:p>
          <a:p>
            <a:r>
              <a:rPr lang="fr-FR" dirty="0">
                <a:cs typeface="Arial" panose="020B0604020202020204" pitchFamily="34" charset="0"/>
              </a:rPr>
              <a:t>	</a:t>
            </a:r>
            <a:r>
              <a:rPr lang="fr-FR" dirty="0" smtClean="0">
                <a:cs typeface="Arial" panose="020B0604020202020204" pitchFamily="34" charset="0"/>
              </a:rPr>
              <a:t>							  </a:t>
            </a:r>
            <a:r>
              <a:rPr lang="fr-FR" dirty="0" smtClean="0">
                <a:cs typeface="Arial" panose="020B0604020202020204" pitchFamily="34" charset="0"/>
              </a:rPr>
              <a:t>des </a:t>
            </a:r>
            <a:r>
              <a:rPr lang="fr-FR" dirty="0" smtClean="0">
                <a:cs typeface="Arial" panose="020B0604020202020204" pitchFamily="34" charset="0"/>
              </a:rPr>
              <a:t>comptes généraux du plan de comptes opérationnels déterminés </a:t>
            </a:r>
          </a:p>
          <a:p>
            <a:r>
              <a:rPr lang="fr-FR" dirty="0">
                <a:cs typeface="Arial" panose="020B0604020202020204" pitchFamily="34" charset="0"/>
              </a:rPr>
              <a:t>	</a:t>
            </a:r>
            <a:r>
              <a:rPr lang="fr-FR" dirty="0" smtClean="0">
                <a:cs typeface="Arial" panose="020B0604020202020204" pitchFamily="34" charset="0"/>
              </a:rPr>
              <a:t>							  </a:t>
            </a:r>
            <a:r>
              <a:rPr lang="fr-FR" dirty="0" smtClean="0">
                <a:cs typeface="Arial" panose="020B0604020202020204" pitchFamily="34" charset="0"/>
              </a:rPr>
              <a:t>pour </a:t>
            </a:r>
            <a:r>
              <a:rPr lang="fr-FR" dirty="0" smtClean="0">
                <a:cs typeface="Arial" panose="020B0604020202020204" pitchFamily="34" charset="0"/>
              </a:rPr>
              <a:t>chacun des tableaux : </a:t>
            </a:r>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r>
              <a:rPr lang="fr-FR" dirty="0" smtClean="0">
                <a:cs typeface="Arial" panose="020B0604020202020204" pitchFamily="34" charset="0"/>
              </a:rPr>
              <a:t>le </a:t>
            </a:r>
            <a:r>
              <a:rPr lang="fr-FR" dirty="0" smtClean="0">
                <a:cs typeface="Arial" panose="020B0604020202020204" pitchFamily="34" charset="0"/>
              </a:rPr>
              <a:t>compte d’entrée, les comptes d’amortissement (exceptionnel,</a:t>
            </a:r>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r>
              <a:rPr lang="fr-FR" dirty="0" smtClean="0">
                <a:cs typeface="Arial" panose="020B0604020202020204" pitchFamily="34" charset="0"/>
              </a:rPr>
              <a:t>dépréciation</a:t>
            </a:r>
            <a:r>
              <a:rPr lang="fr-FR" dirty="0" smtClean="0">
                <a:cs typeface="Arial" panose="020B0604020202020204" pitchFamily="34" charset="0"/>
              </a:rPr>
              <a:t>, non </a:t>
            </a:r>
            <a:r>
              <a:rPr lang="fr-FR" dirty="0" err="1" smtClean="0">
                <a:cs typeface="Arial" panose="020B0604020202020204" pitchFamily="34" charset="0"/>
              </a:rPr>
              <a:t>planifé</a:t>
            </a:r>
            <a:r>
              <a:rPr lang="fr-FR" dirty="0" smtClean="0">
                <a:cs typeface="Arial" panose="020B0604020202020204" pitchFamily="34" charset="0"/>
              </a:rPr>
              <a:t>, ..), les comptes de sortie, les comptes de transfert,									</a:t>
            </a:r>
            <a:r>
              <a:rPr lang="fr-FR" dirty="0">
                <a:cs typeface="Arial" panose="020B0604020202020204" pitchFamily="34" charset="0"/>
              </a:rPr>
              <a:t> </a:t>
            </a:r>
            <a:r>
              <a:rPr lang="fr-FR" dirty="0" smtClean="0">
                <a:cs typeface="Arial" panose="020B0604020202020204" pitchFamily="34" charset="0"/>
              </a:rPr>
              <a:t> </a:t>
            </a:r>
            <a:r>
              <a:rPr lang="fr-FR" dirty="0" smtClean="0">
                <a:cs typeface="Arial" panose="020B0604020202020204" pitchFamily="34" charset="0"/>
              </a:rPr>
              <a:t>les </a:t>
            </a:r>
            <a:r>
              <a:rPr lang="fr-FR" dirty="0" smtClean="0">
                <a:cs typeface="Arial" panose="020B0604020202020204" pitchFamily="34" charset="0"/>
              </a:rPr>
              <a:t>comptes de réévaluation.	</a:t>
            </a:r>
          </a:p>
          <a:p>
            <a:r>
              <a:rPr lang="fr-FR" dirty="0">
                <a:cs typeface="Arial" panose="020B0604020202020204" pitchFamily="34" charset="0"/>
              </a:rPr>
              <a:t>	</a:t>
            </a:r>
            <a:r>
              <a:rPr lang="fr-FR" dirty="0" smtClean="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11</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542081"/>
            <a:ext cx="3153764" cy="2533973"/>
          </a:xfrm>
          <a:prstGeom prst="rect">
            <a:avLst/>
          </a:prstGeom>
        </p:spPr>
      </p:pic>
    </p:spTree>
    <p:extLst>
      <p:ext uri="{BB962C8B-B14F-4D97-AF65-F5344CB8AC3E}">
        <p14:creationId xmlns:p14="http://schemas.microsoft.com/office/powerpoint/2010/main" val="2650003592"/>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 la fiche immobilisation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	Le contenue de la fiche d’immobilisation est scindé en deux parties :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les données d’information : </a:t>
            </a:r>
            <a:r>
              <a:rPr lang="fr-FR" dirty="0" err="1" smtClean="0">
                <a:cs typeface="Arial" panose="020B0604020202020204" pitchFamily="34" charset="0"/>
              </a:rPr>
              <a:t>dési</a:t>
            </a:r>
            <a:r>
              <a:rPr lang="fr-FR" dirty="0" smtClean="0">
                <a:cs typeface="Arial" panose="020B0604020202020204" pitchFamily="34" charset="0"/>
              </a:rPr>
              <a:t>-</a:t>
            </a:r>
          </a:p>
          <a:p>
            <a:r>
              <a:rPr lang="fr-FR" dirty="0">
                <a:cs typeface="Arial" panose="020B0604020202020204" pitchFamily="34" charset="0"/>
              </a:rPr>
              <a:t>	</a:t>
            </a:r>
            <a:r>
              <a:rPr lang="fr-FR" dirty="0" smtClean="0">
                <a:cs typeface="Arial" panose="020B0604020202020204" pitchFamily="34" charset="0"/>
              </a:rPr>
              <a:t>														</a:t>
            </a:r>
            <a:r>
              <a:rPr lang="fr-FR" dirty="0" err="1" smtClean="0">
                <a:cs typeface="Arial" panose="020B0604020202020204" pitchFamily="34" charset="0"/>
              </a:rPr>
              <a:t>gnation</a:t>
            </a:r>
            <a:r>
              <a:rPr lang="fr-FR" dirty="0" smtClean="0">
                <a:cs typeface="Arial" panose="020B0604020202020204" pitchFamily="34" charset="0"/>
              </a:rPr>
              <a:t>, numéro d’</a:t>
            </a:r>
            <a:r>
              <a:rPr lang="fr-FR" dirty="0" err="1" smtClean="0">
                <a:cs typeface="Arial" panose="020B0604020202020204" pitchFamily="34" charset="0"/>
              </a:rPr>
              <a:t>inventaaire</a:t>
            </a:r>
            <a:r>
              <a:rPr lang="fr-FR" dirty="0" smtClean="0">
                <a:cs typeface="Arial" panose="020B0604020202020204" pitchFamily="34" charset="0"/>
              </a:rPr>
              <a:t>…</a:t>
            </a:r>
          </a:p>
          <a:p>
            <a:r>
              <a:rPr lang="fr-FR" dirty="0">
                <a:cs typeface="Arial" panose="020B0604020202020204" pitchFamily="34" charset="0"/>
              </a:rPr>
              <a:t>	</a:t>
            </a:r>
            <a:r>
              <a:rPr lang="fr-FR" dirty="0" smtClean="0">
                <a:cs typeface="Arial" panose="020B0604020202020204" pitchFamily="34" charset="0"/>
              </a:rPr>
              <a:t>														les données d’évaluation : mode </a:t>
            </a:r>
          </a:p>
          <a:p>
            <a:r>
              <a:rPr lang="fr-FR" dirty="0">
                <a:cs typeface="Arial" panose="020B0604020202020204" pitchFamily="34" charset="0"/>
              </a:rPr>
              <a:t>	</a:t>
            </a:r>
            <a:r>
              <a:rPr lang="fr-FR" dirty="0" smtClean="0">
                <a:cs typeface="Arial" panose="020B0604020202020204" pitchFamily="34" charset="0"/>
              </a:rPr>
              <a:t>														d’amortissement, durée de vie, </a:t>
            </a:r>
          </a:p>
          <a:p>
            <a:r>
              <a:rPr lang="fr-FR" dirty="0">
                <a:cs typeface="Arial" panose="020B0604020202020204" pitchFamily="34" charset="0"/>
              </a:rPr>
              <a:t>	</a:t>
            </a:r>
            <a:r>
              <a:rPr lang="fr-FR" dirty="0" smtClean="0">
                <a:cs typeface="Arial" panose="020B0604020202020204" pitchFamily="34" charset="0"/>
              </a:rPr>
              <a:t>														valeur brute, valeur amortie, etc. </a:t>
            </a: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12</a:t>
            </a:fld>
            <a:endParaRPr lang="fr-FR" altLang="en-US" sz="750">
              <a:solidFill>
                <a:srgbClr val="000000"/>
              </a:solidFill>
            </a:endParaRPr>
          </a:p>
        </p:txBody>
      </p:sp>
      <p:pic>
        <p:nvPicPr>
          <p:cNvPr id="5" name="Image 4"/>
          <p:cNvPicPr>
            <a:picLocks noChangeAspect="1"/>
          </p:cNvPicPr>
          <p:nvPr/>
        </p:nvPicPr>
        <p:blipFill>
          <a:blip r:embed="rId2"/>
          <a:stretch>
            <a:fillRect/>
          </a:stretch>
        </p:blipFill>
        <p:spPr>
          <a:xfrm>
            <a:off x="782805" y="1353196"/>
            <a:ext cx="5447514" cy="3025076"/>
          </a:xfrm>
          <a:prstGeom prst="rect">
            <a:avLst/>
          </a:prstGeom>
        </p:spPr>
      </p:pic>
    </p:spTree>
    <p:extLst>
      <p:ext uri="{BB962C8B-B14F-4D97-AF65-F5344CB8AC3E}">
        <p14:creationId xmlns:p14="http://schemas.microsoft.com/office/powerpoint/2010/main" val="4175967037"/>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 la fiche immobilisation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smtClean="0">
                <a:cs typeface="Arial" panose="020B0604020202020204" pitchFamily="34" charset="0"/>
              </a:rPr>
              <a:t>La structure d’écran associée à chaque catégorie d’immobilisation permet de piloter : </a:t>
            </a:r>
          </a:p>
          <a:p>
            <a:r>
              <a:rPr lang="fr-FR" dirty="0">
                <a:cs typeface="Arial" panose="020B0604020202020204" pitchFamily="34" charset="0"/>
              </a:rPr>
              <a:t>	</a:t>
            </a:r>
            <a:r>
              <a:rPr lang="fr-FR" dirty="0" smtClean="0">
                <a:cs typeface="Arial" panose="020B0604020202020204" pitchFamily="34" charset="0"/>
              </a:rPr>
              <a:t>												les zones de la fiche d’immobilisation qui </a:t>
            </a:r>
          </a:p>
          <a:p>
            <a:r>
              <a:rPr lang="fr-FR" dirty="0">
                <a:cs typeface="Arial" panose="020B0604020202020204" pitchFamily="34" charset="0"/>
              </a:rPr>
              <a:t>	</a:t>
            </a:r>
            <a:r>
              <a:rPr lang="fr-FR" dirty="0" smtClean="0">
                <a:cs typeface="Arial" panose="020B0604020202020204" pitchFamily="34" charset="0"/>
              </a:rPr>
              <a:t>												doivent être affichées ou occultées,</a:t>
            </a:r>
          </a:p>
          <a:p>
            <a:r>
              <a:rPr lang="fr-FR" dirty="0">
                <a:cs typeface="Arial" panose="020B0604020202020204" pitchFamily="34" charset="0"/>
              </a:rPr>
              <a:t>	</a:t>
            </a:r>
            <a:r>
              <a:rPr lang="fr-FR" dirty="0" smtClean="0">
                <a:cs typeface="Arial" panose="020B0604020202020204" pitchFamily="34" charset="0"/>
              </a:rPr>
              <a:t>												le caractère obligatoire ou facultatif de </a:t>
            </a:r>
          </a:p>
          <a:p>
            <a:r>
              <a:rPr lang="fr-FR" dirty="0">
                <a:cs typeface="Arial" panose="020B0604020202020204" pitchFamily="34" charset="0"/>
              </a:rPr>
              <a:t>	</a:t>
            </a:r>
            <a:r>
              <a:rPr lang="fr-FR" dirty="0" smtClean="0">
                <a:cs typeface="Arial" panose="020B0604020202020204" pitchFamily="34" charset="0"/>
              </a:rPr>
              <a:t>												certaines zones</a:t>
            </a:r>
          </a:p>
          <a:p>
            <a:r>
              <a:rPr lang="fr-FR" dirty="0">
                <a:cs typeface="Arial" panose="020B0604020202020204" pitchFamily="34" charset="0"/>
              </a:rPr>
              <a:t>	</a:t>
            </a:r>
            <a:r>
              <a:rPr lang="fr-FR" dirty="0" smtClean="0">
                <a:cs typeface="Arial" panose="020B0604020202020204" pitchFamily="34" charset="0"/>
              </a:rPr>
              <a:t>												le niveau de gestion de chaque zone : </a:t>
            </a:r>
          </a:p>
          <a:p>
            <a:r>
              <a:rPr lang="fr-FR" dirty="0">
                <a:cs typeface="Arial" panose="020B0604020202020204" pitchFamily="34" charset="0"/>
              </a:rPr>
              <a:t>	</a:t>
            </a:r>
            <a:r>
              <a:rPr lang="fr-FR" dirty="0" smtClean="0">
                <a:cs typeface="Arial" panose="020B0604020202020204" pitchFamily="34" charset="0"/>
              </a:rPr>
              <a:t>												catégorie d’immobilisation, numéro principal. 						</a:t>
            </a:r>
            <a:r>
              <a:rPr lang="fr-FR" dirty="0">
                <a:cs typeface="Arial" panose="020B0604020202020204" pitchFamily="34" charset="0"/>
              </a:rPr>
              <a:t>	</a:t>
            </a:r>
            <a:r>
              <a:rPr lang="fr-FR" dirty="0" smtClean="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13</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33400" y="1425844"/>
            <a:ext cx="4751522" cy="2911300"/>
          </a:xfrm>
          <a:prstGeom prst="rect">
            <a:avLst/>
          </a:prstGeom>
        </p:spPr>
      </p:pic>
    </p:spTree>
    <p:extLst>
      <p:ext uri="{BB962C8B-B14F-4D97-AF65-F5344CB8AC3E}">
        <p14:creationId xmlns:p14="http://schemas.microsoft.com/office/powerpoint/2010/main" val="64986631"/>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des mouvements d’immobilisation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a:t>La fiche de l’immobilisation subi quatre type de mouvement : </a:t>
            </a:r>
            <a:endParaRPr lang="ru-RU" dirty="0"/>
          </a:p>
          <a:p>
            <a:pPr marL="322971" lvl="1" indent="-171450">
              <a:buClr>
                <a:srgbClr val="0070C0"/>
              </a:buClr>
              <a:buSzPct val="100000"/>
            </a:pPr>
            <a:r>
              <a:rPr lang="fr-FR" dirty="0"/>
              <a:t>	L’acquisition </a:t>
            </a:r>
            <a:endParaRPr lang="ru-RU" dirty="0"/>
          </a:p>
          <a:p>
            <a:pPr marL="322971" lvl="1" indent="-171450">
              <a:buClr>
                <a:srgbClr val="0070C0"/>
              </a:buClr>
              <a:buSzPct val="100000"/>
            </a:pPr>
            <a:r>
              <a:rPr lang="fr-FR" dirty="0"/>
              <a:t>	Le transfert</a:t>
            </a:r>
            <a:endParaRPr lang="ru-RU" dirty="0"/>
          </a:p>
          <a:p>
            <a:pPr marL="322971" lvl="1" indent="-171450">
              <a:buClr>
                <a:srgbClr val="0070C0"/>
              </a:buClr>
              <a:buSzPct val="100000"/>
            </a:pPr>
            <a:r>
              <a:rPr lang="fr-FR" dirty="0"/>
              <a:t>	La cession </a:t>
            </a:r>
            <a:endParaRPr lang="ru-RU" dirty="0"/>
          </a:p>
          <a:p>
            <a:pPr marL="322971" lvl="1" indent="-171450">
              <a:buClr>
                <a:srgbClr val="0070C0"/>
              </a:buClr>
              <a:buSzPct val="100000"/>
            </a:pPr>
            <a:r>
              <a:rPr lang="fr-FR" dirty="0"/>
              <a:t>	La mise au rebut </a:t>
            </a:r>
            <a:endParaRPr lang="ru-RU" dirty="0"/>
          </a:p>
          <a:p>
            <a:r>
              <a:rPr lang="fr-FR" dirty="0"/>
              <a:t>Ces mouvements sont gérés à travers des codes mouvement spécifiques. Les états du tableau d’évaluation des immobilisations et les autres états utilisent ces mêmes codes mouvement pour identifier les différents types de mouvement séparément. </a:t>
            </a:r>
            <a:endParaRPr lang="ru-RU" dirty="0"/>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14</a:t>
            </a:fld>
            <a:endParaRPr lang="fr-FR" altLang="en-US" sz="750">
              <a:solidFill>
                <a:srgbClr val="000000"/>
              </a:solidFill>
            </a:endParaRPr>
          </a:p>
        </p:txBody>
      </p:sp>
    </p:spTree>
    <p:extLst>
      <p:ext uri="{BB962C8B-B14F-4D97-AF65-F5344CB8AC3E}">
        <p14:creationId xmlns:p14="http://schemas.microsoft.com/office/powerpoint/2010/main" val="3547179238"/>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des mouvements d’immobilisation : l’acquisition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smtClean="0"/>
              <a:t>A </a:t>
            </a:r>
            <a:r>
              <a:rPr lang="fr-FR" dirty="0"/>
              <a:t>la CBG, les acquisitions des immobilisations sont toujours effectuées à travers un projet d’investissement. </a:t>
            </a:r>
            <a:endParaRPr lang="ru-RU" dirty="0"/>
          </a:p>
          <a:p>
            <a:r>
              <a:rPr lang="fr-FR" dirty="0"/>
              <a:t>La valeur d’entrée d’une immobilisation est constituée par la somme des biens et prestations liées à sa mise en service et engagés dans le cadre du projet. </a:t>
            </a:r>
            <a:endParaRPr lang="ru-RU" dirty="0"/>
          </a:p>
          <a:p>
            <a:r>
              <a:rPr lang="fr-FR" dirty="0"/>
              <a:t>Le processus se compose de quatre étapes : </a:t>
            </a:r>
            <a:endParaRPr lang="ru-RU" dirty="0"/>
          </a:p>
          <a:p>
            <a:r>
              <a:rPr lang="fr-FR" dirty="0"/>
              <a:t>1 - Création d’une Mesure d’investissement (</a:t>
            </a:r>
            <a:r>
              <a:rPr lang="fr-FR" dirty="0" err="1"/>
              <a:t>eOTP</a:t>
            </a:r>
            <a:r>
              <a:rPr lang="fr-FR" dirty="0"/>
              <a:t>) (création automatique de la fiche de l’immobilisation encours) </a:t>
            </a:r>
            <a:endParaRPr lang="ru-RU" dirty="0"/>
          </a:p>
          <a:p>
            <a:r>
              <a:rPr lang="fr-FR" dirty="0"/>
              <a:t>2 -  Création de la commande d’achat et imputation de l’engagement sur  projet d’investissement (</a:t>
            </a:r>
            <a:r>
              <a:rPr lang="fr-FR" dirty="0" err="1"/>
              <a:t>eOTP</a:t>
            </a:r>
            <a:r>
              <a:rPr lang="fr-FR" dirty="0"/>
              <a:t>)</a:t>
            </a:r>
            <a:endParaRPr lang="ru-RU" dirty="0"/>
          </a:p>
          <a:p>
            <a:r>
              <a:rPr lang="fr-FR" dirty="0"/>
              <a:t>- Entrée de marchandises et imputation des coûts réels sur  projet d’investissement (</a:t>
            </a:r>
            <a:r>
              <a:rPr lang="fr-FR" dirty="0" err="1"/>
              <a:t>eOTP</a:t>
            </a:r>
            <a:r>
              <a:rPr lang="fr-FR" dirty="0"/>
              <a:t>)</a:t>
            </a:r>
            <a:endParaRPr lang="ru-RU" dirty="0"/>
          </a:p>
          <a:p>
            <a:r>
              <a:rPr lang="fr-FR" dirty="0"/>
              <a:t>3- Déversement des coûts réels imputés sur le projet d’investissement sur l’immobilisation encours à la fin de chaque période par le contrôle de gestion</a:t>
            </a:r>
            <a:endParaRPr lang="ru-RU" dirty="0"/>
          </a:p>
          <a:p>
            <a:r>
              <a:rPr lang="fr-FR" dirty="0"/>
              <a:t>4- Lors de la mise en service, création manuelle par le service comptabilité des fiches des immobilisations finales. </a:t>
            </a:r>
            <a:endParaRPr lang="ru-RU" dirty="0"/>
          </a:p>
          <a:p>
            <a:r>
              <a:rPr lang="fr-FR" dirty="0"/>
              <a:t>Le déversement des coûts des immobilisations encours sur les immobilisations mises en service est fit par le service comptabilité. </a:t>
            </a:r>
            <a:endParaRPr lang="ru-RU" dirty="0"/>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15</a:t>
            </a:fld>
            <a:endParaRPr lang="fr-FR" altLang="en-US" sz="750">
              <a:solidFill>
                <a:srgbClr val="000000"/>
              </a:solidFill>
            </a:endParaRPr>
          </a:p>
        </p:txBody>
      </p:sp>
    </p:spTree>
    <p:extLst>
      <p:ext uri="{BB962C8B-B14F-4D97-AF65-F5344CB8AC3E}">
        <p14:creationId xmlns:p14="http://schemas.microsoft.com/office/powerpoint/2010/main" val="1632616045"/>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61993"/>
            <a:ext cx="8229600" cy="968644"/>
          </a:xfrm>
        </p:spPr>
        <p:txBody>
          <a:bodyPr>
            <a:normAutofit fontScale="90000"/>
          </a:bodyPr>
          <a:lstStyle/>
          <a:p>
            <a:r>
              <a:rPr lang="fr-FR" altLang="en-US" sz="2700" dirty="0" smtClean="0">
                <a:cs typeface="Arial" panose="020B0604020202020204" pitchFamily="34" charset="0"/>
              </a:rPr>
              <a:t>Gestion des mouvements d’immobilisation : le transfert d’immobilisation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a:t>Il existe plusieurs motifs de transferts : </a:t>
            </a:r>
            <a:endParaRPr lang="ru-RU" dirty="0"/>
          </a:p>
          <a:p>
            <a:r>
              <a:rPr lang="fr-FR" dirty="0"/>
              <a:t>Modification des données de la structure organisationnelle de l’immobilisation (reclassification de </a:t>
            </a:r>
            <a:r>
              <a:rPr lang="fr-FR" dirty="0" smtClean="0"/>
              <a:t>catégorie d’immobilisation, </a:t>
            </a:r>
            <a:r>
              <a:rPr lang="fr-FR" dirty="0"/>
              <a:t>changement de centre de coûts, etc.).</a:t>
            </a:r>
            <a:endParaRPr lang="ru-RU" dirty="0"/>
          </a:p>
          <a:p>
            <a:r>
              <a:rPr lang="fr-FR" dirty="0"/>
              <a:t>L’immobilisation doit être divisée, ou une partie de celle-ci doit être recréée. Par conséquent, une partie de l’immobilisation d’origine sera transférée vers une nouvelle </a:t>
            </a:r>
            <a:r>
              <a:rPr lang="fr-FR" dirty="0" smtClean="0"/>
              <a:t>immobilisation.</a:t>
            </a:r>
            <a:endParaRPr lang="ru-RU" dirty="0"/>
          </a:p>
          <a:p>
            <a:r>
              <a:rPr lang="fr-FR" dirty="0"/>
              <a:t>Suite au </a:t>
            </a:r>
            <a:r>
              <a:rPr lang="fr-FR" dirty="0" smtClean="0"/>
              <a:t>transfert, </a:t>
            </a:r>
            <a:r>
              <a:rPr lang="fr-FR" dirty="0"/>
              <a:t>la totalité des coûts d’acquisition et de production et l’amortissement cumulé (transfert complet) ou la portion spécifiée des coûts d’acquisition et de production, ainsi que l’amortissement cumulé proportionnel approprié (transfert partiel) sont transférés à l’immobilisation réceptrice.</a:t>
            </a:r>
            <a:endParaRPr lang="ru-RU" dirty="0"/>
          </a:p>
          <a:p>
            <a:r>
              <a:rPr lang="fr-FR" dirty="0">
                <a:cs typeface="Arial" panose="020B0604020202020204" pitchFamily="34" charset="0"/>
              </a:rPr>
              <a:t>	</a:t>
            </a:r>
            <a:r>
              <a:rPr lang="fr-FR" dirty="0" smtClean="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16</a:t>
            </a:fld>
            <a:endParaRPr lang="fr-FR" altLang="en-US" sz="750">
              <a:solidFill>
                <a:srgbClr val="000000"/>
              </a:solidFill>
            </a:endParaRPr>
          </a:p>
        </p:txBody>
      </p:sp>
    </p:spTree>
    <p:extLst>
      <p:ext uri="{BB962C8B-B14F-4D97-AF65-F5344CB8AC3E}">
        <p14:creationId xmlns:p14="http://schemas.microsoft.com/office/powerpoint/2010/main" val="1368729203"/>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23986"/>
            <a:ext cx="8229600" cy="926265"/>
          </a:xfrm>
        </p:spPr>
        <p:txBody>
          <a:bodyPr>
            <a:normAutofit fontScale="90000"/>
          </a:bodyPr>
          <a:lstStyle/>
          <a:p>
            <a:r>
              <a:rPr lang="fr-FR" altLang="en-US" sz="2700" dirty="0" smtClean="0">
                <a:cs typeface="Arial" panose="020B0604020202020204" pitchFamily="34" charset="0"/>
              </a:rPr>
              <a:t>Gestion des mouvements d’immobilisation : la cession d’immobilisation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a:t>La sortie d’une immobilisation revient au retrait de la totalité ou d’une partie de  cette immobilisation  du portefeuille d’immobilisations. Ce retrait d’un bien économique (ou d’une partie d’un bien économique) est enregistré d’un point de vue comptable comme une sortie d’immobilisation.</a:t>
            </a:r>
            <a:endParaRPr lang="ru-RU" dirty="0"/>
          </a:p>
          <a:p>
            <a:r>
              <a:rPr lang="fr-FR" dirty="0"/>
              <a:t>Dans SAP, on distinguer les types de sorties suivants :</a:t>
            </a:r>
            <a:endParaRPr lang="ru-RU" dirty="0"/>
          </a:p>
          <a:p>
            <a:r>
              <a:rPr lang="fr-FR" dirty="0"/>
              <a:t>Une immobilisation est vendue à un client et génère un produit (revenu) </a:t>
            </a:r>
            <a:endParaRPr lang="ru-RU" dirty="0"/>
          </a:p>
          <a:p>
            <a:r>
              <a:rPr lang="fr-FR" dirty="0"/>
              <a:t>Une immobilisation doit être mise au rebut, sans produit.</a:t>
            </a:r>
            <a:endParaRPr lang="ru-RU" dirty="0"/>
          </a:p>
          <a:p>
            <a:r>
              <a:rPr lang="fr-FR" dirty="0"/>
              <a:t>La sortie d’une immobilisation peut s’appliquer à la totalité d’une immobilisation (sortie complète) ou à une partie d’une immobilisation (sortie partielle). Il est possible de lancer la sortie partielle d’une immobilisation en saisissant :</a:t>
            </a:r>
            <a:endParaRPr lang="ru-RU" dirty="0"/>
          </a:p>
          <a:p>
            <a:r>
              <a:rPr lang="fr-FR" dirty="0"/>
              <a:t>le montant des coûts d’acquisition et de production sortis </a:t>
            </a:r>
            <a:r>
              <a:rPr lang="fr-FR" dirty="0" smtClean="0"/>
              <a:t>; un </a:t>
            </a:r>
            <a:r>
              <a:rPr lang="fr-FR" dirty="0"/>
              <a:t>pourcentage </a:t>
            </a:r>
            <a:r>
              <a:rPr lang="fr-FR" dirty="0" smtClean="0"/>
              <a:t>ou une </a:t>
            </a:r>
            <a:r>
              <a:rPr lang="fr-FR" dirty="0"/>
              <a:t>quantité.</a:t>
            </a:r>
            <a:endParaRPr lang="ru-RU" dirty="0"/>
          </a:p>
          <a:p>
            <a:r>
              <a:rPr lang="fr-FR" dirty="0"/>
              <a:t>La Vente d’immobilisation : L’immobilisation est vendue à un client et génère un produit </a:t>
            </a:r>
            <a:endParaRPr lang="ru-RU" i="1" dirty="0"/>
          </a:p>
          <a:p>
            <a:r>
              <a:rPr lang="fr-FR" dirty="0"/>
              <a:t>Dans le cas de la CBG, ce processus correspond à la vente des immobilisations déclassées.</a:t>
            </a:r>
            <a:endParaRPr lang="ru-RU" dirty="0"/>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17</a:t>
            </a:fld>
            <a:endParaRPr lang="fr-FR" altLang="en-US" sz="750">
              <a:solidFill>
                <a:srgbClr val="000000"/>
              </a:solidFill>
            </a:endParaRPr>
          </a:p>
        </p:txBody>
      </p:sp>
    </p:spTree>
    <p:extLst>
      <p:ext uri="{BB962C8B-B14F-4D97-AF65-F5344CB8AC3E}">
        <p14:creationId xmlns:p14="http://schemas.microsoft.com/office/powerpoint/2010/main" val="2697449030"/>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des mouvements d’immobilisation : la mise au rebut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a:t>La mise au rebut est une sortie d’immobilisation sans génération de produit. Lors de la sortie d’une immobilisation sans produit, le système génère une perte pour la sortie de l'immobilisation. La valeur comptable de cette perte est égale à celle de de la sortie.  </a:t>
            </a:r>
            <a:endParaRPr lang="ru-RU" dirty="0"/>
          </a:p>
          <a:p>
            <a:r>
              <a:rPr lang="fr-FR" dirty="0"/>
              <a:t>Il faut distinguer deux cas : </a:t>
            </a:r>
            <a:endParaRPr lang="ru-RU" dirty="0"/>
          </a:p>
          <a:p>
            <a:r>
              <a:rPr lang="fr-FR" dirty="0"/>
              <a:t>1/ Immobilisation complétement amortie</a:t>
            </a:r>
            <a:br>
              <a:rPr lang="fr-FR" dirty="0"/>
            </a:br>
            <a:r>
              <a:rPr lang="fr-FR" dirty="0"/>
              <a:t>2/ Immobilisation est amortie partiellement</a:t>
            </a:r>
            <a:endParaRPr lang="ru-RU" dirty="0"/>
          </a:p>
          <a:p>
            <a:r>
              <a:rPr lang="fr-FR" dirty="0"/>
              <a:t>Le système calcule la dotation « complémentaire » (correspondant aux amortissements non encore courus à la date de radiation) et l’enregistre comptablement au compte Dotation Amortissement Exceptionnel. </a:t>
            </a:r>
            <a:endParaRPr lang="ru-RU" dirty="0"/>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18</a:t>
            </a:fld>
            <a:endParaRPr lang="fr-FR" altLang="en-US" sz="750">
              <a:solidFill>
                <a:srgbClr val="000000"/>
              </a:solidFill>
            </a:endParaRPr>
          </a:p>
        </p:txBody>
      </p:sp>
    </p:spTree>
    <p:extLst>
      <p:ext uri="{BB962C8B-B14F-4D97-AF65-F5344CB8AC3E}">
        <p14:creationId xmlns:p14="http://schemas.microsoft.com/office/powerpoint/2010/main" val="2275946607"/>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des amortissements des immobilisations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dirty="0">
                <a:cs typeface="Arial" panose="020B0604020202020204" pitchFamily="34" charset="0"/>
              </a:rPr>
              <a:t>Le mode d’amortissement pratiqué actuellement par la CBG est l’amortissement linéaire. </a:t>
            </a:r>
            <a:endParaRPr lang="ru-RU" dirty="0">
              <a:cs typeface="Arial" panose="020B0604020202020204" pitchFamily="34" charset="0"/>
            </a:endParaRPr>
          </a:p>
          <a:p>
            <a:r>
              <a:rPr lang="fr-FR" dirty="0">
                <a:cs typeface="Arial" panose="020B0604020202020204" pitchFamily="34" charset="0"/>
              </a:rPr>
              <a:t>Les amortissements seront lancés via la transaction dédiée « programme de lancement des amortissements » AFAB mensuellement.</a:t>
            </a:r>
            <a:endParaRPr lang="ru-RU" dirty="0">
              <a:cs typeface="Arial" panose="020B0604020202020204" pitchFamily="34" charset="0"/>
            </a:endParaRPr>
          </a:p>
          <a:p>
            <a:r>
              <a:rPr lang="fr-FR" dirty="0">
                <a:cs typeface="Arial" panose="020B0604020202020204" pitchFamily="34" charset="0"/>
              </a:rPr>
              <a:t>Il existe plusieurs modes de lancement en fonction du </a:t>
            </a:r>
            <a:r>
              <a:rPr lang="fr-FR" dirty="0" smtClean="0">
                <a:cs typeface="Arial" panose="020B0604020202020204" pitchFamily="34" charset="0"/>
              </a:rPr>
              <a:t>besoin</a:t>
            </a:r>
            <a:r>
              <a:rPr lang="fr-FR" dirty="0">
                <a:cs typeface="Arial" panose="020B0604020202020204" pitchFamily="34" charset="0"/>
              </a:rPr>
              <a:t> </a:t>
            </a:r>
            <a:r>
              <a:rPr lang="fr-FR" dirty="0" smtClean="0">
                <a:cs typeface="Arial" panose="020B0604020202020204" pitchFamily="34" charset="0"/>
              </a:rPr>
              <a:t>: </a:t>
            </a:r>
          </a:p>
          <a:p>
            <a:r>
              <a:rPr lang="fr-FR" b="1" dirty="0">
                <a:cs typeface="Arial" panose="020B0604020202020204" pitchFamily="34" charset="0"/>
              </a:rPr>
              <a:t>Amortissement planifié </a:t>
            </a:r>
            <a:endParaRPr lang="ru-RU" b="1" dirty="0">
              <a:cs typeface="Arial" panose="020B0604020202020204" pitchFamily="34" charset="0"/>
            </a:endParaRPr>
          </a:p>
          <a:p>
            <a:r>
              <a:rPr lang="fr-FR" dirty="0">
                <a:cs typeface="Arial" panose="020B0604020202020204" pitchFamily="34" charset="0"/>
              </a:rPr>
              <a:t>Le calcul des amortissements est déterminé en fin de période comptable. Généralement, l’amortissement est calculé automatiquement en fonction :</a:t>
            </a:r>
            <a:endParaRPr lang="ru-RU" dirty="0">
              <a:cs typeface="Arial" panose="020B0604020202020204" pitchFamily="34" charset="0"/>
            </a:endParaRPr>
          </a:p>
          <a:p>
            <a:pPr marL="322971" lvl="1" indent="-171450">
              <a:buClr>
                <a:srgbClr val="0070C0"/>
              </a:buClr>
              <a:buSzPct val="100000"/>
            </a:pPr>
            <a:r>
              <a:rPr lang="fr-FR" dirty="0" smtClean="0">
                <a:cs typeface="Arial" panose="020B0604020202020204" pitchFamily="34" charset="0"/>
              </a:rPr>
              <a:t> </a:t>
            </a:r>
            <a:r>
              <a:rPr lang="fr-FR" dirty="0"/>
              <a:t>Des données d’amortissement contenues dans la fiche </a:t>
            </a:r>
            <a:r>
              <a:rPr lang="fr-FR" dirty="0" err="1"/>
              <a:t>immo</a:t>
            </a:r>
            <a:r>
              <a:rPr lang="fr-FR" dirty="0"/>
              <a:t>. : Modes d’amortissement (méthodes et durée d’amortissement </a:t>
            </a:r>
            <a:r>
              <a:rPr lang="fr-FR" dirty="0" smtClean="0"/>
              <a:t>  	comptable </a:t>
            </a:r>
            <a:r>
              <a:rPr lang="fr-FR" dirty="0"/>
              <a:t>et fiscal) et date de mise en service,</a:t>
            </a:r>
            <a:endParaRPr lang="ru-RU" dirty="0"/>
          </a:p>
          <a:p>
            <a:pPr marL="322971" lvl="1" indent="-171450">
              <a:buClr>
                <a:srgbClr val="0070C0"/>
              </a:buClr>
              <a:buSzPct val="100000"/>
            </a:pPr>
            <a:r>
              <a:rPr lang="fr-FR" dirty="0"/>
              <a:t> De la valeur de la fiche </a:t>
            </a:r>
            <a:r>
              <a:rPr lang="fr-FR" dirty="0" err="1" smtClean="0"/>
              <a:t>immo</a:t>
            </a:r>
            <a:r>
              <a:rPr lang="fr-FR" dirty="0" smtClean="0"/>
              <a:t>. </a:t>
            </a:r>
            <a:r>
              <a:rPr lang="fr-FR" dirty="0"/>
              <a:t>(qui résulte des acquisitions, sorties et transferts effectués sur cette </a:t>
            </a:r>
            <a:r>
              <a:rPr lang="fr-FR" dirty="0" err="1"/>
              <a:t>immo</a:t>
            </a:r>
            <a:r>
              <a:rPr lang="fr-FR" dirty="0"/>
              <a:t>).</a:t>
            </a:r>
            <a:endParaRPr lang="ru-RU" dirty="0"/>
          </a:p>
          <a:p>
            <a:endParaRPr lang="ru-RU" dirty="0"/>
          </a:p>
          <a:p>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19</a:t>
            </a:fld>
            <a:endParaRPr lang="fr-FR" altLang="en-US" sz="750">
              <a:solidFill>
                <a:srgbClr val="000000"/>
              </a:solidFill>
            </a:endParaRPr>
          </a:p>
        </p:txBody>
      </p:sp>
    </p:spTree>
    <p:extLst>
      <p:ext uri="{BB962C8B-B14F-4D97-AF65-F5344CB8AC3E}">
        <p14:creationId xmlns:p14="http://schemas.microsoft.com/office/powerpoint/2010/main" val="2358452014"/>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des amortissements des immobilisations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34234"/>
          </a:xfrm>
        </p:spPr>
        <p:txBody>
          <a:bodyPr/>
          <a:lstStyle/>
          <a:p>
            <a:r>
              <a:rPr lang="fr-FR" b="1" dirty="0"/>
              <a:t>Amortissement  non planifié</a:t>
            </a:r>
            <a:endParaRPr lang="ru-RU" b="1" dirty="0"/>
          </a:p>
          <a:p>
            <a:r>
              <a:rPr lang="fr-FR" dirty="0"/>
              <a:t>Il est possible de saisir un montant spécifique d'amortissement à passer sur une fiche immobilisation. En termes SAP, cet amortissement est nommé « Amortissement non planifié » et se produit dans des circonstances inhabituelles, notamment en cas de dommages constatés sur une immobilisation, entraînant une diminution permanente de sa valeur.</a:t>
            </a:r>
            <a:endParaRPr lang="ru-RU" dirty="0"/>
          </a:p>
          <a:p>
            <a:r>
              <a:rPr lang="fr-FR" dirty="0"/>
              <a:t>L’amortissement non planifié s’ajoute à l’ amortissement pour dépréciation automatiquement déterminé.</a:t>
            </a:r>
            <a:endParaRPr lang="ru-RU" dirty="0"/>
          </a:p>
          <a:p>
            <a:r>
              <a:rPr lang="fr-FR" b="1" dirty="0" smtClean="0"/>
              <a:t>Amortissement en mode répétition </a:t>
            </a:r>
            <a:endParaRPr lang="ru-RU" b="1" dirty="0"/>
          </a:p>
          <a:p>
            <a:r>
              <a:rPr lang="fr-FR" dirty="0"/>
              <a:t>Il s’agit d’une répétition du programme d'enregistrement des amortissements.</a:t>
            </a:r>
            <a:endParaRPr lang="ru-RU" dirty="0"/>
          </a:p>
          <a:p>
            <a:r>
              <a:rPr lang="fr-FR" dirty="0"/>
              <a:t>Une telle répétition est admise par le système au sein de la période comptabilisée en dernier. Contrairement au premier lancement du programme dans une période, la répétition peut être limitée à certaines immobilisations. Le système détermine et enregistre alors la différence que présente le montant d'amortissement par rapport à la première exécution du programme.</a:t>
            </a:r>
            <a:endParaRPr lang="ru-RU" dirty="0"/>
          </a:p>
          <a:p>
            <a:r>
              <a:rPr lang="fr-FR" dirty="0"/>
              <a:t>En règle générale, une répétition de programme s'effectue à la fin de l'exercice, lorsque des corrections de l'amortissement manuel ou des modifications de paramètres d'amortissement obligent à passer des écritures de rectification.</a:t>
            </a:r>
            <a:endParaRPr lang="ru-RU" dirty="0"/>
          </a:p>
          <a:p>
            <a:endParaRPr lang="ru-RU" dirty="0"/>
          </a:p>
          <a:p>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20</a:t>
            </a:fld>
            <a:endParaRPr lang="fr-FR" altLang="en-US" sz="750">
              <a:solidFill>
                <a:srgbClr val="000000"/>
              </a:solidFill>
            </a:endParaRPr>
          </a:p>
        </p:txBody>
      </p:sp>
    </p:spTree>
    <p:extLst>
      <p:ext uri="{BB962C8B-B14F-4D97-AF65-F5344CB8AC3E}">
        <p14:creationId xmlns:p14="http://schemas.microsoft.com/office/powerpoint/2010/main" val="3331006785"/>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smtClean="0">
                <a:cs typeface="Arial" panose="020B0604020202020204" pitchFamily="34" charset="0"/>
              </a:rPr>
              <a:t>Gestion des amortissements des immobilisations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875654"/>
            <a:ext cx="8246571" cy="3611105"/>
          </a:xfrm>
        </p:spPr>
        <p:txBody>
          <a:bodyPr/>
          <a:lstStyle/>
          <a:p>
            <a:r>
              <a:rPr lang="fr-FR" b="1" dirty="0"/>
              <a:t>Amortissement en mode </a:t>
            </a:r>
            <a:r>
              <a:rPr lang="fr-FR" b="1" dirty="0" smtClean="0"/>
              <a:t>reprise</a:t>
            </a:r>
          </a:p>
          <a:p>
            <a:r>
              <a:rPr lang="fr-FR" dirty="0">
                <a:cs typeface="Arial" panose="020B0604020202020204" pitchFamily="34" charset="0"/>
              </a:rPr>
              <a:t>La comptabilisation de l'amortissement s'effectue en plusieurs étapes, l'état actuel de chaque étape étant enregistré dans un protocole. Si le programme de comptabilisation devait être interrompu en cours de cycle, il faudrait le relancer en mode redémarrage pour corriger d'éventuelles incohérences sur la base de données.</a:t>
            </a:r>
            <a:endParaRPr lang="ru-RU" dirty="0">
              <a:cs typeface="Arial" panose="020B0604020202020204" pitchFamily="34" charset="0"/>
            </a:endParaRPr>
          </a:p>
          <a:p>
            <a:r>
              <a:rPr lang="fr-FR" dirty="0">
                <a:cs typeface="Arial" panose="020B0604020202020204" pitchFamily="34" charset="0"/>
              </a:rPr>
              <a:t>Le redémarrage ne s'effectue que dans certains cas et ne peut pas être lancé en mode test.</a:t>
            </a:r>
            <a:endParaRPr lang="ru-RU" dirty="0">
              <a:cs typeface="Arial" panose="020B0604020202020204" pitchFamily="34" charset="0"/>
            </a:endParaRPr>
          </a:p>
          <a:p>
            <a:r>
              <a:rPr lang="fr-FR" b="1" dirty="0" smtClean="0">
                <a:cs typeface="Arial" panose="020B0604020202020204" pitchFamily="34" charset="0"/>
              </a:rPr>
              <a:t> </a:t>
            </a:r>
            <a:r>
              <a:rPr lang="fr-FR" dirty="0" smtClean="0">
                <a:cs typeface="Arial" panose="020B0604020202020204" pitchFamily="34" charset="0"/>
              </a:rPr>
              <a:t>Dépréciation annuelle : 				L’amoindrissement de la valeur d’un élément de l’actif résultant de causes dont les </a:t>
            </a:r>
          </a:p>
          <a:p>
            <a:r>
              <a:rPr lang="fr-FR" dirty="0">
                <a:cs typeface="Arial" panose="020B0604020202020204" pitchFamily="34" charset="0"/>
              </a:rPr>
              <a:t>	</a:t>
            </a:r>
            <a:r>
              <a:rPr lang="fr-FR" dirty="0" smtClean="0">
                <a:cs typeface="Arial" panose="020B0604020202020204" pitchFamily="34" charset="0"/>
              </a:rPr>
              <a:t>						effets ne sont pas jugés irréversibles est constaté par une provision pour dépréciation.</a:t>
            </a:r>
          </a:p>
          <a:p>
            <a:r>
              <a:rPr lang="fr-FR" dirty="0">
                <a:cs typeface="Arial" panose="020B0604020202020204" pitchFamily="34" charset="0"/>
              </a:rPr>
              <a:t>	</a:t>
            </a:r>
            <a:r>
              <a:rPr lang="fr-FR" dirty="0" smtClean="0">
                <a:cs typeface="Arial" panose="020B0604020202020204" pitchFamily="34" charset="0"/>
              </a:rPr>
              <a:t>						Les opérations de dépréciations peuvent concerner un élément particulier de l’actif ou</a:t>
            </a:r>
          </a:p>
          <a:p>
            <a:r>
              <a:rPr lang="fr-FR" dirty="0">
                <a:cs typeface="Arial" panose="020B0604020202020204" pitchFamily="34" charset="0"/>
              </a:rPr>
              <a:t>	</a:t>
            </a:r>
            <a:r>
              <a:rPr lang="fr-FR" dirty="0" smtClean="0">
                <a:cs typeface="Arial" panose="020B0604020202020204" pitchFamily="34" charset="0"/>
              </a:rPr>
              <a:t>						l’ensemble d’une catégorie. Elles ne constituent pas des opérations courantes.</a:t>
            </a:r>
          </a:p>
          <a:p>
            <a:r>
              <a:rPr lang="fr-FR" dirty="0">
                <a:cs typeface="Arial" panose="020B0604020202020204" pitchFamily="34" charset="0"/>
              </a:rPr>
              <a:t>	</a:t>
            </a:r>
            <a:r>
              <a:rPr lang="fr-FR" dirty="0" smtClean="0">
                <a:cs typeface="Arial" panose="020B0604020202020204" pitchFamily="34" charset="0"/>
              </a:rPr>
              <a:t>						Dès que les motifs de la dépréciation n’existent plus, vous devez normalement annuler</a:t>
            </a:r>
          </a:p>
          <a:p>
            <a:r>
              <a:rPr lang="fr-FR" dirty="0">
                <a:cs typeface="Arial" panose="020B0604020202020204" pitchFamily="34" charset="0"/>
              </a:rPr>
              <a:t>	</a:t>
            </a:r>
            <a:r>
              <a:rPr lang="fr-FR" dirty="0" smtClean="0">
                <a:cs typeface="Arial" panose="020B0604020202020204" pitchFamily="34" charset="0"/>
              </a:rPr>
              <a:t>						la dépréciation en contrepartie d’un compte de reprise de dépréciation.   </a:t>
            </a:r>
          </a:p>
          <a:p>
            <a:endParaRPr lang="fr-FR" b="1" dirty="0" smtClean="0"/>
          </a:p>
          <a:p>
            <a:endParaRPr lang="ru-RU" b="1" dirty="0"/>
          </a:p>
          <a:p>
            <a:endParaRPr lang="ru-RU" dirty="0"/>
          </a:p>
          <a:p>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21</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2486428"/>
            <a:ext cx="2604361" cy="1814352"/>
          </a:xfrm>
          <a:prstGeom prst="rect">
            <a:avLst/>
          </a:prstGeom>
        </p:spPr>
      </p:pic>
    </p:spTree>
    <p:extLst>
      <p:ext uri="{BB962C8B-B14F-4D97-AF65-F5344CB8AC3E}">
        <p14:creationId xmlns:p14="http://schemas.microsoft.com/office/powerpoint/2010/main" val="167036478"/>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700" dirty="0" err="1" smtClean="0">
                <a:cs typeface="Arial" panose="020B0604020202020204" pitchFamily="34" charset="0"/>
              </a:rPr>
              <a:t>Reporting</a:t>
            </a:r>
            <a:r>
              <a:rPr lang="fr-FR" altLang="en-US" sz="2700" dirty="0" smtClean="0">
                <a:cs typeface="Arial" panose="020B0604020202020204" pitchFamily="34" charset="0"/>
              </a:rPr>
              <a:t> des immobilisations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875654"/>
            <a:ext cx="8246571" cy="3611105"/>
          </a:xfrm>
        </p:spPr>
        <p:txBody>
          <a:bodyPr/>
          <a:lstStyle/>
          <a:p>
            <a:r>
              <a:rPr lang="fr-FR" dirty="0" smtClean="0"/>
              <a:t>SAP fourni plusieurs </a:t>
            </a:r>
            <a:r>
              <a:rPr lang="fr-FR" dirty="0" err="1" smtClean="0"/>
              <a:t>reportings</a:t>
            </a:r>
            <a:r>
              <a:rPr lang="fr-FR" dirty="0" smtClean="0"/>
              <a:t> pour les immobilisations. Parmi tous, la grille d’évolution est l’une des annexes les plus importantes du bilan. </a:t>
            </a:r>
          </a:p>
          <a:p>
            <a:r>
              <a:rPr lang="fr-FR" dirty="0" smtClean="0"/>
              <a:t>Elle affiche toutes les modifications apportées aux existants d’immobilisations dans un exercice comptable.  </a:t>
            </a:r>
          </a:p>
          <a:p>
            <a:endParaRPr lang="ru-RU" b="1" dirty="0"/>
          </a:p>
          <a:p>
            <a:endParaRPr lang="ru-RU" dirty="0"/>
          </a:p>
          <a:p>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CA" dirty="0">
                <a:latin typeface="Arial" panose="020B0604020202020204" pitchFamily="34" charset="0"/>
                <a:cs typeface="Arial" panose="020B0604020202020204" pitchFamily="34" charset="0"/>
              </a:rPr>
              <a:t> </a:t>
            </a:r>
            <a:r>
              <a:rPr lang="fr-FR" dirty="0"/>
              <a:t> </a:t>
            </a:r>
            <a:endParaRPr lang="ru-RU" dirty="0"/>
          </a:p>
          <a:p>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22</a:t>
            </a:fld>
            <a:endParaRPr lang="fr-FR" altLang="en-US" sz="750">
              <a:solidFill>
                <a:srgbClr val="000000"/>
              </a:solidFill>
            </a:endParaRPr>
          </a:p>
        </p:txBody>
      </p:sp>
    </p:spTree>
    <p:extLst>
      <p:ext uri="{BB962C8B-B14F-4D97-AF65-F5344CB8AC3E}">
        <p14:creationId xmlns:p14="http://schemas.microsoft.com/office/powerpoint/2010/main" val="2187568405"/>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Modes opératoires</a:t>
            </a:r>
            <a:endPar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 </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23</a:t>
            </a:fld>
            <a:endParaRPr lang="fr-FR" altLang="en-US" sz="750"/>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fiche immobilisation 1/5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La création de la fiche immobilisation se fait via la transaction AS01 Depuis le menu SAP : Gestion Comptable / Immobilisation / Immobilisation / Créer </a:t>
            </a:r>
          </a:p>
          <a:p>
            <a:r>
              <a:rPr lang="fr-FR" dirty="0" smtClean="0">
                <a:cs typeface="Arial" panose="020B0604020202020204" pitchFamily="34" charset="0"/>
              </a:rPr>
              <a:t>Pour créer une immobilisation, il faut connaitre sa catégorie. On peut créer plusieurs immobilisations à la fois. On peut aussi choisir de créer une fiche d’immobilisation à partir d’un modèle. </a:t>
            </a:r>
          </a:p>
          <a:p>
            <a:r>
              <a:rPr lang="fr-FR" dirty="0" smtClean="0">
                <a:cs typeface="Arial" panose="020B0604020202020204" pitchFamily="34" charset="0"/>
              </a:rPr>
              <a:t>1/ Création d’un immobilisation sans modèle 	</a:t>
            </a:r>
            <a:endParaRPr lang="fr-FR" dirty="0">
              <a:cs typeface="Arial" panose="020B0604020202020204" pitchFamily="34" charset="0"/>
            </a:endParaRPr>
          </a:p>
          <a:p>
            <a:r>
              <a:rPr lang="fr-FR" dirty="0" smtClean="0">
                <a:cs typeface="Arial" panose="020B0604020202020204" pitchFamily="34" charset="0"/>
              </a:rPr>
              <a:t>									Renseigner les données obligatoires des onglets : </a:t>
            </a:r>
            <a:endParaRPr lang="fr-FR" dirty="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24</a:t>
            </a:fld>
            <a:endParaRPr lang="fr-FR" altLang="en-US" sz="750">
              <a:solidFill>
                <a:srgbClr val="000000"/>
              </a:solidFill>
            </a:endParaRPr>
          </a:p>
        </p:txBody>
      </p:sp>
      <p:pic>
        <p:nvPicPr>
          <p:cNvPr id="8" name="Image 7"/>
          <p:cNvPicPr>
            <a:picLocks noChangeAspect="1"/>
          </p:cNvPicPr>
          <p:nvPr/>
        </p:nvPicPr>
        <p:blipFill>
          <a:blip r:embed="rId2"/>
          <a:stretch>
            <a:fillRect/>
          </a:stretch>
        </p:blipFill>
        <p:spPr>
          <a:xfrm>
            <a:off x="573578" y="2479729"/>
            <a:ext cx="3124200" cy="1879614"/>
          </a:xfrm>
          <a:prstGeom prst="rect">
            <a:avLst/>
          </a:prstGeom>
        </p:spPr>
      </p:pic>
      <p:pic>
        <p:nvPicPr>
          <p:cNvPr id="10" name="Image 9"/>
          <p:cNvPicPr>
            <a:picLocks noChangeAspect="1"/>
          </p:cNvPicPr>
          <p:nvPr/>
        </p:nvPicPr>
        <p:blipFill>
          <a:blip r:embed="rId3"/>
          <a:stretch>
            <a:fillRect/>
          </a:stretch>
        </p:blipFill>
        <p:spPr>
          <a:xfrm>
            <a:off x="4130299" y="2817260"/>
            <a:ext cx="3742840" cy="1542083"/>
          </a:xfrm>
          <a:prstGeom prst="rect">
            <a:avLst/>
          </a:prstGeom>
        </p:spPr>
      </p:pic>
    </p:spTree>
    <p:extLst>
      <p:ext uri="{BB962C8B-B14F-4D97-AF65-F5344CB8AC3E}">
        <p14:creationId xmlns:p14="http://schemas.microsoft.com/office/powerpoint/2010/main" val="1102331642"/>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fiche immobilisation 2/5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smtClean="0">
                <a:cs typeface="Arial" panose="020B0604020202020204" pitchFamily="34" charset="0"/>
              </a:rPr>
              <a:t>Une fois ces onglets renseignés sauvegarder la saisie. Un numéro d’immobilisation est attribué. Notre ce numéro pour le test suivant qui consiste à modifier l’immobilisation.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25</a:t>
            </a:fld>
            <a:endParaRPr lang="fr-FR" altLang="en-US" sz="750">
              <a:solidFill>
                <a:srgbClr val="000000"/>
              </a:solidFill>
            </a:endParaRPr>
          </a:p>
        </p:txBody>
      </p:sp>
      <p:pic>
        <p:nvPicPr>
          <p:cNvPr id="6" name="Image 5"/>
          <p:cNvPicPr>
            <a:picLocks noChangeAspect="1"/>
          </p:cNvPicPr>
          <p:nvPr/>
        </p:nvPicPr>
        <p:blipFill>
          <a:blip r:embed="rId2"/>
          <a:stretch>
            <a:fillRect/>
          </a:stretch>
        </p:blipFill>
        <p:spPr>
          <a:xfrm>
            <a:off x="573578" y="1152525"/>
            <a:ext cx="3574056" cy="2727701"/>
          </a:xfrm>
          <a:prstGeom prst="rect">
            <a:avLst/>
          </a:prstGeom>
        </p:spPr>
      </p:pic>
      <p:pic>
        <p:nvPicPr>
          <p:cNvPr id="7" name="Image 6"/>
          <p:cNvPicPr>
            <a:picLocks noChangeAspect="1"/>
          </p:cNvPicPr>
          <p:nvPr/>
        </p:nvPicPr>
        <p:blipFill>
          <a:blip r:embed="rId3"/>
          <a:stretch>
            <a:fillRect/>
          </a:stretch>
        </p:blipFill>
        <p:spPr>
          <a:xfrm>
            <a:off x="4693878" y="1171575"/>
            <a:ext cx="3580027" cy="2708651"/>
          </a:xfrm>
          <a:prstGeom prst="rect">
            <a:avLst/>
          </a:prstGeom>
        </p:spPr>
      </p:pic>
    </p:spTree>
    <p:extLst>
      <p:ext uri="{BB962C8B-B14F-4D97-AF65-F5344CB8AC3E}">
        <p14:creationId xmlns:p14="http://schemas.microsoft.com/office/powerpoint/2010/main" val="1486021648"/>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fiche immobilisation 3/5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Les transaction ci-dessous sont accessibles depuis le menu SAP : Gestion Comptable / Comptabilité financière / Immobilisation / Immobilisation : Modifier, Afficher et bloquer </a:t>
            </a:r>
          </a:p>
          <a:p>
            <a:r>
              <a:rPr lang="fr-FR" dirty="0" smtClean="0">
                <a:cs typeface="Arial" panose="020B0604020202020204" pitchFamily="34" charset="0"/>
              </a:rPr>
              <a:t>Lancer la transaction AS02 : Modifier </a:t>
            </a:r>
            <a:r>
              <a:rPr lang="fr-FR" dirty="0" err="1" smtClean="0">
                <a:cs typeface="Arial" panose="020B0604020202020204" pitchFamily="34" charset="0"/>
              </a:rPr>
              <a:t>immo</a:t>
            </a:r>
            <a:r>
              <a:rPr lang="fr-FR" dirty="0" smtClean="0">
                <a:cs typeface="Arial" panose="020B0604020202020204" pitchFamily="34" charset="0"/>
              </a:rPr>
              <a:t> données de base. Rajouter un numéro d’inventaire par exemple à cette immobilisation puis sauvegarder cette modification. </a:t>
            </a:r>
          </a:p>
          <a:p>
            <a:r>
              <a:rPr lang="fr-FR" dirty="0" smtClean="0">
                <a:cs typeface="Arial" panose="020B0604020202020204" pitchFamily="34" charset="0"/>
              </a:rPr>
              <a:t>Affichage de l’immobilisation :							Blocage de l’immobilisation :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26</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2394488"/>
            <a:ext cx="3183948" cy="1921790"/>
          </a:xfrm>
          <a:prstGeom prst="rect">
            <a:avLst/>
          </a:prstGeom>
        </p:spPr>
      </p:pic>
      <p:pic>
        <p:nvPicPr>
          <p:cNvPr id="4" name="Image 3"/>
          <p:cNvPicPr>
            <a:picLocks noChangeAspect="1"/>
          </p:cNvPicPr>
          <p:nvPr/>
        </p:nvPicPr>
        <p:blipFill>
          <a:blip r:embed="rId3"/>
          <a:stretch>
            <a:fillRect/>
          </a:stretch>
        </p:blipFill>
        <p:spPr>
          <a:xfrm>
            <a:off x="4658861" y="2394488"/>
            <a:ext cx="3788677" cy="1921790"/>
          </a:xfrm>
          <a:prstGeom prst="rect">
            <a:avLst/>
          </a:prstGeom>
        </p:spPr>
      </p:pic>
    </p:spTree>
    <p:extLst>
      <p:ext uri="{BB962C8B-B14F-4D97-AF65-F5344CB8AC3E}">
        <p14:creationId xmlns:p14="http://schemas.microsoft.com/office/powerpoint/2010/main" val="3585453086"/>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latin typeface="+mn-lt"/>
                <a:cs typeface="Arial" panose="020B0604020202020204" pitchFamily="34" charset="0"/>
              </a:rPr>
              <a:t>M</a:t>
            </a:r>
            <a:r>
              <a:rPr lang="fr-FR" altLang="en-US" sz="2400" dirty="0" smtClean="0">
                <a:latin typeface="+mn-lt"/>
                <a:cs typeface="Arial" panose="020B0604020202020204" pitchFamily="34" charset="0"/>
              </a:rPr>
              <a:t>ode </a:t>
            </a:r>
            <a:r>
              <a:rPr lang="fr-FR" altLang="en-US" sz="2400" dirty="0">
                <a:latin typeface="+mn-lt"/>
                <a:cs typeface="Arial" panose="020B0604020202020204" pitchFamily="34" charset="0"/>
              </a:rPr>
              <a:t>opératoire </a:t>
            </a:r>
            <a:r>
              <a:rPr lang="fr-FR" altLang="en-US" sz="2400" dirty="0" smtClean="0">
                <a:latin typeface="+mn-lt"/>
                <a:cs typeface="Arial" panose="020B0604020202020204" pitchFamily="34" charset="0"/>
              </a:rPr>
              <a:t>fiche immobilisation 4/5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Création de plusieurs immobilisations à la fois. La transaction de création reste la même. Bien évidemment toutes ces immobilisations doivent être de la même catégorie.  </a:t>
            </a: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cs typeface="Arial" panose="020B0604020202020204" pitchFamily="34" charset="0"/>
              </a:rPr>
              <a:t>Sauvegarder votre saisie. Un pop- up apparait. Prendre l’option Gérer afin de personnaliser les quatre immobilisations restantes.  </a:t>
            </a: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27</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9" y="1565327"/>
            <a:ext cx="2495086" cy="2487479"/>
          </a:xfrm>
          <a:prstGeom prst="rect">
            <a:avLst/>
          </a:prstGeom>
        </p:spPr>
      </p:pic>
      <p:pic>
        <p:nvPicPr>
          <p:cNvPr id="5" name="Image 4"/>
          <p:cNvPicPr>
            <a:picLocks noChangeAspect="1"/>
          </p:cNvPicPr>
          <p:nvPr/>
        </p:nvPicPr>
        <p:blipFill>
          <a:blip r:embed="rId2"/>
          <a:stretch>
            <a:fillRect/>
          </a:stretch>
        </p:blipFill>
        <p:spPr>
          <a:xfrm>
            <a:off x="3109912" y="1565328"/>
            <a:ext cx="2924175" cy="2487479"/>
          </a:xfrm>
          <a:prstGeom prst="rect">
            <a:avLst/>
          </a:prstGeom>
        </p:spPr>
      </p:pic>
      <p:pic>
        <p:nvPicPr>
          <p:cNvPr id="6" name="Image 5"/>
          <p:cNvPicPr>
            <a:picLocks noChangeAspect="1"/>
          </p:cNvPicPr>
          <p:nvPr/>
        </p:nvPicPr>
        <p:blipFill>
          <a:blip r:embed="rId3"/>
          <a:stretch>
            <a:fillRect/>
          </a:stretch>
        </p:blipFill>
        <p:spPr>
          <a:xfrm>
            <a:off x="6124615" y="1565329"/>
            <a:ext cx="2445806" cy="2487478"/>
          </a:xfrm>
          <a:prstGeom prst="rect">
            <a:avLst/>
          </a:prstGeom>
        </p:spPr>
      </p:pic>
    </p:spTree>
    <p:extLst>
      <p:ext uri="{BB962C8B-B14F-4D97-AF65-F5344CB8AC3E}">
        <p14:creationId xmlns:p14="http://schemas.microsoft.com/office/powerpoint/2010/main" val="1879437543"/>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fiche immobilisation 5/5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Changer les désignations et les centres de coûts puis sauvegarder votre saisie en cliquant cette fois ci sur créer. </a:t>
            </a:r>
          </a:p>
          <a:p>
            <a:r>
              <a:rPr lang="fr-FR" dirty="0" smtClean="0">
                <a:cs typeface="Arial" panose="020B0604020202020204" pitchFamily="34" charset="0"/>
              </a:rPr>
              <a:t>									Changer les désignations et le centre de coûts puis sauvegarder votre</a:t>
            </a:r>
          </a:p>
          <a:p>
            <a:r>
              <a:rPr lang="fr-FR" dirty="0">
                <a:cs typeface="Arial" panose="020B0604020202020204" pitchFamily="34" charset="0"/>
              </a:rPr>
              <a:t>	</a:t>
            </a:r>
            <a:r>
              <a:rPr lang="fr-FR" dirty="0" smtClean="0">
                <a:cs typeface="Arial" panose="020B0604020202020204" pitchFamily="34" charset="0"/>
              </a:rPr>
              <a:t>								saisie en cliquant cette fois ci sur créer. Un message apparait en bas</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28</a:t>
            </a:fld>
            <a:endParaRPr lang="fr-FR" altLang="en-US" sz="750">
              <a:solidFill>
                <a:srgbClr val="000000"/>
              </a:solidFill>
            </a:endParaRPr>
          </a:p>
        </p:txBody>
      </p:sp>
      <p:pic>
        <p:nvPicPr>
          <p:cNvPr id="7" name="Image 6"/>
          <p:cNvPicPr>
            <a:picLocks noChangeAspect="1"/>
          </p:cNvPicPr>
          <p:nvPr/>
        </p:nvPicPr>
        <p:blipFill>
          <a:blip r:embed="rId2"/>
          <a:stretch>
            <a:fillRect/>
          </a:stretch>
        </p:blipFill>
        <p:spPr>
          <a:xfrm>
            <a:off x="573578" y="1406615"/>
            <a:ext cx="2950086" cy="2092271"/>
          </a:xfrm>
          <a:prstGeom prst="rect">
            <a:avLst/>
          </a:prstGeom>
        </p:spPr>
      </p:pic>
      <p:sp>
        <p:nvSpPr>
          <p:cNvPr id="10" name="Rectangle 9"/>
          <p:cNvSpPr/>
          <p:nvPr/>
        </p:nvSpPr>
        <p:spPr>
          <a:xfrm>
            <a:off x="1471672" y="3293032"/>
            <a:ext cx="635431" cy="13196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8" name="Image 7"/>
          <p:cNvPicPr>
            <a:picLocks noChangeAspect="1"/>
          </p:cNvPicPr>
          <p:nvPr/>
        </p:nvPicPr>
        <p:blipFill>
          <a:blip r:embed="rId3"/>
          <a:stretch>
            <a:fillRect/>
          </a:stretch>
        </p:blipFill>
        <p:spPr>
          <a:xfrm>
            <a:off x="3986696" y="2069105"/>
            <a:ext cx="4833453" cy="2092271"/>
          </a:xfrm>
          <a:prstGeom prst="rect">
            <a:avLst/>
          </a:prstGeom>
        </p:spPr>
      </p:pic>
      <p:pic>
        <p:nvPicPr>
          <p:cNvPr id="9" name="Image 8"/>
          <p:cNvPicPr>
            <a:picLocks noChangeAspect="1"/>
          </p:cNvPicPr>
          <p:nvPr/>
        </p:nvPicPr>
        <p:blipFill>
          <a:blip r:embed="rId4"/>
          <a:stretch>
            <a:fillRect/>
          </a:stretch>
        </p:blipFill>
        <p:spPr>
          <a:xfrm>
            <a:off x="4000720" y="4261224"/>
            <a:ext cx="3067050" cy="257175"/>
          </a:xfrm>
          <a:prstGeom prst="rect">
            <a:avLst/>
          </a:prstGeom>
        </p:spPr>
      </p:pic>
      <p:sp>
        <p:nvSpPr>
          <p:cNvPr id="13" name="Rectangle 12"/>
          <p:cNvSpPr/>
          <p:nvPr/>
        </p:nvSpPr>
        <p:spPr>
          <a:xfrm>
            <a:off x="829159" y="3293032"/>
            <a:ext cx="642513" cy="13196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42849253"/>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1"/>
            <a:ext cx="8229600" cy="857250"/>
          </a:xfrm>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transfert </a:t>
            </a:r>
            <a:r>
              <a:rPr lang="fr-FR" altLang="en-US" sz="2400" dirty="0" smtClean="0">
                <a:cs typeface="Arial" panose="020B0604020202020204" pitchFamily="34" charset="0"/>
              </a:rPr>
              <a:t>d’immobilisation 1/4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009891"/>
            <a:ext cx="8246571" cy="3472105"/>
          </a:xfrm>
        </p:spPr>
        <p:txBody>
          <a:bodyPr/>
          <a:lstStyle/>
          <a:p>
            <a:r>
              <a:rPr lang="fr-FR" dirty="0" smtClean="0">
                <a:cs typeface="Arial" panose="020B0604020202020204" pitchFamily="34" charset="0"/>
              </a:rPr>
              <a:t>Fiche </a:t>
            </a:r>
            <a:r>
              <a:rPr lang="fr-FR" dirty="0" err="1" smtClean="0">
                <a:cs typeface="Arial" panose="020B0604020202020204" pitchFamily="34" charset="0"/>
              </a:rPr>
              <a:t>immo</a:t>
            </a:r>
            <a:r>
              <a:rPr lang="fr-FR" dirty="0" smtClean="0">
                <a:cs typeface="Arial" panose="020B0604020202020204" pitchFamily="34" charset="0"/>
              </a:rPr>
              <a:t> avant le transfert : </a:t>
            </a:r>
            <a:endParaRPr lang="fr-FR" dirty="0" smtClean="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29</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368452"/>
            <a:ext cx="3817105" cy="3113544"/>
          </a:xfrm>
          <a:prstGeom prst="rect">
            <a:avLst/>
          </a:prstGeom>
        </p:spPr>
      </p:pic>
      <p:pic>
        <p:nvPicPr>
          <p:cNvPr id="4" name="Image 3"/>
          <p:cNvPicPr>
            <a:picLocks noChangeAspect="1"/>
          </p:cNvPicPr>
          <p:nvPr/>
        </p:nvPicPr>
        <p:blipFill>
          <a:blip r:embed="rId3"/>
          <a:stretch>
            <a:fillRect/>
          </a:stretch>
        </p:blipFill>
        <p:spPr>
          <a:xfrm>
            <a:off x="4432515" y="1368452"/>
            <a:ext cx="4345802" cy="3113544"/>
          </a:xfrm>
          <a:prstGeom prst="rect">
            <a:avLst/>
          </a:prstGeom>
        </p:spPr>
      </p:pic>
    </p:spTree>
    <p:extLst>
      <p:ext uri="{BB962C8B-B14F-4D97-AF65-F5344CB8AC3E}">
        <p14:creationId xmlns:p14="http://schemas.microsoft.com/office/powerpoint/2010/main" val="755958497"/>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1"/>
            <a:ext cx="8229600" cy="857250"/>
          </a:xfrm>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transfert </a:t>
            </a:r>
            <a:r>
              <a:rPr lang="fr-FR" altLang="en-US" sz="2400" dirty="0" smtClean="0">
                <a:cs typeface="Arial" panose="020B0604020202020204" pitchFamily="34" charset="0"/>
              </a:rPr>
              <a:t>d’immobilisation 2/4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009891"/>
            <a:ext cx="8246571" cy="3472105"/>
          </a:xfrm>
        </p:spPr>
        <p:txBody>
          <a:bodyPr/>
          <a:lstStyle/>
          <a:p>
            <a:r>
              <a:rPr lang="fr-FR" dirty="0" smtClean="0">
                <a:cs typeface="Arial" panose="020B0604020202020204" pitchFamily="34" charset="0"/>
              </a:rPr>
              <a:t>Lancer la </a:t>
            </a:r>
            <a:r>
              <a:rPr lang="fr-FR" dirty="0">
                <a:cs typeface="Arial" panose="020B0604020202020204" pitchFamily="34" charset="0"/>
              </a:rPr>
              <a:t>transaction </a:t>
            </a:r>
            <a:r>
              <a:rPr lang="fr-FR" dirty="0" smtClean="0">
                <a:cs typeface="Arial" panose="020B0604020202020204" pitchFamily="34" charset="0"/>
              </a:rPr>
              <a:t>ABUMN : Saisir mouvement d’immobilisation : Transfert interne à la société</a:t>
            </a:r>
          </a:p>
          <a:p>
            <a:r>
              <a:rPr lang="fr-FR" dirty="0" smtClean="0">
                <a:cs typeface="Arial" panose="020B0604020202020204" pitchFamily="34" charset="0"/>
              </a:rPr>
              <a:t>Ce transfert sera fait vers une nouvelle </a:t>
            </a:r>
            <a:r>
              <a:rPr lang="fr-FR" dirty="0" err="1" smtClean="0">
                <a:cs typeface="Arial" panose="020B0604020202020204" pitchFamily="34" charset="0"/>
              </a:rPr>
              <a:t>immo</a:t>
            </a:r>
            <a:r>
              <a:rPr lang="fr-FR" dirty="0" smtClean="0">
                <a:cs typeface="Arial" panose="020B0604020202020204" pitchFamily="34" charset="0"/>
              </a:rPr>
              <a:t> d’une catégorie différente de celle de l’</a:t>
            </a:r>
            <a:r>
              <a:rPr lang="fr-FR" dirty="0" err="1" smtClean="0">
                <a:cs typeface="Arial" panose="020B0604020202020204" pitchFamily="34" charset="0"/>
              </a:rPr>
              <a:t>immo</a:t>
            </a:r>
            <a:r>
              <a:rPr lang="fr-FR" dirty="0" smtClean="0">
                <a:cs typeface="Arial" panose="020B0604020202020204" pitchFamily="34" charset="0"/>
              </a:rPr>
              <a:t> d’origine et aussi d’un centre de coût différent. Renseigner le 1</a:t>
            </a:r>
            <a:r>
              <a:rPr lang="fr-FR" baseline="30000" dirty="0" smtClean="0">
                <a:cs typeface="Arial" panose="020B0604020202020204" pitchFamily="34" charset="0"/>
              </a:rPr>
              <a:t>er</a:t>
            </a:r>
            <a:r>
              <a:rPr lang="fr-FR" dirty="0" smtClean="0">
                <a:cs typeface="Arial" panose="020B0604020202020204" pitchFamily="34" charset="0"/>
              </a:rPr>
              <a:t> onglet, le 2</a:t>
            </a:r>
            <a:r>
              <a:rPr lang="fr-FR" baseline="30000" dirty="0" smtClean="0">
                <a:cs typeface="Arial" panose="020B0604020202020204" pitchFamily="34" charset="0"/>
              </a:rPr>
              <a:t>ème</a:t>
            </a:r>
            <a:r>
              <a:rPr lang="fr-FR" dirty="0" smtClean="0">
                <a:cs typeface="Arial" panose="020B0604020202020204" pitchFamily="34" charset="0"/>
              </a:rPr>
              <a:t> n’est pas à remplir et le 3</a:t>
            </a:r>
            <a:r>
              <a:rPr lang="fr-FR" baseline="30000" dirty="0" smtClean="0">
                <a:cs typeface="Arial" panose="020B0604020202020204" pitchFamily="34" charset="0"/>
              </a:rPr>
              <a:t>ème</a:t>
            </a:r>
            <a:r>
              <a:rPr lang="fr-FR" dirty="0" smtClean="0">
                <a:cs typeface="Arial" panose="020B0604020202020204" pitchFamily="34" charset="0"/>
              </a:rPr>
              <a:t> que s’il s’agit d’un transfert partiel.  </a:t>
            </a:r>
          </a:p>
          <a:p>
            <a:r>
              <a:rPr lang="fr-FR" dirty="0" smtClean="0">
                <a:latin typeface="Arial" panose="020B0604020202020204" pitchFamily="34" charset="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30</a:t>
            </a:fld>
            <a:endParaRPr lang="fr-FR" altLang="en-US" sz="750">
              <a:solidFill>
                <a:srgbClr val="000000"/>
              </a:solidFill>
            </a:endParaRPr>
          </a:p>
        </p:txBody>
      </p:sp>
      <p:pic>
        <p:nvPicPr>
          <p:cNvPr id="5" name="Image 4"/>
          <p:cNvPicPr>
            <a:picLocks noChangeAspect="1"/>
          </p:cNvPicPr>
          <p:nvPr/>
        </p:nvPicPr>
        <p:blipFill>
          <a:blip r:embed="rId2"/>
          <a:stretch>
            <a:fillRect/>
          </a:stretch>
        </p:blipFill>
        <p:spPr>
          <a:xfrm>
            <a:off x="573580" y="1766807"/>
            <a:ext cx="2713815" cy="2657959"/>
          </a:xfrm>
          <a:prstGeom prst="rect">
            <a:avLst/>
          </a:prstGeom>
        </p:spPr>
      </p:pic>
      <p:pic>
        <p:nvPicPr>
          <p:cNvPr id="6" name="Image 5"/>
          <p:cNvPicPr>
            <a:picLocks noChangeAspect="1"/>
          </p:cNvPicPr>
          <p:nvPr/>
        </p:nvPicPr>
        <p:blipFill>
          <a:blip r:embed="rId3"/>
          <a:stretch>
            <a:fillRect/>
          </a:stretch>
        </p:blipFill>
        <p:spPr>
          <a:xfrm>
            <a:off x="3403773" y="1766806"/>
            <a:ext cx="2858511" cy="2657959"/>
          </a:xfrm>
          <a:prstGeom prst="rect">
            <a:avLst/>
          </a:prstGeom>
        </p:spPr>
      </p:pic>
      <p:pic>
        <p:nvPicPr>
          <p:cNvPr id="7" name="Image 6"/>
          <p:cNvPicPr>
            <a:picLocks noChangeAspect="1"/>
          </p:cNvPicPr>
          <p:nvPr/>
        </p:nvPicPr>
        <p:blipFill>
          <a:blip r:embed="rId4"/>
          <a:stretch>
            <a:fillRect/>
          </a:stretch>
        </p:blipFill>
        <p:spPr>
          <a:xfrm>
            <a:off x="6378662" y="1766806"/>
            <a:ext cx="2441488" cy="2657959"/>
          </a:xfrm>
          <a:prstGeom prst="rect">
            <a:avLst/>
          </a:prstGeom>
        </p:spPr>
      </p:pic>
    </p:spTree>
    <p:extLst>
      <p:ext uri="{BB962C8B-B14F-4D97-AF65-F5344CB8AC3E}">
        <p14:creationId xmlns:p14="http://schemas.microsoft.com/office/powerpoint/2010/main" val="227795322"/>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1"/>
            <a:ext cx="8229600" cy="857250"/>
          </a:xfrm>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transfert </a:t>
            </a:r>
            <a:r>
              <a:rPr lang="fr-FR" altLang="en-US" sz="2400" dirty="0" smtClean="0">
                <a:cs typeface="Arial" panose="020B0604020202020204" pitchFamily="34" charset="0"/>
              </a:rPr>
              <a:t>d’immobilisation 3/4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009891"/>
            <a:ext cx="8246571" cy="3472105"/>
          </a:xfrm>
        </p:spPr>
        <p:txBody>
          <a:bodyPr/>
          <a:lstStyle/>
          <a:p>
            <a:r>
              <a:rPr lang="fr-FR" dirty="0" smtClean="0">
                <a:cs typeface="Arial" panose="020B0604020202020204" pitchFamily="34" charset="0"/>
              </a:rPr>
              <a:t>Sauvegarder votre saisie. </a:t>
            </a:r>
            <a:r>
              <a:rPr lang="fr-FR" dirty="0" smtClean="0">
                <a:cs typeface="Arial" panose="020B0604020202020204" pitchFamily="34" charset="0"/>
              </a:rPr>
              <a:t>Une fenêtre s’ouvre</a:t>
            </a:r>
            <a:r>
              <a:rPr lang="fr-FR" dirty="0" smtClean="0">
                <a:cs typeface="Arial" panose="020B0604020202020204" pitchFamily="34" charset="0"/>
              </a:rPr>
              <a:t> avec les informations de la nouvelle </a:t>
            </a:r>
            <a:r>
              <a:rPr lang="fr-FR" dirty="0" err="1" smtClean="0">
                <a:cs typeface="Arial" panose="020B0604020202020204" pitchFamily="34" charset="0"/>
              </a:rPr>
              <a:t>immo</a:t>
            </a:r>
            <a:r>
              <a:rPr lang="fr-FR" dirty="0" smtClean="0">
                <a:cs typeface="Arial" panose="020B0604020202020204" pitchFamily="34" charset="0"/>
              </a:rPr>
              <a:t>.</a:t>
            </a:r>
          </a:p>
          <a:p>
            <a:r>
              <a:rPr lang="fr-FR" dirty="0" smtClean="0">
                <a:latin typeface="Arial" panose="020B0604020202020204" pitchFamily="34" charset="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Affichage de la nouvelle </a:t>
            </a:r>
            <a:r>
              <a:rPr lang="fr-FR" dirty="0" err="1" smtClean="0">
                <a:cs typeface="Arial" panose="020B0604020202020204" pitchFamily="34" charset="0"/>
              </a:rPr>
              <a:t>immo</a:t>
            </a:r>
            <a:r>
              <a:rPr lang="fr-FR" dirty="0" smtClean="0">
                <a:cs typeface="Arial" panose="020B0604020202020204" pitchFamily="34" charset="0"/>
              </a:rPr>
              <a:t> : </a:t>
            </a:r>
            <a:endParaRPr lang="fr-FR" dirty="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31</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234857"/>
            <a:ext cx="4029419" cy="1027895"/>
          </a:xfrm>
          <a:prstGeom prst="rect">
            <a:avLst/>
          </a:prstGeom>
        </p:spPr>
      </p:pic>
      <p:pic>
        <p:nvPicPr>
          <p:cNvPr id="4" name="Image 3"/>
          <p:cNvPicPr>
            <a:picLocks noChangeAspect="1"/>
          </p:cNvPicPr>
          <p:nvPr/>
        </p:nvPicPr>
        <p:blipFill>
          <a:blip r:embed="rId3"/>
          <a:stretch>
            <a:fillRect/>
          </a:stretch>
        </p:blipFill>
        <p:spPr>
          <a:xfrm>
            <a:off x="573579" y="2637941"/>
            <a:ext cx="2828300" cy="1844055"/>
          </a:xfrm>
          <a:prstGeom prst="rect">
            <a:avLst/>
          </a:prstGeom>
        </p:spPr>
      </p:pic>
      <p:pic>
        <p:nvPicPr>
          <p:cNvPr id="8" name="Image 7"/>
          <p:cNvPicPr>
            <a:picLocks noChangeAspect="1"/>
          </p:cNvPicPr>
          <p:nvPr/>
        </p:nvPicPr>
        <p:blipFill>
          <a:blip r:embed="rId4"/>
          <a:stretch>
            <a:fillRect/>
          </a:stretch>
        </p:blipFill>
        <p:spPr>
          <a:xfrm>
            <a:off x="3463871" y="2637940"/>
            <a:ext cx="2474563" cy="1844055"/>
          </a:xfrm>
          <a:prstGeom prst="rect">
            <a:avLst/>
          </a:prstGeom>
        </p:spPr>
      </p:pic>
      <p:pic>
        <p:nvPicPr>
          <p:cNvPr id="9" name="Image 8"/>
          <p:cNvPicPr>
            <a:picLocks noChangeAspect="1"/>
          </p:cNvPicPr>
          <p:nvPr/>
        </p:nvPicPr>
        <p:blipFill>
          <a:blip r:embed="rId5"/>
          <a:stretch>
            <a:fillRect/>
          </a:stretch>
        </p:blipFill>
        <p:spPr>
          <a:xfrm>
            <a:off x="5966848" y="2637940"/>
            <a:ext cx="2824888" cy="1844054"/>
          </a:xfrm>
          <a:prstGeom prst="rect">
            <a:avLst/>
          </a:prstGeom>
        </p:spPr>
      </p:pic>
    </p:spTree>
    <p:extLst>
      <p:ext uri="{BB962C8B-B14F-4D97-AF65-F5344CB8AC3E}">
        <p14:creationId xmlns:p14="http://schemas.microsoft.com/office/powerpoint/2010/main" val="865442620"/>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1"/>
            <a:ext cx="8229600" cy="857250"/>
          </a:xfrm>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transfert </a:t>
            </a:r>
            <a:r>
              <a:rPr lang="fr-FR" altLang="en-US" sz="2400" dirty="0" smtClean="0">
                <a:cs typeface="Arial" panose="020B0604020202020204" pitchFamily="34" charset="0"/>
              </a:rPr>
              <a:t>d’immobilisation 4/4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009891"/>
            <a:ext cx="8246571" cy="3472105"/>
          </a:xfrm>
        </p:spPr>
        <p:txBody>
          <a:bodyPr/>
          <a:lstStyle/>
          <a:p>
            <a:r>
              <a:rPr lang="fr-FR" dirty="0" smtClean="0">
                <a:cs typeface="Arial" panose="020B0604020202020204" pitchFamily="34" charset="0"/>
              </a:rPr>
              <a:t>Visualisation des valeurs de la nouvelle </a:t>
            </a:r>
            <a:r>
              <a:rPr lang="fr-FR" dirty="0" err="1" smtClean="0">
                <a:cs typeface="Arial" panose="020B0604020202020204" pitchFamily="34" charset="0"/>
              </a:rPr>
              <a:t>immo</a:t>
            </a:r>
            <a:r>
              <a:rPr lang="fr-FR" dirty="0" smtClean="0">
                <a:cs typeface="Arial" panose="020B0604020202020204" pitchFamily="34" charset="0"/>
              </a:rPr>
              <a:t> : Un code mouvement 330 transfert a bien été réalisé.  </a:t>
            </a:r>
          </a:p>
          <a:p>
            <a:r>
              <a:rPr lang="fr-FR" dirty="0" smtClean="0">
                <a:latin typeface="Arial" panose="020B0604020202020204" pitchFamily="34" charset="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32</a:t>
            </a:fld>
            <a:endParaRPr lang="fr-FR" altLang="en-US" sz="750">
              <a:solidFill>
                <a:srgbClr val="000000"/>
              </a:solidFill>
            </a:endParaRPr>
          </a:p>
        </p:txBody>
      </p:sp>
      <p:pic>
        <p:nvPicPr>
          <p:cNvPr id="5" name="Image 4"/>
          <p:cNvPicPr>
            <a:picLocks noChangeAspect="1"/>
          </p:cNvPicPr>
          <p:nvPr/>
        </p:nvPicPr>
        <p:blipFill>
          <a:blip r:embed="rId2"/>
          <a:stretch>
            <a:fillRect/>
          </a:stretch>
        </p:blipFill>
        <p:spPr>
          <a:xfrm>
            <a:off x="573577" y="1255362"/>
            <a:ext cx="3703955" cy="3226633"/>
          </a:xfrm>
          <a:prstGeom prst="rect">
            <a:avLst/>
          </a:prstGeom>
        </p:spPr>
      </p:pic>
      <p:pic>
        <p:nvPicPr>
          <p:cNvPr id="6" name="Image 5"/>
          <p:cNvPicPr>
            <a:picLocks noChangeAspect="1"/>
          </p:cNvPicPr>
          <p:nvPr/>
        </p:nvPicPr>
        <p:blipFill>
          <a:blip r:embed="rId3"/>
          <a:stretch>
            <a:fillRect/>
          </a:stretch>
        </p:blipFill>
        <p:spPr>
          <a:xfrm>
            <a:off x="4401519" y="1255362"/>
            <a:ext cx="4418630" cy="3226634"/>
          </a:xfrm>
          <a:prstGeom prst="rect">
            <a:avLst/>
          </a:prstGeom>
        </p:spPr>
      </p:pic>
    </p:spTree>
    <p:extLst>
      <p:ext uri="{BB962C8B-B14F-4D97-AF65-F5344CB8AC3E}">
        <p14:creationId xmlns:p14="http://schemas.microsoft.com/office/powerpoint/2010/main" val="2431694502"/>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cession d’immobilisations</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Cession à un client : SAP préconise 2 modes de cession. Même si la CBG n’utilise </a:t>
            </a:r>
            <a:r>
              <a:rPr lang="fr-FR" dirty="0" smtClean="0">
                <a:cs typeface="Arial" panose="020B0604020202020204" pitchFamily="34" charset="0"/>
              </a:rPr>
              <a:t>qu’un seul, les 2 modes seront présentés ici. </a:t>
            </a:r>
            <a:endParaRPr lang="fr-FR" dirty="0" smtClean="0">
              <a:cs typeface="Arial" panose="020B0604020202020204" pitchFamily="34" charset="0"/>
            </a:endParaRPr>
          </a:p>
          <a:p>
            <a:r>
              <a:rPr lang="fr-FR" dirty="0" smtClean="0">
                <a:cs typeface="Arial" panose="020B0604020202020204" pitchFamily="34" charset="0"/>
              </a:rPr>
              <a:t>Lancer la transaction F-92 Sortie </a:t>
            </a:r>
            <a:r>
              <a:rPr lang="fr-FR" dirty="0" err="1" smtClean="0">
                <a:cs typeface="Arial" panose="020B0604020202020204" pitchFamily="34" charset="0"/>
              </a:rPr>
              <a:t>immo</a:t>
            </a:r>
            <a:r>
              <a:rPr lang="fr-FR" dirty="0" smtClean="0">
                <a:cs typeface="Arial" panose="020B0604020202020204" pitchFamily="34" charset="0"/>
              </a:rPr>
              <a:t>. par vente avec client </a:t>
            </a: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33</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96967" y="1759058"/>
            <a:ext cx="2309247" cy="2722939"/>
          </a:xfrm>
          <a:prstGeom prst="rect">
            <a:avLst/>
          </a:prstGeom>
        </p:spPr>
      </p:pic>
      <p:pic>
        <p:nvPicPr>
          <p:cNvPr id="4" name="Image 3"/>
          <p:cNvPicPr>
            <a:picLocks noChangeAspect="1"/>
          </p:cNvPicPr>
          <p:nvPr/>
        </p:nvPicPr>
        <p:blipFill>
          <a:blip r:embed="rId3"/>
          <a:stretch>
            <a:fillRect/>
          </a:stretch>
        </p:blipFill>
        <p:spPr>
          <a:xfrm>
            <a:off x="3068875" y="1759058"/>
            <a:ext cx="2440843" cy="2716681"/>
          </a:xfrm>
          <a:prstGeom prst="rect">
            <a:avLst/>
          </a:prstGeom>
        </p:spPr>
      </p:pic>
      <p:pic>
        <p:nvPicPr>
          <p:cNvPr id="5" name="Image 4"/>
          <p:cNvPicPr>
            <a:picLocks noChangeAspect="1"/>
          </p:cNvPicPr>
          <p:nvPr/>
        </p:nvPicPr>
        <p:blipFill>
          <a:blip r:embed="rId4"/>
          <a:stretch>
            <a:fillRect/>
          </a:stretch>
        </p:blipFill>
        <p:spPr>
          <a:xfrm>
            <a:off x="5672380" y="1738211"/>
            <a:ext cx="3053166" cy="2716681"/>
          </a:xfrm>
          <a:prstGeom prst="rect">
            <a:avLst/>
          </a:prstGeom>
        </p:spPr>
      </p:pic>
      <p:sp>
        <p:nvSpPr>
          <p:cNvPr id="8" name="Rectangle 7"/>
          <p:cNvSpPr/>
          <p:nvPr/>
        </p:nvSpPr>
        <p:spPr>
          <a:xfrm>
            <a:off x="6850251" y="3533614"/>
            <a:ext cx="534692" cy="7749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9" name="Rectangle 8"/>
          <p:cNvSpPr/>
          <p:nvPr/>
        </p:nvSpPr>
        <p:spPr>
          <a:xfrm>
            <a:off x="8005155" y="2935723"/>
            <a:ext cx="151157" cy="16082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0" name="Rectangle 9"/>
          <p:cNvSpPr/>
          <p:nvPr/>
        </p:nvSpPr>
        <p:spPr>
          <a:xfrm flipH="1">
            <a:off x="6012155" y="4045557"/>
            <a:ext cx="109676" cy="7799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1392324990"/>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19304"/>
            <a:ext cx="8229600" cy="616865"/>
          </a:xfrm>
        </p:spPr>
        <p:txBody>
          <a:bodyPr>
            <a:normAutofit fontScale="90000"/>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700" dirty="0">
                <a:cs typeface="Arial" panose="020B0604020202020204" pitchFamily="34" charset="0"/>
              </a:rPr>
              <a:t>opératoire</a:t>
            </a:r>
            <a:r>
              <a:rPr lang="fr-FR" altLang="en-US" sz="2400" dirty="0">
                <a:cs typeface="Arial" panose="020B0604020202020204" pitchFamily="34" charset="0"/>
              </a:rPr>
              <a:t> </a:t>
            </a:r>
            <a:r>
              <a:rPr lang="fr-FR" altLang="en-US" sz="2400" dirty="0" smtClean="0">
                <a:cs typeface="Arial" panose="020B0604020202020204" pitchFamily="34" charset="0"/>
              </a:rPr>
              <a:t>cession d’immobilisations</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Renseigner les zones comme ci-dessus. Sortie d’</a:t>
            </a:r>
            <a:r>
              <a:rPr lang="fr-FR" dirty="0" err="1" smtClean="0">
                <a:cs typeface="Arial" panose="020B0604020202020204" pitchFamily="34" charset="0"/>
              </a:rPr>
              <a:t>immo</a:t>
            </a:r>
            <a:r>
              <a:rPr lang="fr-FR" dirty="0" smtClean="0">
                <a:cs typeface="Arial" panose="020B0604020202020204" pitchFamily="34" charset="0"/>
              </a:rPr>
              <a:t> et le type de sortie doivent être cochés. </a:t>
            </a:r>
          </a:p>
          <a:p>
            <a:r>
              <a:rPr lang="fr-FR" dirty="0" smtClean="0">
                <a:cs typeface="Arial" panose="020B0604020202020204" pitchFamily="34" charset="0"/>
              </a:rPr>
              <a:t>Voir ci-dessous la simulation de la pièce :                                    		      Lancer la transaction AW01N pour visualiser :  </a:t>
            </a:r>
          </a:p>
          <a:p>
            <a:r>
              <a:rPr lang="fr-FR" dirty="0" smtClean="0">
                <a:latin typeface="Arial" panose="020B0604020202020204" pitchFamily="34" charset="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L’</a:t>
            </a:r>
            <a:r>
              <a:rPr lang="fr-FR" dirty="0" err="1" smtClean="0">
                <a:cs typeface="Arial" panose="020B0604020202020204" pitchFamily="34" charset="0"/>
              </a:rPr>
              <a:t>immo</a:t>
            </a:r>
            <a:r>
              <a:rPr lang="fr-FR" dirty="0" smtClean="0">
                <a:cs typeface="Arial" panose="020B0604020202020204" pitchFamily="34" charset="0"/>
              </a:rPr>
              <a:t> est bien sortie. 	</a:t>
            </a:r>
            <a:endParaRPr lang="fr-FR" dirty="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34</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627822" y="1712563"/>
            <a:ext cx="3609168" cy="2526223"/>
          </a:xfrm>
          <a:prstGeom prst="rect">
            <a:avLst/>
          </a:prstGeom>
        </p:spPr>
      </p:pic>
      <p:pic>
        <p:nvPicPr>
          <p:cNvPr id="5" name="Image 4"/>
          <p:cNvPicPr>
            <a:picLocks noChangeAspect="1"/>
          </p:cNvPicPr>
          <p:nvPr/>
        </p:nvPicPr>
        <p:blipFill>
          <a:blip r:embed="rId3"/>
          <a:stretch>
            <a:fillRect/>
          </a:stretch>
        </p:blipFill>
        <p:spPr>
          <a:xfrm>
            <a:off x="4967206" y="1712563"/>
            <a:ext cx="3545975" cy="2526223"/>
          </a:xfrm>
          <a:prstGeom prst="rect">
            <a:avLst/>
          </a:prstGeom>
        </p:spPr>
      </p:pic>
    </p:spTree>
    <p:extLst>
      <p:ext uri="{BB962C8B-B14F-4D97-AF65-F5344CB8AC3E}">
        <p14:creationId xmlns:p14="http://schemas.microsoft.com/office/powerpoint/2010/main" val="627598613"/>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19304"/>
            <a:ext cx="8229600" cy="616865"/>
          </a:xfrm>
        </p:spPr>
        <p:txBody>
          <a:bodyPr>
            <a:normAutofit fontScale="90000"/>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cession d’immobilisations</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Visualisation de la pièce comptable : </a:t>
            </a:r>
          </a:p>
          <a:p>
            <a:r>
              <a:rPr lang="fr-FR" dirty="0" smtClean="0">
                <a:latin typeface="Arial" panose="020B0604020202020204" pitchFamily="34" charset="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35</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495585"/>
            <a:ext cx="3839544" cy="2867187"/>
          </a:xfrm>
          <a:prstGeom prst="rect">
            <a:avLst/>
          </a:prstGeom>
        </p:spPr>
      </p:pic>
    </p:spTree>
    <p:extLst>
      <p:ext uri="{BB962C8B-B14F-4D97-AF65-F5344CB8AC3E}">
        <p14:creationId xmlns:p14="http://schemas.microsoft.com/office/powerpoint/2010/main" val="3467632572"/>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cession d’immobilisations</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Cession sans client : </a:t>
            </a:r>
          </a:p>
          <a:p>
            <a:r>
              <a:rPr lang="fr-FR" dirty="0" smtClean="0">
                <a:cs typeface="Arial" panose="020B0604020202020204" pitchFamily="34" charset="0"/>
              </a:rPr>
              <a:t>Lancer </a:t>
            </a:r>
            <a:r>
              <a:rPr lang="fr-FR" dirty="0">
                <a:cs typeface="Arial" panose="020B0604020202020204" pitchFamily="34" charset="0"/>
              </a:rPr>
              <a:t>la transaction </a:t>
            </a:r>
            <a:r>
              <a:rPr lang="fr-FR" dirty="0" smtClean="0">
                <a:cs typeface="Arial" panose="020B0604020202020204" pitchFamily="34" charset="0"/>
              </a:rPr>
              <a:t>ABAON : Saisir mouvement d’immobilisation : sortie </a:t>
            </a:r>
            <a:r>
              <a:rPr lang="fr-FR" dirty="0" err="1" smtClean="0">
                <a:cs typeface="Arial" panose="020B0604020202020204" pitchFamily="34" charset="0"/>
              </a:rPr>
              <a:t>immob</a:t>
            </a:r>
            <a:r>
              <a:rPr lang="fr-FR" dirty="0" smtClean="0">
                <a:cs typeface="Arial" panose="020B0604020202020204" pitchFamily="34" charset="0"/>
              </a:rPr>
              <a:t>. Par vente sans client</a:t>
            </a:r>
            <a:endParaRPr lang="fr-FR" dirty="0" smtClean="0">
              <a:cs typeface="Arial" panose="020B0604020202020204" pitchFamily="34" charset="0"/>
            </a:endParaRPr>
          </a:p>
          <a:p>
            <a:r>
              <a:rPr lang="fr-FR" dirty="0" smtClean="0">
                <a:cs typeface="Arial" panose="020B0604020202020204" pitchFamily="34" charset="0"/>
              </a:rPr>
              <a:t>																Mettre à jour les onglets </a:t>
            </a:r>
            <a:r>
              <a:rPr lang="fr-FR" dirty="0" err="1" smtClean="0">
                <a:cs typeface="Arial" panose="020B0604020202020204" pitchFamily="34" charset="0"/>
              </a:rPr>
              <a:t>com</a:t>
            </a:r>
            <a:r>
              <a:rPr lang="fr-FR" dirty="0" smtClean="0">
                <a:cs typeface="Arial" panose="020B0604020202020204" pitchFamily="34" charset="0"/>
              </a:rPr>
              <a:t>-																me 	indiqué. Puis sauver votre</a:t>
            </a:r>
          </a:p>
          <a:p>
            <a:r>
              <a:rPr lang="fr-FR" dirty="0">
                <a:cs typeface="Arial" panose="020B0604020202020204" pitchFamily="34" charset="0"/>
              </a:rPr>
              <a:t>	</a:t>
            </a:r>
            <a:r>
              <a:rPr lang="fr-FR" dirty="0" smtClean="0">
                <a:cs typeface="Arial" panose="020B0604020202020204" pitchFamily="34" charset="0"/>
              </a:rPr>
              <a:t>															saisie. </a:t>
            </a:r>
            <a:endParaRPr lang="fr-FR" dirty="0" smtClean="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36</a:t>
            </a:fld>
            <a:endParaRPr lang="fr-FR" altLang="en-US" sz="750">
              <a:solidFill>
                <a:srgbClr val="000000"/>
              </a:solidFill>
            </a:endParaRPr>
          </a:p>
        </p:txBody>
      </p:sp>
      <p:pic>
        <p:nvPicPr>
          <p:cNvPr id="5" name="Image 4"/>
          <p:cNvPicPr>
            <a:picLocks noChangeAspect="1"/>
          </p:cNvPicPr>
          <p:nvPr/>
        </p:nvPicPr>
        <p:blipFill>
          <a:blip r:embed="rId2"/>
          <a:stretch>
            <a:fillRect/>
          </a:stretch>
        </p:blipFill>
        <p:spPr>
          <a:xfrm>
            <a:off x="573578" y="1828800"/>
            <a:ext cx="2700416" cy="2519362"/>
          </a:xfrm>
          <a:prstGeom prst="rect">
            <a:avLst/>
          </a:prstGeom>
        </p:spPr>
      </p:pic>
      <p:pic>
        <p:nvPicPr>
          <p:cNvPr id="6" name="Image 5"/>
          <p:cNvPicPr>
            <a:picLocks noChangeAspect="1"/>
          </p:cNvPicPr>
          <p:nvPr/>
        </p:nvPicPr>
        <p:blipFill>
          <a:blip r:embed="rId3"/>
          <a:stretch>
            <a:fillRect/>
          </a:stretch>
        </p:blipFill>
        <p:spPr>
          <a:xfrm>
            <a:off x="3495884" y="1828799"/>
            <a:ext cx="3135130" cy="2464231"/>
          </a:xfrm>
          <a:prstGeom prst="rect">
            <a:avLst/>
          </a:prstGeom>
        </p:spPr>
      </p:pic>
    </p:spTree>
    <p:extLst>
      <p:ext uri="{BB962C8B-B14F-4D97-AF65-F5344CB8AC3E}">
        <p14:creationId xmlns:p14="http://schemas.microsoft.com/office/powerpoint/2010/main" val="2640082713"/>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cession d’immobilisations</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latin typeface="Arial" panose="020B0604020202020204" pitchFamily="34" charset="0"/>
                <a:cs typeface="Arial" panose="020B0604020202020204" pitchFamily="34" charset="0"/>
              </a:rPr>
              <a:t>Lancer </a:t>
            </a:r>
            <a:r>
              <a:rPr lang="fr-FR" dirty="0">
                <a:latin typeface="Arial" panose="020B0604020202020204" pitchFamily="34" charset="0"/>
                <a:cs typeface="Arial" panose="020B0604020202020204" pitchFamily="34" charset="0"/>
              </a:rPr>
              <a:t>la transaction </a:t>
            </a:r>
            <a:r>
              <a:rPr lang="fr-FR" dirty="0" smtClean="0">
                <a:latin typeface="Arial" panose="020B0604020202020204" pitchFamily="34" charset="0"/>
                <a:cs typeface="Arial" panose="020B0604020202020204" pitchFamily="34" charset="0"/>
              </a:rPr>
              <a:t>AW01N pour visualiser l’</a:t>
            </a:r>
            <a:r>
              <a:rPr lang="fr-FR" dirty="0" err="1" smtClean="0">
                <a:latin typeface="Arial" panose="020B0604020202020204" pitchFamily="34" charset="0"/>
                <a:cs typeface="Arial" panose="020B0604020202020204" pitchFamily="34" charset="0"/>
              </a:rPr>
              <a:t>immo</a:t>
            </a:r>
            <a:r>
              <a:rPr lang="fr-FR" dirty="0" smtClean="0">
                <a:latin typeface="Arial" panose="020B0604020202020204" pitchFamily="34" charset="0"/>
                <a:cs typeface="Arial" panose="020B0604020202020204" pitchFamily="34" charset="0"/>
              </a:rPr>
              <a:t>.  		Lancer </a:t>
            </a:r>
            <a:r>
              <a:rPr lang="fr-FR" dirty="0">
                <a:latin typeface="Arial" panose="020B0604020202020204" pitchFamily="34" charset="0"/>
                <a:cs typeface="Arial" panose="020B0604020202020204" pitchFamily="34" charset="0"/>
              </a:rPr>
              <a:t>la transaction </a:t>
            </a:r>
            <a:r>
              <a:rPr lang="fr-FR" dirty="0" smtClean="0">
                <a:latin typeface="Arial" panose="020B0604020202020204" pitchFamily="34" charset="0"/>
                <a:cs typeface="Arial" panose="020B0604020202020204" pitchFamily="34" charset="0"/>
              </a:rPr>
              <a:t>FB70 pour établir la facture : </a:t>
            </a: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37</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1348795"/>
            <a:ext cx="3479229" cy="3133201"/>
          </a:xfrm>
          <a:prstGeom prst="rect">
            <a:avLst/>
          </a:prstGeom>
        </p:spPr>
      </p:pic>
      <p:pic>
        <p:nvPicPr>
          <p:cNvPr id="5" name="Image 4"/>
          <p:cNvPicPr>
            <a:picLocks noChangeAspect="1"/>
          </p:cNvPicPr>
          <p:nvPr/>
        </p:nvPicPr>
        <p:blipFill>
          <a:blip r:embed="rId3"/>
          <a:stretch>
            <a:fillRect/>
          </a:stretch>
        </p:blipFill>
        <p:spPr>
          <a:xfrm>
            <a:off x="4812224" y="1348796"/>
            <a:ext cx="3394129" cy="3052724"/>
          </a:xfrm>
          <a:prstGeom prst="rect">
            <a:avLst/>
          </a:prstGeom>
        </p:spPr>
      </p:pic>
    </p:spTree>
    <p:extLst>
      <p:ext uri="{BB962C8B-B14F-4D97-AF65-F5344CB8AC3E}">
        <p14:creationId xmlns:p14="http://schemas.microsoft.com/office/powerpoint/2010/main" val="2663446893"/>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a:t>
            </a:r>
            <a:r>
              <a:rPr lang="fr-FR" altLang="en-US" sz="2400" dirty="0">
                <a:cs typeface="Arial" panose="020B0604020202020204" pitchFamily="34" charset="0"/>
              </a:rPr>
              <a:t>opératoire </a:t>
            </a:r>
            <a:r>
              <a:rPr lang="fr-FR" altLang="en-US" sz="2400" dirty="0" smtClean="0">
                <a:cs typeface="Arial" panose="020B0604020202020204" pitchFamily="34" charset="0"/>
              </a:rPr>
              <a:t>mise au rebut</a:t>
            </a:r>
            <a:r>
              <a:rPr lang="fr-FR" altLang="en-US" sz="2400" dirty="0" smtClean="0">
                <a:cs typeface="Arial" panose="020B0604020202020204" pitchFamily="34" charset="0"/>
              </a:rPr>
              <a:t> </a:t>
            </a:r>
            <a:r>
              <a:rPr lang="fr-FR" altLang="en-US" sz="2400" dirty="0" smtClean="0">
                <a:cs typeface="Arial" panose="020B0604020202020204" pitchFamily="34" charset="0"/>
              </a:rPr>
              <a:t>d’immobilisations</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Visualisation de l’</a:t>
            </a:r>
            <a:r>
              <a:rPr lang="fr-FR" dirty="0" err="1" smtClean="0">
                <a:cs typeface="Arial" panose="020B0604020202020204" pitchFamily="34" charset="0"/>
              </a:rPr>
              <a:t>immo</a:t>
            </a:r>
            <a:r>
              <a:rPr lang="fr-FR" dirty="0" smtClean="0">
                <a:cs typeface="Arial" panose="020B0604020202020204" pitchFamily="34" charset="0"/>
              </a:rPr>
              <a:t>. : 				Lancer </a:t>
            </a:r>
            <a:r>
              <a:rPr lang="fr-FR" dirty="0">
                <a:cs typeface="Arial" panose="020B0604020202020204" pitchFamily="34" charset="0"/>
              </a:rPr>
              <a:t>la transaction </a:t>
            </a:r>
            <a:r>
              <a:rPr lang="fr-FR" dirty="0" smtClean="0">
                <a:cs typeface="Arial" panose="020B0604020202020204" pitchFamily="34" charset="0"/>
              </a:rPr>
              <a:t>ABAVN et mettre à jour les zones suivantes puis valider :   </a:t>
            </a:r>
            <a:r>
              <a:rPr lang="fr-FR" dirty="0">
                <a:latin typeface="Arial" panose="020B0604020202020204" pitchFamily="34" charset="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38</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472340"/>
            <a:ext cx="2789694" cy="3009656"/>
          </a:xfrm>
          <a:prstGeom prst="rect">
            <a:avLst/>
          </a:prstGeom>
        </p:spPr>
      </p:pic>
      <p:pic>
        <p:nvPicPr>
          <p:cNvPr id="4" name="Image 3"/>
          <p:cNvPicPr>
            <a:picLocks noChangeAspect="1"/>
          </p:cNvPicPr>
          <p:nvPr/>
        </p:nvPicPr>
        <p:blipFill>
          <a:blip r:embed="rId3"/>
          <a:stretch>
            <a:fillRect/>
          </a:stretch>
        </p:blipFill>
        <p:spPr>
          <a:xfrm>
            <a:off x="3673098" y="1472340"/>
            <a:ext cx="2278251" cy="2762250"/>
          </a:xfrm>
          <a:prstGeom prst="rect">
            <a:avLst/>
          </a:prstGeom>
        </p:spPr>
      </p:pic>
      <p:pic>
        <p:nvPicPr>
          <p:cNvPr id="5" name="Image 4"/>
          <p:cNvPicPr>
            <a:picLocks noChangeAspect="1"/>
          </p:cNvPicPr>
          <p:nvPr/>
        </p:nvPicPr>
        <p:blipFill>
          <a:blip r:embed="rId4"/>
          <a:stretch>
            <a:fillRect/>
          </a:stretch>
        </p:blipFill>
        <p:spPr>
          <a:xfrm>
            <a:off x="6320482" y="1472341"/>
            <a:ext cx="2427583" cy="2762250"/>
          </a:xfrm>
          <a:prstGeom prst="rect">
            <a:avLst/>
          </a:prstGeom>
        </p:spPr>
      </p:pic>
    </p:spTree>
    <p:extLst>
      <p:ext uri="{BB962C8B-B14F-4D97-AF65-F5344CB8AC3E}">
        <p14:creationId xmlns:p14="http://schemas.microsoft.com/office/powerpoint/2010/main" val="4283188437"/>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cs typeface="Arial" panose="020B0604020202020204" pitchFamily="34" charset="0"/>
              </a:rPr>
              <a:t>Mode opératoire mise au rebut d’immobilisations</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Fiche </a:t>
            </a:r>
            <a:r>
              <a:rPr lang="fr-FR" dirty="0" err="1" smtClean="0">
                <a:cs typeface="Arial" panose="020B0604020202020204" pitchFamily="34" charset="0"/>
              </a:rPr>
              <a:t>immo</a:t>
            </a:r>
            <a:r>
              <a:rPr lang="fr-FR" dirty="0" smtClean="0">
                <a:cs typeface="Arial" panose="020B0604020202020204" pitchFamily="34" charset="0"/>
              </a:rPr>
              <a:t>. Après la mise au rebut : </a:t>
            </a:r>
            <a:endParaRPr lang="fr-FR" dirty="0" smtClean="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39</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371600"/>
            <a:ext cx="3951491" cy="2927163"/>
          </a:xfrm>
          <a:prstGeom prst="rect">
            <a:avLst/>
          </a:prstGeom>
        </p:spPr>
      </p:pic>
      <p:pic>
        <p:nvPicPr>
          <p:cNvPr id="4" name="Image 3"/>
          <p:cNvPicPr>
            <a:picLocks noChangeAspect="1"/>
          </p:cNvPicPr>
          <p:nvPr/>
        </p:nvPicPr>
        <p:blipFill>
          <a:blip r:embed="rId3"/>
          <a:stretch>
            <a:fillRect/>
          </a:stretch>
        </p:blipFill>
        <p:spPr>
          <a:xfrm>
            <a:off x="4953663" y="1371600"/>
            <a:ext cx="3962814" cy="2927163"/>
          </a:xfrm>
          <a:prstGeom prst="rect">
            <a:avLst/>
          </a:prstGeom>
        </p:spPr>
      </p:pic>
    </p:spTree>
    <p:extLst>
      <p:ext uri="{BB962C8B-B14F-4D97-AF65-F5344CB8AC3E}">
        <p14:creationId xmlns:p14="http://schemas.microsoft.com/office/powerpoint/2010/main" val="3839718569"/>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152642"/>
            <a:ext cx="8229600" cy="857250"/>
          </a:xfrm>
        </p:spPr>
        <p:txBody>
          <a:bodyPr>
            <a:normAutofit/>
          </a:bodyPr>
          <a:lstStyle/>
          <a:p>
            <a:r>
              <a:rPr lang="fr-FR" altLang="en-US" sz="2400" dirty="0">
                <a:cs typeface="Arial" panose="020B0604020202020204" pitchFamily="34" charset="0"/>
              </a:rPr>
              <a:t>Mode opératoire mise au rebut d’immobilisations</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a:t>Le système </a:t>
            </a:r>
            <a:r>
              <a:rPr lang="fr-FR" dirty="0" smtClean="0"/>
              <a:t>est sensé calculer </a:t>
            </a:r>
            <a:r>
              <a:rPr lang="fr-FR" dirty="0"/>
              <a:t>la dotation « complémentaire » (correspondant aux amortissements non encore courus à la date de radiation) et l’enregistre comptablement au compte Dotation Amortissement Exceptionnel. </a:t>
            </a:r>
            <a:endParaRPr lang="fr-FR" dirty="0" smtClean="0"/>
          </a:p>
          <a:p>
            <a:r>
              <a:rPr lang="fr-FR" dirty="0" smtClean="0"/>
              <a:t>Dans </a:t>
            </a:r>
            <a:r>
              <a:rPr lang="fr-FR" dirty="0"/>
              <a:t>ce contexte de test où l’</a:t>
            </a:r>
            <a:r>
              <a:rPr lang="fr-FR" dirty="0" err="1"/>
              <a:t>immo</a:t>
            </a:r>
            <a:r>
              <a:rPr lang="fr-FR" dirty="0"/>
              <a:t>. valorisée le mois N amortie le mois N mise au rebut le mois N, le système se mélange dans la reprise de l'amortissement </a:t>
            </a:r>
            <a:r>
              <a:rPr lang="fr-FR" dirty="0" smtClean="0"/>
              <a:t>exceptionnel et passe les écritures suivantes :  </a:t>
            </a:r>
          </a:p>
          <a:p>
            <a:endParaRPr lang="fr-FR" b="1" dirty="0"/>
          </a:p>
          <a:p>
            <a:endParaRPr lang="fr-FR" b="1" dirty="0" smtClean="0"/>
          </a:p>
          <a:p>
            <a:endParaRPr lang="fr-FR" b="1" dirty="0"/>
          </a:p>
          <a:p>
            <a:endParaRPr lang="fr-FR" b="1" dirty="0" smtClean="0"/>
          </a:p>
          <a:p>
            <a:endParaRPr lang="fr-FR" b="1" dirty="0" smtClean="0"/>
          </a:p>
          <a:p>
            <a:endParaRPr lang="fr-FR" b="1" dirty="0"/>
          </a:p>
          <a:p>
            <a:r>
              <a:rPr lang="fr-FR" dirty="0" smtClean="0"/>
              <a:t>QSDQSD</a:t>
            </a:r>
            <a:endParaRPr lang="ru-RU" dirty="0"/>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40</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2177512"/>
            <a:ext cx="3827941" cy="2304484"/>
          </a:xfrm>
          <a:prstGeom prst="rect">
            <a:avLst/>
          </a:prstGeom>
        </p:spPr>
      </p:pic>
      <p:pic>
        <p:nvPicPr>
          <p:cNvPr id="4" name="Image 3"/>
          <p:cNvPicPr>
            <a:picLocks noChangeAspect="1"/>
          </p:cNvPicPr>
          <p:nvPr/>
        </p:nvPicPr>
        <p:blipFill>
          <a:blip r:embed="rId3"/>
          <a:stretch>
            <a:fillRect/>
          </a:stretch>
        </p:blipFill>
        <p:spPr>
          <a:xfrm>
            <a:off x="4750232" y="2177512"/>
            <a:ext cx="3817910" cy="2304484"/>
          </a:xfrm>
          <a:prstGeom prst="rect">
            <a:avLst/>
          </a:prstGeom>
        </p:spPr>
      </p:pic>
    </p:spTree>
    <p:extLst>
      <p:ext uri="{BB962C8B-B14F-4D97-AF65-F5344CB8AC3E}">
        <p14:creationId xmlns:p14="http://schemas.microsoft.com/office/powerpoint/2010/main" val="4193427085"/>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a:t>
            </a:r>
            <a:r>
              <a:rPr lang="fr-FR" altLang="en-US" sz="2700" dirty="0" smtClean="0">
                <a:cs typeface="Arial" panose="020B0604020202020204" pitchFamily="34" charset="0"/>
              </a:rPr>
              <a:t>pour édition des </a:t>
            </a:r>
            <a:r>
              <a:rPr lang="fr-FR" altLang="en-US" sz="2700" dirty="0" err="1" smtClean="0">
                <a:cs typeface="Arial" panose="020B0604020202020204" pitchFamily="34" charset="0"/>
              </a:rPr>
              <a:t>reportings</a:t>
            </a:r>
            <a:r>
              <a:rPr lang="fr-FR" altLang="en-US" sz="2700" dirty="0" smtClean="0">
                <a:cs typeface="Arial" panose="020B0604020202020204" pitchFamily="34" charset="0"/>
              </a:rPr>
              <a:t> des immobilisations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Depuis le menu SAP : Gestion Comptable / Comptabilité financière / Immobilisations / Système d’information / Etats relatifs à la comptabilité des immobilisations / Portefeuille des immobilisations / Liste d’inventaire / Puis / Explication sur le bilan : S_ALR_87011990 - Grille d’évaluation des immobilisations </a:t>
            </a:r>
          </a:p>
          <a:p>
            <a:r>
              <a:rPr lang="fr-FR" dirty="0" smtClean="0">
                <a:cs typeface="Arial" panose="020B0604020202020204" pitchFamily="34" charset="0"/>
              </a:rPr>
              <a:t>- S_ALR_87011979 – Liste d’inventaire par centre de coûts</a:t>
            </a:r>
          </a:p>
          <a:p>
            <a:r>
              <a:rPr lang="fr-FR" dirty="0" smtClean="0">
                <a:cs typeface="Arial" panose="020B0604020202020204" pitchFamily="34" charset="0"/>
              </a:rPr>
              <a:t>- S_ALR_87011980 </a:t>
            </a:r>
            <a:r>
              <a:rPr lang="fr-FR" dirty="0">
                <a:cs typeface="Arial" panose="020B0604020202020204" pitchFamily="34" charset="0"/>
              </a:rPr>
              <a:t>– Liste d’inventaire par </a:t>
            </a:r>
            <a:r>
              <a:rPr lang="fr-FR" dirty="0" smtClean="0">
                <a:cs typeface="Arial" panose="020B0604020202020204" pitchFamily="34" charset="0"/>
              </a:rPr>
              <a:t>localisation</a:t>
            </a:r>
            <a:endParaRPr lang="fr-FR" dirty="0">
              <a:cs typeface="Arial" panose="020B0604020202020204" pitchFamily="34" charset="0"/>
            </a:endParaRPr>
          </a:p>
          <a:p>
            <a:r>
              <a:rPr lang="fr-FR" dirty="0" smtClean="0">
                <a:cs typeface="Arial" panose="020B0604020202020204" pitchFamily="34" charset="0"/>
              </a:rPr>
              <a:t>- S_ALR_87011981 </a:t>
            </a:r>
            <a:r>
              <a:rPr lang="fr-FR" dirty="0">
                <a:cs typeface="Arial" panose="020B0604020202020204" pitchFamily="34" charset="0"/>
              </a:rPr>
              <a:t>– Liste d’inventaire par catégorie d’immobilisation </a:t>
            </a:r>
            <a:endParaRPr lang="fr-FR" dirty="0" smtClean="0">
              <a:cs typeface="Arial" panose="020B0604020202020204" pitchFamily="34" charset="0"/>
            </a:endParaRPr>
          </a:p>
          <a:p>
            <a:r>
              <a:rPr lang="fr-FR" dirty="0">
                <a:cs typeface="Arial" panose="020B0604020202020204" pitchFamily="34" charset="0"/>
              </a:rPr>
              <a:t>- </a:t>
            </a:r>
            <a:r>
              <a:rPr lang="fr-FR" dirty="0" smtClean="0">
                <a:cs typeface="Arial" panose="020B0604020202020204" pitchFamily="34" charset="0"/>
              </a:rPr>
              <a:t>S_ALR_87011982 </a:t>
            </a:r>
            <a:r>
              <a:rPr lang="fr-FR" dirty="0">
                <a:cs typeface="Arial" panose="020B0604020202020204" pitchFamily="34" charset="0"/>
              </a:rPr>
              <a:t>– Liste d’inventaire par </a:t>
            </a:r>
            <a:r>
              <a:rPr lang="fr-FR" dirty="0" smtClean="0">
                <a:cs typeface="Arial" panose="020B0604020202020204" pitchFamily="34" charset="0"/>
              </a:rPr>
              <a:t>division</a:t>
            </a:r>
            <a:endParaRPr lang="fr-FR" dirty="0">
              <a:cs typeface="Arial" panose="020B0604020202020204" pitchFamily="34" charset="0"/>
            </a:endParaRPr>
          </a:p>
          <a:p>
            <a:r>
              <a:rPr lang="fr-FR" dirty="0">
                <a:cs typeface="Arial" panose="020B0604020202020204" pitchFamily="34" charset="0"/>
              </a:rPr>
              <a:t>- </a:t>
            </a:r>
            <a:r>
              <a:rPr lang="fr-FR" dirty="0" smtClean="0">
                <a:cs typeface="Arial" panose="020B0604020202020204" pitchFamily="34" charset="0"/>
              </a:rPr>
              <a:t>S_ALR_87012936 </a:t>
            </a:r>
            <a:r>
              <a:rPr lang="fr-FR" dirty="0">
                <a:cs typeface="Arial" panose="020B0604020202020204" pitchFamily="34" charset="0"/>
              </a:rPr>
              <a:t>– </a:t>
            </a:r>
            <a:r>
              <a:rPr lang="fr-FR" dirty="0" smtClean="0">
                <a:cs typeface="Arial" panose="020B0604020202020204" pitchFamily="34" charset="0"/>
              </a:rPr>
              <a:t>Amortissement des immobilisations en service (simulation d’amortissement)</a:t>
            </a:r>
            <a:endParaRPr lang="fr-FR" dirty="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41</a:t>
            </a:fld>
            <a:endParaRPr lang="fr-FR" altLang="en-US" sz="750">
              <a:solidFill>
                <a:srgbClr val="000000"/>
              </a:solidFill>
            </a:endParaRPr>
          </a:p>
        </p:txBody>
      </p:sp>
    </p:spTree>
    <p:extLst>
      <p:ext uri="{BB962C8B-B14F-4D97-AF65-F5344CB8AC3E}">
        <p14:creationId xmlns:p14="http://schemas.microsoft.com/office/powerpoint/2010/main" val="2461744227"/>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5" y="1058111"/>
            <a:ext cx="3063507" cy="1442030"/>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une fiche d’immobilisation </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Lancer le calcul de l’amortissement sur cette fiche</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Procéder à une vente d’immobilisation </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Lancer des reports sur les immobilisations </a:t>
            </a:r>
          </a:p>
          <a:p>
            <a:pPr marL="135731" indent="-135731">
              <a:lnSpc>
                <a:spcPct val="110000"/>
              </a:lnSpc>
              <a:buFont typeface="Wingdings" pitchFamily="2" charset="2"/>
              <a:buChar char="§"/>
              <a:defRPr/>
            </a:pP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43</a:t>
            </a:fld>
            <a:endParaRPr lang="fr-FR" altLang="en-US" sz="750"/>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ea typeface="ＭＳ Ｐゴシック" panose="020B0600070205080204" pitchFamily="34" charset="-128"/>
                <a:cs typeface="Arial" panose="020B0604020202020204" pitchFamily="34" charset="0"/>
              </a:rPr>
              <a:t>Synthèse</a:t>
            </a:r>
            <a:endParaRPr lang="en-US" altLang="en-US" sz="2400" dirty="0" smtClean="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endParaRPr lang="fr-FR" altLang="en-US" sz="1400" dirty="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r>
              <a:rPr lang="fr-FR" altLang="en-US" dirty="0" smtClean="0">
                <a:ea typeface="ＭＳ Ｐゴシック" panose="020B0600070205080204" pitchFamily="34" charset="-128"/>
                <a:cs typeface="Arial" panose="020B0604020202020204" pitchFamily="34" charset="0"/>
              </a:rPr>
              <a:t>La gestion des immobilisations du fait du grand nombre et aussi de la complexité du processus requiert une grande attention. </a:t>
            </a:r>
          </a:p>
          <a:p>
            <a:pPr marL="171450" indent="-171450">
              <a:buClr>
                <a:srgbClr val="0070C0"/>
              </a:buClr>
              <a:buSzPct val="100000"/>
              <a:buFont typeface="Arial" panose="020B0604020202020204" pitchFamily="34" charset="0"/>
              <a:buChar char="•"/>
            </a:pPr>
            <a:r>
              <a:rPr lang="fr-FR" altLang="en-US" dirty="0" smtClean="0">
                <a:ea typeface="ＭＳ Ｐゴシック" panose="020B0600070205080204" pitchFamily="34" charset="-128"/>
                <a:cs typeface="Arial" panose="020B0604020202020204" pitchFamily="34" charset="0"/>
              </a:rPr>
              <a:t>Les reports sont de très bons moments de suivi. Pensez à les utiliser le plus souvent possible. </a:t>
            </a:r>
          </a:p>
          <a:p>
            <a:pPr>
              <a:buClr>
                <a:srgbClr val="0070C0"/>
              </a:buClr>
              <a:buSzPct val="100000"/>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4" name="Espace réservé du numéro de diapositiv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36DFBA8F-B79A-4011-8444-03085D4A6CB3}" type="slidenum">
              <a:rPr lang="fr-FR" altLang="en-US" sz="750"/>
              <a:pPr eaLnBrk="1" hangingPunct="1"/>
              <a:t>44</a:t>
            </a:fld>
            <a:endParaRPr lang="fr-FR" altLang="en-US" sz="750"/>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351DDB1-4EC6-4667-930F-AFE7550D0D08}"/>
</file>

<file path=customXml/itemProps2.xml><?xml version="1.0" encoding="utf-8"?>
<ds:datastoreItem xmlns:ds="http://schemas.openxmlformats.org/officeDocument/2006/customXml" ds:itemID="{6B08D313-DD74-49B0-B6A4-96BD802D9198}"/>
</file>

<file path=customXml/itemProps3.xml><?xml version="1.0" encoding="utf-8"?>
<ds:datastoreItem xmlns:ds="http://schemas.openxmlformats.org/officeDocument/2006/customXml" ds:itemID="{32B3D297-AE21-43DF-8190-B25D092DF3E9}"/>
</file>

<file path=customXml/itemProps4.xml><?xml version="1.0" encoding="utf-8"?>
<ds:datastoreItem xmlns:ds="http://schemas.openxmlformats.org/officeDocument/2006/customXml" ds:itemID="{DFE7DD0B-0BE8-4E24-A363-4DD0A01C5DCF}"/>
</file>

<file path=docProps/app.xml><?xml version="1.0" encoding="utf-8"?>
<Properties xmlns="http://schemas.openxmlformats.org/officeDocument/2006/extended-properties" xmlns:vt="http://schemas.openxmlformats.org/officeDocument/2006/docPropsVTypes">
  <Template/>
  <TotalTime>0</TotalTime>
  <Words>1791</Words>
  <Application>Microsoft Office PowerPoint</Application>
  <PresentationFormat>Affichage à l'écran (16:9)</PresentationFormat>
  <Paragraphs>872</Paragraphs>
  <Slides>45</Slides>
  <Notes>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45</vt:i4>
      </vt:variant>
    </vt:vector>
  </HeadingPairs>
  <TitlesOfParts>
    <vt:vector size="53" baseType="lpstr">
      <vt:lpstr>ＭＳ Ｐゴシック</vt:lpstr>
      <vt:lpstr>Arial</vt:lpstr>
      <vt:lpstr>Arial Narrow</vt:lpstr>
      <vt:lpstr>Calibri</vt:lpstr>
      <vt:lpstr>Courier New</vt:lpstr>
      <vt:lpstr>Verdana</vt:lpstr>
      <vt:lpstr>Wingdings</vt:lpstr>
      <vt:lpstr>TemplateBE_FR</vt:lpstr>
      <vt:lpstr>Kamsar, le 09.02.2016</vt:lpstr>
      <vt:lpstr>Présentation PowerPoint</vt:lpstr>
      <vt:lpstr>Objectifs de la formation</vt:lpstr>
      <vt:lpstr>Agenda : 2h00</vt:lpstr>
      <vt:lpstr>Présentation PowerPoint</vt:lpstr>
      <vt:lpstr>Description du processus de gestion immobilisations en cours et leur mise en service </vt:lpstr>
      <vt:lpstr>Description de la structure organisationnelle des immobilisations  </vt:lpstr>
      <vt:lpstr>Description de la structure organisationnelle des immobilisations 1/2  </vt:lpstr>
      <vt:lpstr>Description de la structure organisationnelle des immobilisations 2/2  </vt:lpstr>
      <vt:lpstr>Description de la structure organisationnelle des immobilisations  </vt:lpstr>
      <vt:lpstr>Description de la structure organisationnelle des immobilisations  </vt:lpstr>
      <vt:lpstr>Gestion de la fiche immobilisation  </vt:lpstr>
      <vt:lpstr>Gestion de la fiche immobilisation  </vt:lpstr>
      <vt:lpstr>Gestion des mouvements d’immobilisation   </vt:lpstr>
      <vt:lpstr>Gestion des mouvements d’immobilisation : l’acquisition   </vt:lpstr>
      <vt:lpstr>Gestion des mouvements d’immobilisation : le transfert d’immobilisation    </vt:lpstr>
      <vt:lpstr>Gestion des mouvements d’immobilisation : la cession d’immobilisation    </vt:lpstr>
      <vt:lpstr>Gestion des mouvements d’immobilisation : la mise au rebut    </vt:lpstr>
      <vt:lpstr>Gestion des amortissements des immobilisations    </vt:lpstr>
      <vt:lpstr>Gestion des amortissements des immobilisations    </vt:lpstr>
      <vt:lpstr>Gestion des amortissements des immobilisations    </vt:lpstr>
      <vt:lpstr>Reporting des immobilisations   </vt:lpstr>
      <vt:lpstr>Présentation PowerPoint</vt:lpstr>
      <vt:lpstr>Mode opératoire fiche immobilisation 1/5    </vt:lpstr>
      <vt:lpstr>Mode opératoire fiche immobilisation 2/5    </vt:lpstr>
      <vt:lpstr>Mode opératoire fiche immobilisation 3/5    </vt:lpstr>
      <vt:lpstr>Mode opératoire fiche immobilisation 4/5    </vt:lpstr>
      <vt:lpstr>Mode opératoire fiche immobilisation 5/5    </vt:lpstr>
      <vt:lpstr>Mode opératoire transfert d’immobilisation 1/4 </vt:lpstr>
      <vt:lpstr>Mode opératoire transfert d’immobilisation 2/4 </vt:lpstr>
      <vt:lpstr>Mode opératoire transfert d’immobilisation 3/4 </vt:lpstr>
      <vt:lpstr>Mode opératoire transfert d’immobilisation 4/4 </vt:lpstr>
      <vt:lpstr>Mode opératoire cession d’immobilisations </vt:lpstr>
      <vt:lpstr>Mode opératoire cession d’immobilisations </vt:lpstr>
      <vt:lpstr>Mode opératoire cession d’immobilisations </vt:lpstr>
      <vt:lpstr>Mode opératoire cession d’immobilisations </vt:lpstr>
      <vt:lpstr>Mode opératoire cession d’immobilisations </vt:lpstr>
      <vt:lpstr>Mode opératoire mise au rebut d’immobilisations </vt:lpstr>
      <vt:lpstr>Mode opératoire mise au rebut d’immobilisations </vt:lpstr>
      <vt:lpstr>Mode opératoire mise au rebut d’immobilisations </vt:lpstr>
      <vt:lpstr>Mode opératoire pour édition des reportings des immobilisations    </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Bearingpoint</cp:lastModifiedBy>
  <cp:revision>3906</cp:revision>
  <cp:lastPrinted>2015-04-23T03:57:16Z</cp:lastPrinted>
  <dcterms:created xsi:type="dcterms:W3CDTF">2012-05-17T14:14:37Z</dcterms:created>
  <dcterms:modified xsi:type="dcterms:W3CDTF">2015-12-15T22:30:50Z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ies>
</file>