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1.xml" ContentType="application/vnd.openxmlformats-officedocument.customXmlProperties+xml"/>
  <Override PartName="/customXml/itemProps2.xml" ContentType="application/vnd.openxmlformats-officedocument.customXmlProperti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0"/>
  </p:notesMasterIdLst>
  <p:handoutMasterIdLst>
    <p:handoutMasterId r:id="rId21"/>
  </p:handoutMasterIdLst>
  <p:sldIdLst>
    <p:sldId id="685" r:id="rId5"/>
    <p:sldId id="744" r:id="rId6"/>
    <p:sldId id="691" r:id="rId7"/>
    <p:sldId id="738" r:id="rId8"/>
    <p:sldId id="730" r:id="rId9"/>
    <p:sldId id="736" r:id="rId10"/>
    <p:sldId id="737" r:id="rId11"/>
    <p:sldId id="739" r:id="rId12"/>
    <p:sldId id="740" r:id="rId13"/>
    <p:sldId id="745" r:id="rId14"/>
    <p:sldId id="746" r:id="rId15"/>
    <p:sldId id="742" r:id="rId16"/>
    <p:sldId id="743" r:id="rId17"/>
    <p:sldId id="741" r:id="rId18"/>
    <p:sldId id="710" r:id="rId19"/>
  </p:sldIdLst>
  <p:sldSz cx="9906000" cy="6858000" type="A4"/>
  <p:notesSz cx="6797675" cy="9928225"/>
  <p:defaultTextStyle>
    <a:defPPr>
      <a:defRPr lang="en-US"/>
    </a:defPPr>
    <a:lvl1pPr marL="0" algn="l" defTabSz="536433" rtl="0" eaLnBrk="1" latinLnBrk="0" hangingPunct="1">
      <a:defRPr sz="2112" kern="1200">
        <a:solidFill>
          <a:schemeClr val="tx1"/>
        </a:solidFill>
        <a:latin typeface="+mn-lt"/>
        <a:ea typeface="+mn-ea"/>
        <a:cs typeface="+mn-cs"/>
      </a:defRPr>
    </a:lvl1pPr>
    <a:lvl2pPr marL="536433" algn="l" defTabSz="536433" rtl="0" eaLnBrk="1" latinLnBrk="0" hangingPunct="1">
      <a:defRPr sz="2112" kern="1200">
        <a:solidFill>
          <a:schemeClr val="tx1"/>
        </a:solidFill>
        <a:latin typeface="+mn-lt"/>
        <a:ea typeface="+mn-ea"/>
        <a:cs typeface="+mn-cs"/>
      </a:defRPr>
    </a:lvl2pPr>
    <a:lvl3pPr marL="1072866" algn="l" defTabSz="536433" rtl="0" eaLnBrk="1" latinLnBrk="0" hangingPunct="1">
      <a:defRPr sz="2112" kern="1200">
        <a:solidFill>
          <a:schemeClr val="tx1"/>
        </a:solidFill>
        <a:latin typeface="+mn-lt"/>
        <a:ea typeface="+mn-ea"/>
        <a:cs typeface="+mn-cs"/>
      </a:defRPr>
    </a:lvl3pPr>
    <a:lvl4pPr marL="1609298" algn="l" defTabSz="536433" rtl="0" eaLnBrk="1" latinLnBrk="0" hangingPunct="1">
      <a:defRPr sz="2112" kern="1200">
        <a:solidFill>
          <a:schemeClr val="tx1"/>
        </a:solidFill>
        <a:latin typeface="+mn-lt"/>
        <a:ea typeface="+mn-ea"/>
        <a:cs typeface="+mn-cs"/>
      </a:defRPr>
    </a:lvl4pPr>
    <a:lvl5pPr marL="2145731" algn="l" defTabSz="536433" rtl="0" eaLnBrk="1" latinLnBrk="0" hangingPunct="1">
      <a:defRPr sz="2112" kern="1200">
        <a:solidFill>
          <a:schemeClr val="tx1"/>
        </a:solidFill>
        <a:latin typeface="+mn-lt"/>
        <a:ea typeface="+mn-ea"/>
        <a:cs typeface="+mn-cs"/>
      </a:defRPr>
    </a:lvl5pPr>
    <a:lvl6pPr marL="2682164" algn="l" defTabSz="536433" rtl="0" eaLnBrk="1" latinLnBrk="0" hangingPunct="1">
      <a:defRPr sz="2112" kern="1200">
        <a:solidFill>
          <a:schemeClr val="tx1"/>
        </a:solidFill>
        <a:latin typeface="+mn-lt"/>
        <a:ea typeface="+mn-ea"/>
        <a:cs typeface="+mn-cs"/>
      </a:defRPr>
    </a:lvl6pPr>
    <a:lvl7pPr marL="3218597" algn="l" defTabSz="536433" rtl="0" eaLnBrk="1" latinLnBrk="0" hangingPunct="1">
      <a:defRPr sz="2112" kern="1200">
        <a:solidFill>
          <a:schemeClr val="tx1"/>
        </a:solidFill>
        <a:latin typeface="+mn-lt"/>
        <a:ea typeface="+mn-ea"/>
        <a:cs typeface="+mn-cs"/>
      </a:defRPr>
    </a:lvl7pPr>
    <a:lvl8pPr marL="3755029" algn="l" defTabSz="536433" rtl="0" eaLnBrk="1" latinLnBrk="0" hangingPunct="1">
      <a:defRPr sz="2112" kern="1200">
        <a:solidFill>
          <a:schemeClr val="tx1"/>
        </a:solidFill>
        <a:latin typeface="+mn-lt"/>
        <a:ea typeface="+mn-ea"/>
        <a:cs typeface="+mn-cs"/>
      </a:defRPr>
    </a:lvl8pPr>
    <a:lvl9pPr marL="4291462" algn="l" defTabSz="536433" rtl="0" eaLnBrk="1" latinLnBrk="0" hangingPunct="1">
      <a:defRPr sz="211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65" userDrawn="1">
          <p15:clr>
            <a:srgbClr val="A4A3A4"/>
          </p15:clr>
        </p15:guide>
        <p15:guide id="2" orient="horz" pos="2507" userDrawn="1">
          <p15:clr>
            <a:srgbClr val="A4A3A4"/>
          </p15:clr>
        </p15:guide>
        <p15:guide id="3" orient="horz" pos="119" userDrawn="1">
          <p15:clr>
            <a:srgbClr val="A4A3A4"/>
          </p15:clr>
        </p15:guide>
        <p15:guide id="4" orient="horz" pos="640" userDrawn="1">
          <p15:clr>
            <a:srgbClr val="A4A3A4"/>
          </p15:clr>
        </p15:guide>
        <p15:guide id="5" orient="horz" pos="935" userDrawn="1">
          <p15:clr>
            <a:srgbClr val="A4A3A4"/>
          </p15:clr>
        </p15:guide>
        <p15:guide id="6" pos="193" userDrawn="1">
          <p15:clr>
            <a:srgbClr val="A4A3A4"/>
          </p15:clr>
        </p15:guide>
        <p15:guide id="7" pos="3121" userDrawn="1">
          <p15:clr>
            <a:srgbClr val="A4A3A4"/>
          </p15:clr>
        </p15:guide>
        <p15:guide id="8" pos="6040" userDrawn="1">
          <p15:clr>
            <a:srgbClr val="A4A3A4"/>
          </p15:clr>
        </p15:guide>
        <p15:guide id="9" orient="horz" pos="21" userDrawn="1">
          <p15:clr>
            <a:srgbClr val="A4A3A4"/>
          </p15:clr>
        </p15:guide>
        <p15:guide id="10" orient="horz" pos="895"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70" autoAdjust="0"/>
    <p:restoredTop sz="95565" autoAdjust="0"/>
  </p:normalViewPr>
  <p:slideViewPr>
    <p:cSldViewPr snapToGrid="0" snapToObjects="1">
      <p:cViewPr varScale="1">
        <p:scale>
          <a:sx n="93" d="100"/>
          <a:sy n="93" d="100"/>
        </p:scale>
        <p:origin x="870" y="96"/>
      </p:cViewPr>
      <p:guideLst>
        <p:guide orient="horz" pos="4065"/>
        <p:guide orient="horz" pos="2507"/>
        <p:guide orient="horz" pos="119"/>
        <p:guide orient="horz" pos="640"/>
        <p:guide orient="horz" pos="935"/>
        <p:guide pos="193"/>
        <p:guide pos="3121"/>
        <p:guide pos="6040"/>
        <p:guide orient="horz" pos="21"/>
        <p:guide orient="horz" pos="89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3127"/>
        <p:guide pos="2124"/>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ustomXml" Target="../customXml/item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6411"/>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6411"/>
          </a:xfrm>
          <a:prstGeom prst="rect">
            <a:avLst/>
          </a:prstGeom>
        </p:spPr>
        <p:txBody>
          <a:bodyPr vert="horz" lIns="90577" tIns="45289" rIns="90577" bIns="45289" rtlCol="0"/>
          <a:lstStyle>
            <a:lvl1pPr algn="r">
              <a:defRPr sz="1200"/>
            </a:lvl1pPr>
          </a:lstStyle>
          <a:p>
            <a:fld id="{4FCF4903-D1A4-F14A-B207-A0D2CC9D4B8B}" type="datetimeFigureOut">
              <a:rPr lang="en-US" smtClean="0"/>
              <a:t>3/15/2016</a:t>
            </a:fld>
            <a:endParaRPr lang="en-US" dirty="0"/>
          </a:p>
        </p:txBody>
      </p:sp>
      <p:sp>
        <p:nvSpPr>
          <p:cNvPr id="4" name="Footer Placeholder 3"/>
          <p:cNvSpPr>
            <a:spLocks noGrp="1"/>
          </p:cNvSpPr>
          <p:nvPr>
            <p:ph type="ftr" sz="quarter" idx="2"/>
          </p:nvPr>
        </p:nvSpPr>
        <p:spPr>
          <a:xfrm>
            <a:off x="1" y="9430092"/>
            <a:ext cx="2945659" cy="496411"/>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430092"/>
            <a:ext cx="2945659" cy="496411"/>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6411"/>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850445" y="2"/>
            <a:ext cx="2945659" cy="496411"/>
          </a:xfrm>
          <a:prstGeom prst="rect">
            <a:avLst/>
          </a:prstGeom>
        </p:spPr>
        <p:txBody>
          <a:bodyPr vert="horz" lIns="90577" tIns="45289" rIns="90577" bIns="45289" rtlCol="0"/>
          <a:lstStyle>
            <a:lvl1pPr algn="r">
              <a:defRPr sz="1200"/>
            </a:lvl1pPr>
          </a:lstStyle>
          <a:p>
            <a:fld id="{BC5B4241-C98F-4766-9E25-5F8403374385}" type="datetimeFigureOut">
              <a:rPr lang="de-DE" smtClean="0"/>
              <a:t>15.03.2016</a:t>
            </a:fld>
            <a:endParaRPr lang="de-DE" dirty="0"/>
          </a:p>
        </p:txBody>
      </p:sp>
      <p:sp>
        <p:nvSpPr>
          <p:cNvPr id="4" name="Folienbildplatzhalter 3"/>
          <p:cNvSpPr>
            <a:spLocks noGrp="1" noRot="1" noChangeAspect="1"/>
          </p:cNvSpPr>
          <p:nvPr>
            <p:ph type="sldImg" idx="2"/>
          </p:nvPr>
        </p:nvSpPr>
        <p:spPr>
          <a:xfrm>
            <a:off x="709613" y="742950"/>
            <a:ext cx="5378450" cy="3724275"/>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679768" y="4715907"/>
            <a:ext cx="5438140" cy="4467701"/>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430092"/>
            <a:ext cx="2945659" cy="496411"/>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430092"/>
            <a:ext cx="2945659" cy="496411"/>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1072866" rtl="0" eaLnBrk="1" latinLnBrk="0" hangingPunct="1">
      <a:defRPr sz="1408" kern="1200">
        <a:solidFill>
          <a:schemeClr val="tx1"/>
        </a:solidFill>
        <a:latin typeface="+mn-lt"/>
        <a:ea typeface="+mn-ea"/>
        <a:cs typeface="+mn-cs"/>
      </a:defRPr>
    </a:lvl1pPr>
    <a:lvl2pPr marL="536433" algn="l" defTabSz="1072866" rtl="0" eaLnBrk="1" latinLnBrk="0" hangingPunct="1">
      <a:defRPr sz="1408" kern="1200">
        <a:solidFill>
          <a:schemeClr val="tx1"/>
        </a:solidFill>
        <a:latin typeface="+mn-lt"/>
        <a:ea typeface="+mn-ea"/>
        <a:cs typeface="+mn-cs"/>
      </a:defRPr>
    </a:lvl2pPr>
    <a:lvl3pPr marL="1072866" algn="l" defTabSz="1072866" rtl="0" eaLnBrk="1" latinLnBrk="0" hangingPunct="1">
      <a:defRPr sz="1408" kern="1200">
        <a:solidFill>
          <a:schemeClr val="tx1"/>
        </a:solidFill>
        <a:latin typeface="+mn-lt"/>
        <a:ea typeface="+mn-ea"/>
        <a:cs typeface="+mn-cs"/>
      </a:defRPr>
    </a:lvl3pPr>
    <a:lvl4pPr marL="1609298" algn="l" defTabSz="1072866" rtl="0" eaLnBrk="1" latinLnBrk="0" hangingPunct="1">
      <a:defRPr sz="1408" kern="1200">
        <a:solidFill>
          <a:schemeClr val="tx1"/>
        </a:solidFill>
        <a:latin typeface="+mn-lt"/>
        <a:ea typeface="+mn-ea"/>
        <a:cs typeface="+mn-cs"/>
      </a:defRPr>
    </a:lvl4pPr>
    <a:lvl5pPr marL="2145731" algn="l" defTabSz="1072866" rtl="0" eaLnBrk="1" latinLnBrk="0" hangingPunct="1">
      <a:defRPr sz="1408" kern="1200">
        <a:solidFill>
          <a:schemeClr val="tx1"/>
        </a:solidFill>
        <a:latin typeface="+mn-lt"/>
        <a:ea typeface="+mn-ea"/>
        <a:cs typeface="+mn-cs"/>
      </a:defRPr>
    </a:lvl5pPr>
    <a:lvl6pPr marL="2682164" algn="l" defTabSz="1072866" rtl="0" eaLnBrk="1" latinLnBrk="0" hangingPunct="1">
      <a:defRPr sz="1408" kern="1200">
        <a:solidFill>
          <a:schemeClr val="tx1"/>
        </a:solidFill>
        <a:latin typeface="+mn-lt"/>
        <a:ea typeface="+mn-ea"/>
        <a:cs typeface="+mn-cs"/>
      </a:defRPr>
    </a:lvl6pPr>
    <a:lvl7pPr marL="3218597" algn="l" defTabSz="1072866" rtl="0" eaLnBrk="1" latinLnBrk="0" hangingPunct="1">
      <a:defRPr sz="1408" kern="1200">
        <a:solidFill>
          <a:schemeClr val="tx1"/>
        </a:solidFill>
        <a:latin typeface="+mn-lt"/>
        <a:ea typeface="+mn-ea"/>
        <a:cs typeface="+mn-cs"/>
      </a:defRPr>
    </a:lvl7pPr>
    <a:lvl8pPr marL="3755029" algn="l" defTabSz="1072866" rtl="0" eaLnBrk="1" latinLnBrk="0" hangingPunct="1">
      <a:defRPr sz="1408" kern="1200">
        <a:solidFill>
          <a:schemeClr val="tx1"/>
        </a:solidFill>
        <a:latin typeface="+mn-lt"/>
        <a:ea typeface="+mn-ea"/>
        <a:cs typeface="+mn-cs"/>
      </a:defRPr>
    </a:lvl8pPr>
    <a:lvl9pPr marL="4291462" algn="l" defTabSz="1072866" rtl="0" eaLnBrk="1" latinLnBrk="0" hangingPunct="1">
      <a:defRPr sz="140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xfrm>
            <a:off x="709613" y="742950"/>
            <a:ext cx="5378450" cy="37242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854770" y="2075723"/>
            <a:ext cx="6819058" cy="2533220"/>
          </a:xfrm>
          <a:prstGeom prst="rect">
            <a:avLst/>
          </a:prstGeom>
        </p:spPr>
        <p:txBody>
          <a:bodyPr vert="horz" lIns="99060" tIns="49530" rIns="99060" bIns="4953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467" b="1" dirty="0">
              <a:solidFill>
                <a:srgbClr val="0070C0"/>
              </a:solidFill>
              <a:latin typeface="Arial" charset="0"/>
              <a:cs typeface="Arial" charset="0"/>
            </a:endParaRPr>
          </a:p>
        </p:txBody>
      </p:sp>
      <p:sp>
        <p:nvSpPr>
          <p:cNvPr id="6" name="Rectangle 5"/>
          <p:cNvSpPr/>
          <p:nvPr userDrawn="1"/>
        </p:nvSpPr>
        <p:spPr>
          <a:xfrm>
            <a:off x="309563" y="285751"/>
            <a:ext cx="9364266" cy="285749"/>
          </a:xfrm>
          <a:prstGeom prst="rect">
            <a:avLst/>
          </a:prstGeom>
          <a:solidFill>
            <a:srgbClr val="4F81BD"/>
          </a:solidFill>
          <a:ln w="25400" cap="flat" cmpd="sng" algn="ctr">
            <a:noFill/>
            <a:prstDash val="solid"/>
          </a:ln>
          <a:effectLst/>
        </p:spPr>
        <p:txBody>
          <a:bodyPr anchor="ctr"/>
          <a:lstStyle/>
          <a:p>
            <a:pPr marL="0" marR="0" lvl="0" indent="0" algn="ctr" defTabSz="990570" eaLnBrk="1" fontAlgn="auto" latinLnBrk="0" hangingPunct="1">
              <a:lnSpc>
                <a:spcPct val="100000"/>
              </a:lnSpc>
              <a:spcBef>
                <a:spcPts val="0"/>
              </a:spcBef>
              <a:spcAft>
                <a:spcPts val="0"/>
              </a:spcAft>
              <a:buClrTx/>
              <a:buSzTx/>
              <a:buFontTx/>
              <a:buNone/>
              <a:tabLst/>
              <a:defRPr/>
            </a:pPr>
            <a:endParaRPr kumimoji="0" lang="en-US" sz="1950" b="0" i="0" u="none" strike="noStrike" kern="0" cap="none" spc="0" normalizeH="0" baseline="0" noProof="0" dirty="0">
              <a:ln>
                <a:noFill/>
              </a:ln>
              <a:solidFill>
                <a:prstClr val="white"/>
              </a:solidFill>
              <a:effectLst/>
              <a:uLnTx/>
              <a:uFillTx/>
              <a:latin typeface="Calibri"/>
            </a:endParaRPr>
          </a:p>
        </p:txBody>
      </p:sp>
      <p:pic>
        <p:nvPicPr>
          <p:cNvPr id="2" name="Image 1"/>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309562" y="773290"/>
            <a:ext cx="1301101" cy="1299600"/>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196173" y="599726"/>
            <a:ext cx="7358988" cy="649287"/>
          </a:xfrm>
          <a:prstGeom prst="rect">
            <a:avLst/>
          </a:prstGeom>
          <a:noFill/>
        </p:spPr>
        <p:txBody>
          <a:bodyPr vert="horz" wrap="square" lIns="0" tIns="0" rIns="0" bIns="0" rtlCol="0" anchor="b" anchorCtr="0">
            <a:noAutofit/>
          </a:bodyPr>
          <a:lstStyle/>
          <a:p>
            <a:pPr defTabSz="422082"/>
            <a:r>
              <a:rPr lang="fr-FR" sz="2288" b="1" kern="1200" dirty="0" smtClean="0">
                <a:solidFill>
                  <a:srgbClr val="0070C0"/>
                </a:solidFill>
                <a:latin typeface="Calibri" pitchFamily="34" charset="0"/>
                <a:ea typeface="+mn-ea"/>
                <a:cs typeface="+mn-cs"/>
              </a:rPr>
              <a:t>Agenda de la réunion</a:t>
            </a:r>
            <a:endParaRPr lang="fr-FR" sz="2288"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196175" y="1531221"/>
            <a:ext cx="7358989" cy="4445511"/>
          </a:xfrm>
        </p:spPr>
        <p:txBody>
          <a:bodyPr/>
          <a:lstStyle>
            <a:lvl1pPr marL="0" marR="0" indent="0" algn="l" defTabSz="422082" rtl="0" eaLnBrk="1" fontAlgn="auto" latinLnBrk="0" hangingPunct="1">
              <a:lnSpc>
                <a:spcPct val="100000"/>
              </a:lnSpc>
              <a:spcBef>
                <a:spcPts val="1108"/>
              </a:spcBef>
              <a:spcAft>
                <a:spcPts val="277"/>
              </a:spcAft>
              <a:buClr>
                <a:prstClr val="white"/>
              </a:buClr>
              <a:buSzPct val="25000"/>
              <a:buFont typeface="Verdana" pitchFamily="34" charset="0"/>
              <a:buNone/>
              <a:tabLst/>
              <a:defRPr sz="1517"/>
            </a:lvl1pPr>
            <a:lvl2pPr marL="164143" marR="0" indent="-164143" algn="l" defTabSz="422082" rtl="0" eaLnBrk="1" fontAlgn="auto" latinLnBrk="0" hangingPunct="1">
              <a:lnSpc>
                <a:spcPct val="100000"/>
              </a:lnSpc>
              <a:spcBef>
                <a:spcPts val="277"/>
              </a:spcBef>
              <a:spcAft>
                <a:spcPts val="277"/>
              </a:spcAft>
              <a:buClr>
                <a:srgbClr val="A71930"/>
              </a:buClr>
              <a:buSzTx/>
              <a:buFont typeface="Arial" pitchFamily="34" charset="0"/>
              <a:buChar char="•"/>
              <a:tabLst/>
              <a:defRPr sz="1517"/>
            </a:lvl2pPr>
            <a:lvl3pPr marL="334148" marR="0" indent="-167074" algn="l" defTabSz="474842" rtl="0" eaLnBrk="1" fontAlgn="auto" latinLnBrk="0" hangingPunct="1">
              <a:lnSpc>
                <a:spcPct val="100000"/>
              </a:lnSpc>
              <a:spcBef>
                <a:spcPts val="277"/>
              </a:spcBef>
              <a:spcAft>
                <a:spcPts val="277"/>
              </a:spcAft>
              <a:buClr>
                <a:srgbClr val="A71930"/>
              </a:buClr>
              <a:buSzTx/>
              <a:buFont typeface="Calibri" pitchFamily="34" charset="0"/>
              <a:buChar char="−"/>
              <a:tabLst/>
              <a:defRPr lang="en-US" sz="1517" kern="1200" noProof="0" dirty="0" smtClean="0">
                <a:solidFill>
                  <a:srgbClr val="4D4F53"/>
                </a:solidFill>
                <a:latin typeface="+mn-lt"/>
                <a:ea typeface="+mn-ea"/>
                <a:cs typeface="+mn-cs"/>
              </a:defRPr>
            </a:lvl3pPr>
            <a:lvl4pPr marL="495360" marR="0" indent="-149487" algn="l" defTabSz="422082" rtl="0" eaLnBrk="1" fontAlgn="auto" latinLnBrk="0" hangingPunct="1">
              <a:lnSpc>
                <a:spcPct val="100000"/>
              </a:lnSpc>
              <a:spcBef>
                <a:spcPts val="277"/>
              </a:spcBef>
              <a:spcAft>
                <a:spcPts val="277"/>
              </a:spcAft>
              <a:buClr>
                <a:srgbClr val="A71930"/>
              </a:buClr>
              <a:buSzTx/>
              <a:buFont typeface="Courier New" pitchFamily="49" charset="0"/>
              <a:buChar char="o"/>
              <a:tabLst/>
              <a:defRPr lang="en-US" sz="1517" kern="1200" noProof="0" dirty="0" smtClean="0">
                <a:solidFill>
                  <a:srgbClr val="4D4F53"/>
                </a:solidFill>
                <a:latin typeface="+mn-lt"/>
                <a:ea typeface="+mn-ea"/>
                <a:cs typeface="+mn-cs"/>
              </a:defRPr>
            </a:lvl4pPr>
          </a:lstStyle>
          <a:p>
            <a:pPr marL="0" marR="0" lvl="0" indent="0" algn="l" defTabSz="422082" rtl="0" eaLnBrk="1" fontAlgn="auto" latinLnBrk="0" hangingPunct="1">
              <a:lnSpc>
                <a:spcPct val="100000"/>
              </a:lnSpc>
              <a:spcBef>
                <a:spcPts val="1108"/>
              </a:spcBef>
              <a:spcAft>
                <a:spcPts val="277"/>
              </a:spcAft>
              <a:buClr>
                <a:prstClr val="white"/>
              </a:buClr>
              <a:buSzPct val="25000"/>
              <a:buFont typeface="Verdana" pitchFamily="34" charset="0"/>
              <a:buNone/>
              <a:tabLst/>
              <a:defRPr/>
            </a:pPr>
            <a:r>
              <a:rPr kumimoji="0" lang="fr-FR" sz="1300" b="0" i="0" u="none" strike="noStrike" kern="1200" cap="none" spc="0" normalizeH="0" baseline="0" noProof="0" dirty="0" smtClean="0">
                <a:ln>
                  <a:noFill/>
                </a:ln>
                <a:solidFill>
                  <a:srgbClr val="4D4F53"/>
                </a:solidFill>
                <a:effectLst/>
                <a:uLnTx/>
                <a:uFillTx/>
                <a:latin typeface="+mn-lt"/>
              </a:rPr>
              <a:t>Modifiez les styles du texte du masque</a:t>
            </a:r>
          </a:p>
          <a:p>
            <a:pPr marL="164143" marR="0" lvl="1" indent="-164143" algn="l" defTabSz="422082" rtl="0" eaLnBrk="1" fontAlgn="auto" latinLnBrk="0" hangingPunct="1">
              <a:lnSpc>
                <a:spcPct val="100000"/>
              </a:lnSpc>
              <a:spcBef>
                <a:spcPts val="277"/>
              </a:spcBef>
              <a:spcAft>
                <a:spcPts val="277"/>
              </a:spcAft>
              <a:buClr>
                <a:srgbClr val="A71930"/>
              </a:buClr>
              <a:buSzTx/>
              <a:buFont typeface="Arial" pitchFamily="34" charset="0"/>
              <a:buChar char="•"/>
              <a:tabLst/>
              <a:defRPr/>
            </a:pPr>
            <a:r>
              <a:rPr kumimoji="0" lang="fr-FR" sz="1300" b="0" i="0" u="none" strike="noStrike" kern="1200" cap="none" spc="0" normalizeH="0" baseline="0" noProof="0" dirty="0" smtClean="0">
                <a:ln>
                  <a:noFill/>
                </a:ln>
                <a:solidFill>
                  <a:srgbClr val="4D4F53"/>
                </a:solidFill>
                <a:effectLst/>
                <a:uLnTx/>
                <a:uFillTx/>
                <a:latin typeface="+mn-lt"/>
              </a:rPr>
              <a:t>Deuxième niveau</a:t>
            </a:r>
          </a:p>
          <a:p>
            <a:pPr marL="334148" marR="0" lvl="2" indent="-167074" algn="l" defTabSz="474842" rtl="0" eaLnBrk="1" fontAlgn="auto" latinLnBrk="0" hangingPunct="1">
              <a:lnSpc>
                <a:spcPct val="100000"/>
              </a:lnSpc>
              <a:spcBef>
                <a:spcPts val="277"/>
              </a:spcBef>
              <a:spcAft>
                <a:spcPts val="277"/>
              </a:spcAft>
              <a:buClr>
                <a:srgbClr val="A71930"/>
              </a:buClr>
              <a:buSzTx/>
              <a:buFont typeface="Calibri" pitchFamily="34" charset="0"/>
              <a:buChar char="−"/>
              <a:tabLst/>
              <a:defRPr/>
            </a:pPr>
            <a:r>
              <a:rPr kumimoji="0" lang="fr-FR" sz="1300" b="0" i="0" u="none" strike="noStrike" kern="1200" cap="none" spc="0" normalizeH="0" baseline="0" noProof="0" dirty="0" smtClean="0">
                <a:ln>
                  <a:noFill/>
                </a:ln>
                <a:solidFill>
                  <a:srgbClr val="4D4F53"/>
                </a:solidFill>
                <a:effectLst/>
                <a:uLnTx/>
                <a:uFillTx/>
                <a:latin typeface="+mn-lt"/>
              </a:rPr>
              <a:t>Troisième niveau</a:t>
            </a:r>
          </a:p>
          <a:p>
            <a:pPr marL="495360" marR="0" lvl="3" indent="-149487" algn="l" defTabSz="422082" rtl="0" eaLnBrk="1" fontAlgn="auto" latinLnBrk="0" hangingPunct="1">
              <a:lnSpc>
                <a:spcPct val="100000"/>
              </a:lnSpc>
              <a:spcBef>
                <a:spcPts val="277"/>
              </a:spcBef>
              <a:spcAft>
                <a:spcPts val="277"/>
              </a:spcAft>
              <a:buClr>
                <a:srgbClr val="A71930"/>
              </a:buClr>
              <a:buSzTx/>
              <a:buFont typeface="Courier New" pitchFamily="49" charset="0"/>
              <a:buChar char="o"/>
              <a:tabLst/>
              <a:defRPr/>
            </a:pPr>
            <a:r>
              <a:rPr kumimoji="0" lang="fr-FR" sz="13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322038" y="924369"/>
            <a:ext cx="1299600" cy="1299600"/>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742950" y="6356351"/>
            <a:ext cx="2063750" cy="365125"/>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15/03/2016</a:t>
            </a:fld>
            <a:endParaRPr lang="fr-FR"/>
          </a:p>
        </p:txBody>
      </p:sp>
      <p:sp>
        <p:nvSpPr>
          <p:cNvPr id="5" name="Espace réservé du numéro de diapositive 5"/>
          <p:cNvSpPr>
            <a:spLocks noGrp="1"/>
          </p:cNvSpPr>
          <p:nvPr>
            <p:ph type="sldNum" sz="quarter" idx="11"/>
          </p:nvPr>
        </p:nvSpPr>
        <p:spPr>
          <a:xfrm>
            <a:off x="7099300" y="6356351"/>
            <a:ext cx="2311400" cy="365125"/>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384550" y="6356351"/>
            <a:ext cx="3136900" cy="365125"/>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314989" y="1536701"/>
            <a:ext cx="7240173" cy="432076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368042" y="6498346"/>
            <a:ext cx="3169918" cy="211193"/>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sz="867" dirty="0" smtClean="0">
                <a:solidFill>
                  <a:srgbClr val="8D817B"/>
                </a:solidFill>
              </a:rPr>
              <a:t>Confidentiel. © 2015 CBG | </a:t>
            </a:r>
            <a:fld id="{2E997FAD-17BD-C54D-93FE-DA7D4A487AFB}" type="slidenum">
              <a:rPr lang="fr-FR" sz="867" smtClean="0">
                <a:solidFill>
                  <a:srgbClr val="8D817B"/>
                </a:solidFill>
              </a:rPr>
              <a:pPr algn="ctr"/>
              <a:t>‹N°›</a:t>
            </a:fld>
            <a:endParaRPr lang="fr-FR" sz="867" dirty="0" smtClean="0">
              <a:solidFill>
                <a:srgbClr val="8D817B"/>
              </a:solidFill>
            </a:endParaRPr>
          </a:p>
        </p:txBody>
      </p:sp>
      <p:sp>
        <p:nvSpPr>
          <p:cNvPr id="19" name="Espace réservé du pied de page 8"/>
          <p:cNvSpPr txBox="1">
            <a:spLocks/>
          </p:cNvSpPr>
          <p:nvPr userDrawn="1"/>
        </p:nvSpPr>
        <p:spPr bwMode="auto">
          <a:xfrm>
            <a:off x="309563" y="6161503"/>
            <a:ext cx="4411266" cy="2942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60" tIns="49530" rIns="99060" bIns="4953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90570" eaLnBrk="1" hangingPunct="1"/>
            <a:r>
              <a:rPr lang="fr-FR" sz="975" dirty="0" smtClean="0">
                <a:solidFill>
                  <a:srgbClr val="0070C0"/>
                </a:solidFill>
                <a:latin typeface="Arial" charset="0"/>
                <a:cs typeface="Arial" charset="0"/>
              </a:rPr>
              <a:t>Ce document est la propriété de la CBG - This document is property of CBG</a:t>
            </a:r>
            <a:endParaRPr lang="en-US" sz="975" dirty="0">
              <a:solidFill>
                <a:srgbClr val="0070C0"/>
              </a:solidFill>
              <a:latin typeface="Arial" charset="0"/>
              <a:cs typeface="Arial" charset="0"/>
            </a:endParaRPr>
          </a:p>
        </p:txBody>
      </p:sp>
      <p:sp>
        <p:nvSpPr>
          <p:cNvPr id="2" name="Espace réservé du titre 1"/>
          <p:cNvSpPr>
            <a:spLocks noGrp="1"/>
          </p:cNvSpPr>
          <p:nvPr>
            <p:ph type="title"/>
          </p:nvPr>
        </p:nvSpPr>
        <p:spPr>
          <a:xfrm>
            <a:off x="495300" y="275167"/>
            <a:ext cx="8915400" cy="114300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0359" y="6075898"/>
            <a:ext cx="9365283" cy="65029"/>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Lst>
  <p:timing>
    <p:tnLst>
      <p:par>
        <p:cTn id="1" dur="indefinite" restart="never" nodeType="tmRoot"/>
      </p:par>
    </p:tnLst>
  </p:timing>
  <p:txStyles>
    <p:titleStyle>
      <a:lvl1pPr marL="0" indent="0" algn="l" defTabSz="422082" rtl="0" eaLnBrk="1" latinLnBrk="0" hangingPunct="1">
        <a:spcBef>
          <a:spcPct val="0"/>
        </a:spcBef>
        <a:spcAft>
          <a:spcPts val="0"/>
        </a:spcAft>
        <a:buFont typeface="Arial" pitchFamily="34" charset="0"/>
        <a:buNone/>
        <a:defRPr lang="fr-FR" sz="2058" b="0" kern="1200" baseline="0" smtClean="0">
          <a:solidFill>
            <a:srgbClr val="4D4F53"/>
          </a:solidFill>
          <a:latin typeface="+mj-lt"/>
          <a:ea typeface="+mn-ea"/>
          <a:cs typeface="+mn-cs"/>
        </a:defRPr>
      </a:lvl1pPr>
    </p:titleStyle>
    <p:bodyStyle>
      <a:lvl1pPr marL="0" indent="0" algn="l" defTabSz="422082" rtl="0" eaLnBrk="1" latinLnBrk="0" hangingPunct="1">
        <a:spcBef>
          <a:spcPts val="1108"/>
        </a:spcBef>
        <a:spcAft>
          <a:spcPts val="277"/>
        </a:spcAft>
        <a:buClr>
          <a:schemeClr val="bg1"/>
        </a:buClr>
        <a:buSzPct val="25000"/>
        <a:buFont typeface="Verdana" pitchFamily="34" charset="0"/>
        <a:buNone/>
        <a:defRPr lang="en-GB" sz="1300" b="0" kern="1200" noProof="0" smtClean="0">
          <a:solidFill>
            <a:srgbClr val="4D4F53"/>
          </a:solidFill>
          <a:latin typeface="+mn-lt"/>
          <a:ea typeface="+mn-ea"/>
          <a:cs typeface="+mn-cs"/>
        </a:defRPr>
      </a:lvl1pPr>
      <a:lvl2pPr marL="164143" indent="-164143" algn="l" defTabSz="422082" rtl="0" eaLnBrk="1" latinLnBrk="0" hangingPunct="1">
        <a:spcBef>
          <a:spcPts val="277"/>
        </a:spcBef>
        <a:spcAft>
          <a:spcPts val="277"/>
        </a:spcAft>
        <a:buClr>
          <a:schemeClr val="bg2"/>
        </a:buClr>
        <a:buFont typeface="Arial" pitchFamily="34" charset="0"/>
        <a:buChar char="•"/>
        <a:defRPr lang="en-GB" sz="1300" kern="1200" noProof="0" smtClean="0">
          <a:solidFill>
            <a:srgbClr val="4D4F53"/>
          </a:solidFill>
          <a:latin typeface="+mn-lt"/>
          <a:ea typeface="+mn-ea"/>
          <a:cs typeface="+mn-cs"/>
        </a:defRPr>
      </a:lvl2pPr>
      <a:lvl3pPr marL="334148" indent="-167074" algn="l" defTabSz="474842" rtl="0" eaLnBrk="1" latinLnBrk="0" hangingPunct="1">
        <a:spcBef>
          <a:spcPts val="277"/>
        </a:spcBef>
        <a:spcAft>
          <a:spcPts val="277"/>
        </a:spcAft>
        <a:buClr>
          <a:schemeClr val="bg2"/>
        </a:buClr>
        <a:buFont typeface="Calibri" pitchFamily="34" charset="0"/>
        <a:buChar char="−"/>
        <a:defRPr lang="en-GB" sz="1300" kern="1200" noProof="0" smtClean="0">
          <a:solidFill>
            <a:srgbClr val="4D4F53"/>
          </a:solidFill>
          <a:latin typeface="+mn-lt"/>
          <a:ea typeface="+mn-ea"/>
          <a:cs typeface="+mn-cs"/>
        </a:defRPr>
      </a:lvl3pPr>
      <a:lvl4pPr marL="495360" indent="-149487" algn="l" defTabSz="422082" rtl="0" eaLnBrk="1" latinLnBrk="0" hangingPunct="1">
        <a:spcBef>
          <a:spcPts val="277"/>
        </a:spcBef>
        <a:spcAft>
          <a:spcPts val="277"/>
        </a:spcAft>
        <a:buClr>
          <a:schemeClr val="bg2"/>
        </a:buClr>
        <a:buFont typeface="Courier New" pitchFamily="49" charset="0"/>
        <a:buChar char="o"/>
        <a:tabLst/>
        <a:defRPr lang="en-GB" sz="1300" kern="1200" noProof="0" smtClean="0">
          <a:solidFill>
            <a:srgbClr val="4D4F53"/>
          </a:solidFill>
          <a:latin typeface="+mn-lt"/>
          <a:ea typeface="+mn-ea"/>
          <a:cs typeface="+mn-cs"/>
        </a:defRPr>
      </a:lvl4pPr>
      <a:lvl5pPr marL="750367" indent="-152418" algn="l" defTabSz="422082" rtl="0" eaLnBrk="1" latinLnBrk="0" hangingPunct="1">
        <a:spcBef>
          <a:spcPts val="0"/>
        </a:spcBef>
        <a:buClr>
          <a:srgbClr val="D52B1E"/>
        </a:buClr>
        <a:buFont typeface="Calibri" pitchFamily="34" charset="0"/>
        <a:buChar char="-"/>
        <a:tabLst/>
        <a:defRPr lang="en-GB" sz="975" kern="1200" noProof="0">
          <a:solidFill>
            <a:srgbClr val="4D4F53"/>
          </a:solidFill>
          <a:latin typeface="+mn-lt"/>
          <a:ea typeface="+mn-ea"/>
          <a:cs typeface="+mn-cs"/>
        </a:defRPr>
      </a:lvl5pPr>
      <a:lvl6pPr marL="2321449" indent="-211041" algn="l" defTabSz="422082" rtl="0" eaLnBrk="1" latinLnBrk="0" hangingPunct="1">
        <a:spcBef>
          <a:spcPct val="20000"/>
        </a:spcBef>
        <a:buFont typeface="Arial"/>
        <a:buChar char="•"/>
        <a:defRPr sz="1842" kern="1200">
          <a:solidFill>
            <a:schemeClr val="tx1"/>
          </a:solidFill>
          <a:latin typeface="+mn-lt"/>
          <a:ea typeface="+mn-ea"/>
          <a:cs typeface="+mn-cs"/>
        </a:defRPr>
      </a:lvl6pPr>
      <a:lvl7pPr marL="2743531" indent="-211041" algn="l" defTabSz="422082" rtl="0" eaLnBrk="1" latinLnBrk="0" hangingPunct="1">
        <a:spcBef>
          <a:spcPct val="20000"/>
        </a:spcBef>
        <a:buFont typeface="Arial"/>
        <a:buChar char="•"/>
        <a:defRPr sz="1842" kern="1200">
          <a:solidFill>
            <a:schemeClr val="tx1"/>
          </a:solidFill>
          <a:latin typeface="+mn-lt"/>
          <a:ea typeface="+mn-ea"/>
          <a:cs typeface="+mn-cs"/>
        </a:defRPr>
      </a:lvl7pPr>
      <a:lvl8pPr marL="3165613" indent="-211041" algn="l" defTabSz="422082" rtl="0" eaLnBrk="1" latinLnBrk="0" hangingPunct="1">
        <a:spcBef>
          <a:spcPct val="20000"/>
        </a:spcBef>
        <a:buFont typeface="Arial"/>
        <a:buChar char="•"/>
        <a:defRPr sz="1842" kern="1200">
          <a:solidFill>
            <a:schemeClr val="tx1"/>
          </a:solidFill>
          <a:latin typeface="+mn-lt"/>
          <a:ea typeface="+mn-ea"/>
          <a:cs typeface="+mn-cs"/>
        </a:defRPr>
      </a:lvl8pPr>
      <a:lvl9pPr marL="3587695" indent="-211041" algn="l" defTabSz="422082" rtl="0" eaLnBrk="1" latinLnBrk="0" hangingPunct="1">
        <a:spcBef>
          <a:spcPct val="20000"/>
        </a:spcBef>
        <a:buFont typeface="Arial"/>
        <a:buChar char="•"/>
        <a:defRPr sz="1842" kern="1200">
          <a:solidFill>
            <a:schemeClr val="tx1"/>
          </a:solidFill>
          <a:latin typeface="+mn-lt"/>
          <a:ea typeface="+mn-ea"/>
          <a:cs typeface="+mn-cs"/>
        </a:defRPr>
      </a:lvl9pPr>
    </p:bodyStyle>
    <p:otherStyle>
      <a:defPPr>
        <a:defRPr lang="en-US"/>
      </a:defPPr>
      <a:lvl1pPr marL="0" algn="l" defTabSz="422082" rtl="0" eaLnBrk="1" latinLnBrk="0" hangingPunct="1">
        <a:defRPr sz="1625" kern="1200">
          <a:solidFill>
            <a:schemeClr val="tx1"/>
          </a:solidFill>
          <a:latin typeface="+mn-lt"/>
          <a:ea typeface="+mn-ea"/>
          <a:cs typeface="+mn-cs"/>
        </a:defRPr>
      </a:lvl1pPr>
      <a:lvl2pPr marL="422082" algn="l" defTabSz="422082" rtl="0" eaLnBrk="1" latinLnBrk="0" hangingPunct="1">
        <a:defRPr sz="1625" kern="1200">
          <a:solidFill>
            <a:schemeClr val="tx1"/>
          </a:solidFill>
          <a:latin typeface="+mn-lt"/>
          <a:ea typeface="+mn-ea"/>
          <a:cs typeface="+mn-cs"/>
        </a:defRPr>
      </a:lvl2pPr>
      <a:lvl3pPr marL="844164" algn="l" defTabSz="422082" rtl="0" eaLnBrk="1" latinLnBrk="0" hangingPunct="1">
        <a:defRPr sz="1625" kern="1200">
          <a:solidFill>
            <a:schemeClr val="tx1"/>
          </a:solidFill>
          <a:latin typeface="+mn-lt"/>
          <a:ea typeface="+mn-ea"/>
          <a:cs typeface="+mn-cs"/>
        </a:defRPr>
      </a:lvl3pPr>
      <a:lvl4pPr marL="1266246" algn="l" defTabSz="422082" rtl="0" eaLnBrk="1" latinLnBrk="0" hangingPunct="1">
        <a:defRPr sz="1625" kern="1200">
          <a:solidFill>
            <a:schemeClr val="tx1"/>
          </a:solidFill>
          <a:latin typeface="+mn-lt"/>
          <a:ea typeface="+mn-ea"/>
          <a:cs typeface="+mn-cs"/>
        </a:defRPr>
      </a:lvl4pPr>
      <a:lvl5pPr marL="1688326" algn="l" defTabSz="422082" rtl="0" eaLnBrk="1" latinLnBrk="0" hangingPunct="1">
        <a:defRPr sz="1625" kern="1200">
          <a:solidFill>
            <a:schemeClr val="tx1"/>
          </a:solidFill>
          <a:latin typeface="+mn-lt"/>
          <a:ea typeface="+mn-ea"/>
          <a:cs typeface="+mn-cs"/>
        </a:defRPr>
      </a:lvl5pPr>
      <a:lvl6pPr marL="2110408" algn="l" defTabSz="422082" rtl="0" eaLnBrk="1" latinLnBrk="0" hangingPunct="1">
        <a:defRPr sz="1625" kern="1200">
          <a:solidFill>
            <a:schemeClr val="tx1"/>
          </a:solidFill>
          <a:latin typeface="+mn-lt"/>
          <a:ea typeface="+mn-ea"/>
          <a:cs typeface="+mn-cs"/>
        </a:defRPr>
      </a:lvl6pPr>
      <a:lvl7pPr marL="2532490" algn="l" defTabSz="422082" rtl="0" eaLnBrk="1" latinLnBrk="0" hangingPunct="1">
        <a:defRPr sz="1625" kern="1200">
          <a:solidFill>
            <a:schemeClr val="tx1"/>
          </a:solidFill>
          <a:latin typeface="+mn-lt"/>
          <a:ea typeface="+mn-ea"/>
          <a:cs typeface="+mn-cs"/>
        </a:defRPr>
      </a:lvl7pPr>
      <a:lvl8pPr marL="2954572" algn="l" defTabSz="422082" rtl="0" eaLnBrk="1" latinLnBrk="0" hangingPunct="1">
        <a:defRPr sz="1625" kern="1200">
          <a:solidFill>
            <a:schemeClr val="tx1"/>
          </a:solidFill>
          <a:latin typeface="+mn-lt"/>
          <a:ea typeface="+mn-ea"/>
          <a:cs typeface="+mn-cs"/>
        </a:defRPr>
      </a:lvl8pPr>
      <a:lvl9pPr marL="3376654" algn="l" defTabSz="422082" rtl="0" eaLnBrk="1" latinLnBrk="0" hangingPunct="1">
        <a:defRPr sz="16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854771" y="2329463"/>
            <a:ext cx="6302014" cy="2058241"/>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3033" b="1" dirty="0">
                <a:solidFill>
                  <a:srgbClr val="0070C0"/>
                </a:solidFill>
                <a:latin typeface="Arial" charset="0"/>
                <a:cs typeface="Arial" charset="0"/>
              </a:rPr>
              <a:t>Formation Utilisateurs- Achats </a:t>
            </a:r>
            <a:r>
              <a:rPr lang="fr-FR" sz="3467" b="1" dirty="0">
                <a:solidFill>
                  <a:srgbClr val="0070C0"/>
                </a:solidFill>
                <a:latin typeface="Arial" charset="0"/>
                <a:cs typeface="Arial" charset="0"/>
              </a:rPr>
              <a:t/>
            </a:r>
            <a:br>
              <a:rPr lang="fr-FR" sz="3467" b="1" dirty="0">
                <a:solidFill>
                  <a:srgbClr val="0070C0"/>
                </a:solidFill>
                <a:latin typeface="Arial" charset="0"/>
                <a:cs typeface="Arial" charset="0"/>
              </a:rPr>
            </a:br>
            <a:r>
              <a:rPr lang="fr-FR" sz="2167" b="1" dirty="0">
                <a:solidFill>
                  <a:srgbClr val="0070C0"/>
                </a:solidFill>
                <a:latin typeface="Arial" charset="0"/>
                <a:cs typeface="Arial" charset="0"/>
              </a:rPr>
              <a:t>Module ACH03.01.02</a:t>
            </a:r>
            <a:br>
              <a:rPr lang="fr-FR" sz="2167" b="1" dirty="0">
                <a:solidFill>
                  <a:srgbClr val="0070C0"/>
                </a:solidFill>
                <a:latin typeface="Arial" charset="0"/>
                <a:cs typeface="Arial" charset="0"/>
              </a:rPr>
            </a:br>
            <a:r>
              <a:rPr lang="fr-FR" sz="2167" b="1" dirty="0">
                <a:solidFill>
                  <a:srgbClr val="0070C0"/>
                </a:solidFill>
                <a:latin typeface="Arial" charset="0"/>
                <a:cs typeface="Arial" charset="0"/>
              </a:rPr>
              <a:t>Traitement des demandes d’achat </a:t>
            </a:r>
            <a:r>
              <a:rPr lang="fr-FR" sz="2167" b="1" dirty="0" smtClean="0">
                <a:solidFill>
                  <a:srgbClr val="0070C0"/>
                </a:solidFill>
                <a:latin typeface="Arial" charset="0"/>
                <a:cs typeface="Arial" charset="0"/>
              </a:rPr>
              <a:t>de biens hors réapprovisionnement locales (ZDIR</a:t>
            </a:r>
            <a:r>
              <a:rPr lang="fr-FR" sz="2167" b="1" dirty="0">
                <a:solidFill>
                  <a:srgbClr val="0070C0"/>
                </a:solidFill>
                <a:latin typeface="Arial" charset="0"/>
                <a:cs typeface="Arial" charset="0"/>
              </a:rPr>
              <a:t>)</a:t>
            </a:r>
            <a:endParaRPr lang="fr-FR" sz="1950"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95300" y="633599"/>
            <a:ext cx="8915400" cy="787213"/>
          </a:xfrm>
        </p:spPr>
        <p:txBody>
          <a:bodyPr anchor="t">
            <a:normAutofit fontScale="90000"/>
          </a:bodyPr>
          <a:lstStyle/>
          <a:p>
            <a:r>
              <a:rPr lang="fr-FR" altLang="en-US" sz="2600" dirty="0"/>
              <a:t>Rappel sur les groupes marchandises à utiliser </a:t>
            </a:r>
            <a:r>
              <a:rPr lang="fr-FR" altLang="en-US" dirty="0" smtClean="0"/>
              <a:t/>
            </a:r>
            <a:br>
              <a:rPr lang="fr-FR" altLang="en-US" dirty="0" smtClean="0"/>
            </a:br>
            <a:r>
              <a:rPr lang="fr-FR" altLang="en-US" dirty="0" smtClean="0"/>
              <a:t>Articles </a:t>
            </a:r>
            <a:endParaRPr lang="en-US" altLang="en-US" dirty="0" smtClean="0"/>
          </a:p>
        </p:txBody>
      </p:sp>
      <p:graphicFrame>
        <p:nvGraphicFramePr>
          <p:cNvPr id="11" name="Tableau 10"/>
          <p:cNvGraphicFramePr>
            <a:graphicFrameLocks noGrp="1"/>
          </p:cNvGraphicFramePr>
          <p:nvPr>
            <p:extLst>
              <p:ext uri="{D42A27DB-BD31-4B8C-83A1-F6EECF244321}">
                <p14:modId xmlns:p14="http://schemas.microsoft.com/office/powerpoint/2010/main" val="1207957491"/>
              </p:ext>
            </p:extLst>
          </p:nvPr>
        </p:nvGraphicFramePr>
        <p:xfrm>
          <a:off x="285427" y="1795190"/>
          <a:ext cx="9343541" cy="3866193"/>
        </p:xfrm>
        <a:graphic>
          <a:graphicData uri="http://schemas.openxmlformats.org/drawingml/2006/table">
            <a:tbl>
              <a:tblPr/>
              <a:tblGrid>
                <a:gridCol w="629619"/>
                <a:gridCol w="2224652"/>
                <a:gridCol w="6489270"/>
              </a:tblGrid>
              <a:tr h="421660">
                <a:tc>
                  <a:txBody>
                    <a:bodyPr/>
                    <a:lstStyle/>
                    <a:p>
                      <a:pPr algn="ctr" fontAlgn="ctr"/>
                      <a:r>
                        <a:rPr lang="fr-FR" sz="800" b="1" i="0" u="none" strike="noStrike" dirty="0">
                          <a:solidFill>
                            <a:srgbClr val="000000"/>
                          </a:solidFill>
                          <a:effectLst/>
                          <a:latin typeface="Calibri" panose="020F0502020204030204" pitchFamily="34" charset="0"/>
                        </a:rPr>
                        <a:t>Groupe de marchandises</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8CCE4"/>
                    </a:solidFill>
                  </a:tcPr>
                </a:tc>
                <a:tc>
                  <a:txBody>
                    <a:bodyPr/>
                    <a:lstStyle/>
                    <a:p>
                      <a:pPr algn="ctr" fontAlgn="ctr"/>
                      <a:r>
                        <a:rPr lang="fr-FR" sz="800" b="1" i="0" u="none" strike="noStrike" dirty="0">
                          <a:solidFill>
                            <a:srgbClr val="000000"/>
                          </a:solidFill>
                          <a:effectLst/>
                          <a:latin typeface="Calibri" panose="020F0502020204030204" pitchFamily="34" charset="0"/>
                        </a:rPr>
                        <a:t>Description Groupe de marchandise</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800" b="1" i="0" u="none" strike="noStrike" dirty="0">
                          <a:solidFill>
                            <a:srgbClr val="000000"/>
                          </a:solidFill>
                          <a:effectLst/>
                          <a:latin typeface="Calibri" panose="020F0502020204030204" pitchFamily="34" charset="0"/>
                        </a:rPr>
                        <a:t>Explication : </a:t>
                      </a:r>
                      <a:r>
                        <a:rPr lang="fr-FR" sz="800" b="1" i="0" u="none" strike="noStrike">
                          <a:solidFill>
                            <a:srgbClr val="000000"/>
                          </a:solidFill>
                          <a:effectLst/>
                          <a:latin typeface="Calibri" panose="020F0502020204030204" pitchFamily="34" charset="0"/>
                        </a:rPr>
                        <a:t>Compte </a:t>
                      </a:r>
                      <a:r>
                        <a:rPr lang="fr-FR" sz="800" b="1" i="0" u="none" strike="noStrike" smtClean="0">
                          <a:solidFill>
                            <a:srgbClr val="000000"/>
                          </a:solidFill>
                          <a:effectLst/>
                          <a:latin typeface="Calibri" panose="020F0502020204030204" pitchFamily="34" charset="0"/>
                        </a:rPr>
                        <a:t>utilisé </a:t>
                      </a:r>
                      <a:r>
                        <a:rPr lang="fr-FR" sz="800" b="1" i="0" u="none" strike="noStrike" dirty="0">
                          <a:solidFill>
                            <a:srgbClr val="000000"/>
                          </a:solidFill>
                          <a:effectLst/>
                          <a:latin typeface="Calibri" panose="020F0502020204030204" pitchFamily="34" charset="0"/>
                        </a:rPr>
                        <a:t>pour enregistrer :</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920</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ACHATS DE DENREES</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a:solidFill>
                            <a:srgbClr val="000000"/>
                          </a:solidFill>
                          <a:effectLst/>
                          <a:latin typeface="Calibri" panose="020F0502020204030204" pitchFamily="34" charset="0"/>
                        </a:rPr>
                        <a:t>Achats non stockés de denrées (aliment et boissons) sur le marché local pour RBQ, Dougoufissa, etc. </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921</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AUTRES CARBURANTS</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a:solidFill>
                            <a:srgbClr val="000000"/>
                          </a:solidFill>
                          <a:effectLst/>
                          <a:latin typeface="Calibri" panose="020F0502020204030204" pitchFamily="34" charset="0"/>
                        </a:rPr>
                        <a:t>Achats non stockés de carburant (Essence, Gas-oil)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922</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FOURNITURES D'ATELIER</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a:solidFill>
                            <a:srgbClr val="000000"/>
                          </a:solidFill>
                          <a:effectLst/>
                          <a:latin typeface="Calibri" panose="020F0502020204030204" pitchFamily="34" charset="0"/>
                        </a:rPr>
                        <a:t>Achats non stockés de fournitures d'atelier (Baguette, oxygène, Acétylène, Butane, etc.) sur le marché local avec SOGEDI par exemple.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923</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HUILES</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des huiles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924</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GRAISSES</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de graisse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925</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PIECES DE RECHNAGE</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de pièces de rechange pour les équipements mobiles et fixes sur le marché local. (ex: avec Caterpillar, Garage du gouvernement).</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926</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FOURNITURES NON STOCKABLES </a:t>
                      </a:r>
                      <a:r>
                        <a:rPr lang="fr-FR" sz="800" b="0" i="0" u="none" strike="noStrike" dirty="0" smtClean="0">
                          <a:solidFill>
                            <a:srgbClr val="000000"/>
                          </a:solidFill>
                          <a:effectLst/>
                          <a:latin typeface="Calibri" panose="020F0502020204030204" pitchFamily="34" charset="0"/>
                        </a:rPr>
                        <a:t>–EAU</a:t>
                      </a:r>
                      <a:endParaRPr lang="fr-FR" sz="800" b="0" i="0" u="none" strike="noStrike" dirty="0">
                        <a:solidFill>
                          <a:srgbClr val="000000"/>
                        </a:solidFill>
                        <a:effectLst/>
                        <a:latin typeface="Calibri" panose="020F0502020204030204" pitchFamily="34" charset="0"/>
                      </a:endParaRP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Factures de fourniture d'eau au bureau et au dispensaire de Conakry par SEG par exemple.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927</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FOURNITURES NON STOCKABLES </a:t>
                      </a:r>
                      <a:r>
                        <a:rPr lang="fr-FR" sz="800" b="0" i="0" u="none" strike="noStrike" dirty="0" smtClean="0">
                          <a:solidFill>
                            <a:srgbClr val="000000"/>
                          </a:solidFill>
                          <a:effectLst/>
                          <a:latin typeface="Calibri" panose="020F0502020204030204" pitchFamily="34" charset="0"/>
                        </a:rPr>
                        <a:t>–ELECTRICITE</a:t>
                      </a:r>
                      <a:endParaRPr lang="fr-FR" sz="800" b="0" i="0" u="none" strike="noStrike" dirty="0">
                        <a:solidFill>
                          <a:srgbClr val="000000"/>
                        </a:solidFill>
                        <a:effectLst/>
                        <a:latin typeface="Calibri" panose="020F0502020204030204" pitchFamily="34" charset="0"/>
                      </a:endParaRP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Factures de fourniture d'électricité au bureau et au dispensaire de Conakry par EDG par exemple.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928</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ACHATS DE PRODUITS D'ENTRETIEN</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de produits d'entretien (insecticides, eau de javel, savon, papier hygiénique, etc.) </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929</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FOURNITURES DE BUREAU</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de fournitures de bureau (papier photocopie, stylo, crayon, classeur, colle, etc.)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31140">
                <a:tc>
                  <a:txBody>
                    <a:bodyPr/>
                    <a:lstStyle/>
                    <a:p>
                      <a:pPr algn="ctr" fontAlgn="ctr"/>
                      <a:r>
                        <a:rPr lang="fr-FR" sz="800" b="0" i="0" u="none" strike="noStrike" dirty="0">
                          <a:solidFill>
                            <a:srgbClr val="000000"/>
                          </a:solidFill>
                          <a:effectLst/>
                          <a:latin typeface="Calibri" panose="020F0502020204030204" pitchFamily="34" charset="0"/>
                        </a:rPr>
                        <a:t>930</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DE PETIT MATERIEL ET OUTILLAGE</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de petits matériels et de l'outillage (outillage de travail de hommes de métier, téléphone sur bureau, calculatrice, cafetière, etc.)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393861">
                <a:tc>
                  <a:txBody>
                    <a:bodyPr/>
                    <a:lstStyle/>
                    <a:p>
                      <a:pPr algn="ctr" fontAlgn="ctr"/>
                      <a:r>
                        <a:rPr lang="fr-FR" sz="800" b="0" i="0" u="none" strike="noStrike" dirty="0">
                          <a:solidFill>
                            <a:srgbClr val="000000"/>
                          </a:solidFill>
                          <a:effectLst/>
                          <a:latin typeface="Calibri" panose="020F0502020204030204" pitchFamily="34" charset="0"/>
                        </a:rPr>
                        <a:t>931</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AUTRES MATIERES ET FOURNITURES CONSOMMABLES</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d'autres matières consommables (article de sécurité ou EPI, produits chimiques, support d'identification, matériaux de construction, etc.)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932</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 CAFE DE BUREAU</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produits de la dotation café de bureau (eau minérale, café, thé, sucre, lait, tasse, cuillère, etc.)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934</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ACHATS DE MATERIEL ET D'EQUIPEMENT</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de matériels et d'équipements (climatiseurs, réfrigérateurs, ventilateurs, meubles, équipements pour les projets, etc.)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933</a:t>
                      </a:r>
                    </a:p>
                  </a:txBody>
                  <a:tcPr marL="4540" marR="4540" marT="45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ACHATS D'EMBALLAGE PERDUS</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fr-FR" sz="800" b="0" i="0" u="none" strike="noStrike" dirty="0">
                          <a:solidFill>
                            <a:srgbClr val="000000"/>
                          </a:solidFill>
                          <a:effectLst/>
                          <a:latin typeface="Calibri" panose="020F0502020204030204" pitchFamily="34" charset="0"/>
                        </a:rPr>
                        <a:t>Achats non stockés de emballages jetables (cartons, sachet pour les échantillonnage, etc.) sur le marché local.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4938790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95300" y="633600"/>
            <a:ext cx="8915400" cy="1143000"/>
          </a:xfrm>
        </p:spPr>
        <p:txBody>
          <a:bodyPr anchor="t"/>
          <a:lstStyle/>
          <a:p>
            <a:r>
              <a:rPr lang="fr-FR" altLang="en-US" sz="2600" dirty="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621377" y="1483484"/>
            <a:ext cx="8933785" cy="3510619"/>
          </a:xfrm>
        </p:spPr>
        <p:txBody>
          <a:bodyPr/>
          <a:lstStyle/>
          <a:p>
            <a:r>
              <a:rPr lang="fr-FR" dirty="0" smtClean="0"/>
              <a:t>Le processus de création et de gestion des demandes d’achat locales </a:t>
            </a:r>
            <a:r>
              <a:rPr lang="fr-FR" dirty="0" smtClean="0"/>
              <a:t>de biens hors </a:t>
            </a:r>
            <a:r>
              <a:rPr lang="fr-FR" dirty="0" err="1" smtClean="0"/>
              <a:t>réappro</a:t>
            </a:r>
            <a:r>
              <a:rPr lang="fr-FR" dirty="0" smtClean="0"/>
              <a:t> s’inscrit </a:t>
            </a:r>
            <a:r>
              <a:rPr lang="fr-FR" dirty="0" smtClean="0"/>
              <a:t>dans le processus d’Achats indirects. Il permet :</a:t>
            </a:r>
          </a:p>
          <a:p>
            <a:r>
              <a:rPr lang="fr-FR" b="1" dirty="0" smtClean="0">
                <a:solidFill>
                  <a:srgbClr val="0070C0"/>
                </a:solidFill>
              </a:rPr>
              <a:t>Pour l’équipe des Achats Locaux</a:t>
            </a:r>
          </a:p>
          <a:p>
            <a:pPr marL="185732" indent="-185732">
              <a:buClr>
                <a:srgbClr val="0070C0"/>
              </a:buClr>
              <a:buSzPct val="100000"/>
              <a:buFont typeface="Arial" panose="020B0604020202020204" pitchFamily="34" charset="0"/>
              <a:buChar char="•"/>
            </a:pPr>
            <a:r>
              <a:rPr lang="fr-FR" dirty="0" smtClean="0"/>
              <a:t>De connaitre le besoin de ses clients internes pour les achats locaux de produits qui ne sont pas traités au travers du processus de MRP. </a:t>
            </a:r>
          </a:p>
          <a:p>
            <a:pPr>
              <a:buClr>
                <a:srgbClr val="0070C0"/>
              </a:buClr>
              <a:buSzPct val="100000"/>
            </a:pPr>
            <a:r>
              <a:rPr lang="fr-FR" b="1" dirty="0" smtClean="0">
                <a:solidFill>
                  <a:srgbClr val="0070C0"/>
                </a:solidFill>
              </a:rPr>
              <a:t>Pour un client interne </a:t>
            </a:r>
          </a:p>
          <a:p>
            <a:pPr marL="185732" indent="-185732">
              <a:buClr>
                <a:srgbClr val="0070C0"/>
              </a:buClr>
              <a:buSzPct val="100000"/>
              <a:buFont typeface="Arial" panose="020B0604020202020204" pitchFamily="34" charset="0"/>
              <a:buChar char="•"/>
            </a:pPr>
            <a:r>
              <a:rPr lang="fr-FR" dirty="0" smtClean="0"/>
              <a:t>De pouvoir exprimer un besoin d’un produit qui doit être acheté chez un fournisseur local et qui n’est pas déjà géré par le MRP. </a:t>
            </a:r>
          </a:p>
        </p:txBody>
      </p:sp>
      <p:sp>
        <p:nvSpPr>
          <p:cNvPr id="60" name="Rectangle 59"/>
          <p:cNvSpPr/>
          <p:nvPr/>
        </p:nvSpPr>
        <p:spPr>
          <a:xfrm>
            <a:off x="2554103" y="3815186"/>
            <a:ext cx="806473" cy="416677"/>
          </a:xfrm>
          <a:prstGeom prst="rect">
            <a:avLst/>
          </a:prstGeom>
          <a:solidFill>
            <a:srgbClr val="5B9BD5"/>
          </a:solidFill>
          <a:ln w="12700" cap="flat" cmpd="sng" algn="ctr">
            <a:solidFill>
              <a:srgbClr val="5B9BD5">
                <a:shade val="50000"/>
              </a:srgbClr>
            </a:solidFill>
            <a:prstDash val="solid"/>
            <a:miter lim="800000"/>
          </a:ln>
          <a:effectLst/>
        </p:spPr>
        <p:txBody>
          <a:bodyPr lIns="0" rIns="0" rtlCol="0" anchor="ctr"/>
          <a:lstStyle/>
          <a:p>
            <a:pPr algn="ctr" defTabSz="990570">
              <a:defRPr/>
            </a:pPr>
            <a:r>
              <a:rPr lang="fr-FR" sz="867" kern="0" dirty="0">
                <a:solidFill>
                  <a:prstClr val="white"/>
                </a:solidFill>
                <a:latin typeface="Calibri" panose="020F0502020204030204"/>
              </a:rPr>
              <a:t>Orientation</a:t>
            </a:r>
            <a:endParaRPr lang="en-US" sz="867" kern="0" dirty="0">
              <a:solidFill>
                <a:prstClr val="white"/>
              </a:solidFill>
              <a:latin typeface="Calibri" panose="020F0502020204030204"/>
            </a:endParaRPr>
          </a:p>
        </p:txBody>
      </p:sp>
      <p:sp>
        <p:nvSpPr>
          <p:cNvPr id="80" name="ZoneTexte 79"/>
          <p:cNvSpPr txBox="1"/>
          <p:nvPr/>
        </p:nvSpPr>
        <p:spPr>
          <a:xfrm>
            <a:off x="2460486" y="4216769"/>
            <a:ext cx="993710" cy="208968"/>
          </a:xfrm>
          <a:prstGeom prst="rect">
            <a:avLst/>
          </a:prstGeom>
          <a:noFill/>
        </p:spPr>
        <p:txBody>
          <a:bodyPr wrap="square" rtlCol="0">
            <a:spAutoFit/>
          </a:bodyPr>
          <a:lstStyle/>
          <a:p>
            <a:pPr algn="ctr" defTabSz="990570">
              <a:defRPr/>
            </a:pPr>
            <a:r>
              <a:rPr lang="fr-FR" sz="758" kern="0" dirty="0">
                <a:solidFill>
                  <a:prstClr val="black"/>
                </a:solidFill>
              </a:rPr>
              <a:t>BAI Kamsar</a:t>
            </a:r>
            <a:endParaRPr lang="en-US" sz="758" kern="0" dirty="0">
              <a:solidFill>
                <a:prstClr val="black"/>
              </a:solidFill>
            </a:endParaRPr>
          </a:p>
        </p:txBody>
      </p:sp>
      <p:cxnSp>
        <p:nvCxnSpPr>
          <p:cNvPr id="82" name="Connecteur en angle 81"/>
          <p:cNvCxnSpPr>
            <a:stCxn id="94" idx="3"/>
            <a:endCxn id="93" idx="1"/>
          </p:cNvCxnSpPr>
          <p:nvPr/>
        </p:nvCxnSpPr>
        <p:spPr>
          <a:xfrm>
            <a:off x="1598875" y="4024175"/>
            <a:ext cx="1548602" cy="823009"/>
          </a:xfrm>
          <a:prstGeom prst="bentConnector3">
            <a:avLst>
              <a:gd name="adj1" fmla="val 30054"/>
            </a:avLst>
          </a:prstGeom>
          <a:noFill/>
          <a:ln w="6350" cap="flat" cmpd="sng" algn="ctr">
            <a:solidFill>
              <a:srgbClr val="5B9BD5"/>
            </a:solidFill>
            <a:prstDash val="solid"/>
            <a:miter lim="800000"/>
            <a:tailEnd type="triangle"/>
          </a:ln>
          <a:effectLst/>
        </p:spPr>
      </p:cxnSp>
      <p:sp>
        <p:nvSpPr>
          <p:cNvPr id="83" name="ZoneTexte 82"/>
          <p:cNvSpPr txBox="1"/>
          <p:nvPr/>
        </p:nvSpPr>
        <p:spPr>
          <a:xfrm>
            <a:off x="1214120" y="4656213"/>
            <a:ext cx="827912" cy="258982"/>
          </a:xfrm>
          <a:prstGeom prst="rect">
            <a:avLst/>
          </a:prstGeom>
          <a:noFill/>
        </p:spPr>
        <p:txBody>
          <a:bodyPr wrap="square" rtlCol="0">
            <a:spAutoFit/>
          </a:bodyPr>
          <a:lstStyle/>
          <a:p>
            <a:pPr algn="r" defTabSz="990570">
              <a:defRPr/>
            </a:pPr>
            <a:r>
              <a:rPr lang="fr-FR" sz="1083" b="1" kern="0" dirty="0">
                <a:solidFill>
                  <a:srgbClr val="002060"/>
                </a:solidFill>
              </a:rPr>
              <a:t>Local</a:t>
            </a:r>
            <a:endParaRPr lang="en-US" sz="1083" b="1" kern="0" dirty="0">
              <a:solidFill>
                <a:srgbClr val="002060"/>
              </a:solidFill>
            </a:endParaRPr>
          </a:p>
        </p:txBody>
      </p:sp>
      <p:cxnSp>
        <p:nvCxnSpPr>
          <p:cNvPr id="84" name="Connecteur droit avec flèche 83"/>
          <p:cNvCxnSpPr>
            <a:stCxn id="93" idx="3"/>
            <a:endCxn id="90" idx="2"/>
          </p:cNvCxnSpPr>
          <p:nvPr/>
        </p:nvCxnSpPr>
        <p:spPr>
          <a:xfrm>
            <a:off x="3953950" y="4847183"/>
            <a:ext cx="157075" cy="1"/>
          </a:xfrm>
          <a:prstGeom prst="straightConnector1">
            <a:avLst/>
          </a:prstGeom>
          <a:noFill/>
          <a:ln w="6350" cap="flat" cmpd="sng" algn="ctr">
            <a:solidFill>
              <a:srgbClr val="5B9BD5"/>
            </a:solidFill>
            <a:prstDash val="solid"/>
            <a:miter lim="800000"/>
            <a:tailEnd type="triangle"/>
          </a:ln>
          <a:effectLst/>
        </p:spPr>
      </p:cxnSp>
      <p:cxnSp>
        <p:nvCxnSpPr>
          <p:cNvPr id="85" name="Connecteur droit avec flèche 84"/>
          <p:cNvCxnSpPr>
            <a:stCxn id="90" idx="0"/>
            <a:endCxn id="108" idx="1"/>
          </p:cNvCxnSpPr>
          <p:nvPr/>
        </p:nvCxnSpPr>
        <p:spPr>
          <a:xfrm flipV="1">
            <a:off x="4917497" y="4840009"/>
            <a:ext cx="169878" cy="7175"/>
          </a:xfrm>
          <a:prstGeom prst="straightConnector1">
            <a:avLst/>
          </a:prstGeom>
          <a:noFill/>
          <a:ln w="6350" cap="flat" cmpd="sng" algn="ctr">
            <a:solidFill>
              <a:srgbClr val="5B9BD5"/>
            </a:solidFill>
            <a:prstDash val="solid"/>
            <a:miter lim="800000"/>
            <a:tailEnd type="triangle"/>
          </a:ln>
          <a:effectLst/>
        </p:spPr>
      </p:cxnSp>
      <p:cxnSp>
        <p:nvCxnSpPr>
          <p:cNvPr id="86" name="Connecteur droit avec flèche 85"/>
          <p:cNvCxnSpPr>
            <a:stCxn id="108" idx="3"/>
            <a:endCxn id="88" idx="1"/>
          </p:cNvCxnSpPr>
          <p:nvPr/>
        </p:nvCxnSpPr>
        <p:spPr>
          <a:xfrm>
            <a:off x="5893848" y="4840009"/>
            <a:ext cx="1337049" cy="7175"/>
          </a:xfrm>
          <a:prstGeom prst="straightConnector1">
            <a:avLst/>
          </a:prstGeom>
          <a:noFill/>
          <a:ln w="6350" cap="flat" cmpd="sng" algn="ctr">
            <a:solidFill>
              <a:srgbClr val="00B050"/>
            </a:solidFill>
            <a:prstDash val="solid"/>
            <a:miter lim="800000"/>
            <a:tailEnd type="triangle"/>
          </a:ln>
          <a:effectLst/>
        </p:spPr>
      </p:cxnSp>
      <p:sp>
        <p:nvSpPr>
          <p:cNvPr id="87" name="ZoneTexte 86"/>
          <p:cNvSpPr txBox="1"/>
          <p:nvPr/>
        </p:nvSpPr>
        <p:spPr>
          <a:xfrm>
            <a:off x="4664558" y="4232083"/>
            <a:ext cx="874218" cy="208968"/>
          </a:xfrm>
          <a:prstGeom prst="rect">
            <a:avLst/>
          </a:prstGeom>
          <a:noFill/>
        </p:spPr>
        <p:txBody>
          <a:bodyPr wrap="square" rtlCol="0">
            <a:spAutoFit/>
          </a:bodyPr>
          <a:lstStyle/>
          <a:p>
            <a:pPr algn="ctr" defTabSz="990570">
              <a:defRPr/>
            </a:pPr>
            <a:r>
              <a:rPr lang="fr-FR" sz="758" kern="0" dirty="0">
                <a:solidFill>
                  <a:prstClr val="black"/>
                </a:solidFill>
              </a:rPr>
              <a:t>Standardisation</a:t>
            </a:r>
            <a:endParaRPr lang="en-US" sz="758" kern="0" dirty="0">
              <a:solidFill>
                <a:prstClr val="black"/>
              </a:solidFill>
            </a:endParaRPr>
          </a:p>
        </p:txBody>
      </p:sp>
      <p:sp>
        <p:nvSpPr>
          <p:cNvPr id="88" name="Rectangle 87"/>
          <p:cNvSpPr/>
          <p:nvPr/>
        </p:nvSpPr>
        <p:spPr>
          <a:xfrm>
            <a:off x="7230898" y="4638308"/>
            <a:ext cx="806473" cy="417750"/>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algn="ctr" defTabSz="990570">
              <a:defRPr/>
            </a:pPr>
            <a:r>
              <a:rPr lang="fr-FR" sz="867" kern="0" dirty="0">
                <a:solidFill>
                  <a:prstClr val="white"/>
                </a:solidFill>
                <a:latin typeface="Calibri" panose="020F0502020204030204"/>
              </a:rPr>
              <a:t>Commande d’achat</a:t>
            </a:r>
            <a:endParaRPr lang="en-US" sz="867" kern="0" dirty="0">
              <a:solidFill>
                <a:prstClr val="white"/>
              </a:solidFill>
              <a:latin typeface="Calibri" panose="020F0502020204030204"/>
            </a:endParaRPr>
          </a:p>
        </p:txBody>
      </p:sp>
      <p:sp>
        <p:nvSpPr>
          <p:cNvPr id="89" name="ZoneTexte 88"/>
          <p:cNvSpPr txBox="1"/>
          <p:nvPr/>
        </p:nvSpPr>
        <p:spPr>
          <a:xfrm>
            <a:off x="7177595" y="5044545"/>
            <a:ext cx="913077" cy="208968"/>
          </a:xfrm>
          <a:prstGeom prst="rect">
            <a:avLst/>
          </a:prstGeom>
          <a:noFill/>
        </p:spPr>
        <p:txBody>
          <a:bodyPr wrap="square" rtlCol="0">
            <a:spAutoFit/>
          </a:bodyPr>
          <a:lstStyle/>
          <a:p>
            <a:pPr algn="ctr" defTabSz="990570">
              <a:defRPr/>
            </a:pPr>
            <a:r>
              <a:rPr lang="fr-FR" sz="758" kern="0" dirty="0">
                <a:solidFill>
                  <a:prstClr val="black"/>
                </a:solidFill>
              </a:rPr>
              <a:t>Acheteurs locaux</a:t>
            </a:r>
            <a:endParaRPr lang="en-US" sz="758" kern="0" dirty="0">
              <a:solidFill>
                <a:prstClr val="black"/>
              </a:solidFill>
            </a:endParaRPr>
          </a:p>
        </p:txBody>
      </p:sp>
      <p:sp>
        <p:nvSpPr>
          <p:cNvPr id="90" name="Arrondir un rectangle avec un coin diagonal 89"/>
          <p:cNvSpPr/>
          <p:nvPr/>
        </p:nvSpPr>
        <p:spPr>
          <a:xfrm>
            <a:off x="4111025" y="4680970"/>
            <a:ext cx="806473" cy="332426"/>
          </a:xfrm>
          <a:prstGeom prst="round2DiagRect">
            <a:avLst>
              <a:gd name="adj1" fmla="val 50000"/>
              <a:gd name="adj2" fmla="val 0"/>
            </a:avLst>
          </a:prstGeom>
          <a:solidFill>
            <a:srgbClr val="FFC000"/>
          </a:solidFill>
          <a:ln w="12700" cap="flat" cmpd="sng" algn="ctr">
            <a:solidFill>
              <a:srgbClr val="FFC000">
                <a:shade val="50000"/>
              </a:srgbClr>
            </a:solidFill>
            <a:prstDash val="solid"/>
            <a:miter lim="800000"/>
          </a:ln>
          <a:effectLst/>
        </p:spPr>
        <p:txBody>
          <a:bodyPr lIns="0" rIns="0" rtlCol="0" anchor="ctr"/>
          <a:lstStyle/>
          <a:p>
            <a:pPr algn="ctr" defTabSz="990570">
              <a:defRPr/>
            </a:pPr>
            <a:r>
              <a:rPr lang="fr-FR" sz="867" kern="0" dirty="0">
                <a:solidFill>
                  <a:prstClr val="white"/>
                </a:solidFill>
                <a:latin typeface="Calibri" panose="020F0502020204030204"/>
              </a:rPr>
              <a:t>Sélection</a:t>
            </a:r>
            <a:endParaRPr lang="en-US" sz="867" kern="0" dirty="0">
              <a:solidFill>
                <a:prstClr val="white"/>
              </a:solidFill>
              <a:latin typeface="Calibri" panose="020F0502020204030204"/>
            </a:endParaRPr>
          </a:p>
        </p:txBody>
      </p:sp>
      <p:sp>
        <p:nvSpPr>
          <p:cNvPr id="91" name="ZoneTexte 90"/>
          <p:cNvSpPr txBox="1"/>
          <p:nvPr/>
        </p:nvSpPr>
        <p:spPr>
          <a:xfrm>
            <a:off x="4017407" y="5044545"/>
            <a:ext cx="993710" cy="208968"/>
          </a:xfrm>
          <a:prstGeom prst="rect">
            <a:avLst/>
          </a:prstGeom>
          <a:noFill/>
        </p:spPr>
        <p:txBody>
          <a:bodyPr wrap="square" rtlCol="0">
            <a:spAutoFit/>
          </a:bodyPr>
          <a:lstStyle/>
          <a:p>
            <a:pPr algn="ctr" defTabSz="990570">
              <a:defRPr/>
            </a:pPr>
            <a:r>
              <a:rPr lang="fr-FR" sz="758" kern="0" dirty="0">
                <a:solidFill>
                  <a:prstClr val="black"/>
                </a:solidFill>
              </a:rPr>
              <a:t>Client interne</a:t>
            </a:r>
            <a:endParaRPr lang="en-US" sz="758" kern="0" dirty="0">
              <a:solidFill>
                <a:prstClr val="black"/>
              </a:solidFill>
            </a:endParaRPr>
          </a:p>
        </p:txBody>
      </p:sp>
      <p:sp>
        <p:nvSpPr>
          <p:cNvPr id="92" name="ZoneTexte 91"/>
          <p:cNvSpPr txBox="1"/>
          <p:nvPr/>
        </p:nvSpPr>
        <p:spPr>
          <a:xfrm>
            <a:off x="3116281" y="5044545"/>
            <a:ext cx="868866" cy="208968"/>
          </a:xfrm>
          <a:prstGeom prst="rect">
            <a:avLst/>
          </a:prstGeom>
          <a:noFill/>
        </p:spPr>
        <p:txBody>
          <a:bodyPr wrap="square" rtlCol="0">
            <a:spAutoFit/>
          </a:bodyPr>
          <a:lstStyle/>
          <a:p>
            <a:pPr algn="ctr" defTabSz="990570">
              <a:defRPr/>
            </a:pPr>
            <a:r>
              <a:rPr lang="fr-FR" sz="758" kern="0" dirty="0">
                <a:solidFill>
                  <a:prstClr val="black"/>
                </a:solidFill>
              </a:rPr>
              <a:t>Acheteurs locaux</a:t>
            </a:r>
            <a:endParaRPr lang="en-US" sz="758" kern="0" dirty="0">
              <a:solidFill>
                <a:prstClr val="black"/>
              </a:solidFill>
            </a:endParaRPr>
          </a:p>
        </p:txBody>
      </p:sp>
      <p:sp>
        <p:nvSpPr>
          <p:cNvPr id="93" name="Rectangle 92"/>
          <p:cNvSpPr/>
          <p:nvPr/>
        </p:nvSpPr>
        <p:spPr>
          <a:xfrm>
            <a:off x="3147477" y="4638845"/>
            <a:ext cx="806473" cy="416677"/>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algn="ctr" defTabSz="990570">
              <a:defRPr/>
            </a:pPr>
            <a:r>
              <a:rPr lang="fr-FR" sz="867" kern="0" dirty="0">
                <a:solidFill>
                  <a:prstClr val="white"/>
                </a:solidFill>
                <a:latin typeface="Calibri" panose="020F0502020204030204"/>
              </a:rPr>
              <a:t>RFQ</a:t>
            </a:r>
            <a:endParaRPr lang="en-US" sz="867" kern="0" dirty="0">
              <a:solidFill>
                <a:prstClr val="white"/>
              </a:solidFill>
              <a:latin typeface="Calibri" panose="020F0502020204030204"/>
            </a:endParaRPr>
          </a:p>
        </p:txBody>
      </p:sp>
      <p:sp>
        <p:nvSpPr>
          <p:cNvPr id="94" name="Rectangle 93"/>
          <p:cNvSpPr/>
          <p:nvPr/>
        </p:nvSpPr>
        <p:spPr>
          <a:xfrm>
            <a:off x="792402" y="3815835"/>
            <a:ext cx="806473" cy="416677"/>
          </a:xfrm>
          <a:prstGeom prst="rect">
            <a:avLst/>
          </a:prstGeom>
          <a:solidFill>
            <a:srgbClr val="44546A">
              <a:lumMod val="50000"/>
            </a:srgbClr>
          </a:solidFill>
          <a:ln w="12700" cap="flat" cmpd="sng" algn="ctr">
            <a:solidFill>
              <a:srgbClr val="44546A">
                <a:lumMod val="50000"/>
              </a:srgbClr>
            </a:solidFill>
            <a:prstDash val="solid"/>
            <a:miter lim="800000"/>
          </a:ln>
          <a:effectLst/>
        </p:spPr>
        <p:txBody>
          <a:bodyPr rtlCol="0" anchor="ctr"/>
          <a:lstStyle/>
          <a:p>
            <a:pPr algn="ctr" defTabSz="990570">
              <a:defRPr/>
            </a:pPr>
            <a:r>
              <a:rPr lang="fr-FR" sz="975" kern="0" dirty="0">
                <a:solidFill>
                  <a:prstClr val="white"/>
                </a:solidFill>
                <a:latin typeface="Calibri" panose="020F0502020204030204"/>
              </a:rPr>
              <a:t>Demande d’achat</a:t>
            </a:r>
            <a:endParaRPr lang="en-US" sz="975" kern="0" dirty="0">
              <a:solidFill>
                <a:prstClr val="white"/>
              </a:solidFill>
              <a:latin typeface="Calibri" panose="020F0502020204030204"/>
            </a:endParaRPr>
          </a:p>
        </p:txBody>
      </p:sp>
      <p:sp>
        <p:nvSpPr>
          <p:cNvPr id="95" name="Explosion 2 94"/>
          <p:cNvSpPr/>
          <p:nvPr/>
        </p:nvSpPr>
        <p:spPr>
          <a:xfrm>
            <a:off x="1363534" y="4068210"/>
            <a:ext cx="629299" cy="429493"/>
          </a:xfrm>
          <a:prstGeom prst="irregularSeal2">
            <a:avLst/>
          </a:prstGeom>
          <a:solidFill>
            <a:srgbClr val="ED7D31"/>
          </a:solidFill>
          <a:ln w="12700" cap="flat" cmpd="sng" algn="ctr">
            <a:solidFill>
              <a:srgbClr val="ED7D31">
                <a:shade val="50000"/>
              </a:srgbClr>
            </a:solidFill>
            <a:prstDash val="solid"/>
            <a:miter lim="800000"/>
          </a:ln>
          <a:effectLst/>
        </p:spPr>
        <p:txBody>
          <a:bodyPr lIns="0" rIns="0" rtlCol="0" anchor="ctr"/>
          <a:lstStyle/>
          <a:p>
            <a:pPr algn="ctr" defTabSz="990570">
              <a:defRPr/>
            </a:pPr>
            <a:r>
              <a:rPr lang="fr-FR" sz="975" kern="0" dirty="0">
                <a:solidFill>
                  <a:prstClr val="white"/>
                </a:solidFill>
                <a:latin typeface="Calibri" panose="020F0502020204030204"/>
              </a:rPr>
              <a:t>ZDIR</a:t>
            </a:r>
            <a:endParaRPr lang="en-US" sz="975" kern="0" dirty="0">
              <a:solidFill>
                <a:prstClr val="white"/>
              </a:solidFill>
              <a:latin typeface="Calibri" panose="020F0502020204030204"/>
            </a:endParaRPr>
          </a:p>
        </p:txBody>
      </p:sp>
      <p:sp>
        <p:nvSpPr>
          <p:cNvPr id="96" name="Explosion 2 95"/>
          <p:cNvSpPr/>
          <p:nvPr/>
        </p:nvSpPr>
        <p:spPr>
          <a:xfrm>
            <a:off x="7842027" y="4498537"/>
            <a:ext cx="529371" cy="357716"/>
          </a:xfrm>
          <a:prstGeom prst="irregularSeal2">
            <a:avLst/>
          </a:prstGeom>
          <a:solidFill>
            <a:srgbClr val="92D050"/>
          </a:solidFill>
          <a:ln w="12700" cap="flat" cmpd="sng" algn="ctr">
            <a:solidFill>
              <a:srgbClr val="70AD47">
                <a:lumMod val="75000"/>
              </a:srgbClr>
            </a:solidFill>
            <a:prstDash val="solid"/>
            <a:miter lim="800000"/>
          </a:ln>
          <a:effectLst/>
        </p:spPr>
        <p:txBody>
          <a:bodyPr lIns="0" rIns="0" rtlCol="0" anchor="ctr"/>
          <a:lstStyle/>
          <a:p>
            <a:pPr algn="ctr" defTabSz="990570">
              <a:defRPr/>
            </a:pPr>
            <a:r>
              <a:rPr lang="fr-FR" sz="758" kern="0" dirty="0">
                <a:solidFill>
                  <a:prstClr val="white"/>
                </a:solidFill>
                <a:latin typeface="Calibri" panose="020F0502020204030204"/>
              </a:rPr>
              <a:t>ZCPO</a:t>
            </a:r>
            <a:endParaRPr lang="en-US" sz="758" kern="0" dirty="0">
              <a:solidFill>
                <a:prstClr val="white"/>
              </a:solidFill>
              <a:latin typeface="Calibri" panose="020F0502020204030204"/>
            </a:endParaRPr>
          </a:p>
        </p:txBody>
      </p:sp>
      <p:sp>
        <p:nvSpPr>
          <p:cNvPr id="97" name="ZoneTexte 96"/>
          <p:cNvSpPr txBox="1"/>
          <p:nvPr/>
        </p:nvSpPr>
        <p:spPr>
          <a:xfrm>
            <a:off x="8435057" y="5044545"/>
            <a:ext cx="699986" cy="208968"/>
          </a:xfrm>
          <a:prstGeom prst="rect">
            <a:avLst/>
          </a:prstGeom>
          <a:noFill/>
        </p:spPr>
        <p:txBody>
          <a:bodyPr wrap="square" rtlCol="0">
            <a:spAutoFit/>
          </a:bodyPr>
          <a:lstStyle/>
          <a:p>
            <a:pPr defTabSz="990570">
              <a:defRPr/>
            </a:pPr>
            <a:r>
              <a:rPr lang="fr-FR" sz="758" kern="0" dirty="0">
                <a:solidFill>
                  <a:prstClr val="black"/>
                </a:solidFill>
              </a:rPr>
              <a:t>Logistique</a:t>
            </a:r>
            <a:endParaRPr lang="en-US" sz="758" kern="0" dirty="0">
              <a:solidFill>
                <a:prstClr val="black"/>
              </a:solidFill>
            </a:endParaRPr>
          </a:p>
        </p:txBody>
      </p:sp>
      <p:sp>
        <p:nvSpPr>
          <p:cNvPr id="98" name="ZoneTexte 97"/>
          <p:cNvSpPr txBox="1"/>
          <p:nvPr/>
        </p:nvSpPr>
        <p:spPr>
          <a:xfrm>
            <a:off x="408154" y="5373384"/>
            <a:ext cx="3218624" cy="647272"/>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867" kern="0" dirty="0">
                <a:latin typeface="Calibri" panose="020F0502020204030204"/>
              </a:rPr>
              <a:t>Il est du ressort du demandeur de vérifier que l’article est codifié au </a:t>
            </a:r>
            <a:r>
              <a:rPr lang="fr-FR" sz="867" kern="0" dirty="0" smtClean="0">
                <a:latin typeface="Calibri" panose="020F0502020204030204"/>
              </a:rPr>
              <a:t>préalable</a:t>
            </a:r>
          </a:p>
          <a:p>
            <a:pPr marL="171450" indent="-171450" algn="just" defTabSz="990570">
              <a:buFont typeface="Arial" panose="020B0604020202020204" pitchFamily="34" charset="0"/>
              <a:buChar char="•"/>
              <a:defRPr/>
            </a:pPr>
            <a:r>
              <a:rPr lang="fr-FR" sz="867" kern="0" dirty="0"/>
              <a:t>L’utilisation d’un article codifié fluidifie le processus. Aussi, le temps </a:t>
            </a:r>
            <a:r>
              <a:rPr lang="fr-FR" sz="867" kern="0" dirty="0" smtClean="0"/>
              <a:t>passé à la </a:t>
            </a:r>
            <a:r>
              <a:rPr lang="fr-FR" sz="867" kern="0" dirty="0"/>
              <a:t>recherche est très rentable si </a:t>
            </a:r>
            <a:r>
              <a:rPr lang="fr-FR" sz="867" kern="0" dirty="0" smtClean="0"/>
              <a:t>l’article existe</a:t>
            </a:r>
            <a:endParaRPr lang="en-US" sz="867" kern="0" dirty="0">
              <a:latin typeface="Calibri" panose="020F0502020204030204"/>
            </a:endParaRPr>
          </a:p>
        </p:txBody>
      </p:sp>
      <p:sp>
        <p:nvSpPr>
          <p:cNvPr id="99" name="ZoneTexte 98"/>
          <p:cNvSpPr txBox="1"/>
          <p:nvPr/>
        </p:nvSpPr>
        <p:spPr>
          <a:xfrm>
            <a:off x="2025504" y="4639440"/>
            <a:ext cx="380232" cy="242374"/>
          </a:xfrm>
          <a:prstGeom prst="rect">
            <a:avLst/>
          </a:prstGeom>
          <a:noFill/>
        </p:spPr>
        <p:txBody>
          <a:bodyPr wrap="none" rtlCol="0">
            <a:spAutoFit/>
          </a:bodyPr>
          <a:lstStyle/>
          <a:p>
            <a:pPr defTabSz="990570">
              <a:defRPr/>
            </a:pPr>
            <a:r>
              <a:rPr lang="fr-FR" sz="975" kern="0" dirty="0">
                <a:solidFill>
                  <a:srgbClr val="002060"/>
                </a:solidFill>
              </a:rPr>
              <a:t>ZLO</a:t>
            </a:r>
            <a:endParaRPr lang="en-US" sz="975" kern="0" dirty="0">
              <a:solidFill>
                <a:srgbClr val="002060"/>
              </a:solidFill>
            </a:endParaRPr>
          </a:p>
        </p:txBody>
      </p:sp>
      <p:cxnSp>
        <p:nvCxnSpPr>
          <p:cNvPr id="100" name="Connecteur en angle 99"/>
          <p:cNvCxnSpPr>
            <a:stCxn id="60" idx="3"/>
            <a:endCxn id="93" idx="0"/>
          </p:cNvCxnSpPr>
          <p:nvPr/>
        </p:nvCxnSpPr>
        <p:spPr>
          <a:xfrm>
            <a:off x="3360576" y="4023526"/>
            <a:ext cx="190137" cy="615319"/>
          </a:xfrm>
          <a:prstGeom prst="bentConnector2">
            <a:avLst/>
          </a:prstGeom>
          <a:noFill/>
          <a:ln w="6350" cap="flat" cmpd="sng" algn="ctr">
            <a:solidFill>
              <a:srgbClr val="5B9BD5"/>
            </a:solidFill>
            <a:prstDash val="solid"/>
            <a:miter lim="800000"/>
            <a:tailEnd type="triangle"/>
          </a:ln>
          <a:effectLst/>
        </p:spPr>
      </p:cxnSp>
      <p:sp>
        <p:nvSpPr>
          <p:cNvPr id="101" name="ZoneTexte 100"/>
          <p:cNvSpPr txBox="1"/>
          <p:nvPr/>
        </p:nvSpPr>
        <p:spPr>
          <a:xfrm>
            <a:off x="2025504" y="3822139"/>
            <a:ext cx="434734" cy="242374"/>
          </a:xfrm>
          <a:prstGeom prst="rect">
            <a:avLst/>
          </a:prstGeom>
          <a:noFill/>
        </p:spPr>
        <p:txBody>
          <a:bodyPr wrap="none" rtlCol="0">
            <a:spAutoFit/>
          </a:bodyPr>
          <a:lstStyle/>
          <a:p>
            <a:pPr defTabSz="990570">
              <a:defRPr/>
            </a:pPr>
            <a:r>
              <a:rPr lang="fr-FR" sz="975" kern="0" dirty="0">
                <a:solidFill>
                  <a:srgbClr val="002060"/>
                </a:solidFill>
              </a:rPr>
              <a:t>ZOM</a:t>
            </a:r>
            <a:endParaRPr lang="en-US" sz="975" kern="0" dirty="0">
              <a:solidFill>
                <a:srgbClr val="002060"/>
              </a:solidFill>
            </a:endParaRPr>
          </a:p>
        </p:txBody>
      </p:sp>
      <p:sp>
        <p:nvSpPr>
          <p:cNvPr id="102" name="ZoneTexte 101"/>
          <p:cNvSpPr txBox="1"/>
          <p:nvPr/>
        </p:nvSpPr>
        <p:spPr>
          <a:xfrm>
            <a:off x="7185848" y="5225203"/>
            <a:ext cx="896571" cy="225767"/>
          </a:xfrm>
          <a:prstGeom prst="rect">
            <a:avLst/>
          </a:prstGeom>
          <a:noFill/>
          <a:ln>
            <a:solidFill>
              <a:sysClr val="windowText" lastClr="000000">
                <a:lumMod val="50000"/>
                <a:lumOff val="50000"/>
              </a:sysClr>
            </a:solidFill>
            <a:prstDash val="dash"/>
          </a:ln>
        </p:spPr>
        <p:txBody>
          <a:bodyPr wrap="square" rtlCol="0">
            <a:spAutoFit/>
          </a:bodyPr>
          <a:lstStyle/>
          <a:p>
            <a:pPr algn="ctr" defTabSz="990570">
              <a:defRPr/>
            </a:pPr>
            <a:r>
              <a:rPr lang="fr-FR" sz="867" kern="0" dirty="0">
                <a:solidFill>
                  <a:prstClr val="black"/>
                </a:solidFill>
              </a:rPr>
              <a:t>Fournisseur GN</a:t>
            </a:r>
            <a:endParaRPr lang="en-US" sz="867" kern="0" dirty="0">
              <a:solidFill>
                <a:prstClr val="black"/>
              </a:solidFill>
            </a:endParaRPr>
          </a:p>
        </p:txBody>
      </p:sp>
      <p:sp>
        <p:nvSpPr>
          <p:cNvPr id="103" name="Pentagone 102"/>
          <p:cNvSpPr/>
          <p:nvPr/>
        </p:nvSpPr>
        <p:spPr>
          <a:xfrm>
            <a:off x="8435057" y="4638845"/>
            <a:ext cx="806473" cy="416677"/>
          </a:xfrm>
          <a:prstGeom prst="homePlate">
            <a:avLst/>
          </a:prstGeom>
          <a:solidFill>
            <a:srgbClr val="A5A5A5"/>
          </a:solidFill>
          <a:ln w="12700" cap="flat" cmpd="sng" algn="ctr">
            <a:solidFill>
              <a:srgbClr val="A5A5A5">
                <a:shade val="50000"/>
              </a:srgbClr>
            </a:solidFill>
            <a:prstDash val="solid"/>
            <a:miter lim="800000"/>
          </a:ln>
          <a:effectLst/>
        </p:spPr>
        <p:txBody>
          <a:bodyPr rtlCol="0" anchor="ctr"/>
          <a:lstStyle/>
          <a:p>
            <a:pPr algn="ctr" defTabSz="990570">
              <a:defRPr/>
            </a:pPr>
            <a:r>
              <a:rPr lang="fr-FR" sz="758" kern="0" dirty="0" smtClean="0">
                <a:solidFill>
                  <a:prstClr val="white"/>
                </a:solidFill>
                <a:latin typeface="Calibri" panose="020F0502020204030204"/>
              </a:rPr>
              <a:t>Réception</a:t>
            </a:r>
            <a:endParaRPr lang="en-US" sz="758" kern="0" dirty="0">
              <a:solidFill>
                <a:prstClr val="white"/>
              </a:solidFill>
              <a:latin typeface="Calibri" panose="020F0502020204030204"/>
            </a:endParaRPr>
          </a:p>
        </p:txBody>
      </p:sp>
      <p:cxnSp>
        <p:nvCxnSpPr>
          <p:cNvPr id="104" name="Connecteur droit avec flèche 103"/>
          <p:cNvCxnSpPr>
            <a:stCxn id="88" idx="3"/>
            <a:endCxn id="103" idx="1"/>
          </p:cNvCxnSpPr>
          <p:nvPr/>
        </p:nvCxnSpPr>
        <p:spPr>
          <a:xfrm>
            <a:off x="8037369" y="4847182"/>
            <a:ext cx="397687" cy="0"/>
          </a:xfrm>
          <a:prstGeom prst="straightConnector1">
            <a:avLst/>
          </a:prstGeom>
          <a:noFill/>
          <a:ln w="6350" cap="flat" cmpd="sng" algn="ctr">
            <a:solidFill>
              <a:srgbClr val="5B9BD5"/>
            </a:solidFill>
            <a:prstDash val="solid"/>
            <a:miter lim="800000"/>
            <a:tailEnd type="triangle"/>
          </a:ln>
          <a:effectLst/>
        </p:spPr>
      </p:cxnSp>
      <p:sp>
        <p:nvSpPr>
          <p:cNvPr id="105" name="Rectangle 104"/>
          <p:cNvSpPr/>
          <p:nvPr/>
        </p:nvSpPr>
        <p:spPr>
          <a:xfrm>
            <a:off x="5087375" y="3826685"/>
            <a:ext cx="806473" cy="416677"/>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algn="ctr" defTabSz="990570">
              <a:defRPr/>
            </a:pPr>
            <a:r>
              <a:rPr lang="fr-FR" sz="867" kern="0" dirty="0">
                <a:solidFill>
                  <a:prstClr val="white"/>
                </a:solidFill>
                <a:latin typeface="Calibri" panose="020F0502020204030204"/>
              </a:rPr>
              <a:t>Codification</a:t>
            </a:r>
          </a:p>
        </p:txBody>
      </p:sp>
      <p:cxnSp>
        <p:nvCxnSpPr>
          <p:cNvPr id="106" name="Connecteur droit avec flèche 105"/>
          <p:cNvCxnSpPr>
            <a:endCxn id="105" idx="2"/>
          </p:cNvCxnSpPr>
          <p:nvPr/>
        </p:nvCxnSpPr>
        <p:spPr>
          <a:xfrm flipV="1">
            <a:off x="5490612" y="4243362"/>
            <a:ext cx="0" cy="395482"/>
          </a:xfrm>
          <a:prstGeom prst="straightConnector1">
            <a:avLst/>
          </a:prstGeom>
          <a:noFill/>
          <a:ln w="6350" cap="flat" cmpd="sng" algn="ctr">
            <a:solidFill>
              <a:srgbClr val="FF0000"/>
            </a:solidFill>
            <a:prstDash val="solid"/>
            <a:miter lim="800000"/>
            <a:tailEnd type="triangle"/>
          </a:ln>
          <a:effectLst/>
        </p:spPr>
      </p:cxnSp>
      <p:cxnSp>
        <p:nvCxnSpPr>
          <p:cNvPr id="107" name="Connecteur en angle 106"/>
          <p:cNvCxnSpPr>
            <a:stCxn id="109" idx="2"/>
            <a:endCxn id="88" idx="1"/>
          </p:cNvCxnSpPr>
          <p:nvPr/>
        </p:nvCxnSpPr>
        <p:spPr>
          <a:xfrm rot="16200000" flipH="1">
            <a:off x="6551508" y="4167793"/>
            <a:ext cx="603821" cy="754959"/>
          </a:xfrm>
          <a:prstGeom prst="bentConnector2">
            <a:avLst/>
          </a:prstGeom>
          <a:noFill/>
          <a:ln w="6350" cap="flat" cmpd="sng" algn="ctr">
            <a:solidFill>
              <a:srgbClr val="5B9BD5"/>
            </a:solidFill>
            <a:prstDash val="solid"/>
            <a:miter lim="800000"/>
            <a:tailEnd type="triangle"/>
          </a:ln>
          <a:effectLst/>
        </p:spPr>
      </p:cxnSp>
      <p:sp>
        <p:nvSpPr>
          <p:cNvPr id="108" name="Losange 107"/>
          <p:cNvSpPr/>
          <p:nvPr/>
        </p:nvSpPr>
        <p:spPr>
          <a:xfrm>
            <a:off x="5087375" y="4631670"/>
            <a:ext cx="806473" cy="416677"/>
          </a:xfrm>
          <a:prstGeom prst="diamond">
            <a:avLst/>
          </a:prstGeom>
          <a:solidFill>
            <a:srgbClr val="5B9BD5"/>
          </a:solidFill>
          <a:ln w="12700" cap="flat" cmpd="sng" algn="ctr">
            <a:solidFill>
              <a:srgbClr val="5B9BD5">
                <a:shade val="50000"/>
              </a:srgbClr>
            </a:solidFill>
            <a:prstDash val="solid"/>
            <a:miter lim="800000"/>
          </a:ln>
          <a:effectLst/>
        </p:spPr>
        <p:txBody>
          <a:bodyPr lIns="0" rIns="0" rtlCol="0" anchor="ctr"/>
          <a:lstStyle/>
          <a:p>
            <a:pPr algn="ctr" defTabSz="990570">
              <a:defRPr/>
            </a:pPr>
            <a:r>
              <a:rPr lang="fr-FR" sz="867" kern="0" dirty="0">
                <a:solidFill>
                  <a:prstClr val="white"/>
                </a:solidFill>
                <a:latin typeface="Calibri" panose="020F0502020204030204"/>
              </a:rPr>
              <a:t>Article Codifié ?</a:t>
            </a:r>
          </a:p>
        </p:txBody>
      </p:sp>
      <p:sp>
        <p:nvSpPr>
          <p:cNvPr id="109" name="Rectangle 108"/>
          <p:cNvSpPr/>
          <p:nvPr/>
        </p:nvSpPr>
        <p:spPr>
          <a:xfrm>
            <a:off x="6072702" y="3826685"/>
            <a:ext cx="806473" cy="416677"/>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algn="ctr" defTabSz="990570">
              <a:defRPr/>
            </a:pPr>
            <a:r>
              <a:rPr lang="fr-FR" sz="867" kern="0" dirty="0">
                <a:solidFill>
                  <a:prstClr val="white"/>
                </a:solidFill>
                <a:latin typeface="Calibri" panose="020F0502020204030204"/>
              </a:rPr>
              <a:t>MAJ de la DA</a:t>
            </a:r>
          </a:p>
        </p:txBody>
      </p:sp>
      <p:cxnSp>
        <p:nvCxnSpPr>
          <p:cNvPr id="110" name="Connecteur droit avec flèche 109"/>
          <p:cNvCxnSpPr>
            <a:stCxn id="105" idx="3"/>
            <a:endCxn id="109" idx="1"/>
          </p:cNvCxnSpPr>
          <p:nvPr/>
        </p:nvCxnSpPr>
        <p:spPr>
          <a:xfrm>
            <a:off x="5893848" y="4035023"/>
            <a:ext cx="178853" cy="0"/>
          </a:xfrm>
          <a:prstGeom prst="straightConnector1">
            <a:avLst/>
          </a:prstGeom>
          <a:noFill/>
          <a:ln w="6350" cap="flat" cmpd="sng" algn="ctr">
            <a:solidFill>
              <a:srgbClr val="5B9BD5"/>
            </a:solidFill>
            <a:prstDash val="solid"/>
            <a:miter lim="800000"/>
            <a:tailEnd type="triangle"/>
          </a:ln>
          <a:effectLst/>
        </p:spPr>
      </p:cxnSp>
      <p:sp>
        <p:nvSpPr>
          <p:cNvPr id="111" name="ZoneTexte 110"/>
          <p:cNvSpPr txBox="1"/>
          <p:nvPr/>
        </p:nvSpPr>
        <p:spPr>
          <a:xfrm>
            <a:off x="5161544" y="4482444"/>
            <a:ext cx="874218" cy="208968"/>
          </a:xfrm>
          <a:prstGeom prst="rect">
            <a:avLst/>
          </a:prstGeom>
          <a:noFill/>
        </p:spPr>
        <p:txBody>
          <a:bodyPr wrap="square" rtlCol="0">
            <a:spAutoFit/>
          </a:bodyPr>
          <a:lstStyle/>
          <a:p>
            <a:pPr algn="ctr" defTabSz="990570">
              <a:defRPr/>
            </a:pPr>
            <a:r>
              <a:rPr lang="fr-FR" sz="758" b="1" kern="0" dirty="0">
                <a:solidFill>
                  <a:srgbClr val="FF0000"/>
                </a:solidFill>
              </a:rPr>
              <a:t>Non</a:t>
            </a:r>
            <a:endParaRPr lang="en-US" sz="758" b="1" kern="0" dirty="0">
              <a:solidFill>
                <a:srgbClr val="FF0000"/>
              </a:solidFill>
            </a:endParaRPr>
          </a:p>
        </p:txBody>
      </p:sp>
      <p:sp>
        <p:nvSpPr>
          <p:cNvPr id="112" name="ZoneTexte 111"/>
          <p:cNvSpPr txBox="1"/>
          <p:nvPr/>
        </p:nvSpPr>
        <p:spPr>
          <a:xfrm>
            <a:off x="5826364" y="4677512"/>
            <a:ext cx="482934" cy="208968"/>
          </a:xfrm>
          <a:prstGeom prst="rect">
            <a:avLst/>
          </a:prstGeom>
          <a:noFill/>
        </p:spPr>
        <p:txBody>
          <a:bodyPr wrap="square" rtlCol="0">
            <a:spAutoFit/>
          </a:bodyPr>
          <a:lstStyle/>
          <a:p>
            <a:pPr algn="ctr" defTabSz="990570">
              <a:defRPr/>
            </a:pPr>
            <a:r>
              <a:rPr lang="fr-FR" sz="758" b="1" kern="0" dirty="0">
                <a:solidFill>
                  <a:srgbClr val="00B050"/>
                </a:solidFill>
              </a:rPr>
              <a:t>Oui</a:t>
            </a:r>
            <a:endParaRPr lang="en-US" sz="758" b="1" kern="0" dirty="0">
              <a:solidFill>
                <a:srgbClr val="00B050"/>
              </a:solidFill>
            </a:endParaRPr>
          </a:p>
        </p:txBody>
      </p:sp>
      <p:sp>
        <p:nvSpPr>
          <p:cNvPr id="113" name="ZoneTexte 112"/>
          <p:cNvSpPr txBox="1"/>
          <p:nvPr/>
        </p:nvSpPr>
        <p:spPr>
          <a:xfrm>
            <a:off x="6309298" y="4242167"/>
            <a:ext cx="993710" cy="208968"/>
          </a:xfrm>
          <a:prstGeom prst="rect">
            <a:avLst/>
          </a:prstGeom>
          <a:noFill/>
        </p:spPr>
        <p:txBody>
          <a:bodyPr wrap="square" rtlCol="0">
            <a:spAutoFit/>
          </a:bodyPr>
          <a:lstStyle/>
          <a:p>
            <a:pPr algn="ctr" defTabSz="990570">
              <a:defRPr/>
            </a:pPr>
            <a:r>
              <a:rPr lang="fr-FR" sz="758" kern="0" dirty="0">
                <a:solidFill>
                  <a:prstClr val="black"/>
                </a:solidFill>
              </a:rPr>
              <a:t>Client interne</a:t>
            </a:r>
            <a:endParaRPr lang="en-US" sz="758" kern="0" dirty="0">
              <a:solidFill>
                <a:prstClr val="black"/>
              </a:solidFill>
            </a:endParaRPr>
          </a:p>
        </p:txBody>
      </p:sp>
      <p:cxnSp>
        <p:nvCxnSpPr>
          <p:cNvPr id="114" name="Connecteur droit avec flèche 113"/>
          <p:cNvCxnSpPr>
            <a:stCxn id="94" idx="3"/>
            <a:endCxn id="60" idx="1"/>
          </p:cNvCxnSpPr>
          <p:nvPr/>
        </p:nvCxnSpPr>
        <p:spPr>
          <a:xfrm flipV="1">
            <a:off x="1598875" y="4023525"/>
            <a:ext cx="955228" cy="649"/>
          </a:xfrm>
          <a:prstGeom prst="straightConnector1">
            <a:avLst/>
          </a:prstGeom>
          <a:noFill/>
          <a:ln w="6350" cap="flat" cmpd="sng" algn="ctr">
            <a:solidFill>
              <a:srgbClr val="5B9BD5"/>
            </a:solidFill>
            <a:prstDash val="solid"/>
            <a:miter lim="800000"/>
            <a:tailEnd type="triangle"/>
          </a:ln>
          <a:effectLst/>
        </p:spPr>
      </p:cxnSp>
      <p:pic>
        <p:nvPicPr>
          <p:cNvPr id="115" name="Picture 35" descr="F:\_mesDoc\Downloads\Downloads\Icones\free_ecommerce_icons\glossy_ecommerce_icons\alert.png"/>
          <p:cNvPicPr>
            <a:picLocks noChangeAspect="1" noChangeArrowheads="1"/>
          </p:cNvPicPr>
          <p:nvPr/>
        </p:nvPicPr>
        <p:blipFill>
          <a:blip r:embed="rId2" cstate="print"/>
          <a:srcRect/>
          <a:stretch>
            <a:fillRect/>
          </a:stretch>
        </p:blipFill>
        <p:spPr bwMode="auto">
          <a:xfrm>
            <a:off x="258306" y="5781986"/>
            <a:ext cx="295707" cy="295707"/>
          </a:xfrm>
          <a:prstGeom prst="rect">
            <a:avLst/>
          </a:prstGeom>
          <a:noFill/>
        </p:spPr>
      </p:pic>
      <p:sp>
        <p:nvSpPr>
          <p:cNvPr id="41" name="ZoneTexte 40"/>
          <p:cNvSpPr txBox="1"/>
          <p:nvPr/>
        </p:nvSpPr>
        <p:spPr>
          <a:xfrm>
            <a:off x="3353437" y="3822139"/>
            <a:ext cx="380232" cy="242374"/>
          </a:xfrm>
          <a:prstGeom prst="rect">
            <a:avLst/>
          </a:prstGeom>
          <a:noFill/>
        </p:spPr>
        <p:txBody>
          <a:bodyPr wrap="none" rtlCol="0">
            <a:spAutoFit/>
          </a:bodyPr>
          <a:lstStyle/>
          <a:p>
            <a:pPr defTabSz="990570">
              <a:defRPr/>
            </a:pPr>
            <a:r>
              <a:rPr lang="fr-FR" sz="975" kern="0" dirty="0">
                <a:solidFill>
                  <a:srgbClr val="002060"/>
                </a:solidFill>
              </a:rPr>
              <a:t>ZLO</a:t>
            </a:r>
            <a:endParaRPr lang="en-US" sz="975" kern="0" dirty="0">
              <a:solidFill>
                <a:srgbClr val="002060"/>
              </a:solidFill>
            </a:endParaRPr>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p:cNvGrpSpPr/>
          <p:nvPr/>
        </p:nvGrpSpPr>
        <p:grpSpPr>
          <a:xfrm>
            <a:off x="361950" y="2001839"/>
            <a:ext cx="4897968" cy="3993209"/>
            <a:chOff x="425491" y="1232489"/>
            <a:chExt cx="4521201" cy="3686039"/>
          </a:xfrm>
        </p:grpSpPr>
        <p:sp>
          <p:nvSpPr>
            <p:cNvPr id="6" name="ZoneTexte 5"/>
            <p:cNvSpPr txBox="1"/>
            <p:nvPr/>
          </p:nvSpPr>
          <p:spPr>
            <a:xfrm>
              <a:off x="581025" y="1232489"/>
              <a:ext cx="4365667" cy="3686039"/>
            </a:xfrm>
            <a:prstGeom prst="rect">
              <a:avLst/>
            </a:prstGeom>
            <a:noFill/>
          </p:spPr>
          <p:txBody>
            <a:bodyPr wrap="square" rtlCol="0">
              <a:spAutoFit/>
            </a:bodyPr>
            <a:lstStyle/>
            <a:p>
              <a:r>
                <a:rPr lang="fr-FR" sz="1300" dirty="0">
                  <a:solidFill>
                    <a:srgbClr val="4D4F53"/>
                  </a:solidFill>
                </a:rPr>
                <a:t>Code article SAP connu? Entrer le code dans la case &lt;&lt; Article &gt;&gt; du tableau.</a:t>
              </a:r>
            </a:p>
            <a:p>
              <a:endParaRPr lang="fr-FR" sz="1083" dirty="0">
                <a:solidFill>
                  <a:srgbClr val="4D4F53"/>
                </a:solidFill>
              </a:endParaRPr>
            </a:p>
            <a:p>
              <a:r>
                <a:rPr lang="fr-FR" sz="1300" dirty="0">
                  <a:solidFill>
                    <a:srgbClr val="4D4F53"/>
                  </a:solidFill>
                </a:rPr>
                <a:t>Code article SAP inconnu? Rechercher le code SAP à l’aide du code MARCAM ou de la désignation. </a:t>
              </a:r>
            </a:p>
            <a:p>
              <a:r>
                <a:rPr lang="fr-FR" sz="1300" dirty="0">
                  <a:solidFill>
                    <a:srgbClr val="4D4F53"/>
                  </a:solidFill>
                </a:rPr>
                <a:t>Cliquer sur </a:t>
              </a:r>
              <a:r>
                <a:rPr lang="fr-FR" sz="1300" dirty="0" smtClean="0">
                  <a:solidFill>
                    <a:srgbClr val="4D4F53"/>
                  </a:solidFill>
                </a:rPr>
                <a:t>l’icône       dans </a:t>
              </a:r>
              <a:r>
                <a:rPr lang="fr-FR" sz="1300" dirty="0">
                  <a:solidFill>
                    <a:srgbClr val="4D4F53"/>
                  </a:solidFill>
                </a:rPr>
                <a:t>la case &lt;&lt; Article &gt;&gt;.</a:t>
              </a:r>
            </a:p>
            <a:p>
              <a:endParaRPr lang="fr-FR" sz="1083" dirty="0">
                <a:solidFill>
                  <a:srgbClr val="4D4F53"/>
                </a:solidFill>
              </a:endParaRPr>
            </a:p>
            <a:p>
              <a:r>
                <a:rPr lang="fr-FR" sz="1300" dirty="0">
                  <a:solidFill>
                    <a:srgbClr val="4D4F53"/>
                  </a:solidFill>
                </a:rPr>
                <a:t>Recherche avec numéro MARCAM</a:t>
              </a:r>
            </a:p>
            <a:p>
              <a:r>
                <a:rPr lang="fr-FR" sz="1300" dirty="0">
                  <a:solidFill>
                    <a:srgbClr val="4D4F53"/>
                  </a:solidFill>
                </a:rPr>
                <a:t>Dans l’onglet &lt;&lt; Article par ancien numéro d’article &gt;&gt;, entrer le numéro d’article MARCAM. </a:t>
              </a:r>
            </a:p>
            <a:p>
              <a:r>
                <a:rPr lang="fr-FR" sz="1300" dirty="0">
                  <a:solidFill>
                    <a:srgbClr val="4D4F53"/>
                  </a:solidFill>
                </a:rPr>
                <a:t>Entrer.</a:t>
              </a:r>
            </a:p>
            <a:p>
              <a:r>
                <a:rPr lang="fr-FR" sz="1300" dirty="0">
                  <a:solidFill>
                    <a:srgbClr val="4D4F53"/>
                  </a:solidFill>
                </a:rPr>
                <a:t>L’article s’affiche. Double-cliquer sur l’article pour le sélectionner. </a:t>
              </a:r>
            </a:p>
            <a:p>
              <a:endParaRPr lang="fr-FR" sz="1083" dirty="0">
                <a:solidFill>
                  <a:srgbClr val="4D4F53"/>
                </a:solidFill>
              </a:endParaRPr>
            </a:p>
            <a:p>
              <a:r>
                <a:rPr lang="fr-FR" sz="1300" dirty="0">
                  <a:solidFill>
                    <a:srgbClr val="4D4F53"/>
                  </a:solidFill>
                </a:rPr>
                <a:t>Recherche par désignation </a:t>
              </a:r>
            </a:p>
            <a:p>
              <a:r>
                <a:rPr lang="fr-FR" sz="1300" dirty="0">
                  <a:solidFill>
                    <a:srgbClr val="4D4F53"/>
                  </a:solidFill>
                </a:rPr>
                <a:t>Dans l’onglet &lt;&lt; Numéro/Désignation d’article &gt;&gt;, entrer </a:t>
              </a:r>
            </a:p>
            <a:p>
              <a:r>
                <a:rPr lang="fr-FR" sz="1300" dirty="0">
                  <a:solidFill>
                    <a:srgbClr val="4D4F53"/>
                  </a:solidFill>
                </a:rPr>
                <a:t>&lt;&lt; *mot clé de la désignation article* &gt;&gt;. </a:t>
              </a:r>
            </a:p>
            <a:p>
              <a:r>
                <a:rPr lang="fr-FR" sz="1300" dirty="0" smtClean="0">
                  <a:solidFill>
                    <a:srgbClr val="4D4F53"/>
                  </a:solidFill>
                </a:rPr>
                <a:t>Appuyez sur Entrée. </a:t>
              </a:r>
              <a:endParaRPr lang="fr-FR" sz="1300" dirty="0">
                <a:solidFill>
                  <a:srgbClr val="4D4F53"/>
                </a:solidFill>
              </a:endParaRPr>
            </a:p>
            <a:p>
              <a:r>
                <a:rPr lang="fr-FR" sz="1300" dirty="0">
                  <a:solidFill>
                    <a:srgbClr val="4D4F53"/>
                  </a:solidFill>
                </a:rPr>
                <a:t>L’article s’affiche. Double-cliquer sur l’article pour le sélectionner. </a:t>
              </a:r>
            </a:p>
            <a:p>
              <a:endParaRPr lang="fr-FR" sz="1300" dirty="0">
                <a:solidFill>
                  <a:srgbClr val="4D4F53"/>
                </a:solidFill>
              </a:endParaRPr>
            </a:p>
            <a:p>
              <a:endParaRPr lang="fr-FR" sz="1300" dirty="0">
                <a:solidFill>
                  <a:srgbClr val="4D4F53"/>
                </a:solidFill>
              </a:endParaRPr>
            </a:p>
          </p:txBody>
        </p:sp>
        <p:sp>
          <p:nvSpPr>
            <p:cNvPr id="7" name="Ellipse 6"/>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8" name="Ellipse 7"/>
            <p:cNvSpPr/>
            <p:nvPr/>
          </p:nvSpPr>
          <p:spPr>
            <a:xfrm>
              <a:off x="425491" y="181096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9" name="Ellipse 8"/>
            <p:cNvSpPr/>
            <p:nvPr/>
          </p:nvSpPr>
          <p:spPr>
            <a:xfrm>
              <a:off x="425491" y="25120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0" name="Ellipse 9"/>
            <p:cNvSpPr/>
            <p:nvPr/>
          </p:nvSpPr>
          <p:spPr>
            <a:xfrm>
              <a:off x="425491" y="35689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grpSp>
      <p:pic>
        <p:nvPicPr>
          <p:cNvPr id="11" name="Image 10"/>
          <p:cNvPicPr>
            <a:picLocks noChangeAspect="1"/>
          </p:cNvPicPr>
          <p:nvPr/>
        </p:nvPicPr>
        <p:blipFill>
          <a:blip r:embed="rId2"/>
          <a:stretch>
            <a:fillRect/>
          </a:stretch>
        </p:blipFill>
        <p:spPr>
          <a:xfrm>
            <a:off x="5375081" y="4519570"/>
            <a:ext cx="1890383" cy="983253"/>
          </a:xfrm>
          <a:prstGeom prst="rect">
            <a:avLst/>
          </a:prstGeom>
        </p:spPr>
      </p:pic>
      <p:pic>
        <p:nvPicPr>
          <p:cNvPr id="15" name="Image 14"/>
          <p:cNvPicPr>
            <a:picLocks noChangeAspect="1"/>
          </p:cNvPicPr>
          <p:nvPr/>
        </p:nvPicPr>
        <p:blipFill>
          <a:blip r:embed="rId3"/>
          <a:stretch>
            <a:fillRect/>
          </a:stretch>
        </p:blipFill>
        <p:spPr>
          <a:xfrm>
            <a:off x="1869621" y="3018630"/>
            <a:ext cx="185738" cy="227013"/>
          </a:xfrm>
          <a:prstGeom prst="rect">
            <a:avLst/>
          </a:prstGeom>
        </p:spPr>
      </p:pic>
      <p:sp>
        <p:nvSpPr>
          <p:cNvPr id="16" name="Ellipse 15"/>
          <p:cNvSpPr/>
          <p:nvPr/>
        </p:nvSpPr>
        <p:spPr>
          <a:xfrm>
            <a:off x="5365870" y="4666779"/>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17" name="Rectangle 16"/>
          <p:cNvSpPr/>
          <p:nvPr/>
        </p:nvSpPr>
        <p:spPr>
          <a:xfrm>
            <a:off x="6397057" y="4925646"/>
            <a:ext cx="509049"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18" name="Image 17"/>
          <p:cNvPicPr>
            <a:picLocks noChangeAspect="1"/>
          </p:cNvPicPr>
          <p:nvPr/>
        </p:nvPicPr>
        <p:blipFill>
          <a:blip r:embed="rId4"/>
          <a:stretch>
            <a:fillRect/>
          </a:stretch>
        </p:blipFill>
        <p:spPr>
          <a:xfrm>
            <a:off x="6754659" y="3419227"/>
            <a:ext cx="2841023" cy="938609"/>
          </a:xfrm>
          <a:prstGeom prst="rect">
            <a:avLst/>
          </a:prstGeom>
        </p:spPr>
      </p:pic>
      <p:sp>
        <p:nvSpPr>
          <p:cNvPr id="19" name="Ellipse 18"/>
          <p:cNvSpPr/>
          <p:nvPr/>
        </p:nvSpPr>
        <p:spPr>
          <a:xfrm>
            <a:off x="6670085" y="339954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0" name="Rectangle 19"/>
          <p:cNvSpPr/>
          <p:nvPr/>
        </p:nvSpPr>
        <p:spPr>
          <a:xfrm>
            <a:off x="7794004" y="3836846"/>
            <a:ext cx="509049"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1"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a:t>
            </a:r>
            <a:r>
              <a:rPr lang="fr-FR" altLang="en-US" dirty="0" smtClean="0"/>
              <a:t>hors réappro à un fournisseur local (ZDIR)</a:t>
            </a:r>
            <a:br>
              <a:rPr lang="fr-FR" altLang="en-US" dirty="0" smtClean="0"/>
            </a:br>
            <a:r>
              <a:rPr lang="fr-FR" altLang="en-US" b="1" dirty="0" smtClean="0"/>
              <a:t>Cas n°1: L’article est codifié </a:t>
            </a:r>
            <a:r>
              <a:rPr lang="fr-FR" altLang="en-US" dirty="0" smtClean="0"/>
              <a:t>(1/3)</a:t>
            </a:r>
            <a:endParaRPr lang="en-US" b="1" dirty="0"/>
          </a:p>
        </p:txBody>
      </p:sp>
      <p:pic>
        <p:nvPicPr>
          <p:cNvPr id="2" name="Image 1"/>
          <p:cNvPicPr>
            <a:picLocks noChangeAspect="1"/>
          </p:cNvPicPr>
          <p:nvPr/>
        </p:nvPicPr>
        <p:blipFill>
          <a:blip r:embed="rId5"/>
          <a:stretch>
            <a:fillRect/>
          </a:stretch>
        </p:blipFill>
        <p:spPr>
          <a:xfrm>
            <a:off x="5192637" y="2061011"/>
            <a:ext cx="2544764" cy="1184632"/>
          </a:xfrm>
          <a:prstGeom prst="rect">
            <a:avLst/>
          </a:prstGeom>
        </p:spPr>
      </p:pic>
      <p:sp>
        <p:nvSpPr>
          <p:cNvPr id="13" name="Rectangle 12"/>
          <p:cNvSpPr/>
          <p:nvPr/>
        </p:nvSpPr>
        <p:spPr>
          <a:xfrm>
            <a:off x="6239916" y="3108189"/>
            <a:ext cx="351000"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14" name="Ellipse 13"/>
          <p:cNvSpPr/>
          <p:nvPr/>
        </p:nvSpPr>
        <p:spPr>
          <a:xfrm>
            <a:off x="6070768" y="300395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2" name="Rectangle 21"/>
          <p:cNvSpPr/>
          <p:nvPr/>
        </p:nvSpPr>
        <p:spPr>
          <a:xfrm>
            <a:off x="6637658" y="3080044"/>
            <a:ext cx="117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3" name="Ellipse 22"/>
          <p:cNvSpPr/>
          <p:nvPr/>
        </p:nvSpPr>
        <p:spPr>
          <a:xfrm>
            <a:off x="6748942" y="3090801"/>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24" name="Flèche droite 23"/>
          <p:cNvSpPr/>
          <p:nvPr/>
        </p:nvSpPr>
        <p:spPr>
          <a:xfrm>
            <a:off x="361950" y="5106311"/>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Tree>
    <p:extLst>
      <p:ext uri="{BB962C8B-B14F-4D97-AF65-F5344CB8AC3E}">
        <p14:creationId xmlns:p14="http://schemas.microsoft.com/office/powerpoint/2010/main" val="4879635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ZoneTexte 55"/>
          <p:cNvSpPr txBox="1"/>
          <p:nvPr/>
        </p:nvSpPr>
        <p:spPr>
          <a:xfrm>
            <a:off x="309395" y="5868870"/>
            <a:ext cx="6964707" cy="180583"/>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S’il est connu, le code article fournisseur (« Art. </a:t>
            </a:r>
            <a:r>
              <a:rPr lang="fr-FR" sz="1050" b="0" kern="0" dirty="0" err="1" smtClean="0">
                <a:latin typeface="Calibri" panose="020F0502020204030204"/>
              </a:rPr>
              <a:t>Fourn</a:t>
            </a:r>
            <a:r>
              <a:rPr lang="fr-FR" sz="1050" b="0" kern="0" dirty="0" smtClean="0">
                <a:latin typeface="Calibri" panose="020F0502020204030204"/>
              </a:rPr>
              <a:t>. ») est à saisir pour chaque poste dans l’onglet « Données article »</a:t>
            </a:r>
            <a:endParaRPr lang="en-US" sz="1050" b="0" kern="0" dirty="0">
              <a:latin typeface="Calibri" panose="020F0502020204030204"/>
            </a:endParaRPr>
          </a:p>
        </p:txBody>
      </p:sp>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smtClean="0"/>
              <a:t>Cas n°1: L’article est codifié </a:t>
            </a:r>
            <a:r>
              <a:rPr lang="fr-FR" altLang="en-US" dirty="0" smtClean="0"/>
              <a:t>(2/3)</a:t>
            </a:r>
            <a:endParaRPr lang="en-US" b="1" dirty="0"/>
          </a:p>
        </p:txBody>
      </p:sp>
      <p:sp>
        <p:nvSpPr>
          <p:cNvPr id="6" name="ZoneTexte 5"/>
          <p:cNvSpPr txBox="1"/>
          <p:nvPr/>
        </p:nvSpPr>
        <p:spPr>
          <a:xfrm>
            <a:off x="571467" y="1737014"/>
            <a:ext cx="3156068" cy="1826013"/>
          </a:xfrm>
          <a:prstGeom prst="rect">
            <a:avLst/>
          </a:prstGeom>
          <a:noFill/>
        </p:spPr>
        <p:txBody>
          <a:bodyPr wrap="square" rtlCol="0">
            <a:spAutoFit/>
          </a:bodyPr>
          <a:lstStyle/>
          <a:p>
            <a:r>
              <a:rPr lang="fr-FR" sz="1300" dirty="0">
                <a:solidFill>
                  <a:srgbClr val="4D4F53"/>
                </a:solidFill>
              </a:rPr>
              <a:t>Saisir le type de DA =</a:t>
            </a:r>
          </a:p>
          <a:p>
            <a:r>
              <a:rPr lang="fr-FR" sz="1300" dirty="0">
                <a:solidFill>
                  <a:srgbClr val="4D4F53"/>
                </a:solidFill>
              </a:rPr>
              <a:t>&lt;&lt;CBG DA hors réappro&gt;&gt; (ZDIR)</a:t>
            </a:r>
          </a:p>
          <a:p>
            <a:endParaRPr lang="fr-FR" sz="1083" dirty="0">
              <a:solidFill>
                <a:srgbClr val="4D4F53"/>
              </a:solidFill>
            </a:endParaRPr>
          </a:p>
          <a:p>
            <a:r>
              <a:rPr lang="fr-FR" sz="1300" dirty="0">
                <a:solidFill>
                  <a:srgbClr val="4D4F53"/>
                </a:solidFill>
              </a:rPr>
              <a:t>Entrer un code Article et </a:t>
            </a:r>
            <a:r>
              <a:rPr lang="fr-FR" sz="1300" dirty="0" smtClean="0">
                <a:solidFill>
                  <a:srgbClr val="4D4F53"/>
                </a:solidFill>
              </a:rPr>
              <a:t>la         </a:t>
            </a:r>
            <a:r>
              <a:rPr lang="fr-FR" sz="1300" dirty="0">
                <a:solidFill>
                  <a:srgbClr val="4D4F53"/>
                </a:solidFill>
              </a:rPr>
              <a:t>Quantité</a:t>
            </a:r>
          </a:p>
          <a:p>
            <a:endParaRPr lang="fr-FR" sz="1083" dirty="0">
              <a:solidFill>
                <a:srgbClr val="4D4F53"/>
              </a:solidFill>
            </a:endParaRPr>
          </a:p>
          <a:p>
            <a:r>
              <a:rPr lang="fr-FR" sz="1300" dirty="0">
                <a:solidFill>
                  <a:srgbClr val="4D4F53"/>
                </a:solidFill>
              </a:rPr>
              <a:t>Entrer la Division </a:t>
            </a:r>
          </a:p>
          <a:p>
            <a:r>
              <a:rPr lang="fr-FR" sz="1300" dirty="0">
                <a:solidFill>
                  <a:srgbClr val="4D4F53"/>
                </a:solidFill>
              </a:rPr>
              <a:t>(la division qui exprime le besoin)</a:t>
            </a:r>
          </a:p>
          <a:p>
            <a:endParaRPr lang="fr-FR" sz="1300" dirty="0">
              <a:solidFill>
                <a:srgbClr val="4D4F53"/>
              </a:solidFill>
            </a:endParaRPr>
          </a:p>
          <a:p>
            <a:r>
              <a:rPr lang="fr-FR" sz="1300" dirty="0">
                <a:solidFill>
                  <a:srgbClr val="4D4F53"/>
                </a:solidFill>
              </a:rPr>
              <a:t>Entrer la Date de livraison </a:t>
            </a:r>
            <a:r>
              <a:rPr lang="fr-FR" sz="1300" dirty="0" smtClean="0">
                <a:solidFill>
                  <a:srgbClr val="4D4F53"/>
                </a:solidFill>
              </a:rPr>
              <a:t>souhaitée</a:t>
            </a:r>
            <a:endParaRPr lang="fr-FR" sz="1300" dirty="0">
              <a:solidFill>
                <a:srgbClr val="4D4F53"/>
              </a:solidFill>
            </a:endParaRPr>
          </a:p>
        </p:txBody>
      </p:sp>
      <p:sp>
        <p:nvSpPr>
          <p:cNvPr id="8" name="Ellipse 7"/>
          <p:cNvSpPr/>
          <p:nvPr/>
        </p:nvSpPr>
        <p:spPr>
          <a:xfrm>
            <a:off x="388696" y="1796187"/>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388696" y="2370356"/>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2526635" y="2370356"/>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1" name="Ellipse 10"/>
          <p:cNvSpPr/>
          <p:nvPr/>
        </p:nvSpPr>
        <p:spPr>
          <a:xfrm>
            <a:off x="388696" y="2718698"/>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13" name="Ellipse 12"/>
          <p:cNvSpPr/>
          <p:nvPr/>
        </p:nvSpPr>
        <p:spPr>
          <a:xfrm>
            <a:off x="388696" y="3292866"/>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14" name="Ellipse 13"/>
          <p:cNvSpPr/>
          <p:nvPr/>
        </p:nvSpPr>
        <p:spPr>
          <a:xfrm>
            <a:off x="388696" y="3710449"/>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6</a:t>
            </a:r>
          </a:p>
        </p:txBody>
      </p:sp>
      <p:sp>
        <p:nvSpPr>
          <p:cNvPr id="17" name="Flèche droite 16"/>
          <p:cNvSpPr/>
          <p:nvPr/>
        </p:nvSpPr>
        <p:spPr>
          <a:xfrm>
            <a:off x="3563258" y="3720761"/>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grpSp>
        <p:nvGrpSpPr>
          <p:cNvPr id="4" name="Groupe 3"/>
          <p:cNvGrpSpPr/>
          <p:nvPr/>
        </p:nvGrpSpPr>
        <p:grpSpPr>
          <a:xfrm>
            <a:off x="3794502" y="1997605"/>
            <a:ext cx="5785346" cy="1385058"/>
            <a:chOff x="3114681" y="1270000"/>
            <a:chExt cx="5728255" cy="1423964"/>
          </a:xfrm>
        </p:grpSpPr>
        <p:pic>
          <p:nvPicPr>
            <p:cNvPr id="51" name="Image 50"/>
            <p:cNvPicPr>
              <a:picLocks noChangeAspect="1"/>
            </p:cNvPicPr>
            <p:nvPr/>
          </p:nvPicPr>
          <p:blipFill>
            <a:blip r:embed="rId2"/>
            <a:stretch>
              <a:fillRect/>
            </a:stretch>
          </p:blipFill>
          <p:spPr>
            <a:xfrm>
              <a:off x="3114681" y="1270000"/>
              <a:ext cx="5658386" cy="1423964"/>
            </a:xfrm>
            <a:prstGeom prst="rect">
              <a:avLst/>
            </a:prstGeom>
            <a:effectLst>
              <a:outerShdw blurRad="50800" dist="38100" dir="2700000" algn="tl" rotWithShape="0">
                <a:prstClr val="black">
                  <a:alpha val="40000"/>
                </a:prstClr>
              </a:outerShdw>
            </a:effectLst>
          </p:spPr>
        </p:pic>
        <p:sp>
          <p:nvSpPr>
            <p:cNvPr id="41" name="Rectangle 40"/>
            <p:cNvSpPr/>
            <p:nvPr/>
          </p:nvSpPr>
          <p:spPr>
            <a:xfrm>
              <a:off x="3320573" y="1984674"/>
              <a:ext cx="873320" cy="12510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4" name="Ellipse 33"/>
            <p:cNvSpPr/>
            <p:nvPr/>
          </p:nvSpPr>
          <p:spPr>
            <a:xfrm>
              <a:off x="4133815" y="19411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6" name="Rectangle 25"/>
            <p:cNvSpPr/>
            <p:nvPr/>
          </p:nvSpPr>
          <p:spPr>
            <a:xfrm>
              <a:off x="4133815" y="2535656"/>
              <a:ext cx="574655" cy="1341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5" name="Ellipse 34"/>
            <p:cNvSpPr/>
            <p:nvPr/>
          </p:nvSpPr>
          <p:spPr>
            <a:xfrm>
              <a:off x="4601351" y="25151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27" name="Rectangle 26"/>
            <p:cNvSpPr/>
            <p:nvPr/>
          </p:nvSpPr>
          <p:spPr>
            <a:xfrm>
              <a:off x="5572694" y="2540127"/>
              <a:ext cx="341632" cy="1296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6" name="Ellipse 35"/>
            <p:cNvSpPr/>
            <p:nvPr/>
          </p:nvSpPr>
          <p:spPr>
            <a:xfrm>
              <a:off x="5561648" y="251518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46" name="Rectangle 45"/>
            <p:cNvSpPr/>
            <p:nvPr/>
          </p:nvSpPr>
          <p:spPr>
            <a:xfrm>
              <a:off x="6213033" y="2540127"/>
              <a:ext cx="506946" cy="1296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7" name="Ellipse 46"/>
            <p:cNvSpPr/>
            <p:nvPr/>
          </p:nvSpPr>
          <p:spPr>
            <a:xfrm>
              <a:off x="6677475" y="250770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28" name="Rectangle 27"/>
            <p:cNvSpPr/>
            <p:nvPr/>
          </p:nvSpPr>
          <p:spPr>
            <a:xfrm>
              <a:off x="7169430" y="2540127"/>
              <a:ext cx="506946" cy="1296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7" name="Ellipse 36"/>
            <p:cNvSpPr/>
            <p:nvPr/>
          </p:nvSpPr>
          <p:spPr>
            <a:xfrm>
              <a:off x="7598308" y="252310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48" name="Rectangle 47"/>
            <p:cNvSpPr/>
            <p:nvPr/>
          </p:nvSpPr>
          <p:spPr>
            <a:xfrm>
              <a:off x="8318285" y="2548515"/>
              <a:ext cx="464602" cy="12124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9" name="Ellipse 48"/>
            <p:cNvSpPr/>
            <p:nvPr/>
          </p:nvSpPr>
          <p:spPr>
            <a:xfrm>
              <a:off x="8686800" y="247122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6</a:t>
              </a:r>
            </a:p>
          </p:txBody>
        </p:sp>
      </p:grpSp>
      <p:sp>
        <p:nvSpPr>
          <p:cNvPr id="39" name="ZoneTexte 38"/>
          <p:cNvSpPr txBox="1"/>
          <p:nvPr/>
        </p:nvSpPr>
        <p:spPr>
          <a:xfrm>
            <a:off x="609588" y="3667206"/>
            <a:ext cx="2719240" cy="492443"/>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fr-FR" sz="1300" dirty="0">
                <a:solidFill>
                  <a:srgbClr val="4D4F53"/>
                </a:solidFill>
              </a:rPr>
              <a:t>Entrer le </a:t>
            </a:r>
            <a:r>
              <a:rPr lang="fr-FR" sz="1300" dirty="0" smtClean="0">
                <a:solidFill>
                  <a:srgbClr val="4D4F53"/>
                </a:solidFill>
              </a:rPr>
              <a:t>demandeur = </a:t>
            </a:r>
            <a:r>
              <a:rPr lang="fr-FR" sz="1300" dirty="0">
                <a:solidFill>
                  <a:srgbClr val="4D4F53"/>
                </a:solidFill>
              </a:rPr>
              <a:t>le nouveau code du département </a:t>
            </a:r>
          </a:p>
        </p:txBody>
      </p:sp>
      <p:grpSp>
        <p:nvGrpSpPr>
          <p:cNvPr id="40" name="Groupe 39"/>
          <p:cNvGrpSpPr/>
          <p:nvPr/>
        </p:nvGrpSpPr>
        <p:grpSpPr>
          <a:xfrm>
            <a:off x="362325" y="4505897"/>
            <a:ext cx="4055948" cy="967812"/>
            <a:chOff x="4811437" y="2458641"/>
            <a:chExt cx="4256111" cy="1157067"/>
          </a:xfrm>
        </p:grpSpPr>
        <p:pic>
          <p:nvPicPr>
            <p:cNvPr id="42" name="Image 41"/>
            <p:cNvPicPr>
              <a:picLocks noChangeAspect="1"/>
            </p:cNvPicPr>
            <p:nvPr/>
          </p:nvPicPr>
          <p:blipFill>
            <a:blip r:embed="rId3"/>
            <a:stretch>
              <a:fillRect/>
            </a:stretch>
          </p:blipFill>
          <p:spPr>
            <a:xfrm>
              <a:off x="4811437" y="2458641"/>
              <a:ext cx="4256111" cy="1157067"/>
            </a:xfrm>
            <a:prstGeom prst="rect">
              <a:avLst/>
            </a:prstGeom>
          </p:spPr>
        </p:pic>
        <p:sp>
          <p:nvSpPr>
            <p:cNvPr id="43" name="Rectangle 42"/>
            <p:cNvSpPr/>
            <p:nvPr/>
          </p:nvSpPr>
          <p:spPr>
            <a:xfrm>
              <a:off x="5754627" y="3425350"/>
              <a:ext cx="1715694" cy="12762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grpSp>
      <p:sp>
        <p:nvSpPr>
          <p:cNvPr id="44" name="Ellipse 43"/>
          <p:cNvSpPr/>
          <p:nvPr/>
        </p:nvSpPr>
        <p:spPr>
          <a:xfrm>
            <a:off x="2914173" y="5225304"/>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7</a:t>
            </a:r>
          </a:p>
        </p:txBody>
      </p:sp>
      <p:sp>
        <p:nvSpPr>
          <p:cNvPr id="52" name="Rectangle 51"/>
          <p:cNvSpPr/>
          <p:nvPr/>
        </p:nvSpPr>
        <p:spPr>
          <a:xfrm>
            <a:off x="4939954" y="4460484"/>
            <a:ext cx="4648546" cy="692497"/>
          </a:xfrm>
          <a:prstGeom prst="rect">
            <a:avLst/>
          </a:prstGeom>
        </p:spPr>
        <p:txBody>
          <a:bodyPr wrap="square">
            <a:spAutoFit/>
          </a:bodyPr>
          <a:lstStyle/>
          <a:p>
            <a:pPr algn="just"/>
            <a:r>
              <a:rPr lang="fr-FR" sz="1300" dirty="0">
                <a:solidFill>
                  <a:srgbClr val="4D4F53"/>
                </a:solidFill>
              </a:rPr>
              <a:t>Dans l’onglet Donnée article : si le demandeur a un fournisseur souhaité et s’il connait le code article du fournisseur, il peut le saisir dans le champs « </a:t>
            </a:r>
            <a:r>
              <a:rPr lang="fr-FR" sz="1300" dirty="0" err="1">
                <a:solidFill>
                  <a:srgbClr val="4D4F53"/>
                </a:solidFill>
              </a:rPr>
              <a:t>Art.Fourn</a:t>
            </a:r>
            <a:r>
              <a:rPr lang="fr-FR" sz="1300" dirty="0">
                <a:solidFill>
                  <a:srgbClr val="4D4F53"/>
                </a:solidFill>
              </a:rPr>
              <a:t>. »</a:t>
            </a:r>
          </a:p>
        </p:txBody>
      </p:sp>
      <p:sp>
        <p:nvSpPr>
          <p:cNvPr id="53" name="Ellipse 52"/>
          <p:cNvSpPr/>
          <p:nvPr/>
        </p:nvSpPr>
        <p:spPr>
          <a:xfrm>
            <a:off x="4770806" y="4512070"/>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7</a:t>
            </a:r>
          </a:p>
        </p:txBody>
      </p:sp>
      <p:sp>
        <p:nvSpPr>
          <p:cNvPr id="32" name="ZoneTexte 31"/>
          <p:cNvSpPr txBox="1"/>
          <p:nvPr/>
        </p:nvSpPr>
        <p:spPr>
          <a:xfrm>
            <a:off x="4937429" y="5174910"/>
            <a:ext cx="4651071" cy="492443"/>
          </a:xfrm>
          <a:prstGeom prst="rect">
            <a:avLst/>
          </a:prstGeom>
          <a:noFill/>
        </p:spPr>
        <p:txBody>
          <a:bodyPr wrap="square" rtlCol="0">
            <a:spAutoFit/>
          </a:bodyPr>
          <a:lstStyle/>
          <a:p>
            <a:pPr algn="just"/>
            <a:r>
              <a:rPr lang="fr-FR" sz="1300" dirty="0">
                <a:solidFill>
                  <a:srgbClr val="4D4F53"/>
                </a:solidFill>
              </a:rPr>
              <a:t>Vérifier que la case « </a:t>
            </a:r>
            <a:r>
              <a:rPr lang="fr-FR" sz="1300" dirty="0" err="1">
                <a:solidFill>
                  <a:srgbClr val="4D4F53"/>
                </a:solidFill>
              </a:rPr>
              <a:t>Gac</a:t>
            </a:r>
            <a:r>
              <a:rPr lang="fr-FR" sz="1300" dirty="0">
                <a:solidFill>
                  <a:srgbClr val="4D4F53"/>
                </a:solidFill>
              </a:rPr>
              <a:t> » (Groupe d’Acheteurs) est bien remplie. Si ce n’est pas le cas, saisir le groupe d’acheteurs.</a:t>
            </a:r>
          </a:p>
        </p:txBody>
      </p:sp>
      <p:sp>
        <p:nvSpPr>
          <p:cNvPr id="33" name="Ellipse 32"/>
          <p:cNvSpPr/>
          <p:nvPr/>
        </p:nvSpPr>
        <p:spPr>
          <a:xfrm>
            <a:off x="4770300" y="5233322"/>
            <a:ext cx="180000" cy="180000"/>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8</a:t>
            </a:r>
          </a:p>
        </p:txBody>
      </p:sp>
      <p:sp>
        <p:nvSpPr>
          <p:cNvPr id="38" name="Rectangle 37"/>
          <p:cNvSpPr/>
          <p:nvPr/>
        </p:nvSpPr>
        <p:spPr>
          <a:xfrm>
            <a:off x="8879285" y="3241187"/>
            <a:ext cx="181909" cy="12563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5" name="Ellipse 44"/>
          <p:cNvSpPr/>
          <p:nvPr/>
        </p:nvSpPr>
        <p:spPr>
          <a:xfrm>
            <a:off x="8903502" y="3351846"/>
            <a:ext cx="157692" cy="150352"/>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8</a:t>
            </a:r>
          </a:p>
        </p:txBody>
      </p:sp>
      <p:sp>
        <p:nvSpPr>
          <p:cNvPr id="3" name="Rectangle 2"/>
          <p:cNvSpPr/>
          <p:nvPr/>
        </p:nvSpPr>
        <p:spPr>
          <a:xfrm>
            <a:off x="3800512" y="3679168"/>
            <a:ext cx="5787987" cy="692497"/>
          </a:xfrm>
          <a:prstGeom prst="rect">
            <a:avLst/>
          </a:prstGeom>
        </p:spPr>
        <p:txBody>
          <a:bodyPr wrap="square">
            <a:spAutoFit/>
          </a:bodyPr>
          <a:lstStyle/>
          <a:p>
            <a:pPr lvl="0" algn="just"/>
            <a:r>
              <a:rPr lang="fr-FR" sz="1300" dirty="0">
                <a:solidFill>
                  <a:srgbClr val="4D4F53"/>
                </a:solidFill>
              </a:rPr>
              <a:t>Appuyer sur Entrer : la désignation article, le groupe marchandise, le magasin de réception, le groupe d'acheteurs et la désignation article sont proposés par défaut (ces informations sont saisies automatiquement par SAP depuis la fiche article)</a:t>
            </a:r>
            <a:endParaRPr lang="fr-FR" sz="1083" dirty="0">
              <a:solidFill>
                <a:srgbClr val="4D4F53"/>
              </a:solidFill>
            </a:endParaRPr>
          </a:p>
        </p:txBody>
      </p:sp>
      <p:sp>
        <p:nvSpPr>
          <p:cNvPr id="50" name="ZoneTexte 49"/>
          <p:cNvSpPr txBox="1"/>
          <p:nvPr/>
        </p:nvSpPr>
        <p:spPr>
          <a:xfrm>
            <a:off x="309395" y="5688287"/>
            <a:ext cx="6964707" cy="180583"/>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S’il est connu, le fournisseur souhaité est à saisir pour chaque poste dans le champ « </a:t>
            </a:r>
            <a:r>
              <a:rPr lang="fr-FR" sz="1050" b="0" kern="0" dirty="0" err="1" smtClean="0">
                <a:latin typeface="Calibri" panose="020F0502020204030204"/>
              </a:rPr>
              <a:t>Fourn</a:t>
            </a:r>
            <a:r>
              <a:rPr lang="fr-FR" sz="1050" b="0" kern="0" dirty="0" smtClean="0">
                <a:latin typeface="Calibri" panose="020F0502020204030204"/>
              </a:rPr>
              <a:t>. </a:t>
            </a:r>
            <a:r>
              <a:rPr lang="fr-FR" sz="1050" b="0" kern="0" dirty="0" err="1" smtClean="0">
                <a:latin typeface="Calibri" panose="020F0502020204030204"/>
              </a:rPr>
              <a:t>Souh</a:t>
            </a:r>
            <a:r>
              <a:rPr lang="fr-FR" sz="1050" b="0" kern="0" dirty="0" smtClean="0">
                <a:latin typeface="Calibri" panose="020F0502020204030204"/>
              </a:rPr>
              <a:t>. »</a:t>
            </a:r>
            <a:endParaRPr lang="en-US" sz="1050" b="0" kern="0" dirty="0">
              <a:latin typeface="Calibri" panose="020F0502020204030204"/>
            </a:endParaRPr>
          </a:p>
        </p:txBody>
      </p:sp>
      <p:pic>
        <p:nvPicPr>
          <p:cNvPr id="54" name="Picture 35" descr="F:\_mesDoc\Downloads\Downloads\Icones\free_ecommerce_icons\glossy_ecommerce_icons\alert.png"/>
          <p:cNvPicPr>
            <a:picLocks noChangeAspect="1" noChangeArrowheads="1"/>
          </p:cNvPicPr>
          <p:nvPr/>
        </p:nvPicPr>
        <p:blipFill>
          <a:blip r:embed="rId4" cstate="print"/>
          <a:srcRect/>
          <a:stretch>
            <a:fillRect/>
          </a:stretch>
        </p:blipFill>
        <p:spPr bwMode="auto">
          <a:xfrm>
            <a:off x="248689" y="5716285"/>
            <a:ext cx="284673" cy="295707"/>
          </a:xfrm>
          <a:prstGeom prst="rect">
            <a:avLst/>
          </a:prstGeom>
          <a:noFill/>
        </p:spPr>
      </p:pic>
    </p:spTree>
    <p:extLst>
      <p:ext uri="{BB962C8B-B14F-4D97-AF65-F5344CB8AC3E}">
        <p14:creationId xmlns:p14="http://schemas.microsoft.com/office/powerpoint/2010/main" val="39767687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a:t>
            </a:r>
            <a:r>
              <a:rPr lang="fr-FR" altLang="en-US" dirty="0" smtClean="0"/>
              <a:t>biens </a:t>
            </a:r>
            <a:r>
              <a:rPr lang="fr-FR" altLang="en-US" dirty="0"/>
              <a:t>hors </a:t>
            </a:r>
            <a:r>
              <a:rPr lang="fr-FR" altLang="en-US" dirty="0" smtClean="0"/>
              <a:t>réappro à un fournisseur local (ZDIR)</a:t>
            </a:r>
            <a:br>
              <a:rPr lang="fr-FR" altLang="en-US" dirty="0" smtClean="0"/>
            </a:br>
            <a:r>
              <a:rPr lang="fr-FR" altLang="en-US" b="1" dirty="0" smtClean="0"/>
              <a:t>Cas n°1.1: L’article est codifié et imputé sur centre de coûts (K) </a:t>
            </a:r>
            <a:r>
              <a:rPr lang="fr-FR" altLang="en-US" dirty="0" smtClean="0"/>
              <a:t>(3a/3)</a:t>
            </a:r>
            <a:endParaRPr lang="en-US" b="1" dirty="0"/>
          </a:p>
        </p:txBody>
      </p:sp>
      <p:sp>
        <p:nvSpPr>
          <p:cNvPr id="6" name="ZoneTexte 5"/>
          <p:cNvSpPr txBox="1"/>
          <p:nvPr/>
        </p:nvSpPr>
        <p:spPr>
          <a:xfrm>
            <a:off x="698467" y="2003548"/>
            <a:ext cx="3822162" cy="3359638"/>
          </a:xfrm>
          <a:prstGeom prst="rect">
            <a:avLst/>
          </a:prstGeom>
          <a:noFill/>
        </p:spPr>
        <p:txBody>
          <a:bodyPr wrap="square" rtlCol="0">
            <a:spAutoFit/>
          </a:bodyPr>
          <a:lstStyle/>
          <a:p>
            <a:r>
              <a:rPr lang="fr-FR" sz="1300" dirty="0">
                <a:solidFill>
                  <a:srgbClr val="4D4F53"/>
                </a:solidFill>
              </a:rPr>
              <a:t>Saisir le type d’imputation dans la </a:t>
            </a:r>
          </a:p>
          <a:p>
            <a:r>
              <a:rPr lang="fr-FR" sz="1300" dirty="0">
                <a:solidFill>
                  <a:srgbClr val="4D4F53"/>
                </a:solidFill>
              </a:rPr>
              <a:t>Colonne « I » = &lt;&lt; Centre &gt;&gt; (K)</a:t>
            </a:r>
          </a:p>
          <a:p>
            <a:endParaRPr lang="fr-FR" sz="1083" dirty="0">
              <a:solidFill>
                <a:srgbClr val="4D4F53"/>
              </a:solidFill>
            </a:endParaRPr>
          </a:p>
          <a:p>
            <a:r>
              <a:rPr lang="fr-FR" sz="1300" dirty="0" smtClean="0">
                <a:solidFill>
                  <a:srgbClr val="4D4F53"/>
                </a:solidFill>
              </a:rPr>
              <a:t>Appuyer </a:t>
            </a:r>
            <a:r>
              <a:rPr lang="fr-FR" sz="1300" dirty="0">
                <a:solidFill>
                  <a:srgbClr val="4D4F53"/>
                </a:solidFill>
              </a:rPr>
              <a:t>sur </a:t>
            </a:r>
            <a:r>
              <a:rPr lang="fr-FR" sz="1300" dirty="0" smtClean="0">
                <a:solidFill>
                  <a:srgbClr val="4D4F53"/>
                </a:solidFill>
              </a:rPr>
              <a:t>Entrée. </a:t>
            </a:r>
            <a:endParaRPr lang="fr-FR" sz="1300" dirty="0">
              <a:solidFill>
                <a:srgbClr val="4D4F53"/>
              </a:solidFill>
            </a:endParaRPr>
          </a:p>
          <a:p>
            <a:r>
              <a:rPr lang="fr-FR" sz="1300" dirty="0">
                <a:solidFill>
                  <a:srgbClr val="4D4F53"/>
                </a:solidFill>
              </a:rPr>
              <a:t>SAP vous renvoie dans l’onglet </a:t>
            </a:r>
          </a:p>
          <a:p>
            <a:r>
              <a:rPr lang="fr-FR" sz="1300" dirty="0">
                <a:solidFill>
                  <a:srgbClr val="4D4F53"/>
                </a:solidFill>
              </a:rPr>
              <a:t>« Imputation », sur la case </a:t>
            </a:r>
          </a:p>
          <a:p>
            <a:r>
              <a:rPr lang="fr-FR" sz="1300" dirty="0">
                <a:solidFill>
                  <a:srgbClr val="4D4F53"/>
                </a:solidFill>
              </a:rPr>
              <a:t>« Centre de coûts »</a:t>
            </a:r>
          </a:p>
          <a:p>
            <a:endParaRPr lang="fr-FR" sz="1083" dirty="0">
              <a:solidFill>
                <a:srgbClr val="4D4F53"/>
              </a:solidFill>
            </a:endParaRPr>
          </a:p>
          <a:p>
            <a:r>
              <a:rPr lang="fr-FR" sz="1300" dirty="0">
                <a:solidFill>
                  <a:srgbClr val="4D4F53"/>
                </a:solidFill>
              </a:rPr>
              <a:t>Entrer le centre de coûts</a:t>
            </a:r>
          </a:p>
          <a:p>
            <a:endParaRPr lang="fr-FR" sz="1083" dirty="0">
              <a:solidFill>
                <a:srgbClr val="4D4F53"/>
              </a:solidFill>
            </a:endParaRPr>
          </a:p>
          <a:p>
            <a:pPr algn="just"/>
            <a:r>
              <a:rPr lang="fr-FR" sz="1300" dirty="0">
                <a:solidFill>
                  <a:srgbClr val="4D4F53"/>
                </a:solidFill>
              </a:rPr>
              <a:t>Le compte général est </a:t>
            </a:r>
            <a:r>
              <a:rPr lang="fr-FR" sz="1300" dirty="0" smtClean="0">
                <a:solidFill>
                  <a:srgbClr val="4D4F53"/>
                </a:solidFill>
              </a:rPr>
              <a:t>saisi </a:t>
            </a:r>
            <a:r>
              <a:rPr lang="fr-FR" sz="1300" dirty="0">
                <a:solidFill>
                  <a:srgbClr val="4D4F53"/>
                </a:solidFill>
              </a:rPr>
              <a:t>automatiquement par SAP via le groupe marchandise associé au code article. </a:t>
            </a:r>
          </a:p>
          <a:p>
            <a:endParaRPr lang="fr-FR" sz="1300" dirty="0">
              <a:solidFill>
                <a:srgbClr val="4D4F53"/>
              </a:solidFill>
            </a:endParaRPr>
          </a:p>
          <a:p>
            <a:r>
              <a:rPr lang="fr-FR" sz="1300" dirty="0">
                <a:solidFill>
                  <a:srgbClr val="4D4F53"/>
                </a:solidFill>
              </a:rPr>
              <a:t>Contrôler tous les postes en appuyant sur</a:t>
            </a:r>
          </a:p>
          <a:p>
            <a:endParaRPr lang="fr-FR" sz="1083" dirty="0">
              <a:solidFill>
                <a:srgbClr val="4D4F53"/>
              </a:solidFill>
            </a:endParaRPr>
          </a:p>
          <a:p>
            <a:r>
              <a:rPr lang="fr-FR" sz="1300" dirty="0" smtClean="0">
                <a:solidFill>
                  <a:srgbClr val="4D4F53"/>
                </a:solidFill>
              </a:rPr>
              <a:t>Sauvegarder  : </a:t>
            </a:r>
            <a:r>
              <a:rPr lang="fr-FR" sz="1300" dirty="0">
                <a:solidFill>
                  <a:srgbClr val="4D4F53"/>
                </a:solidFill>
              </a:rPr>
              <a:t>un message de confirmation apparait avec le numéro de la demande d’achat </a:t>
            </a:r>
          </a:p>
        </p:txBody>
      </p:sp>
      <p:sp>
        <p:nvSpPr>
          <p:cNvPr id="8" name="Ellipse 7"/>
          <p:cNvSpPr/>
          <p:nvPr/>
        </p:nvSpPr>
        <p:spPr>
          <a:xfrm>
            <a:off x="496025" y="2062721"/>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496025" y="2636889"/>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496025" y="3576220"/>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3" name="Ellipse 22"/>
          <p:cNvSpPr/>
          <p:nvPr/>
        </p:nvSpPr>
        <p:spPr>
          <a:xfrm>
            <a:off x="496025" y="5114755"/>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42" name="Ellipse 41"/>
          <p:cNvSpPr/>
          <p:nvPr/>
        </p:nvSpPr>
        <p:spPr>
          <a:xfrm>
            <a:off x="491700" y="4750428"/>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pic>
        <p:nvPicPr>
          <p:cNvPr id="12" name="Image 11"/>
          <p:cNvPicPr>
            <a:picLocks noChangeAspect="1"/>
          </p:cNvPicPr>
          <p:nvPr/>
        </p:nvPicPr>
        <p:blipFill>
          <a:blip r:embed="rId2"/>
          <a:stretch>
            <a:fillRect/>
          </a:stretch>
        </p:blipFill>
        <p:spPr>
          <a:xfrm>
            <a:off x="3631683" y="4544055"/>
            <a:ext cx="206375" cy="206375"/>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a:blip r:embed="rId3"/>
          <a:stretch>
            <a:fillRect/>
          </a:stretch>
        </p:blipFill>
        <p:spPr>
          <a:xfrm>
            <a:off x="4796502" y="3642869"/>
            <a:ext cx="4718293" cy="1324548"/>
          </a:xfrm>
          <a:prstGeom prst="rect">
            <a:avLst/>
          </a:prstGeom>
          <a:effectLst>
            <a:outerShdw blurRad="50800" dist="38100" dir="2700000" algn="tl" rotWithShape="0">
              <a:prstClr val="black">
                <a:alpha val="40000"/>
              </a:prstClr>
            </a:outerShdw>
          </a:effectLst>
        </p:spPr>
      </p:pic>
      <p:sp>
        <p:nvSpPr>
          <p:cNvPr id="48" name="Rectangle 47"/>
          <p:cNvSpPr/>
          <p:nvPr/>
        </p:nvSpPr>
        <p:spPr>
          <a:xfrm>
            <a:off x="5717494" y="4678158"/>
            <a:ext cx="615627"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9" name="Ellipse 48"/>
          <p:cNvSpPr/>
          <p:nvPr/>
        </p:nvSpPr>
        <p:spPr>
          <a:xfrm>
            <a:off x="6172018" y="475043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64" name="Rectangle 63"/>
          <p:cNvSpPr/>
          <p:nvPr/>
        </p:nvSpPr>
        <p:spPr>
          <a:xfrm>
            <a:off x="7177653" y="3771732"/>
            <a:ext cx="688939" cy="24545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5" name="Ellipse 64"/>
          <p:cNvSpPr/>
          <p:nvPr/>
        </p:nvSpPr>
        <p:spPr>
          <a:xfrm>
            <a:off x="7722835" y="389446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66" name="Flèche droite 65"/>
          <p:cNvSpPr/>
          <p:nvPr/>
        </p:nvSpPr>
        <p:spPr>
          <a:xfrm>
            <a:off x="496025" y="3912985"/>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7" name="Image 6"/>
          <p:cNvPicPr>
            <a:picLocks noChangeAspect="1"/>
          </p:cNvPicPr>
          <p:nvPr/>
        </p:nvPicPr>
        <p:blipFill>
          <a:blip r:embed="rId4"/>
          <a:stretch>
            <a:fillRect/>
          </a:stretch>
        </p:blipFill>
        <p:spPr>
          <a:xfrm>
            <a:off x="3374238" y="2018771"/>
            <a:ext cx="6129918" cy="1542628"/>
          </a:xfrm>
          <a:prstGeom prst="rect">
            <a:avLst/>
          </a:prstGeom>
          <a:effectLst>
            <a:outerShdw blurRad="50800" dist="38100" dir="2700000" algn="tl" rotWithShape="0">
              <a:prstClr val="black">
                <a:alpha val="40000"/>
              </a:prstClr>
            </a:outerShdw>
          </a:effectLst>
        </p:spPr>
      </p:pic>
      <p:sp>
        <p:nvSpPr>
          <p:cNvPr id="46" name="Rectangle 45"/>
          <p:cNvSpPr/>
          <p:nvPr/>
        </p:nvSpPr>
        <p:spPr>
          <a:xfrm>
            <a:off x="4133927" y="3420932"/>
            <a:ext cx="189898" cy="1281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7" name="Ellipse 46"/>
          <p:cNvSpPr/>
          <p:nvPr/>
        </p:nvSpPr>
        <p:spPr>
          <a:xfrm>
            <a:off x="4238022" y="349624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67" name="Rectangle 66"/>
          <p:cNvSpPr/>
          <p:nvPr/>
        </p:nvSpPr>
        <p:spPr>
          <a:xfrm>
            <a:off x="5194210" y="2537945"/>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8" name="Ellipse 67"/>
          <p:cNvSpPr/>
          <p:nvPr/>
        </p:nvSpPr>
        <p:spPr>
          <a:xfrm>
            <a:off x="5330119" y="263362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69" name="Rectangle 68"/>
          <p:cNvSpPr/>
          <p:nvPr/>
        </p:nvSpPr>
        <p:spPr>
          <a:xfrm>
            <a:off x="4770991" y="2062721"/>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70" name="Ellipse 69"/>
          <p:cNvSpPr/>
          <p:nvPr/>
        </p:nvSpPr>
        <p:spPr>
          <a:xfrm>
            <a:off x="4906901" y="215839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pic>
        <p:nvPicPr>
          <p:cNvPr id="72" name="Image 71"/>
          <p:cNvPicPr>
            <a:picLocks noChangeAspect="1"/>
          </p:cNvPicPr>
          <p:nvPr/>
        </p:nvPicPr>
        <p:blipFill rotWithShape="1">
          <a:blip r:embed="rId5"/>
          <a:srcRect b="20254"/>
          <a:stretch/>
        </p:blipFill>
        <p:spPr>
          <a:xfrm>
            <a:off x="3490097" y="5312068"/>
            <a:ext cx="3002756" cy="18925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742672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smtClean="0"/>
              <a:t>Cas n°1.2: L’article est codifié et imputé sur projet (P) </a:t>
            </a:r>
            <a:r>
              <a:rPr lang="fr-FR" altLang="en-US" dirty="0" smtClean="0"/>
              <a:t>(3b/3)</a:t>
            </a:r>
            <a:endParaRPr lang="en-US" b="1" dirty="0"/>
          </a:p>
        </p:txBody>
      </p:sp>
      <p:sp>
        <p:nvSpPr>
          <p:cNvPr id="6" name="ZoneTexte 5"/>
          <p:cNvSpPr txBox="1"/>
          <p:nvPr/>
        </p:nvSpPr>
        <p:spPr>
          <a:xfrm>
            <a:off x="698467" y="2003548"/>
            <a:ext cx="3966000" cy="3359638"/>
          </a:xfrm>
          <a:prstGeom prst="rect">
            <a:avLst/>
          </a:prstGeom>
          <a:noFill/>
        </p:spPr>
        <p:txBody>
          <a:bodyPr wrap="square" rtlCol="0">
            <a:spAutoFit/>
          </a:bodyPr>
          <a:lstStyle/>
          <a:p>
            <a:r>
              <a:rPr lang="fr-FR" sz="1300" dirty="0">
                <a:solidFill>
                  <a:srgbClr val="4D4F53"/>
                </a:solidFill>
              </a:rPr>
              <a:t>Saisir le type d’imputation dans la </a:t>
            </a:r>
          </a:p>
          <a:p>
            <a:r>
              <a:rPr lang="fr-FR" sz="1300" dirty="0">
                <a:solidFill>
                  <a:srgbClr val="4D4F53"/>
                </a:solidFill>
              </a:rPr>
              <a:t>Colonne « I » = &lt;&lt; Projet &gt;&gt; (P)</a:t>
            </a:r>
          </a:p>
          <a:p>
            <a:endParaRPr lang="fr-FR" sz="1083" dirty="0">
              <a:solidFill>
                <a:srgbClr val="4D4F53"/>
              </a:solidFill>
            </a:endParaRPr>
          </a:p>
          <a:p>
            <a:r>
              <a:rPr lang="fr-FR" sz="1300" dirty="0">
                <a:solidFill>
                  <a:srgbClr val="4D4F53"/>
                </a:solidFill>
              </a:rPr>
              <a:t>Cliquer sur Entrer. </a:t>
            </a:r>
          </a:p>
          <a:p>
            <a:r>
              <a:rPr lang="fr-FR" sz="1300" dirty="0">
                <a:solidFill>
                  <a:srgbClr val="4D4F53"/>
                </a:solidFill>
              </a:rPr>
              <a:t>SAP vous renvoie dans l’onglet </a:t>
            </a:r>
          </a:p>
          <a:p>
            <a:r>
              <a:rPr lang="fr-FR" sz="1300" dirty="0">
                <a:solidFill>
                  <a:srgbClr val="4D4F53"/>
                </a:solidFill>
              </a:rPr>
              <a:t>« Imputation », sur la case </a:t>
            </a:r>
          </a:p>
          <a:p>
            <a:r>
              <a:rPr lang="fr-FR" sz="1300" dirty="0">
                <a:solidFill>
                  <a:srgbClr val="4D4F53"/>
                </a:solidFill>
              </a:rPr>
              <a:t>« Elément d’OTP »</a:t>
            </a:r>
          </a:p>
          <a:p>
            <a:endParaRPr lang="fr-FR" sz="1083" dirty="0">
              <a:solidFill>
                <a:srgbClr val="4D4F53"/>
              </a:solidFill>
            </a:endParaRPr>
          </a:p>
          <a:p>
            <a:r>
              <a:rPr lang="fr-FR" sz="1300" dirty="0">
                <a:solidFill>
                  <a:srgbClr val="4D4F53"/>
                </a:solidFill>
              </a:rPr>
              <a:t>Entrer l’Elément d’OTP</a:t>
            </a:r>
          </a:p>
          <a:p>
            <a:endParaRPr lang="fr-FR" sz="1083" dirty="0">
              <a:solidFill>
                <a:srgbClr val="4D4F53"/>
              </a:solidFill>
            </a:endParaRPr>
          </a:p>
          <a:p>
            <a:r>
              <a:rPr lang="fr-FR" sz="1300" dirty="0">
                <a:solidFill>
                  <a:srgbClr val="4D4F53"/>
                </a:solidFill>
              </a:rPr>
              <a:t>Le compte général est saisie automatiquement par SAP via le groupe marchandise associé au code article. </a:t>
            </a:r>
          </a:p>
          <a:p>
            <a:endParaRPr lang="fr-FR" sz="1300" dirty="0">
              <a:solidFill>
                <a:srgbClr val="4D4F53"/>
              </a:solidFill>
            </a:endParaRPr>
          </a:p>
          <a:p>
            <a:r>
              <a:rPr lang="fr-FR" sz="1300" dirty="0">
                <a:solidFill>
                  <a:srgbClr val="4D4F53"/>
                </a:solidFill>
              </a:rPr>
              <a:t>Contrôler tous les postes en appuyant sur</a:t>
            </a:r>
          </a:p>
          <a:p>
            <a:endParaRPr lang="fr-FR" sz="1083" dirty="0">
              <a:solidFill>
                <a:srgbClr val="4D4F53"/>
              </a:solidFill>
            </a:endParaRPr>
          </a:p>
          <a:p>
            <a:r>
              <a:rPr lang="fr-FR" sz="1300" dirty="0" smtClean="0">
                <a:solidFill>
                  <a:srgbClr val="4D4F53"/>
                </a:solidFill>
              </a:rPr>
              <a:t>Sauvegarder  : </a:t>
            </a:r>
            <a:r>
              <a:rPr lang="fr-FR" sz="1300" dirty="0">
                <a:solidFill>
                  <a:srgbClr val="4D4F53"/>
                </a:solidFill>
              </a:rPr>
              <a:t>un message de confirmation apparait avec le numéro de la demande d’achat </a:t>
            </a:r>
          </a:p>
        </p:txBody>
      </p:sp>
      <p:sp>
        <p:nvSpPr>
          <p:cNvPr id="8" name="Ellipse 7"/>
          <p:cNvSpPr/>
          <p:nvPr/>
        </p:nvSpPr>
        <p:spPr>
          <a:xfrm>
            <a:off x="496025" y="2062721"/>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496025" y="2636889"/>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496025" y="3576220"/>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3" name="Ellipse 22"/>
          <p:cNvSpPr/>
          <p:nvPr/>
        </p:nvSpPr>
        <p:spPr>
          <a:xfrm>
            <a:off x="496025" y="5114755"/>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42" name="Ellipse 41"/>
          <p:cNvSpPr/>
          <p:nvPr/>
        </p:nvSpPr>
        <p:spPr>
          <a:xfrm>
            <a:off x="491700" y="4750428"/>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pic>
        <p:nvPicPr>
          <p:cNvPr id="12" name="Image 11"/>
          <p:cNvPicPr>
            <a:picLocks noChangeAspect="1"/>
          </p:cNvPicPr>
          <p:nvPr/>
        </p:nvPicPr>
        <p:blipFill>
          <a:blip r:embed="rId2"/>
          <a:stretch>
            <a:fillRect/>
          </a:stretch>
        </p:blipFill>
        <p:spPr>
          <a:xfrm>
            <a:off x="3631683" y="4524091"/>
            <a:ext cx="206375" cy="206375"/>
          </a:xfrm>
          <a:prstGeom prst="rect">
            <a:avLst/>
          </a:prstGeom>
          <a:ln>
            <a:solidFill>
              <a:schemeClr val="tx1"/>
            </a:solidFill>
          </a:ln>
          <a:effectLst>
            <a:outerShdw blurRad="50800" dist="38100" dir="2700000" algn="tl" rotWithShape="0">
              <a:prstClr val="black">
                <a:alpha val="40000"/>
              </a:prstClr>
            </a:outerShdw>
          </a:effectLst>
        </p:spPr>
      </p:pic>
      <p:sp>
        <p:nvSpPr>
          <p:cNvPr id="66" name="Flèche droite 65"/>
          <p:cNvSpPr/>
          <p:nvPr/>
        </p:nvSpPr>
        <p:spPr>
          <a:xfrm>
            <a:off x="496025" y="3912985"/>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7" name="Image 6"/>
          <p:cNvPicPr>
            <a:picLocks noChangeAspect="1"/>
          </p:cNvPicPr>
          <p:nvPr/>
        </p:nvPicPr>
        <p:blipFill>
          <a:blip r:embed="rId3"/>
          <a:stretch>
            <a:fillRect/>
          </a:stretch>
        </p:blipFill>
        <p:spPr>
          <a:xfrm>
            <a:off x="3374238" y="2018771"/>
            <a:ext cx="6129918" cy="1542628"/>
          </a:xfrm>
          <a:prstGeom prst="rect">
            <a:avLst/>
          </a:prstGeom>
          <a:effectLst>
            <a:outerShdw blurRad="50800" dist="38100" dir="2700000" algn="tl" rotWithShape="0">
              <a:prstClr val="black">
                <a:alpha val="40000"/>
              </a:prstClr>
            </a:outerShdw>
          </a:effectLst>
        </p:spPr>
      </p:pic>
      <p:sp>
        <p:nvSpPr>
          <p:cNvPr id="46" name="Rectangle 45"/>
          <p:cNvSpPr/>
          <p:nvPr/>
        </p:nvSpPr>
        <p:spPr>
          <a:xfrm>
            <a:off x="4133927" y="3420932"/>
            <a:ext cx="189898" cy="1281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7" name="Ellipse 46"/>
          <p:cNvSpPr/>
          <p:nvPr/>
        </p:nvSpPr>
        <p:spPr>
          <a:xfrm>
            <a:off x="4238022" y="349624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67" name="Rectangle 66"/>
          <p:cNvSpPr/>
          <p:nvPr/>
        </p:nvSpPr>
        <p:spPr>
          <a:xfrm>
            <a:off x="5194210" y="2537945"/>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8" name="Ellipse 67"/>
          <p:cNvSpPr/>
          <p:nvPr/>
        </p:nvSpPr>
        <p:spPr>
          <a:xfrm>
            <a:off x="5330119" y="263362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69" name="Rectangle 68"/>
          <p:cNvSpPr/>
          <p:nvPr/>
        </p:nvSpPr>
        <p:spPr>
          <a:xfrm>
            <a:off x="4770991" y="2062721"/>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70" name="Ellipse 69"/>
          <p:cNvSpPr/>
          <p:nvPr/>
        </p:nvSpPr>
        <p:spPr>
          <a:xfrm>
            <a:off x="4906901" y="215839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pic>
        <p:nvPicPr>
          <p:cNvPr id="72" name="Image 71"/>
          <p:cNvPicPr>
            <a:picLocks noChangeAspect="1"/>
          </p:cNvPicPr>
          <p:nvPr/>
        </p:nvPicPr>
        <p:blipFill rotWithShape="1">
          <a:blip r:embed="rId4"/>
          <a:srcRect b="20254"/>
          <a:stretch/>
        </p:blipFill>
        <p:spPr>
          <a:xfrm>
            <a:off x="3490097" y="5312068"/>
            <a:ext cx="3002756" cy="189259"/>
          </a:xfrm>
          <a:prstGeom prst="rect">
            <a:avLst/>
          </a:prstGeom>
          <a:effectLst>
            <a:outerShdw blurRad="50800" dist="38100" dir="2700000" algn="tl" rotWithShape="0">
              <a:prstClr val="black">
                <a:alpha val="40000"/>
              </a:prstClr>
            </a:outerShdw>
          </a:effectLst>
        </p:spPr>
      </p:pic>
      <p:pic>
        <p:nvPicPr>
          <p:cNvPr id="27" name="Image 26"/>
          <p:cNvPicPr>
            <a:picLocks noChangeAspect="1"/>
          </p:cNvPicPr>
          <p:nvPr/>
        </p:nvPicPr>
        <p:blipFill>
          <a:blip r:embed="rId5"/>
          <a:stretch>
            <a:fillRect/>
          </a:stretch>
        </p:blipFill>
        <p:spPr>
          <a:xfrm>
            <a:off x="4796501" y="3644605"/>
            <a:ext cx="4707654" cy="1322812"/>
          </a:xfrm>
          <a:prstGeom prst="rect">
            <a:avLst/>
          </a:prstGeom>
          <a:effectLst>
            <a:outerShdw blurRad="50800" dist="38100" dir="2700000" algn="tl" rotWithShape="0">
              <a:prstClr val="black">
                <a:alpha val="40000"/>
              </a:prstClr>
            </a:outerShdw>
          </a:effectLst>
        </p:spPr>
      </p:pic>
      <p:sp>
        <p:nvSpPr>
          <p:cNvPr id="48" name="Rectangle 47"/>
          <p:cNvSpPr/>
          <p:nvPr/>
        </p:nvSpPr>
        <p:spPr>
          <a:xfrm>
            <a:off x="5728915" y="4672428"/>
            <a:ext cx="126405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9" name="Ellipse 48"/>
          <p:cNvSpPr/>
          <p:nvPr/>
        </p:nvSpPr>
        <p:spPr>
          <a:xfrm>
            <a:off x="6829848" y="4730466"/>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64" name="Rectangle 63"/>
          <p:cNvSpPr/>
          <p:nvPr/>
        </p:nvSpPr>
        <p:spPr>
          <a:xfrm>
            <a:off x="7194237" y="3790257"/>
            <a:ext cx="688939" cy="24545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5" name="Ellipse 64"/>
          <p:cNvSpPr/>
          <p:nvPr/>
        </p:nvSpPr>
        <p:spPr>
          <a:xfrm>
            <a:off x="7739419" y="391298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Tree>
    <p:extLst>
      <p:ext uri="{BB962C8B-B14F-4D97-AF65-F5344CB8AC3E}">
        <p14:creationId xmlns:p14="http://schemas.microsoft.com/office/powerpoint/2010/main" val="39888732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678429" y="2151623"/>
            <a:ext cx="4276159" cy="3593100"/>
          </a:xfrm>
          <a:prstGeom prst="rect">
            <a:avLst/>
          </a:prstGeom>
          <a:noFill/>
        </p:spPr>
        <p:txBody>
          <a:bodyPr wrap="square" rtlCol="0">
            <a:spAutoFit/>
          </a:bodyPr>
          <a:lstStyle/>
          <a:p>
            <a:pPr algn="just"/>
            <a:r>
              <a:rPr lang="fr-FR" sz="1300" dirty="0">
                <a:solidFill>
                  <a:srgbClr val="4D4F53"/>
                </a:solidFill>
              </a:rPr>
              <a:t>Si vous ne savez pas si l’article possède un code article, alors cliquer sur </a:t>
            </a:r>
            <a:r>
              <a:rPr lang="fr-FR" sz="1300" dirty="0" smtClean="0">
                <a:solidFill>
                  <a:srgbClr val="4D4F53"/>
                </a:solidFill>
              </a:rPr>
              <a:t>l’icône         </a:t>
            </a:r>
            <a:r>
              <a:rPr lang="fr-FR" sz="1300" dirty="0">
                <a:solidFill>
                  <a:srgbClr val="4D4F53"/>
                </a:solidFill>
              </a:rPr>
              <a:t>dans la case article.</a:t>
            </a:r>
          </a:p>
          <a:p>
            <a:pPr algn="just"/>
            <a:endParaRPr lang="fr-FR" sz="1083" dirty="0">
              <a:solidFill>
                <a:srgbClr val="4D4F53"/>
              </a:solidFill>
            </a:endParaRPr>
          </a:p>
          <a:p>
            <a:pPr algn="just"/>
            <a:r>
              <a:rPr lang="fr-FR" sz="1300" dirty="0">
                <a:solidFill>
                  <a:srgbClr val="4D4F53"/>
                </a:solidFill>
              </a:rPr>
              <a:t>Dans l’onglet &lt;&lt; Numéro/Désignation d’article &gt;&gt;, entrer un mot clé du nom de l’article. Il doit être encadré par deux étoiles: *mot clé*. Entrer.</a:t>
            </a:r>
          </a:p>
          <a:p>
            <a:pPr algn="just"/>
            <a:endParaRPr lang="fr-FR" sz="1083" dirty="0">
              <a:solidFill>
                <a:srgbClr val="4D4F53"/>
              </a:solidFill>
            </a:endParaRPr>
          </a:p>
          <a:p>
            <a:pPr algn="just"/>
            <a:r>
              <a:rPr lang="fr-FR" sz="1300" dirty="0">
                <a:solidFill>
                  <a:srgbClr val="4D4F53"/>
                </a:solidFill>
              </a:rPr>
              <a:t>Si un message en bas s’affiche « Aucune valeur pour cette sélection » alors réessayer avec un autre mot clé de l’article. Appuyer sur Entrer.</a:t>
            </a:r>
          </a:p>
          <a:p>
            <a:pPr algn="just"/>
            <a:endParaRPr lang="fr-FR" sz="1083" dirty="0">
              <a:solidFill>
                <a:srgbClr val="4D4F53"/>
              </a:solidFill>
            </a:endParaRPr>
          </a:p>
          <a:p>
            <a:pPr algn="just"/>
            <a:r>
              <a:rPr lang="fr-FR" sz="1300" dirty="0">
                <a:solidFill>
                  <a:srgbClr val="4D4F53"/>
                </a:solidFill>
              </a:rPr>
              <a:t>Si le message s’affiche à nouveau, l’article n’existe pas. </a:t>
            </a:r>
          </a:p>
          <a:p>
            <a:pPr algn="just"/>
            <a:endParaRPr lang="fr-FR" sz="1300" dirty="0">
              <a:solidFill>
                <a:srgbClr val="4D4F53"/>
              </a:solidFill>
            </a:endParaRPr>
          </a:p>
          <a:p>
            <a:pPr algn="just"/>
            <a:r>
              <a:rPr lang="fr-FR" sz="1300" dirty="0">
                <a:solidFill>
                  <a:srgbClr val="4D4F53"/>
                </a:solidFill>
              </a:rPr>
              <a:t>Créer la demande d’achat locale de type ZDIR avec la désignation uniquement. </a:t>
            </a:r>
          </a:p>
          <a:p>
            <a:pPr algn="just"/>
            <a:r>
              <a:rPr lang="fr-FR" sz="1300" dirty="0">
                <a:solidFill>
                  <a:srgbClr val="4D4F53"/>
                </a:solidFill>
              </a:rPr>
              <a:t>Le bureau des achats Kamsar va ensuite codifier l’article avec la standardisation. </a:t>
            </a:r>
          </a:p>
          <a:p>
            <a:pPr algn="just"/>
            <a:endParaRPr lang="fr-FR" sz="1300" dirty="0">
              <a:solidFill>
                <a:srgbClr val="4D4F53"/>
              </a:solidFill>
            </a:endParaRPr>
          </a:p>
        </p:txBody>
      </p:sp>
      <p:sp>
        <p:nvSpPr>
          <p:cNvPr id="8" name="Ellipse 7"/>
          <p:cNvSpPr/>
          <p:nvPr/>
        </p:nvSpPr>
        <p:spPr>
          <a:xfrm>
            <a:off x="499533" y="2210796"/>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499533" y="2802853"/>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499533" y="3536745"/>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pic>
        <p:nvPicPr>
          <p:cNvPr id="3" name="Image 2"/>
          <p:cNvPicPr>
            <a:picLocks noChangeAspect="1"/>
          </p:cNvPicPr>
          <p:nvPr/>
        </p:nvPicPr>
        <p:blipFill>
          <a:blip r:embed="rId2"/>
          <a:stretch>
            <a:fillRect/>
          </a:stretch>
        </p:blipFill>
        <p:spPr>
          <a:xfrm>
            <a:off x="6328834" y="2151623"/>
            <a:ext cx="3244587" cy="1287735"/>
          </a:xfrm>
          <a:prstGeom prst="rect">
            <a:avLst/>
          </a:prstGeom>
        </p:spPr>
      </p:pic>
      <p:sp>
        <p:nvSpPr>
          <p:cNvPr id="45" name="Rectangle 44"/>
          <p:cNvSpPr/>
          <p:nvPr/>
        </p:nvSpPr>
        <p:spPr>
          <a:xfrm>
            <a:off x="7810834" y="3199604"/>
            <a:ext cx="143497"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6" name="Ellipse 45"/>
          <p:cNvSpPr/>
          <p:nvPr/>
        </p:nvSpPr>
        <p:spPr>
          <a:xfrm>
            <a:off x="7665443" y="325166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pic>
        <p:nvPicPr>
          <p:cNvPr id="7" name="Image 6"/>
          <p:cNvPicPr>
            <a:picLocks noChangeAspect="1"/>
          </p:cNvPicPr>
          <p:nvPr/>
        </p:nvPicPr>
        <p:blipFill>
          <a:blip r:embed="rId3"/>
          <a:stretch>
            <a:fillRect/>
          </a:stretch>
        </p:blipFill>
        <p:spPr>
          <a:xfrm>
            <a:off x="1993377" y="2406658"/>
            <a:ext cx="237331" cy="237331"/>
          </a:xfrm>
          <a:prstGeom prst="rect">
            <a:avLst/>
          </a:prstGeom>
        </p:spPr>
      </p:pic>
      <p:pic>
        <p:nvPicPr>
          <p:cNvPr id="15" name="Image 14"/>
          <p:cNvPicPr>
            <a:picLocks noChangeAspect="1"/>
          </p:cNvPicPr>
          <p:nvPr/>
        </p:nvPicPr>
        <p:blipFill>
          <a:blip r:embed="rId4"/>
          <a:stretch>
            <a:fillRect/>
          </a:stretch>
        </p:blipFill>
        <p:spPr>
          <a:xfrm>
            <a:off x="5370241" y="3315287"/>
            <a:ext cx="1890383" cy="983253"/>
          </a:xfrm>
          <a:prstGeom prst="rect">
            <a:avLst/>
          </a:prstGeom>
        </p:spPr>
      </p:pic>
      <p:sp>
        <p:nvSpPr>
          <p:cNvPr id="47" name="Ellipse 46"/>
          <p:cNvSpPr/>
          <p:nvPr/>
        </p:nvSpPr>
        <p:spPr>
          <a:xfrm>
            <a:off x="5285667" y="343412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48" name="Rectangle 47"/>
          <p:cNvSpPr/>
          <p:nvPr/>
        </p:nvSpPr>
        <p:spPr>
          <a:xfrm>
            <a:off x="6394453" y="3721363"/>
            <a:ext cx="509049"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16" name="Image 15"/>
          <p:cNvPicPr>
            <a:picLocks noChangeAspect="1"/>
          </p:cNvPicPr>
          <p:nvPr/>
        </p:nvPicPr>
        <p:blipFill>
          <a:blip r:embed="rId5"/>
          <a:stretch>
            <a:fillRect/>
          </a:stretch>
        </p:blipFill>
        <p:spPr>
          <a:xfrm>
            <a:off x="7766717" y="3972979"/>
            <a:ext cx="1806703" cy="222854"/>
          </a:xfrm>
          <a:prstGeom prst="rect">
            <a:avLst/>
          </a:prstGeom>
        </p:spPr>
      </p:pic>
      <p:sp>
        <p:nvSpPr>
          <p:cNvPr id="49" name="Ellipse 48"/>
          <p:cNvSpPr/>
          <p:nvPr/>
        </p:nvSpPr>
        <p:spPr>
          <a:xfrm>
            <a:off x="7533625" y="400067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0"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smtClean="0"/>
              <a:t>Cas n°2: L’article n’est pas codifié </a:t>
            </a:r>
            <a:r>
              <a:rPr lang="fr-FR" altLang="en-US" dirty="0" smtClean="0"/>
              <a:t>(1/5)</a:t>
            </a:r>
            <a:endParaRPr lang="en-US" b="1" dirty="0"/>
          </a:p>
        </p:txBody>
      </p:sp>
      <p:sp>
        <p:nvSpPr>
          <p:cNvPr id="21" name="Flèche droite 20"/>
          <p:cNvSpPr/>
          <p:nvPr/>
        </p:nvSpPr>
        <p:spPr>
          <a:xfrm>
            <a:off x="474972" y="4263829"/>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2" name="Flèche droite 21"/>
          <p:cNvSpPr/>
          <p:nvPr/>
        </p:nvSpPr>
        <p:spPr>
          <a:xfrm>
            <a:off x="474972" y="4660139"/>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Tree>
    <p:extLst>
      <p:ext uri="{BB962C8B-B14F-4D97-AF65-F5344CB8AC3E}">
        <p14:creationId xmlns:p14="http://schemas.microsoft.com/office/powerpoint/2010/main" val="40600729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ZoneTexte 32"/>
          <p:cNvSpPr txBox="1"/>
          <p:nvPr/>
        </p:nvSpPr>
        <p:spPr>
          <a:xfrm>
            <a:off x="689925" y="5135344"/>
            <a:ext cx="8720775" cy="292388"/>
          </a:xfrm>
          <a:prstGeom prst="rect">
            <a:avLst/>
          </a:prstGeom>
          <a:noFill/>
        </p:spPr>
        <p:txBody>
          <a:bodyPr wrap="square" rtlCol="0">
            <a:spAutoFit/>
          </a:bodyPr>
          <a:lstStyle/>
          <a:p>
            <a:r>
              <a:rPr lang="fr-FR" sz="1300" dirty="0">
                <a:solidFill>
                  <a:srgbClr val="4D4F53"/>
                </a:solidFill>
              </a:rPr>
              <a:t>Vérifier que la case « </a:t>
            </a:r>
            <a:r>
              <a:rPr lang="fr-FR" sz="1300" dirty="0" err="1">
                <a:solidFill>
                  <a:srgbClr val="4D4F53"/>
                </a:solidFill>
              </a:rPr>
              <a:t>Gac</a:t>
            </a:r>
            <a:r>
              <a:rPr lang="fr-FR" sz="1300" dirty="0">
                <a:solidFill>
                  <a:srgbClr val="4D4F53"/>
                </a:solidFill>
              </a:rPr>
              <a:t> » (Groupe d’Acheteurs) est bien remplie. Si ce n’est pas le cas, saisir le groupe d’acheteurs.</a:t>
            </a:r>
          </a:p>
        </p:txBody>
      </p:sp>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a:t>Cas n°2: L’article n’est pas </a:t>
            </a:r>
            <a:r>
              <a:rPr lang="fr-FR" altLang="en-US" b="1" dirty="0" smtClean="0"/>
              <a:t>codifié </a:t>
            </a:r>
            <a:r>
              <a:rPr lang="fr-FR" altLang="en-US" dirty="0" smtClean="0"/>
              <a:t>(2/5)</a:t>
            </a:r>
            <a:endParaRPr lang="en-US" b="1" dirty="0"/>
          </a:p>
        </p:txBody>
      </p:sp>
      <p:sp>
        <p:nvSpPr>
          <p:cNvPr id="6" name="ZoneTexte 5"/>
          <p:cNvSpPr txBox="1"/>
          <p:nvPr/>
        </p:nvSpPr>
        <p:spPr>
          <a:xfrm>
            <a:off x="709835" y="2119965"/>
            <a:ext cx="6442692" cy="2292935"/>
          </a:xfrm>
          <a:prstGeom prst="rect">
            <a:avLst/>
          </a:prstGeom>
          <a:noFill/>
        </p:spPr>
        <p:txBody>
          <a:bodyPr wrap="square" rtlCol="0">
            <a:spAutoFit/>
          </a:bodyPr>
          <a:lstStyle/>
          <a:p>
            <a:r>
              <a:rPr lang="fr-FR" sz="1300" dirty="0">
                <a:solidFill>
                  <a:srgbClr val="4D4F53"/>
                </a:solidFill>
              </a:rPr>
              <a:t>Saisir le type de DA =</a:t>
            </a:r>
          </a:p>
          <a:p>
            <a:r>
              <a:rPr lang="fr-FR" sz="1300" dirty="0">
                <a:solidFill>
                  <a:srgbClr val="4D4F53"/>
                </a:solidFill>
              </a:rPr>
              <a:t>&lt;&lt;CBG DA hors réappro&gt;&gt; (ZDIR)</a:t>
            </a:r>
          </a:p>
          <a:p>
            <a:endParaRPr lang="fr-FR" sz="975" dirty="0">
              <a:solidFill>
                <a:srgbClr val="4D4F53"/>
              </a:solidFill>
            </a:endParaRPr>
          </a:p>
          <a:p>
            <a:r>
              <a:rPr lang="fr-FR" sz="1300" dirty="0">
                <a:solidFill>
                  <a:srgbClr val="4D4F53"/>
                </a:solidFill>
              </a:rPr>
              <a:t>Entrer une désignation article </a:t>
            </a:r>
          </a:p>
          <a:p>
            <a:r>
              <a:rPr lang="fr-FR" sz="1300" dirty="0">
                <a:solidFill>
                  <a:srgbClr val="4D4F53"/>
                </a:solidFill>
              </a:rPr>
              <a:t>(La plus détaillée possible)</a:t>
            </a:r>
          </a:p>
          <a:p>
            <a:endParaRPr lang="fr-FR" sz="975" dirty="0">
              <a:solidFill>
                <a:srgbClr val="4D4F53"/>
              </a:solidFill>
            </a:endParaRPr>
          </a:p>
          <a:p>
            <a:r>
              <a:rPr lang="fr-FR" sz="1300" dirty="0">
                <a:solidFill>
                  <a:srgbClr val="4D4F53"/>
                </a:solidFill>
              </a:rPr>
              <a:t>Entrer la Quantité et l’unité de quantité</a:t>
            </a:r>
          </a:p>
          <a:p>
            <a:endParaRPr lang="fr-FR" sz="975" dirty="0">
              <a:solidFill>
                <a:srgbClr val="4D4F53"/>
              </a:solidFill>
            </a:endParaRPr>
          </a:p>
          <a:p>
            <a:r>
              <a:rPr lang="fr-FR" sz="1300" dirty="0">
                <a:solidFill>
                  <a:srgbClr val="4D4F53"/>
                </a:solidFill>
              </a:rPr>
              <a:t>Entrer la Division </a:t>
            </a:r>
          </a:p>
          <a:p>
            <a:r>
              <a:rPr lang="fr-FR" sz="1300" dirty="0">
                <a:solidFill>
                  <a:srgbClr val="4D4F53"/>
                </a:solidFill>
              </a:rPr>
              <a:t>(la division qui exprime le besoin)</a:t>
            </a:r>
          </a:p>
          <a:p>
            <a:endParaRPr lang="fr-FR" sz="975" dirty="0">
              <a:solidFill>
                <a:srgbClr val="4D4F53"/>
              </a:solidFill>
            </a:endParaRPr>
          </a:p>
          <a:p>
            <a:r>
              <a:rPr lang="fr-FR" sz="1300" dirty="0">
                <a:solidFill>
                  <a:srgbClr val="4D4F53"/>
                </a:solidFill>
              </a:rPr>
              <a:t>Entrer la Date de livraison estimée</a:t>
            </a:r>
            <a:endParaRPr lang="fr-FR" sz="1083" dirty="0">
              <a:solidFill>
                <a:srgbClr val="4D4F53"/>
              </a:solidFill>
            </a:endParaRPr>
          </a:p>
        </p:txBody>
      </p:sp>
      <p:sp>
        <p:nvSpPr>
          <p:cNvPr id="8" name="Ellipse 7"/>
          <p:cNvSpPr/>
          <p:nvPr/>
        </p:nvSpPr>
        <p:spPr>
          <a:xfrm>
            <a:off x="524909" y="2179138"/>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524909" y="2753307"/>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524909" y="3262012"/>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1" name="Ellipse 10"/>
          <p:cNvSpPr/>
          <p:nvPr/>
        </p:nvSpPr>
        <p:spPr>
          <a:xfrm>
            <a:off x="524909" y="3625693"/>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13" name="Ellipse 12"/>
          <p:cNvSpPr/>
          <p:nvPr/>
        </p:nvSpPr>
        <p:spPr>
          <a:xfrm>
            <a:off x="524909" y="4156832"/>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14" name="Ellipse 13"/>
          <p:cNvSpPr/>
          <p:nvPr/>
        </p:nvSpPr>
        <p:spPr>
          <a:xfrm>
            <a:off x="524909" y="4841715"/>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7</a:t>
            </a:r>
          </a:p>
        </p:txBody>
      </p:sp>
      <p:sp>
        <p:nvSpPr>
          <p:cNvPr id="17" name="Flèche droite 16"/>
          <p:cNvSpPr/>
          <p:nvPr/>
        </p:nvSpPr>
        <p:spPr>
          <a:xfrm>
            <a:off x="498483" y="5521653"/>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4" name="Image 3"/>
          <p:cNvPicPr>
            <a:picLocks noChangeAspect="1"/>
          </p:cNvPicPr>
          <p:nvPr/>
        </p:nvPicPr>
        <p:blipFill>
          <a:blip r:embed="rId2"/>
          <a:stretch>
            <a:fillRect/>
          </a:stretch>
        </p:blipFill>
        <p:spPr>
          <a:xfrm>
            <a:off x="6730005" y="5517843"/>
            <a:ext cx="2724150" cy="237331"/>
          </a:xfrm>
          <a:prstGeom prst="rect">
            <a:avLst/>
          </a:prstGeom>
        </p:spPr>
      </p:pic>
      <p:sp>
        <p:nvSpPr>
          <p:cNvPr id="29" name="Ellipse 28"/>
          <p:cNvSpPr/>
          <p:nvPr/>
        </p:nvSpPr>
        <p:spPr>
          <a:xfrm>
            <a:off x="524909" y="4538563"/>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6</a:t>
            </a:r>
          </a:p>
        </p:txBody>
      </p:sp>
      <p:pic>
        <p:nvPicPr>
          <p:cNvPr id="12" name="Image 11"/>
          <p:cNvPicPr>
            <a:picLocks noChangeAspect="1"/>
          </p:cNvPicPr>
          <p:nvPr/>
        </p:nvPicPr>
        <p:blipFill>
          <a:blip r:embed="rId3"/>
          <a:stretch>
            <a:fillRect/>
          </a:stretch>
        </p:blipFill>
        <p:spPr>
          <a:xfrm>
            <a:off x="3540657" y="2119964"/>
            <a:ext cx="5870043" cy="1609987"/>
          </a:xfrm>
          <a:prstGeom prst="rect">
            <a:avLst/>
          </a:prstGeom>
        </p:spPr>
      </p:pic>
      <p:sp>
        <p:nvSpPr>
          <p:cNvPr id="41" name="Rectangle 40"/>
          <p:cNvSpPr/>
          <p:nvPr/>
        </p:nvSpPr>
        <p:spPr>
          <a:xfrm>
            <a:off x="3771000" y="2918198"/>
            <a:ext cx="956231" cy="14945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4" name="Ellipse 33"/>
          <p:cNvSpPr/>
          <p:nvPr/>
        </p:nvSpPr>
        <p:spPr>
          <a:xfrm>
            <a:off x="4661449" y="2866202"/>
            <a:ext cx="170959" cy="184664"/>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6" name="Rectangle 25"/>
          <p:cNvSpPr/>
          <p:nvPr/>
        </p:nvSpPr>
        <p:spPr>
          <a:xfrm>
            <a:off x="5146700" y="3551971"/>
            <a:ext cx="1024862" cy="16020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5" name="Ellipse 34"/>
          <p:cNvSpPr/>
          <p:nvPr/>
        </p:nvSpPr>
        <p:spPr>
          <a:xfrm>
            <a:off x="5014585" y="3670579"/>
            <a:ext cx="170959" cy="184664"/>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27" name="Rectangle 26"/>
          <p:cNvSpPr/>
          <p:nvPr/>
        </p:nvSpPr>
        <p:spPr>
          <a:xfrm>
            <a:off x="6216353" y="3561214"/>
            <a:ext cx="473013" cy="17203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6" name="Ellipse 35"/>
          <p:cNvSpPr/>
          <p:nvPr/>
        </p:nvSpPr>
        <p:spPr>
          <a:xfrm>
            <a:off x="6208484" y="3670579"/>
            <a:ext cx="170959" cy="184664"/>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46" name="Rectangle 45"/>
          <p:cNvSpPr/>
          <p:nvPr/>
        </p:nvSpPr>
        <p:spPr>
          <a:xfrm>
            <a:off x="6791589" y="3552800"/>
            <a:ext cx="433596" cy="17203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7" name="Ellipse 46"/>
          <p:cNvSpPr/>
          <p:nvPr/>
        </p:nvSpPr>
        <p:spPr>
          <a:xfrm>
            <a:off x="6730005" y="3670579"/>
            <a:ext cx="170959" cy="184664"/>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28" name="Rectangle 27"/>
          <p:cNvSpPr/>
          <p:nvPr/>
        </p:nvSpPr>
        <p:spPr>
          <a:xfrm>
            <a:off x="7787969" y="3553956"/>
            <a:ext cx="489558" cy="15821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7" name="Ellipse 36"/>
          <p:cNvSpPr/>
          <p:nvPr/>
        </p:nvSpPr>
        <p:spPr>
          <a:xfrm>
            <a:off x="7748825" y="3670579"/>
            <a:ext cx="170959" cy="184664"/>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48" name="Rectangle 47"/>
          <p:cNvSpPr/>
          <p:nvPr/>
        </p:nvSpPr>
        <p:spPr>
          <a:xfrm>
            <a:off x="8958006" y="3563768"/>
            <a:ext cx="452695" cy="14484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9" name="Ellipse 48"/>
          <p:cNvSpPr/>
          <p:nvPr/>
        </p:nvSpPr>
        <p:spPr>
          <a:xfrm>
            <a:off x="8939231" y="3670579"/>
            <a:ext cx="170959" cy="184664"/>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7</a:t>
            </a:r>
          </a:p>
        </p:txBody>
      </p:sp>
      <p:sp>
        <p:nvSpPr>
          <p:cNvPr id="31" name="Rectangle 30"/>
          <p:cNvSpPr/>
          <p:nvPr/>
        </p:nvSpPr>
        <p:spPr>
          <a:xfrm>
            <a:off x="7279140" y="3553956"/>
            <a:ext cx="433596" cy="17203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0" name="Ellipse 29"/>
          <p:cNvSpPr/>
          <p:nvPr/>
        </p:nvSpPr>
        <p:spPr>
          <a:xfrm>
            <a:off x="7250919" y="3670579"/>
            <a:ext cx="170959" cy="184664"/>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6</a:t>
            </a:r>
          </a:p>
        </p:txBody>
      </p:sp>
      <p:sp>
        <p:nvSpPr>
          <p:cNvPr id="32" name="ZoneTexte 31"/>
          <p:cNvSpPr txBox="1"/>
          <p:nvPr/>
        </p:nvSpPr>
        <p:spPr>
          <a:xfrm>
            <a:off x="705803" y="4417917"/>
            <a:ext cx="7957750" cy="792525"/>
          </a:xfrm>
          <a:prstGeom prst="rect">
            <a:avLst/>
          </a:prstGeom>
          <a:noFill/>
        </p:spPr>
        <p:txBody>
          <a:bodyPr wrap="square" rtlCol="0">
            <a:spAutoFit/>
          </a:bodyPr>
          <a:lstStyle/>
          <a:p>
            <a:r>
              <a:rPr lang="fr-FR" sz="1300" dirty="0">
                <a:solidFill>
                  <a:srgbClr val="4D4F53"/>
                </a:solidFill>
              </a:rPr>
              <a:t>Entrer le Groupe marchandise (uniquement parmi la liste validée par la Contrôle de Gestion)</a:t>
            </a:r>
          </a:p>
          <a:p>
            <a:endParaRPr lang="fr-FR" sz="975" dirty="0">
              <a:solidFill>
                <a:srgbClr val="4D4F53"/>
              </a:solidFill>
            </a:endParaRPr>
          </a:p>
          <a:p>
            <a:r>
              <a:rPr lang="fr-FR" sz="1300" dirty="0">
                <a:solidFill>
                  <a:srgbClr val="4D4F53"/>
                </a:solidFill>
              </a:rPr>
              <a:t>Entrer le demandeur = le centre de coût du département demandeur</a:t>
            </a:r>
          </a:p>
          <a:p>
            <a:endParaRPr lang="fr-FR" sz="975" dirty="0">
              <a:solidFill>
                <a:srgbClr val="4D4F53"/>
              </a:solidFill>
            </a:endParaRPr>
          </a:p>
        </p:txBody>
      </p:sp>
      <p:sp>
        <p:nvSpPr>
          <p:cNvPr id="38" name="Ellipse 37"/>
          <p:cNvSpPr/>
          <p:nvPr/>
        </p:nvSpPr>
        <p:spPr>
          <a:xfrm>
            <a:off x="524936" y="519375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8</a:t>
            </a:r>
          </a:p>
        </p:txBody>
      </p:sp>
      <p:sp>
        <p:nvSpPr>
          <p:cNvPr id="39" name="Rectangle 38"/>
          <p:cNvSpPr/>
          <p:nvPr/>
        </p:nvSpPr>
        <p:spPr>
          <a:xfrm>
            <a:off x="8766201" y="3561214"/>
            <a:ext cx="187669" cy="15495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0" name="Ellipse 39"/>
          <p:cNvSpPr/>
          <p:nvPr/>
        </p:nvSpPr>
        <p:spPr>
          <a:xfrm>
            <a:off x="8638722" y="3670579"/>
            <a:ext cx="170959" cy="184664"/>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8</a:t>
            </a:r>
          </a:p>
        </p:txBody>
      </p:sp>
      <p:sp>
        <p:nvSpPr>
          <p:cNvPr id="3" name="Rectangle 2"/>
          <p:cNvSpPr/>
          <p:nvPr/>
        </p:nvSpPr>
        <p:spPr>
          <a:xfrm>
            <a:off x="716751" y="5490314"/>
            <a:ext cx="6803932" cy="292388"/>
          </a:xfrm>
          <a:prstGeom prst="rect">
            <a:avLst/>
          </a:prstGeom>
        </p:spPr>
        <p:txBody>
          <a:bodyPr wrap="square">
            <a:spAutoFit/>
          </a:bodyPr>
          <a:lstStyle/>
          <a:p>
            <a:pPr lvl="0"/>
            <a:r>
              <a:rPr lang="fr-FR" sz="1300" dirty="0">
                <a:solidFill>
                  <a:srgbClr val="4D4F53"/>
                </a:solidFill>
              </a:rPr>
              <a:t>Appuyer sur Entrer. SAP affiche un message rouge pour entrer le type d’imputation. </a:t>
            </a:r>
            <a:endParaRPr lang="fr-FR" sz="1083" dirty="0">
              <a:solidFill>
                <a:srgbClr val="4D4F53"/>
              </a:solidFill>
            </a:endParaRPr>
          </a:p>
        </p:txBody>
      </p:sp>
    </p:spTree>
    <p:extLst>
      <p:ext uri="{BB962C8B-B14F-4D97-AF65-F5344CB8AC3E}">
        <p14:creationId xmlns:p14="http://schemas.microsoft.com/office/powerpoint/2010/main" val="74869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24656" y="1911908"/>
            <a:ext cx="3656012" cy="692497"/>
          </a:xfrm>
          <a:prstGeom prst="rect">
            <a:avLst/>
          </a:prstGeom>
        </p:spPr>
        <p:txBody>
          <a:bodyPr wrap="square">
            <a:spAutoFit/>
          </a:bodyPr>
          <a:lstStyle/>
          <a:p>
            <a:pPr lvl="0" algn="just"/>
            <a:r>
              <a:rPr lang="fr-FR" sz="1300" dirty="0">
                <a:solidFill>
                  <a:srgbClr val="4D4F53"/>
                </a:solidFill>
              </a:rPr>
              <a:t>Lorsque vous faites des achats </a:t>
            </a:r>
            <a:r>
              <a:rPr lang="fr-FR" sz="1300" dirty="0" smtClean="0">
                <a:solidFill>
                  <a:srgbClr val="4D4F53"/>
                </a:solidFill>
              </a:rPr>
              <a:t>d’articles non </a:t>
            </a:r>
            <a:r>
              <a:rPr lang="fr-FR" sz="1300" dirty="0">
                <a:solidFill>
                  <a:srgbClr val="4D4F53"/>
                </a:solidFill>
              </a:rPr>
              <a:t>codifiés, </a:t>
            </a:r>
            <a:r>
              <a:rPr lang="fr-FR" sz="1300" b="1" dirty="0">
                <a:solidFill>
                  <a:srgbClr val="4D4F53"/>
                </a:solidFill>
              </a:rPr>
              <a:t>il est important de donner le plus </a:t>
            </a:r>
            <a:r>
              <a:rPr lang="fr-FR" sz="1300" b="1" dirty="0" smtClean="0">
                <a:solidFill>
                  <a:srgbClr val="4D4F53"/>
                </a:solidFill>
              </a:rPr>
              <a:t>de </a:t>
            </a:r>
            <a:r>
              <a:rPr lang="fr-FR" sz="1300" b="1" dirty="0">
                <a:solidFill>
                  <a:srgbClr val="4D4F53"/>
                </a:solidFill>
              </a:rPr>
              <a:t>détails possible concernant l’article à acheter. </a:t>
            </a:r>
          </a:p>
        </p:txBody>
      </p:sp>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smtClean="0"/>
              <a:t>Cas n°2: L’article n’est pas codifié </a:t>
            </a:r>
            <a:r>
              <a:rPr lang="fr-FR" altLang="en-US" dirty="0" smtClean="0"/>
              <a:t>(3/5)</a:t>
            </a:r>
            <a:endParaRPr lang="en-US" b="1" dirty="0"/>
          </a:p>
        </p:txBody>
      </p:sp>
      <p:sp>
        <p:nvSpPr>
          <p:cNvPr id="6" name="ZoneTexte 5"/>
          <p:cNvSpPr txBox="1"/>
          <p:nvPr/>
        </p:nvSpPr>
        <p:spPr>
          <a:xfrm>
            <a:off x="554013" y="4235264"/>
            <a:ext cx="3482201" cy="1892826"/>
          </a:xfrm>
          <a:prstGeom prst="rect">
            <a:avLst/>
          </a:prstGeom>
          <a:noFill/>
        </p:spPr>
        <p:txBody>
          <a:bodyPr wrap="square" rtlCol="0">
            <a:spAutoFit/>
          </a:bodyPr>
          <a:lstStyle/>
          <a:p>
            <a:endParaRPr lang="fr-FR" sz="1300" dirty="0">
              <a:solidFill>
                <a:srgbClr val="4D4F53"/>
              </a:solidFill>
            </a:endParaRPr>
          </a:p>
          <a:p>
            <a:r>
              <a:rPr lang="fr-FR" sz="1300" dirty="0">
                <a:solidFill>
                  <a:srgbClr val="4D4F53"/>
                </a:solidFill>
              </a:rPr>
              <a:t>Après avoir </a:t>
            </a:r>
            <a:r>
              <a:rPr lang="fr-FR" sz="1300" dirty="0" smtClean="0">
                <a:solidFill>
                  <a:srgbClr val="4D4F53"/>
                </a:solidFill>
              </a:rPr>
              <a:t>renseigné </a:t>
            </a:r>
            <a:r>
              <a:rPr lang="fr-FR" sz="1300" dirty="0">
                <a:solidFill>
                  <a:srgbClr val="4D4F53"/>
                </a:solidFill>
              </a:rPr>
              <a:t>les champs obligatoires, </a:t>
            </a:r>
          </a:p>
          <a:p>
            <a:r>
              <a:rPr lang="fr-FR" sz="1300" dirty="0">
                <a:solidFill>
                  <a:srgbClr val="4D4F53"/>
                </a:solidFill>
              </a:rPr>
              <a:t>cliquer sur l’onglet « Textes » </a:t>
            </a:r>
          </a:p>
          <a:p>
            <a:endParaRPr lang="fr-FR" sz="1300" dirty="0">
              <a:solidFill>
                <a:srgbClr val="4D4F53"/>
              </a:solidFill>
            </a:endParaRPr>
          </a:p>
          <a:p>
            <a:r>
              <a:rPr lang="fr-FR" sz="1300" dirty="0">
                <a:solidFill>
                  <a:srgbClr val="4D4F53"/>
                </a:solidFill>
              </a:rPr>
              <a:t>Vérifier que vous </a:t>
            </a:r>
            <a:r>
              <a:rPr lang="fr-FR" sz="1300" dirty="0" smtClean="0">
                <a:solidFill>
                  <a:srgbClr val="4D4F53"/>
                </a:solidFill>
              </a:rPr>
              <a:t>êtes </a:t>
            </a:r>
            <a:r>
              <a:rPr lang="fr-FR" sz="1300" dirty="0">
                <a:solidFill>
                  <a:srgbClr val="4D4F53"/>
                </a:solidFill>
              </a:rPr>
              <a:t>sur le bon poste. </a:t>
            </a:r>
          </a:p>
          <a:p>
            <a:endParaRPr lang="fr-FR" sz="1300" dirty="0">
              <a:solidFill>
                <a:srgbClr val="4D4F53"/>
              </a:solidFill>
            </a:endParaRPr>
          </a:p>
          <a:p>
            <a:r>
              <a:rPr lang="fr-FR" sz="1300" dirty="0">
                <a:solidFill>
                  <a:srgbClr val="4D4F53"/>
                </a:solidFill>
              </a:rPr>
              <a:t>Vous pouvez changer le poste sur lequel </a:t>
            </a:r>
            <a:r>
              <a:rPr lang="fr-FR" sz="1300" dirty="0" smtClean="0">
                <a:solidFill>
                  <a:srgbClr val="4D4F53"/>
                </a:solidFill>
              </a:rPr>
              <a:t>vous voulez </a:t>
            </a:r>
            <a:r>
              <a:rPr lang="fr-FR" sz="1300" dirty="0">
                <a:solidFill>
                  <a:srgbClr val="4D4F53"/>
                </a:solidFill>
              </a:rPr>
              <a:t>travailler en utilisant les icônes </a:t>
            </a:r>
            <a:endParaRPr lang="fr-FR" sz="1083" dirty="0">
              <a:solidFill>
                <a:srgbClr val="4D4F53"/>
              </a:solidFill>
            </a:endParaRPr>
          </a:p>
          <a:p>
            <a:endParaRPr lang="fr-FR" sz="1300" dirty="0">
              <a:solidFill>
                <a:srgbClr val="4D4F53"/>
              </a:solidFill>
            </a:endParaRPr>
          </a:p>
        </p:txBody>
      </p:sp>
      <p:sp>
        <p:nvSpPr>
          <p:cNvPr id="8" name="Ellipse 7"/>
          <p:cNvSpPr/>
          <p:nvPr/>
        </p:nvSpPr>
        <p:spPr>
          <a:xfrm>
            <a:off x="347556" y="4505459"/>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347556" y="5099347"/>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347556" y="5506820"/>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7" name="Flèche droite 16"/>
          <p:cNvSpPr/>
          <p:nvPr/>
        </p:nvSpPr>
        <p:spPr>
          <a:xfrm>
            <a:off x="306388" y="1955160"/>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3" name="Image 2"/>
          <p:cNvPicPr>
            <a:picLocks noChangeAspect="1"/>
          </p:cNvPicPr>
          <p:nvPr/>
        </p:nvPicPr>
        <p:blipFill>
          <a:blip r:embed="rId2"/>
          <a:stretch>
            <a:fillRect/>
          </a:stretch>
        </p:blipFill>
        <p:spPr>
          <a:xfrm>
            <a:off x="4180668" y="1827360"/>
            <a:ext cx="5427679" cy="3825553"/>
          </a:xfrm>
          <a:prstGeom prst="rect">
            <a:avLst/>
          </a:prstGeom>
        </p:spPr>
      </p:pic>
      <p:sp>
        <p:nvSpPr>
          <p:cNvPr id="41" name="Rectangle 40"/>
          <p:cNvSpPr/>
          <p:nvPr/>
        </p:nvSpPr>
        <p:spPr>
          <a:xfrm>
            <a:off x="8464603" y="4564590"/>
            <a:ext cx="468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4" name="Ellipse 33"/>
          <p:cNvSpPr/>
          <p:nvPr/>
        </p:nvSpPr>
        <p:spPr>
          <a:xfrm>
            <a:off x="8848030" y="463235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9" name="Rectangle 28"/>
          <p:cNvSpPr/>
          <p:nvPr/>
        </p:nvSpPr>
        <p:spPr>
          <a:xfrm>
            <a:off x="4753980" y="4458927"/>
            <a:ext cx="1560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0" name="Ellipse 29"/>
          <p:cNvSpPr/>
          <p:nvPr/>
        </p:nvSpPr>
        <p:spPr>
          <a:xfrm>
            <a:off x="6221044" y="457179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pic>
        <p:nvPicPr>
          <p:cNvPr id="4" name="Image 3"/>
          <p:cNvPicPr>
            <a:picLocks noChangeAspect="1"/>
          </p:cNvPicPr>
          <p:nvPr/>
        </p:nvPicPr>
        <p:blipFill>
          <a:blip r:embed="rId3"/>
          <a:stretch>
            <a:fillRect/>
          </a:stretch>
        </p:blipFill>
        <p:spPr>
          <a:xfrm>
            <a:off x="3235811" y="5675836"/>
            <a:ext cx="526256" cy="278606"/>
          </a:xfrm>
          <a:prstGeom prst="rect">
            <a:avLst/>
          </a:prstGeom>
        </p:spPr>
      </p:pic>
      <p:sp>
        <p:nvSpPr>
          <p:cNvPr id="31" name="Rectangle 30"/>
          <p:cNvSpPr/>
          <p:nvPr/>
        </p:nvSpPr>
        <p:spPr>
          <a:xfrm>
            <a:off x="6395579" y="4458927"/>
            <a:ext cx="273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2" name="Ellipse 31"/>
          <p:cNvSpPr/>
          <p:nvPr/>
        </p:nvSpPr>
        <p:spPr>
          <a:xfrm>
            <a:off x="6612833" y="4560216"/>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8" name="ZoneTexte 17"/>
          <p:cNvSpPr txBox="1"/>
          <p:nvPr/>
        </p:nvSpPr>
        <p:spPr>
          <a:xfrm>
            <a:off x="362706" y="2741761"/>
            <a:ext cx="3312000" cy="509101"/>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Ces détails doivent permettre aux Achats de solliciter les bons fournisseurs, et aux fournisseurs de bien identifier le ou les articles demandés</a:t>
            </a:r>
            <a:endParaRPr lang="en-US" sz="1050" b="0" kern="0" dirty="0">
              <a:latin typeface="Calibri" panose="020F0502020204030204"/>
            </a:endParaRPr>
          </a:p>
        </p:txBody>
      </p:sp>
      <p:pic>
        <p:nvPicPr>
          <p:cNvPr id="19" name="Picture 35" descr="F:\_mesDoc\Downloads\Downloads\Icones\free_ecommerce_icons\glossy_ecommerce_icons\alert.png"/>
          <p:cNvPicPr>
            <a:picLocks noChangeAspect="1" noChangeArrowheads="1"/>
          </p:cNvPicPr>
          <p:nvPr/>
        </p:nvPicPr>
        <p:blipFill>
          <a:blip r:embed="rId4" cstate="print"/>
          <a:srcRect/>
          <a:stretch>
            <a:fillRect/>
          </a:stretch>
        </p:blipFill>
        <p:spPr bwMode="auto">
          <a:xfrm>
            <a:off x="295737" y="2690516"/>
            <a:ext cx="295707" cy="295707"/>
          </a:xfrm>
          <a:prstGeom prst="rect">
            <a:avLst/>
          </a:prstGeom>
          <a:noFill/>
        </p:spPr>
      </p:pic>
      <p:sp>
        <p:nvSpPr>
          <p:cNvPr id="22" name="ZoneTexte 21"/>
          <p:cNvSpPr txBox="1"/>
          <p:nvPr/>
        </p:nvSpPr>
        <p:spPr>
          <a:xfrm>
            <a:off x="362706" y="3819227"/>
            <a:ext cx="3312000" cy="416037"/>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S’il est connu, le fournisseur souhaité est à saisir pour chaque poste</a:t>
            </a:r>
            <a:endParaRPr lang="en-US" sz="1050" b="0" kern="0" dirty="0">
              <a:latin typeface="Calibri" panose="020F0502020204030204"/>
            </a:endParaRPr>
          </a:p>
        </p:txBody>
      </p:sp>
      <p:pic>
        <p:nvPicPr>
          <p:cNvPr id="23" name="Picture 35" descr="F:\_mesDoc\Downloads\Downloads\Icones\free_ecommerce_icons\glossy_ecommerce_icons\alert.png"/>
          <p:cNvPicPr>
            <a:picLocks noChangeAspect="1" noChangeArrowheads="1"/>
          </p:cNvPicPr>
          <p:nvPr/>
        </p:nvPicPr>
        <p:blipFill>
          <a:blip r:embed="rId4" cstate="print"/>
          <a:srcRect/>
          <a:stretch>
            <a:fillRect/>
          </a:stretch>
        </p:blipFill>
        <p:spPr bwMode="auto">
          <a:xfrm>
            <a:off x="301254" y="3779070"/>
            <a:ext cx="284673" cy="295707"/>
          </a:xfrm>
          <a:prstGeom prst="rect">
            <a:avLst/>
          </a:prstGeom>
          <a:noFill/>
        </p:spPr>
      </p:pic>
      <p:sp>
        <p:nvSpPr>
          <p:cNvPr id="25" name="ZoneTexte 24"/>
          <p:cNvSpPr txBox="1"/>
          <p:nvPr/>
        </p:nvSpPr>
        <p:spPr>
          <a:xfrm>
            <a:off x="554013" y="3396835"/>
            <a:ext cx="3482201" cy="292388"/>
          </a:xfrm>
          <a:prstGeom prst="rect">
            <a:avLst/>
          </a:prstGeom>
          <a:noFill/>
        </p:spPr>
        <p:txBody>
          <a:bodyPr wrap="square" rtlCol="0">
            <a:spAutoFit/>
          </a:bodyPr>
          <a:lstStyle/>
          <a:p>
            <a:r>
              <a:rPr lang="fr-FR" sz="1300" dirty="0" smtClean="0">
                <a:solidFill>
                  <a:srgbClr val="4D4F53"/>
                </a:solidFill>
              </a:rPr>
              <a:t>S’il est connu, renseigner le fournisseur souhaité</a:t>
            </a:r>
            <a:endParaRPr lang="fr-FR" sz="1300" dirty="0">
              <a:solidFill>
                <a:srgbClr val="4D4F53"/>
              </a:solidFill>
            </a:endParaRPr>
          </a:p>
        </p:txBody>
      </p:sp>
      <p:sp>
        <p:nvSpPr>
          <p:cNvPr id="26" name="Ellipse 25"/>
          <p:cNvSpPr/>
          <p:nvPr/>
        </p:nvSpPr>
        <p:spPr>
          <a:xfrm>
            <a:off x="347556" y="3459301"/>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smtClean="0">
                <a:solidFill>
                  <a:schemeClr val="bg1"/>
                </a:solidFill>
              </a:rPr>
              <a:t>0</a:t>
            </a:r>
            <a:endParaRPr lang="fr-FR" sz="975" b="1" dirty="0">
              <a:solidFill>
                <a:schemeClr val="bg1"/>
              </a:solidFill>
            </a:endParaRPr>
          </a:p>
        </p:txBody>
      </p:sp>
      <p:sp>
        <p:nvSpPr>
          <p:cNvPr id="28" name="Rectangle 27"/>
          <p:cNvSpPr/>
          <p:nvPr/>
        </p:nvSpPr>
        <p:spPr>
          <a:xfrm>
            <a:off x="9126000" y="2594249"/>
            <a:ext cx="462500" cy="20588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7" name="Ellipse 26"/>
          <p:cNvSpPr/>
          <p:nvPr/>
        </p:nvSpPr>
        <p:spPr>
          <a:xfrm>
            <a:off x="9017177" y="2632673"/>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smtClean="0">
                <a:solidFill>
                  <a:schemeClr val="bg1"/>
                </a:solidFill>
              </a:rPr>
              <a:t>0</a:t>
            </a:r>
            <a:endParaRPr lang="fr-FR" sz="975" b="1" dirty="0">
              <a:solidFill>
                <a:schemeClr val="bg1"/>
              </a:solidFill>
            </a:endParaRPr>
          </a:p>
        </p:txBody>
      </p:sp>
    </p:spTree>
    <p:extLst>
      <p:ext uri="{BB962C8B-B14F-4D97-AF65-F5344CB8AC3E}">
        <p14:creationId xmlns:p14="http://schemas.microsoft.com/office/powerpoint/2010/main" val="37556650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smtClean="0"/>
              <a:t>Cas n°2: L’article n’est pas codifié </a:t>
            </a:r>
            <a:r>
              <a:rPr lang="fr-FR" altLang="en-US" dirty="0" smtClean="0"/>
              <a:t>(4/5)</a:t>
            </a:r>
            <a:endParaRPr lang="en-US" b="1" dirty="0"/>
          </a:p>
        </p:txBody>
      </p:sp>
      <p:sp>
        <p:nvSpPr>
          <p:cNvPr id="6" name="ZoneTexte 5"/>
          <p:cNvSpPr txBox="1"/>
          <p:nvPr/>
        </p:nvSpPr>
        <p:spPr>
          <a:xfrm>
            <a:off x="518251" y="2250784"/>
            <a:ext cx="3933037" cy="1692771"/>
          </a:xfrm>
          <a:prstGeom prst="rect">
            <a:avLst/>
          </a:prstGeom>
          <a:noFill/>
        </p:spPr>
        <p:txBody>
          <a:bodyPr wrap="square" rtlCol="0">
            <a:spAutoFit/>
          </a:bodyPr>
          <a:lstStyle/>
          <a:p>
            <a:pPr algn="just"/>
            <a:r>
              <a:rPr lang="fr-FR" sz="1300" dirty="0">
                <a:solidFill>
                  <a:srgbClr val="4D4F53"/>
                </a:solidFill>
              </a:rPr>
              <a:t>Cliquer sur « Texte poste »</a:t>
            </a:r>
          </a:p>
          <a:p>
            <a:pPr algn="just"/>
            <a:endParaRPr lang="fr-FR" sz="1300" dirty="0">
              <a:solidFill>
                <a:srgbClr val="4D4F53"/>
              </a:solidFill>
            </a:endParaRPr>
          </a:p>
          <a:p>
            <a:pPr algn="just"/>
            <a:r>
              <a:rPr lang="fr-FR" sz="1300" dirty="0">
                <a:solidFill>
                  <a:srgbClr val="4D4F53"/>
                </a:solidFill>
              </a:rPr>
              <a:t>Renseigner les détails de l’article à </a:t>
            </a:r>
            <a:r>
              <a:rPr lang="fr-FR" sz="1300" dirty="0" smtClean="0">
                <a:solidFill>
                  <a:srgbClr val="4D4F53"/>
                </a:solidFill>
              </a:rPr>
              <a:t>commander dans </a:t>
            </a:r>
            <a:r>
              <a:rPr lang="fr-FR" sz="1300" dirty="0">
                <a:solidFill>
                  <a:srgbClr val="4D4F53"/>
                </a:solidFill>
              </a:rPr>
              <a:t>la case blanche </a:t>
            </a:r>
          </a:p>
          <a:p>
            <a:pPr algn="just"/>
            <a:endParaRPr lang="fr-FR" sz="1300" dirty="0">
              <a:solidFill>
                <a:srgbClr val="4D4F53"/>
              </a:solidFill>
            </a:endParaRPr>
          </a:p>
          <a:p>
            <a:pPr algn="just"/>
            <a:r>
              <a:rPr lang="fr-FR" sz="1300" dirty="0">
                <a:solidFill>
                  <a:srgbClr val="4D4F53"/>
                </a:solidFill>
              </a:rPr>
              <a:t>Une fois le texte confirmé dans la case </a:t>
            </a:r>
            <a:r>
              <a:rPr lang="fr-FR" sz="1300" dirty="0" smtClean="0">
                <a:solidFill>
                  <a:srgbClr val="4D4F53"/>
                </a:solidFill>
              </a:rPr>
              <a:t>«</a:t>
            </a:r>
            <a:r>
              <a:rPr lang="fr-FR" sz="1300" dirty="0">
                <a:solidFill>
                  <a:srgbClr val="4D4F53"/>
                </a:solidFill>
              </a:rPr>
              <a:t> Texte poste », l’icône suivante apparaît</a:t>
            </a:r>
          </a:p>
          <a:p>
            <a:pPr algn="just"/>
            <a:endParaRPr lang="fr-FR" sz="1300" dirty="0">
              <a:solidFill>
                <a:srgbClr val="4D4F53"/>
              </a:solidFill>
            </a:endParaRPr>
          </a:p>
        </p:txBody>
      </p:sp>
      <p:sp>
        <p:nvSpPr>
          <p:cNvPr id="8" name="Ellipse 7"/>
          <p:cNvSpPr/>
          <p:nvPr/>
        </p:nvSpPr>
        <p:spPr>
          <a:xfrm>
            <a:off x="320604" y="2298887"/>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320604" y="2727336"/>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320604" y="3291599"/>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grpSp>
        <p:nvGrpSpPr>
          <p:cNvPr id="3" name="Groupe 2"/>
          <p:cNvGrpSpPr/>
          <p:nvPr/>
        </p:nvGrpSpPr>
        <p:grpSpPr>
          <a:xfrm>
            <a:off x="4533480" y="1783652"/>
            <a:ext cx="5098599" cy="1303904"/>
            <a:chOff x="4108881" y="1433967"/>
            <a:chExt cx="4706399" cy="1203604"/>
          </a:xfrm>
        </p:grpSpPr>
        <p:pic>
          <p:nvPicPr>
            <p:cNvPr id="7" name="Image 6"/>
            <p:cNvPicPr>
              <a:picLocks noChangeAspect="1"/>
            </p:cNvPicPr>
            <p:nvPr/>
          </p:nvPicPr>
          <p:blipFill>
            <a:blip r:embed="rId2"/>
            <a:stretch>
              <a:fillRect/>
            </a:stretch>
          </p:blipFill>
          <p:spPr>
            <a:xfrm>
              <a:off x="4108881" y="1433967"/>
              <a:ext cx="4706399" cy="1203604"/>
            </a:xfrm>
            <a:prstGeom prst="rect">
              <a:avLst/>
            </a:prstGeom>
          </p:spPr>
        </p:pic>
        <p:sp>
          <p:nvSpPr>
            <p:cNvPr id="29" name="Rectangle 28"/>
            <p:cNvSpPr/>
            <p:nvPr/>
          </p:nvSpPr>
          <p:spPr>
            <a:xfrm>
              <a:off x="5183610" y="1782305"/>
              <a:ext cx="3061869" cy="72842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4" name="Ellipse 33"/>
            <p:cNvSpPr/>
            <p:nvPr/>
          </p:nvSpPr>
          <p:spPr>
            <a:xfrm>
              <a:off x="8167412" y="23641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41" name="Rectangle 40"/>
            <p:cNvSpPr/>
            <p:nvPr/>
          </p:nvSpPr>
          <p:spPr>
            <a:xfrm>
              <a:off x="4397809" y="1895278"/>
              <a:ext cx="707732" cy="1401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18" name="Ellipse 17"/>
            <p:cNvSpPr/>
            <p:nvPr/>
          </p:nvSpPr>
          <p:spPr>
            <a:xfrm>
              <a:off x="4988440" y="193290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pic>
        <p:nvPicPr>
          <p:cNvPr id="12" name="Image 11"/>
          <p:cNvPicPr>
            <a:picLocks noChangeAspect="1"/>
          </p:cNvPicPr>
          <p:nvPr/>
        </p:nvPicPr>
        <p:blipFill>
          <a:blip r:embed="rId3"/>
          <a:stretch>
            <a:fillRect/>
          </a:stretch>
        </p:blipFill>
        <p:spPr>
          <a:xfrm>
            <a:off x="2311486" y="3459055"/>
            <a:ext cx="216694" cy="196056"/>
          </a:xfrm>
          <a:prstGeom prst="rect">
            <a:avLst/>
          </a:prstGeom>
        </p:spPr>
      </p:pic>
      <p:grpSp>
        <p:nvGrpSpPr>
          <p:cNvPr id="4" name="Groupe 3"/>
          <p:cNvGrpSpPr/>
          <p:nvPr/>
        </p:nvGrpSpPr>
        <p:grpSpPr>
          <a:xfrm>
            <a:off x="4533480" y="3163529"/>
            <a:ext cx="5098599" cy="1299643"/>
            <a:chOff x="4108881" y="2961700"/>
            <a:chExt cx="4706399" cy="1199670"/>
          </a:xfrm>
        </p:grpSpPr>
        <p:pic>
          <p:nvPicPr>
            <p:cNvPr id="11" name="Image 10"/>
            <p:cNvPicPr>
              <a:picLocks noChangeAspect="1"/>
            </p:cNvPicPr>
            <p:nvPr/>
          </p:nvPicPr>
          <p:blipFill>
            <a:blip r:embed="rId4"/>
            <a:stretch>
              <a:fillRect/>
            </a:stretch>
          </p:blipFill>
          <p:spPr>
            <a:xfrm>
              <a:off x="4108881" y="2961700"/>
              <a:ext cx="4706399" cy="1199670"/>
            </a:xfrm>
            <a:prstGeom prst="rect">
              <a:avLst/>
            </a:prstGeom>
          </p:spPr>
        </p:pic>
        <p:sp>
          <p:nvSpPr>
            <p:cNvPr id="21" name="Rectangle 20"/>
            <p:cNvSpPr/>
            <p:nvPr/>
          </p:nvSpPr>
          <p:spPr>
            <a:xfrm>
              <a:off x="5036379" y="3409589"/>
              <a:ext cx="216000" cy="1401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2" name="Ellipse 21"/>
            <p:cNvSpPr/>
            <p:nvPr/>
          </p:nvSpPr>
          <p:spPr>
            <a:xfrm>
              <a:off x="5153572" y="347966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grpSp>
      <p:grpSp>
        <p:nvGrpSpPr>
          <p:cNvPr id="19" name="Groupe 18"/>
          <p:cNvGrpSpPr/>
          <p:nvPr/>
        </p:nvGrpSpPr>
        <p:grpSpPr>
          <a:xfrm>
            <a:off x="4533480" y="4539145"/>
            <a:ext cx="4018884" cy="996608"/>
            <a:chOff x="4811437" y="2458641"/>
            <a:chExt cx="4256111" cy="1157067"/>
          </a:xfrm>
        </p:grpSpPr>
        <p:pic>
          <p:nvPicPr>
            <p:cNvPr id="20" name="Image 19"/>
            <p:cNvPicPr>
              <a:picLocks noChangeAspect="1"/>
            </p:cNvPicPr>
            <p:nvPr/>
          </p:nvPicPr>
          <p:blipFill>
            <a:blip r:embed="rId5"/>
            <a:stretch>
              <a:fillRect/>
            </a:stretch>
          </p:blipFill>
          <p:spPr>
            <a:xfrm>
              <a:off x="4811437" y="2458641"/>
              <a:ext cx="4256111" cy="1157067"/>
            </a:xfrm>
            <a:prstGeom prst="rect">
              <a:avLst/>
            </a:prstGeom>
          </p:spPr>
        </p:pic>
        <p:sp>
          <p:nvSpPr>
            <p:cNvPr id="23" name="Rectangle 22"/>
            <p:cNvSpPr/>
            <p:nvPr/>
          </p:nvSpPr>
          <p:spPr>
            <a:xfrm>
              <a:off x="5754627" y="3425350"/>
              <a:ext cx="1715694" cy="12762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32080" tIns="66040" rIns="132080" bIns="66040" numCol="1" spcCol="0" rtlCol="0" fromWordArt="0" anchor="ctr" anchorCtr="0" forceAA="0" compatLnSpc="1">
              <a:prstTxWarp prst="textNoShape">
                <a:avLst/>
              </a:prstTxWarp>
              <a:noAutofit/>
            </a:bodyPr>
            <a:lstStyle/>
            <a:p>
              <a:pPr algn="ctr"/>
              <a:endParaRPr lang="en-US" sz="1733" dirty="0" err="1">
                <a:solidFill>
                  <a:srgbClr val="4D4F53"/>
                </a:solidFill>
              </a:endParaRPr>
            </a:p>
          </p:txBody>
        </p:sp>
      </p:grpSp>
      <p:sp>
        <p:nvSpPr>
          <p:cNvPr id="25" name="Rectangle 24"/>
          <p:cNvSpPr/>
          <p:nvPr/>
        </p:nvSpPr>
        <p:spPr>
          <a:xfrm>
            <a:off x="523829" y="4481714"/>
            <a:ext cx="3927459" cy="892552"/>
          </a:xfrm>
          <a:prstGeom prst="rect">
            <a:avLst/>
          </a:prstGeom>
        </p:spPr>
        <p:txBody>
          <a:bodyPr wrap="square">
            <a:spAutoFit/>
          </a:bodyPr>
          <a:lstStyle/>
          <a:p>
            <a:pPr algn="just"/>
            <a:r>
              <a:rPr lang="fr-FR" sz="1300" dirty="0">
                <a:solidFill>
                  <a:srgbClr val="4D4F53"/>
                </a:solidFill>
              </a:rPr>
              <a:t>Dans l’onglet Donnée article : si le demandeur a un fournisseur souhaité et s’il connait le code article du fournisseur, il peut le saisir dans le champs « </a:t>
            </a:r>
            <a:r>
              <a:rPr lang="fr-FR" sz="1300" dirty="0" err="1">
                <a:solidFill>
                  <a:srgbClr val="4D4F53"/>
                </a:solidFill>
              </a:rPr>
              <a:t>Art.Fourn</a:t>
            </a:r>
            <a:r>
              <a:rPr lang="fr-FR" sz="1300" dirty="0">
                <a:solidFill>
                  <a:srgbClr val="4D4F53"/>
                </a:solidFill>
              </a:rPr>
              <a:t>. </a:t>
            </a:r>
            <a:r>
              <a:rPr lang="fr-FR" sz="1300" dirty="0" smtClean="0">
                <a:solidFill>
                  <a:srgbClr val="4D4F53"/>
                </a:solidFill>
              </a:rPr>
              <a:t>»</a:t>
            </a:r>
            <a:endParaRPr lang="fr-FR" sz="1300" dirty="0">
              <a:solidFill>
                <a:srgbClr val="4D4F53"/>
              </a:solidFill>
            </a:endParaRPr>
          </a:p>
        </p:txBody>
      </p:sp>
      <p:sp>
        <p:nvSpPr>
          <p:cNvPr id="27" name="Ellipse 26"/>
          <p:cNvSpPr/>
          <p:nvPr/>
        </p:nvSpPr>
        <p:spPr>
          <a:xfrm>
            <a:off x="308563" y="4550088"/>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28" name="Ellipse 27"/>
          <p:cNvSpPr/>
          <p:nvPr/>
        </p:nvSpPr>
        <p:spPr>
          <a:xfrm>
            <a:off x="7047783" y="5288066"/>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32" name="ZoneTexte 31"/>
          <p:cNvSpPr txBox="1"/>
          <p:nvPr/>
        </p:nvSpPr>
        <p:spPr>
          <a:xfrm>
            <a:off x="408153" y="3763157"/>
            <a:ext cx="3948089" cy="360796"/>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Le texte descriptif doit être renseigné pour chaque poste</a:t>
            </a:r>
            <a:endParaRPr lang="en-US" sz="1050" b="0" kern="0" dirty="0">
              <a:latin typeface="Calibri" panose="020F0502020204030204"/>
            </a:endParaRPr>
          </a:p>
        </p:txBody>
      </p:sp>
      <p:pic>
        <p:nvPicPr>
          <p:cNvPr id="33" name="Picture 35" descr="F:\_mesDoc\Downloads\Downloads\Icones\free_ecommerce_icons\glossy_ecommerce_icons\alert.png"/>
          <p:cNvPicPr>
            <a:picLocks noChangeAspect="1" noChangeArrowheads="1"/>
          </p:cNvPicPr>
          <p:nvPr/>
        </p:nvPicPr>
        <p:blipFill>
          <a:blip r:embed="rId6" cstate="print"/>
          <a:srcRect/>
          <a:stretch>
            <a:fillRect/>
          </a:stretch>
        </p:blipFill>
        <p:spPr bwMode="auto">
          <a:xfrm>
            <a:off x="347446" y="3791155"/>
            <a:ext cx="309469" cy="295707"/>
          </a:xfrm>
          <a:prstGeom prst="rect">
            <a:avLst/>
          </a:prstGeom>
          <a:noFill/>
        </p:spPr>
      </p:pic>
      <p:sp>
        <p:nvSpPr>
          <p:cNvPr id="38" name="ZoneTexte 37"/>
          <p:cNvSpPr txBox="1"/>
          <p:nvPr/>
        </p:nvSpPr>
        <p:spPr>
          <a:xfrm>
            <a:off x="309395" y="5831408"/>
            <a:ext cx="6964707" cy="180583"/>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S’il est connu, le code article fournisseur (« Art. </a:t>
            </a:r>
            <a:r>
              <a:rPr lang="fr-FR" sz="1050" b="0" kern="0" dirty="0" err="1" smtClean="0">
                <a:latin typeface="Calibri" panose="020F0502020204030204"/>
              </a:rPr>
              <a:t>Fourn</a:t>
            </a:r>
            <a:r>
              <a:rPr lang="fr-FR" sz="1050" b="0" kern="0" dirty="0" smtClean="0">
                <a:latin typeface="Calibri" panose="020F0502020204030204"/>
              </a:rPr>
              <a:t>. ») est à saisir pour chaque poste dans l’onglet « Données article »</a:t>
            </a:r>
            <a:endParaRPr lang="en-US" sz="1050" b="0" kern="0" dirty="0">
              <a:latin typeface="Calibri" panose="020F0502020204030204"/>
            </a:endParaRPr>
          </a:p>
        </p:txBody>
      </p:sp>
      <p:sp>
        <p:nvSpPr>
          <p:cNvPr id="39" name="ZoneTexte 38"/>
          <p:cNvSpPr txBox="1"/>
          <p:nvPr/>
        </p:nvSpPr>
        <p:spPr>
          <a:xfrm>
            <a:off x="309395" y="5650825"/>
            <a:ext cx="6964707" cy="180583"/>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S’il est connu, le fournisseur souhaité est à saisir pour chaque poste dans le champ « </a:t>
            </a:r>
            <a:r>
              <a:rPr lang="fr-FR" sz="1050" b="0" kern="0" dirty="0" err="1" smtClean="0">
                <a:latin typeface="Calibri" panose="020F0502020204030204"/>
              </a:rPr>
              <a:t>Fourn</a:t>
            </a:r>
            <a:r>
              <a:rPr lang="fr-FR" sz="1050" b="0" kern="0" dirty="0" smtClean="0">
                <a:latin typeface="Calibri" panose="020F0502020204030204"/>
              </a:rPr>
              <a:t>. </a:t>
            </a:r>
            <a:r>
              <a:rPr lang="fr-FR" sz="1050" b="0" kern="0" dirty="0" err="1" smtClean="0">
                <a:latin typeface="Calibri" panose="020F0502020204030204"/>
              </a:rPr>
              <a:t>Souh</a:t>
            </a:r>
            <a:r>
              <a:rPr lang="fr-FR" sz="1050" b="0" kern="0" dirty="0" smtClean="0">
                <a:latin typeface="Calibri" panose="020F0502020204030204"/>
              </a:rPr>
              <a:t>. »</a:t>
            </a:r>
            <a:endParaRPr lang="en-US" sz="1050" b="0" kern="0" dirty="0">
              <a:latin typeface="Calibri" panose="020F0502020204030204"/>
            </a:endParaRPr>
          </a:p>
        </p:txBody>
      </p:sp>
      <p:pic>
        <p:nvPicPr>
          <p:cNvPr id="40" name="Picture 35" descr="F:\_mesDoc\Downloads\Downloads\Icones\free_ecommerce_icons\glossy_ecommerce_icons\alert.png"/>
          <p:cNvPicPr>
            <a:picLocks noChangeAspect="1" noChangeArrowheads="1"/>
          </p:cNvPicPr>
          <p:nvPr/>
        </p:nvPicPr>
        <p:blipFill>
          <a:blip r:embed="rId6" cstate="print"/>
          <a:srcRect/>
          <a:stretch>
            <a:fillRect/>
          </a:stretch>
        </p:blipFill>
        <p:spPr bwMode="auto">
          <a:xfrm>
            <a:off x="248689" y="5678823"/>
            <a:ext cx="284673" cy="295707"/>
          </a:xfrm>
          <a:prstGeom prst="rect">
            <a:avLst/>
          </a:prstGeom>
          <a:noFill/>
        </p:spPr>
      </p:pic>
    </p:spTree>
    <p:extLst>
      <p:ext uri="{BB962C8B-B14F-4D97-AF65-F5344CB8AC3E}">
        <p14:creationId xmlns:p14="http://schemas.microsoft.com/office/powerpoint/2010/main" val="32585394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smtClean="0"/>
              <a:t>Cas n°2.1</a:t>
            </a:r>
            <a:r>
              <a:rPr lang="fr-FR" altLang="en-US" b="1" dirty="0"/>
              <a:t>: L’article n’est pas codifié </a:t>
            </a:r>
            <a:r>
              <a:rPr lang="fr-FR" altLang="en-US" b="1" dirty="0" smtClean="0"/>
              <a:t>et imputé sur centre de coûts (K) </a:t>
            </a:r>
            <a:r>
              <a:rPr lang="fr-FR" altLang="en-US" dirty="0" smtClean="0"/>
              <a:t>(5a/5)</a:t>
            </a:r>
            <a:endParaRPr lang="en-US" b="1" dirty="0"/>
          </a:p>
        </p:txBody>
      </p:sp>
      <p:sp>
        <p:nvSpPr>
          <p:cNvPr id="6" name="ZoneTexte 5"/>
          <p:cNvSpPr txBox="1"/>
          <p:nvPr/>
        </p:nvSpPr>
        <p:spPr>
          <a:xfrm>
            <a:off x="698468" y="2003548"/>
            <a:ext cx="3708703" cy="3359638"/>
          </a:xfrm>
          <a:prstGeom prst="rect">
            <a:avLst/>
          </a:prstGeom>
          <a:noFill/>
        </p:spPr>
        <p:txBody>
          <a:bodyPr wrap="square" rtlCol="0">
            <a:spAutoFit/>
          </a:bodyPr>
          <a:lstStyle/>
          <a:p>
            <a:r>
              <a:rPr lang="fr-FR" sz="1300" dirty="0">
                <a:solidFill>
                  <a:srgbClr val="4D4F53"/>
                </a:solidFill>
              </a:rPr>
              <a:t>Saisir le type d’imputation dans la </a:t>
            </a:r>
          </a:p>
          <a:p>
            <a:r>
              <a:rPr lang="fr-FR" sz="1300" dirty="0">
                <a:solidFill>
                  <a:srgbClr val="4D4F53"/>
                </a:solidFill>
              </a:rPr>
              <a:t>Colonne « I » = &lt;&lt; Centre &gt;&gt; (K)</a:t>
            </a:r>
          </a:p>
          <a:p>
            <a:endParaRPr lang="fr-FR" sz="1083" dirty="0">
              <a:solidFill>
                <a:srgbClr val="4D4F53"/>
              </a:solidFill>
            </a:endParaRPr>
          </a:p>
          <a:p>
            <a:r>
              <a:rPr lang="fr-FR" sz="1300" dirty="0">
                <a:solidFill>
                  <a:srgbClr val="4D4F53"/>
                </a:solidFill>
              </a:rPr>
              <a:t>Cliquer sur Entrer. </a:t>
            </a:r>
          </a:p>
          <a:p>
            <a:r>
              <a:rPr lang="fr-FR" sz="1300" dirty="0">
                <a:solidFill>
                  <a:srgbClr val="4D4F53"/>
                </a:solidFill>
              </a:rPr>
              <a:t>SAP vous renvoie dans l’onglet </a:t>
            </a:r>
          </a:p>
          <a:p>
            <a:r>
              <a:rPr lang="fr-FR" sz="1300" dirty="0">
                <a:solidFill>
                  <a:srgbClr val="4D4F53"/>
                </a:solidFill>
              </a:rPr>
              <a:t>« Imputation », sur la case </a:t>
            </a:r>
          </a:p>
          <a:p>
            <a:r>
              <a:rPr lang="fr-FR" sz="1300" dirty="0">
                <a:solidFill>
                  <a:srgbClr val="4D4F53"/>
                </a:solidFill>
              </a:rPr>
              <a:t>« Centre de coûts »</a:t>
            </a:r>
          </a:p>
          <a:p>
            <a:endParaRPr lang="fr-FR" sz="1083" dirty="0">
              <a:solidFill>
                <a:srgbClr val="4D4F53"/>
              </a:solidFill>
            </a:endParaRPr>
          </a:p>
          <a:p>
            <a:r>
              <a:rPr lang="fr-FR" sz="1300" dirty="0">
                <a:solidFill>
                  <a:srgbClr val="4D4F53"/>
                </a:solidFill>
              </a:rPr>
              <a:t>Entrer le centre de coûts</a:t>
            </a:r>
          </a:p>
          <a:p>
            <a:endParaRPr lang="fr-FR" sz="1083" dirty="0">
              <a:solidFill>
                <a:srgbClr val="4D4F53"/>
              </a:solidFill>
            </a:endParaRPr>
          </a:p>
          <a:p>
            <a:r>
              <a:rPr lang="fr-FR" sz="1300" dirty="0">
                <a:solidFill>
                  <a:srgbClr val="4D4F53"/>
                </a:solidFill>
              </a:rPr>
              <a:t>Le compte général est </a:t>
            </a:r>
            <a:r>
              <a:rPr lang="fr-FR" sz="1300" dirty="0" smtClean="0">
                <a:solidFill>
                  <a:srgbClr val="4D4F53"/>
                </a:solidFill>
              </a:rPr>
              <a:t>saisi </a:t>
            </a:r>
            <a:r>
              <a:rPr lang="fr-FR" sz="1300" dirty="0">
                <a:solidFill>
                  <a:srgbClr val="4D4F53"/>
                </a:solidFill>
              </a:rPr>
              <a:t>automatiquement par SAP via le groupe marchandise </a:t>
            </a:r>
            <a:r>
              <a:rPr lang="fr-FR" sz="1300" dirty="0" smtClean="0">
                <a:solidFill>
                  <a:srgbClr val="4D4F53"/>
                </a:solidFill>
              </a:rPr>
              <a:t>choisi</a:t>
            </a:r>
            <a:endParaRPr lang="fr-FR" sz="1300" dirty="0">
              <a:solidFill>
                <a:srgbClr val="4D4F53"/>
              </a:solidFill>
            </a:endParaRPr>
          </a:p>
          <a:p>
            <a:endParaRPr lang="fr-FR" sz="1300" dirty="0">
              <a:solidFill>
                <a:srgbClr val="4D4F53"/>
              </a:solidFill>
            </a:endParaRPr>
          </a:p>
          <a:p>
            <a:r>
              <a:rPr lang="fr-FR" sz="1300" dirty="0">
                <a:solidFill>
                  <a:srgbClr val="4D4F53"/>
                </a:solidFill>
              </a:rPr>
              <a:t>Contrôler tous les postes en appuyant sur</a:t>
            </a:r>
          </a:p>
          <a:p>
            <a:endParaRPr lang="fr-FR" sz="1083" dirty="0">
              <a:solidFill>
                <a:srgbClr val="4D4F53"/>
              </a:solidFill>
            </a:endParaRPr>
          </a:p>
          <a:p>
            <a:r>
              <a:rPr lang="fr-FR" sz="1300" dirty="0" smtClean="0">
                <a:solidFill>
                  <a:srgbClr val="4D4F53"/>
                </a:solidFill>
              </a:rPr>
              <a:t>Sauvegarder : </a:t>
            </a:r>
            <a:r>
              <a:rPr lang="fr-FR" sz="1300" dirty="0">
                <a:solidFill>
                  <a:srgbClr val="4D4F53"/>
                </a:solidFill>
              </a:rPr>
              <a:t>un message de confirmation apparait avec le numéro de la demande d’achat </a:t>
            </a:r>
          </a:p>
        </p:txBody>
      </p:sp>
      <p:sp>
        <p:nvSpPr>
          <p:cNvPr id="8" name="Ellipse 7"/>
          <p:cNvSpPr/>
          <p:nvPr/>
        </p:nvSpPr>
        <p:spPr>
          <a:xfrm>
            <a:off x="496026" y="2062721"/>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496026" y="2636890"/>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496026" y="3576220"/>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pic>
        <p:nvPicPr>
          <p:cNvPr id="12" name="Image 11"/>
          <p:cNvPicPr>
            <a:picLocks noChangeAspect="1"/>
          </p:cNvPicPr>
          <p:nvPr/>
        </p:nvPicPr>
        <p:blipFill>
          <a:blip r:embed="rId2"/>
          <a:stretch>
            <a:fillRect/>
          </a:stretch>
        </p:blipFill>
        <p:spPr>
          <a:xfrm>
            <a:off x="3631683" y="4524091"/>
            <a:ext cx="206375" cy="206375"/>
          </a:xfrm>
          <a:prstGeom prst="rect">
            <a:avLst/>
          </a:prstGeom>
          <a:ln>
            <a:solidFill>
              <a:schemeClr val="tx1"/>
            </a:solidFill>
          </a:ln>
          <a:effectLst>
            <a:outerShdw blurRad="50800" dist="38100" dir="2700000" algn="tl" rotWithShape="0">
              <a:prstClr val="black">
                <a:alpha val="40000"/>
              </a:prstClr>
            </a:outerShdw>
          </a:effectLst>
        </p:spPr>
      </p:pic>
      <p:sp>
        <p:nvSpPr>
          <p:cNvPr id="66" name="Flèche droite 65"/>
          <p:cNvSpPr/>
          <p:nvPr/>
        </p:nvSpPr>
        <p:spPr>
          <a:xfrm>
            <a:off x="496025" y="3912985"/>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72" name="Image 71"/>
          <p:cNvPicPr>
            <a:picLocks noChangeAspect="1"/>
          </p:cNvPicPr>
          <p:nvPr/>
        </p:nvPicPr>
        <p:blipFill rotWithShape="1">
          <a:blip r:embed="rId3"/>
          <a:srcRect b="20254"/>
          <a:stretch/>
        </p:blipFill>
        <p:spPr>
          <a:xfrm>
            <a:off x="736076" y="5325724"/>
            <a:ext cx="3002756" cy="189259"/>
          </a:xfrm>
          <a:prstGeom prst="rect">
            <a:avLst/>
          </a:prstGeom>
          <a:effectLst>
            <a:outerShdw blurRad="50800" dist="38100" dir="2700000" algn="tl" rotWithShape="0">
              <a:prstClr val="black">
                <a:alpha val="40000"/>
              </a:prstClr>
            </a:outerShdw>
          </a:effectLst>
        </p:spPr>
      </p:pic>
      <p:pic>
        <p:nvPicPr>
          <p:cNvPr id="26" name="Image 25"/>
          <p:cNvPicPr>
            <a:picLocks noChangeAspect="1"/>
          </p:cNvPicPr>
          <p:nvPr/>
        </p:nvPicPr>
        <p:blipFill>
          <a:blip r:embed="rId4"/>
          <a:stretch>
            <a:fillRect/>
          </a:stretch>
        </p:blipFill>
        <p:spPr>
          <a:xfrm>
            <a:off x="3602869" y="2042601"/>
            <a:ext cx="5807831" cy="1459962"/>
          </a:xfrm>
          <a:prstGeom prst="rect">
            <a:avLst/>
          </a:prstGeom>
        </p:spPr>
      </p:pic>
      <p:sp>
        <p:nvSpPr>
          <p:cNvPr id="46" name="Rectangle 45"/>
          <p:cNvSpPr/>
          <p:nvPr/>
        </p:nvSpPr>
        <p:spPr>
          <a:xfrm>
            <a:off x="4336371" y="3333456"/>
            <a:ext cx="189898" cy="1281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7" name="Ellipse 46"/>
          <p:cNvSpPr/>
          <p:nvPr/>
        </p:nvSpPr>
        <p:spPr>
          <a:xfrm>
            <a:off x="4440465" y="340876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67" name="Rectangle 66"/>
          <p:cNvSpPr/>
          <p:nvPr/>
        </p:nvSpPr>
        <p:spPr>
          <a:xfrm>
            <a:off x="5354461" y="2532090"/>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8" name="Ellipse 67"/>
          <p:cNvSpPr/>
          <p:nvPr/>
        </p:nvSpPr>
        <p:spPr>
          <a:xfrm>
            <a:off x="5490370" y="262776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69" name="Rectangle 68"/>
          <p:cNvSpPr/>
          <p:nvPr/>
        </p:nvSpPr>
        <p:spPr>
          <a:xfrm>
            <a:off x="4953000" y="2074177"/>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70" name="Ellipse 69"/>
          <p:cNvSpPr/>
          <p:nvPr/>
        </p:nvSpPr>
        <p:spPr>
          <a:xfrm>
            <a:off x="5057075" y="216985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pic>
        <p:nvPicPr>
          <p:cNvPr id="3" name="Image 2"/>
          <p:cNvPicPr>
            <a:picLocks noChangeAspect="1"/>
          </p:cNvPicPr>
          <p:nvPr/>
        </p:nvPicPr>
        <p:blipFill>
          <a:blip r:embed="rId5"/>
          <a:stretch>
            <a:fillRect/>
          </a:stretch>
        </p:blipFill>
        <p:spPr>
          <a:xfrm>
            <a:off x="4778804" y="3718991"/>
            <a:ext cx="4631896" cy="1262659"/>
          </a:xfrm>
          <a:prstGeom prst="rect">
            <a:avLst/>
          </a:prstGeom>
        </p:spPr>
      </p:pic>
      <p:sp>
        <p:nvSpPr>
          <p:cNvPr id="48" name="Rectangle 47"/>
          <p:cNvSpPr/>
          <p:nvPr/>
        </p:nvSpPr>
        <p:spPr>
          <a:xfrm>
            <a:off x="5659518" y="4741922"/>
            <a:ext cx="126405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9" name="Ellipse 48"/>
          <p:cNvSpPr/>
          <p:nvPr/>
        </p:nvSpPr>
        <p:spPr>
          <a:xfrm>
            <a:off x="6760451" y="479996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64" name="Rectangle 63"/>
          <p:cNvSpPr/>
          <p:nvPr/>
        </p:nvSpPr>
        <p:spPr>
          <a:xfrm>
            <a:off x="7124840" y="3859750"/>
            <a:ext cx="688939" cy="24545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5" name="Ellipse 64"/>
          <p:cNvSpPr/>
          <p:nvPr/>
        </p:nvSpPr>
        <p:spPr>
          <a:xfrm>
            <a:off x="7670022" y="3982479"/>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28" name="Ellipse 27"/>
          <p:cNvSpPr/>
          <p:nvPr/>
        </p:nvSpPr>
        <p:spPr>
          <a:xfrm>
            <a:off x="492425" y="4895726"/>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29" name="Ellipse 28"/>
          <p:cNvSpPr/>
          <p:nvPr/>
        </p:nvSpPr>
        <p:spPr>
          <a:xfrm>
            <a:off x="488100" y="4531399"/>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Tree>
    <p:extLst>
      <p:ext uri="{BB962C8B-B14F-4D97-AF65-F5344CB8AC3E}">
        <p14:creationId xmlns:p14="http://schemas.microsoft.com/office/powerpoint/2010/main" val="16838030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smtClean="0"/>
              <a:t>Cas n°2.2</a:t>
            </a:r>
            <a:r>
              <a:rPr lang="fr-FR" altLang="en-US" b="1" dirty="0"/>
              <a:t>: L’article n’est pas codifié et </a:t>
            </a:r>
            <a:r>
              <a:rPr lang="fr-FR" altLang="en-US" b="1" dirty="0" smtClean="0"/>
              <a:t>imputé sur projet (P) </a:t>
            </a:r>
            <a:r>
              <a:rPr lang="fr-FR" altLang="en-US" dirty="0" smtClean="0"/>
              <a:t>(5b/5)</a:t>
            </a:r>
            <a:endParaRPr lang="en-US" b="1" dirty="0"/>
          </a:p>
        </p:txBody>
      </p:sp>
      <p:sp>
        <p:nvSpPr>
          <p:cNvPr id="6" name="ZoneTexte 5"/>
          <p:cNvSpPr txBox="1"/>
          <p:nvPr/>
        </p:nvSpPr>
        <p:spPr>
          <a:xfrm>
            <a:off x="698468" y="2003548"/>
            <a:ext cx="3708703" cy="3359638"/>
          </a:xfrm>
          <a:prstGeom prst="rect">
            <a:avLst/>
          </a:prstGeom>
          <a:noFill/>
        </p:spPr>
        <p:txBody>
          <a:bodyPr wrap="square" rtlCol="0">
            <a:spAutoFit/>
          </a:bodyPr>
          <a:lstStyle/>
          <a:p>
            <a:r>
              <a:rPr lang="fr-FR" sz="1300" dirty="0">
                <a:solidFill>
                  <a:srgbClr val="4D4F53"/>
                </a:solidFill>
              </a:rPr>
              <a:t>Saisir le type d’imputation dans la </a:t>
            </a:r>
          </a:p>
          <a:p>
            <a:r>
              <a:rPr lang="fr-FR" sz="1300" dirty="0">
                <a:solidFill>
                  <a:srgbClr val="4D4F53"/>
                </a:solidFill>
              </a:rPr>
              <a:t>Colonne « I » = &lt;&lt; Projet &gt;&gt; (P)</a:t>
            </a:r>
          </a:p>
          <a:p>
            <a:endParaRPr lang="fr-FR" sz="1083" dirty="0">
              <a:solidFill>
                <a:srgbClr val="4D4F53"/>
              </a:solidFill>
            </a:endParaRPr>
          </a:p>
          <a:p>
            <a:r>
              <a:rPr lang="fr-FR" sz="1300" dirty="0">
                <a:solidFill>
                  <a:srgbClr val="4D4F53"/>
                </a:solidFill>
              </a:rPr>
              <a:t>Cliquer sur Entrer. </a:t>
            </a:r>
          </a:p>
          <a:p>
            <a:r>
              <a:rPr lang="fr-FR" sz="1300" dirty="0">
                <a:solidFill>
                  <a:srgbClr val="4D4F53"/>
                </a:solidFill>
              </a:rPr>
              <a:t>SAP vous renvoie dans l’onglet </a:t>
            </a:r>
          </a:p>
          <a:p>
            <a:r>
              <a:rPr lang="fr-FR" sz="1300" dirty="0">
                <a:solidFill>
                  <a:srgbClr val="4D4F53"/>
                </a:solidFill>
              </a:rPr>
              <a:t>« Imputation », sur la case </a:t>
            </a:r>
          </a:p>
          <a:p>
            <a:r>
              <a:rPr lang="fr-FR" sz="1300" dirty="0">
                <a:solidFill>
                  <a:srgbClr val="4D4F53"/>
                </a:solidFill>
              </a:rPr>
              <a:t>« Elément d’OTP »</a:t>
            </a:r>
          </a:p>
          <a:p>
            <a:endParaRPr lang="fr-FR" sz="1083" dirty="0">
              <a:solidFill>
                <a:srgbClr val="4D4F53"/>
              </a:solidFill>
            </a:endParaRPr>
          </a:p>
          <a:p>
            <a:r>
              <a:rPr lang="fr-FR" sz="1300" dirty="0">
                <a:solidFill>
                  <a:srgbClr val="4D4F53"/>
                </a:solidFill>
              </a:rPr>
              <a:t>Entrer l’Elément d’OTP</a:t>
            </a:r>
          </a:p>
          <a:p>
            <a:endParaRPr lang="fr-FR" sz="1083" dirty="0">
              <a:solidFill>
                <a:srgbClr val="4D4F53"/>
              </a:solidFill>
            </a:endParaRPr>
          </a:p>
          <a:p>
            <a:r>
              <a:rPr lang="fr-FR" sz="1300" dirty="0">
                <a:solidFill>
                  <a:srgbClr val="4D4F53"/>
                </a:solidFill>
              </a:rPr>
              <a:t>Le compte général est </a:t>
            </a:r>
            <a:r>
              <a:rPr lang="fr-FR" sz="1300" dirty="0" smtClean="0">
                <a:solidFill>
                  <a:srgbClr val="4D4F53"/>
                </a:solidFill>
              </a:rPr>
              <a:t>saisi </a:t>
            </a:r>
            <a:r>
              <a:rPr lang="fr-FR" sz="1300" dirty="0">
                <a:solidFill>
                  <a:srgbClr val="4D4F53"/>
                </a:solidFill>
              </a:rPr>
              <a:t>automatiquement par SAP via le groupe marchandise </a:t>
            </a:r>
            <a:r>
              <a:rPr lang="fr-FR" sz="1300" dirty="0" smtClean="0">
                <a:solidFill>
                  <a:srgbClr val="4D4F53"/>
                </a:solidFill>
              </a:rPr>
              <a:t>choisi </a:t>
            </a:r>
            <a:endParaRPr lang="fr-FR" sz="1300" dirty="0">
              <a:solidFill>
                <a:srgbClr val="4D4F53"/>
              </a:solidFill>
            </a:endParaRPr>
          </a:p>
          <a:p>
            <a:endParaRPr lang="fr-FR" sz="1300" dirty="0">
              <a:solidFill>
                <a:srgbClr val="4D4F53"/>
              </a:solidFill>
            </a:endParaRPr>
          </a:p>
          <a:p>
            <a:r>
              <a:rPr lang="fr-FR" sz="1300" dirty="0">
                <a:solidFill>
                  <a:srgbClr val="4D4F53"/>
                </a:solidFill>
              </a:rPr>
              <a:t>Contrôler tous les postes en appuyant sur</a:t>
            </a:r>
          </a:p>
          <a:p>
            <a:endParaRPr lang="fr-FR" sz="1083" dirty="0">
              <a:solidFill>
                <a:srgbClr val="4D4F53"/>
              </a:solidFill>
            </a:endParaRPr>
          </a:p>
          <a:p>
            <a:r>
              <a:rPr lang="fr-FR" sz="1300" dirty="0" smtClean="0">
                <a:solidFill>
                  <a:srgbClr val="4D4F53"/>
                </a:solidFill>
              </a:rPr>
              <a:t>Sauvegarder : </a:t>
            </a:r>
            <a:r>
              <a:rPr lang="fr-FR" sz="1300" dirty="0">
                <a:solidFill>
                  <a:srgbClr val="4D4F53"/>
                </a:solidFill>
              </a:rPr>
              <a:t>un message de confirmation apparait avec le numéro de la demande d’achat </a:t>
            </a:r>
          </a:p>
        </p:txBody>
      </p:sp>
      <p:sp>
        <p:nvSpPr>
          <p:cNvPr id="8" name="Ellipse 7"/>
          <p:cNvSpPr/>
          <p:nvPr/>
        </p:nvSpPr>
        <p:spPr>
          <a:xfrm>
            <a:off x="492063" y="2062721"/>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492063" y="2636890"/>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492063" y="3576220"/>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3" name="Ellipse 22"/>
          <p:cNvSpPr/>
          <p:nvPr/>
        </p:nvSpPr>
        <p:spPr>
          <a:xfrm>
            <a:off x="492063" y="4895725"/>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42" name="Ellipse 41"/>
          <p:cNvSpPr/>
          <p:nvPr/>
        </p:nvSpPr>
        <p:spPr>
          <a:xfrm>
            <a:off x="492063" y="4531398"/>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66" name="Flèche droite 65"/>
          <p:cNvSpPr/>
          <p:nvPr/>
        </p:nvSpPr>
        <p:spPr>
          <a:xfrm>
            <a:off x="496025" y="3912985"/>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25" name="Image 24"/>
          <p:cNvPicPr>
            <a:picLocks noChangeAspect="1"/>
          </p:cNvPicPr>
          <p:nvPr/>
        </p:nvPicPr>
        <p:blipFill>
          <a:blip r:embed="rId2"/>
          <a:stretch>
            <a:fillRect/>
          </a:stretch>
        </p:blipFill>
        <p:spPr>
          <a:xfrm>
            <a:off x="3602869" y="2042601"/>
            <a:ext cx="5807831" cy="1459962"/>
          </a:xfrm>
          <a:prstGeom prst="rect">
            <a:avLst/>
          </a:prstGeom>
        </p:spPr>
      </p:pic>
      <p:sp>
        <p:nvSpPr>
          <p:cNvPr id="26" name="Rectangle 25"/>
          <p:cNvSpPr/>
          <p:nvPr/>
        </p:nvSpPr>
        <p:spPr>
          <a:xfrm>
            <a:off x="4336371" y="3333456"/>
            <a:ext cx="189898" cy="1281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8" name="Ellipse 27"/>
          <p:cNvSpPr/>
          <p:nvPr/>
        </p:nvSpPr>
        <p:spPr>
          <a:xfrm>
            <a:off x="4440465" y="340876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9" name="Rectangle 28"/>
          <p:cNvSpPr/>
          <p:nvPr/>
        </p:nvSpPr>
        <p:spPr>
          <a:xfrm>
            <a:off x="5354461" y="2532090"/>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0" name="Ellipse 29"/>
          <p:cNvSpPr/>
          <p:nvPr/>
        </p:nvSpPr>
        <p:spPr>
          <a:xfrm>
            <a:off x="5490370" y="262776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31" name="Rectangle 30"/>
          <p:cNvSpPr/>
          <p:nvPr/>
        </p:nvSpPr>
        <p:spPr>
          <a:xfrm>
            <a:off x="4953000" y="2074177"/>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2" name="Ellipse 31"/>
          <p:cNvSpPr/>
          <p:nvPr/>
        </p:nvSpPr>
        <p:spPr>
          <a:xfrm>
            <a:off x="5057075" y="216985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pic>
        <p:nvPicPr>
          <p:cNvPr id="3" name="Image 2"/>
          <p:cNvPicPr>
            <a:picLocks noChangeAspect="1"/>
          </p:cNvPicPr>
          <p:nvPr/>
        </p:nvPicPr>
        <p:blipFill>
          <a:blip r:embed="rId3"/>
          <a:stretch>
            <a:fillRect/>
          </a:stretch>
        </p:blipFill>
        <p:spPr>
          <a:xfrm>
            <a:off x="4741290" y="3673843"/>
            <a:ext cx="4707654" cy="1278541"/>
          </a:xfrm>
          <a:prstGeom prst="rect">
            <a:avLst/>
          </a:prstGeom>
        </p:spPr>
      </p:pic>
      <p:sp>
        <p:nvSpPr>
          <p:cNvPr id="48" name="Rectangle 47"/>
          <p:cNvSpPr/>
          <p:nvPr/>
        </p:nvSpPr>
        <p:spPr>
          <a:xfrm>
            <a:off x="5659518" y="4698854"/>
            <a:ext cx="126405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9" name="Ellipse 48"/>
          <p:cNvSpPr/>
          <p:nvPr/>
        </p:nvSpPr>
        <p:spPr>
          <a:xfrm>
            <a:off x="6829848" y="4730466"/>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64" name="Rectangle 63"/>
          <p:cNvSpPr/>
          <p:nvPr/>
        </p:nvSpPr>
        <p:spPr>
          <a:xfrm>
            <a:off x="7194237" y="3790257"/>
            <a:ext cx="688939" cy="24545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5" name="Ellipse 64"/>
          <p:cNvSpPr/>
          <p:nvPr/>
        </p:nvSpPr>
        <p:spPr>
          <a:xfrm>
            <a:off x="7739419" y="391298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pic>
        <p:nvPicPr>
          <p:cNvPr id="33" name="Image 32"/>
          <p:cNvPicPr>
            <a:picLocks noChangeAspect="1"/>
          </p:cNvPicPr>
          <p:nvPr/>
        </p:nvPicPr>
        <p:blipFill>
          <a:blip r:embed="rId4"/>
          <a:stretch>
            <a:fillRect/>
          </a:stretch>
        </p:blipFill>
        <p:spPr>
          <a:xfrm>
            <a:off x="3631683" y="4524091"/>
            <a:ext cx="206375" cy="206375"/>
          </a:xfrm>
          <a:prstGeom prst="rect">
            <a:avLst/>
          </a:prstGeom>
          <a:ln>
            <a:solidFill>
              <a:schemeClr val="tx1"/>
            </a:solidFill>
          </a:ln>
          <a:effectLst>
            <a:outerShdw blurRad="50800" dist="38100" dir="2700000" algn="tl" rotWithShape="0">
              <a:prstClr val="black">
                <a:alpha val="40000"/>
              </a:prstClr>
            </a:outerShdw>
          </a:effectLst>
        </p:spPr>
      </p:pic>
      <p:pic>
        <p:nvPicPr>
          <p:cNvPr id="34" name="Image 33"/>
          <p:cNvPicPr>
            <a:picLocks noChangeAspect="1"/>
          </p:cNvPicPr>
          <p:nvPr/>
        </p:nvPicPr>
        <p:blipFill rotWithShape="1">
          <a:blip r:embed="rId5"/>
          <a:srcRect b="20254"/>
          <a:stretch/>
        </p:blipFill>
        <p:spPr>
          <a:xfrm>
            <a:off x="736076" y="5325724"/>
            <a:ext cx="3002756" cy="18925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311838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5300" y="633600"/>
            <a:ext cx="8915400" cy="1106181"/>
          </a:xfrm>
        </p:spPr>
        <p:txBody>
          <a:bodyPr>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d’achat </a:t>
            </a:r>
            <a:r>
              <a:rPr lang="fr-FR" altLang="en-US" dirty="0"/>
              <a:t>de biens hors </a:t>
            </a:r>
            <a:r>
              <a:rPr lang="fr-FR" altLang="en-US" dirty="0" smtClean="0"/>
              <a:t>réappro à un fournisseur local (ZDIR)</a:t>
            </a:r>
            <a:br>
              <a:rPr lang="fr-FR" altLang="en-US" dirty="0" smtClean="0"/>
            </a:br>
            <a:r>
              <a:rPr lang="fr-FR" altLang="en-US" b="1" dirty="0" smtClean="0"/>
              <a:t>Cas n°2.3: L’article n’est pas codifié et imputé sur inconnu (U) </a:t>
            </a:r>
            <a:r>
              <a:rPr lang="fr-FR" altLang="en-US" dirty="0" smtClean="0"/>
              <a:t>(5c/5)</a:t>
            </a:r>
            <a:endParaRPr lang="en-US" b="1" dirty="0"/>
          </a:p>
        </p:txBody>
      </p:sp>
      <p:sp>
        <p:nvSpPr>
          <p:cNvPr id="6" name="ZoneTexte 5"/>
          <p:cNvSpPr txBox="1"/>
          <p:nvPr/>
        </p:nvSpPr>
        <p:spPr>
          <a:xfrm>
            <a:off x="698468" y="2141132"/>
            <a:ext cx="3708703" cy="2693045"/>
          </a:xfrm>
          <a:prstGeom prst="rect">
            <a:avLst/>
          </a:prstGeom>
          <a:noFill/>
        </p:spPr>
        <p:txBody>
          <a:bodyPr wrap="square" rtlCol="0">
            <a:spAutoFit/>
          </a:bodyPr>
          <a:lstStyle/>
          <a:p>
            <a:r>
              <a:rPr lang="fr-FR" sz="1300" dirty="0">
                <a:solidFill>
                  <a:srgbClr val="4D4F53"/>
                </a:solidFill>
              </a:rPr>
              <a:t>Saisir le type d’imputation dans la </a:t>
            </a:r>
          </a:p>
          <a:p>
            <a:r>
              <a:rPr lang="fr-FR" sz="1300" dirty="0">
                <a:solidFill>
                  <a:srgbClr val="4D4F53"/>
                </a:solidFill>
              </a:rPr>
              <a:t>Colonne « I » = &lt;&lt; Inconnu &gt;&gt; (U)</a:t>
            </a:r>
          </a:p>
          <a:p>
            <a:endParaRPr lang="fr-FR" sz="1300" dirty="0">
              <a:solidFill>
                <a:srgbClr val="4D4F53"/>
              </a:solidFill>
            </a:endParaRPr>
          </a:p>
          <a:p>
            <a:r>
              <a:rPr lang="fr-FR" sz="1300" dirty="0">
                <a:solidFill>
                  <a:srgbClr val="4D4F53"/>
                </a:solidFill>
              </a:rPr>
              <a:t>Cliquer sur Entrer. </a:t>
            </a:r>
          </a:p>
          <a:p>
            <a:r>
              <a:rPr lang="fr-FR" sz="1300" dirty="0">
                <a:solidFill>
                  <a:srgbClr val="4D4F53"/>
                </a:solidFill>
              </a:rPr>
              <a:t>Entrer le Groupe d’acheteurs « </a:t>
            </a:r>
            <a:r>
              <a:rPr lang="fr-FR" sz="1300" dirty="0" err="1">
                <a:solidFill>
                  <a:srgbClr val="4D4F53"/>
                </a:solidFill>
              </a:rPr>
              <a:t>GAc</a:t>
            </a:r>
            <a:r>
              <a:rPr lang="fr-FR" sz="1300" dirty="0">
                <a:solidFill>
                  <a:srgbClr val="4D4F53"/>
                </a:solidFill>
              </a:rPr>
              <a:t> »</a:t>
            </a:r>
          </a:p>
          <a:p>
            <a:endParaRPr lang="fr-FR" sz="1300" dirty="0">
              <a:solidFill>
                <a:srgbClr val="4D4F53"/>
              </a:solidFill>
            </a:endParaRPr>
          </a:p>
          <a:p>
            <a:r>
              <a:rPr lang="fr-FR" sz="1300" dirty="0">
                <a:solidFill>
                  <a:srgbClr val="4D4F53"/>
                </a:solidFill>
              </a:rPr>
              <a:t>Dans l’onglet « Valorisation », entrer </a:t>
            </a:r>
          </a:p>
          <a:p>
            <a:r>
              <a:rPr lang="fr-FR" sz="1300" dirty="0">
                <a:solidFill>
                  <a:srgbClr val="4D4F53"/>
                </a:solidFill>
              </a:rPr>
              <a:t>le prix de valorisation estimé</a:t>
            </a:r>
          </a:p>
          <a:p>
            <a:endParaRPr lang="fr-FR" sz="1300" dirty="0">
              <a:solidFill>
                <a:srgbClr val="4D4F53"/>
              </a:solidFill>
            </a:endParaRPr>
          </a:p>
          <a:p>
            <a:r>
              <a:rPr lang="fr-FR" sz="1300" dirty="0">
                <a:solidFill>
                  <a:srgbClr val="4D4F53"/>
                </a:solidFill>
              </a:rPr>
              <a:t>Contrôler tous les postes en appuyant sur</a:t>
            </a:r>
          </a:p>
          <a:p>
            <a:endParaRPr lang="fr-FR" sz="1300" dirty="0">
              <a:solidFill>
                <a:srgbClr val="4D4F53"/>
              </a:solidFill>
            </a:endParaRPr>
          </a:p>
          <a:p>
            <a:r>
              <a:rPr lang="fr-FR" sz="1300" dirty="0">
                <a:solidFill>
                  <a:srgbClr val="4D4F53"/>
                </a:solidFill>
              </a:rPr>
              <a:t>Sauvegarder : un message de confirmation apparait avec le numéro de la demande d’achat </a:t>
            </a:r>
          </a:p>
        </p:txBody>
      </p:sp>
      <p:sp>
        <p:nvSpPr>
          <p:cNvPr id="8" name="Ellipse 7"/>
          <p:cNvSpPr/>
          <p:nvPr/>
        </p:nvSpPr>
        <p:spPr>
          <a:xfrm>
            <a:off x="496026" y="2200305"/>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496026" y="2774474"/>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496026" y="3397377"/>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3" name="Ellipse 22"/>
          <p:cNvSpPr/>
          <p:nvPr/>
        </p:nvSpPr>
        <p:spPr>
          <a:xfrm>
            <a:off x="496026" y="4372984"/>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42" name="Ellipse 41"/>
          <p:cNvSpPr/>
          <p:nvPr/>
        </p:nvSpPr>
        <p:spPr>
          <a:xfrm>
            <a:off x="496026" y="3972467"/>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pic>
        <p:nvPicPr>
          <p:cNvPr id="12" name="Image 11"/>
          <p:cNvPicPr>
            <a:picLocks noChangeAspect="1"/>
          </p:cNvPicPr>
          <p:nvPr/>
        </p:nvPicPr>
        <p:blipFill>
          <a:blip r:embed="rId2"/>
          <a:stretch>
            <a:fillRect/>
          </a:stretch>
        </p:blipFill>
        <p:spPr>
          <a:xfrm>
            <a:off x="3706056" y="3972466"/>
            <a:ext cx="206375" cy="206375"/>
          </a:xfrm>
          <a:prstGeom prst="rect">
            <a:avLst/>
          </a:prstGeom>
          <a:ln>
            <a:solidFill>
              <a:schemeClr val="tx1"/>
            </a:solidFill>
          </a:ln>
          <a:effectLst>
            <a:outerShdw blurRad="50800" dist="38100" dir="2700000" algn="tl" rotWithShape="0">
              <a:prstClr val="black">
                <a:alpha val="40000"/>
              </a:prstClr>
            </a:outerShdw>
          </a:effectLst>
        </p:spPr>
      </p:pic>
      <p:pic>
        <p:nvPicPr>
          <p:cNvPr id="72" name="Image 71"/>
          <p:cNvPicPr>
            <a:picLocks noChangeAspect="1"/>
          </p:cNvPicPr>
          <p:nvPr/>
        </p:nvPicPr>
        <p:blipFill rotWithShape="1">
          <a:blip r:embed="rId3"/>
          <a:srcRect b="20254"/>
          <a:stretch/>
        </p:blipFill>
        <p:spPr>
          <a:xfrm>
            <a:off x="806488" y="4897661"/>
            <a:ext cx="3002756" cy="189259"/>
          </a:xfrm>
          <a:prstGeom prst="rect">
            <a:avLst/>
          </a:prstGeom>
          <a:effectLst>
            <a:outerShdw blurRad="50800" dist="38100" dir="2700000" algn="tl" rotWithShape="0">
              <a:prstClr val="black">
                <a:alpha val="40000"/>
              </a:prstClr>
            </a:outerShdw>
          </a:effectLst>
        </p:spPr>
      </p:pic>
      <p:pic>
        <p:nvPicPr>
          <p:cNvPr id="25" name="Image 24"/>
          <p:cNvPicPr>
            <a:picLocks noChangeAspect="1"/>
          </p:cNvPicPr>
          <p:nvPr/>
        </p:nvPicPr>
        <p:blipFill>
          <a:blip r:embed="rId4"/>
          <a:stretch>
            <a:fillRect/>
          </a:stretch>
        </p:blipFill>
        <p:spPr>
          <a:xfrm>
            <a:off x="3602869" y="2180185"/>
            <a:ext cx="5807831" cy="1459962"/>
          </a:xfrm>
          <a:prstGeom prst="rect">
            <a:avLst/>
          </a:prstGeom>
        </p:spPr>
      </p:pic>
      <p:sp>
        <p:nvSpPr>
          <p:cNvPr id="26" name="Rectangle 25"/>
          <p:cNvSpPr/>
          <p:nvPr/>
        </p:nvSpPr>
        <p:spPr>
          <a:xfrm>
            <a:off x="4336371" y="3471039"/>
            <a:ext cx="189898" cy="1281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7" name="Ellipse 26"/>
          <p:cNvSpPr/>
          <p:nvPr/>
        </p:nvSpPr>
        <p:spPr>
          <a:xfrm>
            <a:off x="4440465" y="354634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8" name="Rectangle 27"/>
          <p:cNvSpPr/>
          <p:nvPr/>
        </p:nvSpPr>
        <p:spPr>
          <a:xfrm>
            <a:off x="5354461" y="2669673"/>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9" name="Ellipse 28"/>
          <p:cNvSpPr/>
          <p:nvPr/>
        </p:nvSpPr>
        <p:spPr>
          <a:xfrm>
            <a:off x="5490370" y="2765351"/>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30" name="Rectangle 29"/>
          <p:cNvSpPr/>
          <p:nvPr/>
        </p:nvSpPr>
        <p:spPr>
          <a:xfrm>
            <a:off x="4953000" y="2211760"/>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1" name="Ellipse 30"/>
          <p:cNvSpPr/>
          <p:nvPr/>
        </p:nvSpPr>
        <p:spPr>
          <a:xfrm>
            <a:off x="5057075" y="230743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32" name="Rectangle 31"/>
          <p:cNvSpPr/>
          <p:nvPr/>
        </p:nvSpPr>
        <p:spPr>
          <a:xfrm>
            <a:off x="8795073" y="3484146"/>
            <a:ext cx="195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3" name="Ellipse 32"/>
          <p:cNvSpPr/>
          <p:nvPr/>
        </p:nvSpPr>
        <p:spPr>
          <a:xfrm>
            <a:off x="8916831" y="3570251"/>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pic>
        <p:nvPicPr>
          <p:cNvPr id="4" name="Image 3"/>
          <p:cNvPicPr>
            <a:picLocks noChangeAspect="1"/>
          </p:cNvPicPr>
          <p:nvPr/>
        </p:nvPicPr>
        <p:blipFill>
          <a:blip r:embed="rId5"/>
          <a:stretch>
            <a:fillRect/>
          </a:stretch>
        </p:blipFill>
        <p:spPr>
          <a:xfrm>
            <a:off x="4743177" y="3889380"/>
            <a:ext cx="4662450" cy="1086994"/>
          </a:xfrm>
          <a:prstGeom prst="rect">
            <a:avLst/>
          </a:prstGeom>
        </p:spPr>
      </p:pic>
      <p:sp>
        <p:nvSpPr>
          <p:cNvPr id="48" name="Rectangle 47"/>
          <p:cNvSpPr/>
          <p:nvPr/>
        </p:nvSpPr>
        <p:spPr>
          <a:xfrm>
            <a:off x="5734536" y="4378712"/>
            <a:ext cx="741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9" name="Ellipse 48"/>
          <p:cNvSpPr/>
          <p:nvPr/>
        </p:nvSpPr>
        <p:spPr>
          <a:xfrm>
            <a:off x="6390963" y="445098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64" name="Rectangle 63"/>
          <p:cNvSpPr/>
          <p:nvPr/>
        </p:nvSpPr>
        <p:spPr>
          <a:xfrm>
            <a:off x="6673076" y="4043800"/>
            <a:ext cx="688939" cy="24545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5" name="Ellipse 64"/>
          <p:cNvSpPr/>
          <p:nvPr/>
        </p:nvSpPr>
        <p:spPr>
          <a:xfrm>
            <a:off x="7218258" y="4166529"/>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Tree>
    <p:extLst>
      <p:ext uri="{BB962C8B-B14F-4D97-AF65-F5344CB8AC3E}">
        <p14:creationId xmlns:p14="http://schemas.microsoft.com/office/powerpoint/2010/main" val="12117972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600" dirty="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6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95300" y="1795199"/>
            <a:ext cx="8915400" cy="804163"/>
          </a:xfrm>
        </p:spPr>
        <p:txBody>
          <a:bodyPr/>
          <a:lstStyle/>
          <a:p>
            <a:pPr marL="185732" indent="-185732">
              <a:buClr>
                <a:srgbClr val="0070C0"/>
              </a:buClr>
              <a:buSzPct val="100000"/>
              <a:buFont typeface="Arial" panose="020B0604020202020204" pitchFamily="34" charset="0"/>
              <a:buChar char="•"/>
            </a:pPr>
            <a:r>
              <a:rPr lang="fr-FR" altLang="en-US" sz="1517" dirty="0">
                <a:latin typeface="Arial" panose="020B0604020202020204" pitchFamily="34" charset="0"/>
                <a:ea typeface="ＭＳ Ｐゴシック" panose="020B0600070205080204" pitchFamily="34" charset="-128"/>
                <a:cs typeface="Arial" panose="020B0604020202020204" pitchFamily="34" charset="0"/>
              </a:rPr>
              <a:t>Une </a:t>
            </a:r>
            <a:r>
              <a:rPr lang="fr-FR" altLang="en-US" sz="1517" b="1" dirty="0">
                <a:latin typeface="Arial" panose="020B0604020202020204" pitchFamily="34" charset="0"/>
                <a:ea typeface="ＭＳ Ｐゴシック" panose="020B0600070205080204" pitchFamily="34" charset="-128"/>
                <a:cs typeface="Arial" panose="020B0604020202020204" pitchFamily="34" charset="0"/>
              </a:rPr>
              <a:t>demande d’achat </a:t>
            </a:r>
            <a:r>
              <a:rPr lang="fr-FR" altLang="en-US" sz="1517" b="1" dirty="0" smtClean="0">
                <a:latin typeface="Arial" panose="020B0604020202020204" pitchFamily="34" charset="0"/>
                <a:ea typeface="ＭＳ Ｐゴシック" panose="020B0600070205080204" pitchFamily="34" charset="-128"/>
                <a:cs typeface="Arial" panose="020B0604020202020204" pitchFamily="34" charset="0"/>
              </a:rPr>
              <a:t>de biens hors </a:t>
            </a:r>
            <a:r>
              <a:rPr lang="fr-FR" altLang="en-US" sz="1517" b="1" dirty="0" err="1">
                <a:latin typeface="Arial" panose="020B0604020202020204" pitchFamily="34" charset="0"/>
                <a:ea typeface="ＭＳ Ｐゴシック" panose="020B0600070205080204" pitchFamily="34" charset="-128"/>
                <a:cs typeface="Arial" panose="020B0604020202020204" pitchFamily="34" charset="0"/>
              </a:rPr>
              <a:t>réappro</a:t>
            </a:r>
            <a:r>
              <a:rPr lang="fr-FR" altLang="en-US" sz="1517" b="1" dirty="0">
                <a:latin typeface="Arial" panose="020B0604020202020204" pitchFamily="34" charset="0"/>
                <a:ea typeface="ＭＳ Ｐゴシック" panose="020B0600070205080204" pitchFamily="34" charset="-128"/>
                <a:cs typeface="Arial" panose="020B0604020202020204" pitchFamily="34" charset="0"/>
              </a:rPr>
              <a:t> </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à un fournisseur local est de type </a:t>
            </a:r>
            <a:r>
              <a:rPr lang="fr-FR" altLang="en-US" sz="1517" b="1" dirty="0" smtClean="0">
                <a:solidFill>
                  <a:srgbClr val="00B050"/>
                </a:solidFill>
                <a:latin typeface="Arial" panose="020B0604020202020204" pitchFamily="34" charset="0"/>
                <a:ea typeface="ＭＳ Ｐゴシック" panose="020B0600070205080204" pitchFamily="34" charset="-128"/>
                <a:cs typeface="Arial" panose="020B0604020202020204" pitchFamily="34" charset="0"/>
              </a:rPr>
              <a:t>ZDIR</a:t>
            </a:r>
            <a:endParaRPr lang="fr-FR" altLang="en-US" b="1" dirty="0">
              <a:solidFill>
                <a:srgbClr val="00B050"/>
              </a:solidFill>
              <a:latin typeface="Arial" panose="020B0604020202020204" pitchFamily="34" charset="0"/>
              <a:ea typeface="ＭＳ Ｐゴシック" panose="020B0600070205080204" pitchFamily="34" charset="-128"/>
              <a:cs typeface="Arial" panose="020B0604020202020204" pitchFamily="34" charset="0"/>
            </a:endParaRPr>
          </a:p>
          <a:p>
            <a:pPr marL="185732" indent="-185732">
              <a:buClr>
                <a:srgbClr val="0070C0"/>
              </a:buClr>
              <a:buSzPct val="100000"/>
              <a:buFont typeface="Arial" panose="020B0604020202020204" pitchFamily="34" charset="0"/>
              <a:buChar char="•"/>
            </a:pP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Pour une demande d’achat à un </a:t>
            </a:r>
            <a:r>
              <a:rPr lang="fr-FR" altLang="en-US" sz="1517" b="1" dirty="0" smtClean="0">
                <a:latin typeface="Arial" panose="020B0604020202020204" pitchFamily="34" charset="0"/>
                <a:ea typeface="ＭＳ Ｐゴシック" panose="020B0600070205080204" pitchFamily="34" charset="-128"/>
                <a:cs typeface="Arial" panose="020B0604020202020204" pitchFamily="34" charset="0"/>
              </a:rPr>
              <a:t>fournisseur local</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 le groupe acheteurs (</a:t>
            </a:r>
            <a:r>
              <a:rPr lang="fr-FR" altLang="en-US" sz="1517" dirty="0" err="1" smtClean="0">
                <a:latin typeface="Arial" panose="020B0604020202020204" pitchFamily="34" charset="0"/>
                <a:ea typeface="ＭＳ Ｐゴシック" panose="020B0600070205080204" pitchFamily="34" charset="-128"/>
                <a:cs typeface="Arial" panose="020B0604020202020204" pitchFamily="34" charset="0"/>
              </a:rPr>
              <a:t>GAc</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 à utiliser est </a:t>
            </a:r>
            <a:r>
              <a:rPr lang="fr-FR" altLang="en-US" sz="1517" b="1" dirty="0" smtClean="0">
                <a:solidFill>
                  <a:srgbClr val="00B050"/>
                </a:solidFill>
                <a:latin typeface="Arial" panose="020B0604020202020204" pitchFamily="34" charset="0"/>
                <a:ea typeface="ＭＳ Ｐゴシック" panose="020B0600070205080204" pitchFamily="34" charset="-128"/>
                <a:cs typeface="Arial" panose="020B0604020202020204" pitchFamily="34" charset="0"/>
              </a:rPr>
              <a:t>ZLO</a:t>
            </a:r>
            <a:endParaRPr lang="fr-FR" altLang="en-US" dirty="0">
              <a:solidFill>
                <a:srgbClr val="00B050"/>
              </a:solidFill>
              <a:latin typeface="Arial" panose="020B0604020202020204" pitchFamily="34" charset="0"/>
              <a:ea typeface="ＭＳ Ｐゴシック" panose="020B0600070205080204" pitchFamily="34" charset="-128"/>
              <a:cs typeface="Arial" panose="020B0604020202020204" pitchFamily="34" charset="0"/>
            </a:endParaRPr>
          </a:p>
          <a:p>
            <a:pPr>
              <a:buClr>
                <a:srgbClr val="0070C0"/>
              </a:buClr>
              <a:buSzPct val="100000"/>
            </a:pPr>
            <a:endParaRPr lang="fr-FR" altLang="en-US" sz="1517" dirty="0">
              <a:latin typeface="Arial" panose="020B0604020202020204" pitchFamily="34" charset="0"/>
              <a:ea typeface="ＭＳ Ｐゴシック" panose="020B0600070205080204" pitchFamily="34" charset="-128"/>
              <a:cs typeface="Arial" panose="020B0604020202020204" pitchFamily="34" charset="0"/>
            </a:endParaRPr>
          </a:p>
          <a:p>
            <a:pPr marL="185732" indent="-185732">
              <a:buClr>
                <a:srgbClr val="0070C0"/>
              </a:buClr>
              <a:buSzPct val="100000"/>
            </a:pPr>
            <a:endParaRPr lang="fr-FR" altLang="en-US" sz="1517" dirty="0">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6" name="Groupe 5"/>
          <p:cNvGrpSpPr/>
          <p:nvPr/>
        </p:nvGrpSpPr>
        <p:grpSpPr>
          <a:xfrm>
            <a:off x="368736" y="3645710"/>
            <a:ext cx="9167052" cy="457200"/>
            <a:chOff x="307092" y="3645710"/>
            <a:chExt cx="9167052" cy="457200"/>
          </a:xfrm>
        </p:grpSpPr>
        <p:sp>
          <p:nvSpPr>
            <p:cNvPr id="8" name="Rectangle 7"/>
            <p:cNvSpPr/>
            <p:nvPr/>
          </p:nvSpPr>
          <p:spPr>
            <a:xfrm>
              <a:off x="556944" y="3711413"/>
              <a:ext cx="8917200" cy="369332"/>
            </a:xfrm>
            <a:prstGeom prst="rect">
              <a:avLst/>
            </a:prstGeom>
          </p:spPr>
          <p:txBody>
            <a:bodyPr wrap="square">
              <a:spAutoFit/>
            </a:bodyPr>
            <a:lstStyle/>
            <a:p>
              <a:pPr marL="185732" lvl="0" indent="-185732" defTabSz="422082">
                <a:spcBef>
                  <a:spcPts val="1108"/>
                </a:spcBef>
                <a:spcAft>
                  <a:spcPts val="277"/>
                </a:spcAft>
                <a:buClr>
                  <a:srgbClr val="0070C0"/>
                </a:buClr>
                <a:buSzPct val="100000"/>
                <a:buFont typeface="Arial" panose="020B0604020202020204" pitchFamily="34" charset="0"/>
                <a:buChar char="•"/>
              </a:pPr>
              <a:r>
                <a:rPr lang="fr-FR" altLang="en-US" sz="16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a:t>
              </a:r>
              <a:r>
                <a:rPr lang="fr-FR" altLang="en-US"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Les demandes d’achat mal créées risquent de ne pas être honorées</a:t>
              </a:r>
              <a:endParaRPr lang="en-US" sz="2800" dirty="0"/>
            </a:p>
          </p:txBody>
        </p:sp>
        <p:pic>
          <p:nvPicPr>
            <p:cNvPr id="12" name="Picture 64" descr="F:\Back Clé\A trier\Ressources\Icones\Office\customicondesign-office3-png\png\Process-Warning48.png"/>
            <p:cNvPicPr>
              <a:picLocks noChangeAspect="1" noChangeArrowheads="1"/>
            </p:cNvPicPr>
            <p:nvPr/>
          </p:nvPicPr>
          <p:blipFill>
            <a:blip r:embed="rId2" cstate="print"/>
            <a:srcRect/>
            <a:stretch>
              <a:fillRect/>
            </a:stretch>
          </p:blipFill>
          <p:spPr bwMode="auto">
            <a:xfrm>
              <a:off x="307092" y="3645710"/>
              <a:ext cx="457200" cy="457200"/>
            </a:xfrm>
            <a:prstGeom prst="rect">
              <a:avLst/>
            </a:prstGeom>
            <a:noFill/>
          </p:spPr>
        </p:pic>
      </p:grpSp>
      <p:grpSp>
        <p:nvGrpSpPr>
          <p:cNvPr id="4" name="Groupe 3"/>
          <p:cNvGrpSpPr/>
          <p:nvPr/>
        </p:nvGrpSpPr>
        <p:grpSpPr>
          <a:xfrm>
            <a:off x="368736" y="2959577"/>
            <a:ext cx="9167052" cy="457200"/>
            <a:chOff x="307092" y="2959577"/>
            <a:chExt cx="9167052" cy="457200"/>
          </a:xfrm>
        </p:grpSpPr>
        <p:sp>
          <p:nvSpPr>
            <p:cNvPr id="3" name="Rectangle 2"/>
            <p:cNvSpPr/>
            <p:nvPr/>
          </p:nvSpPr>
          <p:spPr>
            <a:xfrm>
              <a:off x="556944" y="3025280"/>
              <a:ext cx="8917200" cy="369332"/>
            </a:xfrm>
            <a:prstGeom prst="rect">
              <a:avLst/>
            </a:prstGeom>
          </p:spPr>
          <p:txBody>
            <a:bodyPr wrap="square">
              <a:spAutoFit/>
            </a:bodyPr>
            <a:lstStyle/>
            <a:p>
              <a:pPr marL="185732" lvl="0" indent="-185732" defTabSz="422082">
                <a:spcBef>
                  <a:spcPts val="1108"/>
                </a:spcBef>
                <a:spcAft>
                  <a:spcPts val="277"/>
                </a:spcAft>
                <a:buClr>
                  <a:srgbClr val="0070C0"/>
                </a:buClr>
                <a:buSzPct val="100000"/>
                <a:buFont typeface="Arial" panose="020B0604020202020204" pitchFamily="34" charset="0"/>
                <a:buChar char="•"/>
              </a:pPr>
              <a:r>
                <a:rPr lang="fr-FR" altLang="en-US" sz="16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a:t>
              </a:r>
              <a:r>
                <a:rPr lang="fr-FR" altLang="en-US"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Le processus d’achats est plus rapide si l’article est codifié </a:t>
              </a:r>
              <a:endParaRPr lang="en-US" sz="2800" dirty="0"/>
            </a:p>
          </p:txBody>
        </p:sp>
        <p:pic>
          <p:nvPicPr>
            <p:cNvPr id="14" name="Picture 62" descr="F:\Back Clé\A trier\Ressources\Icones\Office\customicondesign-office3-png\png\Process-Accept48.png"/>
            <p:cNvPicPr>
              <a:picLocks noChangeAspect="1" noChangeArrowheads="1"/>
            </p:cNvPicPr>
            <p:nvPr/>
          </p:nvPicPr>
          <p:blipFill>
            <a:blip r:embed="rId3" cstate="print"/>
            <a:srcRect/>
            <a:stretch>
              <a:fillRect/>
            </a:stretch>
          </p:blipFill>
          <p:spPr bwMode="auto">
            <a:xfrm>
              <a:off x="307092" y="2959577"/>
              <a:ext cx="457200" cy="457200"/>
            </a:xfrm>
            <a:prstGeom prst="rect">
              <a:avLst/>
            </a:prstGeom>
            <a:noFill/>
          </p:spPr>
        </p:pic>
      </p:grpSp>
      <p:grpSp>
        <p:nvGrpSpPr>
          <p:cNvPr id="15" name="Groupe 14"/>
          <p:cNvGrpSpPr/>
          <p:nvPr/>
        </p:nvGrpSpPr>
        <p:grpSpPr>
          <a:xfrm>
            <a:off x="389284" y="4331923"/>
            <a:ext cx="9146504" cy="856929"/>
            <a:chOff x="327640" y="4331923"/>
            <a:chExt cx="9146504" cy="856929"/>
          </a:xfrm>
        </p:grpSpPr>
        <p:sp>
          <p:nvSpPr>
            <p:cNvPr id="10" name="Rectangle 9"/>
            <p:cNvSpPr/>
            <p:nvPr/>
          </p:nvSpPr>
          <p:spPr>
            <a:xfrm>
              <a:off x="556944" y="4362985"/>
              <a:ext cx="8917200" cy="825867"/>
            </a:xfrm>
            <a:prstGeom prst="rect">
              <a:avLst/>
            </a:prstGeom>
          </p:spPr>
          <p:txBody>
            <a:bodyPr wrap="square">
              <a:spAutoFit/>
            </a:bodyPr>
            <a:lstStyle/>
            <a:p>
              <a:pPr marL="185732" lvl="0" indent="-185732" defTabSz="422082">
                <a:spcBef>
                  <a:spcPts val="1108"/>
                </a:spcBef>
                <a:spcAft>
                  <a:spcPts val="277"/>
                </a:spcAft>
                <a:buClr>
                  <a:srgbClr val="0070C0"/>
                </a:buClr>
                <a:buSzPct val="100000"/>
                <a:buFont typeface="Arial" panose="020B0604020202020204" pitchFamily="34" charset="0"/>
                <a:buChar char="•"/>
              </a:pPr>
              <a:r>
                <a:rPr lang="fr-FR" altLang="en-US" sz="16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a:t>
              </a:r>
              <a:r>
                <a:rPr lang="fr-FR" altLang="en-US"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Plus les données de la DA sont précises, plus le processus est rapide</a:t>
              </a:r>
            </a:p>
            <a:p>
              <a:pPr marL="722165" lvl="1" indent="-185732" defTabSz="422082">
                <a:spcBef>
                  <a:spcPts val="1108"/>
                </a:spcBef>
                <a:spcAft>
                  <a:spcPts val="277"/>
                </a:spcAft>
                <a:buClr>
                  <a:srgbClr val="0070C0"/>
                </a:buClr>
                <a:buSzPct val="100000"/>
                <a:buFont typeface="Arial" panose="020B0604020202020204" pitchFamily="34" charset="0"/>
                <a:buChar char="•"/>
              </a:pPr>
              <a:r>
                <a:rPr lang="fr-FR"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5 minutes </a:t>
              </a:r>
              <a:r>
                <a:rPr lang="fr-FR"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d’effort en plus</a:t>
              </a:r>
              <a:r>
                <a:rPr lang="fr-FR"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a:t>
              </a:r>
              <a:r>
                <a:rPr lang="fr-FR"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5 jours de gagnés »</a:t>
              </a:r>
              <a:endParaRPr lang="en-US" sz="1800" dirty="0"/>
            </a:p>
          </p:txBody>
        </p:sp>
        <p:pic>
          <p:nvPicPr>
            <p:cNvPr id="13" name="Picture 63" descr="F:\Back Clé\A trier\Ressources\Icones\Office\customicondesign-office3-png\png\Process-Info48.png"/>
            <p:cNvPicPr>
              <a:picLocks noChangeAspect="1" noChangeArrowheads="1"/>
            </p:cNvPicPr>
            <p:nvPr/>
          </p:nvPicPr>
          <p:blipFill>
            <a:blip r:embed="rId4" cstate="print"/>
            <a:srcRect/>
            <a:stretch>
              <a:fillRect/>
            </a:stretch>
          </p:blipFill>
          <p:spPr bwMode="auto">
            <a:xfrm>
              <a:off x="327640" y="4331923"/>
              <a:ext cx="457200" cy="457200"/>
            </a:xfrm>
            <a:prstGeom prst="rect">
              <a:avLst/>
            </a:prstGeom>
            <a:noFill/>
          </p:spPr>
        </p:pic>
      </p:grpSp>
      <p:pic>
        <p:nvPicPr>
          <p:cNvPr id="18" name="Picture 89" descr="F:\Back Clé\A trier\Ressources\Icones\Office\customicondesign-office3-png\png\wheel48.png"/>
          <p:cNvPicPr>
            <a:picLocks noChangeAspect="1" noChangeArrowheads="1"/>
          </p:cNvPicPr>
          <p:nvPr/>
        </p:nvPicPr>
        <p:blipFill>
          <a:blip r:embed="rId5" cstate="print"/>
          <a:srcRect/>
          <a:stretch>
            <a:fillRect/>
          </a:stretch>
        </p:blipFill>
        <p:spPr bwMode="auto">
          <a:xfrm>
            <a:off x="306388" y="1764377"/>
            <a:ext cx="293054" cy="293054"/>
          </a:xfrm>
          <a:prstGeom prst="rect">
            <a:avLst/>
          </a:prstGeom>
          <a:noFill/>
        </p:spPr>
      </p:pic>
      <p:pic>
        <p:nvPicPr>
          <p:cNvPr id="20" name="Picture 89" descr="F:\Back Clé\A trier\Ressources\Icones\Office\customicondesign-office3-png\png\wheel48.png"/>
          <p:cNvPicPr>
            <a:picLocks noChangeAspect="1" noChangeArrowheads="1"/>
          </p:cNvPicPr>
          <p:nvPr/>
        </p:nvPicPr>
        <p:blipFill>
          <a:blip r:embed="rId5" cstate="print"/>
          <a:srcRect/>
          <a:stretch>
            <a:fillRect/>
          </a:stretch>
        </p:blipFill>
        <p:spPr bwMode="auto">
          <a:xfrm>
            <a:off x="306388" y="2185617"/>
            <a:ext cx="293054" cy="293054"/>
          </a:xfrm>
          <a:prstGeom prst="rect">
            <a:avLst/>
          </a:prstGeom>
          <a:noFill/>
        </p:spPr>
      </p:pic>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VHEKTECQ7ECW-1532981086-4917</_dlc_DocId>
    <_dlc_DocIdUrl xmlns="f36dd47d-0b23-43fd-9b2d-c5346ffa1660">
      <Url>http://projets.cbg-guinee.com/erp/_layouts/15/DocIdRedir.aspx?ID=VHEKTECQ7ECW-1532981086-4917</Url>
      <Description>VHEKTECQ7ECW-1532981086-4917</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4345FE-7B6D-4A54-AF90-279C9AC2B0F0}"/>
</file>

<file path=customXml/itemProps2.xml><?xml version="1.0" encoding="utf-8"?>
<ds:datastoreItem xmlns:ds="http://schemas.openxmlformats.org/officeDocument/2006/customXml" ds:itemID="{3BA92026-9452-4C0A-BAF8-E55A842583C3}"/>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1404</Words>
  <Application>Microsoft Office PowerPoint</Application>
  <PresentationFormat>Format A4 (210 x 297 mm)</PresentationFormat>
  <Paragraphs>364</Paragraphs>
  <Slides>15</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ＭＳ Ｐゴシック</vt:lpstr>
      <vt:lpstr>Arial</vt:lpstr>
      <vt:lpstr>Calibri</vt:lpstr>
      <vt:lpstr>Courier New</vt:lpstr>
      <vt:lpstr>Verdana</vt:lpstr>
      <vt:lpstr>TemplateBE_FR</vt:lpstr>
      <vt:lpstr>Présentation PowerPoint</vt:lpstr>
      <vt:lpstr>Rappel sur les groupes marchandises à utiliser  Articles </vt:lpstr>
      <vt:lpstr>Description du processus métier Les enjeux du processus</vt:lpstr>
      <vt:lpstr>Mode opératoire ME51N - Créer une demande d’achat de biens hors réappro à un fournisseur local (ZDIR) Cas n°1: L’article est codifié (1/3)</vt:lpstr>
      <vt:lpstr>Mode opératoire ME51N - Créer une demande d’achat de biens hors réappro à un fournisseur local (ZDIR) Cas n°1: L’article est codifié (2/3)</vt:lpstr>
      <vt:lpstr>Mode opératoire ME51N - Créer une demande d’achat de biens hors réappro à un fournisseur local (ZDIR) Cas n°1.1: L’article est codifié et imputé sur centre de coûts (K) (3a/3)</vt:lpstr>
      <vt:lpstr>Mode opératoire ME51N - Créer une demande d’achat de biens hors réappro à un fournisseur local (ZDIR) Cas n°1.2: L’article est codifié et imputé sur projet (P) (3b/3)</vt:lpstr>
      <vt:lpstr>Mode opératoire ME51N - Créer une demande d’achat de biens hors réappro à un fournisseur local (ZDIR) Cas n°2: L’article n’est pas codifié (1/5)</vt:lpstr>
      <vt:lpstr>Mode opératoire ME51N - Créer une demande d’achat de biens hors réappro à un fournisseur local (ZDIR) Cas n°2: L’article n’est pas codifié (2/5)</vt:lpstr>
      <vt:lpstr>Mode opératoire ME51N - Créer une demande d’achat de biens hors réappro à un fournisseur local (ZDIR) Cas n°2: L’article n’est pas codifié (3/5)</vt:lpstr>
      <vt:lpstr>Mode opératoire ME51N - Créer une demande d’achat de biens hors réappro à un fournisseur local (ZDIR) Cas n°2: L’article n’est pas codifié (4/5)</vt:lpstr>
      <vt:lpstr>Mode opératoire ME51N - Créer une demande d’achat de biens hors réappro à un fournisseur local (ZDIR) Cas n°2.1: L’article n’est pas codifié et imputé sur centre de coûts (K) (5a/5)</vt:lpstr>
      <vt:lpstr>Mode opératoire ME51N - Créer une demande d’achat de biens hors réappro à un fournisseur local (ZDIR) Cas n°2.2: L’article n’est pas codifié et imputé sur projet (P) (5b/5)</vt:lpstr>
      <vt:lpstr>Mode opératoire ME51N - Créer une demande d’achat de biens hors réappro à un fournisseur local (ZDIR) Cas n°2.3: L’article n’est pas codifié et imputé sur inconnu (U) (5c/5)</vt:lpstr>
      <vt:lpstr>Synthèse</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Formation DA</dc:title>
  <dc:creator>BearingPoint</dc:creator>
  <cp:lastModifiedBy>Tilloy, Perrine</cp:lastModifiedBy>
  <cp:revision>3723</cp:revision>
  <cp:lastPrinted>2016-03-14T13:00:54Z</cp:lastPrinted>
  <dcterms:created xsi:type="dcterms:W3CDTF">2012-05-17T14:14:37Z</dcterms:created>
  <dcterms:modified xsi:type="dcterms:W3CDTF">2016-03-15T13:38:29Z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65718d73-44e5-4188-bb09-36601b6548f5</vt:lpwstr>
  </property>
</Properties>
</file>