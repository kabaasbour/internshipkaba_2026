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43.xml" ContentType="application/vnd.openxmlformats-officedocument.presentationml.slide+xml"/>
  <Override PartName="/ppt/slides/slide44.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slides/slide28.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notesSlides/notesSlide3.xml" ContentType="application/vnd.openxmlformats-officedocument.presentationml.notesSlide+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2.xml" ContentType="application/vnd.openxmlformats-officedocument.customXmlProperties+xml"/>
  <Override PartName="/docProps/custom.xml" ContentType="application/vnd.openxmlformats-officedocument.custom-properties+xml"/>
  <Override PartName="/customXml/itemProps1.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49"/>
  </p:notesMasterIdLst>
  <p:handoutMasterIdLst>
    <p:handoutMasterId r:id="rId50"/>
  </p:handoutMasterIdLst>
  <p:sldIdLst>
    <p:sldId id="685" r:id="rId5"/>
    <p:sldId id="686" r:id="rId6"/>
    <p:sldId id="687" r:id="rId7"/>
    <p:sldId id="688" r:id="rId8"/>
    <p:sldId id="723" r:id="rId9"/>
    <p:sldId id="807" r:id="rId10"/>
    <p:sldId id="808" r:id="rId11"/>
    <p:sldId id="809" r:id="rId12"/>
    <p:sldId id="810" r:id="rId13"/>
    <p:sldId id="811" r:id="rId14"/>
    <p:sldId id="812" r:id="rId15"/>
    <p:sldId id="813" r:id="rId16"/>
    <p:sldId id="814" r:id="rId17"/>
    <p:sldId id="724" r:id="rId18"/>
    <p:sldId id="843" r:id="rId19"/>
    <p:sldId id="765" r:id="rId20"/>
    <p:sldId id="822" r:id="rId21"/>
    <p:sldId id="826" r:id="rId22"/>
    <p:sldId id="836" r:id="rId23"/>
    <p:sldId id="827" r:id="rId24"/>
    <p:sldId id="828" r:id="rId25"/>
    <p:sldId id="823" r:id="rId26"/>
    <p:sldId id="837" r:id="rId27"/>
    <p:sldId id="838" r:id="rId28"/>
    <p:sldId id="832" r:id="rId29"/>
    <p:sldId id="839" r:id="rId30"/>
    <p:sldId id="840" r:id="rId31"/>
    <p:sldId id="831" r:id="rId32"/>
    <p:sldId id="829" r:id="rId33"/>
    <p:sldId id="842" r:id="rId34"/>
    <p:sldId id="824" r:id="rId35"/>
    <p:sldId id="825" r:id="rId36"/>
    <p:sldId id="844" r:id="rId37"/>
    <p:sldId id="845" r:id="rId38"/>
    <p:sldId id="846" r:id="rId39"/>
    <p:sldId id="853" r:id="rId40"/>
    <p:sldId id="854" r:id="rId41"/>
    <p:sldId id="847" r:id="rId42"/>
    <p:sldId id="852" r:id="rId43"/>
    <p:sldId id="848" r:id="rId44"/>
    <p:sldId id="699" r:id="rId45"/>
    <p:sldId id="725" r:id="rId46"/>
    <p:sldId id="710" r:id="rId47"/>
    <p:sldId id="728" r:id="rId48"/>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customXml" Target="../customXml/item4.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1/31/2016</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31.01.2016</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14</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41</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42</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31/01/2016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8.png"/><Relationship Id="rId7"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40.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0.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23.png"/><Relationship Id="rId11" Type="http://schemas.openxmlformats.org/officeDocument/2006/relationships/image" Target="../media/image67.png"/><Relationship Id="rId5" Type="http://schemas.openxmlformats.org/officeDocument/2006/relationships/image" Target="../media/image62.png"/><Relationship Id="rId10" Type="http://schemas.openxmlformats.org/officeDocument/2006/relationships/image" Target="../media/image66.png"/><Relationship Id="rId4" Type="http://schemas.openxmlformats.org/officeDocument/2006/relationships/image" Target="../media/image61.png"/><Relationship Id="rId9"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6.png"/><Relationship Id="rId7" Type="http://schemas.openxmlformats.org/officeDocument/2006/relationships/image" Target="../media/image61.png"/><Relationship Id="rId12" Type="http://schemas.openxmlformats.org/officeDocument/2006/relationships/image" Target="../media/image67.png"/><Relationship Id="rId2"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0.png"/><Relationship Id="rId5" Type="http://schemas.openxmlformats.org/officeDocument/2006/relationships/image" Target="../media/image65.png"/><Relationship Id="rId10" Type="http://schemas.openxmlformats.org/officeDocument/2006/relationships/image" Target="../media/image66.png"/><Relationship Id="rId4" Type="http://schemas.openxmlformats.org/officeDocument/2006/relationships/image" Target="../media/image77.png"/><Relationship Id="rId9"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png"/><Relationship Id="rId2" Type="http://schemas.openxmlformats.org/officeDocument/2006/relationships/image" Target="../media/image85.png"/><Relationship Id="rId1" Type="http://schemas.openxmlformats.org/officeDocument/2006/relationships/slideLayout" Target="../slideLayouts/slideLayout3.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5" Type="http://schemas.openxmlformats.org/officeDocument/2006/relationships/image" Target="../media/image9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s>
</file>

<file path=ppt/slides/_rels/slide3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3.xml"/><Relationship Id="rId5" Type="http://schemas.openxmlformats.org/officeDocument/2006/relationships/image" Target="../media/image102.png"/><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4.png"/><Relationship Id="rId7" Type="http://schemas.openxmlformats.org/officeDocument/2006/relationships/image" Target="../media/image85.png"/><Relationship Id="rId2"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102.png"/></Relationships>
</file>

<file path=ppt/slides/_rels/slide36.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2.png"/><Relationship Id="rId2" Type="http://schemas.openxmlformats.org/officeDocument/2006/relationships/image" Target="../media/image109.png"/><Relationship Id="rId1" Type="http://schemas.openxmlformats.org/officeDocument/2006/relationships/slideLayout" Target="../slideLayouts/slideLayout3.xml"/><Relationship Id="rId6" Type="http://schemas.openxmlformats.org/officeDocument/2006/relationships/image" Target="../media/image111.png"/><Relationship Id="rId5" Type="http://schemas.openxmlformats.org/officeDocument/2006/relationships/image" Target="../media/image86.png"/><Relationship Id="rId4" Type="http://schemas.openxmlformats.org/officeDocument/2006/relationships/image" Target="../media/image110.png"/></Relationships>
</file>

<file path=ppt/slides/_rels/slide37.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1.png"/><Relationship Id="rId3" Type="http://schemas.openxmlformats.org/officeDocument/2006/relationships/image" Target="../media/image87.png"/><Relationship Id="rId7" Type="http://schemas.openxmlformats.org/officeDocument/2006/relationships/image" Target="../media/image116.png"/><Relationship Id="rId12" Type="http://schemas.openxmlformats.org/officeDocument/2006/relationships/image" Target="../media/image120.png"/><Relationship Id="rId2"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115.png"/><Relationship Id="rId11" Type="http://schemas.openxmlformats.org/officeDocument/2006/relationships/image" Target="../media/image119.png"/><Relationship Id="rId5" Type="http://schemas.openxmlformats.org/officeDocument/2006/relationships/image" Target="../media/image114.png"/><Relationship Id="rId10" Type="http://schemas.openxmlformats.org/officeDocument/2006/relationships/image" Target="../media/image118.png"/><Relationship Id="rId4" Type="http://schemas.openxmlformats.org/officeDocument/2006/relationships/image" Target="../media/image107.png"/><Relationship Id="rId9" Type="http://schemas.openxmlformats.org/officeDocument/2006/relationships/image" Target="../media/image102.png"/></Relationships>
</file>

<file path=ppt/slides/_rels/slide3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3.xml"/><Relationship Id="rId4" Type="http://schemas.openxmlformats.org/officeDocument/2006/relationships/image" Target="../media/image118.png"/></Relationships>
</file>

<file path=ppt/slides/_rels/slide3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2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05.02</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Mouvements des immobilisations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a:t>
            </a:r>
            <a:r>
              <a:rPr lang="fr-FR" altLang="en-US" sz="1800" dirty="0" smtClean="0">
                <a:solidFill>
                  <a:schemeClr val="tx1"/>
                </a:solidFill>
                <a:latin typeface="Arial" charset="0"/>
              </a:rPr>
              <a:t>03.02.2016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 des différents sous-processus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601073"/>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gérer les mouvements sur les immobilisations </a:t>
            </a:r>
          </a:p>
          <a:p>
            <a:pPr eaLnBrk="0" hangingPunct="0">
              <a:spcBef>
                <a:spcPts val="225"/>
              </a:spcBef>
              <a:buClr>
                <a:srgbClr val="4F81BD"/>
              </a:buClr>
              <a:defRPr/>
            </a:pPr>
            <a:endParaRPr lang="fr-FR" sz="900" dirty="0">
              <a:solidFill>
                <a:schemeClr val="tx1"/>
              </a:solidFill>
              <a:latin typeface="Arial" pitchFamily="34" charset="0"/>
              <a:cs typeface="Arial" pitchFamily="34" charset="0"/>
            </a:endParaRPr>
          </a:p>
        </p:txBody>
      </p:sp>
      <p:sp>
        <p:nvSpPr>
          <p:cNvPr id="7" name="Rectangle 6"/>
          <p:cNvSpPr/>
          <p:nvPr/>
        </p:nvSpPr>
        <p:spPr>
          <a:xfrm>
            <a:off x="1763272" y="3689525"/>
            <a:ext cx="458985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des mouvements sur les immobilisations</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 l’amortissement des immobilisations </a:t>
            </a: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92712" y="3437457"/>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52317" y="1012639"/>
            <a:ext cx="755335" cy="300082"/>
          </a:xfrm>
          <a:prstGeom prst="rect">
            <a:avLst/>
          </a:prstGeom>
          <a:noFill/>
        </p:spPr>
        <p:txBody>
          <a:bodyPr wrap="none">
            <a:spAutoFit/>
          </a:bodyPr>
          <a:lstStyle/>
          <a:p>
            <a:pPr algn="ctr" eaLnBrk="0" hangingPunct="0">
              <a:spcBef>
                <a:spcPct val="20000"/>
              </a:spcBef>
              <a:buFont typeface="Arial" charset="0"/>
              <a:buNone/>
              <a:defRPr/>
            </a:pPr>
            <a:r>
              <a:rPr lang="fr-FR" sz="1350" b="1" dirty="0" smtClean="0">
                <a:solidFill>
                  <a:srgbClr val="4F81BD"/>
                </a:solidFill>
                <a:cs typeface="Arial" pitchFamily="34" charset="0"/>
              </a:rPr>
              <a:t>Objectif</a:t>
            </a:r>
            <a:endParaRPr lang="fr-FR" sz="1350" b="1" dirty="0">
              <a:solidFill>
                <a:srgbClr val="4F81BD"/>
              </a:solidFill>
              <a:cs typeface="Arial" pitchFamily="34" charset="0"/>
            </a:endParaRP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immobilisations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des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mouvements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La fiche de l’immobilisation subi quatre type de mouvement : </a:t>
            </a:r>
            <a:endParaRPr lang="ru-RU" dirty="0"/>
          </a:p>
          <a:p>
            <a:pPr marL="322971" lvl="1" indent="-171450">
              <a:buClr>
                <a:srgbClr val="0070C0"/>
              </a:buClr>
              <a:buSzPct val="100000"/>
            </a:pPr>
            <a:r>
              <a:rPr lang="fr-FR" dirty="0"/>
              <a:t>	L’acquisition </a:t>
            </a:r>
            <a:endParaRPr lang="ru-RU" dirty="0"/>
          </a:p>
          <a:p>
            <a:pPr marL="322971" lvl="1" indent="-171450">
              <a:buClr>
                <a:srgbClr val="0070C0"/>
              </a:buClr>
              <a:buSzPct val="100000"/>
            </a:pPr>
            <a:r>
              <a:rPr lang="fr-FR" dirty="0"/>
              <a:t>	Le transfert</a:t>
            </a:r>
            <a:endParaRPr lang="ru-RU" dirty="0"/>
          </a:p>
          <a:p>
            <a:pPr marL="322971" lvl="1" indent="-171450">
              <a:buClr>
                <a:srgbClr val="0070C0"/>
              </a:buClr>
              <a:buSzPct val="100000"/>
            </a:pPr>
            <a:r>
              <a:rPr lang="fr-FR" dirty="0"/>
              <a:t>	La cession </a:t>
            </a:r>
            <a:endParaRPr lang="ru-RU" dirty="0"/>
          </a:p>
          <a:p>
            <a:pPr marL="322971" lvl="1" indent="-171450">
              <a:buClr>
                <a:srgbClr val="0070C0"/>
              </a:buClr>
              <a:buSzPct val="100000"/>
            </a:pPr>
            <a:r>
              <a:rPr lang="fr-FR" dirty="0"/>
              <a:t>	La mise au rebut </a:t>
            </a:r>
            <a:endParaRPr lang="fr-FR" dirty="0" smtClean="0"/>
          </a:p>
          <a:p>
            <a:pPr marL="322971" lvl="1" indent="-171450">
              <a:buClr>
                <a:srgbClr val="0070C0"/>
              </a:buClr>
              <a:buSzPct val="100000"/>
            </a:pPr>
            <a:r>
              <a:rPr lang="fr-FR" dirty="0" smtClean="0"/>
              <a:t>L’enregistrement des amortissements </a:t>
            </a:r>
            <a:endParaRPr lang="ru-RU" dirty="0"/>
          </a:p>
          <a:p>
            <a:r>
              <a:rPr lang="fr-FR" dirty="0" smtClean="0"/>
              <a:t>Certains de ces mouvements </a:t>
            </a:r>
            <a:r>
              <a:rPr lang="fr-FR" dirty="0"/>
              <a:t>sont gérés à travers des codes mouvement spécifiques. </a:t>
            </a:r>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3547179238"/>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mouvements d’immobilisation : l’acquisition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t>A </a:t>
            </a:r>
            <a:r>
              <a:rPr lang="fr-FR" dirty="0"/>
              <a:t>la CBG, les acquisitions des immobilisations sont toujours effectuées à travers un projet d’investissement. </a:t>
            </a:r>
            <a:endParaRPr lang="ru-RU" dirty="0"/>
          </a:p>
          <a:p>
            <a:r>
              <a:rPr lang="fr-FR" dirty="0"/>
              <a:t>La valeur d’entrée d’une immobilisation est constituée par la somme des biens et prestations liées à sa mise en service et engagés dans le cadre du projet. </a:t>
            </a:r>
            <a:endParaRPr lang="ru-RU" dirty="0"/>
          </a:p>
          <a:p>
            <a:r>
              <a:rPr lang="fr-FR" dirty="0"/>
              <a:t>Le processus se compose de quatre étapes : </a:t>
            </a:r>
            <a:endParaRPr lang="ru-RU" dirty="0"/>
          </a:p>
          <a:p>
            <a:r>
              <a:rPr lang="fr-FR" dirty="0"/>
              <a:t>1 - Création d’une Mesure d’investissement (</a:t>
            </a:r>
            <a:r>
              <a:rPr lang="fr-FR" dirty="0" err="1"/>
              <a:t>eOTP</a:t>
            </a:r>
            <a:r>
              <a:rPr lang="fr-FR" dirty="0"/>
              <a:t>) (création automatique de la fiche de l’immobilisation encours) </a:t>
            </a:r>
            <a:endParaRPr lang="ru-RU" dirty="0"/>
          </a:p>
          <a:p>
            <a:r>
              <a:rPr lang="fr-FR" dirty="0"/>
              <a:t>2 -  Création de la commande d’achat et imputation de l’engagement sur  projet d’investissement (</a:t>
            </a:r>
            <a:r>
              <a:rPr lang="fr-FR" dirty="0" err="1"/>
              <a:t>eOTP</a:t>
            </a:r>
            <a:r>
              <a:rPr lang="fr-FR" dirty="0"/>
              <a:t>)</a:t>
            </a:r>
            <a:endParaRPr lang="ru-RU" dirty="0"/>
          </a:p>
          <a:p>
            <a:r>
              <a:rPr lang="fr-FR" dirty="0"/>
              <a:t>- Entrée de marchandises et imputation des coûts réels sur  projet d’investissement (</a:t>
            </a:r>
            <a:r>
              <a:rPr lang="fr-FR" dirty="0" err="1"/>
              <a:t>eOTP</a:t>
            </a:r>
            <a:r>
              <a:rPr lang="fr-FR" dirty="0"/>
              <a:t>)</a:t>
            </a:r>
            <a:endParaRPr lang="ru-RU" dirty="0"/>
          </a:p>
          <a:p>
            <a:r>
              <a:rPr lang="fr-FR" dirty="0"/>
              <a:t>3- Déversement des coûts réels imputés sur le projet d’investissement sur l’immobilisation encours à la fin de chaque période par le contrôle de gestion</a:t>
            </a:r>
            <a:endParaRPr lang="ru-RU" dirty="0"/>
          </a:p>
          <a:p>
            <a:r>
              <a:rPr lang="fr-FR" dirty="0"/>
              <a:t>4- Lors de la mise en service, création manuelle par le service comptabilité des fiches des immobilisations finales. </a:t>
            </a:r>
            <a:endParaRPr lang="ru-RU" dirty="0"/>
          </a:p>
          <a:p>
            <a:r>
              <a:rPr lang="fr-FR" dirty="0"/>
              <a:t>Le déversement des coûts des immobilisations encours sur les immobilisations mises en service est </a:t>
            </a:r>
            <a:r>
              <a:rPr lang="fr-FR" dirty="0" smtClean="0"/>
              <a:t>fait </a:t>
            </a:r>
            <a:r>
              <a:rPr lang="fr-FR" dirty="0"/>
              <a:t>par le service comptabilité. </a:t>
            </a:r>
            <a:endParaRPr lang="ru-RU" dirty="0"/>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spTree>
    <p:extLst>
      <p:ext uri="{BB962C8B-B14F-4D97-AF65-F5344CB8AC3E}">
        <p14:creationId xmlns:p14="http://schemas.microsoft.com/office/powerpoint/2010/main" val="163261604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61993"/>
            <a:ext cx="8229600" cy="968644"/>
          </a:xfrm>
        </p:spPr>
        <p:txBody>
          <a:bodyPr>
            <a:normAutofit fontScale="90000"/>
          </a:bodyPr>
          <a:lstStyle/>
          <a:p>
            <a:r>
              <a:rPr lang="fr-FR" altLang="en-US" sz="2700" dirty="0" smtClean="0">
                <a:cs typeface="Arial" panose="020B0604020202020204" pitchFamily="34" charset="0"/>
              </a:rPr>
              <a:t>Gestion des mouvements d’immobilisation : le transfert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Il existe plusieurs motifs de transferts : </a:t>
            </a:r>
            <a:endParaRPr lang="ru-RU" dirty="0"/>
          </a:p>
          <a:p>
            <a:r>
              <a:rPr lang="fr-FR" dirty="0"/>
              <a:t>Modification des données de la structure organisationnelle de l’immobilisation (reclassification de </a:t>
            </a:r>
            <a:r>
              <a:rPr lang="fr-FR" dirty="0" smtClean="0"/>
              <a:t>catégorie d’immobilisation, </a:t>
            </a:r>
            <a:r>
              <a:rPr lang="fr-FR" dirty="0"/>
              <a:t>changement de centre de coûts, etc.).</a:t>
            </a:r>
            <a:endParaRPr lang="ru-RU" dirty="0"/>
          </a:p>
          <a:p>
            <a:r>
              <a:rPr lang="fr-FR" dirty="0"/>
              <a:t>L’immobilisation doit être divisée, ou une partie de celle-ci doit être recréée. Par conséquent, une partie de l’immobilisation d’origine sera transférée vers une nouvelle </a:t>
            </a:r>
            <a:r>
              <a:rPr lang="fr-FR" dirty="0" smtClean="0"/>
              <a:t>immobilisation.</a:t>
            </a:r>
          </a:p>
          <a:p>
            <a:r>
              <a:rPr lang="fr-FR" dirty="0" smtClean="0"/>
              <a:t>Etc…</a:t>
            </a:r>
            <a:endParaRPr lang="ru-RU" dirty="0"/>
          </a:p>
          <a:p>
            <a:r>
              <a:rPr lang="fr-FR" dirty="0"/>
              <a:t>Suite au </a:t>
            </a:r>
            <a:r>
              <a:rPr lang="fr-FR" dirty="0" smtClean="0"/>
              <a:t>transfert, </a:t>
            </a:r>
            <a:r>
              <a:rPr lang="fr-FR" dirty="0"/>
              <a:t>la totalité des coûts d’acquisition et de production et l’amortissement cumulé (transfert complet) ou la portion spécifiée des coûts d’acquisition et de production, ainsi que l’amortissement cumulé proportionnel approprié (transfert partiel) sont transférés à l’immobilisation réceptrice.</a:t>
            </a:r>
            <a:endParaRPr lang="ru-RU" dirty="0"/>
          </a:p>
          <a:p>
            <a:r>
              <a:rPr lang="fr-FR" dirty="0">
                <a:cs typeface="Arial" panose="020B0604020202020204" pitchFamily="34" charset="0"/>
              </a:rPr>
              <a:t>	</a:t>
            </a:r>
            <a:r>
              <a:rPr lang="fr-FR" dirty="0" smtClean="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spTree>
    <p:extLst>
      <p:ext uri="{BB962C8B-B14F-4D97-AF65-F5344CB8AC3E}">
        <p14:creationId xmlns:p14="http://schemas.microsoft.com/office/powerpoint/2010/main" val="136872920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26265"/>
          </a:xfrm>
        </p:spPr>
        <p:txBody>
          <a:bodyPr>
            <a:normAutofit fontScale="90000"/>
          </a:bodyPr>
          <a:lstStyle/>
          <a:p>
            <a:r>
              <a:rPr lang="fr-FR" altLang="en-US" sz="2700" dirty="0" smtClean="0">
                <a:cs typeface="Arial" panose="020B0604020202020204" pitchFamily="34" charset="0"/>
              </a:rPr>
              <a:t>Gestion des mouvements d’immobilisation : la cession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La sortie d’une immobilisation revient au retrait de la totalité ou d’une partie de  cette immobilisation  du portefeuille d’immobilisations. Ce retrait d’un bien économique (ou d’une partie d’un bien économique) est enregistré d’un point de vue comptable comme une sortie d’immobilisation.</a:t>
            </a:r>
            <a:endParaRPr lang="ru-RU" dirty="0"/>
          </a:p>
          <a:p>
            <a:r>
              <a:rPr lang="fr-FR" dirty="0"/>
              <a:t>Dans SAP, on distinguer les types de sorties suivants :</a:t>
            </a:r>
            <a:endParaRPr lang="ru-RU" dirty="0"/>
          </a:p>
          <a:p>
            <a:r>
              <a:rPr lang="fr-FR" dirty="0"/>
              <a:t>Une immobilisation est vendue à un client et génère un produit (revenu) </a:t>
            </a:r>
            <a:endParaRPr lang="ru-RU" dirty="0"/>
          </a:p>
          <a:p>
            <a:r>
              <a:rPr lang="fr-FR" dirty="0"/>
              <a:t>Une immobilisation doit être mise au rebut, sans produit.</a:t>
            </a:r>
            <a:endParaRPr lang="ru-RU" dirty="0"/>
          </a:p>
          <a:p>
            <a:r>
              <a:rPr lang="fr-FR" dirty="0"/>
              <a:t>La sortie d’une immobilisation peut s’appliquer à la totalité d’une immobilisation (sortie complète) ou à une partie d’une immobilisation (sortie partielle). Il est possible de lancer la sortie partielle d’une immobilisation en saisissant :</a:t>
            </a:r>
            <a:endParaRPr lang="ru-RU" dirty="0"/>
          </a:p>
          <a:p>
            <a:r>
              <a:rPr lang="fr-FR" dirty="0"/>
              <a:t>le montant des coûts d’acquisition et de production sortis </a:t>
            </a:r>
            <a:r>
              <a:rPr lang="fr-FR" dirty="0" smtClean="0"/>
              <a:t>; un </a:t>
            </a:r>
            <a:r>
              <a:rPr lang="fr-FR" dirty="0"/>
              <a:t>pourcentage </a:t>
            </a:r>
            <a:r>
              <a:rPr lang="fr-FR" dirty="0" smtClean="0"/>
              <a:t>ou une </a:t>
            </a:r>
            <a:r>
              <a:rPr lang="fr-FR" dirty="0"/>
              <a:t>quantité.</a:t>
            </a:r>
            <a:endParaRPr lang="ru-RU" dirty="0"/>
          </a:p>
          <a:p>
            <a:r>
              <a:rPr lang="fr-FR" dirty="0"/>
              <a:t>La Vente d’immobilisation : L’immobilisation est vendue à un client et génère un produit </a:t>
            </a:r>
            <a:endParaRPr lang="ru-RU" i="1" dirty="0"/>
          </a:p>
          <a:p>
            <a:r>
              <a:rPr lang="fr-FR" dirty="0"/>
              <a:t>Dans le cas de la CBG, ce processus correspond à la vente des immobilisations déclassées.</a:t>
            </a:r>
            <a:endParaRPr lang="ru-RU" dirty="0"/>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spTree>
    <p:extLst>
      <p:ext uri="{BB962C8B-B14F-4D97-AF65-F5344CB8AC3E}">
        <p14:creationId xmlns:p14="http://schemas.microsoft.com/office/powerpoint/2010/main" val="269744903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mouvements d’immobilisation : la mise au rebut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La mise au rebut est une sortie d’immobilisation sans génération de produit. Lors de la sortie d’une immobilisation sans produit, le système génère une perte pour la sortie de l'immobilisation. La valeur comptable de cette perte est égale à celle de de la sortie.  </a:t>
            </a:r>
            <a:endParaRPr lang="ru-RU" dirty="0"/>
          </a:p>
          <a:p>
            <a:r>
              <a:rPr lang="fr-FR" dirty="0"/>
              <a:t>Il faut distinguer deux cas : </a:t>
            </a:r>
            <a:endParaRPr lang="ru-RU" dirty="0"/>
          </a:p>
          <a:p>
            <a:r>
              <a:rPr lang="fr-FR" dirty="0"/>
              <a:t>1/ Immobilisation complétement amortie</a:t>
            </a:r>
            <a:br>
              <a:rPr lang="fr-FR" dirty="0"/>
            </a:br>
            <a:r>
              <a:rPr lang="fr-FR" dirty="0"/>
              <a:t>2/ Immobilisation est amortie partiellement</a:t>
            </a:r>
            <a:endParaRPr lang="ru-RU" dirty="0"/>
          </a:p>
          <a:p>
            <a:r>
              <a:rPr lang="fr-FR" dirty="0"/>
              <a:t>Le système calcule la dotation « complémentaire » (correspondant aux amortissements non encore courus à la date de radiation) et l’enregistre comptablement au compte Dotation Amortissement Exceptionnel. </a:t>
            </a:r>
            <a:endParaRPr lang="ru-RU" dirty="0"/>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spTree>
    <p:extLst>
      <p:ext uri="{BB962C8B-B14F-4D97-AF65-F5344CB8AC3E}">
        <p14:creationId xmlns:p14="http://schemas.microsoft.com/office/powerpoint/2010/main" val="2275946607"/>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amortissements des </a:t>
            </a:r>
            <a:r>
              <a:rPr lang="fr-FR" altLang="en-US" sz="2700" dirty="0" smtClean="0">
                <a:cs typeface="Arial" panose="020B0604020202020204" pitchFamily="34" charset="0"/>
              </a:rPr>
              <a:t>immobilisations 1/3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cs typeface="Arial" panose="020B0604020202020204" pitchFamily="34" charset="0"/>
              </a:rPr>
              <a:t>Le mode d’amortissement pratiqué actuellement par la CBG est l’amortissement linéaire. </a:t>
            </a:r>
            <a:endParaRPr lang="ru-RU" dirty="0">
              <a:cs typeface="Arial" panose="020B0604020202020204" pitchFamily="34" charset="0"/>
            </a:endParaRPr>
          </a:p>
          <a:p>
            <a:r>
              <a:rPr lang="fr-FR" dirty="0">
                <a:cs typeface="Arial" panose="020B0604020202020204" pitchFamily="34" charset="0"/>
              </a:rPr>
              <a:t>Les amortissements seront lancés via la transaction dédiée « programme de lancement des amortissements » AFAB mensuellement.</a:t>
            </a:r>
            <a:endParaRPr lang="ru-RU" dirty="0">
              <a:cs typeface="Arial" panose="020B0604020202020204" pitchFamily="34" charset="0"/>
            </a:endParaRPr>
          </a:p>
          <a:p>
            <a:r>
              <a:rPr lang="fr-FR" dirty="0">
                <a:cs typeface="Arial" panose="020B0604020202020204" pitchFamily="34" charset="0"/>
              </a:rPr>
              <a:t>Il existe plusieurs modes de lancement en fonction du </a:t>
            </a:r>
            <a:r>
              <a:rPr lang="fr-FR" dirty="0" smtClean="0">
                <a:cs typeface="Arial" panose="020B0604020202020204" pitchFamily="34" charset="0"/>
              </a:rPr>
              <a:t>besoin</a:t>
            </a:r>
            <a:r>
              <a:rPr lang="fr-FR" dirty="0">
                <a:cs typeface="Arial" panose="020B0604020202020204" pitchFamily="34" charset="0"/>
              </a:rPr>
              <a:t> </a:t>
            </a:r>
            <a:r>
              <a:rPr lang="fr-FR" dirty="0" smtClean="0">
                <a:cs typeface="Arial" panose="020B0604020202020204" pitchFamily="34" charset="0"/>
              </a:rPr>
              <a:t>: </a:t>
            </a:r>
          </a:p>
          <a:p>
            <a:r>
              <a:rPr lang="fr-FR" b="1" dirty="0">
                <a:cs typeface="Arial" panose="020B0604020202020204" pitchFamily="34" charset="0"/>
              </a:rPr>
              <a:t>Amortissement planifié </a:t>
            </a:r>
            <a:endParaRPr lang="ru-RU" b="1" dirty="0">
              <a:cs typeface="Arial" panose="020B0604020202020204" pitchFamily="34" charset="0"/>
            </a:endParaRPr>
          </a:p>
          <a:p>
            <a:r>
              <a:rPr lang="fr-FR" dirty="0">
                <a:cs typeface="Arial" panose="020B0604020202020204" pitchFamily="34" charset="0"/>
              </a:rPr>
              <a:t>Le calcul des amortissements est déterminé en fin de période comptable. Généralement, l’amortissement est calculé automatiquement en fonction :</a:t>
            </a:r>
            <a:endParaRPr lang="ru-RU" dirty="0">
              <a:cs typeface="Arial" panose="020B0604020202020204" pitchFamily="34" charset="0"/>
            </a:endParaRPr>
          </a:p>
          <a:p>
            <a:pPr marL="322971" lvl="1" indent="-171450">
              <a:buClr>
                <a:srgbClr val="0070C0"/>
              </a:buClr>
              <a:buSzPct val="100000"/>
            </a:pPr>
            <a:r>
              <a:rPr lang="fr-FR" dirty="0" smtClean="0">
                <a:cs typeface="Arial" panose="020B0604020202020204" pitchFamily="34" charset="0"/>
              </a:rPr>
              <a:t> </a:t>
            </a:r>
            <a:r>
              <a:rPr lang="fr-FR" dirty="0"/>
              <a:t>Des données d’amortissement contenues dans la fiche </a:t>
            </a:r>
            <a:r>
              <a:rPr lang="fr-FR" dirty="0" err="1"/>
              <a:t>immo</a:t>
            </a:r>
            <a:r>
              <a:rPr lang="fr-FR" dirty="0"/>
              <a:t>. : Modes d’amortissement (méthodes et durée d’amortissement </a:t>
            </a:r>
            <a:r>
              <a:rPr lang="fr-FR" dirty="0" smtClean="0"/>
              <a:t>  	comptable </a:t>
            </a:r>
            <a:r>
              <a:rPr lang="fr-FR" dirty="0"/>
              <a:t>et fiscal) et date de mise en service,</a:t>
            </a:r>
            <a:endParaRPr lang="ru-RU" dirty="0"/>
          </a:p>
          <a:p>
            <a:pPr marL="322971" lvl="1" indent="-171450">
              <a:buClr>
                <a:srgbClr val="0070C0"/>
              </a:buClr>
              <a:buSzPct val="100000"/>
            </a:pPr>
            <a:r>
              <a:rPr lang="fr-FR" dirty="0"/>
              <a:t> De la valeur de la fiche </a:t>
            </a:r>
            <a:r>
              <a:rPr lang="fr-FR" dirty="0" err="1" smtClean="0"/>
              <a:t>immo</a:t>
            </a:r>
            <a:r>
              <a:rPr lang="fr-FR" dirty="0" smtClean="0"/>
              <a:t>. </a:t>
            </a:r>
            <a:r>
              <a:rPr lang="fr-FR" dirty="0"/>
              <a:t>(qui résulte des acquisitions, sorties et transferts effectués sur cette </a:t>
            </a:r>
            <a:r>
              <a:rPr lang="fr-FR" dirty="0" err="1"/>
              <a:t>immo</a:t>
            </a:r>
            <a:r>
              <a:rPr lang="fr-FR" dirty="0"/>
              <a:t>).</a:t>
            </a:r>
            <a:endParaRPr lang="ru-RU"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spTree>
    <p:extLst>
      <p:ext uri="{BB962C8B-B14F-4D97-AF65-F5344CB8AC3E}">
        <p14:creationId xmlns:p14="http://schemas.microsoft.com/office/powerpoint/2010/main" val="2358452014"/>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amortissements des immobilisations </a:t>
            </a:r>
            <a:r>
              <a:rPr lang="fr-FR" altLang="en-US" sz="2700" dirty="0" smtClean="0">
                <a:cs typeface="Arial" panose="020B0604020202020204" pitchFamily="34" charset="0"/>
              </a:rPr>
              <a:t> 2/3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b="1" dirty="0"/>
              <a:t>Amortissement  non planifié</a:t>
            </a:r>
            <a:endParaRPr lang="ru-RU" b="1" dirty="0"/>
          </a:p>
          <a:p>
            <a:r>
              <a:rPr lang="fr-FR" dirty="0"/>
              <a:t>Il est possible de saisir un montant spécifique d'amortissement à passer sur une fiche immobilisation. En termes SAP, cet amortissement est nommé « Amortissement non planifié » et se produit dans des circonstances inhabituelles, notamment en cas de dommages constatés sur une immobilisation, entraînant une diminution permanente de sa valeur.</a:t>
            </a:r>
            <a:endParaRPr lang="ru-RU" dirty="0"/>
          </a:p>
          <a:p>
            <a:r>
              <a:rPr lang="fr-FR" dirty="0"/>
              <a:t>L’amortissement non planifié s’ajoute à l’ amortissement pour dépréciation automatiquement déterminé.</a:t>
            </a:r>
            <a:endParaRPr lang="ru-RU" dirty="0"/>
          </a:p>
          <a:p>
            <a:r>
              <a:rPr lang="fr-FR" b="1" dirty="0" smtClean="0"/>
              <a:t>Amortissement en mode répétition </a:t>
            </a:r>
            <a:endParaRPr lang="ru-RU" b="1" dirty="0"/>
          </a:p>
          <a:p>
            <a:r>
              <a:rPr lang="fr-FR" dirty="0"/>
              <a:t>Il s’agit d’une répétition du programme d'enregistrement des amortissements.</a:t>
            </a:r>
            <a:endParaRPr lang="ru-RU" dirty="0"/>
          </a:p>
          <a:p>
            <a:r>
              <a:rPr lang="fr-FR" dirty="0"/>
              <a:t>Une telle répétition est admise par le système au sein de la période comptabilisée en dernier. Contrairement au premier lancement du programme dans une période, la répétition peut être limitée à certaines immobilisations. Le système détermine et enregistre alors la différence que présente le montant d'amortissement par rapport à la première exécution du programme.</a:t>
            </a:r>
            <a:endParaRPr lang="ru-RU" dirty="0"/>
          </a:p>
          <a:p>
            <a:r>
              <a:rPr lang="fr-FR" dirty="0"/>
              <a:t>En règle générale, une répétition de programme s'effectue à la fin de l'exercice, lorsque des corrections de l'amortissement manuel ou des modifications de paramètres d'amortissement obligent à passer des écritures de rectification.</a:t>
            </a:r>
            <a:endParaRPr lang="ru-RU"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spTree>
    <p:extLst>
      <p:ext uri="{BB962C8B-B14F-4D97-AF65-F5344CB8AC3E}">
        <p14:creationId xmlns:p14="http://schemas.microsoft.com/office/powerpoint/2010/main" val="3331006785"/>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amortissements des </a:t>
            </a:r>
            <a:r>
              <a:rPr lang="fr-FR" altLang="en-US" sz="2700" dirty="0" smtClean="0">
                <a:cs typeface="Arial" panose="020B0604020202020204" pitchFamily="34" charset="0"/>
              </a:rPr>
              <a:t>immobilisations 3/3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875654"/>
            <a:ext cx="8246571" cy="3611105"/>
          </a:xfrm>
        </p:spPr>
        <p:txBody>
          <a:bodyPr/>
          <a:lstStyle/>
          <a:p>
            <a:r>
              <a:rPr lang="fr-FR" b="1" dirty="0"/>
              <a:t>Amortissement en mode </a:t>
            </a:r>
            <a:r>
              <a:rPr lang="fr-FR" b="1" dirty="0" smtClean="0"/>
              <a:t>reprise</a:t>
            </a:r>
          </a:p>
          <a:p>
            <a:r>
              <a:rPr lang="fr-FR" dirty="0">
                <a:cs typeface="Arial" panose="020B0604020202020204" pitchFamily="34" charset="0"/>
              </a:rPr>
              <a:t>La comptabilisation de l'amortissement s'effectue en plusieurs étapes, l'état actuel de chaque étape étant enregistré dans un protocole. Si le programme de comptabilisation devait être interrompu en cours de cycle, il faudrait le relancer en mode redémarrage pour corriger d'éventuelles incohérences sur la base de données.</a:t>
            </a:r>
            <a:endParaRPr lang="ru-RU" dirty="0">
              <a:cs typeface="Arial" panose="020B0604020202020204" pitchFamily="34" charset="0"/>
            </a:endParaRPr>
          </a:p>
          <a:p>
            <a:r>
              <a:rPr lang="fr-FR" dirty="0">
                <a:cs typeface="Arial" panose="020B0604020202020204" pitchFamily="34" charset="0"/>
              </a:rPr>
              <a:t>Le redémarrage ne s'effectue que dans certains cas et ne peut pas être lancé en mode test.</a:t>
            </a:r>
            <a:endParaRPr lang="ru-RU" dirty="0">
              <a:cs typeface="Arial" panose="020B0604020202020204" pitchFamily="34" charset="0"/>
            </a:endParaRPr>
          </a:p>
          <a:p>
            <a:r>
              <a:rPr lang="fr-FR" b="1" dirty="0" smtClean="0">
                <a:cs typeface="Arial" panose="020B0604020202020204" pitchFamily="34" charset="0"/>
              </a:rPr>
              <a:t> </a:t>
            </a:r>
            <a:r>
              <a:rPr lang="fr-FR" dirty="0" smtClean="0">
                <a:cs typeface="Arial" panose="020B0604020202020204" pitchFamily="34" charset="0"/>
              </a:rPr>
              <a:t>Dépréciation annuelle : 				L’amoindrissement de la valeur d’un élément de l’actif résultant de causes dont les </a:t>
            </a:r>
          </a:p>
          <a:p>
            <a:r>
              <a:rPr lang="fr-FR" dirty="0">
                <a:cs typeface="Arial" panose="020B0604020202020204" pitchFamily="34" charset="0"/>
              </a:rPr>
              <a:t>	</a:t>
            </a:r>
            <a:r>
              <a:rPr lang="fr-FR" dirty="0" smtClean="0">
                <a:cs typeface="Arial" panose="020B0604020202020204" pitchFamily="34" charset="0"/>
              </a:rPr>
              <a:t>						effets ne sont pas jugés irréversibles est constaté par une provision pour dépréciation.</a:t>
            </a:r>
          </a:p>
          <a:p>
            <a:r>
              <a:rPr lang="fr-FR" dirty="0">
                <a:cs typeface="Arial" panose="020B0604020202020204" pitchFamily="34" charset="0"/>
              </a:rPr>
              <a:t>	</a:t>
            </a:r>
            <a:r>
              <a:rPr lang="fr-FR" dirty="0" smtClean="0">
                <a:cs typeface="Arial" panose="020B0604020202020204" pitchFamily="34" charset="0"/>
              </a:rPr>
              <a:t>						Les opérations de dépréciations peuvent concerner un élément particulier de l’actif ou</a:t>
            </a:r>
          </a:p>
          <a:p>
            <a:r>
              <a:rPr lang="fr-FR" dirty="0">
                <a:cs typeface="Arial" panose="020B0604020202020204" pitchFamily="34" charset="0"/>
              </a:rPr>
              <a:t>	</a:t>
            </a:r>
            <a:r>
              <a:rPr lang="fr-FR" dirty="0" smtClean="0">
                <a:cs typeface="Arial" panose="020B0604020202020204" pitchFamily="34" charset="0"/>
              </a:rPr>
              <a:t>						l’ensemble d’une catégorie. Elles ne constituent pas des opérations courantes.</a:t>
            </a:r>
          </a:p>
          <a:p>
            <a:r>
              <a:rPr lang="fr-FR" dirty="0">
                <a:cs typeface="Arial" panose="020B0604020202020204" pitchFamily="34" charset="0"/>
              </a:rPr>
              <a:t>	</a:t>
            </a:r>
            <a:r>
              <a:rPr lang="fr-FR" dirty="0" smtClean="0">
                <a:cs typeface="Arial" panose="020B0604020202020204" pitchFamily="34" charset="0"/>
              </a:rPr>
              <a:t>						Dès que les motifs de la dépréciation n’existent plus, vous devez normalement annuler</a:t>
            </a:r>
          </a:p>
          <a:p>
            <a:r>
              <a:rPr lang="fr-FR" dirty="0">
                <a:cs typeface="Arial" panose="020B0604020202020204" pitchFamily="34" charset="0"/>
              </a:rPr>
              <a:t>	</a:t>
            </a:r>
            <a:r>
              <a:rPr lang="fr-FR" dirty="0" smtClean="0">
                <a:cs typeface="Arial" panose="020B0604020202020204" pitchFamily="34" charset="0"/>
              </a:rPr>
              <a:t>						la dépréciation en contrepartie d’un compte de reprise de dépréciation.   </a:t>
            </a:r>
          </a:p>
          <a:p>
            <a:endParaRPr lang="fr-FR" b="1" dirty="0" smtClean="0"/>
          </a:p>
          <a:p>
            <a:endParaRPr lang="ru-RU" b="1"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486428"/>
            <a:ext cx="2604361" cy="1814352"/>
          </a:xfrm>
          <a:prstGeom prst="rect">
            <a:avLst/>
          </a:prstGeom>
        </p:spPr>
      </p:pic>
    </p:spTree>
    <p:extLst>
      <p:ext uri="{BB962C8B-B14F-4D97-AF65-F5344CB8AC3E}">
        <p14:creationId xmlns:p14="http://schemas.microsoft.com/office/powerpoint/2010/main" val="167036478"/>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14</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15</a:t>
            </a:fld>
            <a:endParaRPr lang="fr-FR" altLang="en-US">
              <a:solidFill>
                <a:srgbClr val="4D4F53"/>
              </a:solidFill>
            </a:endParaRPr>
          </a:p>
        </p:txBody>
      </p:sp>
      <p:grpSp>
        <p:nvGrpSpPr>
          <p:cNvPr id="49" name="Groupe 48"/>
          <p:cNvGrpSpPr/>
          <p:nvPr/>
        </p:nvGrpSpPr>
        <p:grpSpPr>
          <a:xfrm>
            <a:off x="457199" y="2183975"/>
            <a:ext cx="1418096"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prstClr val="white"/>
                  </a:solidFill>
                  <a:latin typeface="Arial" pitchFamily="34" charset="0"/>
                  <a:cs typeface="Arial" pitchFamily="34" charset="0"/>
                </a:rPr>
                <a:t>Modification de la fiche d’immobilisation </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prstClr val="white"/>
                  </a:solidFill>
                  <a:latin typeface="Arial" panose="020B0604020202020204" pitchFamily="34" charset="0"/>
                  <a:cs typeface="Arial" panose="020B0604020202020204" pitchFamily="34" charset="0"/>
                </a:rPr>
                <a:t>AS02</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Immobilisation</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662514" y="2133895"/>
            <a:ext cx="1364619"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prstClr val="white"/>
                  </a:solidFill>
                  <a:latin typeface="Arial" pitchFamily="34" charset="0"/>
                  <a:cs typeface="Arial" pitchFamily="34" charset="0"/>
                </a:rPr>
                <a:t>Transfert d’une immobilisation </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prstClr val="white"/>
                  </a:solidFill>
                  <a:latin typeface="Arial" panose="020B0604020202020204" pitchFamily="34" charset="0"/>
                  <a:cs typeface="Arial" panose="020B0604020202020204" pitchFamily="34" charset="0"/>
                </a:rPr>
                <a:t>ABUMN</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Immobilisation</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572000" y="2133895"/>
            <a:ext cx="1389287"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prstClr val="white"/>
                  </a:solidFill>
                  <a:latin typeface="Arial" pitchFamily="34" charset="0"/>
                  <a:cs typeface="Arial" pitchFamily="34" charset="0"/>
                </a:rPr>
                <a:t>Mise au rebut d’une immobilisation </a:t>
              </a:r>
              <a:endParaRPr lang="en-US" sz="800" dirty="0">
                <a:solidFill>
                  <a:prstClr val="white"/>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prstClr val="white"/>
                  </a:solidFill>
                  <a:latin typeface="Arial" panose="020B0604020202020204" pitchFamily="34" charset="0"/>
                  <a:cs typeface="Arial" panose="020B0604020202020204" pitchFamily="34" charset="0"/>
                </a:rPr>
                <a:t>ABAVN</a:t>
              </a:r>
              <a:endParaRPr lang="en-US" sz="800" b="1" dirty="0">
                <a:solidFill>
                  <a:prstClr val="white"/>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Immobilisation</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58" name="Groupe 57"/>
          <p:cNvGrpSpPr/>
          <p:nvPr/>
        </p:nvGrpSpPr>
        <p:grpSpPr>
          <a:xfrm>
            <a:off x="6495271" y="2132456"/>
            <a:ext cx="1396814" cy="754857"/>
            <a:chOff x="1503521" y="2276353"/>
            <a:chExt cx="1262526" cy="754857"/>
          </a:xfrm>
        </p:grpSpPr>
        <p:sp>
          <p:nvSpPr>
            <p:cNvPr id="59" name="Rectangle 58"/>
            <p:cNvSpPr/>
            <p:nvPr/>
          </p:nvSpPr>
          <p:spPr>
            <a:xfrm>
              <a:off x="1503521" y="2276353"/>
              <a:ext cx="1260397"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Enregistrement des amortissements </a:t>
              </a:r>
              <a:endParaRPr lang="en-US" sz="800" dirty="0">
                <a:solidFill>
                  <a:prstClr val="white"/>
                </a:solidFill>
                <a:latin typeface="Arial" pitchFamily="34" charset="0"/>
                <a:cs typeface="Arial" pitchFamily="34" charset="0"/>
              </a:endParaRPr>
            </a:p>
          </p:txBody>
        </p:sp>
        <p:sp>
          <p:nvSpPr>
            <p:cNvPr id="60" name="Rectangle 59"/>
            <p:cNvSpPr/>
            <p:nvPr/>
          </p:nvSpPr>
          <p:spPr>
            <a:xfrm>
              <a:off x="1505650"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AFAB</a:t>
              </a:r>
              <a:endParaRPr lang="en-US" sz="800" b="1" dirty="0">
                <a:solidFill>
                  <a:prstClr val="white"/>
                </a:solidFill>
                <a:latin typeface="Arial" panose="020B0604020202020204" pitchFamily="34" charset="0"/>
                <a:cs typeface="Arial" panose="020B0604020202020204" pitchFamily="34" charset="0"/>
              </a:endParaRPr>
            </a:p>
          </p:txBody>
        </p:sp>
        <p:sp>
          <p:nvSpPr>
            <p:cNvPr id="61" name="Rectangle 6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Immobilisation</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85240" y="3302957"/>
            <a:ext cx="1170533" cy="1249788"/>
          </a:xfrm>
          <a:prstGeom prst="rect">
            <a:avLst/>
          </a:prstGeom>
        </p:spPr>
      </p:pic>
    </p:spTree>
    <p:extLst>
      <p:ext uri="{BB962C8B-B14F-4D97-AF65-F5344CB8AC3E}">
        <p14:creationId xmlns:p14="http://schemas.microsoft.com/office/powerpoint/2010/main" val="2426664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 modification de la fiche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 modification de la fiche immobilisation se fait via la transaction AS02 Depuis le menu SAP : Gestion Comptable / Immobilisation / Immobilisation / Modifier</a:t>
            </a:r>
          </a:p>
          <a:p>
            <a:r>
              <a:rPr lang="fr-FR" dirty="0" smtClean="0">
                <a:cs typeface="Arial" panose="020B0604020202020204" pitchFamily="34" charset="0"/>
              </a:rPr>
              <a:t>Les comptables en charge des immobilisations peuvent être amenés à procéder à des modifications sur la fiche d’immobilisation avant sa mise en service. </a:t>
            </a:r>
          </a:p>
          <a:p>
            <a:r>
              <a:rPr lang="fr-FR" dirty="0" smtClean="0">
                <a:cs typeface="Arial" panose="020B0604020202020204" pitchFamily="34" charset="0"/>
              </a:rPr>
              <a:t>Lancer la transaction AS02 : 			        Renseigner le numéro de l’immobilisation</a:t>
            </a:r>
          </a:p>
          <a:p>
            <a:r>
              <a:rPr lang="fr-FR" dirty="0">
                <a:cs typeface="Arial" panose="020B0604020202020204" pitchFamily="34" charset="0"/>
              </a:rPr>
              <a:t>	</a:t>
            </a:r>
            <a:r>
              <a:rPr lang="fr-FR" dirty="0" smtClean="0">
                <a:cs typeface="Arial" panose="020B0604020202020204" pitchFamily="34" charset="0"/>
              </a:rPr>
              <a:t>						        En fonction de la donnée à modifier, cliquer sur le pavé correspondant </a:t>
            </a:r>
          </a:p>
          <a:p>
            <a:r>
              <a:rPr lang="fr-FR" dirty="0">
                <a:cs typeface="Arial" panose="020B0604020202020204" pitchFamily="34" charset="0"/>
              </a:rPr>
              <a:t>	</a:t>
            </a:r>
            <a:r>
              <a:rPr lang="fr-FR" dirty="0" smtClean="0">
                <a:cs typeface="Arial" panose="020B0604020202020204" pitchFamily="34" charset="0"/>
              </a:rPr>
              <a:t>						        Procéder à la modification puis sauvegarder votre saisie en cliquant sur la disquette.</a:t>
            </a: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378990"/>
            <a:ext cx="2409846" cy="2103006"/>
          </a:xfrm>
          <a:prstGeom prst="rect">
            <a:avLst/>
          </a:prstGeom>
        </p:spPr>
      </p:pic>
      <p:pic>
        <p:nvPicPr>
          <p:cNvPr id="4" name="Image 3"/>
          <p:cNvPicPr>
            <a:picLocks noChangeAspect="1"/>
          </p:cNvPicPr>
          <p:nvPr/>
        </p:nvPicPr>
        <p:blipFill>
          <a:blip r:embed="rId3"/>
          <a:stretch>
            <a:fillRect/>
          </a:stretch>
        </p:blipFill>
        <p:spPr>
          <a:xfrm>
            <a:off x="3292911" y="2164875"/>
            <a:ext cx="310923" cy="353599"/>
          </a:xfrm>
          <a:prstGeom prst="rect">
            <a:avLst/>
          </a:prstGeom>
        </p:spPr>
      </p:pic>
      <p:pic>
        <p:nvPicPr>
          <p:cNvPr id="5" name="Image 4"/>
          <p:cNvPicPr>
            <a:picLocks noChangeAspect="1"/>
          </p:cNvPicPr>
          <p:nvPr/>
        </p:nvPicPr>
        <p:blipFill>
          <a:blip r:embed="rId4"/>
          <a:stretch>
            <a:fillRect/>
          </a:stretch>
        </p:blipFill>
        <p:spPr>
          <a:xfrm>
            <a:off x="1944558" y="3872193"/>
            <a:ext cx="310923" cy="353599"/>
          </a:xfrm>
          <a:prstGeom prst="rect">
            <a:avLst/>
          </a:prstGeom>
        </p:spPr>
      </p:pic>
      <p:pic>
        <p:nvPicPr>
          <p:cNvPr id="6" name="Image 5"/>
          <p:cNvPicPr>
            <a:picLocks noChangeAspect="1"/>
          </p:cNvPicPr>
          <p:nvPr/>
        </p:nvPicPr>
        <p:blipFill>
          <a:blip r:embed="rId5"/>
          <a:stretch>
            <a:fillRect/>
          </a:stretch>
        </p:blipFill>
        <p:spPr>
          <a:xfrm>
            <a:off x="3292910" y="2518473"/>
            <a:ext cx="310923" cy="353599"/>
          </a:xfrm>
          <a:prstGeom prst="rect">
            <a:avLst/>
          </a:prstGeom>
        </p:spPr>
      </p:pic>
      <p:pic>
        <p:nvPicPr>
          <p:cNvPr id="13" name="Image 12"/>
          <p:cNvPicPr>
            <a:picLocks noChangeAspect="1"/>
          </p:cNvPicPr>
          <p:nvPr/>
        </p:nvPicPr>
        <p:blipFill>
          <a:blip r:embed="rId6"/>
          <a:stretch>
            <a:fillRect/>
          </a:stretch>
        </p:blipFill>
        <p:spPr>
          <a:xfrm>
            <a:off x="737667" y="3264627"/>
            <a:ext cx="630512" cy="185920"/>
          </a:xfrm>
          <a:prstGeom prst="rect">
            <a:avLst/>
          </a:prstGeom>
        </p:spPr>
      </p:pic>
      <p:pic>
        <p:nvPicPr>
          <p:cNvPr id="14" name="Image 13"/>
          <p:cNvPicPr>
            <a:picLocks noChangeAspect="1"/>
          </p:cNvPicPr>
          <p:nvPr/>
        </p:nvPicPr>
        <p:blipFill>
          <a:blip r:embed="rId7"/>
          <a:stretch>
            <a:fillRect/>
          </a:stretch>
        </p:blipFill>
        <p:spPr>
          <a:xfrm>
            <a:off x="1364545" y="3264627"/>
            <a:ext cx="735474" cy="188992"/>
          </a:xfrm>
          <a:prstGeom prst="rect">
            <a:avLst/>
          </a:prstGeom>
        </p:spPr>
      </p:pic>
      <p:pic>
        <p:nvPicPr>
          <p:cNvPr id="17" name="Image 16"/>
          <p:cNvPicPr>
            <a:picLocks noChangeAspect="1"/>
          </p:cNvPicPr>
          <p:nvPr/>
        </p:nvPicPr>
        <p:blipFill>
          <a:blip r:embed="rId8"/>
          <a:stretch>
            <a:fillRect/>
          </a:stretch>
        </p:blipFill>
        <p:spPr>
          <a:xfrm>
            <a:off x="3727341" y="3262392"/>
            <a:ext cx="3246895" cy="1219603"/>
          </a:xfrm>
          <a:prstGeom prst="rect">
            <a:avLst/>
          </a:prstGeom>
        </p:spPr>
      </p:pic>
      <p:pic>
        <p:nvPicPr>
          <p:cNvPr id="18" name="Image 17"/>
          <p:cNvPicPr>
            <a:picLocks noChangeAspect="1"/>
          </p:cNvPicPr>
          <p:nvPr/>
        </p:nvPicPr>
        <p:blipFill>
          <a:blip r:embed="rId9"/>
          <a:stretch>
            <a:fillRect/>
          </a:stretch>
        </p:blipFill>
        <p:spPr>
          <a:xfrm>
            <a:off x="4936099" y="3262393"/>
            <a:ext cx="170703" cy="182896"/>
          </a:xfrm>
          <a:prstGeom prst="rect">
            <a:avLst/>
          </a:prstGeom>
        </p:spPr>
      </p:pic>
      <p:cxnSp>
        <p:nvCxnSpPr>
          <p:cNvPr id="24" name="Connecteur droit avec flèche 23"/>
          <p:cNvCxnSpPr/>
          <p:nvPr/>
        </p:nvCxnSpPr>
        <p:spPr>
          <a:xfrm flipV="1">
            <a:off x="776410" y="2662965"/>
            <a:ext cx="2595964" cy="627681"/>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6" name="Connecteur droit avec flèche 25"/>
          <p:cNvCxnSpPr/>
          <p:nvPr/>
        </p:nvCxnSpPr>
        <p:spPr>
          <a:xfrm flipV="1">
            <a:off x="1549831" y="2750949"/>
            <a:ext cx="1898540" cy="513678"/>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fontScale="90000"/>
          </a:bodyPr>
          <a:lstStyle/>
          <a:p>
            <a:r>
              <a:rPr lang="fr-FR" altLang="en-US" sz="2400" dirty="0">
                <a:cs typeface="Arial" panose="020B0604020202020204" pitchFamily="34" charset="0"/>
              </a:rPr>
              <a:t>Mode opératoire </a:t>
            </a:r>
            <a:r>
              <a:rPr lang="fr-FR" altLang="en-US" sz="2400" dirty="0" smtClean="0">
                <a:cs typeface="Arial" panose="020B0604020202020204" pitchFamily="34" charset="0"/>
              </a:rPr>
              <a:t>fiche immobilisation : transfert d’immobilisation 1/5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Affichage de la fiche </a:t>
            </a:r>
            <a:r>
              <a:rPr lang="fr-FR" dirty="0" err="1" smtClean="0">
                <a:cs typeface="Arial" panose="020B0604020202020204" pitchFamily="34" charset="0"/>
              </a:rPr>
              <a:t>immo</a:t>
            </a:r>
            <a:r>
              <a:rPr lang="fr-FR" dirty="0" smtClean="0">
                <a:cs typeface="Arial" panose="020B0604020202020204" pitchFamily="34" charset="0"/>
              </a:rPr>
              <a:t> avant le transfert :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68452"/>
            <a:ext cx="3817105" cy="3113544"/>
          </a:xfrm>
          <a:prstGeom prst="rect">
            <a:avLst/>
          </a:prstGeom>
        </p:spPr>
      </p:pic>
      <p:pic>
        <p:nvPicPr>
          <p:cNvPr id="4" name="Image 3"/>
          <p:cNvPicPr>
            <a:picLocks noChangeAspect="1"/>
          </p:cNvPicPr>
          <p:nvPr/>
        </p:nvPicPr>
        <p:blipFill>
          <a:blip r:embed="rId3"/>
          <a:stretch>
            <a:fillRect/>
          </a:stretch>
        </p:blipFill>
        <p:spPr>
          <a:xfrm>
            <a:off x="4432515" y="1368452"/>
            <a:ext cx="4345802" cy="3113544"/>
          </a:xfrm>
          <a:prstGeom prst="rect">
            <a:avLst/>
          </a:prstGeom>
        </p:spPr>
      </p:pic>
    </p:spTree>
    <p:extLst>
      <p:ext uri="{BB962C8B-B14F-4D97-AF65-F5344CB8AC3E}">
        <p14:creationId xmlns:p14="http://schemas.microsoft.com/office/powerpoint/2010/main" val="755958497"/>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fontScale="90000"/>
          </a:bodyPr>
          <a:lstStyle/>
          <a:p>
            <a:r>
              <a:rPr lang="fr-FR" altLang="en-US" sz="2400" dirty="0">
                <a:cs typeface="Arial" panose="020B0604020202020204" pitchFamily="34" charset="0"/>
              </a:rPr>
              <a:t>Mode opératoire fiche immobilisation : transfert d’immobilisation </a:t>
            </a:r>
            <a:r>
              <a:rPr lang="fr-FR" altLang="en-US" sz="2400" dirty="0" smtClean="0">
                <a:cs typeface="Arial" panose="020B0604020202020204" pitchFamily="34" charset="0"/>
              </a:rPr>
              <a:t>2/5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Lancer la </a:t>
            </a:r>
            <a:r>
              <a:rPr lang="fr-FR" dirty="0">
                <a:cs typeface="Arial" panose="020B0604020202020204" pitchFamily="34" charset="0"/>
              </a:rPr>
              <a:t>transaction </a:t>
            </a:r>
            <a:r>
              <a:rPr lang="fr-FR" dirty="0" smtClean="0">
                <a:cs typeface="Arial" panose="020B0604020202020204" pitchFamily="34" charset="0"/>
              </a:rPr>
              <a:t>ABUMN : Saisir mouvement d’immobilisation : Transfert interne à la société</a:t>
            </a:r>
          </a:p>
          <a:p>
            <a:r>
              <a:rPr lang="fr-FR" dirty="0" smtClean="0">
                <a:cs typeface="Arial" panose="020B0604020202020204" pitchFamily="34" charset="0"/>
              </a:rPr>
              <a:t>Ce transfert sera fait vers une nouvelle </a:t>
            </a:r>
            <a:r>
              <a:rPr lang="fr-FR" dirty="0" err="1" smtClean="0">
                <a:cs typeface="Arial" panose="020B0604020202020204" pitchFamily="34" charset="0"/>
              </a:rPr>
              <a:t>immo</a:t>
            </a:r>
            <a:r>
              <a:rPr lang="fr-FR" dirty="0" smtClean="0">
                <a:cs typeface="Arial" panose="020B0604020202020204" pitchFamily="34" charset="0"/>
              </a:rPr>
              <a:t> d’une catégorie différente de celle de l’</a:t>
            </a:r>
            <a:r>
              <a:rPr lang="fr-FR" dirty="0" err="1" smtClean="0">
                <a:cs typeface="Arial" panose="020B0604020202020204" pitchFamily="34" charset="0"/>
              </a:rPr>
              <a:t>immo</a:t>
            </a:r>
            <a:r>
              <a:rPr lang="fr-FR" dirty="0" smtClean="0">
                <a:cs typeface="Arial" panose="020B0604020202020204" pitchFamily="34" charset="0"/>
              </a:rPr>
              <a:t> d’origine et aussi d’un centre de coût différent.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Renseigner le 1</a:t>
            </a:r>
            <a:r>
              <a:rPr lang="fr-FR" baseline="30000" dirty="0">
                <a:cs typeface="Arial" panose="020B0604020202020204" pitchFamily="34" charset="0"/>
              </a:rPr>
              <a:t>er</a:t>
            </a:r>
            <a:r>
              <a:rPr lang="fr-FR" dirty="0">
                <a:cs typeface="Arial" panose="020B0604020202020204" pitchFamily="34" charset="0"/>
              </a:rPr>
              <a:t> </a:t>
            </a:r>
            <a:r>
              <a:rPr lang="fr-FR" dirty="0" smtClean="0">
                <a:cs typeface="Arial" panose="020B0604020202020204" pitchFamily="34" charset="0"/>
              </a:rPr>
              <a:t>onglet</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 les dates : la date de référence est la date de valeur pour la comptabilité</a:t>
            </a:r>
          </a:p>
          <a:p>
            <a:r>
              <a:rPr lang="fr-FR" dirty="0">
                <a:cs typeface="Arial" panose="020B0604020202020204" pitchFamily="34" charset="0"/>
              </a:rPr>
              <a:t>	</a:t>
            </a:r>
            <a:r>
              <a:rPr lang="fr-FR" dirty="0" smtClean="0">
                <a:cs typeface="Arial" panose="020B0604020202020204" pitchFamily="34" charset="0"/>
              </a:rPr>
              <a:t>								- Mettre un texte </a:t>
            </a:r>
          </a:p>
          <a:p>
            <a:r>
              <a:rPr lang="fr-FR" dirty="0">
                <a:cs typeface="Arial" panose="020B0604020202020204" pitchFamily="34" charset="0"/>
              </a:rPr>
              <a:t>	</a:t>
            </a:r>
            <a:r>
              <a:rPr lang="fr-FR" dirty="0" smtClean="0">
                <a:cs typeface="Arial" panose="020B0604020202020204" pitchFamily="34" charset="0"/>
              </a:rPr>
              <a:t>								- cocher Nouvelle immobilisation (pour répondre à notre cas) </a:t>
            </a:r>
          </a:p>
          <a:p>
            <a:r>
              <a:rPr lang="fr-FR" dirty="0">
                <a:cs typeface="Arial" panose="020B0604020202020204" pitchFamily="34" charset="0"/>
              </a:rPr>
              <a:t>	</a:t>
            </a:r>
            <a:r>
              <a:rPr lang="fr-FR" dirty="0" smtClean="0">
                <a:cs typeface="Arial" panose="020B0604020202020204" pitchFamily="34" charset="0"/>
              </a:rPr>
              <a:t>								- Renseigner une nouvelle catégorie d’</a:t>
            </a:r>
            <a:r>
              <a:rPr lang="fr-FR" dirty="0" err="1" smtClean="0">
                <a:cs typeface="Arial" panose="020B0604020202020204" pitchFamily="34" charset="0"/>
              </a:rPr>
              <a:t>immo</a:t>
            </a:r>
            <a:r>
              <a:rPr lang="fr-FR" dirty="0" smtClean="0">
                <a:cs typeface="Arial" panose="020B0604020202020204" pitchFamily="34" charset="0"/>
              </a:rPr>
              <a:t>. et un nouveau centre de coût</a:t>
            </a:r>
          </a:p>
          <a:p>
            <a:r>
              <a:rPr lang="fr-FR" dirty="0">
                <a:cs typeface="Arial" panose="020B0604020202020204" pitchFamily="34" charset="0"/>
              </a:rPr>
              <a:t>	</a:t>
            </a:r>
            <a:r>
              <a:rPr lang="fr-FR" dirty="0" smtClean="0">
                <a:cs typeface="Arial" panose="020B0604020202020204" pitchFamily="34" charset="0"/>
              </a:rPr>
              <a:t>								(pour répondre à notre cas). Passer à l’onglet suivant. 	 </a:t>
            </a:r>
          </a:p>
          <a:p>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18</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80" y="1766807"/>
            <a:ext cx="2713815" cy="2657959"/>
          </a:xfrm>
          <a:prstGeom prst="rect">
            <a:avLst/>
          </a:prstGeom>
        </p:spPr>
      </p:pic>
      <p:pic>
        <p:nvPicPr>
          <p:cNvPr id="3" name="Image 2"/>
          <p:cNvPicPr>
            <a:picLocks noChangeAspect="1"/>
          </p:cNvPicPr>
          <p:nvPr/>
        </p:nvPicPr>
        <p:blipFill>
          <a:blip r:embed="rId3"/>
          <a:stretch>
            <a:fillRect/>
          </a:stretch>
        </p:blipFill>
        <p:spPr>
          <a:xfrm>
            <a:off x="1356101" y="2900922"/>
            <a:ext cx="395207" cy="462210"/>
          </a:xfrm>
          <a:prstGeom prst="rect">
            <a:avLst/>
          </a:prstGeom>
        </p:spPr>
      </p:pic>
      <p:cxnSp>
        <p:nvCxnSpPr>
          <p:cNvPr id="8" name="Connecteur droit avec flèche 7"/>
          <p:cNvCxnSpPr/>
          <p:nvPr/>
        </p:nvCxnSpPr>
        <p:spPr>
          <a:xfrm flipV="1">
            <a:off x="1495585" y="2355742"/>
            <a:ext cx="2363492" cy="54518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9" name="Image 8"/>
          <p:cNvPicPr>
            <a:picLocks noChangeAspect="1"/>
          </p:cNvPicPr>
          <p:nvPr/>
        </p:nvPicPr>
        <p:blipFill>
          <a:blip r:embed="rId4"/>
          <a:stretch>
            <a:fillRect/>
          </a:stretch>
        </p:blipFill>
        <p:spPr>
          <a:xfrm>
            <a:off x="1356101" y="3371186"/>
            <a:ext cx="1720313" cy="118671"/>
          </a:xfrm>
          <a:prstGeom prst="rect">
            <a:avLst/>
          </a:prstGeom>
        </p:spPr>
      </p:pic>
      <p:pic>
        <p:nvPicPr>
          <p:cNvPr id="10" name="Image 9"/>
          <p:cNvPicPr>
            <a:picLocks noChangeAspect="1"/>
          </p:cNvPicPr>
          <p:nvPr/>
        </p:nvPicPr>
        <p:blipFill>
          <a:blip r:embed="rId5"/>
          <a:stretch>
            <a:fillRect/>
          </a:stretch>
        </p:blipFill>
        <p:spPr>
          <a:xfrm>
            <a:off x="3816945" y="2185010"/>
            <a:ext cx="317019" cy="353599"/>
          </a:xfrm>
          <a:prstGeom prst="rect">
            <a:avLst/>
          </a:prstGeom>
        </p:spPr>
      </p:pic>
      <p:pic>
        <p:nvPicPr>
          <p:cNvPr id="11" name="Image 10"/>
          <p:cNvPicPr>
            <a:picLocks noChangeAspect="1"/>
          </p:cNvPicPr>
          <p:nvPr/>
        </p:nvPicPr>
        <p:blipFill>
          <a:blip r:embed="rId6"/>
          <a:stretch>
            <a:fillRect/>
          </a:stretch>
        </p:blipFill>
        <p:spPr>
          <a:xfrm>
            <a:off x="1139404" y="2758475"/>
            <a:ext cx="317019" cy="353599"/>
          </a:xfrm>
          <a:prstGeom prst="rect">
            <a:avLst/>
          </a:prstGeom>
        </p:spPr>
      </p:pic>
      <p:pic>
        <p:nvPicPr>
          <p:cNvPr id="12" name="Image 11"/>
          <p:cNvPicPr>
            <a:picLocks noChangeAspect="1"/>
          </p:cNvPicPr>
          <p:nvPr/>
        </p:nvPicPr>
        <p:blipFill>
          <a:blip r:embed="rId7"/>
          <a:stretch>
            <a:fillRect/>
          </a:stretch>
        </p:blipFill>
        <p:spPr>
          <a:xfrm>
            <a:off x="3816945" y="2547323"/>
            <a:ext cx="310923" cy="353599"/>
          </a:xfrm>
          <a:prstGeom prst="rect">
            <a:avLst/>
          </a:prstGeom>
        </p:spPr>
      </p:pic>
      <p:pic>
        <p:nvPicPr>
          <p:cNvPr id="13" name="Image 12"/>
          <p:cNvPicPr>
            <a:picLocks noChangeAspect="1"/>
          </p:cNvPicPr>
          <p:nvPr/>
        </p:nvPicPr>
        <p:blipFill>
          <a:blip r:embed="rId8"/>
          <a:stretch>
            <a:fillRect/>
          </a:stretch>
        </p:blipFill>
        <p:spPr>
          <a:xfrm>
            <a:off x="2976472" y="3304239"/>
            <a:ext cx="310923" cy="353599"/>
          </a:xfrm>
          <a:prstGeom prst="rect">
            <a:avLst/>
          </a:prstGeom>
        </p:spPr>
      </p:pic>
      <p:cxnSp>
        <p:nvCxnSpPr>
          <p:cNvPr id="15" name="Connecteur droit avec flèche 14"/>
          <p:cNvCxnSpPr>
            <a:endCxn id="12" idx="1"/>
          </p:cNvCxnSpPr>
          <p:nvPr/>
        </p:nvCxnSpPr>
        <p:spPr>
          <a:xfrm flipV="1">
            <a:off x="2061275" y="2724123"/>
            <a:ext cx="1755670" cy="639008"/>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7" name="Image 16"/>
          <p:cNvPicPr>
            <a:picLocks noChangeAspect="1"/>
          </p:cNvPicPr>
          <p:nvPr/>
        </p:nvPicPr>
        <p:blipFill>
          <a:blip r:embed="rId9"/>
          <a:stretch>
            <a:fillRect/>
          </a:stretch>
        </p:blipFill>
        <p:spPr>
          <a:xfrm>
            <a:off x="630619" y="3775806"/>
            <a:ext cx="164606" cy="164606"/>
          </a:xfrm>
          <a:prstGeom prst="rect">
            <a:avLst/>
          </a:prstGeom>
        </p:spPr>
      </p:pic>
      <p:pic>
        <p:nvPicPr>
          <p:cNvPr id="18" name="Image 17"/>
          <p:cNvPicPr>
            <a:picLocks noChangeAspect="1"/>
          </p:cNvPicPr>
          <p:nvPr/>
        </p:nvPicPr>
        <p:blipFill>
          <a:blip r:embed="rId10"/>
          <a:stretch>
            <a:fillRect/>
          </a:stretch>
        </p:blipFill>
        <p:spPr>
          <a:xfrm>
            <a:off x="705174" y="3828989"/>
            <a:ext cx="310923" cy="353599"/>
          </a:xfrm>
          <a:prstGeom prst="rect">
            <a:avLst/>
          </a:prstGeom>
        </p:spPr>
      </p:pic>
      <p:pic>
        <p:nvPicPr>
          <p:cNvPr id="19" name="Image 18"/>
          <p:cNvPicPr>
            <a:picLocks noChangeAspect="1"/>
          </p:cNvPicPr>
          <p:nvPr/>
        </p:nvPicPr>
        <p:blipFill>
          <a:blip r:embed="rId11"/>
          <a:stretch>
            <a:fillRect/>
          </a:stretch>
        </p:blipFill>
        <p:spPr>
          <a:xfrm>
            <a:off x="3823041" y="2915704"/>
            <a:ext cx="310923" cy="353599"/>
          </a:xfrm>
          <a:prstGeom prst="rect">
            <a:avLst/>
          </a:prstGeom>
        </p:spPr>
      </p:pic>
      <p:pic>
        <p:nvPicPr>
          <p:cNvPr id="20" name="Image 19"/>
          <p:cNvPicPr>
            <a:picLocks noChangeAspect="1"/>
          </p:cNvPicPr>
          <p:nvPr/>
        </p:nvPicPr>
        <p:blipFill>
          <a:blip r:embed="rId12"/>
          <a:stretch>
            <a:fillRect/>
          </a:stretch>
        </p:blipFill>
        <p:spPr>
          <a:xfrm>
            <a:off x="1751308" y="4035037"/>
            <a:ext cx="432854" cy="312070"/>
          </a:xfrm>
          <a:prstGeom prst="rect">
            <a:avLst/>
          </a:prstGeom>
        </p:spPr>
      </p:pic>
      <p:pic>
        <p:nvPicPr>
          <p:cNvPr id="21" name="Image 20"/>
          <p:cNvPicPr>
            <a:picLocks noChangeAspect="1"/>
          </p:cNvPicPr>
          <p:nvPr/>
        </p:nvPicPr>
        <p:blipFill>
          <a:blip r:embed="rId13"/>
          <a:stretch>
            <a:fillRect/>
          </a:stretch>
        </p:blipFill>
        <p:spPr>
          <a:xfrm>
            <a:off x="3828081" y="3250673"/>
            <a:ext cx="310923" cy="359695"/>
          </a:xfrm>
          <a:prstGeom prst="rect">
            <a:avLst/>
          </a:prstGeom>
        </p:spPr>
      </p:pic>
      <p:pic>
        <p:nvPicPr>
          <p:cNvPr id="22" name="Image 21"/>
          <p:cNvPicPr>
            <a:picLocks noChangeAspect="1"/>
          </p:cNvPicPr>
          <p:nvPr/>
        </p:nvPicPr>
        <p:blipFill>
          <a:blip r:embed="rId14"/>
          <a:stretch>
            <a:fillRect/>
          </a:stretch>
        </p:blipFill>
        <p:spPr>
          <a:xfrm>
            <a:off x="2138013" y="4182588"/>
            <a:ext cx="310923" cy="359695"/>
          </a:xfrm>
          <a:prstGeom prst="rect">
            <a:avLst/>
          </a:prstGeom>
        </p:spPr>
      </p:pic>
    </p:spTree>
    <p:extLst>
      <p:ext uri="{BB962C8B-B14F-4D97-AF65-F5344CB8AC3E}">
        <p14:creationId xmlns:p14="http://schemas.microsoft.com/office/powerpoint/2010/main" val="22779532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fontScale="90000"/>
          </a:bodyPr>
          <a:lstStyle/>
          <a:p>
            <a:r>
              <a:rPr lang="fr-FR" altLang="en-US" sz="2400" dirty="0">
                <a:cs typeface="Arial" panose="020B0604020202020204" pitchFamily="34" charset="0"/>
              </a:rPr>
              <a:t>Mode opératoire fiche immobilisation : transfert d’immobilisation </a:t>
            </a:r>
            <a:r>
              <a:rPr lang="fr-FR" altLang="en-US" sz="2400" dirty="0" smtClean="0">
                <a:cs typeface="Arial" panose="020B0604020202020204" pitchFamily="34" charset="0"/>
              </a:rPr>
              <a:t>3/5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521912"/>
          </a:xfrm>
        </p:spPr>
        <p:txBody>
          <a:bodyPr/>
          <a:lstStyle/>
          <a:p>
            <a:r>
              <a:rPr lang="fr-FR" dirty="0" smtClean="0">
                <a:cs typeface="Arial" panose="020B0604020202020204" pitchFamily="34" charset="0"/>
              </a:rPr>
              <a:t>L’onglet </a:t>
            </a:r>
            <a:r>
              <a:rPr lang="fr-FR" dirty="0" err="1" smtClean="0">
                <a:cs typeface="Arial" panose="020B0604020202020204" pitchFamily="34" charset="0"/>
              </a:rPr>
              <a:t>Inform</a:t>
            </a:r>
            <a:r>
              <a:rPr lang="fr-FR" dirty="0" smtClean="0">
                <a:cs typeface="Arial" panose="020B0604020202020204" pitchFamily="34" charset="0"/>
              </a:rPr>
              <a:t>. Suppl. n’est pas à remplir. 		         L’ onglet Indic. </a:t>
            </a:r>
            <a:r>
              <a:rPr lang="fr-FR" dirty="0" err="1" smtClean="0">
                <a:cs typeface="Arial" panose="020B0604020202020204" pitchFamily="34" charset="0"/>
              </a:rPr>
              <a:t>trsf</a:t>
            </a:r>
            <a:r>
              <a:rPr lang="fr-FR" dirty="0" smtClean="0">
                <a:cs typeface="Arial" panose="020B0604020202020204" pitchFamily="34" charset="0"/>
              </a:rPr>
              <a:t> partiel n’est à remplir que dans le cas d’un transfert partiel	   </a:t>
            </a:r>
          </a:p>
          <a:p>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Sauvegarder votre saisie en cliquant sur la disquette : </a:t>
            </a:r>
            <a:endParaRPr lang="fr-FR" dirty="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19</a:t>
            </a:fld>
            <a:endParaRPr lang="fr-FR" altLang="en-US" sz="750">
              <a:solidFill>
                <a:srgbClr val="000000"/>
              </a:solidFill>
            </a:endParaRPr>
          </a:p>
        </p:txBody>
      </p:sp>
      <p:pic>
        <p:nvPicPr>
          <p:cNvPr id="6" name="Image 5"/>
          <p:cNvPicPr>
            <a:picLocks noChangeAspect="1"/>
          </p:cNvPicPr>
          <p:nvPr/>
        </p:nvPicPr>
        <p:blipFill>
          <a:blip r:embed="rId2"/>
          <a:stretch>
            <a:fillRect/>
          </a:stretch>
        </p:blipFill>
        <p:spPr>
          <a:xfrm>
            <a:off x="573578" y="1278609"/>
            <a:ext cx="3316497" cy="2967927"/>
          </a:xfrm>
          <a:prstGeom prst="rect">
            <a:avLst/>
          </a:prstGeom>
        </p:spPr>
      </p:pic>
      <p:pic>
        <p:nvPicPr>
          <p:cNvPr id="3" name="Image 2"/>
          <p:cNvPicPr>
            <a:picLocks noChangeAspect="1"/>
          </p:cNvPicPr>
          <p:nvPr/>
        </p:nvPicPr>
        <p:blipFill>
          <a:blip r:embed="rId3"/>
          <a:stretch>
            <a:fillRect/>
          </a:stretch>
        </p:blipFill>
        <p:spPr>
          <a:xfrm>
            <a:off x="3890075" y="4331778"/>
            <a:ext cx="200025" cy="200025"/>
          </a:xfrm>
          <a:prstGeom prst="rect">
            <a:avLst/>
          </a:prstGeom>
        </p:spPr>
      </p:pic>
      <p:pic>
        <p:nvPicPr>
          <p:cNvPr id="4" name="Image 3"/>
          <p:cNvPicPr>
            <a:picLocks noChangeAspect="1"/>
          </p:cNvPicPr>
          <p:nvPr/>
        </p:nvPicPr>
        <p:blipFill>
          <a:blip r:embed="rId4"/>
          <a:stretch>
            <a:fillRect/>
          </a:stretch>
        </p:blipFill>
        <p:spPr>
          <a:xfrm>
            <a:off x="4206478" y="1295159"/>
            <a:ext cx="3334073" cy="2951378"/>
          </a:xfrm>
          <a:prstGeom prst="rect">
            <a:avLst/>
          </a:prstGeom>
        </p:spPr>
      </p:pic>
      <p:pic>
        <p:nvPicPr>
          <p:cNvPr id="10" name="Image 9"/>
          <p:cNvPicPr>
            <a:picLocks noChangeAspect="1"/>
          </p:cNvPicPr>
          <p:nvPr/>
        </p:nvPicPr>
        <p:blipFill>
          <a:blip r:embed="rId5"/>
          <a:stretch>
            <a:fillRect/>
          </a:stretch>
        </p:blipFill>
        <p:spPr>
          <a:xfrm>
            <a:off x="5846850" y="1581143"/>
            <a:ext cx="146317" cy="152413"/>
          </a:xfrm>
          <a:prstGeom prst="rect">
            <a:avLst/>
          </a:prstGeom>
        </p:spPr>
      </p:pic>
      <p:pic>
        <p:nvPicPr>
          <p:cNvPr id="11" name="Image 10"/>
          <p:cNvPicPr>
            <a:picLocks noChangeAspect="1"/>
          </p:cNvPicPr>
          <p:nvPr/>
        </p:nvPicPr>
        <p:blipFill>
          <a:blip r:embed="rId6"/>
          <a:stretch>
            <a:fillRect/>
          </a:stretch>
        </p:blipFill>
        <p:spPr>
          <a:xfrm>
            <a:off x="5920008" y="1636202"/>
            <a:ext cx="310923" cy="353599"/>
          </a:xfrm>
          <a:prstGeom prst="rect">
            <a:avLst/>
          </a:prstGeom>
        </p:spPr>
      </p:pic>
      <p:pic>
        <p:nvPicPr>
          <p:cNvPr id="12" name="Image 11"/>
          <p:cNvPicPr>
            <a:picLocks noChangeAspect="1"/>
          </p:cNvPicPr>
          <p:nvPr/>
        </p:nvPicPr>
        <p:blipFill>
          <a:blip r:embed="rId7"/>
          <a:stretch>
            <a:fillRect/>
          </a:stretch>
        </p:blipFill>
        <p:spPr>
          <a:xfrm>
            <a:off x="4051016" y="4308992"/>
            <a:ext cx="310923" cy="353599"/>
          </a:xfrm>
          <a:prstGeom prst="rect">
            <a:avLst/>
          </a:prstGeom>
        </p:spPr>
      </p:pic>
    </p:spTree>
    <p:extLst>
      <p:ext uri="{BB962C8B-B14F-4D97-AF65-F5344CB8AC3E}">
        <p14:creationId xmlns:p14="http://schemas.microsoft.com/office/powerpoint/2010/main" val="3012770865"/>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fontScale="90000"/>
          </a:bodyPr>
          <a:lstStyle/>
          <a:p>
            <a:r>
              <a:rPr lang="fr-FR" altLang="en-US" sz="2400" dirty="0" smtClean="0">
                <a:cs typeface="Arial" panose="020B0604020202020204" pitchFamily="34" charset="0"/>
              </a:rPr>
              <a:t>Mode opératoire fiche immobilisation : transfert d’immobilisation  4/5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Une fenêtre s’ouvre avec les informations de la nouvelle </a:t>
            </a:r>
            <a:r>
              <a:rPr lang="fr-FR" dirty="0" err="1" smtClean="0">
                <a:cs typeface="Arial" panose="020B0604020202020204" pitchFamily="34" charset="0"/>
              </a:rPr>
              <a:t>immo</a:t>
            </a:r>
            <a:r>
              <a:rPr lang="fr-FR" dirty="0" smtClean="0">
                <a:cs typeface="Arial" panose="020B0604020202020204" pitchFamily="34" charset="0"/>
              </a:rPr>
              <a:t>. Valider cette information en cliquant sur le pavé : </a:t>
            </a:r>
          </a:p>
          <a:p>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Affichage de la nouvelle </a:t>
            </a:r>
            <a:r>
              <a:rPr lang="fr-FR" dirty="0" err="1" smtClean="0">
                <a:cs typeface="Arial" panose="020B0604020202020204" pitchFamily="34" charset="0"/>
              </a:rPr>
              <a:t>immo</a:t>
            </a:r>
            <a:r>
              <a:rPr lang="fr-FR" dirty="0" smtClean="0">
                <a:cs typeface="Arial" panose="020B0604020202020204" pitchFamily="34" charset="0"/>
              </a:rPr>
              <a:t> : </a:t>
            </a:r>
            <a:endParaRPr lang="fr-FR" dirty="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20</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234857"/>
            <a:ext cx="4029419" cy="1027895"/>
          </a:xfrm>
          <a:prstGeom prst="rect">
            <a:avLst/>
          </a:prstGeom>
        </p:spPr>
      </p:pic>
      <p:pic>
        <p:nvPicPr>
          <p:cNvPr id="4" name="Image 3"/>
          <p:cNvPicPr>
            <a:picLocks noChangeAspect="1"/>
          </p:cNvPicPr>
          <p:nvPr/>
        </p:nvPicPr>
        <p:blipFill>
          <a:blip r:embed="rId3"/>
          <a:stretch>
            <a:fillRect/>
          </a:stretch>
        </p:blipFill>
        <p:spPr>
          <a:xfrm>
            <a:off x="573579" y="2637941"/>
            <a:ext cx="2828300" cy="1844055"/>
          </a:xfrm>
          <a:prstGeom prst="rect">
            <a:avLst/>
          </a:prstGeom>
        </p:spPr>
      </p:pic>
      <p:pic>
        <p:nvPicPr>
          <p:cNvPr id="8" name="Image 7"/>
          <p:cNvPicPr>
            <a:picLocks noChangeAspect="1"/>
          </p:cNvPicPr>
          <p:nvPr/>
        </p:nvPicPr>
        <p:blipFill>
          <a:blip r:embed="rId4"/>
          <a:stretch>
            <a:fillRect/>
          </a:stretch>
        </p:blipFill>
        <p:spPr>
          <a:xfrm>
            <a:off x="3463871" y="2637940"/>
            <a:ext cx="2474563" cy="1844055"/>
          </a:xfrm>
          <a:prstGeom prst="rect">
            <a:avLst/>
          </a:prstGeom>
        </p:spPr>
      </p:pic>
      <p:pic>
        <p:nvPicPr>
          <p:cNvPr id="9" name="Image 8"/>
          <p:cNvPicPr>
            <a:picLocks noChangeAspect="1"/>
          </p:cNvPicPr>
          <p:nvPr/>
        </p:nvPicPr>
        <p:blipFill>
          <a:blip r:embed="rId5"/>
          <a:stretch>
            <a:fillRect/>
          </a:stretch>
        </p:blipFill>
        <p:spPr>
          <a:xfrm>
            <a:off x="5966848" y="2637940"/>
            <a:ext cx="2824888" cy="1844054"/>
          </a:xfrm>
          <a:prstGeom prst="rect">
            <a:avLst/>
          </a:prstGeom>
        </p:spPr>
      </p:pic>
      <p:pic>
        <p:nvPicPr>
          <p:cNvPr id="6" name="Image 5"/>
          <p:cNvPicPr>
            <a:picLocks noChangeAspect="1"/>
          </p:cNvPicPr>
          <p:nvPr/>
        </p:nvPicPr>
        <p:blipFill>
          <a:blip r:embed="rId6"/>
          <a:stretch>
            <a:fillRect/>
          </a:stretch>
        </p:blipFill>
        <p:spPr>
          <a:xfrm>
            <a:off x="632014" y="2056903"/>
            <a:ext cx="146317" cy="152413"/>
          </a:xfrm>
          <a:prstGeom prst="rect">
            <a:avLst/>
          </a:prstGeom>
        </p:spPr>
      </p:pic>
      <p:pic>
        <p:nvPicPr>
          <p:cNvPr id="7" name="Image 6"/>
          <p:cNvPicPr>
            <a:picLocks noChangeAspect="1"/>
          </p:cNvPicPr>
          <p:nvPr/>
        </p:nvPicPr>
        <p:blipFill>
          <a:blip r:embed="rId7"/>
          <a:stretch>
            <a:fillRect/>
          </a:stretch>
        </p:blipFill>
        <p:spPr>
          <a:xfrm>
            <a:off x="705172" y="1877055"/>
            <a:ext cx="310923" cy="359695"/>
          </a:xfrm>
          <a:prstGeom prst="rect">
            <a:avLst/>
          </a:prstGeom>
        </p:spPr>
      </p:pic>
      <p:pic>
        <p:nvPicPr>
          <p:cNvPr id="10" name="Image 9"/>
          <p:cNvPicPr>
            <a:picLocks noChangeAspect="1"/>
          </p:cNvPicPr>
          <p:nvPr/>
        </p:nvPicPr>
        <p:blipFill>
          <a:blip r:embed="rId8"/>
          <a:stretch>
            <a:fillRect/>
          </a:stretch>
        </p:blipFill>
        <p:spPr>
          <a:xfrm>
            <a:off x="7539447" y="984057"/>
            <a:ext cx="310923" cy="359695"/>
          </a:xfrm>
          <a:prstGeom prst="rect">
            <a:avLst/>
          </a:prstGeom>
        </p:spPr>
      </p:pic>
    </p:spTree>
    <p:extLst>
      <p:ext uri="{BB962C8B-B14F-4D97-AF65-F5344CB8AC3E}">
        <p14:creationId xmlns:p14="http://schemas.microsoft.com/office/powerpoint/2010/main" val="865442620"/>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 transfert d’immobilisation 5/5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Visualisation des valeurs de la nouvelle </a:t>
            </a:r>
            <a:r>
              <a:rPr lang="fr-FR" dirty="0" err="1" smtClean="0">
                <a:cs typeface="Arial" panose="020B0604020202020204" pitchFamily="34" charset="0"/>
              </a:rPr>
              <a:t>immo</a:t>
            </a:r>
            <a:r>
              <a:rPr lang="fr-FR" dirty="0" smtClean="0">
                <a:cs typeface="Arial" panose="020B0604020202020204" pitchFamily="34" charset="0"/>
              </a:rPr>
              <a:t> : Un code mouvement 330 transfert a bien été réalisé.  </a:t>
            </a:r>
          </a:p>
          <a:p>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21</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7" y="1255362"/>
            <a:ext cx="3703955" cy="3226633"/>
          </a:xfrm>
          <a:prstGeom prst="rect">
            <a:avLst/>
          </a:prstGeom>
        </p:spPr>
      </p:pic>
      <p:pic>
        <p:nvPicPr>
          <p:cNvPr id="6" name="Image 5"/>
          <p:cNvPicPr>
            <a:picLocks noChangeAspect="1"/>
          </p:cNvPicPr>
          <p:nvPr/>
        </p:nvPicPr>
        <p:blipFill>
          <a:blip r:embed="rId3"/>
          <a:stretch>
            <a:fillRect/>
          </a:stretch>
        </p:blipFill>
        <p:spPr>
          <a:xfrm>
            <a:off x="4401519" y="1255362"/>
            <a:ext cx="4418630" cy="3226634"/>
          </a:xfrm>
          <a:prstGeom prst="rect">
            <a:avLst/>
          </a:prstGeom>
        </p:spPr>
      </p:pic>
    </p:spTree>
    <p:extLst>
      <p:ext uri="{BB962C8B-B14F-4D97-AF65-F5344CB8AC3E}">
        <p14:creationId xmlns:p14="http://schemas.microsoft.com/office/powerpoint/2010/main" val="2431694502"/>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fiche immobilisation : cession d’immobilisation </a:t>
            </a:r>
            <a:r>
              <a:rPr lang="fr-FR" altLang="en-US" sz="2400" dirty="0">
                <a:cs typeface="Arial" panose="020B0604020202020204" pitchFamily="34" charset="0"/>
              </a:rPr>
              <a:t> </a:t>
            </a:r>
            <a:r>
              <a:rPr lang="fr-FR" altLang="en-US" sz="2400" dirty="0" smtClean="0">
                <a:cs typeface="Arial" panose="020B0604020202020204" pitchFamily="34" charset="0"/>
              </a:rPr>
              <a:t>: vente avec client 1/3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SAP préconise 2 modes de cession. Même si la CBG n’utilise qu’un seul, les 2 modes seront présentés ici. </a:t>
            </a:r>
          </a:p>
          <a:p>
            <a:r>
              <a:rPr lang="fr-FR" dirty="0" smtClean="0">
                <a:cs typeface="Arial" panose="020B0604020202020204" pitchFamily="34" charset="0"/>
              </a:rPr>
              <a:t>Lancer la transaction F-92 Sortie </a:t>
            </a:r>
            <a:r>
              <a:rPr lang="fr-FR" dirty="0" err="1" smtClean="0">
                <a:cs typeface="Arial" panose="020B0604020202020204" pitchFamily="34" charset="0"/>
              </a:rPr>
              <a:t>immo</a:t>
            </a:r>
            <a:r>
              <a:rPr lang="fr-FR" dirty="0" smtClean="0">
                <a:cs typeface="Arial" panose="020B0604020202020204" pitchFamily="34" charset="0"/>
              </a:rPr>
              <a:t>. par vente avec client </a:t>
            </a:r>
          </a:p>
          <a:p>
            <a:r>
              <a:rPr lang="fr-FR" dirty="0">
                <a:cs typeface="Arial" panose="020B0604020202020204" pitchFamily="34" charset="0"/>
              </a:rPr>
              <a:t>	</a:t>
            </a:r>
            <a:r>
              <a:rPr lang="fr-FR" dirty="0" smtClean="0">
                <a:cs typeface="Arial" panose="020B0604020202020204" pitchFamily="34" charset="0"/>
              </a:rPr>
              <a:t>							Renseigner la date de pièce</a:t>
            </a:r>
          </a:p>
          <a:p>
            <a:r>
              <a:rPr lang="fr-FR" dirty="0">
                <a:cs typeface="Arial" panose="020B0604020202020204" pitchFamily="34" charset="0"/>
              </a:rPr>
              <a:t>	</a:t>
            </a:r>
            <a:r>
              <a:rPr lang="fr-FR" dirty="0" smtClean="0">
                <a:cs typeface="Arial" panose="020B0604020202020204" pitchFamily="34" charset="0"/>
              </a:rPr>
              <a:t>							Renseigner la référence </a:t>
            </a:r>
          </a:p>
          <a:p>
            <a:r>
              <a:rPr lang="fr-FR" dirty="0">
                <a:cs typeface="Arial" panose="020B0604020202020204" pitchFamily="34" charset="0"/>
              </a:rPr>
              <a:t>	</a:t>
            </a:r>
            <a:r>
              <a:rPr lang="fr-FR" dirty="0" smtClean="0">
                <a:cs typeface="Arial" panose="020B0604020202020204" pitchFamily="34" charset="0"/>
              </a:rPr>
              <a:t>							Renseigner le compte client à débiter </a:t>
            </a:r>
          </a:p>
          <a:p>
            <a:r>
              <a:rPr lang="fr-FR" dirty="0">
                <a:cs typeface="Arial" panose="020B0604020202020204" pitchFamily="34" charset="0"/>
              </a:rPr>
              <a:t>	</a:t>
            </a:r>
            <a:r>
              <a:rPr lang="fr-FR" dirty="0" smtClean="0">
                <a:cs typeface="Arial" panose="020B0604020202020204" pitchFamily="34" charset="0"/>
              </a:rPr>
              <a:t>							Faites « Entrée » pour passer à l’écran suivant.  </a:t>
            </a:r>
          </a:p>
          <a:p>
            <a:r>
              <a:rPr lang="fr-FR" dirty="0">
                <a:cs typeface="Arial" panose="020B0604020202020204" pitchFamily="34" charset="0"/>
              </a:rPr>
              <a:t>	</a:t>
            </a:r>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96967" y="1759058"/>
            <a:ext cx="2309247" cy="2722939"/>
          </a:xfrm>
          <a:prstGeom prst="rect">
            <a:avLst/>
          </a:prstGeom>
        </p:spPr>
      </p:pic>
      <p:pic>
        <p:nvPicPr>
          <p:cNvPr id="6" name="Image 5"/>
          <p:cNvPicPr>
            <a:picLocks noChangeAspect="1"/>
          </p:cNvPicPr>
          <p:nvPr/>
        </p:nvPicPr>
        <p:blipFill>
          <a:blip r:embed="rId3"/>
          <a:stretch>
            <a:fillRect/>
          </a:stretch>
        </p:blipFill>
        <p:spPr>
          <a:xfrm>
            <a:off x="3409149" y="1813764"/>
            <a:ext cx="310923" cy="353599"/>
          </a:xfrm>
          <a:prstGeom prst="rect">
            <a:avLst/>
          </a:prstGeom>
        </p:spPr>
      </p:pic>
      <p:pic>
        <p:nvPicPr>
          <p:cNvPr id="7" name="Image 6"/>
          <p:cNvPicPr>
            <a:picLocks noChangeAspect="1"/>
          </p:cNvPicPr>
          <p:nvPr/>
        </p:nvPicPr>
        <p:blipFill>
          <a:blip r:embed="rId4"/>
          <a:stretch>
            <a:fillRect/>
          </a:stretch>
        </p:blipFill>
        <p:spPr>
          <a:xfrm>
            <a:off x="3409149" y="2167363"/>
            <a:ext cx="310923" cy="353599"/>
          </a:xfrm>
          <a:prstGeom prst="rect">
            <a:avLst/>
          </a:prstGeom>
        </p:spPr>
      </p:pic>
      <p:pic>
        <p:nvPicPr>
          <p:cNvPr id="11" name="Image 10"/>
          <p:cNvPicPr>
            <a:picLocks noChangeAspect="1"/>
          </p:cNvPicPr>
          <p:nvPr/>
        </p:nvPicPr>
        <p:blipFill>
          <a:blip r:embed="rId5"/>
          <a:stretch>
            <a:fillRect/>
          </a:stretch>
        </p:blipFill>
        <p:spPr>
          <a:xfrm>
            <a:off x="3411018" y="2486796"/>
            <a:ext cx="317019" cy="353599"/>
          </a:xfrm>
          <a:prstGeom prst="rect">
            <a:avLst/>
          </a:prstGeom>
        </p:spPr>
      </p:pic>
      <p:pic>
        <p:nvPicPr>
          <p:cNvPr id="12" name="Image 11"/>
          <p:cNvPicPr>
            <a:picLocks noChangeAspect="1"/>
          </p:cNvPicPr>
          <p:nvPr/>
        </p:nvPicPr>
        <p:blipFill>
          <a:blip r:embed="rId6"/>
          <a:stretch>
            <a:fillRect/>
          </a:stretch>
        </p:blipFill>
        <p:spPr>
          <a:xfrm>
            <a:off x="1293630" y="2049562"/>
            <a:ext cx="310923" cy="353599"/>
          </a:xfrm>
          <a:prstGeom prst="rect">
            <a:avLst/>
          </a:prstGeom>
        </p:spPr>
      </p:pic>
      <p:pic>
        <p:nvPicPr>
          <p:cNvPr id="13" name="Image 12"/>
          <p:cNvPicPr>
            <a:picLocks noChangeAspect="1"/>
          </p:cNvPicPr>
          <p:nvPr/>
        </p:nvPicPr>
        <p:blipFill>
          <a:blip r:embed="rId7"/>
          <a:stretch>
            <a:fillRect/>
          </a:stretch>
        </p:blipFill>
        <p:spPr>
          <a:xfrm>
            <a:off x="1449091" y="2373088"/>
            <a:ext cx="310923" cy="353599"/>
          </a:xfrm>
          <a:prstGeom prst="rect">
            <a:avLst/>
          </a:prstGeom>
        </p:spPr>
      </p:pic>
      <p:pic>
        <p:nvPicPr>
          <p:cNvPr id="14" name="Image 13"/>
          <p:cNvPicPr>
            <a:picLocks noChangeAspect="1"/>
          </p:cNvPicPr>
          <p:nvPr/>
        </p:nvPicPr>
        <p:blipFill>
          <a:blip r:embed="rId8"/>
          <a:stretch>
            <a:fillRect/>
          </a:stretch>
        </p:blipFill>
        <p:spPr>
          <a:xfrm>
            <a:off x="1449091" y="4192753"/>
            <a:ext cx="317019" cy="353599"/>
          </a:xfrm>
          <a:prstGeom prst="rect">
            <a:avLst/>
          </a:prstGeom>
        </p:spPr>
      </p:pic>
    </p:spTree>
    <p:extLst>
      <p:ext uri="{BB962C8B-B14F-4D97-AF65-F5344CB8AC3E}">
        <p14:creationId xmlns:p14="http://schemas.microsoft.com/office/powerpoint/2010/main" val="1392324990"/>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200" dirty="0">
                <a:cs typeface="Arial" panose="020B0604020202020204" pitchFamily="34" charset="0"/>
              </a:rPr>
              <a:t>Mode opératoire fiche immobilisation : cession d’immobilisation  : vente avec client </a:t>
            </a:r>
            <a:r>
              <a:rPr lang="fr-FR" altLang="en-US" sz="2200" dirty="0" smtClean="0">
                <a:cs typeface="Arial" panose="020B0604020202020204" pitchFamily="34" charset="0"/>
              </a:rPr>
              <a:t>2/3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Mettre le montant de la cession </a:t>
            </a:r>
          </a:p>
          <a:p>
            <a:r>
              <a:rPr lang="fr-FR" dirty="0">
                <a:cs typeface="Arial" panose="020B0604020202020204" pitchFamily="34" charset="0"/>
              </a:rPr>
              <a:t>	</a:t>
            </a:r>
            <a:r>
              <a:rPr lang="fr-FR" dirty="0" smtClean="0">
                <a:cs typeface="Arial" panose="020B0604020202020204" pitchFamily="34" charset="0"/>
              </a:rPr>
              <a:t>						 Mettre un texte</a:t>
            </a:r>
          </a:p>
          <a:p>
            <a:r>
              <a:rPr lang="fr-FR" dirty="0">
                <a:cs typeface="Arial" panose="020B0604020202020204" pitchFamily="34" charset="0"/>
              </a:rPr>
              <a:t>	</a:t>
            </a:r>
            <a:r>
              <a:rPr lang="fr-FR" dirty="0" smtClean="0">
                <a:cs typeface="Arial" panose="020B0604020202020204" pitchFamily="34" charset="0"/>
              </a:rPr>
              <a:t>						Créditer le compte de produit de cession courante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Faites « Entrée » pour passer à l’écran suivant</a:t>
            </a:r>
            <a:r>
              <a:rPr lang="fr-FR" dirty="0" smtClean="0">
                <a:cs typeface="Arial" panose="020B0604020202020204" pitchFamily="34" charset="0"/>
              </a:rPr>
              <a:t>.</a:t>
            </a:r>
          </a:p>
          <a:p>
            <a:r>
              <a:rPr lang="fr-FR" dirty="0" smtClean="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23</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152525"/>
            <a:ext cx="2440843" cy="2716681"/>
          </a:xfrm>
          <a:prstGeom prst="rect">
            <a:avLst/>
          </a:prstGeom>
        </p:spPr>
      </p:pic>
      <p:pic>
        <p:nvPicPr>
          <p:cNvPr id="6" name="Image 5"/>
          <p:cNvPicPr>
            <a:picLocks noChangeAspect="1"/>
          </p:cNvPicPr>
          <p:nvPr/>
        </p:nvPicPr>
        <p:blipFill>
          <a:blip r:embed="rId3"/>
          <a:stretch>
            <a:fillRect/>
          </a:stretch>
        </p:blipFill>
        <p:spPr>
          <a:xfrm>
            <a:off x="1291856" y="1911333"/>
            <a:ext cx="310923" cy="353599"/>
          </a:xfrm>
          <a:prstGeom prst="rect">
            <a:avLst/>
          </a:prstGeom>
        </p:spPr>
      </p:pic>
      <p:pic>
        <p:nvPicPr>
          <p:cNvPr id="7" name="Image 6"/>
          <p:cNvPicPr>
            <a:picLocks noChangeAspect="1"/>
          </p:cNvPicPr>
          <p:nvPr/>
        </p:nvPicPr>
        <p:blipFill>
          <a:blip r:embed="rId4"/>
          <a:stretch>
            <a:fillRect/>
          </a:stretch>
        </p:blipFill>
        <p:spPr>
          <a:xfrm>
            <a:off x="1913561" y="2895597"/>
            <a:ext cx="310923" cy="359695"/>
          </a:xfrm>
          <a:prstGeom prst="rect">
            <a:avLst/>
          </a:prstGeom>
        </p:spPr>
      </p:pic>
      <p:pic>
        <p:nvPicPr>
          <p:cNvPr id="11" name="Image 10"/>
          <p:cNvPicPr>
            <a:picLocks noChangeAspect="1"/>
          </p:cNvPicPr>
          <p:nvPr/>
        </p:nvPicPr>
        <p:blipFill>
          <a:blip r:embed="rId5"/>
          <a:stretch>
            <a:fillRect/>
          </a:stretch>
        </p:blipFill>
        <p:spPr>
          <a:xfrm>
            <a:off x="1483076" y="3255292"/>
            <a:ext cx="310923" cy="359695"/>
          </a:xfrm>
          <a:prstGeom prst="rect">
            <a:avLst/>
          </a:prstGeom>
        </p:spPr>
      </p:pic>
      <p:pic>
        <p:nvPicPr>
          <p:cNvPr id="12" name="Image 11"/>
          <p:cNvPicPr>
            <a:picLocks noChangeAspect="1"/>
          </p:cNvPicPr>
          <p:nvPr/>
        </p:nvPicPr>
        <p:blipFill>
          <a:blip r:embed="rId6"/>
          <a:stretch>
            <a:fillRect/>
          </a:stretch>
        </p:blipFill>
        <p:spPr>
          <a:xfrm>
            <a:off x="3091433" y="1129739"/>
            <a:ext cx="310923" cy="353599"/>
          </a:xfrm>
          <a:prstGeom prst="rect">
            <a:avLst/>
          </a:prstGeom>
        </p:spPr>
      </p:pic>
      <p:pic>
        <p:nvPicPr>
          <p:cNvPr id="13" name="Image 12"/>
          <p:cNvPicPr>
            <a:picLocks noChangeAspect="1"/>
          </p:cNvPicPr>
          <p:nvPr/>
        </p:nvPicPr>
        <p:blipFill>
          <a:blip r:embed="rId7"/>
          <a:stretch>
            <a:fillRect/>
          </a:stretch>
        </p:blipFill>
        <p:spPr>
          <a:xfrm>
            <a:off x="3067707" y="1446124"/>
            <a:ext cx="310923" cy="359695"/>
          </a:xfrm>
          <a:prstGeom prst="rect">
            <a:avLst/>
          </a:prstGeom>
        </p:spPr>
      </p:pic>
      <p:pic>
        <p:nvPicPr>
          <p:cNvPr id="14" name="Image 13"/>
          <p:cNvPicPr>
            <a:picLocks noChangeAspect="1"/>
          </p:cNvPicPr>
          <p:nvPr/>
        </p:nvPicPr>
        <p:blipFill>
          <a:blip r:embed="rId8"/>
          <a:stretch>
            <a:fillRect/>
          </a:stretch>
        </p:blipFill>
        <p:spPr>
          <a:xfrm>
            <a:off x="3043981" y="1795022"/>
            <a:ext cx="310923" cy="359695"/>
          </a:xfrm>
          <a:prstGeom prst="rect">
            <a:avLst/>
          </a:prstGeom>
        </p:spPr>
      </p:pic>
    </p:spTree>
    <p:extLst>
      <p:ext uri="{BB962C8B-B14F-4D97-AF65-F5344CB8AC3E}">
        <p14:creationId xmlns:p14="http://schemas.microsoft.com/office/powerpoint/2010/main" val="2177551569"/>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200" dirty="0">
                <a:cs typeface="Arial" panose="020B0604020202020204" pitchFamily="34" charset="0"/>
              </a:rPr>
              <a:t>Mode opératoire fiche immobilisation : cession d’immobilisation  : vente avec client </a:t>
            </a:r>
            <a:r>
              <a:rPr lang="fr-FR" altLang="en-US" sz="2200" dirty="0" smtClean="0">
                <a:cs typeface="Arial" panose="020B0604020202020204" pitchFamily="34" charset="0"/>
              </a:rPr>
              <a:t>3/3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Une fenêtre s’ouvre demandant de renseigner le numéro de l’immobilisation</a:t>
            </a:r>
          </a:p>
          <a:p>
            <a:r>
              <a:rPr lang="fr-FR" dirty="0">
                <a:cs typeface="Arial" panose="020B0604020202020204" pitchFamily="34" charset="0"/>
              </a:rPr>
              <a:t>	</a:t>
            </a:r>
            <a:r>
              <a:rPr lang="fr-FR" dirty="0" smtClean="0">
                <a:cs typeface="Arial" panose="020B0604020202020204" pitchFamily="34" charset="0"/>
              </a:rPr>
              <a:t>								à céder. </a:t>
            </a:r>
            <a:r>
              <a:rPr lang="fr-FR" dirty="0">
                <a:cs typeface="Arial" panose="020B0604020202020204" pitchFamily="34" charset="0"/>
              </a:rPr>
              <a:t>Faites « Entrée » pour valider votre saisie.</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Faites </a:t>
            </a:r>
            <a:r>
              <a:rPr lang="fr-FR" dirty="0" smtClean="0">
                <a:cs typeface="Arial" panose="020B0604020202020204" pitchFamily="34" charset="0"/>
              </a:rPr>
              <a:t>une simulation pour vérifier votre saisie.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Sauvegarder votre saisie.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24</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8" y="1152525"/>
            <a:ext cx="3053166" cy="3302367"/>
          </a:xfrm>
          <a:prstGeom prst="rect">
            <a:avLst/>
          </a:prstGeom>
        </p:spPr>
      </p:pic>
      <p:pic>
        <p:nvPicPr>
          <p:cNvPr id="6" name="Image 5"/>
          <p:cNvPicPr>
            <a:picLocks noChangeAspect="1"/>
          </p:cNvPicPr>
          <p:nvPr/>
        </p:nvPicPr>
        <p:blipFill>
          <a:blip r:embed="rId3"/>
          <a:stretch>
            <a:fillRect/>
          </a:stretch>
        </p:blipFill>
        <p:spPr>
          <a:xfrm>
            <a:off x="2866708" y="3252058"/>
            <a:ext cx="310923" cy="359695"/>
          </a:xfrm>
          <a:prstGeom prst="rect">
            <a:avLst/>
          </a:prstGeom>
        </p:spPr>
      </p:pic>
      <p:pic>
        <p:nvPicPr>
          <p:cNvPr id="7" name="Image 6"/>
          <p:cNvPicPr>
            <a:picLocks noChangeAspect="1"/>
          </p:cNvPicPr>
          <p:nvPr/>
        </p:nvPicPr>
        <p:blipFill>
          <a:blip r:embed="rId3"/>
          <a:stretch>
            <a:fillRect/>
          </a:stretch>
        </p:blipFill>
        <p:spPr>
          <a:xfrm>
            <a:off x="3757860" y="1118942"/>
            <a:ext cx="310923" cy="359695"/>
          </a:xfrm>
          <a:prstGeom prst="rect">
            <a:avLst/>
          </a:prstGeom>
        </p:spPr>
      </p:pic>
      <p:pic>
        <p:nvPicPr>
          <p:cNvPr id="11" name="Image 10"/>
          <p:cNvPicPr>
            <a:picLocks noChangeAspect="1"/>
          </p:cNvPicPr>
          <p:nvPr/>
        </p:nvPicPr>
        <p:blipFill>
          <a:blip r:embed="rId4"/>
          <a:stretch>
            <a:fillRect/>
          </a:stretch>
        </p:blipFill>
        <p:spPr>
          <a:xfrm>
            <a:off x="4068783" y="2096843"/>
            <a:ext cx="2655999" cy="1977850"/>
          </a:xfrm>
          <a:prstGeom prst="rect">
            <a:avLst/>
          </a:prstGeom>
        </p:spPr>
      </p:pic>
      <p:pic>
        <p:nvPicPr>
          <p:cNvPr id="14" name="Image 13"/>
          <p:cNvPicPr>
            <a:picLocks noChangeAspect="1"/>
          </p:cNvPicPr>
          <p:nvPr/>
        </p:nvPicPr>
        <p:blipFill>
          <a:blip r:embed="rId5"/>
          <a:stretch>
            <a:fillRect/>
          </a:stretch>
        </p:blipFill>
        <p:spPr>
          <a:xfrm>
            <a:off x="6407763" y="2089694"/>
            <a:ext cx="317019" cy="353599"/>
          </a:xfrm>
          <a:prstGeom prst="rect">
            <a:avLst/>
          </a:prstGeom>
        </p:spPr>
      </p:pic>
      <p:pic>
        <p:nvPicPr>
          <p:cNvPr id="15" name="Image 14"/>
          <p:cNvPicPr>
            <a:picLocks noChangeAspect="1"/>
          </p:cNvPicPr>
          <p:nvPr/>
        </p:nvPicPr>
        <p:blipFill>
          <a:blip r:embed="rId6"/>
          <a:stretch>
            <a:fillRect/>
          </a:stretch>
        </p:blipFill>
        <p:spPr>
          <a:xfrm>
            <a:off x="3757860" y="1816764"/>
            <a:ext cx="317019" cy="353599"/>
          </a:xfrm>
          <a:prstGeom prst="rect">
            <a:avLst/>
          </a:prstGeom>
        </p:spPr>
      </p:pic>
    </p:spTree>
    <p:extLst>
      <p:ext uri="{BB962C8B-B14F-4D97-AF65-F5344CB8AC3E}">
        <p14:creationId xmlns:p14="http://schemas.microsoft.com/office/powerpoint/2010/main" val="2519082634"/>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 cession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r>
              <a:rPr lang="fr-FR" altLang="en-US" dirty="0" smtClean="0">
                <a:latin typeface="Arial" panose="020B0604020202020204" pitchFamily="34" charset="0"/>
                <a:cs typeface="Arial" panose="020B0604020202020204" pitchFamily="34" charset="0"/>
              </a:rPr>
              <a:t>sans client 1/4</a:t>
            </a: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Cession sans client : </a:t>
            </a:r>
          </a:p>
          <a:p>
            <a:r>
              <a:rPr lang="fr-FR" dirty="0" smtClean="0">
                <a:cs typeface="Arial" panose="020B0604020202020204" pitchFamily="34" charset="0"/>
              </a:rPr>
              <a:t>Lancer </a:t>
            </a:r>
            <a:r>
              <a:rPr lang="fr-FR" dirty="0">
                <a:cs typeface="Arial" panose="020B0604020202020204" pitchFamily="34" charset="0"/>
              </a:rPr>
              <a:t>la transaction </a:t>
            </a:r>
            <a:r>
              <a:rPr lang="fr-FR" dirty="0" smtClean="0">
                <a:cs typeface="Arial" panose="020B0604020202020204" pitchFamily="34" charset="0"/>
              </a:rPr>
              <a:t>ABAON : Saisir mouvement d’immobilisation : sortie </a:t>
            </a:r>
            <a:r>
              <a:rPr lang="fr-FR" dirty="0" err="1" smtClean="0">
                <a:cs typeface="Arial" panose="020B0604020202020204" pitchFamily="34" charset="0"/>
              </a:rPr>
              <a:t>immob</a:t>
            </a:r>
            <a:r>
              <a:rPr lang="fr-FR" dirty="0" smtClean="0">
                <a:cs typeface="Arial" panose="020B0604020202020204" pitchFamily="34" charset="0"/>
              </a:rPr>
              <a:t>. Par vente sans client</a:t>
            </a:r>
          </a:p>
          <a:p>
            <a:r>
              <a:rPr lang="fr-FR" dirty="0" smtClean="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Renseigner </a:t>
            </a:r>
            <a:r>
              <a:rPr lang="fr-FR" dirty="0">
                <a:cs typeface="Arial" panose="020B0604020202020204" pitchFamily="34" charset="0"/>
              </a:rPr>
              <a:t>le 1</a:t>
            </a:r>
            <a:r>
              <a:rPr lang="fr-FR" baseline="30000" dirty="0">
                <a:cs typeface="Arial" panose="020B0604020202020204" pitchFamily="34" charset="0"/>
              </a:rPr>
              <a:t>er</a:t>
            </a:r>
            <a:r>
              <a:rPr lang="fr-FR" dirty="0">
                <a:cs typeface="Arial" panose="020B0604020202020204" pitchFamily="34" charset="0"/>
              </a:rPr>
              <a:t> onglet : </a:t>
            </a:r>
          </a:p>
          <a:p>
            <a:r>
              <a:rPr lang="fr-FR" dirty="0">
                <a:cs typeface="Arial" panose="020B0604020202020204" pitchFamily="34" charset="0"/>
              </a:rPr>
              <a:t>									</a:t>
            </a:r>
            <a:r>
              <a:rPr lang="fr-FR" dirty="0" smtClean="0">
                <a:cs typeface="Arial" panose="020B0604020202020204" pitchFamily="34" charset="0"/>
              </a:rPr>
              <a:t>Mettre le numéro de l’immobilisation</a:t>
            </a:r>
            <a:endParaRPr lang="fr-FR" dirty="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les </a:t>
            </a:r>
            <a:r>
              <a:rPr lang="fr-FR" dirty="0">
                <a:cs typeface="Arial" panose="020B0604020202020204" pitchFamily="34" charset="0"/>
              </a:rPr>
              <a:t>dates : la date de référence est la date de valeur pour la </a:t>
            </a:r>
            <a:r>
              <a:rPr lang="fr-FR" dirty="0" smtClean="0">
                <a:cs typeface="Arial" panose="020B0604020202020204" pitchFamily="34" charset="0"/>
              </a:rPr>
              <a:t>comptabilité</a:t>
            </a:r>
          </a:p>
          <a:p>
            <a:r>
              <a:rPr lang="fr-FR" dirty="0">
                <a:cs typeface="Arial" panose="020B0604020202020204" pitchFamily="34" charset="0"/>
              </a:rPr>
              <a:t>	</a:t>
            </a:r>
            <a:r>
              <a:rPr lang="fr-FR" dirty="0" smtClean="0">
                <a:cs typeface="Arial" panose="020B0604020202020204" pitchFamily="34" charset="0"/>
              </a:rPr>
              <a:t>								 Mettre un texte</a:t>
            </a:r>
          </a:p>
          <a:p>
            <a:r>
              <a:rPr lang="fr-FR" dirty="0">
                <a:cs typeface="Arial" panose="020B0604020202020204" pitchFamily="34" charset="0"/>
              </a:rPr>
              <a:t>	</a:t>
            </a:r>
            <a:r>
              <a:rPr lang="fr-FR" dirty="0" smtClean="0">
                <a:cs typeface="Arial" panose="020B0604020202020204" pitchFamily="34" charset="0"/>
              </a:rPr>
              <a:t>								Mettre le montant de la cession </a:t>
            </a:r>
          </a:p>
          <a:p>
            <a:r>
              <a:rPr lang="fr-FR" dirty="0">
                <a:cs typeface="Arial" panose="020B0604020202020204" pitchFamily="34" charset="0"/>
              </a:rPr>
              <a:t>	</a:t>
            </a:r>
            <a:r>
              <a:rPr lang="fr-FR" dirty="0" smtClean="0">
                <a:cs typeface="Arial" panose="020B0604020202020204" pitchFamily="34" charset="0"/>
              </a:rPr>
              <a:t>							Passer à l’onglet </a:t>
            </a:r>
            <a:r>
              <a:rPr lang="fr-FR" dirty="0" err="1" smtClean="0">
                <a:cs typeface="Arial" panose="020B0604020202020204" pitchFamily="34" charset="0"/>
              </a:rPr>
              <a:t>Immob</a:t>
            </a:r>
            <a:r>
              <a:rPr lang="fr-FR" dirty="0" smtClean="0">
                <a:cs typeface="Arial" panose="020B0604020202020204" pitchFamily="34" charset="0"/>
              </a:rPr>
              <a:t>. sortie part. </a:t>
            </a:r>
            <a:endParaRPr lang="fr-FR" dirty="0">
              <a:cs typeface="Arial" panose="020B0604020202020204" pitchFamily="34" charset="0"/>
            </a:endParaRPr>
          </a:p>
          <a:p>
            <a:r>
              <a:rPr lang="fr-FR" dirty="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25</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8" y="1828800"/>
            <a:ext cx="2700416" cy="2519362"/>
          </a:xfrm>
          <a:prstGeom prst="rect">
            <a:avLst/>
          </a:prstGeom>
        </p:spPr>
      </p:pic>
      <p:pic>
        <p:nvPicPr>
          <p:cNvPr id="4" name="Image 3"/>
          <p:cNvPicPr>
            <a:picLocks noChangeAspect="1"/>
          </p:cNvPicPr>
          <p:nvPr/>
        </p:nvPicPr>
        <p:blipFill>
          <a:blip r:embed="rId3"/>
          <a:stretch>
            <a:fillRect/>
          </a:stretch>
        </p:blipFill>
        <p:spPr>
          <a:xfrm>
            <a:off x="3824555" y="2317458"/>
            <a:ext cx="317019" cy="353599"/>
          </a:xfrm>
          <a:prstGeom prst="rect">
            <a:avLst/>
          </a:prstGeom>
        </p:spPr>
      </p:pic>
      <p:pic>
        <p:nvPicPr>
          <p:cNvPr id="7" name="Image 6"/>
          <p:cNvPicPr>
            <a:picLocks noChangeAspect="1"/>
          </p:cNvPicPr>
          <p:nvPr/>
        </p:nvPicPr>
        <p:blipFill>
          <a:blip r:embed="rId4"/>
          <a:stretch>
            <a:fillRect/>
          </a:stretch>
        </p:blipFill>
        <p:spPr>
          <a:xfrm>
            <a:off x="1518834" y="3033612"/>
            <a:ext cx="464949" cy="463336"/>
          </a:xfrm>
          <a:prstGeom prst="rect">
            <a:avLst/>
          </a:prstGeom>
        </p:spPr>
      </p:pic>
      <p:pic>
        <p:nvPicPr>
          <p:cNvPr id="8" name="Image 7"/>
          <p:cNvPicPr>
            <a:picLocks noChangeAspect="1"/>
          </p:cNvPicPr>
          <p:nvPr/>
        </p:nvPicPr>
        <p:blipFill>
          <a:blip r:embed="rId5"/>
          <a:stretch>
            <a:fillRect/>
          </a:stretch>
        </p:blipFill>
        <p:spPr>
          <a:xfrm>
            <a:off x="1496608" y="3523747"/>
            <a:ext cx="1725318" cy="115834"/>
          </a:xfrm>
          <a:prstGeom prst="rect">
            <a:avLst/>
          </a:prstGeom>
        </p:spPr>
      </p:pic>
      <p:pic>
        <p:nvPicPr>
          <p:cNvPr id="9" name="Image 8"/>
          <p:cNvPicPr>
            <a:picLocks noChangeAspect="1"/>
          </p:cNvPicPr>
          <p:nvPr/>
        </p:nvPicPr>
        <p:blipFill>
          <a:blip r:embed="rId6"/>
          <a:stretch>
            <a:fillRect/>
          </a:stretch>
        </p:blipFill>
        <p:spPr>
          <a:xfrm>
            <a:off x="3827602" y="2680013"/>
            <a:ext cx="310923" cy="353599"/>
          </a:xfrm>
          <a:prstGeom prst="rect">
            <a:avLst/>
          </a:prstGeom>
        </p:spPr>
      </p:pic>
      <p:pic>
        <p:nvPicPr>
          <p:cNvPr id="10" name="Image 9"/>
          <p:cNvPicPr>
            <a:picLocks noChangeAspect="1"/>
          </p:cNvPicPr>
          <p:nvPr/>
        </p:nvPicPr>
        <p:blipFill>
          <a:blip r:embed="rId7"/>
          <a:stretch>
            <a:fillRect/>
          </a:stretch>
        </p:blipFill>
        <p:spPr>
          <a:xfrm>
            <a:off x="1281875" y="2922032"/>
            <a:ext cx="310923" cy="353599"/>
          </a:xfrm>
          <a:prstGeom prst="rect">
            <a:avLst/>
          </a:prstGeom>
        </p:spPr>
      </p:pic>
      <p:pic>
        <p:nvPicPr>
          <p:cNvPr id="11" name="Image 10"/>
          <p:cNvPicPr>
            <a:picLocks noChangeAspect="1"/>
          </p:cNvPicPr>
          <p:nvPr/>
        </p:nvPicPr>
        <p:blipFill>
          <a:blip r:embed="rId8"/>
          <a:stretch>
            <a:fillRect/>
          </a:stretch>
        </p:blipFill>
        <p:spPr>
          <a:xfrm>
            <a:off x="1592798" y="2397206"/>
            <a:ext cx="317019" cy="353599"/>
          </a:xfrm>
          <a:prstGeom prst="rect">
            <a:avLst/>
          </a:prstGeom>
        </p:spPr>
      </p:pic>
      <p:pic>
        <p:nvPicPr>
          <p:cNvPr id="12" name="Image 11"/>
          <p:cNvPicPr>
            <a:picLocks noChangeAspect="1"/>
          </p:cNvPicPr>
          <p:nvPr/>
        </p:nvPicPr>
        <p:blipFill>
          <a:blip r:embed="rId9"/>
          <a:stretch>
            <a:fillRect/>
          </a:stretch>
        </p:blipFill>
        <p:spPr>
          <a:xfrm>
            <a:off x="3802481" y="3046128"/>
            <a:ext cx="317019" cy="353599"/>
          </a:xfrm>
          <a:prstGeom prst="rect">
            <a:avLst/>
          </a:prstGeom>
        </p:spPr>
      </p:pic>
      <p:pic>
        <p:nvPicPr>
          <p:cNvPr id="13" name="Image 12"/>
          <p:cNvPicPr>
            <a:picLocks noChangeAspect="1"/>
          </p:cNvPicPr>
          <p:nvPr/>
        </p:nvPicPr>
        <p:blipFill>
          <a:blip r:embed="rId10"/>
          <a:stretch>
            <a:fillRect/>
          </a:stretch>
        </p:blipFill>
        <p:spPr>
          <a:xfrm>
            <a:off x="1241845" y="3474281"/>
            <a:ext cx="317019" cy="353599"/>
          </a:xfrm>
          <a:prstGeom prst="rect">
            <a:avLst/>
          </a:prstGeom>
        </p:spPr>
      </p:pic>
      <p:pic>
        <p:nvPicPr>
          <p:cNvPr id="14" name="Image 13"/>
          <p:cNvPicPr>
            <a:picLocks noChangeAspect="1"/>
          </p:cNvPicPr>
          <p:nvPr/>
        </p:nvPicPr>
        <p:blipFill>
          <a:blip r:embed="rId11"/>
          <a:stretch>
            <a:fillRect/>
          </a:stretch>
        </p:blipFill>
        <p:spPr>
          <a:xfrm>
            <a:off x="3816306" y="3388153"/>
            <a:ext cx="317019" cy="353599"/>
          </a:xfrm>
          <a:prstGeom prst="rect">
            <a:avLst/>
          </a:prstGeom>
        </p:spPr>
      </p:pic>
      <p:pic>
        <p:nvPicPr>
          <p:cNvPr id="15" name="Image 14"/>
          <p:cNvPicPr>
            <a:picLocks noChangeAspect="1"/>
          </p:cNvPicPr>
          <p:nvPr/>
        </p:nvPicPr>
        <p:blipFill>
          <a:blip r:embed="rId12"/>
          <a:stretch>
            <a:fillRect/>
          </a:stretch>
        </p:blipFill>
        <p:spPr>
          <a:xfrm>
            <a:off x="2042248" y="3884681"/>
            <a:ext cx="317019" cy="353599"/>
          </a:xfrm>
          <a:prstGeom prst="rect">
            <a:avLst/>
          </a:prstGeom>
        </p:spPr>
      </p:pic>
    </p:spTree>
    <p:extLst>
      <p:ext uri="{BB962C8B-B14F-4D97-AF65-F5344CB8AC3E}">
        <p14:creationId xmlns:p14="http://schemas.microsoft.com/office/powerpoint/2010/main" val="2640082713"/>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000" dirty="0">
                <a:cs typeface="Arial" panose="020B0604020202020204" pitchFamily="34" charset="0"/>
              </a:rPr>
              <a:t>Mode opératoire fiche immobilisation : cession d’immobilisation </a:t>
            </a:r>
            <a:r>
              <a:rPr lang="fr-FR" altLang="en-US" sz="1800" dirty="0">
                <a:latin typeface="Arial" panose="020B0604020202020204" pitchFamily="34" charset="0"/>
                <a:cs typeface="Arial" panose="020B0604020202020204" pitchFamily="34" charset="0"/>
              </a:rPr>
              <a:t/>
            </a:r>
            <a:br>
              <a:rPr lang="fr-FR" altLang="en-US" sz="1800" dirty="0">
                <a:latin typeface="Arial" panose="020B0604020202020204" pitchFamily="34" charset="0"/>
                <a:cs typeface="Arial" panose="020B0604020202020204" pitchFamily="34" charset="0"/>
              </a:rPr>
            </a:br>
            <a:r>
              <a:rPr lang="fr-FR" altLang="en-US" sz="1800" dirty="0">
                <a:latin typeface="Arial" panose="020B0604020202020204" pitchFamily="34" charset="0"/>
                <a:cs typeface="Arial" panose="020B0604020202020204" pitchFamily="34" charset="0"/>
              </a:rPr>
              <a:t>sans client </a:t>
            </a:r>
            <a:r>
              <a:rPr lang="fr-FR" altLang="en-US" sz="1800" dirty="0" smtClean="0">
                <a:latin typeface="Arial" panose="020B0604020202020204" pitchFamily="34" charset="0"/>
                <a:cs typeface="Arial" panose="020B0604020202020204" pitchFamily="34" charset="0"/>
              </a:rPr>
              <a:t>2/4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Cocher dans le pavé Référence : des entrées ex. crs</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Sauvegarder votre saisie.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26</a:t>
            </a:fld>
            <a:endParaRPr lang="fr-FR" altLang="en-US" sz="750">
              <a:solidFill>
                <a:srgbClr val="000000"/>
              </a:solidFill>
            </a:endParaRPr>
          </a:p>
        </p:txBody>
      </p:sp>
      <p:pic>
        <p:nvPicPr>
          <p:cNvPr id="6" name="Image 5"/>
          <p:cNvPicPr>
            <a:picLocks noChangeAspect="1"/>
          </p:cNvPicPr>
          <p:nvPr/>
        </p:nvPicPr>
        <p:blipFill>
          <a:blip r:embed="rId2"/>
          <a:stretch>
            <a:fillRect/>
          </a:stretch>
        </p:blipFill>
        <p:spPr>
          <a:xfrm>
            <a:off x="573578" y="1152525"/>
            <a:ext cx="3135130" cy="2464231"/>
          </a:xfrm>
          <a:prstGeom prst="rect">
            <a:avLst/>
          </a:prstGeom>
        </p:spPr>
      </p:pic>
      <p:pic>
        <p:nvPicPr>
          <p:cNvPr id="3" name="Image 2"/>
          <p:cNvPicPr>
            <a:picLocks noChangeAspect="1"/>
          </p:cNvPicPr>
          <p:nvPr/>
        </p:nvPicPr>
        <p:blipFill>
          <a:blip r:embed="rId3"/>
          <a:stretch>
            <a:fillRect/>
          </a:stretch>
        </p:blipFill>
        <p:spPr>
          <a:xfrm>
            <a:off x="3785809" y="1121990"/>
            <a:ext cx="317019" cy="353599"/>
          </a:xfrm>
          <a:prstGeom prst="rect">
            <a:avLst/>
          </a:prstGeom>
        </p:spPr>
      </p:pic>
      <p:pic>
        <p:nvPicPr>
          <p:cNvPr id="4" name="Image 3"/>
          <p:cNvPicPr>
            <a:picLocks noChangeAspect="1"/>
          </p:cNvPicPr>
          <p:nvPr/>
        </p:nvPicPr>
        <p:blipFill>
          <a:blip r:embed="rId3"/>
          <a:stretch>
            <a:fillRect/>
          </a:stretch>
        </p:blipFill>
        <p:spPr>
          <a:xfrm>
            <a:off x="1492059" y="3293692"/>
            <a:ext cx="317019" cy="353599"/>
          </a:xfrm>
          <a:prstGeom prst="rect">
            <a:avLst/>
          </a:prstGeom>
        </p:spPr>
      </p:pic>
    </p:spTree>
    <p:extLst>
      <p:ext uri="{BB962C8B-B14F-4D97-AF65-F5344CB8AC3E}">
        <p14:creationId xmlns:p14="http://schemas.microsoft.com/office/powerpoint/2010/main" val="2993748121"/>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000" dirty="0">
                <a:cs typeface="Arial" panose="020B0604020202020204" pitchFamily="34" charset="0"/>
              </a:rPr>
              <a:t>Mode opératoire fiche immobilisation : cession d’immobilisation </a:t>
            </a:r>
            <a:r>
              <a:rPr lang="fr-FR" altLang="en-US" sz="1800" dirty="0">
                <a:latin typeface="Arial" panose="020B0604020202020204" pitchFamily="34" charset="0"/>
                <a:cs typeface="Arial" panose="020B0604020202020204" pitchFamily="34" charset="0"/>
              </a:rPr>
              <a:t/>
            </a:r>
            <a:br>
              <a:rPr lang="fr-FR" altLang="en-US" sz="1800" dirty="0">
                <a:latin typeface="Arial" panose="020B0604020202020204" pitchFamily="34" charset="0"/>
                <a:cs typeface="Arial" panose="020B0604020202020204" pitchFamily="34" charset="0"/>
              </a:rPr>
            </a:br>
            <a:r>
              <a:rPr lang="fr-FR" altLang="en-US" sz="1800" dirty="0">
                <a:latin typeface="Arial" panose="020B0604020202020204" pitchFamily="34" charset="0"/>
                <a:cs typeface="Arial" panose="020B0604020202020204" pitchFamily="34" charset="0"/>
              </a:rPr>
              <a:t>sans client </a:t>
            </a:r>
            <a:r>
              <a:rPr lang="fr-FR" altLang="en-US" sz="1800" dirty="0" smtClean="0">
                <a:latin typeface="Arial" panose="020B0604020202020204" pitchFamily="34" charset="0"/>
                <a:cs typeface="Arial" panose="020B0604020202020204" pitchFamily="34" charset="0"/>
              </a:rPr>
              <a:t>3/4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a:cs typeface="Arial" panose="020B0604020202020204" pitchFamily="34" charset="0"/>
              </a:rPr>
              <a:t>Lancer la transaction AW01N pour visualiser </a:t>
            </a:r>
            <a:r>
              <a:rPr lang="fr-FR" dirty="0" smtClean="0">
                <a:cs typeface="Arial" panose="020B0604020202020204" pitchFamily="34" charset="0"/>
              </a:rPr>
              <a:t>le mouvement de cession sur l’</a:t>
            </a:r>
            <a:r>
              <a:rPr lang="fr-FR" dirty="0" err="1" smtClean="0">
                <a:cs typeface="Arial" panose="020B0604020202020204" pitchFamily="34" charset="0"/>
              </a:rPr>
              <a:t>immo</a:t>
            </a:r>
            <a:r>
              <a:rPr lang="fr-FR" dirty="0" smtClean="0">
                <a:cs typeface="Arial" panose="020B0604020202020204" pitchFamily="34" charset="0"/>
              </a:rPr>
              <a:t>. </a:t>
            </a:r>
          </a:p>
          <a:p>
            <a:r>
              <a:rPr lang="fr-FR" dirty="0" smtClean="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32854"/>
            <a:ext cx="3481118" cy="3149142"/>
          </a:xfrm>
          <a:prstGeom prst="rect">
            <a:avLst/>
          </a:prstGeom>
        </p:spPr>
      </p:pic>
    </p:spTree>
    <p:extLst>
      <p:ext uri="{BB962C8B-B14F-4D97-AF65-F5344CB8AC3E}">
        <p14:creationId xmlns:p14="http://schemas.microsoft.com/office/powerpoint/2010/main" val="321453993"/>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000" dirty="0">
                <a:cs typeface="Arial" panose="020B0604020202020204" pitchFamily="34" charset="0"/>
              </a:rPr>
              <a:t>Mode opératoire fiche immobilisation : cession d’immobilisation </a:t>
            </a:r>
            <a:r>
              <a:rPr lang="fr-FR" altLang="en-US" sz="2000" dirty="0">
                <a:latin typeface="Arial" panose="020B0604020202020204" pitchFamily="34" charset="0"/>
                <a:cs typeface="Arial" panose="020B0604020202020204" pitchFamily="34" charset="0"/>
              </a:rPr>
              <a:t/>
            </a:r>
            <a:br>
              <a:rPr lang="fr-FR" altLang="en-US" sz="2000" dirty="0">
                <a:latin typeface="Arial" panose="020B0604020202020204" pitchFamily="34" charset="0"/>
                <a:cs typeface="Arial" panose="020B0604020202020204" pitchFamily="34" charset="0"/>
              </a:rPr>
            </a:br>
            <a:r>
              <a:rPr lang="fr-FR" altLang="en-US" sz="2000" dirty="0">
                <a:latin typeface="Arial" panose="020B0604020202020204" pitchFamily="34" charset="0"/>
                <a:cs typeface="Arial" panose="020B0604020202020204" pitchFamily="34" charset="0"/>
              </a:rPr>
              <a:t>sans client </a:t>
            </a:r>
            <a:r>
              <a:rPr lang="fr-FR" altLang="en-US" sz="2000" dirty="0" smtClean="0">
                <a:latin typeface="Arial" panose="020B0604020202020204" pitchFamily="34" charset="0"/>
                <a:cs typeface="Arial" panose="020B0604020202020204" pitchFamily="34" charset="0"/>
              </a:rPr>
              <a:t>4/4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latin typeface="Arial" panose="020B0604020202020204" pitchFamily="34" charset="0"/>
                <a:cs typeface="Arial" panose="020B0604020202020204" pitchFamily="34" charset="0"/>
              </a:rPr>
              <a:t>Lancer </a:t>
            </a:r>
            <a:r>
              <a:rPr lang="fr-FR" dirty="0">
                <a:latin typeface="Arial" panose="020B0604020202020204" pitchFamily="34" charset="0"/>
                <a:cs typeface="Arial" panose="020B0604020202020204" pitchFamily="34" charset="0"/>
              </a:rPr>
              <a:t>la transaction </a:t>
            </a:r>
            <a:r>
              <a:rPr lang="fr-FR" dirty="0" smtClean="0">
                <a:latin typeface="Arial" panose="020B0604020202020204" pitchFamily="34" charset="0"/>
                <a:cs typeface="Arial" panose="020B0604020202020204" pitchFamily="34" charset="0"/>
              </a:rPr>
              <a:t>AW01N pour visualiser l’</a:t>
            </a:r>
            <a:r>
              <a:rPr lang="fr-FR" dirty="0" err="1" smtClean="0">
                <a:latin typeface="Arial" panose="020B0604020202020204" pitchFamily="34" charset="0"/>
                <a:cs typeface="Arial" panose="020B0604020202020204" pitchFamily="34" charset="0"/>
              </a:rPr>
              <a:t>immo</a:t>
            </a:r>
            <a:r>
              <a:rPr lang="fr-FR" dirty="0" smtClean="0">
                <a:latin typeface="Arial" panose="020B0604020202020204" pitchFamily="34" charset="0"/>
                <a:cs typeface="Arial" panose="020B0604020202020204" pitchFamily="34" charset="0"/>
              </a:rPr>
              <a:t>.  		Lancer </a:t>
            </a:r>
            <a:r>
              <a:rPr lang="fr-FR" dirty="0">
                <a:latin typeface="Arial" panose="020B0604020202020204" pitchFamily="34" charset="0"/>
                <a:cs typeface="Arial" panose="020B0604020202020204" pitchFamily="34" charset="0"/>
              </a:rPr>
              <a:t>la transaction </a:t>
            </a:r>
            <a:r>
              <a:rPr lang="fr-FR" dirty="0" smtClean="0">
                <a:latin typeface="Arial" panose="020B0604020202020204" pitchFamily="34" charset="0"/>
                <a:cs typeface="Arial" panose="020B0604020202020204" pitchFamily="34" charset="0"/>
              </a:rPr>
              <a:t>FB70 pour établir la facture : </a:t>
            </a: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28</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48795"/>
            <a:ext cx="3479229" cy="3133201"/>
          </a:xfrm>
          <a:prstGeom prst="rect">
            <a:avLst/>
          </a:prstGeom>
        </p:spPr>
      </p:pic>
      <p:pic>
        <p:nvPicPr>
          <p:cNvPr id="5" name="Image 4"/>
          <p:cNvPicPr>
            <a:picLocks noChangeAspect="1"/>
          </p:cNvPicPr>
          <p:nvPr/>
        </p:nvPicPr>
        <p:blipFill>
          <a:blip r:embed="rId3"/>
          <a:stretch>
            <a:fillRect/>
          </a:stretch>
        </p:blipFill>
        <p:spPr>
          <a:xfrm>
            <a:off x="4812224" y="1348796"/>
            <a:ext cx="3394129" cy="3052724"/>
          </a:xfrm>
          <a:prstGeom prst="rect">
            <a:avLst/>
          </a:prstGeom>
        </p:spPr>
      </p:pic>
    </p:spTree>
    <p:extLst>
      <p:ext uri="{BB962C8B-B14F-4D97-AF65-F5344CB8AC3E}">
        <p14:creationId xmlns:p14="http://schemas.microsoft.com/office/powerpoint/2010/main" val="2663446893"/>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immobilisations : mise au rebut 1/4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Visualisation de l’immobilisation avant sa mise au rebut :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472340"/>
            <a:ext cx="2789694" cy="3009656"/>
          </a:xfrm>
          <a:prstGeom prst="rect">
            <a:avLst/>
          </a:prstGeom>
        </p:spPr>
      </p:pic>
    </p:spTree>
    <p:extLst>
      <p:ext uri="{BB962C8B-B14F-4D97-AF65-F5344CB8AC3E}">
        <p14:creationId xmlns:p14="http://schemas.microsoft.com/office/powerpoint/2010/main" val="4283188437"/>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immobilisations : mise au rebut 2/4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Lancer </a:t>
            </a:r>
            <a:r>
              <a:rPr lang="fr-FR" dirty="0">
                <a:cs typeface="Arial" panose="020B0604020202020204" pitchFamily="34" charset="0"/>
              </a:rPr>
              <a:t>la transaction </a:t>
            </a:r>
            <a:r>
              <a:rPr lang="fr-FR" dirty="0" smtClean="0">
                <a:cs typeface="Arial" panose="020B0604020202020204" pitchFamily="34" charset="0"/>
              </a:rPr>
              <a:t>ABAVN et mettre à jour les zones suivantes : </a:t>
            </a:r>
          </a:p>
          <a:p>
            <a:r>
              <a:rPr lang="fr-FR" dirty="0">
                <a:cs typeface="Arial" panose="020B0604020202020204" pitchFamily="34" charset="0"/>
              </a:rPr>
              <a:t>	</a:t>
            </a:r>
            <a:r>
              <a:rPr lang="fr-FR" dirty="0" smtClean="0">
                <a:cs typeface="Arial" panose="020B0604020202020204" pitchFamily="34" charset="0"/>
              </a:rPr>
              <a:t>							Renseigner le numéro de l’immobilisation</a:t>
            </a:r>
          </a:p>
          <a:p>
            <a:r>
              <a:rPr lang="fr-FR" dirty="0">
                <a:cs typeface="Arial" panose="020B0604020202020204" pitchFamily="34" charset="0"/>
              </a:rPr>
              <a:t>	</a:t>
            </a:r>
            <a:r>
              <a:rPr lang="fr-FR" dirty="0" smtClean="0">
                <a:cs typeface="Arial" panose="020B0604020202020204" pitchFamily="34" charset="0"/>
              </a:rPr>
              <a:t>							Renseigner les dates </a:t>
            </a:r>
          </a:p>
          <a:p>
            <a:r>
              <a:rPr lang="fr-FR" dirty="0">
                <a:cs typeface="Arial" panose="020B0604020202020204" pitchFamily="34" charset="0"/>
              </a:rPr>
              <a:t>	</a:t>
            </a:r>
            <a:r>
              <a:rPr lang="fr-FR" dirty="0" smtClean="0">
                <a:cs typeface="Arial" panose="020B0604020202020204" pitchFamily="34" charset="0"/>
              </a:rPr>
              <a:t>							Renseigner le texte </a:t>
            </a:r>
            <a:r>
              <a:rPr lang="fr-FR" dirty="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Passer à l’onglet </a:t>
            </a:r>
            <a:r>
              <a:rPr lang="fr-FR" dirty="0" err="1" smtClean="0">
                <a:cs typeface="Arial" panose="020B0604020202020204" pitchFamily="34" charset="0"/>
              </a:rPr>
              <a:t>Immob</a:t>
            </a:r>
            <a:r>
              <a:rPr lang="fr-FR" dirty="0" smtClean="0">
                <a:cs typeface="Arial" panose="020B0604020202020204" pitchFamily="34" charset="0"/>
              </a:rPr>
              <a:t>. sortie part.  </a:t>
            </a:r>
          </a:p>
          <a:p>
            <a:r>
              <a:rPr lang="fr-FR" dirty="0">
                <a:cs typeface="Arial" panose="020B0604020202020204" pitchFamily="34" charset="0"/>
              </a:rPr>
              <a:t>	</a:t>
            </a:r>
            <a:r>
              <a:rPr lang="fr-FR" dirty="0" smtClean="0">
                <a:cs typeface="Arial" panose="020B0604020202020204" pitchFamily="34" charset="0"/>
              </a:rPr>
              <a:t>							Cocher des entrées ex. crs. Et sauvegarder votre saisie. </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71599"/>
            <a:ext cx="2743059" cy="2826785"/>
          </a:xfrm>
          <a:prstGeom prst="rect">
            <a:avLst/>
          </a:prstGeom>
        </p:spPr>
      </p:pic>
      <p:pic>
        <p:nvPicPr>
          <p:cNvPr id="3" name="Image 2"/>
          <p:cNvPicPr>
            <a:picLocks noChangeAspect="1"/>
          </p:cNvPicPr>
          <p:nvPr/>
        </p:nvPicPr>
        <p:blipFill>
          <a:blip r:embed="rId3"/>
          <a:stretch>
            <a:fillRect/>
          </a:stretch>
        </p:blipFill>
        <p:spPr>
          <a:xfrm>
            <a:off x="3382853" y="1446506"/>
            <a:ext cx="317019" cy="359695"/>
          </a:xfrm>
          <a:prstGeom prst="rect">
            <a:avLst/>
          </a:prstGeom>
        </p:spPr>
      </p:pic>
      <p:pic>
        <p:nvPicPr>
          <p:cNvPr id="6" name="Image 5"/>
          <p:cNvPicPr>
            <a:picLocks noChangeAspect="1"/>
          </p:cNvPicPr>
          <p:nvPr/>
        </p:nvPicPr>
        <p:blipFill>
          <a:blip r:embed="rId4"/>
          <a:stretch>
            <a:fillRect/>
          </a:stretch>
        </p:blipFill>
        <p:spPr>
          <a:xfrm>
            <a:off x="3382853" y="1806201"/>
            <a:ext cx="317019" cy="353599"/>
          </a:xfrm>
          <a:prstGeom prst="rect">
            <a:avLst/>
          </a:prstGeom>
        </p:spPr>
      </p:pic>
      <p:pic>
        <p:nvPicPr>
          <p:cNvPr id="7" name="Image 6"/>
          <p:cNvPicPr>
            <a:picLocks noChangeAspect="1"/>
          </p:cNvPicPr>
          <p:nvPr/>
        </p:nvPicPr>
        <p:blipFill>
          <a:blip r:embed="rId5"/>
          <a:stretch>
            <a:fillRect/>
          </a:stretch>
        </p:blipFill>
        <p:spPr>
          <a:xfrm>
            <a:off x="3382853" y="2143110"/>
            <a:ext cx="317019" cy="353599"/>
          </a:xfrm>
          <a:prstGeom prst="rect">
            <a:avLst/>
          </a:prstGeom>
        </p:spPr>
      </p:pic>
      <p:pic>
        <p:nvPicPr>
          <p:cNvPr id="8" name="Image 7"/>
          <p:cNvPicPr>
            <a:picLocks noChangeAspect="1"/>
          </p:cNvPicPr>
          <p:nvPr/>
        </p:nvPicPr>
        <p:blipFill>
          <a:blip r:embed="rId6"/>
          <a:stretch>
            <a:fillRect/>
          </a:stretch>
        </p:blipFill>
        <p:spPr>
          <a:xfrm>
            <a:off x="1282832" y="2212054"/>
            <a:ext cx="317019" cy="359695"/>
          </a:xfrm>
          <a:prstGeom prst="rect">
            <a:avLst/>
          </a:prstGeom>
        </p:spPr>
      </p:pic>
      <p:pic>
        <p:nvPicPr>
          <p:cNvPr id="9" name="Image 8"/>
          <p:cNvPicPr>
            <a:picLocks noChangeAspect="1"/>
          </p:cNvPicPr>
          <p:nvPr/>
        </p:nvPicPr>
        <p:blipFill>
          <a:blip r:embed="rId7"/>
          <a:stretch>
            <a:fillRect/>
          </a:stretch>
        </p:blipFill>
        <p:spPr>
          <a:xfrm>
            <a:off x="1282832" y="3180536"/>
            <a:ext cx="356646" cy="608800"/>
          </a:xfrm>
          <a:prstGeom prst="rect">
            <a:avLst/>
          </a:prstGeom>
        </p:spPr>
      </p:pic>
      <p:pic>
        <p:nvPicPr>
          <p:cNvPr id="10" name="Image 9"/>
          <p:cNvPicPr>
            <a:picLocks noChangeAspect="1"/>
          </p:cNvPicPr>
          <p:nvPr/>
        </p:nvPicPr>
        <p:blipFill>
          <a:blip r:embed="rId8"/>
          <a:stretch>
            <a:fillRect/>
          </a:stretch>
        </p:blipFill>
        <p:spPr>
          <a:xfrm>
            <a:off x="1578066" y="3043569"/>
            <a:ext cx="317019" cy="353599"/>
          </a:xfrm>
          <a:prstGeom prst="rect">
            <a:avLst/>
          </a:prstGeom>
        </p:spPr>
      </p:pic>
      <p:pic>
        <p:nvPicPr>
          <p:cNvPr id="11" name="Image 10"/>
          <p:cNvPicPr>
            <a:picLocks noChangeAspect="1"/>
          </p:cNvPicPr>
          <p:nvPr/>
        </p:nvPicPr>
        <p:blipFill>
          <a:blip r:embed="rId9"/>
          <a:stretch>
            <a:fillRect/>
          </a:stretch>
        </p:blipFill>
        <p:spPr>
          <a:xfrm>
            <a:off x="1224366" y="3819089"/>
            <a:ext cx="1635071" cy="186866"/>
          </a:xfrm>
          <a:prstGeom prst="rect">
            <a:avLst/>
          </a:prstGeom>
        </p:spPr>
      </p:pic>
      <p:pic>
        <p:nvPicPr>
          <p:cNvPr id="12" name="Image 11"/>
          <p:cNvPicPr>
            <a:picLocks noChangeAspect="1"/>
          </p:cNvPicPr>
          <p:nvPr/>
        </p:nvPicPr>
        <p:blipFill>
          <a:blip r:embed="rId10"/>
          <a:stretch>
            <a:fillRect/>
          </a:stretch>
        </p:blipFill>
        <p:spPr>
          <a:xfrm>
            <a:off x="2734036" y="3652818"/>
            <a:ext cx="317019" cy="353599"/>
          </a:xfrm>
          <a:prstGeom prst="rect">
            <a:avLst/>
          </a:prstGeom>
        </p:spPr>
      </p:pic>
      <p:pic>
        <p:nvPicPr>
          <p:cNvPr id="13" name="Image 12"/>
          <p:cNvPicPr>
            <a:picLocks noChangeAspect="1"/>
          </p:cNvPicPr>
          <p:nvPr/>
        </p:nvPicPr>
        <p:blipFill>
          <a:blip r:embed="rId11"/>
          <a:stretch>
            <a:fillRect/>
          </a:stretch>
        </p:blipFill>
        <p:spPr>
          <a:xfrm>
            <a:off x="3641975" y="3107410"/>
            <a:ext cx="2426418" cy="1374585"/>
          </a:xfrm>
          <a:prstGeom prst="rect">
            <a:avLst/>
          </a:prstGeom>
        </p:spPr>
      </p:pic>
      <p:pic>
        <p:nvPicPr>
          <p:cNvPr id="14" name="Image 13"/>
          <p:cNvPicPr>
            <a:picLocks noChangeAspect="1"/>
          </p:cNvPicPr>
          <p:nvPr/>
        </p:nvPicPr>
        <p:blipFill>
          <a:blip r:embed="rId12"/>
          <a:stretch>
            <a:fillRect/>
          </a:stretch>
        </p:blipFill>
        <p:spPr>
          <a:xfrm>
            <a:off x="4173267" y="4248244"/>
            <a:ext cx="317019" cy="353599"/>
          </a:xfrm>
          <a:prstGeom prst="rect">
            <a:avLst/>
          </a:prstGeom>
        </p:spPr>
      </p:pic>
    </p:spTree>
    <p:extLst>
      <p:ext uri="{BB962C8B-B14F-4D97-AF65-F5344CB8AC3E}">
        <p14:creationId xmlns:p14="http://schemas.microsoft.com/office/powerpoint/2010/main" val="3056146224"/>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mise au rebut 3/4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Visualisation de le fiche </a:t>
            </a:r>
            <a:r>
              <a:rPr lang="fr-FR" dirty="0" err="1" smtClean="0">
                <a:cs typeface="Arial" panose="020B0604020202020204" pitchFamily="34" charset="0"/>
              </a:rPr>
              <a:t>immo</a:t>
            </a:r>
            <a:r>
              <a:rPr lang="fr-FR" dirty="0" smtClean="0">
                <a:cs typeface="Arial" panose="020B0604020202020204" pitchFamily="34" charset="0"/>
              </a:rPr>
              <a:t>. après la mise au rebut :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71600"/>
            <a:ext cx="3951491" cy="3110396"/>
          </a:xfrm>
          <a:prstGeom prst="rect">
            <a:avLst/>
          </a:prstGeom>
        </p:spPr>
      </p:pic>
      <p:pic>
        <p:nvPicPr>
          <p:cNvPr id="4" name="Image 3"/>
          <p:cNvPicPr>
            <a:picLocks noChangeAspect="1"/>
          </p:cNvPicPr>
          <p:nvPr/>
        </p:nvPicPr>
        <p:blipFill>
          <a:blip r:embed="rId3"/>
          <a:stretch>
            <a:fillRect/>
          </a:stretch>
        </p:blipFill>
        <p:spPr>
          <a:xfrm>
            <a:off x="4857335" y="1371600"/>
            <a:ext cx="3962814" cy="3110396"/>
          </a:xfrm>
          <a:prstGeom prst="rect">
            <a:avLst/>
          </a:prstGeom>
        </p:spPr>
      </p:pic>
    </p:spTree>
    <p:extLst>
      <p:ext uri="{BB962C8B-B14F-4D97-AF65-F5344CB8AC3E}">
        <p14:creationId xmlns:p14="http://schemas.microsoft.com/office/powerpoint/2010/main" val="3839718569"/>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mise au rebut 4/4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a:t>Le système </a:t>
            </a:r>
            <a:r>
              <a:rPr lang="fr-FR" dirty="0" smtClean="0"/>
              <a:t>est sensé calculer </a:t>
            </a:r>
            <a:r>
              <a:rPr lang="fr-FR" dirty="0"/>
              <a:t>la dotation « complémentaire » (correspondant aux amortissements non encore courus à la date de radiation) et l’enregistre comptablement au compte Dotation Amortissement Exceptionnel. </a:t>
            </a:r>
            <a:endParaRPr lang="fr-FR" dirty="0" smtClean="0"/>
          </a:p>
          <a:p>
            <a:r>
              <a:rPr lang="fr-FR" dirty="0" smtClean="0"/>
              <a:t>Dans </a:t>
            </a:r>
            <a:r>
              <a:rPr lang="fr-FR" dirty="0"/>
              <a:t>ce contexte de test où l’</a:t>
            </a:r>
            <a:r>
              <a:rPr lang="fr-FR" dirty="0" err="1"/>
              <a:t>immo</a:t>
            </a:r>
            <a:r>
              <a:rPr lang="fr-FR" dirty="0"/>
              <a:t>. valorisée le mois N amortie le mois N mise au rebut le mois N, le système se mélange dans la reprise de l'amortissement </a:t>
            </a:r>
            <a:r>
              <a:rPr lang="fr-FR" dirty="0" smtClean="0"/>
              <a:t>exceptionnel et passe les écritures suivantes :  </a:t>
            </a:r>
          </a:p>
          <a:p>
            <a:endParaRPr lang="fr-FR" b="1" dirty="0"/>
          </a:p>
          <a:p>
            <a:endParaRPr lang="fr-FR" b="1" dirty="0" smtClean="0"/>
          </a:p>
          <a:p>
            <a:endParaRPr lang="fr-FR" b="1" dirty="0"/>
          </a:p>
          <a:p>
            <a:endParaRPr lang="fr-FR" b="1" dirty="0" smtClean="0"/>
          </a:p>
          <a:p>
            <a:endParaRPr lang="fr-FR" b="1" dirty="0" smtClean="0"/>
          </a:p>
          <a:p>
            <a:endParaRPr lang="fr-FR" b="1" dirty="0"/>
          </a:p>
          <a:p>
            <a:r>
              <a:rPr lang="fr-FR" dirty="0" smtClean="0"/>
              <a:t>QSDQSD</a:t>
            </a:r>
            <a:endParaRPr lang="ru-RU"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177512"/>
            <a:ext cx="3827941" cy="2304484"/>
          </a:xfrm>
          <a:prstGeom prst="rect">
            <a:avLst/>
          </a:prstGeom>
        </p:spPr>
      </p:pic>
      <p:pic>
        <p:nvPicPr>
          <p:cNvPr id="4" name="Image 3"/>
          <p:cNvPicPr>
            <a:picLocks noChangeAspect="1"/>
          </p:cNvPicPr>
          <p:nvPr/>
        </p:nvPicPr>
        <p:blipFill>
          <a:blip r:embed="rId3"/>
          <a:stretch>
            <a:fillRect/>
          </a:stretch>
        </p:blipFill>
        <p:spPr>
          <a:xfrm>
            <a:off x="4750232" y="2177512"/>
            <a:ext cx="3817910" cy="2304484"/>
          </a:xfrm>
          <a:prstGeom prst="rect">
            <a:avLst/>
          </a:prstGeom>
        </p:spPr>
      </p:pic>
    </p:spTree>
    <p:extLst>
      <p:ext uri="{BB962C8B-B14F-4D97-AF65-F5344CB8AC3E}">
        <p14:creationId xmlns:p14="http://schemas.microsoft.com/office/powerpoint/2010/main" val="4193427085"/>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1/8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Lancer la transaction AFAB : 					Renseigner les données suivantes : </a:t>
            </a:r>
          </a:p>
          <a:p>
            <a:r>
              <a:rPr lang="fr-FR" dirty="0"/>
              <a:t>	</a:t>
            </a:r>
            <a:r>
              <a:rPr lang="fr-FR" dirty="0" smtClean="0"/>
              <a:t>								La société</a:t>
            </a:r>
          </a:p>
          <a:p>
            <a:r>
              <a:rPr lang="fr-FR" dirty="0"/>
              <a:t>	</a:t>
            </a:r>
            <a:r>
              <a:rPr lang="fr-FR" dirty="0" smtClean="0"/>
              <a:t>								L’exercice comptable et la période comptable</a:t>
            </a:r>
          </a:p>
          <a:p>
            <a:r>
              <a:rPr lang="fr-FR" dirty="0"/>
              <a:t>	</a:t>
            </a:r>
            <a:r>
              <a:rPr lang="fr-FR" dirty="0" smtClean="0"/>
              <a:t>								 </a:t>
            </a:r>
            <a:r>
              <a:rPr lang="fr-FR" dirty="0"/>
              <a:t>Cocher le motif de lancement « Planifié » dans le cas d’un fonctionnement </a:t>
            </a:r>
          </a:p>
          <a:p>
            <a:r>
              <a:rPr lang="fr-FR" dirty="0"/>
              <a:t>									normal</a:t>
            </a:r>
          </a:p>
          <a:p>
            <a:r>
              <a:rPr lang="fr-FR" dirty="0" smtClean="0"/>
              <a:t>									</a:t>
            </a:r>
            <a:r>
              <a:rPr lang="fr-FR" dirty="0"/>
              <a:t>Cocher « Lister les immobilisations » afin d’avoir le détail dans le report</a:t>
            </a:r>
          </a:p>
          <a:p>
            <a:r>
              <a:rPr lang="fr-FR" dirty="0"/>
              <a:t>	</a:t>
            </a:r>
            <a:r>
              <a:rPr lang="fr-FR" dirty="0" smtClean="0"/>
              <a:t>								 Faire le lancement toujours en mode « Test » avant de le refaire en mode</a:t>
            </a:r>
          </a:p>
          <a:p>
            <a:r>
              <a:rPr lang="fr-FR" dirty="0"/>
              <a:t>	</a:t>
            </a:r>
            <a:r>
              <a:rPr lang="fr-FR" dirty="0" smtClean="0"/>
              <a:t>								On peut exécuter l’AFAB en cliquant directement sur le bouton « Exécuter »</a:t>
            </a:r>
          </a:p>
          <a:p>
            <a:r>
              <a:rPr lang="fr-FR" dirty="0"/>
              <a:t>	</a:t>
            </a:r>
            <a:r>
              <a:rPr lang="fr-FR" dirty="0" smtClean="0"/>
              <a:t>								Mais ce mode de lancement est réservé à un lancement de moins de 1000</a:t>
            </a:r>
          </a:p>
          <a:p>
            <a:r>
              <a:rPr lang="fr-FR" dirty="0"/>
              <a:t>	</a:t>
            </a:r>
            <a:r>
              <a:rPr lang="fr-FR" dirty="0" smtClean="0"/>
              <a:t>								immobilisations</a:t>
            </a:r>
            <a:r>
              <a:rPr lang="fr-FR" dirty="0" smtClean="0"/>
              <a:t>. </a:t>
            </a:r>
            <a:r>
              <a:rPr lang="fr-FR" dirty="0" smtClean="0"/>
              <a:t>Prendre l’habitude de le faire en arrière plan. </a:t>
            </a:r>
            <a:r>
              <a:rPr lang="fr-FR" dirty="0" smtClean="0"/>
              <a:t> </a:t>
            </a:r>
            <a:endParaRPr lang="fr-FR" dirty="0"/>
          </a:p>
          <a:p>
            <a:r>
              <a:rPr lang="fr-FR" dirty="0" smtClean="0"/>
              <a:t>  </a:t>
            </a:r>
            <a:endParaRPr lang="fr-FR" dirty="0"/>
          </a:p>
          <a:p>
            <a:r>
              <a:rPr lang="fr-FR" dirty="0" smtClean="0"/>
              <a:t>	</a:t>
            </a:r>
            <a:endParaRPr lang="fr-FR" dirty="0"/>
          </a:p>
          <a:p>
            <a:endParaRPr lang="fr-FR" b="1" dirty="0" smtClean="0"/>
          </a:p>
          <a:p>
            <a:endParaRPr lang="fr-FR" b="1" dirty="0"/>
          </a:p>
          <a:p>
            <a:endParaRPr lang="fr-FR" b="1" dirty="0" smtClean="0"/>
          </a:p>
          <a:p>
            <a:endParaRPr lang="fr-FR" b="1" dirty="0" smtClean="0"/>
          </a:p>
          <a:p>
            <a:endParaRPr lang="fr-FR" b="1"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33</a:t>
            </a:fld>
            <a:endParaRPr lang="fr-FR" altLang="en-US" sz="750">
              <a:solidFill>
                <a:srgbClr val="000000"/>
              </a:solidFill>
            </a:endParaRPr>
          </a:p>
        </p:txBody>
      </p:sp>
      <p:pic>
        <p:nvPicPr>
          <p:cNvPr id="6" name="Image 5"/>
          <p:cNvPicPr>
            <a:picLocks noChangeAspect="1"/>
          </p:cNvPicPr>
          <p:nvPr/>
        </p:nvPicPr>
        <p:blipFill>
          <a:blip r:embed="rId2"/>
          <a:stretch>
            <a:fillRect/>
          </a:stretch>
        </p:blipFill>
        <p:spPr>
          <a:xfrm>
            <a:off x="3809056" y="1469752"/>
            <a:ext cx="317019" cy="359695"/>
          </a:xfrm>
          <a:prstGeom prst="rect">
            <a:avLst/>
          </a:prstGeom>
        </p:spPr>
      </p:pic>
      <p:pic>
        <p:nvPicPr>
          <p:cNvPr id="7" name="Image 6"/>
          <p:cNvPicPr>
            <a:picLocks noChangeAspect="1"/>
          </p:cNvPicPr>
          <p:nvPr/>
        </p:nvPicPr>
        <p:blipFill>
          <a:blip r:embed="rId3"/>
          <a:stretch>
            <a:fillRect/>
          </a:stretch>
        </p:blipFill>
        <p:spPr>
          <a:xfrm>
            <a:off x="3809056" y="1796624"/>
            <a:ext cx="317019" cy="359695"/>
          </a:xfrm>
          <a:prstGeom prst="rect">
            <a:avLst/>
          </a:prstGeom>
        </p:spPr>
      </p:pic>
      <p:pic>
        <p:nvPicPr>
          <p:cNvPr id="8" name="Image 7"/>
          <p:cNvPicPr>
            <a:picLocks noChangeAspect="1"/>
          </p:cNvPicPr>
          <p:nvPr/>
        </p:nvPicPr>
        <p:blipFill>
          <a:blip r:embed="rId4"/>
          <a:stretch>
            <a:fillRect/>
          </a:stretch>
        </p:blipFill>
        <p:spPr>
          <a:xfrm>
            <a:off x="3815152" y="2156319"/>
            <a:ext cx="310923" cy="353599"/>
          </a:xfrm>
          <a:prstGeom prst="rect">
            <a:avLst/>
          </a:prstGeom>
        </p:spPr>
      </p:pic>
      <p:pic>
        <p:nvPicPr>
          <p:cNvPr id="9" name="Image 8"/>
          <p:cNvPicPr>
            <a:picLocks noChangeAspect="1"/>
          </p:cNvPicPr>
          <p:nvPr/>
        </p:nvPicPr>
        <p:blipFill>
          <a:blip r:embed="rId5"/>
          <a:stretch>
            <a:fillRect/>
          </a:stretch>
        </p:blipFill>
        <p:spPr>
          <a:xfrm>
            <a:off x="3783676" y="2840850"/>
            <a:ext cx="310923" cy="353599"/>
          </a:xfrm>
          <a:prstGeom prst="rect">
            <a:avLst/>
          </a:prstGeom>
        </p:spPr>
      </p:pic>
      <p:pic>
        <p:nvPicPr>
          <p:cNvPr id="10" name="Image 9"/>
          <p:cNvPicPr>
            <a:picLocks noChangeAspect="1"/>
          </p:cNvPicPr>
          <p:nvPr/>
        </p:nvPicPr>
        <p:blipFill>
          <a:blip r:embed="rId6"/>
          <a:stretch>
            <a:fillRect/>
          </a:stretch>
        </p:blipFill>
        <p:spPr>
          <a:xfrm>
            <a:off x="3783675" y="3216384"/>
            <a:ext cx="310923" cy="353599"/>
          </a:xfrm>
          <a:prstGeom prst="rect">
            <a:avLst/>
          </a:prstGeom>
        </p:spPr>
      </p:pic>
      <p:pic>
        <p:nvPicPr>
          <p:cNvPr id="11" name="Image 10"/>
          <p:cNvPicPr>
            <a:picLocks noChangeAspect="1"/>
          </p:cNvPicPr>
          <p:nvPr/>
        </p:nvPicPr>
        <p:blipFill>
          <a:blip r:embed="rId7"/>
          <a:stretch>
            <a:fillRect/>
          </a:stretch>
        </p:blipFill>
        <p:spPr>
          <a:xfrm>
            <a:off x="3783676" y="3547141"/>
            <a:ext cx="310923" cy="353599"/>
          </a:xfrm>
          <a:prstGeom prst="rect">
            <a:avLst/>
          </a:prstGeom>
        </p:spPr>
      </p:pic>
      <p:pic>
        <p:nvPicPr>
          <p:cNvPr id="3" name="Image 2"/>
          <p:cNvPicPr>
            <a:picLocks noChangeAspect="1"/>
          </p:cNvPicPr>
          <p:nvPr/>
        </p:nvPicPr>
        <p:blipFill>
          <a:blip r:embed="rId8"/>
          <a:stretch>
            <a:fillRect/>
          </a:stretch>
        </p:blipFill>
        <p:spPr>
          <a:xfrm>
            <a:off x="573578" y="1351994"/>
            <a:ext cx="3241574" cy="3130002"/>
          </a:xfrm>
          <a:prstGeom prst="rect">
            <a:avLst/>
          </a:prstGeom>
        </p:spPr>
      </p:pic>
      <p:pic>
        <p:nvPicPr>
          <p:cNvPr id="4" name="Image 3"/>
          <p:cNvPicPr>
            <a:picLocks noChangeAspect="1"/>
          </p:cNvPicPr>
          <p:nvPr/>
        </p:nvPicPr>
        <p:blipFill>
          <a:blip r:embed="rId9"/>
          <a:stretch>
            <a:fillRect/>
          </a:stretch>
        </p:blipFill>
        <p:spPr>
          <a:xfrm>
            <a:off x="2266975" y="2006373"/>
            <a:ext cx="317019" cy="359695"/>
          </a:xfrm>
          <a:prstGeom prst="rect">
            <a:avLst/>
          </a:prstGeom>
        </p:spPr>
      </p:pic>
      <p:pic>
        <p:nvPicPr>
          <p:cNvPr id="5" name="Image 4"/>
          <p:cNvPicPr>
            <a:picLocks noChangeAspect="1"/>
          </p:cNvPicPr>
          <p:nvPr/>
        </p:nvPicPr>
        <p:blipFill>
          <a:blip r:embed="rId10"/>
          <a:stretch>
            <a:fillRect/>
          </a:stretch>
        </p:blipFill>
        <p:spPr>
          <a:xfrm>
            <a:off x="2273071" y="2295271"/>
            <a:ext cx="317019" cy="359695"/>
          </a:xfrm>
          <a:prstGeom prst="rect">
            <a:avLst/>
          </a:prstGeom>
        </p:spPr>
      </p:pic>
      <p:pic>
        <p:nvPicPr>
          <p:cNvPr id="12" name="Image 11"/>
          <p:cNvPicPr>
            <a:picLocks noChangeAspect="1"/>
          </p:cNvPicPr>
          <p:nvPr/>
        </p:nvPicPr>
        <p:blipFill>
          <a:blip r:embed="rId11"/>
          <a:stretch>
            <a:fillRect/>
          </a:stretch>
        </p:blipFill>
        <p:spPr>
          <a:xfrm>
            <a:off x="1048009" y="2639930"/>
            <a:ext cx="310923" cy="353599"/>
          </a:xfrm>
          <a:prstGeom prst="rect">
            <a:avLst/>
          </a:prstGeom>
        </p:spPr>
      </p:pic>
      <p:pic>
        <p:nvPicPr>
          <p:cNvPr id="13" name="Image 12"/>
          <p:cNvPicPr>
            <a:picLocks noChangeAspect="1"/>
          </p:cNvPicPr>
          <p:nvPr/>
        </p:nvPicPr>
        <p:blipFill>
          <a:blip r:embed="rId12"/>
          <a:stretch>
            <a:fillRect/>
          </a:stretch>
        </p:blipFill>
        <p:spPr>
          <a:xfrm>
            <a:off x="1526104" y="3193542"/>
            <a:ext cx="310923" cy="353599"/>
          </a:xfrm>
          <a:prstGeom prst="rect">
            <a:avLst/>
          </a:prstGeom>
        </p:spPr>
      </p:pic>
      <p:pic>
        <p:nvPicPr>
          <p:cNvPr id="14" name="Image 13"/>
          <p:cNvPicPr>
            <a:picLocks noChangeAspect="1"/>
          </p:cNvPicPr>
          <p:nvPr/>
        </p:nvPicPr>
        <p:blipFill>
          <a:blip r:embed="rId13"/>
          <a:stretch>
            <a:fillRect/>
          </a:stretch>
        </p:blipFill>
        <p:spPr>
          <a:xfrm>
            <a:off x="968166" y="3789797"/>
            <a:ext cx="310923" cy="353599"/>
          </a:xfrm>
          <a:prstGeom prst="rect">
            <a:avLst/>
          </a:prstGeom>
        </p:spPr>
      </p:pic>
      <p:pic>
        <p:nvPicPr>
          <p:cNvPr id="15" name="Image 14"/>
          <p:cNvPicPr>
            <a:picLocks noChangeAspect="1"/>
          </p:cNvPicPr>
          <p:nvPr/>
        </p:nvPicPr>
        <p:blipFill>
          <a:blip r:embed="rId14"/>
          <a:stretch>
            <a:fillRect/>
          </a:stretch>
        </p:blipFill>
        <p:spPr>
          <a:xfrm>
            <a:off x="657428" y="1807237"/>
            <a:ext cx="219475" cy="164606"/>
          </a:xfrm>
          <a:prstGeom prst="rect">
            <a:avLst/>
          </a:prstGeom>
        </p:spPr>
      </p:pic>
      <p:pic>
        <p:nvPicPr>
          <p:cNvPr id="16" name="Image 15"/>
          <p:cNvPicPr>
            <a:picLocks noChangeAspect="1"/>
          </p:cNvPicPr>
          <p:nvPr/>
        </p:nvPicPr>
        <p:blipFill>
          <a:blip r:embed="rId15"/>
          <a:stretch>
            <a:fillRect/>
          </a:stretch>
        </p:blipFill>
        <p:spPr>
          <a:xfrm>
            <a:off x="767165" y="1594780"/>
            <a:ext cx="310923" cy="353599"/>
          </a:xfrm>
          <a:prstGeom prst="rect">
            <a:avLst/>
          </a:prstGeom>
        </p:spPr>
      </p:pic>
    </p:spTree>
    <p:extLst>
      <p:ext uri="{BB962C8B-B14F-4D97-AF65-F5344CB8AC3E}">
        <p14:creationId xmlns:p14="http://schemas.microsoft.com/office/powerpoint/2010/main" val="84327422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2/8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b="1" dirty="0" smtClean="0"/>
              <a:t>					     </a:t>
            </a:r>
            <a:r>
              <a:rPr lang="fr-FR" b="1" dirty="0" smtClean="0"/>
              <a:t>    </a:t>
            </a:r>
            <a:r>
              <a:rPr lang="fr-FR" dirty="0"/>
              <a:t>E</a:t>
            </a:r>
            <a:r>
              <a:rPr lang="fr-FR" dirty="0" smtClean="0"/>
              <a:t>t </a:t>
            </a:r>
            <a:r>
              <a:rPr lang="fr-FR" dirty="0" smtClean="0"/>
              <a:t>pour le faire, cliquer sur Programme / </a:t>
            </a:r>
            <a:r>
              <a:rPr lang="fr-FR" dirty="0"/>
              <a:t>Exécuter en arrière </a:t>
            </a:r>
            <a:r>
              <a:rPr lang="fr-FR" dirty="0" smtClean="0"/>
              <a:t>Plan. </a:t>
            </a:r>
            <a:r>
              <a:rPr lang="fr-FR" dirty="0"/>
              <a:t>Le pop-up suivant </a:t>
            </a:r>
            <a:r>
              <a:rPr lang="fr-FR" dirty="0" smtClean="0"/>
              <a:t>apparait </a:t>
            </a:r>
            <a:r>
              <a:rPr lang="fr-FR" dirty="0"/>
              <a:t>:</a:t>
            </a:r>
            <a:endParaRPr lang="fr-FR" b="1" dirty="0"/>
          </a:p>
          <a:p>
            <a:r>
              <a:rPr lang="fr-FR" dirty="0" smtClean="0"/>
              <a:t>					         </a:t>
            </a:r>
            <a:r>
              <a:rPr lang="fr-FR" dirty="0">
                <a:cs typeface="Arial" panose="020B0604020202020204" pitchFamily="34" charset="0"/>
              </a:rPr>
              <a:t>Renseigner le nom de votre imprimante et cliquer sur Valider. </a:t>
            </a:r>
            <a:r>
              <a:rPr lang="fr-FR" dirty="0" smtClean="0"/>
              <a:t>											</a:t>
            </a:r>
            <a:r>
              <a:rPr lang="fr-FR" dirty="0"/>
              <a:t>	</a:t>
            </a:r>
            <a:r>
              <a:rPr lang="fr-FR" dirty="0" smtClean="0"/>
              <a:t>				</a:t>
            </a:r>
            <a:r>
              <a:rPr lang="fr-FR" dirty="0" smtClean="0"/>
              <a:t>	</a:t>
            </a:r>
            <a:r>
              <a:rPr lang="fr-FR" dirty="0" smtClean="0"/>
              <a:t>	  </a:t>
            </a:r>
          </a:p>
          <a:p>
            <a:r>
              <a:rPr lang="fr-FR" dirty="0" smtClean="0"/>
              <a:t>							</a:t>
            </a:r>
            <a:endParaRPr lang="fr-FR" b="1" dirty="0" smtClean="0"/>
          </a:p>
          <a:p>
            <a:endParaRPr lang="fr-FR" b="1"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34</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573578" y="1152525"/>
            <a:ext cx="2171700" cy="1019175"/>
          </a:xfrm>
          <a:prstGeom prst="rect">
            <a:avLst/>
          </a:prstGeom>
        </p:spPr>
      </p:pic>
      <p:pic>
        <p:nvPicPr>
          <p:cNvPr id="8" name="Image 7"/>
          <p:cNvPicPr>
            <a:picLocks noChangeAspect="1"/>
          </p:cNvPicPr>
          <p:nvPr/>
        </p:nvPicPr>
        <p:blipFill>
          <a:blip r:embed="rId3"/>
          <a:stretch>
            <a:fillRect/>
          </a:stretch>
        </p:blipFill>
        <p:spPr>
          <a:xfrm>
            <a:off x="573578" y="2313864"/>
            <a:ext cx="2782800" cy="1413777"/>
          </a:xfrm>
          <a:prstGeom prst="rect">
            <a:avLst/>
          </a:prstGeom>
        </p:spPr>
      </p:pic>
      <p:pic>
        <p:nvPicPr>
          <p:cNvPr id="9" name="Image 8"/>
          <p:cNvPicPr>
            <a:picLocks noChangeAspect="1"/>
          </p:cNvPicPr>
          <p:nvPr/>
        </p:nvPicPr>
        <p:blipFill>
          <a:blip r:embed="rId4"/>
          <a:stretch>
            <a:fillRect/>
          </a:stretch>
        </p:blipFill>
        <p:spPr>
          <a:xfrm>
            <a:off x="1214215" y="2459818"/>
            <a:ext cx="890426" cy="125060"/>
          </a:xfrm>
          <a:prstGeom prst="rect">
            <a:avLst/>
          </a:prstGeom>
        </p:spPr>
      </p:pic>
      <p:pic>
        <p:nvPicPr>
          <p:cNvPr id="10" name="Image 9"/>
          <p:cNvPicPr>
            <a:picLocks noChangeAspect="1"/>
          </p:cNvPicPr>
          <p:nvPr/>
        </p:nvPicPr>
        <p:blipFill>
          <a:blip r:embed="rId5"/>
          <a:stretch>
            <a:fillRect/>
          </a:stretch>
        </p:blipFill>
        <p:spPr>
          <a:xfrm>
            <a:off x="2522952" y="3560897"/>
            <a:ext cx="222326" cy="166744"/>
          </a:xfrm>
          <a:prstGeom prst="rect">
            <a:avLst/>
          </a:prstGeom>
        </p:spPr>
      </p:pic>
    </p:spTree>
    <p:extLst>
      <p:ext uri="{BB962C8B-B14F-4D97-AF65-F5344CB8AC3E}">
        <p14:creationId xmlns:p14="http://schemas.microsoft.com/office/powerpoint/2010/main" val="2369066500"/>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3/8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On a la possibilité de différer le lancement. Dans notre cas le lancement sera immédiat. Cliquer alors sur immédiat. et cliquer sur la</a:t>
            </a:r>
          </a:p>
          <a:p>
            <a:r>
              <a:rPr lang="fr-FR" dirty="0"/>
              <a:t>	</a:t>
            </a:r>
            <a:r>
              <a:rPr lang="fr-FR" dirty="0" smtClean="0"/>
              <a:t>							disquette. Le message suivant apparait en bas de l’écran : 	 </a:t>
            </a:r>
          </a:p>
          <a:p>
            <a:r>
              <a:rPr lang="fr-FR" dirty="0"/>
              <a:t>	</a:t>
            </a:r>
            <a:r>
              <a:rPr lang="fr-FR" dirty="0" smtClean="0"/>
              <a:t>							 </a:t>
            </a:r>
            <a:r>
              <a:rPr lang="fr-FR" dirty="0"/>
              <a:t>Maintenant, vous pouvez visualiser </a:t>
            </a:r>
            <a:r>
              <a:rPr lang="fr-FR" dirty="0" smtClean="0"/>
              <a:t>le spool généré par le lancement de l’AFAB.</a:t>
            </a:r>
          </a:p>
          <a:p>
            <a:r>
              <a:rPr lang="fr-FR" dirty="0"/>
              <a:t>	</a:t>
            </a:r>
            <a:r>
              <a:rPr lang="fr-FR" dirty="0" smtClean="0"/>
              <a:t>							Lancer la transaction SP01 et Exécuter en cliquant sur : 	</a:t>
            </a:r>
            <a:endParaRPr lang="fr-FR" dirty="0" smtClean="0"/>
          </a:p>
          <a:p>
            <a:r>
              <a:rPr lang="fr-FR" dirty="0"/>
              <a:t>	</a:t>
            </a:r>
            <a:r>
              <a:rPr lang="fr-FR" dirty="0" smtClean="0"/>
              <a:t>		</a:t>
            </a:r>
          </a:p>
          <a:p>
            <a:r>
              <a:rPr lang="fr-FR" dirty="0"/>
              <a:t>	</a:t>
            </a:r>
            <a:r>
              <a:rPr lang="fr-FR" dirty="0" smtClean="0"/>
              <a:t>					</a:t>
            </a:r>
          </a:p>
          <a:p>
            <a:endParaRPr lang="fr-FR" dirty="0"/>
          </a:p>
          <a:p>
            <a:endParaRPr lang="fr-FR" b="1" dirty="0" smtClean="0"/>
          </a:p>
          <a:p>
            <a:endParaRPr lang="fr-FR" b="1" dirty="0"/>
          </a:p>
          <a:p>
            <a:endParaRPr lang="fr-FR" b="1" dirty="0" smtClean="0"/>
          </a:p>
          <a:p>
            <a:endParaRPr lang="fr-FR" b="1" dirty="0" smtClean="0"/>
          </a:p>
          <a:p>
            <a:endParaRPr lang="fr-FR" b="1"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35</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49401"/>
            <a:ext cx="3045417" cy="2021480"/>
          </a:xfrm>
          <a:prstGeom prst="rect">
            <a:avLst/>
          </a:prstGeom>
        </p:spPr>
      </p:pic>
      <p:pic>
        <p:nvPicPr>
          <p:cNvPr id="4" name="Image 3"/>
          <p:cNvPicPr>
            <a:picLocks noChangeAspect="1"/>
          </p:cNvPicPr>
          <p:nvPr/>
        </p:nvPicPr>
        <p:blipFill>
          <a:blip r:embed="rId3"/>
          <a:stretch>
            <a:fillRect/>
          </a:stretch>
        </p:blipFill>
        <p:spPr>
          <a:xfrm>
            <a:off x="7260956" y="1470320"/>
            <a:ext cx="1425844" cy="219075"/>
          </a:xfrm>
          <a:prstGeom prst="rect">
            <a:avLst/>
          </a:prstGeom>
        </p:spPr>
      </p:pic>
      <p:pic>
        <p:nvPicPr>
          <p:cNvPr id="6" name="Image 5"/>
          <p:cNvPicPr>
            <a:picLocks noChangeAspect="1"/>
          </p:cNvPicPr>
          <p:nvPr/>
        </p:nvPicPr>
        <p:blipFill>
          <a:blip r:embed="rId4"/>
          <a:stretch>
            <a:fillRect/>
          </a:stretch>
        </p:blipFill>
        <p:spPr>
          <a:xfrm>
            <a:off x="573578" y="1527643"/>
            <a:ext cx="563884" cy="161752"/>
          </a:xfrm>
          <a:prstGeom prst="rect">
            <a:avLst/>
          </a:prstGeom>
        </p:spPr>
      </p:pic>
      <p:pic>
        <p:nvPicPr>
          <p:cNvPr id="7" name="Image 6"/>
          <p:cNvPicPr>
            <a:picLocks noChangeAspect="1"/>
          </p:cNvPicPr>
          <p:nvPr/>
        </p:nvPicPr>
        <p:blipFill>
          <a:blip r:embed="rId5"/>
          <a:stretch>
            <a:fillRect/>
          </a:stretch>
        </p:blipFill>
        <p:spPr>
          <a:xfrm>
            <a:off x="3742839" y="2417735"/>
            <a:ext cx="4680489" cy="1906292"/>
          </a:xfrm>
          <a:prstGeom prst="rect">
            <a:avLst/>
          </a:prstGeom>
        </p:spPr>
      </p:pic>
      <p:pic>
        <p:nvPicPr>
          <p:cNvPr id="8" name="Image 7"/>
          <p:cNvPicPr>
            <a:picLocks noChangeAspect="1"/>
          </p:cNvPicPr>
          <p:nvPr/>
        </p:nvPicPr>
        <p:blipFill>
          <a:blip r:embed="rId6"/>
          <a:stretch>
            <a:fillRect/>
          </a:stretch>
        </p:blipFill>
        <p:spPr>
          <a:xfrm>
            <a:off x="3904323" y="2817260"/>
            <a:ext cx="219475" cy="164606"/>
          </a:xfrm>
          <a:prstGeom prst="rect">
            <a:avLst/>
          </a:prstGeom>
        </p:spPr>
      </p:pic>
      <p:pic>
        <p:nvPicPr>
          <p:cNvPr id="9" name="Image 8"/>
          <p:cNvPicPr>
            <a:picLocks noChangeAspect="1"/>
          </p:cNvPicPr>
          <p:nvPr/>
        </p:nvPicPr>
        <p:blipFill>
          <a:blip r:embed="rId7"/>
          <a:stretch>
            <a:fillRect/>
          </a:stretch>
        </p:blipFill>
        <p:spPr>
          <a:xfrm>
            <a:off x="3979536" y="2637412"/>
            <a:ext cx="317019" cy="359695"/>
          </a:xfrm>
          <a:prstGeom prst="rect">
            <a:avLst/>
          </a:prstGeom>
        </p:spPr>
      </p:pic>
      <p:pic>
        <p:nvPicPr>
          <p:cNvPr id="10" name="Image 9"/>
          <p:cNvPicPr>
            <a:picLocks noChangeAspect="1"/>
          </p:cNvPicPr>
          <p:nvPr/>
        </p:nvPicPr>
        <p:blipFill>
          <a:blip r:embed="rId8"/>
          <a:stretch>
            <a:fillRect/>
          </a:stretch>
        </p:blipFill>
        <p:spPr>
          <a:xfrm>
            <a:off x="7017205" y="2132468"/>
            <a:ext cx="317019" cy="359695"/>
          </a:xfrm>
          <a:prstGeom prst="rect">
            <a:avLst/>
          </a:prstGeom>
        </p:spPr>
      </p:pic>
      <p:pic>
        <p:nvPicPr>
          <p:cNvPr id="11" name="Image 10"/>
          <p:cNvPicPr>
            <a:picLocks noChangeAspect="1"/>
          </p:cNvPicPr>
          <p:nvPr/>
        </p:nvPicPr>
        <p:blipFill>
          <a:blip r:embed="rId9"/>
          <a:stretch>
            <a:fillRect/>
          </a:stretch>
        </p:blipFill>
        <p:spPr>
          <a:xfrm>
            <a:off x="2459230" y="3206275"/>
            <a:ext cx="219475" cy="164606"/>
          </a:xfrm>
          <a:prstGeom prst="rect">
            <a:avLst/>
          </a:prstGeom>
        </p:spPr>
      </p:pic>
    </p:spTree>
    <p:extLst>
      <p:ext uri="{BB962C8B-B14F-4D97-AF65-F5344CB8AC3E}">
        <p14:creationId xmlns:p14="http://schemas.microsoft.com/office/powerpoint/2010/main" val="580183121"/>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4/8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							         Sélectionner le spool en question et sur les lunettes pour voir le détail du spool. </a:t>
            </a:r>
            <a:endParaRPr lang="fr-FR" dirty="0"/>
          </a:p>
          <a:p>
            <a:endParaRPr lang="fr-FR" b="1" dirty="0" smtClean="0"/>
          </a:p>
          <a:p>
            <a:endParaRPr lang="fr-FR" b="1" dirty="0"/>
          </a:p>
          <a:p>
            <a:endParaRPr lang="fr-FR" b="1" dirty="0" smtClean="0"/>
          </a:p>
          <a:p>
            <a:endParaRPr lang="fr-FR" b="1"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cs typeface="Arial" panose="020B0604020202020204" pitchFamily="34" charset="0"/>
              </a:rPr>
              <a:t>Le statut est en erreur. Pour le la cause de l’erreur, se retrouve dans le job. Pour y accéder, faites la transaction SM37 :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36</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536123" y="1152525"/>
            <a:ext cx="2902623" cy="1689316"/>
          </a:xfrm>
          <a:prstGeom prst="rect">
            <a:avLst/>
          </a:prstGeom>
        </p:spPr>
      </p:pic>
      <p:pic>
        <p:nvPicPr>
          <p:cNvPr id="9" name="Image 8"/>
          <p:cNvPicPr>
            <a:picLocks noChangeAspect="1"/>
          </p:cNvPicPr>
          <p:nvPr/>
        </p:nvPicPr>
        <p:blipFill>
          <a:blip r:embed="rId3"/>
          <a:stretch>
            <a:fillRect/>
          </a:stretch>
        </p:blipFill>
        <p:spPr>
          <a:xfrm>
            <a:off x="605964" y="2255004"/>
            <a:ext cx="139443" cy="104582"/>
          </a:xfrm>
          <a:prstGeom prst="rect">
            <a:avLst/>
          </a:prstGeom>
        </p:spPr>
      </p:pic>
      <p:pic>
        <p:nvPicPr>
          <p:cNvPr id="10" name="Image 9"/>
          <p:cNvPicPr>
            <a:picLocks noChangeAspect="1"/>
          </p:cNvPicPr>
          <p:nvPr/>
        </p:nvPicPr>
        <p:blipFill>
          <a:blip r:embed="rId4"/>
          <a:stretch>
            <a:fillRect/>
          </a:stretch>
        </p:blipFill>
        <p:spPr>
          <a:xfrm>
            <a:off x="1285990" y="1797802"/>
            <a:ext cx="250935" cy="124903"/>
          </a:xfrm>
          <a:prstGeom prst="rect">
            <a:avLst/>
          </a:prstGeom>
        </p:spPr>
      </p:pic>
      <p:pic>
        <p:nvPicPr>
          <p:cNvPr id="11" name="Image 10"/>
          <p:cNvPicPr>
            <a:picLocks noChangeAspect="1"/>
          </p:cNvPicPr>
          <p:nvPr/>
        </p:nvPicPr>
        <p:blipFill>
          <a:blip r:embed="rId5"/>
          <a:stretch>
            <a:fillRect/>
          </a:stretch>
        </p:blipFill>
        <p:spPr>
          <a:xfrm>
            <a:off x="641161" y="2075156"/>
            <a:ext cx="317019" cy="359695"/>
          </a:xfrm>
          <a:prstGeom prst="rect">
            <a:avLst/>
          </a:prstGeom>
        </p:spPr>
      </p:pic>
      <p:pic>
        <p:nvPicPr>
          <p:cNvPr id="12" name="Image 11"/>
          <p:cNvPicPr>
            <a:picLocks noChangeAspect="1"/>
          </p:cNvPicPr>
          <p:nvPr/>
        </p:nvPicPr>
        <p:blipFill>
          <a:blip r:embed="rId6"/>
          <a:stretch>
            <a:fillRect/>
          </a:stretch>
        </p:blipFill>
        <p:spPr>
          <a:xfrm>
            <a:off x="3326494" y="1111193"/>
            <a:ext cx="317019" cy="359695"/>
          </a:xfrm>
          <a:prstGeom prst="rect">
            <a:avLst/>
          </a:prstGeom>
        </p:spPr>
      </p:pic>
      <p:pic>
        <p:nvPicPr>
          <p:cNvPr id="13" name="Image 12"/>
          <p:cNvPicPr>
            <a:picLocks noChangeAspect="1"/>
          </p:cNvPicPr>
          <p:nvPr/>
        </p:nvPicPr>
        <p:blipFill>
          <a:blip r:embed="rId7"/>
          <a:stretch>
            <a:fillRect/>
          </a:stretch>
        </p:blipFill>
        <p:spPr>
          <a:xfrm>
            <a:off x="3771495" y="1421390"/>
            <a:ext cx="4511137" cy="2158718"/>
          </a:xfrm>
          <a:prstGeom prst="rect">
            <a:avLst/>
          </a:prstGeom>
        </p:spPr>
      </p:pic>
    </p:spTree>
    <p:extLst>
      <p:ext uri="{BB962C8B-B14F-4D97-AF65-F5344CB8AC3E}">
        <p14:creationId xmlns:p14="http://schemas.microsoft.com/office/powerpoint/2010/main" val="3884813549"/>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5/8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									Exécuter en cliquant sur </a:t>
            </a:r>
            <a:endParaRPr lang="fr-FR" dirty="0"/>
          </a:p>
          <a:p>
            <a:endParaRPr lang="fr-FR" b="1" dirty="0" smtClean="0"/>
          </a:p>
          <a:p>
            <a:endParaRPr lang="fr-FR" b="1" dirty="0"/>
          </a:p>
          <a:p>
            <a:endParaRPr lang="fr-FR" b="1" dirty="0" smtClean="0"/>
          </a:p>
          <a:p>
            <a:endParaRPr lang="fr-FR" b="1" dirty="0" smtClean="0"/>
          </a:p>
          <a:p>
            <a:endParaRPr lang="fr-FR" b="1" dirty="0"/>
          </a:p>
          <a:p>
            <a:r>
              <a:rPr lang="fr-FR" dirty="0" smtClean="0">
                <a:cs typeface="Arial" panose="020B0604020202020204" pitchFamily="34" charset="0"/>
              </a:rPr>
              <a:t>Sélectionner le job      et cliquer sur Protocole de job</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Dans notre cas il s’agit de la période comptable qui n’est</a:t>
            </a:r>
          </a:p>
          <a:p>
            <a:r>
              <a:rPr lang="fr-FR" dirty="0">
                <a:cs typeface="Arial" panose="020B0604020202020204" pitchFamily="34" charset="0"/>
              </a:rPr>
              <a:t>o</a:t>
            </a:r>
            <a:r>
              <a:rPr lang="fr-FR" dirty="0" smtClean="0">
                <a:cs typeface="Arial" panose="020B0604020202020204" pitchFamily="34" charset="0"/>
              </a:rPr>
              <a:t>uverte. L’erreur sera corrigée et l’AFAB relancée.  </a:t>
            </a:r>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37</a:t>
            </a:fld>
            <a:endParaRPr lang="fr-FR" altLang="en-US" sz="750">
              <a:solidFill>
                <a:srgbClr val="000000"/>
              </a:solidFill>
            </a:endParaRPr>
          </a:p>
        </p:txBody>
      </p:sp>
      <p:pic>
        <p:nvPicPr>
          <p:cNvPr id="6" name="Image 5"/>
          <p:cNvPicPr>
            <a:picLocks noChangeAspect="1"/>
          </p:cNvPicPr>
          <p:nvPr/>
        </p:nvPicPr>
        <p:blipFill>
          <a:blip r:embed="rId2"/>
          <a:stretch>
            <a:fillRect/>
          </a:stretch>
        </p:blipFill>
        <p:spPr>
          <a:xfrm>
            <a:off x="573578" y="1152525"/>
            <a:ext cx="3308888" cy="1923889"/>
          </a:xfrm>
          <a:prstGeom prst="rect">
            <a:avLst/>
          </a:prstGeom>
        </p:spPr>
      </p:pic>
      <p:pic>
        <p:nvPicPr>
          <p:cNvPr id="7" name="Image 6"/>
          <p:cNvPicPr>
            <a:picLocks noChangeAspect="1"/>
          </p:cNvPicPr>
          <p:nvPr/>
        </p:nvPicPr>
        <p:blipFill>
          <a:blip r:embed="rId3"/>
          <a:stretch>
            <a:fillRect/>
          </a:stretch>
        </p:blipFill>
        <p:spPr>
          <a:xfrm>
            <a:off x="5509169" y="1145238"/>
            <a:ext cx="310923" cy="353599"/>
          </a:xfrm>
          <a:prstGeom prst="rect">
            <a:avLst/>
          </a:prstGeom>
        </p:spPr>
      </p:pic>
      <p:pic>
        <p:nvPicPr>
          <p:cNvPr id="8" name="Image 7"/>
          <p:cNvPicPr>
            <a:picLocks noChangeAspect="1"/>
          </p:cNvPicPr>
          <p:nvPr/>
        </p:nvPicPr>
        <p:blipFill>
          <a:blip r:embed="rId4"/>
          <a:stretch>
            <a:fillRect/>
          </a:stretch>
        </p:blipFill>
        <p:spPr>
          <a:xfrm>
            <a:off x="657428" y="1548077"/>
            <a:ext cx="219475" cy="164606"/>
          </a:xfrm>
          <a:prstGeom prst="rect">
            <a:avLst/>
          </a:prstGeom>
        </p:spPr>
      </p:pic>
      <p:pic>
        <p:nvPicPr>
          <p:cNvPr id="9" name="Image 8"/>
          <p:cNvPicPr>
            <a:picLocks noChangeAspect="1"/>
          </p:cNvPicPr>
          <p:nvPr/>
        </p:nvPicPr>
        <p:blipFill>
          <a:blip r:embed="rId5"/>
          <a:stretch>
            <a:fillRect/>
          </a:stretch>
        </p:blipFill>
        <p:spPr>
          <a:xfrm>
            <a:off x="767165" y="1371277"/>
            <a:ext cx="310923" cy="353599"/>
          </a:xfrm>
          <a:prstGeom prst="rect">
            <a:avLst/>
          </a:prstGeom>
        </p:spPr>
      </p:pic>
      <p:pic>
        <p:nvPicPr>
          <p:cNvPr id="10" name="Image 9"/>
          <p:cNvPicPr>
            <a:picLocks noChangeAspect="1"/>
          </p:cNvPicPr>
          <p:nvPr/>
        </p:nvPicPr>
        <p:blipFill>
          <a:blip r:embed="rId6"/>
          <a:stretch>
            <a:fillRect/>
          </a:stretch>
        </p:blipFill>
        <p:spPr>
          <a:xfrm>
            <a:off x="4083803" y="1506124"/>
            <a:ext cx="4231038" cy="1734012"/>
          </a:xfrm>
          <a:prstGeom prst="rect">
            <a:avLst/>
          </a:prstGeom>
        </p:spPr>
      </p:pic>
      <p:pic>
        <p:nvPicPr>
          <p:cNvPr id="12" name="Image 11"/>
          <p:cNvPicPr>
            <a:picLocks noChangeAspect="1"/>
          </p:cNvPicPr>
          <p:nvPr/>
        </p:nvPicPr>
        <p:blipFill>
          <a:blip r:embed="rId7"/>
          <a:stretch>
            <a:fillRect/>
          </a:stretch>
        </p:blipFill>
        <p:spPr>
          <a:xfrm>
            <a:off x="1681087" y="3209601"/>
            <a:ext cx="310923" cy="353599"/>
          </a:xfrm>
          <a:prstGeom prst="rect">
            <a:avLst/>
          </a:prstGeom>
        </p:spPr>
      </p:pic>
      <p:pic>
        <p:nvPicPr>
          <p:cNvPr id="13" name="Image 12"/>
          <p:cNvPicPr>
            <a:picLocks noChangeAspect="1"/>
          </p:cNvPicPr>
          <p:nvPr/>
        </p:nvPicPr>
        <p:blipFill>
          <a:blip r:embed="rId8"/>
          <a:stretch>
            <a:fillRect/>
          </a:stretch>
        </p:blipFill>
        <p:spPr>
          <a:xfrm>
            <a:off x="4190127" y="2805089"/>
            <a:ext cx="310923" cy="353599"/>
          </a:xfrm>
          <a:prstGeom prst="rect">
            <a:avLst/>
          </a:prstGeom>
        </p:spPr>
      </p:pic>
      <p:pic>
        <p:nvPicPr>
          <p:cNvPr id="14" name="Image 13"/>
          <p:cNvPicPr>
            <a:picLocks noChangeAspect="1"/>
          </p:cNvPicPr>
          <p:nvPr/>
        </p:nvPicPr>
        <p:blipFill>
          <a:blip r:embed="rId9"/>
          <a:stretch>
            <a:fillRect/>
          </a:stretch>
        </p:blipFill>
        <p:spPr>
          <a:xfrm>
            <a:off x="4173461" y="2981889"/>
            <a:ext cx="132986" cy="99739"/>
          </a:xfrm>
          <a:prstGeom prst="rect">
            <a:avLst/>
          </a:prstGeom>
        </p:spPr>
      </p:pic>
      <p:pic>
        <p:nvPicPr>
          <p:cNvPr id="15" name="Image 14"/>
          <p:cNvPicPr>
            <a:picLocks noChangeAspect="1"/>
          </p:cNvPicPr>
          <p:nvPr/>
        </p:nvPicPr>
        <p:blipFill>
          <a:blip r:embed="rId10"/>
          <a:stretch>
            <a:fillRect/>
          </a:stretch>
        </p:blipFill>
        <p:spPr>
          <a:xfrm>
            <a:off x="5635597" y="1949480"/>
            <a:ext cx="741956" cy="155830"/>
          </a:xfrm>
          <a:prstGeom prst="rect">
            <a:avLst/>
          </a:prstGeom>
        </p:spPr>
      </p:pic>
      <p:pic>
        <p:nvPicPr>
          <p:cNvPr id="16" name="Image 15"/>
          <p:cNvPicPr>
            <a:picLocks noChangeAspect="1"/>
          </p:cNvPicPr>
          <p:nvPr/>
        </p:nvPicPr>
        <p:blipFill>
          <a:blip r:embed="rId11"/>
          <a:stretch>
            <a:fillRect/>
          </a:stretch>
        </p:blipFill>
        <p:spPr>
          <a:xfrm>
            <a:off x="6267967" y="1742567"/>
            <a:ext cx="310923" cy="359695"/>
          </a:xfrm>
          <a:prstGeom prst="rect">
            <a:avLst/>
          </a:prstGeom>
        </p:spPr>
      </p:pic>
      <p:pic>
        <p:nvPicPr>
          <p:cNvPr id="17" name="Image 16"/>
          <p:cNvPicPr>
            <a:picLocks noChangeAspect="1"/>
          </p:cNvPicPr>
          <p:nvPr/>
        </p:nvPicPr>
        <p:blipFill>
          <a:blip r:embed="rId12"/>
          <a:stretch>
            <a:fillRect/>
          </a:stretch>
        </p:blipFill>
        <p:spPr>
          <a:xfrm>
            <a:off x="3772880" y="3193213"/>
            <a:ext cx="310923" cy="359695"/>
          </a:xfrm>
          <a:prstGeom prst="rect">
            <a:avLst/>
          </a:prstGeom>
        </p:spPr>
      </p:pic>
      <p:pic>
        <p:nvPicPr>
          <p:cNvPr id="18" name="Image 17"/>
          <p:cNvPicPr>
            <a:picLocks noChangeAspect="1"/>
          </p:cNvPicPr>
          <p:nvPr/>
        </p:nvPicPr>
        <p:blipFill>
          <a:blip r:embed="rId13"/>
          <a:stretch>
            <a:fillRect/>
          </a:stretch>
        </p:blipFill>
        <p:spPr>
          <a:xfrm>
            <a:off x="4093757" y="3322240"/>
            <a:ext cx="4348420" cy="1135413"/>
          </a:xfrm>
          <a:prstGeom prst="rect">
            <a:avLst/>
          </a:prstGeom>
        </p:spPr>
      </p:pic>
    </p:spTree>
    <p:extLst>
      <p:ext uri="{BB962C8B-B14F-4D97-AF65-F5344CB8AC3E}">
        <p14:creationId xmlns:p14="http://schemas.microsoft.com/office/powerpoint/2010/main" val="1740848913"/>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6/8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Le </a:t>
            </a:r>
            <a:r>
              <a:rPr lang="fr-FR" dirty="0" err="1" smtClean="0"/>
              <a:t>process</a:t>
            </a:r>
            <a:r>
              <a:rPr lang="fr-FR" dirty="0" smtClean="0"/>
              <a:t> de lancement reste le même. </a:t>
            </a:r>
          </a:p>
          <a:p>
            <a:r>
              <a:rPr lang="fr-FR" dirty="0" smtClean="0"/>
              <a:t>1/ L’AFAB a été lancée : SM37 pour voir si tout est correcte. </a:t>
            </a:r>
            <a:endParaRPr lang="fr-FR" dirty="0"/>
          </a:p>
          <a:p>
            <a:endParaRPr lang="fr-FR" b="1" dirty="0" smtClean="0"/>
          </a:p>
          <a:p>
            <a:endParaRPr lang="fr-FR" b="1" dirty="0"/>
          </a:p>
          <a:p>
            <a:endParaRPr lang="fr-FR" b="1" dirty="0" smtClean="0"/>
          </a:p>
          <a:p>
            <a:r>
              <a:rPr lang="fr-FR" dirty="0" smtClean="0"/>
              <a:t>2/ SP01 pour voir le spool : Dans l’encadré rouge apparaissent les montants à comptabiliser. </a:t>
            </a:r>
            <a:endParaRPr lang="fr-FR"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38</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9" y="1733384"/>
            <a:ext cx="4292620" cy="1137037"/>
          </a:xfrm>
          <a:prstGeom prst="rect">
            <a:avLst/>
          </a:prstGeom>
        </p:spPr>
      </p:pic>
      <p:pic>
        <p:nvPicPr>
          <p:cNvPr id="4" name="Image 3"/>
          <p:cNvPicPr>
            <a:picLocks noChangeAspect="1"/>
          </p:cNvPicPr>
          <p:nvPr/>
        </p:nvPicPr>
        <p:blipFill>
          <a:blip r:embed="rId3"/>
          <a:stretch>
            <a:fillRect/>
          </a:stretch>
        </p:blipFill>
        <p:spPr>
          <a:xfrm>
            <a:off x="637968" y="3085106"/>
            <a:ext cx="4291841" cy="1396889"/>
          </a:xfrm>
          <a:prstGeom prst="rect">
            <a:avLst/>
          </a:prstGeom>
        </p:spPr>
      </p:pic>
      <p:pic>
        <p:nvPicPr>
          <p:cNvPr id="5" name="Image 4"/>
          <p:cNvPicPr>
            <a:picLocks noChangeAspect="1"/>
          </p:cNvPicPr>
          <p:nvPr/>
        </p:nvPicPr>
        <p:blipFill>
          <a:blip r:embed="rId4"/>
          <a:stretch>
            <a:fillRect/>
          </a:stretch>
        </p:blipFill>
        <p:spPr>
          <a:xfrm>
            <a:off x="4018571" y="3865150"/>
            <a:ext cx="438950" cy="616845"/>
          </a:xfrm>
          <a:prstGeom prst="rect">
            <a:avLst/>
          </a:prstGeom>
        </p:spPr>
      </p:pic>
    </p:spTree>
    <p:extLst>
      <p:ext uri="{BB962C8B-B14F-4D97-AF65-F5344CB8AC3E}">
        <p14:creationId xmlns:p14="http://schemas.microsoft.com/office/powerpoint/2010/main" val="386477159"/>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7/8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Revenir à l’écran initial de l’AFAB, décocher le mode « Test » et lancer en réel avec les mêmes étapes.</a:t>
            </a:r>
          </a:p>
          <a:p>
            <a:r>
              <a:rPr lang="fr-FR" dirty="0" smtClean="0"/>
              <a:t>Contrôle post lancement : </a:t>
            </a:r>
          </a:p>
          <a:p>
            <a:r>
              <a:rPr lang="fr-FR" dirty="0"/>
              <a:t>1/ L’AFAB a été lancée : SM37 pour voir si tout est correcte. </a:t>
            </a:r>
          </a:p>
          <a:p>
            <a:endParaRPr lang="fr-FR" dirty="0" smtClean="0"/>
          </a:p>
          <a:p>
            <a:r>
              <a:rPr lang="fr-FR" dirty="0" smtClean="0"/>
              <a:t> </a:t>
            </a:r>
          </a:p>
          <a:p>
            <a:endParaRPr lang="fr-FR" dirty="0"/>
          </a:p>
          <a:p>
            <a:r>
              <a:rPr lang="fr-FR" dirty="0" smtClean="0"/>
              <a:t>2</a:t>
            </a:r>
            <a:r>
              <a:rPr lang="fr-FR" dirty="0"/>
              <a:t>/ SP01 pour voir le </a:t>
            </a:r>
            <a:r>
              <a:rPr lang="fr-FR" dirty="0" smtClean="0"/>
              <a:t>spool. On a le même report. Pour voir l’impact de l’AFAB, il faut prendre un échantillon d’</a:t>
            </a:r>
            <a:r>
              <a:rPr lang="fr-FR" dirty="0" err="1" smtClean="0"/>
              <a:t>immo</a:t>
            </a:r>
            <a:r>
              <a:rPr lang="fr-FR" dirty="0" smtClean="0"/>
              <a:t> :   </a:t>
            </a:r>
            <a:endParaRPr lang="fr-FR" dirty="0"/>
          </a:p>
          <a:p>
            <a:endParaRPr lang="fr-FR" b="1" dirty="0" smtClean="0"/>
          </a:p>
          <a:p>
            <a:endParaRPr lang="fr-FR" b="1" dirty="0"/>
          </a:p>
          <a:p>
            <a:endParaRPr lang="fr-FR" b="1" dirty="0" smtClean="0"/>
          </a:p>
          <a:p>
            <a:endParaRPr lang="fr-FR" b="1" dirty="0" smtClean="0"/>
          </a:p>
          <a:p>
            <a:endParaRPr lang="fr-FR" b="1"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043257"/>
            <a:ext cx="3743980" cy="1039122"/>
          </a:xfrm>
          <a:prstGeom prst="rect">
            <a:avLst/>
          </a:prstGeom>
        </p:spPr>
      </p:pic>
    </p:spTree>
    <p:extLst>
      <p:ext uri="{BB962C8B-B14F-4D97-AF65-F5344CB8AC3E}">
        <p14:creationId xmlns:p14="http://schemas.microsoft.com/office/powerpoint/2010/main" val="3109597647"/>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fontScale="90000"/>
          </a:bodyPr>
          <a:lstStyle/>
          <a:p>
            <a:r>
              <a:rPr lang="fr-FR" altLang="en-US" sz="2400" dirty="0">
                <a:cs typeface="Arial" panose="020B0604020202020204" pitchFamily="34" charset="0"/>
              </a:rPr>
              <a:t>Mode </a:t>
            </a:r>
            <a:r>
              <a:rPr lang="fr-FR" altLang="en-US" sz="2400" dirty="0" smtClean="0">
                <a:cs typeface="Arial" panose="020B0604020202020204" pitchFamily="34" charset="0"/>
              </a:rPr>
              <a:t>opératoire fiche immobilisation : Enregistrement des amortissements </a:t>
            </a:r>
            <a:r>
              <a:rPr lang="fr-FR" altLang="en-US" sz="2400" dirty="0" smtClean="0">
                <a:cs typeface="Arial" panose="020B0604020202020204" pitchFamily="34" charset="0"/>
              </a:rPr>
              <a:t>8/8</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endParaRPr lang="fr-FR" b="1" dirty="0"/>
          </a:p>
          <a:p>
            <a:endParaRPr lang="fr-FR" b="1" dirty="0" smtClean="0"/>
          </a:p>
          <a:p>
            <a:endParaRPr lang="fr-FR" b="1" dirty="0"/>
          </a:p>
          <a:p>
            <a:endParaRPr lang="fr-FR" b="1" dirty="0" smtClean="0"/>
          </a:p>
          <a:p>
            <a:endParaRPr lang="fr-FR" b="1" dirty="0" smtClean="0"/>
          </a:p>
          <a:p>
            <a:endParaRPr lang="fr-FR" b="1"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La dotation du mois d’octobre 2015 est enregistrée. </a:t>
            </a:r>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40</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7" y="1225552"/>
            <a:ext cx="4135420" cy="2266052"/>
          </a:xfrm>
          <a:prstGeom prst="rect">
            <a:avLst/>
          </a:prstGeom>
        </p:spPr>
      </p:pic>
      <p:pic>
        <p:nvPicPr>
          <p:cNvPr id="4" name="Image 3"/>
          <p:cNvPicPr>
            <a:picLocks noChangeAspect="1"/>
          </p:cNvPicPr>
          <p:nvPr/>
        </p:nvPicPr>
        <p:blipFill>
          <a:blip r:embed="rId3"/>
          <a:stretch>
            <a:fillRect/>
          </a:stretch>
        </p:blipFill>
        <p:spPr>
          <a:xfrm>
            <a:off x="4842345" y="1225552"/>
            <a:ext cx="3844456" cy="2266052"/>
          </a:xfrm>
          <a:prstGeom prst="rect">
            <a:avLst/>
          </a:prstGeom>
        </p:spPr>
      </p:pic>
    </p:spTree>
    <p:extLst>
      <p:ext uri="{BB962C8B-B14F-4D97-AF65-F5344CB8AC3E}">
        <p14:creationId xmlns:p14="http://schemas.microsoft.com/office/powerpoint/2010/main" val="3978809445"/>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213506"/>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Modifier une fiche d’immobilisation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Procéder à une vente d’immobilisation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Procéder à la mise au rebut d’une immobilisation </a:t>
            </a: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42</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endParaRPr lang="fr-FR" altLang="en-US" sz="1400"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La durée de vie d’une immobilisation peut connaitre divers mouvements. La majeure partie de ces mouvements sont mémorisée dans la fiche d’immobilisation. </a:t>
            </a: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La </a:t>
            </a:r>
            <a:r>
              <a:rPr lang="fr-FR" altLang="en-US" dirty="0" smtClean="0">
                <a:ea typeface="ＭＳ Ｐゴシック" panose="020B0600070205080204" pitchFamily="34" charset="-128"/>
                <a:cs typeface="Arial" panose="020B0604020202020204" pitchFamily="34" charset="0"/>
              </a:rPr>
              <a:t>gestion des immobilisations du fait du grand nombre et aussi de la complexité du processus requiert une grande attention. </a:t>
            </a: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Les reports sont de très bons moyens de suivi. Pensez à les utiliser le plus souvent possible. </a:t>
            </a: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43</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VHEKTECQ7ECW-1532981086-4846</_dlc_DocId>
    <_dlc_DocIdUrl xmlns="f36dd47d-0b23-43fd-9b2d-c5346ffa1660">
      <Url>http://projets.cbg-guinee.com/erp/_layouts/15/DocIdRedir.aspx?ID=VHEKTECQ7ECW-1532981086-4846</Url>
      <Description>VHEKTECQ7ECW-1532981086-4846</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26EF5A-9403-431E-97AF-15DF4F872F9E}"/>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82782843-216C-4504-B807-97A98D90F0E9}"/>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1421</Words>
  <Application>Microsoft Office PowerPoint</Application>
  <PresentationFormat>Affichage à l'écran (16:9)</PresentationFormat>
  <Paragraphs>1030</Paragraphs>
  <Slides>44</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44</vt:i4>
      </vt:variant>
    </vt:vector>
  </HeadingPairs>
  <TitlesOfParts>
    <vt:vector size="52" baseType="lpstr">
      <vt:lpstr>ＭＳ Ｐゴシック</vt:lpstr>
      <vt:lpstr>Arial</vt:lpstr>
      <vt:lpstr>Arial Narrow</vt:lpstr>
      <vt:lpstr>Calibri</vt:lpstr>
      <vt:lpstr>Courier New</vt:lpstr>
      <vt:lpstr>Verdana</vt:lpstr>
      <vt:lpstr>Wingdings</vt:lpstr>
      <vt:lpstr>TemplateBE_FR</vt:lpstr>
      <vt:lpstr>Kamsar, le 03.02.2016</vt:lpstr>
      <vt:lpstr>Présentation PowerPoint</vt:lpstr>
      <vt:lpstr>Objectifs de la formation</vt:lpstr>
      <vt:lpstr>Agenda : 2h00</vt:lpstr>
      <vt:lpstr>Présentation PowerPoint</vt:lpstr>
      <vt:lpstr>Gestion des mouvements d’immobilisation   </vt:lpstr>
      <vt:lpstr>Gestion des mouvements d’immobilisation : l’acquisition   </vt:lpstr>
      <vt:lpstr>Gestion des mouvements d’immobilisation : le transfert d’immobilisation    </vt:lpstr>
      <vt:lpstr>Gestion des mouvements d’immobilisation : la cession d’immobilisation    </vt:lpstr>
      <vt:lpstr>Gestion des mouvements d’immobilisation : la mise au rebut    </vt:lpstr>
      <vt:lpstr>Gestion des amortissements des immobilisations 1/3    </vt:lpstr>
      <vt:lpstr>Gestion des amortissements des immobilisations  2/3   </vt:lpstr>
      <vt:lpstr>Gestion des amortissements des immobilisations 3/3    </vt:lpstr>
      <vt:lpstr>Présentation PowerPoint</vt:lpstr>
      <vt:lpstr>Mode opératoire Présentation du mode opératoire dans SAP</vt:lpstr>
      <vt:lpstr>Mode opératoire fiche immobilisation : modification de la fiche immobilisation  </vt:lpstr>
      <vt:lpstr>Mode opératoire fiche immobilisation : transfert d’immobilisation 1/5 </vt:lpstr>
      <vt:lpstr>Mode opératoire fiche immobilisation : transfert d’immobilisation 2/5 </vt:lpstr>
      <vt:lpstr>Mode opératoire fiche immobilisation : transfert d’immobilisation 3/5 </vt:lpstr>
      <vt:lpstr>Mode opératoire fiche immobilisation : transfert d’immobilisation  4/5 </vt:lpstr>
      <vt:lpstr>Mode opératoire fiche immobilisation : transfert d’immobilisation 5/5 </vt:lpstr>
      <vt:lpstr>Mode opératoire fiche immobilisation : cession d’immobilisation  : vente avec client 1/3  </vt:lpstr>
      <vt:lpstr>Mode opératoire fiche immobilisation : cession d’immobilisation  : vente avec client 2/3 </vt:lpstr>
      <vt:lpstr>Mode opératoire fiche immobilisation : cession d’immobilisation  : vente avec client 3/3 </vt:lpstr>
      <vt:lpstr>Mode opératoire fiche immobilisation : cession d’immobilisation  sans client 1/4</vt:lpstr>
      <vt:lpstr>Mode opératoire fiche immobilisation : cession d’immobilisation  sans client 2/4 </vt:lpstr>
      <vt:lpstr>Mode opératoire fiche immobilisation : cession d’immobilisation  sans client 3/4 </vt:lpstr>
      <vt:lpstr>Mode opératoire fiche immobilisation : cession d’immobilisation  sans client 4/4 </vt:lpstr>
      <vt:lpstr>Mode opératoire fiche immobilisations : mise au rebut 1/4 </vt:lpstr>
      <vt:lpstr>Mode opératoire fiche immobilisations : mise au rebut 2/4 </vt:lpstr>
      <vt:lpstr>Mode opératoire fiche immobilisation : mise au rebut 3/4 </vt:lpstr>
      <vt:lpstr>Mode opératoire fiche immobilisation : mise au rebut 4/4 </vt:lpstr>
      <vt:lpstr>Mode opératoire fiche immobilisation : Enregistrement des amortissements 1/8 </vt:lpstr>
      <vt:lpstr>Mode opératoire fiche immobilisation : Enregistrement des amortissements 2/8 </vt:lpstr>
      <vt:lpstr>Mode opératoire fiche immobilisation : Enregistrement des amortissements 3/8 </vt:lpstr>
      <vt:lpstr>Mode opératoire fiche immobilisation : Enregistrement des amortissements 4/8 </vt:lpstr>
      <vt:lpstr>Mode opératoire fiche immobilisation : Enregistrement des amortissements 5/8 </vt:lpstr>
      <vt:lpstr>Mode opératoire fiche immobilisation : Enregistrement des amortissements 6/8 </vt:lpstr>
      <vt:lpstr>Mode opératoire fiche immobilisation : Enregistrement des amortissements 7/8 </vt:lpstr>
      <vt:lpstr>Mode opératoire fiche immobilisation : Enregistrement des amortissements 8/8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3974</cp:revision>
  <cp:lastPrinted>2015-04-23T03:57:16Z</cp:lastPrinted>
  <dcterms:created xsi:type="dcterms:W3CDTF">2012-05-17T14:14:37Z</dcterms:created>
  <dcterms:modified xsi:type="dcterms:W3CDTF">2016-01-31T14:10:13Z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5c7635fa-bca5-4cd5-9a43-61f609313b5a</vt:lpwstr>
  </property>
</Properties>
</file>