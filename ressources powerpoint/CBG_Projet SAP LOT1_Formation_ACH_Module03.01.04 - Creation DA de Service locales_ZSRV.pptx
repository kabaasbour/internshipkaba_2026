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0.xml" ContentType="application/vnd.openxmlformats-officedocument.presentationml.slide+xml"/>
  <Override PartName="/ppt/slides/slide21.xml" ContentType="application/vnd.openxmlformats-officedocument.presentationml.slide+xml"/>
  <Override PartName="/ppt/presentation.xml" ContentType="application/vnd.openxmlformats-officedocument.presentationml.presentation.main+xml"/>
  <Override PartName="/ppt/slides/slide19.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6"/>
  </p:notesMasterIdLst>
  <p:handoutMasterIdLst>
    <p:handoutMasterId r:id="rId27"/>
  </p:handoutMasterIdLst>
  <p:sldIdLst>
    <p:sldId id="685" r:id="rId5"/>
    <p:sldId id="772" r:id="rId6"/>
    <p:sldId id="773" r:id="rId7"/>
    <p:sldId id="691" r:id="rId8"/>
    <p:sldId id="747" r:id="rId9"/>
    <p:sldId id="767" r:id="rId10"/>
    <p:sldId id="768" r:id="rId11"/>
    <p:sldId id="764" r:id="rId12"/>
    <p:sldId id="765" r:id="rId13"/>
    <p:sldId id="766" r:id="rId14"/>
    <p:sldId id="754" r:id="rId15"/>
    <p:sldId id="755" r:id="rId16"/>
    <p:sldId id="779" r:id="rId17"/>
    <p:sldId id="777" r:id="rId18"/>
    <p:sldId id="778" r:id="rId19"/>
    <p:sldId id="780" r:id="rId20"/>
    <p:sldId id="770" r:id="rId21"/>
    <p:sldId id="771" r:id="rId22"/>
    <p:sldId id="760" r:id="rId23"/>
    <p:sldId id="761" r:id="rId24"/>
    <p:sldId id="776" r:id="rId25"/>
  </p:sldIdLst>
  <p:sldSz cx="9906000" cy="6858000" type="A4"/>
  <p:notesSz cx="7010400" cy="9296400"/>
  <p:defaultTextStyle>
    <a:defPPr>
      <a:defRPr lang="en-US"/>
    </a:defPPr>
    <a:lvl1pPr marL="0" algn="l" defTabSz="536433" rtl="0" eaLnBrk="1" latinLnBrk="0" hangingPunct="1">
      <a:defRPr sz="2112" kern="1200">
        <a:solidFill>
          <a:schemeClr val="tx1"/>
        </a:solidFill>
        <a:latin typeface="+mn-lt"/>
        <a:ea typeface="+mn-ea"/>
        <a:cs typeface="+mn-cs"/>
      </a:defRPr>
    </a:lvl1pPr>
    <a:lvl2pPr marL="536433" algn="l" defTabSz="536433" rtl="0" eaLnBrk="1" latinLnBrk="0" hangingPunct="1">
      <a:defRPr sz="2112" kern="1200">
        <a:solidFill>
          <a:schemeClr val="tx1"/>
        </a:solidFill>
        <a:latin typeface="+mn-lt"/>
        <a:ea typeface="+mn-ea"/>
        <a:cs typeface="+mn-cs"/>
      </a:defRPr>
    </a:lvl2pPr>
    <a:lvl3pPr marL="1072866" algn="l" defTabSz="536433" rtl="0" eaLnBrk="1" latinLnBrk="0" hangingPunct="1">
      <a:defRPr sz="2112" kern="1200">
        <a:solidFill>
          <a:schemeClr val="tx1"/>
        </a:solidFill>
        <a:latin typeface="+mn-lt"/>
        <a:ea typeface="+mn-ea"/>
        <a:cs typeface="+mn-cs"/>
      </a:defRPr>
    </a:lvl3pPr>
    <a:lvl4pPr marL="1609298" algn="l" defTabSz="536433" rtl="0" eaLnBrk="1" latinLnBrk="0" hangingPunct="1">
      <a:defRPr sz="2112" kern="1200">
        <a:solidFill>
          <a:schemeClr val="tx1"/>
        </a:solidFill>
        <a:latin typeface="+mn-lt"/>
        <a:ea typeface="+mn-ea"/>
        <a:cs typeface="+mn-cs"/>
      </a:defRPr>
    </a:lvl4pPr>
    <a:lvl5pPr marL="2145731" algn="l" defTabSz="536433" rtl="0" eaLnBrk="1" latinLnBrk="0" hangingPunct="1">
      <a:defRPr sz="2112" kern="1200">
        <a:solidFill>
          <a:schemeClr val="tx1"/>
        </a:solidFill>
        <a:latin typeface="+mn-lt"/>
        <a:ea typeface="+mn-ea"/>
        <a:cs typeface="+mn-cs"/>
      </a:defRPr>
    </a:lvl5pPr>
    <a:lvl6pPr marL="2682164" algn="l" defTabSz="536433" rtl="0" eaLnBrk="1" latinLnBrk="0" hangingPunct="1">
      <a:defRPr sz="2112" kern="1200">
        <a:solidFill>
          <a:schemeClr val="tx1"/>
        </a:solidFill>
        <a:latin typeface="+mn-lt"/>
        <a:ea typeface="+mn-ea"/>
        <a:cs typeface="+mn-cs"/>
      </a:defRPr>
    </a:lvl6pPr>
    <a:lvl7pPr marL="3218597" algn="l" defTabSz="536433" rtl="0" eaLnBrk="1" latinLnBrk="0" hangingPunct="1">
      <a:defRPr sz="2112" kern="1200">
        <a:solidFill>
          <a:schemeClr val="tx1"/>
        </a:solidFill>
        <a:latin typeface="+mn-lt"/>
        <a:ea typeface="+mn-ea"/>
        <a:cs typeface="+mn-cs"/>
      </a:defRPr>
    </a:lvl7pPr>
    <a:lvl8pPr marL="3755029" algn="l" defTabSz="536433" rtl="0" eaLnBrk="1" latinLnBrk="0" hangingPunct="1">
      <a:defRPr sz="2112" kern="1200">
        <a:solidFill>
          <a:schemeClr val="tx1"/>
        </a:solidFill>
        <a:latin typeface="+mn-lt"/>
        <a:ea typeface="+mn-ea"/>
        <a:cs typeface="+mn-cs"/>
      </a:defRPr>
    </a:lvl8pPr>
    <a:lvl9pPr marL="4291462" algn="l" defTabSz="536433" rtl="0" eaLnBrk="1" latinLnBrk="0" hangingPunct="1">
      <a:defRPr sz="211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65" userDrawn="1">
          <p15:clr>
            <a:srgbClr val="A4A3A4"/>
          </p15:clr>
        </p15:guide>
        <p15:guide id="2" orient="horz" pos="2507" userDrawn="1">
          <p15:clr>
            <a:srgbClr val="A4A3A4"/>
          </p15:clr>
        </p15:guide>
        <p15:guide id="3" orient="horz" pos="119" userDrawn="1">
          <p15:clr>
            <a:srgbClr val="A4A3A4"/>
          </p15:clr>
        </p15:guide>
        <p15:guide id="4" orient="horz" pos="640" userDrawn="1">
          <p15:clr>
            <a:srgbClr val="A4A3A4"/>
          </p15:clr>
        </p15:guide>
        <p15:guide id="5" orient="horz" pos="959" userDrawn="1">
          <p15:clr>
            <a:srgbClr val="A4A3A4"/>
          </p15:clr>
        </p15:guide>
        <p15:guide id="6" pos="217" userDrawn="1">
          <p15:clr>
            <a:srgbClr val="A4A3A4"/>
          </p15:clr>
        </p15:guide>
        <p15:guide id="7" pos="3121" userDrawn="1">
          <p15:clr>
            <a:srgbClr val="A4A3A4"/>
          </p15:clr>
        </p15:guide>
        <p15:guide id="8" pos="6040" userDrawn="1">
          <p15:clr>
            <a:srgbClr val="A4A3A4"/>
          </p15:clr>
        </p15:guide>
        <p15:guide id="9" orient="horz" pos="21" userDrawn="1">
          <p15:clr>
            <a:srgbClr val="A4A3A4"/>
          </p15:clr>
        </p15:guide>
        <p15:guide id="10" orient="horz" pos="895"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D82"/>
    <a:srgbClr val="4F81BD"/>
    <a:srgbClr val="D3D5FF"/>
    <a:srgbClr val="A7ABFF"/>
    <a:srgbClr val="C5C8FF"/>
    <a:srgbClr val="004376"/>
    <a:srgbClr val="F3F4FF"/>
    <a:srgbClr val="E7E8FF"/>
    <a:srgbClr val="4C9BD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8" autoAdjust="0"/>
    <p:restoredTop sz="95565" autoAdjust="0"/>
  </p:normalViewPr>
  <p:slideViewPr>
    <p:cSldViewPr snapToGrid="0" snapToObjects="1">
      <p:cViewPr>
        <p:scale>
          <a:sx n="100" d="100"/>
          <a:sy n="100" d="100"/>
        </p:scale>
        <p:origin x="360" y="-198"/>
      </p:cViewPr>
      <p:guideLst>
        <p:guide orient="horz" pos="4065"/>
        <p:guide orient="horz" pos="2507"/>
        <p:guide orient="horz" pos="119"/>
        <p:guide orient="horz" pos="640"/>
        <p:guide orient="horz" pos="959"/>
        <p:guide pos="217"/>
        <p:guide pos="3121"/>
        <p:guide pos="6040"/>
        <p:guide orient="horz" pos="21"/>
        <p:guide orient="horz" pos="89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1143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ustomXml" Target="../customXml/item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3/15/2016</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15.03.2016</a:t>
            </a:fld>
            <a:endParaRPr lang="de-DE" dirty="0"/>
          </a:p>
        </p:txBody>
      </p:sp>
      <p:sp>
        <p:nvSpPr>
          <p:cNvPr id="4" name="Folienbildplatzhalter 3"/>
          <p:cNvSpPr>
            <a:spLocks noGrp="1" noRot="1" noChangeAspect="1"/>
          </p:cNvSpPr>
          <p:nvPr>
            <p:ph type="sldImg" idx="2"/>
          </p:nvPr>
        </p:nvSpPr>
        <p:spPr>
          <a:xfrm>
            <a:off x="985838" y="695325"/>
            <a:ext cx="5038725"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1072866" rtl="0" eaLnBrk="1" latinLnBrk="0" hangingPunct="1">
      <a:defRPr sz="1408" kern="1200">
        <a:solidFill>
          <a:schemeClr val="tx1"/>
        </a:solidFill>
        <a:latin typeface="+mn-lt"/>
        <a:ea typeface="+mn-ea"/>
        <a:cs typeface="+mn-cs"/>
      </a:defRPr>
    </a:lvl1pPr>
    <a:lvl2pPr marL="536433" algn="l" defTabSz="1072866" rtl="0" eaLnBrk="1" latinLnBrk="0" hangingPunct="1">
      <a:defRPr sz="1408" kern="1200">
        <a:solidFill>
          <a:schemeClr val="tx1"/>
        </a:solidFill>
        <a:latin typeface="+mn-lt"/>
        <a:ea typeface="+mn-ea"/>
        <a:cs typeface="+mn-cs"/>
      </a:defRPr>
    </a:lvl2pPr>
    <a:lvl3pPr marL="1072866" algn="l" defTabSz="1072866" rtl="0" eaLnBrk="1" latinLnBrk="0" hangingPunct="1">
      <a:defRPr sz="1408" kern="1200">
        <a:solidFill>
          <a:schemeClr val="tx1"/>
        </a:solidFill>
        <a:latin typeface="+mn-lt"/>
        <a:ea typeface="+mn-ea"/>
        <a:cs typeface="+mn-cs"/>
      </a:defRPr>
    </a:lvl3pPr>
    <a:lvl4pPr marL="1609298" algn="l" defTabSz="1072866" rtl="0" eaLnBrk="1" latinLnBrk="0" hangingPunct="1">
      <a:defRPr sz="1408" kern="1200">
        <a:solidFill>
          <a:schemeClr val="tx1"/>
        </a:solidFill>
        <a:latin typeface="+mn-lt"/>
        <a:ea typeface="+mn-ea"/>
        <a:cs typeface="+mn-cs"/>
      </a:defRPr>
    </a:lvl4pPr>
    <a:lvl5pPr marL="2145731" algn="l" defTabSz="1072866" rtl="0" eaLnBrk="1" latinLnBrk="0" hangingPunct="1">
      <a:defRPr sz="1408" kern="1200">
        <a:solidFill>
          <a:schemeClr val="tx1"/>
        </a:solidFill>
        <a:latin typeface="+mn-lt"/>
        <a:ea typeface="+mn-ea"/>
        <a:cs typeface="+mn-cs"/>
      </a:defRPr>
    </a:lvl5pPr>
    <a:lvl6pPr marL="2682164" algn="l" defTabSz="1072866" rtl="0" eaLnBrk="1" latinLnBrk="0" hangingPunct="1">
      <a:defRPr sz="1408" kern="1200">
        <a:solidFill>
          <a:schemeClr val="tx1"/>
        </a:solidFill>
        <a:latin typeface="+mn-lt"/>
        <a:ea typeface="+mn-ea"/>
        <a:cs typeface="+mn-cs"/>
      </a:defRPr>
    </a:lvl6pPr>
    <a:lvl7pPr marL="3218597" algn="l" defTabSz="1072866" rtl="0" eaLnBrk="1" latinLnBrk="0" hangingPunct="1">
      <a:defRPr sz="1408" kern="1200">
        <a:solidFill>
          <a:schemeClr val="tx1"/>
        </a:solidFill>
        <a:latin typeface="+mn-lt"/>
        <a:ea typeface="+mn-ea"/>
        <a:cs typeface="+mn-cs"/>
      </a:defRPr>
    </a:lvl7pPr>
    <a:lvl8pPr marL="3755029" algn="l" defTabSz="1072866" rtl="0" eaLnBrk="1" latinLnBrk="0" hangingPunct="1">
      <a:defRPr sz="1408" kern="1200">
        <a:solidFill>
          <a:schemeClr val="tx1"/>
        </a:solidFill>
        <a:latin typeface="+mn-lt"/>
        <a:ea typeface="+mn-ea"/>
        <a:cs typeface="+mn-cs"/>
      </a:defRPr>
    </a:lvl8pPr>
    <a:lvl9pPr marL="4291462" algn="l" defTabSz="1072866" rtl="0" eaLnBrk="1" latinLnBrk="0" hangingPunct="1">
      <a:defRPr sz="140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xfrm>
            <a:off x="985838" y="695325"/>
            <a:ext cx="5038725" cy="34877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854770" y="2075723"/>
            <a:ext cx="6819058" cy="2533220"/>
          </a:xfrm>
          <a:prstGeom prst="rect">
            <a:avLst/>
          </a:prstGeom>
        </p:spPr>
        <p:txBody>
          <a:bodyPr vert="horz" lIns="99060" tIns="49530" rIns="99060" bIns="4953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467" b="1" dirty="0">
              <a:solidFill>
                <a:srgbClr val="0070C0"/>
              </a:solidFill>
              <a:latin typeface="Arial" charset="0"/>
              <a:cs typeface="Arial" charset="0"/>
            </a:endParaRPr>
          </a:p>
        </p:txBody>
      </p:sp>
      <p:sp>
        <p:nvSpPr>
          <p:cNvPr id="6" name="Rectangle 5"/>
          <p:cNvSpPr/>
          <p:nvPr userDrawn="1"/>
        </p:nvSpPr>
        <p:spPr>
          <a:xfrm>
            <a:off x="309563" y="285751"/>
            <a:ext cx="9364266" cy="285749"/>
          </a:xfrm>
          <a:prstGeom prst="rect">
            <a:avLst/>
          </a:prstGeom>
          <a:solidFill>
            <a:srgbClr val="4F81BD"/>
          </a:solidFill>
          <a:ln w="25400" cap="flat" cmpd="sng" algn="ctr">
            <a:noFill/>
            <a:prstDash val="solid"/>
          </a:ln>
          <a:effectLst/>
        </p:spPr>
        <p:txBody>
          <a:bodyPr anchor="ctr"/>
          <a:lstStyle/>
          <a:p>
            <a:pPr marL="0" marR="0" lvl="0" indent="0" algn="ctr" defTabSz="990570" eaLnBrk="1" fontAlgn="auto" latinLnBrk="0" hangingPunct="1">
              <a:lnSpc>
                <a:spcPct val="100000"/>
              </a:lnSpc>
              <a:spcBef>
                <a:spcPts val="0"/>
              </a:spcBef>
              <a:spcAft>
                <a:spcPts val="0"/>
              </a:spcAft>
              <a:buClrTx/>
              <a:buSzTx/>
              <a:buFontTx/>
              <a:buNone/>
              <a:tabLst/>
              <a:defRPr/>
            </a:pPr>
            <a:endParaRPr kumimoji="0" lang="en-US" sz="1950" b="0" i="0" u="none" strike="noStrike" kern="0" cap="none" spc="0" normalizeH="0" baseline="0" noProof="0" dirty="0">
              <a:ln>
                <a:noFill/>
              </a:ln>
              <a:solidFill>
                <a:prstClr val="white"/>
              </a:solidFill>
              <a:effectLst/>
              <a:uLnTx/>
              <a:uFillTx/>
              <a:latin typeface="Calibri"/>
            </a:endParaRPr>
          </a:p>
        </p:txBody>
      </p:sp>
      <p:pic>
        <p:nvPicPr>
          <p:cNvPr id="2" name="Image 1"/>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309562" y="773290"/>
            <a:ext cx="1301101" cy="1299600"/>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196173" y="599726"/>
            <a:ext cx="7358988" cy="649287"/>
          </a:xfrm>
          <a:prstGeom prst="rect">
            <a:avLst/>
          </a:prstGeom>
          <a:noFill/>
        </p:spPr>
        <p:txBody>
          <a:bodyPr vert="horz" wrap="square" lIns="0" tIns="0" rIns="0" bIns="0" rtlCol="0" anchor="b" anchorCtr="0">
            <a:noAutofit/>
          </a:bodyPr>
          <a:lstStyle/>
          <a:p>
            <a:pPr defTabSz="422082"/>
            <a:r>
              <a:rPr lang="fr-FR" sz="2288" b="1" kern="1200" dirty="0" smtClean="0">
                <a:solidFill>
                  <a:srgbClr val="0070C0"/>
                </a:solidFill>
                <a:latin typeface="Calibri" pitchFamily="34" charset="0"/>
                <a:ea typeface="+mn-ea"/>
                <a:cs typeface="+mn-cs"/>
              </a:rPr>
              <a:t>Agenda de la réunion</a:t>
            </a:r>
            <a:endParaRPr lang="fr-FR" sz="2288"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196175" y="1531221"/>
            <a:ext cx="7358989" cy="4445511"/>
          </a:xfrm>
        </p:spPr>
        <p:txBody>
          <a:bodyPr/>
          <a:lstStyle>
            <a:lvl1pPr marL="0" marR="0" indent="0" algn="l" defTabSz="422082" rtl="0" eaLnBrk="1" fontAlgn="auto" latinLnBrk="0" hangingPunct="1">
              <a:lnSpc>
                <a:spcPct val="100000"/>
              </a:lnSpc>
              <a:spcBef>
                <a:spcPts val="1108"/>
              </a:spcBef>
              <a:spcAft>
                <a:spcPts val="277"/>
              </a:spcAft>
              <a:buClr>
                <a:prstClr val="white"/>
              </a:buClr>
              <a:buSzPct val="25000"/>
              <a:buFont typeface="Verdana" pitchFamily="34" charset="0"/>
              <a:buNone/>
              <a:tabLst/>
              <a:defRPr sz="1517"/>
            </a:lvl1pPr>
            <a:lvl2pPr marL="164143" marR="0" indent="-164143" algn="l" defTabSz="422082" rtl="0" eaLnBrk="1" fontAlgn="auto" latinLnBrk="0" hangingPunct="1">
              <a:lnSpc>
                <a:spcPct val="100000"/>
              </a:lnSpc>
              <a:spcBef>
                <a:spcPts val="277"/>
              </a:spcBef>
              <a:spcAft>
                <a:spcPts val="277"/>
              </a:spcAft>
              <a:buClr>
                <a:srgbClr val="A71930"/>
              </a:buClr>
              <a:buSzTx/>
              <a:buFont typeface="Arial" pitchFamily="34" charset="0"/>
              <a:buChar char="•"/>
              <a:tabLst/>
              <a:defRPr sz="1517"/>
            </a:lvl2pPr>
            <a:lvl3pPr marL="334148" marR="0" indent="-167074" algn="l" defTabSz="474842" rtl="0" eaLnBrk="1" fontAlgn="auto" latinLnBrk="0" hangingPunct="1">
              <a:lnSpc>
                <a:spcPct val="100000"/>
              </a:lnSpc>
              <a:spcBef>
                <a:spcPts val="277"/>
              </a:spcBef>
              <a:spcAft>
                <a:spcPts val="277"/>
              </a:spcAft>
              <a:buClr>
                <a:srgbClr val="A71930"/>
              </a:buClr>
              <a:buSzTx/>
              <a:buFont typeface="Calibri" pitchFamily="34" charset="0"/>
              <a:buChar char="−"/>
              <a:tabLst/>
              <a:defRPr lang="en-US" sz="1517" kern="1200" noProof="0" dirty="0" smtClean="0">
                <a:solidFill>
                  <a:srgbClr val="4D4F53"/>
                </a:solidFill>
                <a:latin typeface="+mn-lt"/>
                <a:ea typeface="+mn-ea"/>
                <a:cs typeface="+mn-cs"/>
              </a:defRPr>
            </a:lvl3pPr>
            <a:lvl4pPr marL="495360" marR="0" indent="-149487" algn="l" defTabSz="422082" rtl="0" eaLnBrk="1" fontAlgn="auto" latinLnBrk="0" hangingPunct="1">
              <a:lnSpc>
                <a:spcPct val="100000"/>
              </a:lnSpc>
              <a:spcBef>
                <a:spcPts val="277"/>
              </a:spcBef>
              <a:spcAft>
                <a:spcPts val="277"/>
              </a:spcAft>
              <a:buClr>
                <a:srgbClr val="A71930"/>
              </a:buClr>
              <a:buSzTx/>
              <a:buFont typeface="Courier New" pitchFamily="49" charset="0"/>
              <a:buChar char="o"/>
              <a:tabLst/>
              <a:defRPr lang="en-US" sz="1517" kern="1200" noProof="0" dirty="0" smtClean="0">
                <a:solidFill>
                  <a:srgbClr val="4D4F53"/>
                </a:solidFill>
                <a:latin typeface="+mn-lt"/>
                <a:ea typeface="+mn-ea"/>
                <a:cs typeface="+mn-cs"/>
              </a:defRPr>
            </a:lvl4pPr>
          </a:lstStyle>
          <a:p>
            <a:pPr marL="0" marR="0" lvl="0" indent="0" algn="l" defTabSz="422082" rtl="0" eaLnBrk="1" fontAlgn="auto" latinLnBrk="0" hangingPunct="1">
              <a:lnSpc>
                <a:spcPct val="100000"/>
              </a:lnSpc>
              <a:spcBef>
                <a:spcPts val="1108"/>
              </a:spcBef>
              <a:spcAft>
                <a:spcPts val="277"/>
              </a:spcAft>
              <a:buClr>
                <a:prstClr val="white"/>
              </a:buClr>
              <a:buSzPct val="25000"/>
              <a:buFont typeface="Verdana" pitchFamily="34" charset="0"/>
              <a:buNone/>
              <a:tabLst/>
              <a:defRPr/>
            </a:pPr>
            <a:r>
              <a:rPr kumimoji="0" lang="fr-FR" sz="1300" b="0" i="0" u="none" strike="noStrike" kern="1200" cap="none" spc="0" normalizeH="0" baseline="0" noProof="0" dirty="0" smtClean="0">
                <a:ln>
                  <a:noFill/>
                </a:ln>
                <a:solidFill>
                  <a:srgbClr val="4D4F53"/>
                </a:solidFill>
                <a:effectLst/>
                <a:uLnTx/>
                <a:uFillTx/>
                <a:latin typeface="+mn-lt"/>
              </a:rPr>
              <a:t>Modifiez les styles du texte du masque</a:t>
            </a:r>
          </a:p>
          <a:p>
            <a:pPr marL="164143" marR="0" lvl="1" indent="-164143" algn="l" defTabSz="422082" rtl="0" eaLnBrk="1" fontAlgn="auto" latinLnBrk="0" hangingPunct="1">
              <a:lnSpc>
                <a:spcPct val="100000"/>
              </a:lnSpc>
              <a:spcBef>
                <a:spcPts val="277"/>
              </a:spcBef>
              <a:spcAft>
                <a:spcPts val="277"/>
              </a:spcAft>
              <a:buClr>
                <a:srgbClr val="A71930"/>
              </a:buClr>
              <a:buSzTx/>
              <a:buFont typeface="Arial" pitchFamily="34" charset="0"/>
              <a:buChar char="•"/>
              <a:tabLst/>
              <a:defRPr/>
            </a:pPr>
            <a:r>
              <a:rPr kumimoji="0" lang="fr-FR" sz="1300" b="0" i="0" u="none" strike="noStrike" kern="1200" cap="none" spc="0" normalizeH="0" baseline="0" noProof="0" dirty="0" smtClean="0">
                <a:ln>
                  <a:noFill/>
                </a:ln>
                <a:solidFill>
                  <a:srgbClr val="4D4F53"/>
                </a:solidFill>
                <a:effectLst/>
                <a:uLnTx/>
                <a:uFillTx/>
                <a:latin typeface="+mn-lt"/>
              </a:rPr>
              <a:t>Deuxième niveau</a:t>
            </a:r>
          </a:p>
          <a:p>
            <a:pPr marL="334148" marR="0" lvl="2" indent="-167074" algn="l" defTabSz="474842" rtl="0" eaLnBrk="1" fontAlgn="auto" latinLnBrk="0" hangingPunct="1">
              <a:lnSpc>
                <a:spcPct val="100000"/>
              </a:lnSpc>
              <a:spcBef>
                <a:spcPts val="277"/>
              </a:spcBef>
              <a:spcAft>
                <a:spcPts val="277"/>
              </a:spcAft>
              <a:buClr>
                <a:srgbClr val="A71930"/>
              </a:buClr>
              <a:buSzTx/>
              <a:buFont typeface="Calibri" pitchFamily="34" charset="0"/>
              <a:buChar char="−"/>
              <a:tabLst/>
              <a:defRPr/>
            </a:pPr>
            <a:r>
              <a:rPr kumimoji="0" lang="fr-FR" sz="1300" b="0" i="0" u="none" strike="noStrike" kern="1200" cap="none" spc="0" normalizeH="0" baseline="0" noProof="0" dirty="0" smtClean="0">
                <a:ln>
                  <a:noFill/>
                </a:ln>
                <a:solidFill>
                  <a:srgbClr val="4D4F53"/>
                </a:solidFill>
                <a:effectLst/>
                <a:uLnTx/>
                <a:uFillTx/>
                <a:latin typeface="+mn-lt"/>
              </a:rPr>
              <a:t>Troisième niveau</a:t>
            </a:r>
          </a:p>
          <a:p>
            <a:pPr marL="495360" marR="0" lvl="3" indent="-149487" algn="l" defTabSz="422082" rtl="0" eaLnBrk="1" fontAlgn="auto" latinLnBrk="0" hangingPunct="1">
              <a:lnSpc>
                <a:spcPct val="100000"/>
              </a:lnSpc>
              <a:spcBef>
                <a:spcPts val="277"/>
              </a:spcBef>
              <a:spcAft>
                <a:spcPts val="277"/>
              </a:spcAft>
              <a:buClr>
                <a:srgbClr val="A71930"/>
              </a:buClr>
              <a:buSzTx/>
              <a:buFont typeface="Courier New" pitchFamily="49" charset="0"/>
              <a:buChar char="o"/>
              <a:tabLst/>
              <a:defRPr/>
            </a:pPr>
            <a:r>
              <a:rPr kumimoji="0" lang="fr-FR" sz="13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322038" y="924369"/>
            <a:ext cx="1299600" cy="1299600"/>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742950" y="6356351"/>
            <a:ext cx="2063750" cy="365125"/>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15/03/2016</a:t>
            </a:fld>
            <a:endParaRPr lang="fr-FR"/>
          </a:p>
        </p:txBody>
      </p:sp>
      <p:sp>
        <p:nvSpPr>
          <p:cNvPr id="5" name="Espace réservé du numéro de diapositive 5"/>
          <p:cNvSpPr>
            <a:spLocks noGrp="1"/>
          </p:cNvSpPr>
          <p:nvPr>
            <p:ph type="sldNum" sz="quarter" idx="11"/>
          </p:nvPr>
        </p:nvSpPr>
        <p:spPr>
          <a:xfrm>
            <a:off x="7099300" y="6356351"/>
            <a:ext cx="2311400" cy="365125"/>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384550" y="6356351"/>
            <a:ext cx="3136900" cy="365125"/>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314989" y="1536701"/>
            <a:ext cx="7240173" cy="432076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368042" y="6498346"/>
            <a:ext cx="3169918" cy="211193"/>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sz="867" dirty="0" smtClean="0">
                <a:solidFill>
                  <a:srgbClr val="8D817B"/>
                </a:solidFill>
              </a:rPr>
              <a:t>Confidentiel. © 2015 CBG | </a:t>
            </a:r>
            <a:fld id="{2E997FAD-17BD-C54D-93FE-DA7D4A487AFB}" type="slidenum">
              <a:rPr lang="fr-FR" sz="867" smtClean="0">
                <a:solidFill>
                  <a:srgbClr val="8D817B"/>
                </a:solidFill>
              </a:rPr>
              <a:pPr algn="ctr"/>
              <a:t>‹N°›</a:t>
            </a:fld>
            <a:endParaRPr lang="fr-FR" sz="867" dirty="0" smtClean="0">
              <a:solidFill>
                <a:srgbClr val="8D817B"/>
              </a:solidFill>
            </a:endParaRPr>
          </a:p>
        </p:txBody>
      </p:sp>
      <p:sp>
        <p:nvSpPr>
          <p:cNvPr id="19" name="Espace réservé du pied de page 8"/>
          <p:cNvSpPr txBox="1">
            <a:spLocks/>
          </p:cNvSpPr>
          <p:nvPr userDrawn="1"/>
        </p:nvSpPr>
        <p:spPr bwMode="auto">
          <a:xfrm>
            <a:off x="309563" y="6161503"/>
            <a:ext cx="4411266" cy="2942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60" tIns="49530" rIns="99060" bIns="4953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90570" eaLnBrk="1" hangingPunct="1"/>
            <a:r>
              <a:rPr lang="fr-FR" sz="975" dirty="0" smtClean="0">
                <a:solidFill>
                  <a:srgbClr val="0070C0"/>
                </a:solidFill>
                <a:latin typeface="Arial" charset="0"/>
                <a:cs typeface="Arial" charset="0"/>
              </a:rPr>
              <a:t>Ce document est la propriété de la CBG - This document is property of CBG</a:t>
            </a:r>
            <a:endParaRPr lang="en-US" sz="975" dirty="0">
              <a:solidFill>
                <a:srgbClr val="0070C0"/>
              </a:solidFill>
              <a:latin typeface="Arial" charset="0"/>
              <a:cs typeface="Arial" charset="0"/>
            </a:endParaRPr>
          </a:p>
        </p:txBody>
      </p:sp>
      <p:sp>
        <p:nvSpPr>
          <p:cNvPr id="2" name="Espace réservé du titre 1"/>
          <p:cNvSpPr>
            <a:spLocks noGrp="1"/>
          </p:cNvSpPr>
          <p:nvPr>
            <p:ph type="title"/>
          </p:nvPr>
        </p:nvSpPr>
        <p:spPr>
          <a:xfrm>
            <a:off x="495300" y="275167"/>
            <a:ext cx="8915400" cy="114300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0359" y="6075898"/>
            <a:ext cx="9365283" cy="65029"/>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Lst>
  <p:timing>
    <p:tnLst>
      <p:par>
        <p:cTn id="1" dur="indefinite" restart="never" nodeType="tmRoot"/>
      </p:par>
    </p:tnLst>
  </p:timing>
  <p:txStyles>
    <p:titleStyle>
      <a:lvl1pPr marL="0" indent="0" algn="l" defTabSz="422082" rtl="0" eaLnBrk="1" latinLnBrk="0" hangingPunct="1">
        <a:spcBef>
          <a:spcPct val="0"/>
        </a:spcBef>
        <a:spcAft>
          <a:spcPts val="0"/>
        </a:spcAft>
        <a:buFont typeface="Arial" pitchFamily="34" charset="0"/>
        <a:buNone/>
        <a:defRPr lang="fr-FR" sz="2058" b="0" kern="1200" baseline="0" smtClean="0">
          <a:solidFill>
            <a:srgbClr val="4D4F53"/>
          </a:solidFill>
          <a:latin typeface="+mj-lt"/>
          <a:ea typeface="+mn-ea"/>
          <a:cs typeface="+mn-cs"/>
        </a:defRPr>
      </a:lvl1pPr>
    </p:titleStyle>
    <p:bodyStyle>
      <a:lvl1pPr marL="0" indent="0" algn="l" defTabSz="422082" rtl="0" eaLnBrk="1" latinLnBrk="0" hangingPunct="1">
        <a:spcBef>
          <a:spcPts val="1108"/>
        </a:spcBef>
        <a:spcAft>
          <a:spcPts val="277"/>
        </a:spcAft>
        <a:buClr>
          <a:schemeClr val="bg1"/>
        </a:buClr>
        <a:buSzPct val="25000"/>
        <a:buFont typeface="Verdana" pitchFamily="34" charset="0"/>
        <a:buNone/>
        <a:defRPr lang="en-GB" sz="1300" b="0" kern="1200" noProof="0" smtClean="0">
          <a:solidFill>
            <a:srgbClr val="4D4F53"/>
          </a:solidFill>
          <a:latin typeface="+mn-lt"/>
          <a:ea typeface="+mn-ea"/>
          <a:cs typeface="+mn-cs"/>
        </a:defRPr>
      </a:lvl1pPr>
      <a:lvl2pPr marL="164143" indent="-164143" algn="l" defTabSz="422082" rtl="0" eaLnBrk="1" latinLnBrk="0" hangingPunct="1">
        <a:spcBef>
          <a:spcPts val="277"/>
        </a:spcBef>
        <a:spcAft>
          <a:spcPts val="277"/>
        </a:spcAft>
        <a:buClr>
          <a:schemeClr val="bg2"/>
        </a:buClr>
        <a:buFont typeface="Arial" pitchFamily="34" charset="0"/>
        <a:buChar char="•"/>
        <a:defRPr lang="en-GB" sz="1300" kern="1200" noProof="0" smtClean="0">
          <a:solidFill>
            <a:srgbClr val="4D4F53"/>
          </a:solidFill>
          <a:latin typeface="+mn-lt"/>
          <a:ea typeface="+mn-ea"/>
          <a:cs typeface="+mn-cs"/>
        </a:defRPr>
      </a:lvl2pPr>
      <a:lvl3pPr marL="334148" indent="-167074" algn="l" defTabSz="474842" rtl="0" eaLnBrk="1" latinLnBrk="0" hangingPunct="1">
        <a:spcBef>
          <a:spcPts val="277"/>
        </a:spcBef>
        <a:spcAft>
          <a:spcPts val="277"/>
        </a:spcAft>
        <a:buClr>
          <a:schemeClr val="bg2"/>
        </a:buClr>
        <a:buFont typeface="Calibri" pitchFamily="34" charset="0"/>
        <a:buChar char="−"/>
        <a:defRPr lang="en-GB" sz="1300" kern="1200" noProof="0" smtClean="0">
          <a:solidFill>
            <a:srgbClr val="4D4F53"/>
          </a:solidFill>
          <a:latin typeface="+mn-lt"/>
          <a:ea typeface="+mn-ea"/>
          <a:cs typeface="+mn-cs"/>
        </a:defRPr>
      </a:lvl3pPr>
      <a:lvl4pPr marL="495360" indent="-149487" algn="l" defTabSz="422082" rtl="0" eaLnBrk="1" latinLnBrk="0" hangingPunct="1">
        <a:spcBef>
          <a:spcPts val="277"/>
        </a:spcBef>
        <a:spcAft>
          <a:spcPts val="277"/>
        </a:spcAft>
        <a:buClr>
          <a:schemeClr val="bg2"/>
        </a:buClr>
        <a:buFont typeface="Courier New" pitchFamily="49" charset="0"/>
        <a:buChar char="o"/>
        <a:tabLst/>
        <a:defRPr lang="en-GB" sz="1300" kern="1200" noProof="0" smtClean="0">
          <a:solidFill>
            <a:srgbClr val="4D4F53"/>
          </a:solidFill>
          <a:latin typeface="+mn-lt"/>
          <a:ea typeface="+mn-ea"/>
          <a:cs typeface="+mn-cs"/>
        </a:defRPr>
      </a:lvl4pPr>
      <a:lvl5pPr marL="750367" indent="-152418" algn="l" defTabSz="422082" rtl="0" eaLnBrk="1" latinLnBrk="0" hangingPunct="1">
        <a:spcBef>
          <a:spcPts val="0"/>
        </a:spcBef>
        <a:buClr>
          <a:srgbClr val="D52B1E"/>
        </a:buClr>
        <a:buFont typeface="Calibri" pitchFamily="34" charset="0"/>
        <a:buChar char="-"/>
        <a:tabLst/>
        <a:defRPr lang="en-GB" sz="975" kern="1200" noProof="0">
          <a:solidFill>
            <a:srgbClr val="4D4F53"/>
          </a:solidFill>
          <a:latin typeface="+mn-lt"/>
          <a:ea typeface="+mn-ea"/>
          <a:cs typeface="+mn-cs"/>
        </a:defRPr>
      </a:lvl5pPr>
      <a:lvl6pPr marL="2321449" indent="-211041" algn="l" defTabSz="422082" rtl="0" eaLnBrk="1" latinLnBrk="0" hangingPunct="1">
        <a:spcBef>
          <a:spcPct val="20000"/>
        </a:spcBef>
        <a:buFont typeface="Arial"/>
        <a:buChar char="•"/>
        <a:defRPr sz="1842" kern="1200">
          <a:solidFill>
            <a:schemeClr val="tx1"/>
          </a:solidFill>
          <a:latin typeface="+mn-lt"/>
          <a:ea typeface="+mn-ea"/>
          <a:cs typeface="+mn-cs"/>
        </a:defRPr>
      </a:lvl6pPr>
      <a:lvl7pPr marL="2743531" indent="-211041" algn="l" defTabSz="422082" rtl="0" eaLnBrk="1" latinLnBrk="0" hangingPunct="1">
        <a:spcBef>
          <a:spcPct val="20000"/>
        </a:spcBef>
        <a:buFont typeface="Arial"/>
        <a:buChar char="•"/>
        <a:defRPr sz="1842" kern="1200">
          <a:solidFill>
            <a:schemeClr val="tx1"/>
          </a:solidFill>
          <a:latin typeface="+mn-lt"/>
          <a:ea typeface="+mn-ea"/>
          <a:cs typeface="+mn-cs"/>
        </a:defRPr>
      </a:lvl7pPr>
      <a:lvl8pPr marL="3165613" indent="-211041" algn="l" defTabSz="422082" rtl="0" eaLnBrk="1" latinLnBrk="0" hangingPunct="1">
        <a:spcBef>
          <a:spcPct val="20000"/>
        </a:spcBef>
        <a:buFont typeface="Arial"/>
        <a:buChar char="•"/>
        <a:defRPr sz="1842" kern="1200">
          <a:solidFill>
            <a:schemeClr val="tx1"/>
          </a:solidFill>
          <a:latin typeface="+mn-lt"/>
          <a:ea typeface="+mn-ea"/>
          <a:cs typeface="+mn-cs"/>
        </a:defRPr>
      </a:lvl8pPr>
      <a:lvl9pPr marL="3587695" indent="-211041" algn="l" defTabSz="422082" rtl="0" eaLnBrk="1" latinLnBrk="0" hangingPunct="1">
        <a:spcBef>
          <a:spcPct val="20000"/>
        </a:spcBef>
        <a:buFont typeface="Arial"/>
        <a:buChar char="•"/>
        <a:defRPr sz="1842" kern="1200">
          <a:solidFill>
            <a:schemeClr val="tx1"/>
          </a:solidFill>
          <a:latin typeface="+mn-lt"/>
          <a:ea typeface="+mn-ea"/>
          <a:cs typeface="+mn-cs"/>
        </a:defRPr>
      </a:lvl9pPr>
    </p:bodyStyle>
    <p:otherStyle>
      <a:defPPr>
        <a:defRPr lang="en-US"/>
      </a:defPPr>
      <a:lvl1pPr marL="0" algn="l" defTabSz="422082" rtl="0" eaLnBrk="1" latinLnBrk="0" hangingPunct="1">
        <a:defRPr sz="1625" kern="1200">
          <a:solidFill>
            <a:schemeClr val="tx1"/>
          </a:solidFill>
          <a:latin typeface="+mn-lt"/>
          <a:ea typeface="+mn-ea"/>
          <a:cs typeface="+mn-cs"/>
        </a:defRPr>
      </a:lvl1pPr>
      <a:lvl2pPr marL="422082" algn="l" defTabSz="422082" rtl="0" eaLnBrk="1" latinLnBrk="0" hangingPunct="1">
        <a:defRPr sz="1625" kern="1200">
          <a:solidFill>
            <a:schemeClr val="tx1"/>
          </a:solidFill>
          <a:latin typeface="+mn-lt"/>
          <a:ea typeface="+mn-ea"/>
          <a:cs typeface="+mn-cs"/>
        </a:defRPr>
      </a:lvl2pPr>
      <a:lvl3pPr marL="844164" algn="l" defTabSz="422082" rtl="0" eaLnBrk="1" latinLnBrk="0" hangingPunct="1">
        <a:defRPr sz="1625" kern="1200">
          <a:solidFill>
            <a:schemeClr val="tx1"/>
          </a:solidFill>
          <a:latin typeface="+mn-lt"/>
          <a:ea typeface="+mn-ea"/>
          <a:cs typeface="+mn-cs"/>
        </a:defRPr>
      </a:lvl3pPr>
      <a:lvl4pPr marL="1266246" algn="l" defTabSz="422082" rtl="0" eaLnBrk="1" latinLnBrk="0" hangingPunct="1">
        <a:defRPr sz="1625" kern="1200">
          <a:solidFill>
            <a:schemeClr val="tx1"/>
          </a:solidFill>
          <a:latin typeface="+mn-lt"/>
          <a:ea typeface="+mn-ea"/>
          <a:cs typeface="+mn-cs"/>
        </a:defRPr>
      </a:lvl4pPr>
      <a:lvl5pPr marL="1688326" algn="l" defTabSz="422082" rtl="0" eaLnBrk="1" latinLnBrk="0" hangingPunct="1">
        <a:defRPr sz="1625" kern="1200">
          <a:solidFill>
            <a:schemeClr val="tx1"/>
          </a:solidFill>
          <a:latin typeface="+mn-lt"/>
          <a:ea typeface="+mn-ea"/>
          <a:cs typeface="+mn-cs"/>
        </a:defRPr>
      </a:lvl5pPr>
      <a:lvl6pPr marL="2110408" algn="l" defTabSz="422082" rtl="0" eaLnBrk="1" latinLnBrk="0" hangingPunct="1">
        <a:defRPr sz="1625" kern="1200">
          <a:solidFill>
            <a:schemeClr val="tx1"/>
          </a:solidFill>
          <a:latin typeface="+mn-lt"/>
          <a:ea typeface="+mn-ea"/>
          <a:cs typeface="+mn-cs"/>
        </a:defRPr>
      </a:lvl6pPr>
      <a:lvl7pPr marL="2532490" algn="l" defTabSz="422082" rtl="0" eaLnBrk="1" latinLnBrk="0" hangingPunct="1">
        <a:defRPr sz="1625" kern="1200">
          <a:solidFill>
            <a:schemeClr val="tx1"/>
          </a:solidFill>
          <a:latin typeface="+mn-lt"/>
          <a:ea typeface="+mn-ea"/>
          <a:cs typeface="+mn-cs"/>
        </a:defRPr>
      </a:lvl7pPr>
      <a:lvl8pPr marL="2954572" algn="l" defTabSz="422082" rtl="0" eaLnBrk="1" latinLnBrk="0" hangingPunct="1">
        <a:defRPr sz="1625" kern="1200">
          <a:solidFill>
            <a:schemeClr val="tx1"/>
          </a:solidFill>
          <a:latin typeface="+mn-lt"/>
          <a:ea typeface="+mn-ea"/>
          <a:cs typeface="+mn-cs"/>
        </a:defRPr>
      </a:lvl8pPr>
      <a:lvl9pPr marL="3376654" algn="l" defTabSz="422082" rtl="0" eaLnBrk="1" latinLnBrk="0" hangingPunct="1">
        <a:defRPr sz="16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2.png"/><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854771" y="2329463"/>
            <a:ext cx="6302014" cy="2058241"/>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3033" b="1" dirty="0">
                <a:solidFill>
                  <a:srgbClr val="0070C0"/>
                </a:solidFill>
                <a:latin typeface="Arial" charset="0"/>
                <a:cs typeface="Arial" charset="0"/>
              </a:rPr>
              <a:t>Formation </a:t>
            </a:r>
            <a:r>
              <a:rPr lang="fr-FR" sz="3033" b="1" dirty="0">
                <a:solidFill>
                  <a:srgbClr val="0070C0"/>
                </a:solidFill>
                <a:latin typeface="Arial" charset="0"/>
                <a:cs typeface="Arial" charset="0"/>
              </a:rPr>
              <a:t>Utilisateurs- Achats </a:t>
            </a:r>
            <a:r>
              <a:rPr lang="fr-FR" sz="3467" b="1" dirty="0">
                <a:solidFill>
                  <a:srgbClr val="0070C0"/>
                </a:solidFill>
                <a:latin typeface="Arial" charset="0"/>
                <a:cs typeface="Arial" charset="0"/>
              </a:rPr>
              <a:t/>
            </a:r>
            <a:br>
              <a:rPr lang="fr-FR" sz="3467" b="1" dirty="0">
                <a:solidFill>
                  <a:srgbClr val="0070C0"/>
                </a:solidFill>
                <a:latin typeface="Arial" charset="0"/>
                <a:cs typeface="Arial" charset="0"/>
              </a:rPr>
            </a:br>
            <a:r>
              <a:rPr lang="fr-FR" sz="2167" b="1" dirty="0">
                <a:solidFill>
                  <a:srgbClr val="0070C0"/>
                </a:solidFill>
                <a:latin typeface="Arial" charset="0"/>
                <a:cs typeface="Arial" charset="0"/>
              </a:rPr>
              <a:t>Module ACH03.01.04</a:t>
            </a:r>
            <a:r>
              <a:rPr lang="fr-FR" sz="2167" b="1" dirty="0">
                <a:solidFill>
                  <a:srgbClr val="0070C0"/>
                </a:solidFill>
                <a:latin typeface="Arial" charset="0"/>
                <a:cs typeface="Arial" charset="0"/>
              </a:rPr>
              <a:t/>
            </a:r>
            <a:br>
              <a:rPr lang="fr-FR" sz="2167" b="1" dirty="0">
                <a:solidFill>
                  <a:srgbClr val="0070C0"/>
                </a:solidFill>
                <a:latin typeface="Arial" charset="0"/>
                <a:cs typeface="Arial" charset="0"/>
              </a:rPr>
            </a:br>
            <a:r>
              <a:rPr lang="fr-FR" sz="2167" b="1" dirty="0">
                <a:solidFill>
                  <a:srgbClr val="0070C0"/>
                </a:solidFill>
                <a:latin typeface="Arial" charset="0"/>
                <a:cs typeface="Arial" charset="0"/>
              </a:rPr>
              <a:t>Traitement des demandes d’achat </a:t>
            </a:r>
            <a:r>
              <a:rPr lang="fr-FR" sz="2167" b="1" dirty="0" smtClean="0">
                <a:solidFill>
                  <a:srgbClr val="0070C0"/>
                </a:solidFill>
                <a:latin typeface="Arial" charset="0"/>
                <a:cs typeface="Arial" charset="0"/>
              </a:rPr>
              <a:t>de Service locales (</a:t>
            </a:r>
            <a:r>
              <a:rPr lang="fr-FR" sz="2167" b="1" dirty="0">
                <a:solidFill>
                  <a:srgbClr val="0070C0"/>
                </a:solidFill>
                <a:latin typeface="Arial" charset="0"/>
                <a:cs typeface="Arial" charset="0"/>
              </a:rPr>
              <a:t>ZSRV)</a:t>
            </a:r>
            <a:endParaRPr lang="fr-FR" sz="1950"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95300" y="633600"/>
            <a:ext cx="8915400" cy="928688"/>
          </a:xfrm>
        </p:spPr>
        <p:txBody>
          <a:bodyPr anchor="t"/>
          <a:lstStyle/>
          <a:p>
            <a:r>
              <a:rPr lang="fr-FR" altLang="en-US" sz="2600" dirty="0"/>
              <a:t>Rappel sur les groupes marchandises à utiliser </a:t>
            </a:r>
            <a:r>
              <a:rPr lang="fr-FR" altLang="en-US" dirty="0" smtClean="0"/>
              <a:t/>
            </a:r>
            <a:br>
              <a:rPr lang="fr-FR" altLang="en-US" dirty="0" smtClean="0"/>
            </a:br>
            <a:r>
              <a:rPr lang="fr-FR" altLang="en-US" dirty="0" smtClean="0"/>
              <a:t>Services (1/2) </a:t>
            </a:r>
            <a:endParaRPr lang="en-US" altLang="en-US" dirty="0" smtClean="0"/>
          </a:p>
        </p:txBody>
      </p:sp>
      <p:graphicFrame>
        <p:nvGraphicFramePr>
          <p:cNvPr id="8" name="Tableau 7"/>
          <p:cNvGraphicFramePr>
            <a:graphicFrameLocks noGrp="1"/>
          </p:cNvGraphicFramePr>
          <p:nvPr/>
        </p:nvGraphicFramePr>
        <p:xfrm>
          <a:off x="285427" y="1795189"/>
          <a:ext cx="9343541" cy="3743040"/>
        </p:xfrm>
        <a:graphic>
          <a:graphicData uri="http://schemas.openxmlformats.org/drawingml/2006/table">
            <a:tbl>
              <a:tblPr/>
              <a:tblGrid>
                <a:gridCol w="629619"/>
                <a:gridCol w="2224652"/>
                <a:gridCol w="6489270"/>
              </a:tblGrid>
              <a:tr h="421660">
                <a:tc>
                  <a:txBody>
                    <a:bodyPr/>
                    <a:lstStyle/>
                    <a:p>
                      <a:pPr algn="ctr" fontAlgn="ctr"/>
                      <a:r>
                        <a:rPr lang="fr-FR" sz="800" b="1" i="0" u="none" strike="noStrike" dirty="0">
                          <a:solidFill>
                            <a:srgbClr val="000000"/>
                          </a:solidFill>
                          <a:effectLst/>
                          <a:latin typeface="Calibri" panose="020F0502020204030204" pitchFamily="34" charset="0"/>
                        </a:rPr>
                        <a:t>Groupe de marchandises</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800" b="1" i="0" u="none" strike="noStrike" dirty="0">
                          <a:solidFill>
                            <a:srgbClr val="000000"/>
                          </a:solidFill>
                          <a:effectLst/>
                          <a:latin typeface="Calibri" panose="020F0502020204030204" pitchFamily="34" charset="0"/>
                        </a:rPr>
                        <a:t>Description Groupe de marchandise</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800" b="1" i="0" u="none" strike="noStrike" dirty="0">
                          <a:solidFill>
                            <a:srgbClr val="000000"/>
                          </a:solidFill>
                          <a:effectLst/>
                          <a:latin typeface="Calibri" panose="020F0502020204030204" pitchFamily="34" charset="0"/>
                        </a:rPr>
                        <a:t>Explication : </a:t>
                      </a:r>
                      <a:r>
                        <a:rPr lang="fr-FR" sz="800" b="1" i="0" u="none" strike="noStrike">
                          <a:solidFill>
                            <a:srgbClr val="000000"/>
                          </a:solidFill>
                          <a:effectLst/>
                          <a:latin typeface="Calibri" panose="020F0502020204030204" pitchFamily="34" charset="0"/>
                        </a:rPr>
                        <a:t>Compte </a:t>
                      </a:r>
                      <a:r>
                        <a:rPr lang="fr-FR" sz="800" b="1" i="0" u="none" strike="noStrike" smtClean="0">
                          <a:solidFill>
                            <a:srgbClr val="000000"/>
                          </a:solidFill>
                          <a:effectLst/>
                          <a:latin typeface="Calibri" panose="020F0502020204030204" pitchFamily="34" charset="0"/>
                        </a:rPr>
                        <a:t>utilisé </a:t>
                      </a:r>
                      <a:r>
                        <a:rPr lang="fr-FR" sz="800" b="1" i="0" u="none" strike="noStrike" dirty="0">
                          <a:solidFill>
                            <a:srgbClr val="000000"/>
                          </a:solidFill>
                          <a:effectLst/>
                          <a:latin typeface="Calibri" panose="020F0502020204030204" pitchFamily="34" charset="0"/>
                        </a:rPr>
                        <a:t>pour enregistrer :</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960</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COUT BUREAU VERITAS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Les prestations de service, contrôle du Bureau VERITAS,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940</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TRANSPORT SUR ACHAT LOCAUX</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Factures de transport de marchandises par un camions tiers sur le territoire guinéen.</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941</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TRANSPORT SUR ACHAT OUTRE-MER</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Factures de transport de marchandises par bateaux.</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942</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TRANSPORT DE PLIS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factures de transport de plis ou colis par DHL, AMA,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968</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SOUS-TRAITRANCE FORAGE ET MINE - CONTRAT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factures du contrat de forage et minage.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966</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PRESTATION SERVICE SURVEILLANCE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factures de prestations des sociétés de surveillance (EGB, Tomba Security, BCEIP,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1140">
                <a:tc>
                  <a:txBody>
                    <a:bodyPr/>
                    <a:lstStyle/>
                    <a:p>
                      <a:pPr algn="ctr" fontAlgn="ctr"/>
                      <a:r>
                        <a:rPr lang="fr-FR" sz="800" b="0" i="0" u="none" strike="noStrike">
                          <a:solidFill>
                            <a:srgbClr val="000000"/>
                          </a:solidFill>
                          <a:effectLst/>
                          <a:latin typeface="Calibri" panose="020F0502020204030204" pitchFamily="34" charset="0"/>
                        </a:rPr>
                        <a:t>977</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SOUS-TRAITANCE GESTION DES HYDROCARBURES -CONTRAT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factures de prestations de Total Guinée sur la base d'un contrat.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961</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LOCATION, BAIL, LOYER (Batiment)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charges locatives du bureau et du dispensaire de Conakry, éventuellement d'autres bâtiments ailleurs.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976</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LOCATION MATERIEL ET OUTILLAGE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Location des équipements mobiles (camions, machines, etc.) et fixes (groupes électrogène, citerne à soude,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1140">
                <a:tc>
                  <a:txBody>
                    <a:bodyPr/>
                    <a:lstStyle/>
                    <a:p>
                      <a:pPr algn="ctr" fontAlgn="ctr"/>
                      <a:r>
                        <a:rPr lang="fr-FR" sz="800" b="0" i="0" u="none" strike="noStrike">
                          <a:solidFill>
                            <a:srgbClr val="000000"/>
                          </a:solidFill>
                          <a:effectLst/>
                          <a:latin typeface="Calibri" panose="020F0502020204030204" pitchFamily="34" charset="0"/>
                        </a:rPr>
                        <a:t>967</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MAINTENANCE &amp; REPARATION BATIMENTS &amp; LOGEMENTS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Main d'œuvre pour travaux d'entretien ou de rénovation des bâtiments et logements ou les mêmes travaux clef à main.</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1140">
                <a:tc>
                  <a:txBody>
                    <a:bodyPr/>
                    <a:lstStyle/>
                    <a:p>
                      <a:pPr algn="ctr" fontAlgn="ctr"/>
                      <a:r>
                        <a:rPr lang="fr-FR" sz="800" b="0" i="0" u="none" strike="noStrike">
                          <a:solidFill>
                            <a:srgbClr val="000000"/>
                          </a:solidFill>
                          <a:effectLst/>
                          <a:latin typeface="Calibri" panose="020F0502020204030204" pitchFamily="34" charset="0"/>
                        </a:rPr>
                        <a:t>979</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MAINTENANCE &amp; REPARATION MATERIELS &amp; EQUIPEMENTS FIXES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Main d'œuvre pour travaux d'entretien du matériel et équipement fixe (groupe électrogène, compresseur 14 bars, chaudières, château d'eau, roue pelle, etc. ).</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7700">
                <a:tc>
                  <a:txBody>
                    <a:bodyPr/>
                    <a:lstStyle/>
                    <a:p>
                      <a:pPr algn="ctr" fontAlgn="ctr"/>
                      <a:r>
                        <a:rPr lang="fr-FR" sz="800" b="0" i="0" u="none" strike="noStrike">
                          <a:solidFill>
                            <a:srgbClr val="000000"/>
                          </a:solidFill>
                          <a:effectLst/>
                          <a:latin typeface="Calibri" panose="020F0502020204030204" pitchFamily="34" charset="0"/>
                        </a:rPr>
                        <a:t>965</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MAINTENANCE &amp; REPARATION MATERIEL ROULANT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Main d'œuvre pour entretien ou réparation du matériel roulant (véhicule, camion, machine,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1140">
                <a:tc>
                  <a:txBody>
                    <a:bodyPr/>
                    <a:lstStyle/>
                    <a:p>
                      <a:pPr algn="ctr" fontAlgn="ctr"/>
                      <a:r>
                        <a:rPr lang="fr-FR" sz="800" b="0" i="0" u="none" strike="noStrike">
                          <a:solidFill>
                            <a:srgbClr val="000000"/>
                          </a:solidFill>
                          <a:effectLst/>
                          <a:latin typeface="Calibri" panose="020F0502020204030204" pitchFamily="34" charset="0"/>
                        </a:rPr>
                        <a:t>978</a:t>
                      </a:r>
                    </a:p>
                  </a:txBody>
                  <a:tcPr marL="10319" marR="10319" marT="103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MAINTENANCE &amp; REPARATION INSTALLATIONS INDUSTRIELLES</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Main d'œuvre pour entretien ou prévention des bris relatif aux installations industrielles (débroussaillement de la voie ferrée, surveillance des convoyeurs, nettoyage de l'usine,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980</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AUTRES ENTRETIENS &amp; REPARATIONS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Main d'œuvre pour l'entretien et réparation des autres liés de l'installation industrielle (planton, jardinier), les routes et terrains ....</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970</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ASSURANCES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Assurance risque d'exploitation ou assurance générale payée à Pittsburgh.</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2275305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95300" y="633600"/>
            <a:ext cx="8915400" cy="928688"/>
          </a:xfrm>
        </p:spPr>
        <p:txBody>
          <a:bodyPr anchor="t"/>
          <a:lstStyle/>
          <a:p>
            <a:r>
              <a:rPr lang="fr-FR" altLang="en-US" sz="2600" dirty="0"/>
              <a:t>Rappel sur les groupes marchandises à utiliser </a:t>
            </a:r>
            <a:r>
              <a:rPr lang="fr-FR" altLang="en-US" dirty="0" smtClean="0"/>
              <a:t/>
            </a:r>
            <a:br>
              <a:rPr lang="fr-FR" altLang="en-US" dirty="0" smtClean="0"/>
            </a:br>
            <a:r>
              <a:rPr lang="fr-FR" altLang="en-US" dirty="0" smtClean="0"/>
              <a:t>Services (2/2)</a:t>
            </a:r>
            <a:endParaRPr lang="en-US" altLang="en-US" dirty="0" smtClean="0"/>
          </a:p>
        </p:txBody>
      </p:sp>
      <p:graphicFrame>
        <p:nvGraphicFramePr>
          <p:cNvPr id="8" name="Tableau 7"/>
          <p:cNvGraphicFramePr>
            <a:graphicFrameLocks noGrp="1"/>
          </p:cNvGraphicFramePr>
          <p:nvPr/>
        </p:nvGraphicFramePr>
        <p:xfrm>
          <a:off x="285427" y="1795189"/>
          <a:ext cx="9343541" cy="4065680"/>
        </p:xfrm>
        <a:graphic>
          <a:graphicData uri="http://schemas.openxmlformats.org/drawingml/2006/table">
            <a:tbl>
              <a:tblPr/>
              <a:tblGrid>
                <a:gridCol w="629619"/>
                <a:gridCol w="2224652"/>
                <a:gridCol w="6489270"/>
              </a:tblGrid>
              <a:tr h="421660">
                <a:tc>
                  <a:txBody>
                    <a:bodyPr/>
                    <a:lstStyle/>
                    <a:p>
                      <a:pPr algn="ctr" fontAlgn="ctr"/>
                      <a:r>
                        <a:rPr lang="fr-FR" sz="800" b="1" i="0" u="none" strike="noStrike" dirty="0">
                          <a:solidFill>
                            <a:srgbClr val="000000"/>
                          </a:solidFill>
                          <a:effectLst/>
                          <a:latin typeface="Calibri" panose="020F0502020204030204" pitchFamily="34" charset="0"/>
                        </a:rPr>
                        <a:t>Groupe de marchandises</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800" b="1" i="0" u="none" strike="noStrike" dirty="0">
                          <a:solidFill>
                            <a:srgbClr val="000000"/>
                          </a:solidFill>
                          <a:effectLst/>
                          <a:latin typeface="Calibri" panose="020F0502020204030204" pitchFamily="34" charset="0"/>
                        </a:rPr>
                        <a:t>Description Groupe de marchandise</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800" b="1" i="0" u="none" strike="noStrike" dirty="0">
                          <a:solidFill>
                            <a:srgbClr val="000000"/>
                          </a:solidFill>
                          <a:effectLst/>
                          <a:latin typeface="Calibri" panose="020F0502020204030204" pitchFamily="34" charset="0"/>
                        </a:rPr>
                        <a:t>Explication : </a:t>
                      </a:r>
                      <a:r>
                        <a:rPr lang="fr-FR" sz="800" b="1" i="0" u="none" strike="noStrike">
                          <a:solidFill>
                            <a:srgbClr val="000000"/>
                          </a:solidFill>
                          <a:effectLst/>
                          <a:latin typeface="Calibri" panose="020F0502020204030204" pitchFamily="34" charset="0"/>
                        </a:rPr>
                        <a:t>Compte </a:t>
                      </a:r>
                      <a:r>
                        <a:rPr lang="fr-FR" sz="800" b="1" i="0" u="none" strike="noStrike" smtClean="0">
                          <a:solidFill>
                            <a:srgbClr val="000000"/>
                          </a:solidFill>
                          <a:effectLst/>
                          <a:latin typeface="Calibri" panose="020F0502020204030204" pitchFamily="34" charset="0"/>
                        </a:rPr>
                        <a:t>utilisé </a:t>
                      </a:r>
                      <a:r>
                        <a:rPr lang="fr-FR" sz="800" b="1" i="0" u="none" strike="noStrike" dirty="0">
                          <a:solidFill>
                            <a:srgbClr val="000000"/>
                          </a:solidFill>
                          <a:effectLst/>
                          <a:latin typeface="Calibri" panose="020F0502020204030204" pitchFamily="34" charset="0"/>
                        </a:rPr>
                        <a:t>pour enregistrer :</a:t>
                      </a:r>
                    </a:p>
                  </a:txBody>
                  <a:tcPr marL="4540" marR="4540" marT="45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943</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ASSURANCE MATERIEL DE TRANSPORT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Assurance des véhicules, camions et machines de la flotte de CBG payée en Guinée.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972</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ETUDE INGENIERIE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Etude préliminaire des projets (ingénierie)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944</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ANNONCE et PUBLICITE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Annonces ou insertion de pages dans un journal parlant de CBG.</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945</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CATALOGUES, IMPRIMES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Le coût de confection des catalogues ou des imprimés (Bulletin info CBG, Carte de visite, Carte de vœux,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946</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PUBLICATIONS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Frais d'annonces sur les ondes de radios des avis de CBG.</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969</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HONORAIRE CONSULTATION</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Honoraires pour auditeurs, avocats, huissiers, greffiers ou autres cabinets.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947</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RÉMUNÉRATIONS AUTRES INTERMÉDIAIRES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Main d'œuvre intérimaire pour prestations de service (Comptable, informaticien, chauffeur, agent logistique, etc.)</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950</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FORMATION LOCALE DU PERSONNEL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factures des cabinets de formation pour les prestations rendues en Guinée (CDF, Conakry).</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951</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LICENCES ET LOGICIELS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Les coûts des licences et des contrats de support informatique.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952</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COTISATIONS DBTCG</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Contribution profession (chambre des mines, DBTCG).</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953</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FRAIS DE RECRUTEMENT DU PERSONNEL</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Enregistre les frais engagés pour le recrutement d'un nouvel employé notamment de expatriés.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7700">
                <a:tc>
                  <a:txBody>
                    <a:bodyPr/>
                    <a:lstStyle/>
                    <a:p>
                      <a:pPr algn="ctr" fontAlgn="ctr"/>
                      <a:r>
                        <a:rPr lang="fr-FR" sz="800" b="0" i="0" u="none" strike="noStrike" dirty="0">
                          <a:solidFill>
                            <a:srgbClr val="000000"/>
                          </a:solidFill>
                          <a:effectLst/>
                          <a:latin typeface="Calibri" panose="020F0502020204030204" pitchFamily="34" charset="0"/>
                        </a:rPr>
                        <a:t>954</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ASSISTANCE TECHNIQUE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Frais de prestation d'un expert.</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955</a:t>
                      </a:r>
                    </a:p>
                  </a:txBody>
                  <a:tcPr marL="10319" marR="10319" marT="103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FRAIS DE MAINTIEN D’ORDRE </a:t>
                      </a:r>
                    </a:p>
                  </a:txBody>
                  <a:tcPr marL="39000" marR="3900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Coûts de nourriture des militaires, gendarmes et policiers pour le maintien d'ordre.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957</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DONS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Définition évidente.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dirty="0">
                          <a:solidFill>
                            <a:srgbClr val="000000"/>
                          </a:solidFill>
                          <a:effectLst/>
                          <a:latin typeface="Calibri" panose="020F0502020204030204" pitchFamily="34" charset="0"/>
                        </a:rPr>
                        <a:t>974</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SPONSORING</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Sponsor, parrainage, soutien.</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31140">
                <a:tc>
                  <a:txBody>
                    <a:bodyPr/>
                    <a:lstStyle/>
                    <a:p>
                      <a:pPr algn="ctr" fontAlgn="ctr"/>
                      <a:r>
                        <a:rPr lang="fr-FR" sz="800" b="0" i="0" u="none" strike="noStrike" dirty="0">
                          <a:solidFill>
                            <a:srgbClr val="000000"/>
                          </a:solidFill>
                          <a:effectLst/>
                          <a:latin typeface="Calibri" panose="020F0502020204030204" pitchFamily="34" charset="0"/>
                        </a:rPr>
                        <a:t>958</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REUNIONS CONSEIL D'ADMINISTRATION ET COMITES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Billet d'avion, frais d'hôtel, </a:t>
                      </a:r>
                      <a:r>
                        <a:rPr lang="fr-FR" sz="800" b="0" i="0" u="none" strike="noStrike" dirty="0" err="1">
                          <a:solidFill>
                            <a:srgbClr val="000000"/>
                          </a:solidFill>
                          <a:effectLst/>
                          <a:latin typeface="Calibri" panose="020F0502020204030204" pitchFamily="34" charset="0"/>
                        </a:rPr>
                        <a:t>perdiem</a:t>
                      </a:r>
                      <a:r>
                        <a:rPr lang="fr-FR" sz="800" b="0" i="0" u="none" strike="noStrike" dirty="0">
                          <a:solidFill>
                            <a:srgbClr val="000000"/>
                          </a:solidFill>
                          <a:effectLst/>
                          <a:latin typeface="Calibri" panose="020F0502020204030204" pitchFamily="34" charset="0"/>
                        </a:rPr>
                        <a:t> accordé au membres des instances de décision de CBG (Comité technique, Comité d'audit, Comité consultatif et Conseil d'administration).</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r>
              <a:tr h="210832">
                <a:tc>
                  <a:txBody>
                    <a:bodyPr/>
                    <a:lstStyle/>
                    <a:p>
                      <a:pPr algn="ctr" fontAlgn="ctr"/>
                      <a:r>
                        <a:rPr lang="fr-FR" sz="800" b="0" i="0" u="none" strike="noStrike">
                          <a:solidFill>
                            <a:srgbClr val="000000"/>
                          </a:solidFill>
                          <a:effectLst/>
                          <a:latin typeface="Calibri" panose="020F0502020204030204" pitchFamily="34" charset="0"/>
                        </a:rPr>
                        <a:t>959</a:t>
                      </a:r>
                    </a:p>
                  </a:txBody>
                  <a:tcPr marL="10319" marR="10319" marT="103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a:solidFill>
                            <a:srgbClr val="000000"/>
                          </a:solidFill>
                          <a:effectLst/>
                          <a:latin typeface="Calibri" panose="020F0502020204030204" pitchFamily="34" charset="0"/>
                        </a:rPr>
                        <a:t>FETES DE FIN D'ANNEE ET FETES NATIONALES</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fr-FR" sz="800" b="0" i="0" u="none" strike="noStrike" dirty="0">
                          <a:solidFill>
                            <a:srgbClr val="000000"/>
                          </a:solidFill>
                          <a:effectLst/>
                          <a:latin typeface="Calibri" panose="020F0502020204030204" pitchFamily="34" charset="0"/>
                        </a:rPr>
                        <a:t>Coûts des prestations d'artistes et d'autres pour l'organisation des fêtes de fin d'année.</a:t>
                      </a:r>
                    </a:p>
                  </a:txBody>
                  <a:tcPr marL="39000" marR="39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15600552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95300" y="633600"/>
            <a:ext cx="8915400" cy="1143000"/>
          </a:xfrm>
        </p:spPr>
        <p:txBody>
          <a:bodyPr anchor="t"/>
          <a:lstStyle/>
          <a:p>
            <a:r>
              <a:rPr lang="fr-FR" altLang="en-US" sz="2600" dirty="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621377" y="1891507"/>
            <a:ext cx="8933785" cy="3510619"/>
          </a:xfrm>
        </p:spPr>
        <p:txBody>
          <a:bodyPr/>
          <a:lstStyle/>
          <a:p>
            <a:r>
              <a:rPr lang="fr-FR" dirty="0" smtClean="0"/>
              <a:t>Le processus de création et de gestion des demandes d’achat </a:t>
            </a:r>
            <a:r>
              <a:rPr lang="fr-FR" dirty="0" smtClean="0"/>
              <a:t>de service </a:t>
            </a:r>
            <a:r>
              <a:rPr lang="fr-FR" dirty="0" smtClean="0"/>
              <a:t>locales </a:t>
            </a:r>
            <a:r>
              <a:rPr lang="fr-FR" dirty="0" smtClean="0"/>
              <a:t>s’inscrit </a:t>
            </a:r>
            <a:r>
              <a:rPr lang="fr-FR" dirty="0" smtClean="0"/>
              <a:t>dans le processus d’Achats Indirects. </a:t>
            </a:r>
          </a:p>
          <a:p>
            <a:r>
              <a:rPr lang="fr-FR" b="1" dirty="0" smtClean="0">
                <a:solidFill>
                  <a:srgbClr val="0070C0"/>
                </a:solidFill>
              </a:rPr>
              <a:t>Pour les </a:t>
            </a:r>
            <a:r>
              <a:rPr lang="fr-FR" b="1" dirty="0" smtClean="0">
                <a:solidFill>
                  <a:srgbClr val="0070C0"/>
                </a:solidFill>
              </a:rPr>
              <a:t>Bureaux d’Achats</a:t>
            </a:r>
            <a:endParaRPr lang="fr-FR" b="1" dirty="0" smtClean="0">
              <a:solidFill>
                <a:srgbClr val="0070C0"/>
              </a:solidFill>
            </a:endParaRPr>
          </a:p>
          <a:p>
            <a:pPr marL="185732" indent="-185732">
              <a:buClr>
                <a:srgbClr val="0070C0"/>
              </a:buClr>
              <a:buSzPct val="100000"/>
              <a:buFont typeface="Arial" panose="020B0604020202020204" pitchFamily="34" charset="0"/>
              <a:buChar char="•"/>
            </a:pPr>
            <a:r>
              <a:rPr lang="fr-FR" dirty="0" smtClean="0"/>
              <a:t>De connaitre le besoin de </a:t>
            </a:r>
            <a:r>
              <a:rPr lang="fr-FR" dirty="0" smtClean="0"/>
              <a:t>service ses </a:t>
            </a:r>
            <a:r>
              <a:rPr lang="fr-FR" dirty="0" smtClean="0"/>
              <a:t>clients </a:t>
            </a:r>
            <a:r>
              <a:rPr lang="fr-FR" dirty="0" smtClean="0"/>
              <a:t>internes</a:t>
            </a:r>
            <a:endParaRPr lang="fr-FR" dirty="0" smtClean="0"/>
          </a:p>
          <a:p>
            <a:pPr>
              <a:buClr>
                <a:srgbClr val="0070C0"/>
              </a:buClr>
              <a:buSzPct val="100000"/>
            </a:pPr>
            <a:r>
              <a:rPr lang="fr-FR" b="1" dirty="0" smtClean="0">
                <a:solidFill>
                  <a:srgbClr val="0070C0"/>
                </a:solidFill>
              </a:rPr>
              <a:t>Pour un client interne </a:t>
            </a:r>
          </a:p>
          <a:p>
            <a:pPr marL="185732" indent="-185732">
              <a:buClr>
                <a:srgbClr val="0070C0"/>
              </a:buClr>
              <a:buSzPct val="100000"/>
              <a:buFont typeface="Arial" panose="020B0604020202020204" pitchFamily="34" charset="0"/>
              <a:buChar char="•"/>
            </a:pPr>
            <a:r>
              <a:rPr lang="fr-FR" dirty="0" smtClean="0"/>
              <a:t>De pouvoir exprimer un besoin </a:t>
            </a:r>
            <a:r>
              <a:rPr lang="fr-FR" dirty="0" smtClean="0"/>
              <a:t>de service</a:t>
            </a:r>
            <a:endParaRPr lang="fr-FR" dirty="0" smtClean="0"/>
          </a:p>
        </p:txBody>
      </p:sp>
      <p:grpSp>
        <p:nvGrpSpPr>
          <p:cNvPr id="3" name="Groupe 2"/>
          <p:cNvGrpSpPr/>
          <p:nvPr/>
        </p:nvGrpSpPr>
        <p:grpSpPr>
          <a:xfrm>
            <a:off x="378022" y="3726715"/>
            <a:ext cx="9149957" cy="2287377"/>
            <a:chOff x="405205" y="3165656"/>
            <a:chExt cx="11402728" cy="2850542"/>
          </a:xfrm>
        </p:grpSpPr>
        <p:sp>
          <p:nvSpPr>
            <p:cNvPr id="30" name="ZoneTexte 29"/>
            <p:cNvSpPr txBox="1"/>
            <p:nvPr/>
          </p:nvSpPr>
          <p:spPr>
            <a:xfrm>
              <a:off x="405205" y="3165656"/>
              <a:ext cx="1282081" cy="38355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700" b="0" i="0" u="none" strike="noStrike" kern="0" cap="none" spc="0" normalizeH="0" baseline="0" noProof="0" dirty="0" smtClean="0">
                  <a:ln>
                    <a:noFill/>
                  </a:ln>
                  <a:solidFill>
                    <a:prstClr val="black"/>
                  </a:solidFill>
                  <a:effectLst/>
                  <a:uLnTx/>
                  <a:uFillTx/>
                </a:rPr>
                <a:t>Expression de besoin par le client interne</a:t>
              </a:r>
              <a:endParaRPr kumimoji="0" lang="en-US" sz="700" b="0" i="0" u="none" strike="noStrike" kern="0" cap="none" spc="0" normalizeH="0" baseline="0" noProof="0" dirty="0" smtClean="0">
                <a:ln>
                  <a:noFill/>
                </a:ln>
                <a:solidFill>
                  <a:prstClr val="black"/>
                </a:solidFill>
                <a:effectLst/>
                <a:uLnTx/>
                <a:uFillTx/>
              </a:endParaRPr>
            </a:p>
          </p:txBody>
        </p:sp>
        <p:sp>
          <p:nvSpPr>
            <p:cNvPr id="31" name="Rectangle 30"/>
            <p:cNvSpPr/>
            <p:nvPr/>
          </p:nvSpPr>
          <p:spPr>
            <a:xfrm>
              <a:off x="2852368" y="3566160"/>
              <a:ext cx="1080000" cy="558000"/>
            </a:xfrm>
            <a:prstGeom prst="rect">
              <a:avLst/>
            </a:prstGeom>
            <a:solidFill>
              <a:srgbClr val="5B9BD5"/>
            </a:solidFill>
            <a:ln w="12700" cap="flat" cmpd="sng" algn="ctr">
              <a:solidFill>
                <a:srgbClr val="5B9BD5">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smtClean="0">
                  <a:ln>
                    <a:noFill/>
                  </a:ln>
                  <a:solidFill>
                    <a:prstClr val="white"/>
                  </a:solidFill>
                  <a:effectLst/>
                  <a:uLnTx/>
                  <a:uFillTx/>
                  <a:latin typeface="Calibri" panose="020F0502020204030204"/>
                  <a:ea typeface="+mn-ea"/>
                  <a:cs typeface="+mn-cs"/>
                </a:rPr>
                <a:t>Orientation</a:t>
              </a:r>
              <a:endParaRPr kumimoji="0" lang="en-US" sz="9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32" name="ZoneTexte 31"/>
            <p:cNvSpPr txBox="1"/>
            <p:nvPr/>
          </p:nvSpPr>
          <p:spPr>
            <a:xfrm>
              <a:off x="2726998" y="4103946"/>
              <a:ext cx="1330741" cy="26848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smtClean="0">
                  <a:ln>
                    <a:noFill/>
                  </a:ln>
                  <a:solidFill>
                    <a:prstClr val="black"/>
                  </a:solidFill>
                  <a:effectLst/>
                  <a:uLnTx/>
                  <a:uFillTx/>
                </a:rPr>
                <a:t>BAI Kamsar</a:t>
              </a:r>
              <a:endParaRPr kumimoji="0" lang="en-US" sz="800" b="0" i="0" u="none" strike="noStrike" kern="0" cap="none" spc="0" normalizeH="0" baseline="0" noProof="0" dirty="0" smtClean="0">
                <a:ln>
                  <a:noFill/>
                </a:ln>
                <a:solidFill>
                  <a:prstClr val="black"/>
                </a:solidFill>
                <a:effectLst/>
                <a:uLnTx/>
                <a:uFillTx/>
              </a:endParaRPr>
            </a:p>
          </p:txBody>
        </p:sp>
        <p:cxnSp>
          <p:nvCxnSpPr>
            <p:cNvPr id="33" name="Connecteur en angle 32"/>
            <p:cNvCxnSpPr>
              <a:stCxn id="44" idx="3"/>
              <a:endCxn id="43" idx="1"/>
            </p:cNvCxnSpPr>
            <p:nvPr/>
          </p:nvCxnSpPr>
          <p:spPr>
            <a:xfrm>
              <a:off x="1573160" y="3846029"/>
              <a:ext cx="2073833" cy="1102145"/>
            </a:xfrm>
            <a:prstGeom prst="bentConnector3">
              <a:avLst>
                <a:gd name="adj1" fmla="val 30054"/>
              </a:avLst>
            </a:prstGeom>
            <a:noFill/>
            <a:ln w="6350" cap="flat" cmpd="sng" algn="ctr">
              <a:solidFill>
                <a:srgbClr val="5B9BD5"/>
              </a:solidFill>
              <a:prstDash val="solid"/>
              <a:miter lim="800000"/>
              <a:tailEnd type="triangle"/>
            </a:ln>
            <a:effectLst/>
          </p:spPr>
        </p:cxnSp>
        <p:sp>
          <p:nvSpPr>
            <p:cNvPr id="34" name="ZoneTexte 33"/>
            <p:cNvSpPr txBox="1"/>
            <p:nvPr/>
          </p:nvSpPr>
          <p:spPr>
            <a:xfrm>
              <a:off x="1057910" y="4692434"/>
              <a:ext cx="1108711" cy="32602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dirty="0" smtClean="0">
                  <a:ln>
                    <a:noFill/>
                  </a:ln>
                  <a:solidFill>
                    <a:srgbClr val="002060"/>
                  </a:solidFill>
                  <a:effectLst/>
                  <a:uLnTx/>
                  <a:uFillTx/>
                </a:rPr>
                <a:t>Local</a:t>
              </a:r>
              <a:endParaRPr kumimoji="0" lang="en-US" sz="1050" b="1" i="0" u="none" strike="noStrike" kern="0" cap="none" spc="0" normalizeH="0" baseline="0" noProof="0" dirty="0" smtClean="0">
                <a:ln>
                  <a:noFill/>
                </a:ln>
                <a:solidFill>
                  <a:srgbClr val="002060"/>
                </a:solidFill>
                <a:effectLst/>
                <a:uLnTx/>
                <a:uFillTx/>
              </a:endParaRPr>
            </a:p>
          </p:txBody>
        </p:sp>
        <p:cxnSp>
          <p:nvCxnSpPr>
            <p:cNvPr id="35" name="Connecteur droit avec flèche 34"/>
            <p:cNvCxnSpPr>
              <a:stCxn id="43" idx="3"/>
              <a:endCxn id="40" idx="2"/>
            </p:cNvCxnSpPr>
            <p:nvPr/>
          </p:nvCxnSpPr>
          <p:spPr>
            <a:xfrm>
              <a:off x="4726993" y="4948174"/>
              <a:ext cx="210349" cy="1"/>
            </a:xfrm>
            <a:prstGeom prst="straightConnector1">
              <a:avLst/>
            </a:prstGeom>
            <a:noFill/>
            <a:ln w="6350" cap="flat" cmpd="sng" algn="ctr">
              <a:solidFill>
                <a:srgbClr val="5B9BD5"/>
              </a:solidFill>
              <a:prstDash val="solid"/>
              <a:miter lim="800000"/>
              <a:tailEnd type="triangle"/>
            </a:ln>
            <a:effectLst/>
          </p:spPr>
        </p:cxnSp>
        <p:cxnSp>
          <p:nvCxnSpPr>
            <p:cNvPr id="36" name="Connecteur droit avec flèche 35"/>
            <p:cNvCxnSpPr>
              <a:stCxn id="40" idx="0"/>
              <a:endCxn id="37" idx="1"/>
            </p:cNvCxnSpPr>
            <p:nvPr/>
          </p:nvCxnSpPr>
          <p:spPr>
            <a:xfrm flipV="1">
              <a:off x="6017342" y="4948174"/>
              <a:ext cx="3098022" cy="1"/>
            </a:xfrm>
            <a:prstGeom prst="straightConnector1">
              <a:avLst/>
            </a:prstGeom>
            <a:noFill/>
            <a:ln w="6350" cap="flat" cmpd="sng" algn="ctr">
              <a:solidFill>
                <a:srgbClr val="5B9BD5"/>
              </a:solidFill>
              <a:prstDash val="solid"/>
              <a:miter lim="800000"/>
              <a:tailEnd type="triangle"/>
            </a:ln>
            <a:effectLst/>
          </p:spPr>
        </p:cxnSp>
        <p:sp>
          <p:nvSpPr>
            <p:cNvPr id="37" name="Rectangle 36"/>
            <p:cNvSpPr/>
            <p:nvPr/>
          </p:nvSpPr>
          <p:spPr>
            <a:xfrm>
              <a:off x="9115364" y="4668456"/>
              <a:ext cx="1080000" cy="559436"/>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smtClean="0">
                  <a:ln>
                    <a:noFill/>
                  </a:ln>
                  <a:solidFill>
                    <a:prstClr val="white"/>
                  </a:solidFill>
                  <a:effectLst/>
                  <a:uLnTx/>
                  <a:uFillTx/>
                  <a:latin typeface="Calibri" panose="020F0502020204030204"/>
                  <a:ea typeface="+mn-ea"/>
                  <a:cs typeface="+mn-cs"/>
                </a:rPr>
                <a:t>Commande d’achat</a:t>
              </a:r>
              <a:endParaRPr kumimoji="0" lang="en-US" sz="9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39" name="ZoneTexte 38"/>
            <p:cNvSpPr txBox="1"/>
            <p:nvPr/>
          </p:nvSpPr>
          <p:spPr>
            <a:xfrm>
              <a:off x="9043983" y="5212474"/>
              <a:ext cx="1222760" cy="26848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smtClean="0">
                  <a:ln>
                    <a:noFill/>
                  </a:ln>
                  <a:solidFill>
                    <a:prstClr val="black"/>
                  </a:solidFill>
                  <a:effectLst/>
                  <a:uLnTx/>
                  <a:uFillTx/>
                </a:rPr>
                <a:t>Acheteurs locaux</a:t>
              </a:r>
              <a:endParaRPr kumimoji="0" lang="en-US" sz="800" b="0" i="0" u="none" strike="noStrike" kern="0" cap="none" spc="0" normalizeH="0" baseline="0" noProof="0" dirty="0" smtClean="0">
                <a:ln>
                  <a:noFill/>
                </a:ln>
                <a:solidFill>
                  <a:prstClr val="black"/>
                </a:solidFill>
                <a:effectLst/>
                <a:uLnTx/>
                <a:uFillTx/>
              </a:endParaRPr>
            </a:p>
          </p:txBody>
        </p:sp>
        <p:sp>
          <p:nvSpPr>
            <p:cNvPr id="40" name="Arrondir un rectangle avec un coin diagonal 39"/>
            <p:cNvSpPr/>
            <p:nvPr/>
          </p:nvSpPr>
          <p:spPr>
            <a:xfrm>
              <a:off x="4937342" y="4725588"/>
              <a:ext cx="1080000" cy="445173"/>
            </a:xfrm>
            <a:prstGeom prst="round2DiagRect">
              <a:avLst>
                <a:gd name="adj1" fmla="val 50000"/>
                <a:gd name="adj2" fmla="val 0"/>
              </a:avLst>
            </a:prstGeom>
            <a:solidFill>
              <a:srgbClr val="FFC000"/>
            </a:solidFill>
            <a:ln w="12700" cap="flat" cmpd="sng" algn="ctr">
              <a:solidFill>
                <a:srgbClr val="FFC000">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smtClean="0">
                  <a:ln>
                    <a:noFill/>
                  </a:ln>
                  <a:solidFill>
                    <a:prstClr val="white"/>
                  </a:solidFill>
                  <a:effectLst/>
                  <a:uLnTx/>
                  <a:uFillTx/>
                  <a:latin typeface="Calibri" panose="020F0502020204030204"/>
                  <a:ea typeface="+mn-ea"/>
                  <a:cs typeface="+mn-cs"/>
                </a:rPr>
                <a:t>Sélection</a:t>
              </a:r>
              <a:endParaRPr kumimoji="0" lang="en-US" sz="9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41" name="ZoneTexte 40"/>
            <p:cNvSpPr txBox="1"/>
            <p:nvPr/>
          </p:nvSpPr>
          <p:spPr>
            <a:xfrm>
              <a:off x="4811973" y="5212474"/>
              <a:ext cx="1330741" cy="26848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smtClean="0">
                  <a:ln>
                    <a:noFill/>
                  </a:ln>
                  <a:solidFill>
                    <a:prstClr val="black"/>
                  </a:solidFill>
                  <a:effectLst/>
                  <a:uLnTx/>
                  <a:uFillTx/>
                </a:rPr>
                <a:t>Client interne</a:t>
              </a:r>
              <a:endParaRPr kumimoji="0" lang="en-US" sz="800" b="0" i="0" u="none" strike="noStrike" kern="0" cap="none" spc="0" normalizeH="0" baseline="0" noProof="0" dirty="0" smtClean="0">
                <a:ln>
                  <a:noFill/>
                </a:ln>
                <a:solidFill>
                  <a:prstClr val="black"/>
                </a:solidFill>
                <a:effectLst/>
                <a:uLnTx/>
                <a:uFillTx/>
              </a:endParaRPr>
            </a:p>
          </p:txBody>
        </p:sp>
        <p:sp>
          <p:nvSpPr>
            <p:cNvPr id="42" name="ZoneTexte 41"/>
            <p:cNvSpPr txBox="1"/>
            <p:nvPr/>
          </p:nvSpPr>
          <p:spPr>
            <a:xfrm>
              <a:off x="3605217" y="5212474"/>
              <a:ext cx="1163554" cy="26848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smtClean="0">
                  <a:ln>
                    <a:noFill/>
                  </a:ln>
                  <a:solidFill>
                    <a:prstClr val="black"/>
                  </a:solidFill>
                  <a:effectLst/>
                  <a:uLnTx/>
                  <a:uFillTx/>
                </a:rPr>
                <a:t>Acheteurs locaux</a:t>
              </a:r>
              <a:endParaRPr kumimoji="0" lang="en-US" sz="800" b="0" i="0" u="none" strike="noStrike" kern="0" cap="none" spc="0" normalizeH="0" baseline="0" noProof="0" dirty="0" smtClean="0">
                <a:ln>
                  <a:noFill/>
                </a:ln>
                <a:solidFill>
                  <a:prstClr val="black"/>
                </a:solidFill>
                <a:effectLst/>
                <a:uLnTx/>
                <a:uFillTx/>
              </a:endParaRPr>
            </a:p>
          </p:txBody>
        </p:sp>
        <p:sp>
          <p:nvSpPr>
            <p:cNvPr id="43" name="Rectangle 42"/>
            <p:cNvSpPr/>
            <p:nvPr/>
          </p:nvSpPr>
          <p:spPr>
            <a:xfrm>
              <a:off x="3646993" y="4669174"/>
              <a:ext cx="1080000" cy="558000"/>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smtClean="0">
                  <a:ln>
                    <a:noFill/>
                  </a:ln>
                  <a:solidFill>
                    <a:prstClr val="white"/>
                  </a:solidFill>
                  <a:effectLst/>
                  <a:uLnTx/>
                  <a:uFillTx/>
                  <a:latin typeface="Calibri" panose="020F0502020204030204"/>
                  <a:ea typeface="+mn-ea"/>
                  <a:cs typeface="+mn-cs"/>
                </a:rPr>
                <a:t>RFQ</a:t>
              </a:r>
              <a:endParaRPr kumimoji="0" lang="en-US" sz="9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44" name="Rectangle 43"/>
            <p:cNvSpPr/>
            <p:nvPr/>
          </p:nvSpPr>
          <p:spPr>
            <a:xfrm>
              <a:off x="493160" y="3567029"/>
              <a:ext cx="1080000" cy="558000"/>
            </a:xfrm>
            <a:prstGeom prst="rect">
              <a:avLst/>
            </a:prstGeom>
            <a:solidFill>
              <a:srgbClr val="44546A">
                <a:lumMod val="50000"/>
              </a:srgbClr>
            </a:solidFill>
            <a:ln w="12700" cap="flat" cmpd="sng" algn="ctr">
              <a:solidFill>
                <a:srgbClr val="44546A">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dirty="0" smtClean="0">
                  <a:ln>
                    <a:noFill/>
                  </a:ln>
                  <a:solidFill>
                    <a:prstClr val="white"/>
                  </a:solidFill>
                  <a:effectLst/>
                  <a:uLnTx/>
                  <a:uFillTx/>
                  <a:latin typeface="Calibri" panose="020F0502020204030204"/>
                  <a:ea typeface="+mn-ea"/>
                  <a:cs typeface="+mn-cs"/>
                </a:rPr>
                <a:t>Demande d’achat</a:t>
              </a:r>
              <a:endParaRPr kumimoji="0" lang="en-US" sz="10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45" name="Explosion 2 44"/>
            <p:cNvSpPr/>
            <p:nvPr/>
          </p:nvSpPr>
          <p:spPr>
            <a:xfrm>
              <a:off x="1258000" y="3905000"/>
              <a:ext cx="842734" cy="575162"/>
            </a:xfrm>
            <a:prstGeom prst="irregularSeal2">
              <a:avLst/>
            </a:prstGeom>
            <a:solidFill>
              <a:srgbClr val="ED7D31"/>
            </a:solidFill>
            <a:ln w="12700" cap="flat" cmpd="sng" algn="ctr">
              <a:solidFill>
                <a:srgbClr val="ED7D31">
                  <a:shade val="50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dirty="0" smtClean="0">
                  <a:ln>
                    <a:noFill/>
                  </a:ln>
                  <a:solidFill>
                    <a:prstClr val="white"/>
                  </a:solidFill>
                  <a:effectLst/>
                  <a:uLnTx/>
                  <a:uFillTx/>
                  <a:latin typeface="Calibri" panose="020F0502020204030204"/>
                  <a:ea typeface="+mn-ea"/>
                  <a:cs typeface="+mn-cs"/>
                </a:rPr>
                <a:t>ZSRV</a:t>
              </a:r>
              <a:endParaRPr kumimoji="0" lang="en-US" sz="10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46" name="Explosion 2 45"/>
            <p:cNvSpPr/>
            <p:nvPr/>
          </p:nvSpPr>
          <p:spPr>
            <a:xfrm>
              <a:off x="9933768" y="4481279"/>
              <a:ext cx="708914" cy="479040"/>
            </a:xfrm>
            <a:prstGeom prst="irregularSeal2">
              <a:avLst/>
            </a:prstGeom>
            <a:solidFill>
              <a:srgbClr val="92D050"/>
            </a:solidFill>
            <a:ln w="12700" cap="flat" cmpd="sng" algn="ctr">
              <a:solidFill>
                <a:srgbClr val="70AD47">
                  <a:lumMod val="75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600" b="0" i="0" u="none" strike="noStrike" kern="0" cap="none" spc="0" normalizeH="0" baseline="0" noProof="0" dirty="0" smtClean="0">
                  <a:ln>
                    <a:noFill/>
                  </a:ln>
                  <a:solidFill>
                    <a:prstClr val="white"/>
                  </a:solidFill>
                  <a:effectLst/>
                  <a:uLnTx/>
                  <a:uFillTx/>
                  <a:latin typeface="Calibri" panose="020F0502020204030204"/>
                  <a:ea typeface="+mn-ea"/>
                  <a:cs typeface="+mn-cs"/>
                </a:rPr>
                <a:t>ZSRV</a:t>
              </a:r>
              <a:endParaRPr kumimoji="0" lang="en-US" sz="6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sp>
          <p:nvSpPr>
            <p:cNvPr id="48" name="ZoneTexte 47"/>
            <p:cNvSpPr txBox="1"/>
            <p:nvPr/>
          </p:nvSpPr>
          <p:spPr>
            <a:xfrm>
              <a:off x="2144487" y="4669972"/>
              <a:ext cx="477843" cy="30684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dirty="0" smtClean="0">
                  <a:ln>
                    <a:noFill/>
                  </a:ln>
                  <a:solidFill>
                    <a:srgbClr val="002060"/>
                  </a:solidFill>
                  <a:effectLst/>
                  <a:uLnTx/>
                  <a:uFillTx/>
                </a:rPr>
                <a:t>ZLO</a:t>
              </a:r>
              <a:endParaRPr kumimoji="0" lang="en-US" sz="1000" b="0" i="0" u="none" strike="noStrike" kern="0" cap="none" spc="0" normalizeH="0" baseline="0" noProof="0" dirty="0" smtClean="0">
                <a:ln>
                  <a:noFill/>
                </a:ln>
                <a:solidFill>
                  <a:srgbClr val="002060"/>
                </a:solidFill>
                <a:effectLst/>
                <a:uLnTx/>
                <a:uFillTx/>
              </a:endParaRPr>
            </a:p>
          </p:txBody>
        </p:sp>
        <p:cxnSp>
          <p:nvCxnSpPr>
            <p:cNvPr id="50" name="Connecteur en angle 49"/>
            <p:cNvCxnSpPr>
              <a:stCxn id="31" idx="3"/>
              <a:endCxn id="43" idx="0"/>
            </p:cNvCxnSpPr>
            <p:nvPr/>
          </p:nvCxnSpPr>
          <p:spPr>
            <a:xfrm>
              <a:off x="3932368" y="3845160"/>
              <a:ext cx="254625" cy="824014"/>
            </a:xfrm>
            <a:prstGeom prst="bentConnector2">
              <a:avLst/>
            </a:prstGeom>
            <a:noFill/>
            <a:ln w="6350" cap="flat" cmpd="sng" algn="ctr">
              <a:solidFill>
                <a:srgbClr val="5B9BD5"/>
              </a:solidFill>
              <a:prstDash val="solid"/>
              <a:miter lim="800000"/>
              <a:tailEnd type="triangle"/>
            </a:ln>
            <a:effectLst/>
          </p:spPr>
        </p:cxnSp>
        <p:sp>
          <p:nvSpPr>
            <p:cNvPr id="51" name="ZoneTexte 50"/>
            <p:cNvSpPr txBox="1"/>
            <p:nvPr/>
          </p:nvSpPr>
          <p:spPr>
            <a:xfrm>
              <a:off x="2144487" y="3570515"/>
              <a:ext cx="545763" cy="30684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dirty="0" smtClean="0">
                  <a:ln>
                    <a:noFill/>
                  </a:ln>
                  <a:solidFill>
                    <a:srgbClr val="002060"/>
                  </a:solidFill>
                  <a:effectLst/>
                  <a:uLnTx/>
                  <a:uFillTx/>
                </a:rPr>
                <a:t>ZOM</a:t>
              </a:r>
              <a:endParaRPr kumimoji="0" lang="en-US" sz="1000" b="0" i="0" u="none" strike="noStrike" kern="0" cap="none" spc="0" normalizeH="0" baseline="0" noProof="0" dirty="0" smtClean="0">
                <a:ln>
                  <a:noFill/>
                </a:ln>
                <a:solidFill>
                  <a:srgbClr val="002060"/>
                </a:solidFill>
                <a:effectLst/>
                <a:uLnTx/>
                <a:uFillTx/>
              </a:endParaRPr>
            </a:p>
          </p:txBody>
        </p:sp>
        <p:sp>
          <p:nvSpPr>
            <p:cNvPr id="52" name="ZoneTexte 51"/>
            <p:cNvSpPr txBox="1"/>
            <p:nvPr/>
          </p:nvSpPr>
          <p:spPr>
            <a:xfrm>
              <a:off x="9055036" y="5728534"/>
              <a:ext cx="1200656" cy="287664"/>
            </a:xfrm>
            <a:prstGeom prst="rect">
              <a:avLst/>
            </a:prstGeom>
            <a:noFill/>
            <a:ln>
              <a:solidFill>
                <a:sysClr val="windowText" lastClr="000000">
                  <a:lumMod val="50000"/>
                  <a:lumOff val="50000"/>
                </a:sysClr>
              </a:solidFill>
              <a:prstDash val="dash"/>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smtClean="0">
                  <a:ln>
                    <a:noFill/>
                  </a:ln>
                  <a:solidFill>
                    <a:prstClr val="black"/>
                  </a:solidFill>
                  <a:effectLst/>
                  <a:uLnTx/>
                  <a:uFillTx/>
                </a:rPr>
                <a:t>Fournisseur GN</a:t>
              </a:r>
              <a:endParaRPr kumimoji="0" lang="en-US" sz="900" b="0" i="0" u="none" strike="noStrike" kern="0" cap="none" spc="0" normalizeH="0" baseline="0" noProof="0" dirty="0" smtClean="0">
                <a:ln>
                  <a:noFill/>
                </a:ln>
                <a:solidFill>
                  <a:prstClr val="black"/>
                </a:solidFill>
                <a:effectLst/>
                <a:uLnTx/>
                <a:uFillTx/>
              </a:endParaRPr>
            </a:p>
          </p:txBody>
        </p:sp>
        <p:sp>
          <p:nvSpPr>
            <p:cNvPr id="53" name="Pentagone 52"/>
            <p:cNvSpPr/>
            <p:nvPr/>
          </p:nvSpPr>
          <p:spPr>
            <a:xfrm>
              <a:off x="10727933" y="4669174"/>
              <a:ext cx="1080000" cy="558000"/>
            </a:xfrm>
            <a:prstGeom prst="homePlate">
              <a:avLst/>
            </a:prstGeom>
            <a:solidFill>
              <a:srgbClr val="A5A5A5"/>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smtClean="0">
                  <a:ln>
                    <a:noFill/>
                  </a:ln>
                  <a:solidFill>
                    <a:prstClr val="white"/>
                  </a:solidFill>
                  <a:effectLst/>
                  <a:uLnTx/>
                  <a:uFillTx/>
                  <a:latin typeface="Calibri" panose="020F0502020204030204"/>
                  <a:ea typeface="+mn-ea"/>
                  <a:cs typeface="+mn-cs"/>
                </a:rPr>
                <a:t>Réception</a:t>
              </a:r>
              <a:endParaRPr kumimoji="0" lang="en-US" sz="8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cxnSp>
          <p:nvCxnSpPr>
            <p:cNvPr id="54" name="Connecteur droit avec flèche 53"/>
            <p:cNvCxnSpPr>
              <a:stCxn id="37" idx="3"/>
              <a:endCxn id="53" idx="1"/>
            </p:cNvCxnSpPr>
            <p:nvPr/>
          </p:nvCxnSpPr>
          <p:spPr>
            <a:xfrm>
              <a:off x="10195364" y="4948174"/>
              <a:ext cx="532569" cy="0"/>
            </a:xfrm>
            <a:prstGeom prst="straightConnector1">
              <a:avLst/>
            </a:prstGeom>
            <a:noFill/>
            <a:ln w="6350" cap="flat" cmpd="sng" algn="ctr">
              <a:solidFill>
                <a:srgbClr val="5B9BD5"/>
              </a:solidFill>
              <a:prstDash val="solid"/>
              <a:miter lim="800000"/>
              <a:tailEnd type="triangle"/>
            </a:ln>
            <a:effectLst/>
          </p:spPr>
        </p:cxnSp>
        <p:cxnSp>
          <p:nvCxnSpPr>
            <p:cNvPr id="55" name="Connecteur droit avec flèche 54"/>
            <p:cNvCxnSpPr>
              <a:stCxn id="44" idx="3"/>
              <a:endCxn id="31" idx="1"/>
            </p:cNvCxnSpPr>
            <p:nvPr/>
          </p:nvCxnSpPr>
          <p:spPr>
            <a:xfrm flipV="1">
              <a:off x="1573160" y="3845160"/>
              <a:ext cx="1279208" cy="869"/>
            </a:xfrm>
            <a:prstGeom prst="straightConnector1">
              <a:avLst/>
            </a:prstGeom>
            <a:noFill/>
            <a:ln w="6350" cap="flat" cmpd="sng" algn="ctr">
              <a:solidFill>
                <a:srgbClr val="5B9BD5"/>
              </a:solidFill>
              <a:prstDash val="solid"/>
              <a:miter lim="800000"/>
              <a:tailEnd type="triangle"/>
            </a:ln>
            <a:effectLst/>
          </p:spPr>
        </p:cxnSp>
      </p:grpSp>
      <p:grpSp>
        <p:nvGrpSpPr>
          <p:cNvPr id="56" name="Groupe 55"/>
          <p:cNvGrpSpPr/>
          <p:nvPr/>
        </p:nvGrpSpPr>
        <p:grpSpPr>
          <a:xfrm>
            <a:off x="276676" y="5402129"/>
            <a:ext cx="2054791" cy="649847"/>
            <a:chOff x="6481964" y="3898273"/>
            <a:chExt cx="2388702" cy="755450"/>
          </a:xfrm>
        </p:grpSpPr>
        <p:sp>
          <p:nvSpPr>
            <p:cNvPr id="57" name="ZoneTexte 56"/>
            <p:cNvSpPr txBox="1"/>
            <p:nvPr/>
          </p:nvSpPr>
          <p:spPr>
            <a:xfrm>
              <a:off x="6682637" y="3898273"/>
              <a:ext cx="2188029" cy="646331"/>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90564">
                <a:defRPr/>
              </a:pPr>
              <a:r>
                <a:rPr lang="fr-FR" sz="975" kern="0" dirty="0">
                  <a:latin typeface="Calibri" panose="020F0502020204030204"/>
                </a:rPr>
                <a:t>Il est du ressort du demandeur de vérifier que </a:t>
              </a:r>
              <a:r>
                <a:rPr lang="fr-FR" sz="975" kern="0" dirty="0" smtClean="0">
                  <a:latin typeface="Calibri" panose="020F0502020204030204"/>
                </a:rPr>
                <a:t>le service </a:t>
              </a:r>
              <a:r>
                <a:rPr lang="fr-FR" sz="975" kern="0" dirty="0">
                  <a:latin typeface="Calibri" panose="020F0502020204030204"/>
                </a:rPr>
                <a:t>est codifié au préalable</a:t>
              </a:r>
              <a:endParaRPr lang="en-US" sz="975" kern="0" dirty="0">
                <a:latin typeface="Calibri" panose="020F0502020204030204"/>
              </a:endParaRPr>
            </a:p>
          </p:txBody>
        </p:sp>
        <p:pic>
          <p:nvPicPr>
            <p:cNvPr id="58" name="Picture 35" descr="F:\_mesDoc\Downloads\Downloads\Icones\free_ecommerce_icons\glossy_ecommerce_icons\alert.png"/>
            <p:cNvPicPr>
              <a:picLocks noChangeAspect="1" noChangeArrowheads="1"/>
            </p:cNvPicPr>
            <p:nvPr/>
          </p:nvPicPr>
          <p:blipFill>
            <a:blip r:embed="rId2" cstate="print"/>
            <a:srcRect/>
            <a:stretch>
              <a:fillRect/>
            </a:stretch>
          </p:blipFill>
          <p:spPr bwMode="auto">
            <a:xfrm>
              <a:off x="6481964" y="4257723"/>
              <a:ext cx="396000" cy="396000"/>
            </a:xfrm>
            <a:prstGeom prst="rect">
              <a:avLst/>
            </a:prstGeom>
            <a:noFill/>
          </p:spPr>
        </p:pic>
      </p:gr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392861" y="1864256"/>
            <a:ext cx="5031894" cy="4393510"/>
          </a:xfrm>
          <a:prstGeom prst="rect">
            <a:avLst/>
          </a:prstGeom>
          <a:noFill/>
        </p:spPr>
        <p:txBody>
          <a:bodyPr wrap="square" rtlCol="0">
            <a:spAutoFit/>
          </a:bodyPr>
          <a:lstStyle/>
          <a:p>
            <a:pPr algn="just"/>
            <a:r>
              <a:rPr lang="fr-FR" sz="1300" dirty="0">
                <a:solidFill>
                  <a:srgbClr val="4D4F53"/>
                </a:solidFill>
              </a:rPr>
              <a:t>Si vous connaissez le code article SAP, rentrez le directement dans la case article.</a:t>
            </a:r>
            <a:endParaRPr lang="fr-FR" sz="1300" dirty="0">
              <a:solidFill>
                <a:srgbClr val="4D4F53"/>
              </a:solidFill>
            </a:endParaRPr>
          </a:p>
          <a:p>
            <a:pPr algn="just"/>
            <a:endParaRPr lang="fr-FR" sz="975" dirty="0" smtClean="0">
              <a:solidFill>
                <a:srgbClr val="4D4F53"/>
              </a:solidFill>
            </a:endParaRPr>
          </a:p>
          <a:p>
            <a:pPr algn="just"/>
            <a:endParaRPr lang="fr-FR" sz="975" dirty="0">
              <a:solidFill>
                <a:srgbClr val="4D4F53"/>
              </a:solidFill>
            </a:endParaRPr>
          </a:p>
          <a:p>
            <a:pPr algn="just"/>
            <a:r>
              <a:rPr lang="fr-FR" sz="1300" dirty="0">
                <a:solidFill>
                  <a:srgbClr val="4D4F53"/>
                </a:solidFill>
              </a:rPr>
              <a:t>Si vous ne connaissez pas le code article SAP mais son numéro MARCAM ou sa désignation, cliquer sur l’icône   </a:t>
            </a:r>
            <a:r>
              <a:rPr lang="fr-FR" sz="1300" dirty="0">
                <a:solidFill>
                  <a:srgbClr val="4D4F53"/>
                </a:solidFill>
              </a:rPr>
              <a:t> </a:t>
            </a:r>
            <a:r>
              <a:rPr lang="fr-FR" sz="1300" dirty="0">
                <a:solidFill>
                  <a:srgbClr val="4D4F53"/>
                </a:solidFill>
              </a:rPr>
              <a:t>  dans la case article.</a:t>
            </a:r>
          </a:p>
          <a:p>
            <a:pPr algn="just"/>
            <a:endParaRPr lang="fr-FR" sz="975" dirty="0" smtClean="0">
              <a:solidFill>
                <a:srgbClr val="4D4F53"/>
              </a:solidFill>
            </a:endParaRPr>
          </a:p>
          <a:p>
            <a:pPr algn="just"/>
            <a:endParaRPr lang="fr-FR" sz="975" dirty="0">
              <a:solidFill>
                <a:srgbClr val="4D4F53"/>
              </a:solidFill>
            </a:endParaRPr>
          </a:p>
          <a:p>
            <a:pPr algn="just"/>
            <a:r>
              <a:rPr lang="fr-FR" sz="1300" dirty="0">
                <a:solidFill>
                  <a:srgbClr val="4D4F53"/>
                </a:solidFill>
              </a:rPr>
              <a:t>Si numéro MARCAM </a:t>
            </a:r>
            <a:r>
              <a:rPr lang="fr-FR" sz="1300" dirty="0" smtClean="0">
                <a:solidFill>
                  <a:srgbClr val="4D4F53"/>
                </a:solidFill>
              </a:rPr>
              <a:t>connu : </a:t>
            </a:r>
            <a:r>
              <a:rPr lang="fr-FR" sz="1300" dirty="0">
                <a:solidFill>
                  <a:srgbClr val="4D4F53"/>
                </a:solidFill>
              </a:rPr>
              <a:t>Dans l’onglet Article par ancien numéro d’article, aller dans la case Ancien n° article. </a:t>
            </a:r>
            <a:r>
              <a:rPr lang="fr-FR" sz="1300" dirty="0" smtClean="0">
                <a:solidFill>
                  <a:srgbClr val="4D4F53"/>
                </a:solidFill>
              </a:rPr>
              <a:t>Entrer </a:t>
            </a:r>
            <a:r>
              <a:rPr lang="fr-FR" sz="1300" dirty="0">
                <a:solidFill>
                  <a:srgbClr val="4D4F53"/>
                </a:solidFill>
              </a:rPr>
              <a:t>le numéro d’article MARCAM et appuyer sur Entrée.</a:t>
            </a:r>
          </a:p>
          <a:p>
            <a:pPr algn="just"/>
            <a:r>
              <a:rPr lang="fr-FR" sz="1300" dirty="0" smtClean="0">
                <a:solidFill>
                  <a:srgbClr val="4D4F53"/>
                </a:solidFill>
              </a:rPr>
              <a:t>Le service </a:t>
            </a:r>
            <a:r>
              <a:rPr lang="fr-FR" sz="1300" dirty="0">
                <a:solidFill>
                  <a:srgbClr val="4D4F53"/>
                </a:solidFill>
              </a:rPr>
              <a:t>s’affiche. </a:t>
            </a:r>
            <a:r>
              <a:rPr lang="fr-FR" sz="1300" dirty="0">
                <a:solidFill>
                  <a:srgbClr val="4D4F53"/>
                </a:solidFill>
              </a:rPr>
              <a:t>Double cliquer dessus pour qu’il apparaisse sur la DA.</a:t>
            </a:r>
          </a:p>
          <a:p>
            <a:pPr algn="just"/>
            <a:endParaRPr lang="fr-FR" sz="975" dirty="0" smtClean="0">
              <a:solidFill>
                <a:srgbClr val="4D4F53"/>
              </a:solidFill>
            </a:endParaRPr>
          </a:p>
          <a:p>
            <a:pPr algn="just"/>
            <a:endParaRPr lang="fr-FR" sz="975" dirty="0">
              <a:solidFill>
                <a:srgbClr val="4D4F53"/>
              </a:solidFill>
            </a:endParaRPr>
          </a:p>
          <a:p>
            <a:pPr algn="just"/>
            <a:r>
              <a:rPr lang="fr-FR" sz="1300" dirty="0">
                <a:solidFill>
                  <a:srgbClr val="4D4F53"/>
                </a:solidFill>
              </a:rPr>
              <a:t>Si désignation article connue </a:t>
            </a:r>
            <a:r>
              <a:rPr lang="fr-FR" sz="1300" dirty="0">
                <a:solidFill>
                  <a:srgbClr val="4D4F53"/>
                </a:solidFill>
              </a:rPr>
              <a:t>: Dans l’onglet Numéro/Désignation d’article, aller dans la case désignation d’article. </a:t>
            </a:r>
            <a:r>
              <a:rPr lang="fr-FR" sz="1300" dirty="0">
                <a:solidFill>
                  <a:srgbClr val="4D4F53"/>
                </a:solidFill>
              </a:rPr>
              <a:t>Rentrer un mot clé du nom </a:t>
            </a:r>
            <a:r>
              <a:rPr lang="fr-FR" sz="1300" dirty="0" smtClean="0">
                <a:solidFill>
                  <a:srgbClr val="4D4F53"/>
                </a:solidFill>
              </a:rPr>
              <a:t>du service. </a:t>
            </a:r>
            <a:r>
              <a:rPr lang="fr-FR" sz="1300" dirty="0">
                <a:solidFill>
                  <a:srgbClr val="4D4F53"/>
                </a:solidFill>
              </a:rPr>
              <a:t>Il doit être encadré par deux étoiles *mot clé*. </a:t>
            </a:r>
            <a:endParaRPr lang="fr-FR" sz="1300" dirty="0">
              <a:solidFill>
                <a:srgbClr val="4D4F53"/>
              </a:solidFill>
            </a:endParaRPr>
          </a:p>
          <a:p>
            <a:pPr algn="just"/>
            <a:r>
              <a:rPr lang="fr-FR" sz="1300" dirty="0">
                <a:solidFill>
                  <a:srgbClr val="4D4F53"/>
                </a:solidFill>
              </a:rPr>
              <a:t>Appuyer </a:t>
            </a:r>
            <a:r>
              <a:rPr lang="fr-FR" sz="1300" dirty="0">
                <a:solidFill>
                  <a:srgbClr val="4D4F53"/>
                </a:solidFill>
              </a:rPr>
              <a:t>sur </a:t>
            </a:r>
            <a:r>
              <a:rPr lang="fr-FR" sz="1300" dirty="0">
                <a:solidFill>
                  <a:srgbClr val="4D4F53"/>
                </a:solidFill>
              </a:rPr>
              <a:t>Entrée (Si </a:t>
            </a:r>
            <a:r>
              <a:rPr lang="fr-FR" sz="1300" dirty="0" smtClean="0">
                <a:solidFill>
                  <a:srgbClr val="4D4F53"/>
                </a:solidFill>
              </a:rPr>
              <a:t>Le service </a:t>
            </a:r>
            <a:r>
              <a:rPr lang="fr-FR" sz="1300" dirty="0">
                <a:solidFill>
                  <a:srgbClr val="4D4F53"/>
                </a:solidFill>
              </a:rPr>
              <a:t>ne s’affiche pas réessayer avec un autre mot clé) et </a:t>
            </a:r>
            <a:r>
              <a:rPr lang="fr-FR" sz="1300" dirty="0" smtClean="0">
                <a:solidFill>
                  <a:srgbClr val="4D4F53"/>
                </a:solidFill>
              </a:rPr>
              <a:t>Le service </a:t>
            </a:r>
            <a:r>
              <a:rPr lang="fr-FR" sz="1300" dirty="0">
                <a:solidFill>
                  <a:srgbClr val="4D4F53"/>
                </a:solidFill>
              </a:rPr>
              <a:t>s’affiche. </a:t>
            </a:r>
            <a:r>
              <a:rPr lang="fr-FR" sz="1300" dirty="0">
                <a:solidFill>
                  <a:srgbClr val="4D4F53"/>
                </a:solidFill>
              </a:rPr>
              <a:t>Double cliquer dessus pour qu’il apparaisse sur la DA.</a:t>
            </a:r>
            <a:endParaRPr lang="fr-FR" sz="1300" dirty="0">
              <a:solidFill>
                <a:srgbClr val="4D4F53"/>
              </a:solidFill>
            </a:endParaRPr>
          </a:p>
          <a:p>
            <a:pPr algn="just"/>
            <a:endParaRPr lang="fr-FR" sz="1300" dirty="0">
              <a:solidFill>
                <a:srgbClr val="4D4F53"/>
              </a:solidFill>
            </a:endParaRPr>
          </a:p>
          <a:p>
            <a:pPr algn="just"/>
            <a:endParaRPr lang="fr-FR" sz="1300" dirty="0">
              <a:solidFill>
                <a:srgbClr val="4D4F53"/>
              </a:solidFill>
            </a:endParaRPr>
          </a:p>
        </p:txBody>
      </p:sp>
      <p:sp>
        <p:nvSpPr>
          <p:cNvPr id="7" name="Ellipse 6"/>
          <p:cNvSpPr/>
          <p:nvPr/>
        </p:nvSpPr>
        <p:spPr>
          <a:xfrm>
            <a:off x="277665" y="192342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8" name="Ellipse 7"/>
          <p:cNvSpPr/>
          <p:nvPr/>
        </p:nvSpPr>
        <p:spPr>
          <a:xfrm>
            <a:off x="277665" y="262628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9" name="Ellipse 8"/>
          <p:cNvSpPr/>
          <p:nvPr/>
        </p:nvSpPr>
        <p:spPr>
          <a:xfrm>
            <a:off x="287197" y="330529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0" name="Ellipse 9"/>
          <p:cNvSpPr/>
          <p:nvPr/>
        </p:nvSpPr>
        <p:spPr>
          <a:xfrm>
            <a:off x="287197" y="460056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pic>
        <p:nvPicPr>
          <p:cNvPr id="11" name="Image 10"/>
          <p:cNvPicPr>
            <a:picLocks noChangeAspect="1"/>
          </p:cNvPicPr>
          <p:nvPr/>
        </p:nvPicPr>
        <p:blipFill>
          <a:blip r:embed="rId2"/>
          <a:stretch>
            <a:fillRect/>
          </a:stretch>
        </p:blipFill>
        <p:spPr>
          <a:xfrm>
            <a:off x="5973673" y="4548772"/>
            <a:ext cx="1890383" cy="983253"/>
          </a:xfrm>
          <a:prstGeom prst="rect">
            <a:avLst/>
          </a:prstGeom>
        </p:spPr>
      </p:pic>
      <p:pic>
        <p:nvPicPr>
          <p:cNvPr id="15" name="Image 14"/>
          <p:cNvPicPr>
            <a:picLocks noChangeAspect="1"/>
          </p:cNvPicPr>
          <p:nvPr/>
        </p:nvPicPr>
        <p:blipFill>
          <a:blip r:embed="rId3"/>
          <a:stretch>
            <a:fillRect/>
          </a:stretch>
        </p:blipFill>
        <p:spPr>
          <a:xfrm>
            <a:off x="3654701" y="2838885"/>
            <a:ext cx="185738" cy="227013"/>
          </a:xfrm>
          <a:prstGeom prst="rect">
            <a:avLst/>
          </a:prstGeom>
        </p:spPr>
      </p:pic>
      <p:sp>
        <p:nvSpPr>
          <p:cNvPr id="16" name="Ellipse 15"/>
          <p:cNvSpPr/>
          <p:nvPr/>
        </p:nvSpPr>
        <p:spPr>
          <a:xfrm>
            <a:off x="5831853" y="446967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17" name="Rectangle 16"/>
          <p:cNvSpPr/>
          <p:nvPr/>
        </p:nvSpPr>
        <p:spPr>
          <a:xfrm>
            <a:off x="7013017" y="4967976"/>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18" name="Image 17"/>
          <p:cNvPicPr>
            <a:picLocks noChangeAspect="1"/>
          </p:cNvPicPr>
          <p:nvPr/>
        </p:nvPicPr>
        <p:blipFill>
          <a:blip r:embed="rId4"/>
          <a:stretch>
            <a:fillRect/>
          </a:stretch>
        </p:blipFill>
        <p:spPr>
          <a:xfrm>
            <a:off x="5973673" y="3374734"/>
            <a:ext cx="2841023" cy="938609"/>
          </a:xfrm>
          <a:prstGeom prst="rect">
            <a:avLst/>
          </a:prstGeom>
        </p:spPr>
      </p:pic>
      <p:sp>
        <p:nvSpPr>
          <p:cNvPr id="19" name="Ellipse 18"/>
          <p:cNvSpPr/>
          <p:nvPr/>
        </p:nvSpPr>
        <p:spPr>
          <a:xfrm>
            <a:off x="5889099" y="335505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0" name="Rectangle 19"/>
          <p:cNvSpPr/>
          <p:nvPr/>
        </p:nvSpPr>
        <p:spPr>
          <a:xfrm>
            <a:off x="7013018" y="3792352"/>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3" name="Image 2"/>
          <p:cNvPicPr>
            <a:picLocks noChangeAspect="1"/>
          </p:cNvPicPr>
          <p:nvPr/>
        </p:nvPicPr>
        <p:blipFill>
          <a:blip r:embed="rId5"/>
          <a:stretch>
            <a:fillRect/>
          </a:stretch>
        </p:blipFill>
        <p:spPr>
          <a:xfrm>
            <a:off x="5946344" y="1645136"/>
            <a:ext cx="2391710" cy="1248659"/>
          </a:xfrm>
          <a:prstGeom prst="rect">
            <a:avLst/>
          </a:prstGeom>
        </p:spPr>
      </p:pic>
      <p:sp>
        <p:nvSpPr>
          <p:cNvPr id="13" name="Rectangle 12"/>
          <p:cNvSpPr/>
          <p:nvPr/>
        </p:nvSpPr>
        <p:spPr>
          <a:xfrm>
            <a:off x="6985690" y="2673435"/>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4" name="Ellipse 13"/>
          <p:cNvSpPr/>
          <p:nvPr/>
        </p:nvSpPr>
        <p:spPr>
          <a:xfrm>
            <a:off x="6816543" y="256920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pic>
        <p:nvPicPr>
          <p:cNvPr id="22" name="Image 21"/>
          <p:cNvPicPr>
            <a:picLocks noChangeAspect="1"/>
          </p:cNvPicPr>
          <p:nvPr/>
        </p:nvPicPr>
        <p:blipFill rotWithShape="1">
          <a:blip r:embed="rId5"/>
          <a:srcRect l="44282" t="69466" r="25181" b="3641"/>
          <a:stretch/>
        </p:blipFill>
        <p:spPr>
          <a:xfrm>
            <a:off x="8133723" y="2673435"/>
            <a:ext cx="1361945" cy="626181"/>
          </a:xfrm>
          <a:prstGeom prst="rect">
            <a:avLst/>
          </a:prstGeom>
          <a:ln>
            <a:solidFill>
              <a:schemeClr val="tx1">
                <a:lumMod val="50000"/>
              </a:schemeClr>
            </a:solidFill>
          </a:ln>
        </p:spPr>
      </p:pic>
      <p:cxnSp>
        <p:nvCxnSpPr>
          <p:cNvPr id="26" name="Connecteur droit 25"/>
          <p:cNvCxnSpPr/>
          <p:nvPr/>
        </p:nvCxnSpPr>
        <p:spPr>
          <a:xfrm>
            <a:off x="7607071" y="2673435"/>
            <a:ext cx="526652" cy="8063"/>
          </a:xfrm>
          <a:prstGeom prst="line">
            <a:avLst/>
          </a:prstGeom>
          <a:ln w="12700">
            <a:solidFill>
              <a:schemeClr val="tx1">
                <a:lumMod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7550905" y="2783615"/>
            <a:ext cx="581878" cy="516001"/>
          </a:xfrm>
          <a:prstGeom prst="line">
            <a:avLst/>
          </a:prstGeom>
          <a:ln w="12700">
            <a:solidFill>
              <a:schemeClr val="tx1">
                <a:lumMod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084577" y="2960121"/>
            <a:ext cx="196239" cy="19689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1" name="Ellipse 20"/>
          <p:cNvSpPr/>
          <p:nvPr/>
        </p:nvSpPr>
        <p:spPr>
          <a:xfrm>
            <a:off x="8976098" y="2784936"/>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24" name="Titre 1"/>
          <p:cNvSpPr>
            <a:spLocks noGrp="1"/>
          </p:cNvSpPr>
          <p:nvPr>
            <p:ph type="title"/>
          </p:nvPr>
        </p:nvSpPr>
        <p:spPr>
          <a:xfrm>
            <a:off x="495300" y="633600"/>
            <a:ext cx="8915400" cy="928688"/>
          </a:xfrm>
        </p:spPr>
        <p:txBody>
          <a:bodyPr anchor="t">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a:t>
            </a:r>
            <a:r>
              <a:rPr lang="fr-FR" altLang="en-US" dirty="0" smtClean="0"/>
              <a:t>d’achat de service à un fournisseur local (ZSRV)</a:t>
            </a:r>
            <a:r>
              <a:rPr lang="fr-FR" altLang="en-US" dirty="0" smtClean="0"/>
              <a:t/>
            </a:r>
            <a:br>
              <a:rPr lang="fr-FR" altLang="en-US" dirty="0" smtClean="0"/>
            </a:br>
            <a:r>
              <a:rPr lang="fr-FR" altLang="en-US" b="1" dirty="0" smtClean="0"/>
              <a:t>Cas </a:t>
            </a:r>
            <a:r>
              <a:rPr lang="fr-FR" altLang="en-US" b="1" dirty="0" smtClean="0"/>
              <a:t>n°1 : Le service </a:t>
            </a:r>
            <a:r>
              <a:rPr lang="fr-FR" altLang="en-US" b="1" dirty="0" smtClean="0"/>
              <a:t>est </a:t>
            </a:r>
            <a:r>
              <a:rPr lang="fr-FR" altLang="en-US" b="1" dirty="0" smtClean="0"/>
              <a:t>codifié </a:t>
            </a:r>
            <a:r>
              <a:rPr lang="fr-FR" altLang="en-US" dirty="0" smtClean="0"/>
              <a:t>(1/5)</a:t>
            </a:r>
            <a:endParaRPr lang="en-US" dirty="0"/>
          </a:p>
        </p:txBody>
      </p:sp>
    </p:spTree>
    <p:extLst>
      <p:ext uri="{BB962C8B-B14F-4D97-AF65-F5344CB8AC3E}">
        <p14:creationId xmlns:p14="http://schemas.microsoft.com/office/powerpoint/2010/main" val="340896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e 50"/>
          <p:cNvGrpSpPr/>
          <p:nvPr/>
        </p:nvGrpSpPr>
        <p:grpSpPr>
          <a:xfrm>
            <a:off x="821527" y="2314135"/>
            <a:ext cx="8203680" cy="1558779"/>
            <a:chOff x="758332" y="1288643"/>
            <a:chExt cx="7572628" cy="1438873"/>
          </a:xfrm>
        </p:grpSpPr>
        <p:pic>
          <p:nvPicPr>
            <p:cNvPr id="15" name="Image 14"/>
            <p:cNvPicPr>
              <a:picLocks noChangeAspect="1"/>
            </p:cNvPicPr>
            <p:nvPr/>
          </p:nvPicPr>
          <p:blipFill>
            <a:blip r:embed="rId2"/>
            <a:stretch>
              <a:fillRect/>
            </a:stretch>
          </p:blipFill>
          <p:spPr>
            <a:xfrm>
              <a:off x="758332" y="1288643"/>
              <a:ext cx="7572628" cy="1438873"/>
            </a:xfrm>
            <a:prstGeom prst="rect">
              <a:avLst/>
            </a:prstGeom>
          </p:spPr>
        </p:pic>
        <p:pic>
          <p:nvPicPr>
            <p:cNvPr id="50" name="Image 49"/>
            <p:cNvPicPr>
              <a:picLocks noChangeAspect="1"/>
            </p:cNvPicPr>
            <p:nvPr/>
          </p:nvPicPr>
          <p:blipFill>
            <a:blip r:embed="rId3"/>
            <a:stretch>
              <a:fillRect/>
            </a:stretch>
          </p:blipFill>
          <p:spPr>
            <a:xfrm>
              <a:off x="1164121" y="2505075"/>
              <a:ext cx="140804" cy="133350"/>
            </a:xfrm>
            <a:prstGeom prst="rect">
              <a:avLst/>
            </a:prstGeom>
          </p:spPr>
        </p:pic>
      </p:grpSp>
      <p:pic>
        <p:nvPicPr>
          <p:cNvPr id="16" name="Image 15"/>
          <p:cNvPicPr>
            <a:picLocks noChangeAspect="1"/>
          </p:cNvPicPr>
          <p:nvPr/>
        </p:nvPicPr>
        <p:blipFill rotWithShape="1">
          <a:blip r:embed="rId4"/>
          <a:srcRect l="168" t="1910" r="23393" b="43050"/>
          <a:stretch/>
        </p:blipFill>
        <p:spPr>
          <a:xfrm>
            <a:off x="821526" y="1967468"/>
            <a:ext cx="8194613" cy="335798"/>
          </a:xfrm>
          <a:prstGeom prst="rect">
            <a:avLst/>
          </a:prstGeom>
        </p:spPr>
      </p:pic>
      <p:sp>
        <p:nvSpPr>
          <p:cNvPr id="6" name="ZoneTexte 5"/>
          <p:cNvSpPr txBox="1"/>
          <p:nvPr/>
        </p:nvSpPr>
        <p:spPr>
          <a:xfrm>
            <a:off x="1049945" y="4176931"/>
            <a:ext cx="3904643" cy="1592744"/>
          </a:xfrm>
          <a:prstGeom prst="rect">
            <a:avLst/>
          </a:prstGeom>
          <a:noFill/>
        </p:spPr>
        <p:txBody>
          <a:bodyPr wrap="square" numCol="1" rtlCol="0">
            <a:spAutoFit/>
          </a:bodyPr>
          <a:lstStyle/>
          <a:p>
            <a:pPr>
              <a:lnSpc>
                <a:spcPct val="150000"/>
              </a:lnSpc>
            </a:pPr>
            <a:r>
              <a:rPr lang="fr-FR" sz="1300" dirty="0">
                <a:solidFill>
                  <a:srgbClr val="4D4F53"/>
                </a:solidFill>
              </a:rPr>
              <a:t>Entrer la Quantité </a:t>
            </a:r>
            <a:endParaRPr lang="fr-FR" sz="1300" dirty="0">
              <a:solidFill>
                <a:srgbClr val="4D4F53"/>
              </a:solidFill>
            </a:endParaRPr>
          </a:p>
          <a:p>
            <a:pPr>
              <a:lnSpc>
                <a:spcPct val="150000"/>
              </a:lnSpc>
            </a:pPr>
            <a:r>
              <a:rPr lang="fr-FR" sz="1300" dirty="0">
                <a:solidFill>
                  <a:srgbClr val="4D4F53"/>
                </a:solidFill>
              </a:rPr>
              <a:t>Entrer la </a:t>
            </a:r>
            <a:r>
              <a:rPr lang="fr-FR" sz="1300" dirty="0">
                <a:solidFill>
                  <a:srgbClr val="4D4F53"/>
                </a:solidFill>
              </a:rPr>
              <a:t>Date de livraison </a:t>
            </a:r>
            <a:r>
              <a:rPr lang="fr-FR" sz="1300" dirty="0" smtClean="0">
                <a:solidFill>
                  <a:srgbClr val="4D4F53"/>
                </a:solidFill>
              </a:rPr>
              <a:t>souhaitée</a:t>
            </a:r>
            <a:endParaRPr lang="fr-FR" sz="1300" dirty="0">
              <a:solidFill>
                <a:srgbClr val="4D4F53"/>
              </a:solidFill>
            </a:endParaRPr>
          </a:p>
          <a:p>
            <a:pPr>
              <a:lnSpc>
                <a:spcPct val="150000"/>
              </a:lnSpc>
            </a:pPr>
            <a:r>
              <a:rPr lang="fr-FR" sz="1300" dirty="0">
                <a:solidFill>
                  <a:srgbClr val="4D4F53"/>
                </a:solidFill>
              </a:rPr>
              <a:t>Entrer la </a:t>
            </a:r>
            <a:r>
              <a:rPr lang="fr-FR" sz="1300" dirty="0" smtClean="0">
                <a:solidFill>
                  <a:srgbClr val="4D4F53"/>
                </a:solidFill>
              </a:rPr>
              <a:t>Division (division qui demande le service)</a:t>
            </a:r>
            <a:endParaRPr lang="fr-FR" sz="1300" dirty="0">
              <a:solidFill>
                <a:srgbClr val="4D4F53"/>
              </a:solidFill>
            </a:endParaRPr>
          </a:p>
          <a:p>
            <a:pPr>
              <a:lnSpc>
                <a:spcPct val="150000"/>
              </a:lnSpc>
            </a:pPr>
            <a:r>
              <a:rPr lang="fr-FR" sz="1300" dirty="0" smtClean="0">
                <a:solidFill>
                  <a:srgbClr val="4D4F53"/>
                </a:solidFill>
              </a:rPr>
              <a:t>Entrer </a:t>
            </a:r>
            <a:r>
              <a:rPr lang="fr-FR" sz="1300" dirty="0">
                <a:solidFill>
                  <a:srgbClr val="4D4F53"/>
                </a:solidFill>
              </a:rPr>
              <a:t>le Groupe </a:t>
            </a:r>
            <a:r>
              <a:rPr lang="fr-FR" sz="1300" dirty="0" smtClean="0">
                <a:solidFill>
                  <a:srgbClr val="4D4F53"/>
                </a:solidFill>
              </a:rPr>
              <a:t>Acheteur = ZLO</a:t>
            </a:r>
            <a:endParaRPr lang="fr-FR" sz="1300" dirty="0">
              <a:solidFill>
                <a:srgbClr val="4D4F53"/>
              </a:solidFill>
            </a:endParaRPr>
          </a:p>
          <a:p>
            <a:pPr>
              <a:lnSpc>
                <a:spcPct val="150000"/>
              </a:lnSpc>
            </a:pPr>
            <a:endParaRPr lang="fr-FR" sz="1300" dirty="0">
              <a:solidFill>
                <a:srgbClr val="4D4F53"/>
              </a:solidFill>
            </a:endParaRPr>
          </a:p>
        </p:txBody>
      </p:sp>
      <p:sp>
        <p:nvSpPr>
          <p:cNvPr id="9" name="Ellipse 8"/>
          <p:cNvSpPr/>
          <p:nvPr/>
        </p:nvSpPr>
        <p:spPr>
          <a:xfrm>
            <a:off x="848353" y="459042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10" name="Ellipse 9"/>
          <p:cNvSpPr/>
          <p:nvPr/>
        </p:nvSpPr>
        <p:spPr>
          <a:xfrm>
            <a:off x="848353" y="489992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1" name="Ellipse 10"/>
          <p:cNvSpPr/>
          <p:nvPr/>
        </p:nvSpPr>
        <p:spPr>
          <a:xfrm>
            <a:off x="848353" y="520744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27" name="Rectangle 26"/>
          <p:cNvSpPr/>
          <p:nvPr/>
        </p:nvSpPr>
        <p:spPr>
          <a:xfrm>
            <a:off x="4177913" y="3636826"/>
            <a:ext cx="435637" cy="14043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8" name="Rectangle 27"/>
          <p:cNvSpPr/>
          <p:nvPr/>
        </p:nvSpPr>
        <p:spPr>
          <a:xfrm>
            <a:off x="5003368" y="3636826"/>
            <a:ext cx="549192" cy="14043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9" name="Rectangle 28"/>
          <p:cNvSpPr/>
          <p:nvPr/>
        </p:nvSpPr>
        <p:spPr>
          <a:xfrm>
            <a:off x="6500720" y="3636826"/>
            <a:ext cx="1105073" cy="14043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6" name="Ellipse 35"/>
          <p:cNvSpPr/>
          <p:nvPr/>
        </p:nvSpPr>
        <p:spPr>
          <a:xfrm>
            <a:off x="4177913" y="377582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37" name="Ellipse 36"/>
          <p:cNvSpPr/>
          <p:nvPr/>
        </p:nvSpPr>
        <p:spPr>
          <a:xfrm>
            <a:off x="4954929" y="377582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38" name="Ellipse 37"/>
          <p:cNvSpPr/>
          <p:nvPr/>
        </p:nvSpPr>
        <p:spPr>
          <a:xfrm>
            <a:off x="6455796" y="377582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52" name="Rectangle 51"/>
          <p:cNvSpPr/>
          <p:nvPr/>
        </p:nvSpPr>
        <p:spPr>
          <a:xfrm>
            <a:off x="8275638" y="3634554"/>
            <a:ext cx="669846" cy="144975"/>
          </a:xfrm>
          <a:prstGeom prst="rect">
            <a:avLst/>
          </a:prstGeom>
          <a:solidFill>
            <a:srgbClr val="FFFFFF"/>
          </a:solid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9530" rIns="99060" bIns="49530" numCol="1" spcCol="0" rtlCol="0" fromWordArt="0" anchor="ctr" anchorCtr="0" forceAA="0" compatLnSpc="1">
            <a:prstTxWarp prst="textNoShape">
              <a:avLst/>
            </a:prstTxWarp>
            <a:noAutofit/>
          </a:bodyPr>
          <a:lstStyle/>
          <a:p>
            <a:r>
              <a:rPr lang="fr-FR" sz="1000" dirty="0" smtClean="0">
                <a:solidFill>
                  <a:srgbClr val="4D4F53"/>
                </a:solidFill>
              </a:rPr>
              <a:t>ZLO</a:t>
            </a:r>
            <a:endParaRPr lang="en-US" sz="1000" dirty="0" err="1">
              <a:solidFill>
                <a:srgbClr val="4D4F53"/>
              </a:solidFill>
            </a:endParaRPr>
          </a:p>
        </p:txBody>
      </p:sp>
      <p:sp>
        <p:nvSpPr>
          <p:cNvPr id="54" name="Ellipse 53"/>
          <p:cNvSpPr/>
          <p:nvPr/>
        </p:nvSpPr>
        <p:spPr>
          <a:xfrm>
            <a:off x="848353" y="430627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3" name="Titre 1"/>
          <p:cNvSpPr>
            <a:spLocks noGrp="1"/>
          </p:cNvSpPr>
          <p:nvPr>
            <p:ph type="title"/>
          </p:nvPr>
        </p:nvSpPr>
        <p:spPr>
          <a:xfrm>
            <a:off x="495300" y="633600"/>
            <a:ext cx="8915400" cy="928688"/>
          </a:xfrm>
        </p:spPr>
        <p:txBody>
          <a:bodyPr anchor="t">
            <a:normAutofit fontScale="90000"/>
          </a:bodyPr>
          <a:lstStyle/>
          <a:p>
            <a:r>
              <a:rPr lang="fr-FR" altLang="en-US" sz="2600" dirty="0"/>
              <a:t>Mode opératoire</a:t>
            </a:r>
            <a:br>
              <a:rPr lang="fr-FR" altLang="en-US" sz="2600" dirty="0"/>
            </a:br>
            <a:r>
              <a:rPr lang="fr-FR" altLang="en-US" dirty="0" smtClean="0"/>
              <a:t>ME51N </a:t>
            </a:r>
            <a:r>
              <a:rPr lang="fr-FR" altLang="en-US" dirty="0"/>
              <a:t>- Créer </a:t>
            </a:r>
            <a:r>
              <a:rPr lang="fr-FR" altLang="en-US" dirty="0" smtClean="0"/>
              <a:t>une demande </a:t>
            </a:r>
            <a:r>
              <a:rPr lang="fr-FR" altLang="en-US" dirty="0" smtClean="0"/>
              <a:t>d’achat de service à un fournisseur local (ZSRV)</a:t>
            </a:r>
            <a:r>
              <a:rPr lang="fr-FR" altLang="en-US" dirty="0" smtClean="0"/>
              <a:t/>
            </a:r>
            <a:br>
              <a:rPr lang="fr-FR" altLang="en-US" dirty="0" smtClean="0"/>
            </a:br>
            <a:r>
              <a:rPr lang="fr-FR" altLang="en-US" b="1" dirty="0" smtClean="0"/>
              <a:t>Cas </a:t>
            </a:r>
            <a:r>
              <a:rPr lang="fr-FR" altLang="en-US" b="1" dirty="0" smtClean="0"/>
              <a:t>n°1 : Le service </a:t>
            </a:r>
            <a:r>
              <a:rPr lang="fr-FR" altLang="en-US" b="1" dirty="0" smtClean="0"/>
              <a:t>est </a:t>
            </a:r>
            <a:r>
              <a:rPr lang="fr-FR" altLang="en-US" b="1" dirty="0" smtClean="0"/>
              <a:t>codifié </a:t>
            </a:r>
            <a:r>
              <a:rPr lang="fr-FR" altLang="en-US" dirty="0" smtClean="0"/>
              <a:t>(2/5)</a:t>
            </a:r>
            <a:endParaRPr lang="en-US" b="1" dirty="0"/>
          </a:p>
        </p:txBody>
      </p:sp>
      <p:sp>
        <p:nvSpPr>
          <p:cNvPr id="4" name="Rectangle 3"/>
          <p:cNvSpPr/>
          <p:nvPr/>
        </p:nvSpPr>
        <p:spPr>
          <a:xfrm>
            <a:off x="7621668" y="3644636"/>
            <a:ext cx="595232" cy="119456"/>
          </a:xfrm>
          <a:prstGeom prst="rect">
            <a:avLst/>
          </a:prstGeom>
          <a:solidFill>
            <a:srgbClr val="FCDD8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Ellipse 38"/>
          <p:cNvSpPr/>
          <p:nvPr/>
        </p:nvSpPr>
        <p:spPr>
          <a:xfrm>
            <a:off x="8275638" y="377582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endParaRPr lang="fr-FR" sz="975" b="1" dirty="0">
              <a:solidFill>
                <a:schemeClr val="bg1"/>
              </a:solidFill>
            </a:endParaRPr>
          </a:p>
        </p:txBody>
      </p:sp>
    </p:spTree>
    <p:extLst>
      <p:ext uri="{BB962C8B-B14F-4D97-AF65-F5344CB8AC3E}">
        <p14:creationId xmlns:p14="http://schemas.microsoft.com/office/powerpoint/2010/main" val="24589317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4790173" y="3726701"/>
            <a:ext cx="3970446" cy="1797006"/>
          </a:xfrm>
          <a:prstGeom prst="rect">
            <a:avLst/>
          </a:prstGeom>
        </p:spPr>
      </p:pic>
      <p:pic>
        <p:nvPicPr>
          <p:cNvPr id="5" name="Image 4"/>
          <p:cNvPicPr>
            <a:picLocks noChangeAspect="1"/>
          </p:cNvPicPr>
          <p:nvPr/>
        </p:nvPicPr>
        <p:blipFill>
          <a:blip r:embed="rId3"/>
          <a:stretch>
            <a:fillRect/>
          </a:stretch>
        </p:blipFill>
        <p:spPr>
          <a:xfrm>
            <a:off x="4790173" y="1941343"/>
            <a:ext cx="3970446" cy="1785357"/>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a:t>
            </a:r>
            <a:r>
              <a:rPr lang="fr-FR" altLang="en-US" sz="1900" dirty="0" smtClean="0"/>
              <a:t/>
            </a:r>
            <a:br>
              <a:rPr lang="fr-FR" altLang="en-US" sz="1900" dirty="0" smtClean="0"/>
            </a:br>
            <a:r>
              <a:rPr lang="fr-FR" altLang="en-US" sz="1900" b="1" dirty="0" smtClean="0"/>
              <a:t>Cas </a:t>
            </a:r>
            <a:r>
              <a:rPr lang="fr-FR" altLang="en-US" sz="1900" b="1" dirty="0" smtClean="0"/>
              <a:t>n°1 : Le service </a:t>
            </a:r>
            <a:r>
              <a:rPr lang="fr-FR" altLang="en-US" sz="1900" b="1" dirty="0" smtClean="0"/>
              <a:t>est </a:t>
            </a:r>
            <a:r>
              <a:rPr lang="fr-FR" altLang="en-US" sz="1900" b="1" dirty="0" smtClean="0"/>
              <a:t>codifié </a:t>
            </a:r>
            <a:r>
              <a:rPr lang="fr-FR" altLang="en-US" sz="1900" dirty="0" smtClean="0"/>
              <a:t>(3/5)</a:t>
            </a:r>
            <a:endParaRPr lang="en-US" sz="1900" dirty="0"/>
          </a:p>
        </p:txBody>
      </p:sp>
      <p:grpSp>
        <p:nvGrpSpPr>
          <p:cNvPr id="24" name="Groupe 23"/>
          <p:cNvGrpSpPr/>
          <p:nvPr/>
        </p:nvGrpSpPr>
        <p:grpSpPr>
          <a:xfrm>
            <a:off x="572668" y="1868594"/>
            <a:ext cx="4145276" cy="3609899"/>
            <a:chOff x="424889" y="1232489"/>
            <a:chExt cx="4106131" cy="3226309"/>
          </a:xfrm>
        </p:grpSpPr>
        <p:sp>
          <p:nvSpPr>
            <p:cNvPr id="25" name="ZoneTexte 24"/>
            <p:cNvSpPr txBox="1"/>
            <p:nvPr/>
          </p:nvSpPr>
          <p:spPr>
            <a:xfrm>
              <a:off x="581025" y="1232489"/>
              <a:ext cx="3949995" cy="3226309"/>
            </a:xfrm>
            <a:prstGeom prst="rect">
              <a:avLst/>
            </a:prstGeom>
            <a:noFill/>
          </p:spPr>
          <p:txBody>
            <a:bodyPr wrap="square" rtlCol="0">
              <a:spAutoFit/>
            </a:bodyPr>
            <a:lstStyle/>
            <a:p>
              <a:r>
                <a:rPr lang="fr-FR" sz="1300" dirty="0">
                  <a:solidFill>
                    <a:srgbClr val="4D4F53"/>
                  </a:solidFill>
                </a:rPr>
                <a:t>2 types d’imputations : </a:t>
              </a:r>
            </a:p>
            <a:p>
              <a:endParaRPr lang="fr-FR" sz="758" dirty="0">
                <a:solidFill>
                  <a:srgbClr val="4D4F53"/>
                </a:solidFill>
              </a:endParaRPr>
            </a:p>
            <a:p>
              <a:r>
                <a:rPr lang="fr-FR" sz="1300" dirty="0">
                  <a:solidFill>
                    <a:srgbClr val="4D4F53"/>
                  </a:solidFill>
                </a:rPr>
                <a:t>K (Centre)</a:t>
              </a:r>
            </a:p>
            <a:p>
              <a:endParaRPr lang="fr-FR" sz="1300" dirty="0">
                <a:solidFill>
                  <a:srgbClr val="4D4F53"/>
                </a:solidFill>
              </a:endParaRPr>
            </a:p>
            <a:p>
              <a:r>
                <a:rPr lang="fr-FR" sz="1300" dirty="0">
                  <a:solidFill>
                    <a:srgbClr val="4D4F53"/>
                  </a:solidFill>
                </a:rPr>
                <a:t>P(Projet)</a:t>
              </a:r>
            </a:p>
            <a:p>
              <a:endParaRPr lang="fr-FR" sz="1300" dirty="0">
                <a:solidFill>
                  <a:srgbClr val="4D4F53"/>
                </a:solidFill>
              </a:endParaRPr>
            </a:p>
            <a:p>
              <a:r>
                <a:rPr lang="fr-FR" sz="1300" dirty="0">
                  <a:solidFill>
                    <a:srgbClr val="4D4F53"/>
                  </a:solidFill>
                </a:rPr>
                <a:t>Vous pouvez modifier l’imputation à deux endroits différent : </a:t>
              </a:r>
            </a:p>
            <a:p>
              <a:endParaRPr lang="fr-FR" sz="1300" dirty="0">
                <a:solidFill>
                  <a:srgbClr val="4D4F53"/>
                </a:solidFill>
              </a:endParaRPr>
            </a:p>
            <a:p>
              <a:pPr marL="185732" indent="-185732">
                <a:buFontTx/>
                <a:buChar char="-"/>
              </a:pPr>
              <a:r>
                <a:rPr lang="fr-FR" sz="1300" dirty="0">
                  <a:solidFill>
                    <a:srgbClr val="4D4F53"/>
                  </a:solidFill>
                </a:rPr>
                <a:t>Dans la synthèse des postes dans le « type Imputation »</a:t>
              </a:r>
            </a:p>
            <a:p>
              <a:pPr marL="185732" indent="-185732">
                <a:buFontTx/>
                <a:buChar char="-"/>
              </a:pPr>
              <a:endParaRPr lang="fr-FR" sz="1300" dirty="0">
                <a:solidFill>
                  <a:srgbClr val="4D4F53"/>
                </a:solidFill>
              </a:endParaRPr>
            </a:p>
            <a:p>
              <a:pPr marL="185732" indent="-185732">
                <a:buFontTx/>
                <a:buChar char="-"/>
              </a:pPr>
              <a:endParaRPr lang="fr-FR" sz="1300" dirty="0">
                <a:solidFill>
                  <a:srgbClr val="4D4F53"/>
                </a:solidFill>
              </a:endParaRPr>
            </a:p>
            <a:p>
              <a:pPr marL="185732" indent="-185732">
                <a:buFontTx/>
                <a:buChar char="-"/>
              </a:pPr>
              <a:endParaRPr lang="fr-FR" sz="1300" dirty="0">
                <a:solidFill>
                  <a:srgbClr val="4D4F53"/>
                </a:solidFill>
              </a:endParaRPr>
            </a:p>
            <a:p>
              <a:pPr marL="185732" indent="-185732">
                <a:buFontTx/>
                <a:buChar char="-"/>
              </a:pPr>
              <a:endParaRPr lang="fr-FR" sz="1300" dirty="0">
                <a:solidFill>
                  <a:srgbClr val="4D4F53"/>
                </a:solidFill>
              </a:endParaRPr>
            </a:p>
            <a:p>
              <a:pPr marL="185732" indent="-185732">
                <a:buFontTx/>
                <a:buChar char="-"/>
              </a:pPr>
              <a:r>
                <a:rPr lang="fr-FR" sz="1300" dirty="0">
                  <a:solidFill>
                    <a:srgbClr val="4D4F53"/>
                  </a:solidFill>
                </a:rPr>
                <a:t>Dans le détail du poste</a:t>
              </a:r>
            </a:p>
            <a:p>
              <a:endParaRPr lang="fr-FR" sz="1300" dirty="0">
                <a:solidFill>
                  <a:srgbClr val="4D4F53"/>
                </a:solidFill>
              </a:endParaRPr>
            </a:p>
            <a:p>
              <a:endParaRPr lang="fr-FR" sz="1300" dirty="0">
                <a:solidFill>
                  <a:srgbClr val="4D4F53"/>
                </a:solidFill>
              </a:endParaRPr>
            </a:p>
          </p:txBody>
        </p:sp>
        <p:sp>
          <p:nvSpPr>
            <p:cNvPr id="26" name="Ellipse 25"/>
            <p:cNvSpPr/>
            <p:nvPr/>
          </p:nvSpPr>
          <p:spPr>
            <a:xfrm>
              <a:off x="424889" y="15602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35" name="Rectangle 34"/>
          <p:cNvSpPr/>
          <p:nvPr/>
        </p:nvSpPr>
        <p:spPr>
          <a:xfrm>
            <a:off x="6017081" y="2363807"/>
            <a:ext cx="628194"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6" name="Rectangle 35"/>
          <p:cNvSpPr/>
          <p:nvPr/>
        </p:nvSpPr>
        <p:spPr>
          <a:xfrm>
            <a:off x="6017080" y="4177525"/>
            <a:ext cx="762338" cy="14317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8" name="Ellipse 37"/>
          <p:cNvSpPr/>
          <p:nvPr/>
        </p:nvSpPr>
        <p:spPr>
          <a:xfrm>
            <a:off x="5890458" y="218951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45" name="Ellipse 44"/>
          <p:cNvSpPr/>
          <p:nvPr/>
        </p:nvSpPr>
        <p:spPr>
          <a:xfrm>
            <a:off x="5890458" y="398472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pic>
        <p:nvPicPr>
          <p:cNvPr id="7" name="Image 6"/>
          <p:cNvPicPr>
            <a:picLocks noChangeAspect="1"/>
          </p:cNvPicPr>
          <p:nvPr/>
        </p:nvPicPr>
        <p:blipFill>
          <a:blip r:embed="rId4"/>
          <a:stretch>
            <a:fillRect/>
          </a:stretch>
        </p:blipFill>
        <p:spPr>
          <a:xfrm>
            <a:off x="730293" y="4238958"/>
            <a:ext cx="1609949" cy="392168"/>
          </a:xfrm>
          <a:prstGeom prst="rect">
            <a:avLst/>
          </a:prstGeom>
        </p:spPr>
      </p:pic>
      <p:cxnSp>
        <p:nvCxnSpPr>
          <p:cNvPr id="9" name="Connecteur droit avec flèche 8"/>
          <p:cNvCxnSpPr/>
          <p:nvPr/>
        </p:nvCxnSpPr>
        <p:spPr>
          <a:xfrm>
            <a:off x="2879456" y="4933061"/>
            <a:ext cx="1729353" cy="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4" name="Ellipse 13"/>
          <p:cNvSpPr/>
          <p:nvPr/>
        </p:nvSpPr>
        <p:spPr>
          <a:xfrm>
            <a:off x="572667" y="2640157"/>
            <a:ext cx="157625"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Tree>
    <p:extLst>
      <p:ext uri="{BB962C8B-B14F-4D97-AF65-F5344CB8AC3E}">
        <p14:creationId xmlns:p14="http://schemas.microsoft.com/office/powerpoint/2010/main" val="31973466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r="9016"/>
          <a:stretch/>
        </p:blipFill>
        <p:spPr>
          <a:xfrm>
            <a:off x="4304923" y="1795198"/>
            <a:ext cx="4870720" cy="3645958"/>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br>
              <a:rPr lang="fr-FR" altLang="en-US" sz="23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 </a:t>
            </a:r>
            <a:r>
              <a:rPr lang="fr-FR" altLang="en-US" sz="1900" dirty="0" smtClean="0"/>
              <a:t/>
            </a:r>
            <a:br>
              <a:rPr lang="fr-FR" altLang="en-US" sz="1900" dirty="0" smtClean="0"/>
            </a:br>
            <a:r>
              <a:rPr lang="fr-FR" altLang="en-US" sz="1900" b="1" dirty="0" smtClean="0"/>
              <a:t>Cas </a:t>
            </a:r>
            <a:r>
              <a:rPr lang="fr-FR" altLang="en-US" sz="1900" b="1" dirty="0" smtClean="0"/>
              <a:t>n°1.1 : Le service </a:t>
            </a:r>
            <a:r>
              <a:rPr lang="fr-FR" altLang="en-US" sz="1900" b="1" dirty="0" smtClean="0"/>
              <a:t>est </a:t>
            </a:r>
            <a:r>
              <a:rPr lang="fr-FR" altLang="en-US" sz="1900" b="1" dirty="0" smtClean="0"/>
              <a:t>codifié et </a:t>
            </a:r>
            <a:r>
              <a:rPr lang="fr-FR" altLang="en-US" sz="1900" b="1" u="sng" dirty="0" smtClean="0"/>
              <a:t>imputé sur centre de coûts </a:t>
            </a:r>
            <a:r>
              <a:rPr lang="fr-FR" altLang="en-US" sz="1900" dirty="0" smtClean="0"/>
              <a:t>(4a/5)</a:t>
            </a:r>
            <a:endParaRPr lang="en-US" sz="1900" b="1" dirty="0"/>
          </a:p>
        </p:txBody>
      </p:sp>
      <p:grpSp>
        <p:nvGrpSpPr>
          <p:cNvPr id="24" name="Groupe 23"/>
          <p:cNvGrpSpPr/>
          <p:nvPr/>
        </p:nvGrpSpPr>
        <p:grpSpPr>
          <a:xfrm>
            <a:off x="586292" y="2267808"/>
            <a:ext cx="4447656" cy="892552"/>
            <a:chOff x="425491" y="1232489"/>
            <a:chExt cx="4105529" cy="823894"/>
          </a:xfrm>
        </p:grpSpPr>
        <p:sp>
          <p:nvSpPr>
            <p:cNvPr id="25" name="ZoneTexte 24"/>
            <p:cNvSpPr txBox="1"/>
            <p:nvPr/>
          </p:nvSpPr>
          <p:spPr>
            <a:xfrm>
              <a:off x="581025" y="1232489"/>
              <a:ext cx="3949995" cy="823894"/>
            </a:xfrm>
            <a:prstGeom prst="rect">
              <a:avLst/>
            </a:prstGeom>
            <a:noFill/>
          </p:spPr>
          <p:txBody>
            <a:bodyPr wrap="square" rtlCol="0">
              <a:spAutoFit/>
            </a:bodyPr>
            <a:lstStyle/>
            <a:p>
              <a:r>
                <a:rPr lang="fr-FR" sz="1300" dirty="0">
                  <a:solidFill>
                    <a:srgbClr val="4D4F53"/>
                  </a:solidFill>
                </a:rPr>
                <a:t>Imputation sur centre de cout - K (Centre)</a:t>
              </a:r>
            </a:p>
            <a:p>
              <a:endParaRPr lang="fr-FR" sz="1300" dirty="0">
                <a:solidFill>
                  <a:srgbClr val="4D4F53"/>
                </a:solidFill>
              </a:endParaRPr>
            </a:p>
            <a:p>
              <a:r>
                <a:rPr lang="fr-FR" sz="1300" dirty="0">
                  <a:solidFill>
                    <a:srgbClr val="4D4F53"/>
                  </a:solidFill>
                </a:rPr>
                <a:t>Saisir un centre de coût</a:t>
              </a:r>
            </a:p>
            <a:p>
              <a:endParaRPr lang="fr-FR" sz="1300" dirty="0">
                <a:solidFill>
                  <a:srgbClr val="4D4F53"/>
                </a:solidFill>
              </a:endParaRPr>
            </a:p>
          </p:txBody>
        </p:sp>
        <p:sp>
          <p:nvSpPr>
            <p:cNvPr id="26" name="Ellipse 2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35" name="Rectangle 34"/>
          <p:cNvSpPr/>
          <p:nvPr/>
        </p:nvSpPr>
        <p:spPr>
          <a:xfrm>
            <a:off x="5086751" y="2556776"/>
            <a:ext cx="248043"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8" name="Ellipse 37"/>
          <p:cNvSpPr/>
          <p:nvPr/>
        </p:nvSpPr>
        <p:spPr>
          <a:xfrm>
            <a:off x="5610983" y="438083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17" name="Rectangle 16"/>
          <p:cNvSpPr/>
          <p:nvPr/>
        </p:nvSpPr>
        <p:spPr>
          <a:xfrm>
            <a:off x="5695557" y="4548295"/>
            <a:ext cx="712387"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8" name="Ellipse 17"/>
          <p:cNvSpPr/>
          <p:nvPr/>
        </p:nvSpPr>
        <p:spPr>
          <a:xfrm>
            <a:off x="586301" y="274751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19" name="Ellipse 18"/>
          <p:cNvSpPr/>
          <p:nvPr/>
        </p:nvSpPr>
        <p:spPr>
          <a:xfrm>
            <a:off x="5830481" y="507367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20" name="Rectangle 19"/>
          <p:cNvSpPr/>
          <p:nvPr/>
        </p:nvSpPr>
        <p:spPr>
          <a:xfrm>
            <a:off x="5334794" y="5241133"/>
            <a:ext cx="495687"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5" name="Image 4"/>
          <p:cNvPicPr>
            <a:picLocks noChangeAspect="1"/>
          </p:cNvPicPr>
          <p:nvPr/>
        </p:nvPicPr>
        <p:blipFill>
          <a:blip r:embed="rId3"/>
          <a:stretch>
            <a:fillRect/>
          </a:stretch>
        </p:blipFill>
        <p:spPr>
          <a:xfrm>
            <a:off x="5556647" y="2553768"/>
            <a:ext cx="1651000" cy="134168"/>
          </a:xfrm>
          <a:prstGeom prst="rect">
            <a:avLst/>
          </a:prstGeom>
        </p:spPr>
      </p:pic>
      <p:pic>
        <p:nvPicPr>
          <p:cNvPr id="21" name="Image 20"/>
          <p:cNvPicPr>
            <a:picLocks noChangeAspect="1"/>
          </p:cNvPicPr>
          <p:nvPr/>
        </p:nvPicPr>
        <p:blipFill rotWithShape="1">
          <a:blip r:embed="rId3"/>
          <a:srcRect l="39352" t="-2566" b="10720"/>
          <a:stretch/>
        </p:blipFill>
        <p:spPr>
          <a:xfrm>
            <a:off x="6101280" y="2547487"/>
            <a:ext cx="1106367" cy="148949"/>
          </a:xfrm>
          <a:prstGeom prst="rect">
            <a:avLst/>
          </a:prstGeom>
        </p:spPr>
      </p:pic>
      <p:pic>
        <p:nvPicPr>
          <p:cNvPr id="22" name="Image 21"/>
          <p:cNvPicPr>
            <a:picLocks noChangeAspect="1"/>
          </p:cNvPicPr>
          <p:nvPr/>
        </p:nvPicPr>
        <p:blipFill rotWithShape="1">
          <a:blip r:embed="rId3"/>
          <a:srcRect l="39352" t="-2566" b="10720"/>
          <a:stretch/>
        </p:blipFill>
        <p:spPr>
          <a:xfrm>
            <a:off x="5535558" y="4064955"/>
            <a:ext cx="1082305" cy="115860"/>
          </a:xfrm>
          <a:prstGeom prst="rect">
            <a:avLst/>
          </a:prstGeom>
        </p:spPr>
      </p:pic>
    </p:spTree>
    <p:extLst>
      <p:ext uri="{BB962C8B-B14F-4D97-AF65-F5344CB8AC3E}">
        <p14:creationId xmlns:p14="http://schemas.microsoft.com/office/powerpoint/2010/main" val="272361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rotWithShape="1">
          <a:blip r:embed="rId2"/>
          <a:srcRect t="92" r="16887" b="1"/>
          <a:stretch/>
        </p:blipFill>
        <p:spPr>
          <a:xfrm>
            <a:off x="4305601" y="1798638"/>
            <a:ext cx="4754534" cy="3714749"/>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br>
              <a:rPr lang="fr-FR" altLang="en-US" sz="23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 </a:t>
            </a:r>
            <a:r>
              <a:rPr lang="fr-FR" altLang="en-US" sz="1900" dirty="0" smtClean="0"/>
              <a:t/>
            </a:r>
            <a:br>
              <a:rPr lang="fr-FR" altLang="en-US" sz="1900" dirty="0" smtClean="0"/>
            </a:br>
            <a:r>
              <a:rPr lang="fr-FR" altLang="en-US" sz="1900" b="1" dirty="0" smtClean="0"/>
              <a:t>Cas </a:t>
            </a:r>
            <a:r>
              <a:rPr lang="fr-FR" altLang="en-US" sz="1900" b="1" dirty="0" smtClean="0"/>
              <a:t>n°1.2 : Le service </a:t>
            </a:r>
            <a:r>
              <a:rPr lang="fr-FR" altLang="en-US" sz="1900" b="1" dirty="0" smtClean="0"/>
              <a:t>est </a:t>
            </a:r>
            <a:r>
              <a:rPr lang="fr-FR" altLang="en-US" sz="1900" b="1" dirty="0" smtClean="0"/>
              <a:t>codifié et </a:t>
            </a:r>
            <a:r>
              <a:rPr lang="fr-FR" altLang="en-US" sz="1900" b="1" u="sng" dirty="0" smtClean="0"/>
              <a:t>imputé sur projet </a:t>
            </a:r>
            <a:r>
              <a:rPr lang="fr-FR" altLang="en-US" sz="1900" dirty="0" smtClean="0"/>
              <a:t>(4b/5)</a:t>
            </a:r>
            <a:endParaRPr lang="en-US" sz="1900" b="1" dirty="0"/>
          </a:p>
        </p:txBody>
      </p:sp>
      <p:sp>
        <p:nvSpPr>
          <p:cNvPr id="35" name="Rectangle 34"/>
          <p:cNvSpPr/>
          <p:nvPr/>
        </p:nvSpPr>
        <p:spPr>
          <a:xfrm>
            <a:off x="4652117" y="2875352"/>
            <a:ext cx="248043"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8" name="Ellipse 37"/>
          <p:cNvSpPr/>
          <p:nvPr/>
        </p:nvSpPr>
        <p:spPr>
          <a:xfrm>
            <a:off x="6341696" y="459588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17" name="Rectangle 16"/>
          <p:cNvSpPr/>
          <p:nvPr/>
        </p:nvSpPr>
        <p:spPr>
          <a:xfrm>
            <a:off x="5636618" y="4626466"/>
            <a:ext cx="712387"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0" name="Rectangle 19"/>
          <p:cNvSpPr/>
          <p:nvPr/>
        </p:nvSpPr>
        <p:spPr>
          <a:xfrm>
            <a:off x="5323163" y="5224344"/>
            <a:ext cx="1226613"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2" name="Ellipse 21"/>
          <p:cNvSpPr/>
          <p:nvPr/>
        </p:nvSpPr>
        <p:spPr>
          <a:xfrm>
            <a:off x="6549776" y="518740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smtClean="0">
                <a:solidFill>
                  <a:schemeClr val="bg1"/>
                </a:solidFill>
              </a:rPr>
              <a:t>2</a:t>
            </a:r>
            <a:endParaRPr lang="fr-FR" sz="975" b="1" dirty="0">
              <a:solidFill>
                <a:schemeClr val="bg1"/>
              </a:solidFill>
            </a:endParaRPr>
          </a:p>
        </p:txBody>
      </p:sp>
      <p:pic>
        <p:nvPicPr>
          <p:cNvPr id="14" name="Image 13"/>
          <p:cNvPicPr>
            <a:picLocks noChangeAspect="1"/>
          </p:cNvPicPr>
          <p:nvPr/>
        </p:nvPicPr>
        <p:blipFill>
          <a:blip r:embed="rId3"/>
          <a:stretch>
            <a:fillRect/>
          </a:stretch>
        </p:blipFill>
        <p:spPr>
          <a:xfrm>
            <a:off x="5106053" y="2901818"/>
            <a:ext cx="1612869" cy="113088"/>
          </a:xfrm>
          <a:prstGeom prst="rect">
            <a:avLst/>
          </a:prstGeom>
        </p:spPr>
      </p:pic>
      <p:pic>
        <p:nvPicPr>
          <p:cNvPr id="15" name="Image 14"/>
          <p:cNvPicPr>
            <a:picLocks noChangeAspect="1"/>
          </p:cNvPicPr>
          <p:nvPr/>
        </p:nvPicPr>
        <p:blipFill rotWithShape="1">
          <a:blip r:embed="rId3"/>
          <a:srcRect l="39352" t="-2566" b="10720"/>
          <a:stretch/>
        </p:blipFill>
        <p:spPr>
          <a:xfrm>
            <a:off x="5636618" y="2887037"/>
            <a:ext cx="1082305" cy="127869"/>
          </a:xfrm>
          <a:prstGeom prst="rect">
            <a:avLst/>
          </a:prstGeom>
        </p:spPr>
      </p:pic>
      <p:pic>
        <p:nvPicPr>
          <p:cNvPr id="16" name="Image 15"/>
          <p:cNvPicPr>
            <a:picLocks noChangeAspect="1"/>
          </p:cNvPicPr>
          <p:nvPr/>
        </p:nvPicPr>
        <p:blipFill rotWithShape="1">
          <a:blip r:embed="rId3"/>
          <a:srcRect l="39352" t="-2566" b="10720"/>
          <a:stretch/>
        </p:blipFill>
        <p:spPr>
          <a:xfrm>
            <a:off x="5095464" y="4210646"/>
            <a:ext cx="1082305" cy="98875"/>
          </a:xfrm>
          <a:prstGeom prst="rect">
            <a:avLst/>
          </a:prstGeom>
        </p:spPr>
      </p:pic>
      <p:grpSp>
        <p:nvGrpSpPr>
          <p:cNvPr id="21" name="Groupe 20"/>
          <p:cNvGrpSpPr/>
          <p:nvPr/>
        </p:nvGrpSpPr>
        <p:grpSpPr>
          <a:xfrm>
            <a:off x="586292" y="2267808"/>
            <a:ext cx="4447656" cy="892552"/>
            <a:chOff x="425491" y="1232489"/>
            <a:chExt cx="4105529" cy="823894"/>
          </a:xfrm>
        </p:grpSpPr>
        <p:sp>
          <p:nvSpPr>
            <p:cNvPr id="27" name="ZoneTexte 26"/>
            <p:cNvSpPr txBox="1"/>
            <p:nvPr/>
          </p:nvSpPr>
          <p:spPr>
            <a:xfrm>
              <a:off x="581025" y="1232489"/>
              <a:ext cx="3949995" cy="823894"/>
            </a:xfrm>
            <a:prstGeom prst="rect">
              <a:avLst/>
            </a:prstGeom>
            <a:noFill/>
          </p:spPr>
          <p:txBody>
            <a:bodyPr wrap="square" rtlCol="0">
              <a:spAutoFit/>
            </a:bodyPr>
            <a:lstStyle/>
            <a:p>
              <a:r>
                <a:rPr lang="fr-FR" sz="1300" dirty="0">
                  <a:solidFill>
                    <a:srgbClr val="4D4F53"/>
                  </a:solidFill>
                </a:rPr>
                <a:t>Imputation sur Projet - </a:t>
              </a:r>
              <a:r>
                <a:rPr lang="fr-FR" sz="1300" dirty="0">
                  <a:solidFill>
                    <a:srgbClr val="4D4F53"/>
                  </a:solidFill>
                </a:rPr>
                <a:t>P</a:t>
              </a:r>
              <a:r>
                <a:rPr lang="fr-FR" sz="1300" dirty="0">
                  <a:solidFill>
                    <a:srgbClr val="4D4F53"/>
                  </a:solidFill>
                </a:rPr>
                <a:t> (Projet)</a:t>
              </a:r>
            </a:p>
            <a:p>
              <a:endParaRPr lang="fr-FR" sz="1300" dirty="0">
                <a:solidFill>
                  <a:srgbClr val="4D4F53"/>
                </a:solidFill>
              </a:endParaRPr>
            </a:p>
            <a:p>
              <a:r>
                <a:rPr lang="fr-FR" sz="1300" dirty="0">
                  <a:solidFill>
                    <a:srgbClr val="4D4F53"/>
                  </a:solidFill>
                </a:rPr>
                <a:t>Ajouter l’élément d’OTP qui correspond au </a:t>
              </a:r>
              <a:endParaRPr lang="fr-FR" sz="1300" dirty="0">
                <a:solidFill>
                  <a:srgbClr val="4D4F53"/>
                </a:solidFill>
              </a:endParaRPr>
            </a:p>
            <a:p>
              <a:r>
                <a:rPr lang="fr-FR" sz="1300" dirty="0">
                  <a:solidFill>
                    <a:srgbClr val="4D4F53"/>
                  </a:solidFill>
                </a:rPr>
                <a:t>numéro </a:t>
              </a:r>
              <a:r>
                <a:rPr lang="fr-FR" sz="1300" dirty="0">
                  <a:solidFill>
                    <a:srgbClr val="4D4F53"/>
                  </a:solidFill>
                </a:rPr>
                <a:t>de projet</a:t>
              </a:r>
            </a:p>
          </p:txBody>
        </p:sp>
        <p:sp>
          <p:nvSpPr>
            <p:cNvPr id="28" name="Ellipse 2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29" name="Ellipse 28"/>
          <p:cNvSpPr/>
          <p:nvPr/>
        </p:nvSpPr>
        <p:spPr>
          <a:xfrm>
            <a:off x="586301" y="274751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Tree>
    <p:extLst>
      <p:ext uri="{BB962C8B-B14F-4D97-AF65-F5344CB8AC3E}">
        <p14:creationId xmlns:p14="http://schemas.microsoft.com/office/powerpoint/2010/main" val="12102445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a:blip r:embed="rId2"/>
          <a:stretch>
            <a:fillRect/>
          </a:stretch>
        </p:blipFill>
        <p:spPr>
          <a:xfrm>
            <a:off x="4132942" y="1795198"/>
            <a:ext cx="5070249" cy="2026278"/>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br>
              <a:rPr lang="fr-FR" altLang="en-US" sz="23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 </a:t>
            </a:r>
            <a:r>
              <a:rPr lang="fr-FR" altLang="en-US" sz="1900" dirty="0" smtClean="0"/>
              <a:t/>
            </a:r>
            <a:br>
              <a:rPr lang="fr-FR" altLang="en-US" sz="1900" dirty="0" smtClean="0"/>
            </a:br>
            <a:r>
              <a:rPr lang="fr-FR" altLang="en-US" sz="1900" b="1" dirty="0" smtClean="0"/>
              <a:t>Cas </a:t>
            </a:r>
            <a:r>
              <a:rPr lang="fr-FR" altLang="en-US" sz="1900" b="1" dirty="0" smtClean="0"/>
              <a:t>n°1 : Le service </a:t>
            </a:r>
            <a:r>
              <a:rPr lang="fr-FR" altLang="en-US" sz="1900" b="1" dirty="0" smtClean="0"/>
              <a:t>est </a:t>
            </a:r>
            <a:r>
              <a:rPr lang="fr-FR" altLang="en-US" sz="1900" b="1" dirty="0" smtClean="0"/>
              <a:t>codifié </a:t>
            </a:r>
            <a:r>
              <a:rPr lang="fr-FR" altLang="en-US" sz="1900" dirty="0" smtClean="0"/>
              <a:t>(5/5)</a:t>
            </a:r>
            <a:endParaRPr lang="en-US" sz="1900" b="1" dirty="0"/>
          </a:p>
        </p:txBody>
      </p:sp>
      <p:sp>
        <p:nvSpPr>
          <p:cNvPr id="36" name="Rectangle 35"/>
          <p:cNvSpPr/>
          <p:nvPr/>
        </p:nvSpPr>
        <p:spPr>
          <a:xfrm>
            <a:off x="5448339" y="2072615"/>
            <a:ext cx="155777" cy="15531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5" name="Ellipse 44"/>
          <p:cNvSpPr/>
          <p:nvPr/>
        </p:nvSpPr>
        <p:spPr>
          <a:xfrm>
            <a:off x="5376131" y="187523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pic>
        <p:nvPicPr>
          <p:cNvPr id="8" name="Image 7"/>
          <p:cNvPicPr>
            <a:picLocks noChangeAspect="1"/>
          </p:cNvPicPr>
          <p:nvPr/>
        </p:nvPicPr>
        <p:blipFill>
          <a:blip r:embed="rId3"/>
          <a:stretch>
            <a:fillRect/>
          </a:stretch>
        </p:blipFill>
        <p:spPr>
          <a:xfrm>
            <a:off x="3504394" y="2300775"/>
            <a:ext cx="184685" cy="219863"/>
          </a:xfrm>
          <a:prstGeom prst="rect">
            <a:avLst/>
          </a:prstGeom>
        </p:spPr>
      </p:pic>
      <p:sp>
        <p:nvSpPr>
          <p:cNvPr id="38" name="Ellipse 37"/>
          <p:cNvSpPr/>
          <p:nvPr/>
        </p:nvSpPr>
        <p:spPr>
          <a:xfrm>
            <a:off x="5736991" y="243691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14" name="Rectangle 13"/>
          <p:cNvSpPr/>
          <p:nvPr/>
        </p:nvSpPr>
        <p:spPr>
          <a:xfrm>
            <a:off x="5857379" y="2587190"/>
            <a:ext cx="132994" cy="13991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17" name="Image 16"/>
          <p:cNvPicPr>
            <a:picLocks noChangeAspect="1"/>
          </p:cNvPicPr>
          <p:nvPr/>
        </p:nvPicPr>
        <p:blipFill>
          <a:blip r:embed="rId4"/>
          <a:stretch>
            <a:fillRect/>
          </a:stretch>
        </p:blipFill>
        <p:spPr>
          <a:xfrm>
            <a:off x="4687810" y="3979863"/>
            <a:ext cx="3227466" cy="241587"/>
          </a:xfrm>
          <a:prstGeom prst="rect">
            <a:avLst/>
          </a:prstGeom>
        </p:spPr>
      </p:pic>
      <p:grpSp>
        <p:nvGrpSpPr>
          <p:cNvPr id="21" name="Groupe 20"/>
          <p:cNvGrpSpPr/>
          <p:nvPr/>
        </p:nvGrpSpPr>
        <p:grpSpPr>
          <a:xfrm>
            <a:off x="586292" y="2267807"/>
            <a:ext cx="4447656" cy="692497"/>
            <a:chOff x="425491" y="1232489"/>
            <a:chExt cx="4105529" cy="639228"/>
          </a:xfrm>
        </p:grpSpPr>
        <p:sp>
          <p:nvSpPr>
            <p:cNvPr id="22" name="ZoneTexte 21"/>
            <p:cNvSpPr txBox="1"/>
            <p:nvPr/>
          </p:nvSpPr>
          <p:spPr>
            <a:xfrm>
              <a:off x="581025" y="1232489"/>
              <a:ext cx="3949995" cy="639228"/>
            </a:xfrm>
            <a:prstGeom prst="rect">
              <a:avLst/>
            </a:prstGeom>
            <a:noFill/>
          </p:spPr>
          <p:txBody>
            <a:bodyPr wrap="square" rtlCol="0">
              <a:spAutoFit/>
            </a:bodyPr>
            <a:lstStyle/>
            <a:p>
              <a:r>
                <a:rPr lang="fr-FR" sz="1300" dirty="0">
                  <a:solidFill>
                    <a:srgbClr val="4D4F53"/>
                  </a:solidFill>
                </a:rPr>
                <a:t>Contrôler la D.A en cliquant sur l’icone       </a:t>
              </a:r>
            </a:p>
            <a:p>
              <a:endParaRPr lang="fr-FR" sz="1300" dirty="0">
                <a:solidFill>
                  <a:srgbClr val="4D4F53"/>
                </a:solidFill>
              </a:endParaRPr>
            </a:p>
            <a:p>
              <a:r>
                <a:rPr lang="fr-FR" sz="1300" dirty="0">
                  <a:solidFill>
                    <a:srgbClr val="4D4F53"/>
                  </a:solidFill>
                </a:rPr>
                <a:t>Clique sur la disquette pour sauvegarder</a:t>
              </a:r>
            </a:p>
          </p:txBody>
        </p:sp>
        <p:sp>
          <p:nvSpPr>
            <p:cNvPr id="23" name="Ellipse 22"/>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27" name="Ellipse 26"/>
          <p:cNvSpPr/>
          <p:nvPr/>
        </p:nvSpPr>
        <p:spPr>
          <a:xfrm>
            <a:off x="586301" y="274751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Tree>
    <p:extLst>
      <p:ext uri="{BB962C8B-B14F-4D97-AF65-F5344CB8AC3E}">
        <p14:creationId xmlns:p14="http://schemas.microsoft.com/office/powerpoint/2010/main" val="3980377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4953000" y="2309891"/>
            <a:ext cx="2599448" cy="1397120"/>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a:t>
            </a:r>
            <a:r>
              <a:rPr lang="fr-FR" altLang="en-US" sz="1900" dirty="0" smtClean="0"/>
              <a:t/>
            </a:r>
            <a:br>
              <a:rPr lang="fr-FR" altLang="en-US" sz="1900" dirty="0" smtClean="0"/>
            </a:br>
            <a:r>
              <a:rPr lang="fr-FR" altLang="en-US" sz="1900" b="1" dirty="0" smtClean="0"/>
              <a:t>Cas </a:t>
            </a:r>
            <a:r>
              <a:rPr lang="fr-FR" altLang="en-US" sz="1900" b="1" dirty="0" smtClean="0"/>
              <a:t>n°2 : Le service </a:t>
            </a:r>
            <a:r>
              <a:rPr lang="fr-FR" altLang="en-US" sz="1900" b="1" dirty="0" smtClean="0"/>
              <a:t>n’est pas </a:t>
            </a:r>
            <a:r>
              <a:rPr lang="fr-FR" altLang="en-US" sz="1900" b="1" dirty="0" smtClean="0"/>
              <a:t>codifié </a:t>
            </a:r>
            <a:r>
              <a:rPr lang="fr-FR" altLang="en-US" sz="1900" dirty="0" smtClean="0"/>
              <a:t>(1/9)</a:t>
            </a:r>
            <a:endParaRPr lang="en-US" sz="1900" b="1" dirty="0"/>
          </a:p>
        </p:txBody>
      </p:sp>
      <p:sp>
        <p:nvSpPr>
          <p:cNvPr id="45" name="Rectangle 44"/>
          <p:cNvSpPr/>
          <p:nvPr/>
        </p:nvSpPr>
        <p:spPr>
          <a:xfrm>
            <a:off x="5160479" y="2791791"/>
            <a:ext cx="968247"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6" name="Ellipse 45"/>
          <p:cNvSpPr/>
          <p:nvPr/>
        </p:nvSpPr>
        <p:spPr>
          <a:xfrm>
            <a:off x="5075905" y="263592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nvGrpSpPr>
          <p:cNvPr id="9" name="Groupe 8"/>
          <p:cNvGrpSpPr/>
          <p:nvPr/>
        </p:nvGrpSpPr>
        <p:grpSpPr>
          <a:xfrm>
            <a:off x="586292" y="2267808"/>
            <a:ext cx="4447656" cy="292388"/>
            <a:chOff x="425491" y="1232489"/>
            <a:chExt cx="4105529" cy="269896"/>
          </a:xfrm>
        </p:grpSpPr>
        <p:sp>
          <p:nvSpPr>
            <p:cNvPr id="10" name="ZoneTexte 9"/>
            <p:cNvSpPr txBox="1"/>
            <p:nvPr/>
          </p:nvSpPr>
          <p:spPr>
            <a:xfrm>
              <a:off x="581025" y="1232489"/>
              <a:ext cx="3949995" cy="269896"/>
            </a:xfrm>
            <a:prstGeom prst="rect">
              <a:avLst/>
            </a:prstGeom>
            <a:noFill/>
          </p:spPr>
          <p:txBody>
            <a:bodyPr wrap="square" rtlCol="0">
              <a:spAutoFit/>
            </a:bodyPr>
            <a:lstStyle/>
            <a:p>
              <a:r>
                <a:rPr lang="fr-FR" sz="1300" dirty="0">
                  <a:solidFill>
                    <a:srgbClr val="4D4F53"/>
                  </a:solidFill>
                </a:rPr>
                <a:t>Choisir ZSRV pour une demande d’achat </a:t>
              </a:r>
              <a:r>
                <a:rPr lang="fr-FR" sz="1300" dirty="0">
                  <a:solidFill>
                    <a:srgbClr val="4D4F53"/>
                  </a:solidFill>
                </a:rPr>
                <a:t>Service</a:t>
              </a:r>
              <a:endParaRPr lang="fr-FR" sz="1300" dirty="0">
                <a:solidFill>
                  <a:srgbClr val="4D4F53"/>
                </a:solidFill>
              </a:endParaRPr>
            </a:p>
          </p:txBody>
        </p:sp>
        <p:sp>
          <p:nvSpPr>
            <p:cNvPr id="11" name="Ellipse 10"/>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Tree>
    <p:extLst>
      <p:ext uri="{BB962C8B-B14F-4D97-AF65-F5344CB8AC3E}">
        <p14:creationId xmlns:p14="http://schemas.microsoft.com/office/powerpoint/2010/main" val="19290515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4953000" y="1867334"/>
            <a:ext cx="2599448" cy="1397120"/>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a:t>
            </a:r>
            <a:r>
              <a:rPr lang="fr-FR" altLang="en-US" sz="1900" dirty="0" smtClean="0"/>
              <a:t/>
            </a:r>
            <a:br>
              <a:rPr lang="fr-FR" altLang="en-US" sz="1900" dirty="0" smtClean="0"/>
            </a:br>
            <a:r>
              <a:rPr lang="fr-FR" altLang="en-US" sz="1900" b="1" dirty="0" smtClean="0"/>
              <a:t>Cas </a:t>
            </a:r>
            <a:r>
              <a:rPr lang="fr-FR" altLang="en-US" sz="1900" b="1" dirty="0" smtClean="0"/>
              <a:t>n°2 : Le service </a:t>
            </a:r>
            <a:r>
              <a:rPr lang="fr-FR" altLang="en-US" sz="1900" b="1" dirty="0" smtClean="0"/>
              <a:t>n’est pas </a:t>
            </a:r>
            <a:r>
              <a:rPr lang="fr-FR" altLang="en-US" sz="1900" b="1" dirty="0" smtClean="0"/>
              <a:t>codifié </a:t>
            </a:r>
            <a:r>
              <a:rPr lang="fr-FR" altLang="en-US" sz="1900" dirty="0" smtClean="0"/>
              <a:t>(2/9)</a:t>
            </a:r>
            <a:endParaRPr lang="en-US" sz="1900" b="1" dirty="0"/>
          </a:p>
        </p:txBody>
      </p:sp>
      <p:sp>
        <p:nvSpPr>
          <p:cNvPr id="6" name="ZoneTexte 5"/>
          <p:cNvSpPr txBox="1"/>
          <p:nvPr/>
        </p:nvSpPr>
        <p:spPr>
          <a:xfrm>
            <a:off x="392862" y="1876457"/>
            <a:ext cx="4279161" cy="3493264"/>
          </a:xfrm>
          <a:prstGeom prst="rect">
            <a:avLst/>
          </a:prstGeom>
          <a:noFill/>
        </p:spPr>
        <p:txBody>
          <a:bodyPr wrap="square" rtlCol="0">
            <a:spAutoFit/>
          </a:bodyPr>
          <a:lstStyle/>
          <a:p>
            <a:pPr algn="just"/>
            <a:r>
              <a:rPr lang="fr-FR" sz="1300" dirty="0">
                <a:solidFill>
                  <a:srgbClr val="4D4F53"/>
                </a:solidFill>
              </a:rPr>
              <a:t>Si vous ne savez pas si </a:t>
            </a:r>
            <a:r>
              <a:rPr lang="fr-FR" sz="1300" dirty="0" smtClean="0">
                <a:solidFill>
                  <a:srgbClr val="4D4F53"/>
                </a:solidFill>
              </a:rPr>
              <a:t>le service </a:t>
            </a:r>
            <a:r>
              <a:rPr lang="fr-FR" sz="1300" dirty="0">
                <a:solidFill>
                  <a:srgbClr val="4D4F53"/>
                </a:solidFill>
              </a:rPr>
              <a:t>possède un code article, alors il faut cliquer sur l’icône         dans la case article.</a:t>
            </a:r>
            <a:endParaRPr lang="fr-FR" sz="1300" dirty="0">
              <a:solidFill>
                <a:srgbClr val="4D4F53"/>
              </a:solidFill>
            </a:endParaRPr>
          </a:p>
          <a:p>
            <a:pPr algn="just"/>
            <a:endParaRPr lang="fr-FR" sz="1300" dirty="0">
              <a:solidFill>
                <a:srgbClr val="4D4F53"/>
              </a:solidFill>
            </a:endParaRPr>
          </a:p>
          <a:p>
            <a:pPr algn="just"/>
            <a:r>
              <a:rPr lang="fr-FR" sz="1300" dirty="0">
                <a:solidFill>
                  <a:srgbClr val="4D4F53"/>
                </a:solidFill>
              </a:rPr>
              <a:t>Dans l’onglet Numéro/Désignation d’article, aller dans la case désignation d’article. </a:t>
            </a:r>
            <a:r>
              <a:rPr lang="fr-FR" sz="1300" dirty="0">
                <a:solidFill>
                  <a:srgbClr val="4D4F53"/>
                </a:solidFill>
              </a:rPr>
              <a:t>R</a:t>
            </a:r>
            <a:r>
              <a:rPr lang="fr-FR" sz="1300" dirty="0">
                <a:solidFill>
                  <a:srgbClr val="4D4F53"/>
                </a:solidFill>
              </a:rPr>
              <a:t>entrer un mot clé du nom </a:t>
            </a:r>
            <a:r>
              <a:rPr lang="fr-FR" sz="1300" dirty="0" smtClean="0">
                <a:solidFill>
                  <a:srgbClr val="4D4F53"/>
                </a:solidFill>
              </a:rPr>
              <a:t>du service. </a:t>
            </a:r>
            <a:r>
              <a:rPr lang="fr-FR" sz="1300" dirty="0">
                <a:solidFill>
                  <a:srgbClr val="4D4F53"/>
                </a:solidFill>
              </a:rPr>
              <a:t>Il doit être encadré par deux étoiles *mot clé*. Appuyer sur Entrée.</a:t>
            </a:r>
          </a:p>
          <a:p>
            <a:pPr algn="just"/>
            <a:endParaRPr lang="fr-FR" sz="1300" dirty="0">
              <a:solidFill>
                <a:srgbClr val="4D4F53"/>
              </a:solidFill>
            </a:endParaRPr>
          </a:p>
          <a:p>
            <a:pPr algn="just"/>
            <a:r>
              <a:rPr lang="fr-FR" sz="1300" dirty="0">
                <a:solidFill>
                  <a:srgbClr val="4D4F53"/>
                </a:solidFill>
              </a:rPr>
              <a:t>Si un message en bas s’affiche </a:t>
            </a:r>
            <a:endParaRPr lang="fr-FR" sz="1300" dirty="0" smtClean="0">
              <a:solidFill>
                <a:srgbClr val="4D4F53"/>
              </a:solidFill>
            </a:endParaRPr>
          </a:p>
          <a:p>
            <a:pPr algn="just"/>
            <a:r>
              <a:rPr lang="fr-FR" sz="1300" dirty="0" smtClean="0">
                <a:solidFill>
                  <a:srgbClr val="4D4F53"/>
                </a:solidFill>
              </a:rPr>
              <a:t>alors </a:t>
            </a:r>
            <a:r>
              <a:rPr lang="fr-FR" sz="1300" dirty="0">
                <a:solidFill>
                  <a:srgbClr val="4D4F53"/>
                </a:solidFill>
              </a:rPr>
              <a:t>réessayer avec un autre mot clé </a:t>
            </a:r>
            <a:r>
              <a:rPr lang="fr-FR" sz="1300" dirty="0" smtClean="0">
                <a:solidFill>
                  <a:srgbClr val="4D4F53"/>
                </a:solidFill>
              </a:rPr>
              <a:t>du service, </a:t>
            </a:r>
            <a:r>
              <a:rPr lang="fr-FR" sz="1300" dirty="0">
                <a:solidFill>
                  <a:srgbClr val="4D4F53"/>
                </a:solidFill>
              </a:rPr>
              <a:t>car il se peut que le nom ne soit pas exactement le même. </a:t>
            </a:r>
            <a:endParaRPr lang="fr-FR" sz="1300" dirty="0" smtClean="0">
              <a:solidFill>
                <a:srgbClr val="4D4F53"/>
              </a:solidFill>
            </a:endParaRPr>
          </a:p>
          <a:p>
            <a:pPr algn="just"/>
            <a:r>
              <a:rPr lang="fr-FR" sz="1300" dirty="0" smtClean="0">
                <a:solidFill>
                  <a:srgbClr val="4D4F53"/>
                </a:solidFill>
              </a:rPr>
              <a:t>Appuyer </a:t>
            </a:r>
            <a:r>
              <a:rPr lang="fr-FR" sz="1300" dirty="0">
                <a:solidFill>
                  <a:srgbClr val="4D4F53"/>
                </a:solidFill>
              </a:rPr>
              <a:t>sur entrée.</a:t>
            </a:r>
          </a:p>
          <a:p>
            <a:pPr algn="just"/>
            <a:endParaRPr lang="fr-FR" sz="1300" dirty="0">
              <a:solidFill>
                <a:srgbClr val="4D4F53"/>
              </a:solidFill>
            </a:endParaRPr>
          </a:p>
          <a:p>
            <a:pPr algn="just"/>
            <a:r>
              <a:rPr lang="fr-FR" sz="1300" dirty="0">
                <a:solidFill>
                  <a:srgbClr val="4D4F53"/>
                </a:solidFill>
              </a:rPr>
              <a:t>Si le message s’affiche à nouveau, alors </a:t>
            </a:r>
            <a:r>
              <a:rPr lang="fr-FR" sz="1300" dirty="0" smtClean="0">
                <a:solidFill>
                  <a:srgbClr val="4D4F53"/>
                </a:solidFill>
              </a:rPr>
              <a:t>le service n’est pas codifié.</a:t>
            </a:r>
            <a:endParaRPr lang="fr-FR" sz="1300" dirty="0">
              <a:solidFill>
                <a:srgbClr val="4D4F53"/>
              </a:solidFill>
            </a:endParaRPr>
          </a:p>
          <a:p>
            <a:pPr algn="just"/>
            <a:endParaRPr lang="fr-FR" sz="1300" dirty="0">
              <a:solidFill>
                <a:srgbClr val="4D4F53"/>
              </a:solidFill>
            </a:endParaRPr>
          </a:p>
          <a:p>
            <a:pPr algn="just"/>
            <a:endParaRPr lang="fr-FR" sz="1300" dirty="0">
              <a:solidFill>
                <a:srgbClr val="4D4F53"/>
              </a:solidFill>
            </a:endParaRPr>
          </a:p>
        </p:txBody>
      </p:sp>
      <p:sp>
        <p:nvSpPr>
          <p:cNvPr id="8" name="Ellipse 7"/>
          <p:cNvSpPr/>
          <p:nvPr/>
        </p:nvSpPr>
        <p:spPr>
          <a:xfrm>
            <a:off x="224367" y="193563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224367" y="252768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10" name="Ellipse 9"/>
          <p:cNvSpPr/>
          <p:nvPr/>
        </p:nvSpPr>
        <p:spPr>
          <a:xfrm>
            <a:off x="216573" y="353174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1" name="Ellipse 10"/>
          <p:cNvSpPr/>
          <p:nvPr/>
        </p:nvSpPr>
        <p:spPr>
          <a:xfrm>
            <a:off x="233899" y="452576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45" name="Rectangle 44"/>
          <p:cNvSpPr/>
          <p:nvPr/>
        </p:nvSpPr>
        <p:spPr>
          <a:xfrm>
            <a:off x="6044152" y="2948337"/>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6" name="Ellipse 45"/>
          <p:cNvSpPr/>
          <p:nvPr/>
        </p:nvSpPr>
        <p:spPr>
          <a:xfrm>
            <a:off x="5959578" y="294833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pic>
        <p:nvPicPr>
          <p:cNvPr id="7" name="Image 6"/>
          <p:cNvPicPr>
            <a:picLocks noChangeAspect="1"/>
          </p:cNvPicPr>
          <p:nvPr/>
        </p:nvPicPr>
        <p:blipFill>
          <a:blip r:embed="rId3"/>
          <a:stretch>
            <a:fillRect/>
          </a:stretch>
        </p:blipFill>
        <p:spPr>
          <a:xfrm>
            <a:off x="2517777" y="2137481"/>
            <a:ext cx="237331" cy="237331"/>
          </a:xfrm>
          <a:prstGeom prst="rect">
            <a:avLst/>
          </a:prstGeom>
        </p:spPr>
      </p:pic>
      <p:pic>
        <p:nvPicPr>
          <p:cNvPr id="15" name="Image 14"/>
          <p:cNvPicPr>
            <a:picLocks noChangeAspect="1"/>
          </p:cNvPicPr>
          <p:nvPr/>
        </p:nvPicPr>
        <p:blipFill>
          <a:blip r:embed="rId4"/>
          <a:stretch>
            <a:fillRect/>
          </a:stretch>
        </p:blipFill>
        <p:spPr>
          <a:xfrm>
            <a:off x="7775840" y="3245450"/>
            <a:ext cx="1890383" cy="983253"/>
          </a:xfrm>
          <a:prstGeom prst="rect">
            <a:avLst/>
          </a:prstGeom>
        </p:spPr>
      </p:pic>
      <p:sp>
        <p:nvSpPr>
          <p:cNvPr id="47" name="Ellipse 46"/>
          <p:cNvSpPr/>
          <p:nvPr/>
        </p:nvSpPr>
        <p:spPr>
          <a:xfrm>
            <a:off x="7691266" y="3364291"/>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48" name="Rectangle 47"/>
          <p:cNvSpPr/>
          <p:nvPr/>
        </p:nvSpPr>
        <p:spPr>
          <a:xfrm>
            <a:off x="8800052" y="3651525"/>
            <a:ext cx="509049" cy="1203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16" name="Image 15"/>
          <p:cNvPicPr>
            <a:picLocks noChangeAspect="1"/>
          </p:cNvPicPr>
          <p:nvPr/>
        </p:nvPicPr>
        <p:blipFill>
          <a:blip r:embed="rId5"/>
          <a:stretch>
            <a:fillRect/>
          </a:stretch>
        </p:blipFill>
        <p:spPr>
          <a:xfrm>
            <a:off x="2755108" y="3509288"/>
            <a:ext cx="1806703" cy="222854"/>
          </a:xfrm>
          <a:prstGeom prst="rect">
            <a:avLst/>
          </a:prstGeom>
        </p:spPr>
      </p:pic>
    </p:spTree>
    <p:extLst>
      <p:ext uri="{BB962C8B-B14F-4D97-AF65-F5344CB8AC3E}">
        <p14:creationId xmlns:p14="http://schemas.microsoft.com/office/powerpoint/2010/main" val="16654283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3195145" y="1889482"/>
            <a:ext cx="6517189" cy="365792"/>
          </a:xfrm>
          <a:prstGeom prst="rect">
            <a:avLst/>
          </a:prstGeom>
        </p:spPr>
      </p:pic>
      <p:sp>
        <p:nvSpPr>
          <p:cNvPr id="25" name="ZoneTexte 24"/>
          <p:cNvSpPr txBox="1"/>
          <p:nvPr/>
        </p:nvSpPr>
        <p:spPr>
          <a:xfrm>
            <a:off x="552347" y="1773111"/>
            <a:ext cx="5016246" cy="3693319"/>
          </a:xfrm>
          <a:prstGeom prst="rect">
            <a:avLst/>
          </a:prstGeom>
          <a:noFill/>
        </p:spPr>
        <p:txBody>
          <a:bodyPr wrap="square" rtlCol="0">
            <a:spAutoFit/>
          </a:bodyPr>
          <a:lstStyle/>
          <a:p>
            <a:r>
              <a:rPr lang="fr-FR" sz="1300" dirty="0">
                <a:solidFill>
                  <a:srgbClr val="4D4F53"/>
                </a:solidFill>
              </a:rPr>
              <a:t>Entrer la désignation </a:t>
            </a:r>
            <a:r>
              <a:rPr lang="fr-FR" sz="1300" dirty="0" smtClean="0">
                <a:solidFill>
                  <a:srgbClr val="4D4F53"/>
                </a:solidFill>
              </a:rPr>
              <a:t>du service</a:t>
            </a:r>
            <a:endParaRPr lang="fr-FR" sz="1300" dirty="0">
              <a:solidFill>
                <a:srgbClr val="4D4F53"/>
              </a:solidFill>
            </a:endParaRPr>
          </a:p>
          <a:p>
            <a:endParaRPr lang="fr-FR" sz="1300" dirty="0">
              <a:solidFill>
                <a:srgbClr val="4D4F53"/>
              </a:solidFill>
            </a:endParaRPr>
          </a:p>
          <a:p>
            <a:r>
              <a:rPr lang="fr-FR" sz="1300" dirty="0">
                <a:solidFill>
                  <a:srgbClr val="4D4F53"/>
                </a:solidFill>
              </a:rPr>
              <a:t>Indiquer les quantités </a:t>
            </a:r>
          </a:p>
          <a:p>
            <a:endParaRPr lang="fr-FR" sz="1300" dirty="0">
              <a:solidFill>
                <a:srgbClr val="4D4F53"/>
              </a:solidFill>
            </a:endParaRPr>
          </a:p>
          <a:p>
            <a:r>
              <a:rPr lang="fr-FR" sz="1300" dirty="0">
                <a:solidFill>
                  <a:srgbClr val="4D4F53"/>
                </a:solidFill>
              </a:rPr>
              <a:t>Entrer l’unité de quantité</a:t>
            </a:r>
          </a:p>
          <a:p>
            <a:endParaRPr lang="fr-FR" sz="1300" dirty="0">
              <a:solidFill>
                <a:srgbClr val="4D4F53"/>
              </a:solidFill>
            </a:endParaRPr>
          </a:p>
          <a:p>
            <a:r>
              <a:rPr lang="fr-FR" sz="1300" dirty="0">
                <a:solidFill>
                  <a:srgbClr val="4D4F53"/>
                </a:solidFill>
              </a:rPr>
              <a:t>Indiquer la date de </a:t>
            </a:r>
            <a:r>
              <a:rPr lang="fr-FR" sz="1300" dirty="0" smtClean="0">
                <a:solidFill>
                  <a:srgbClr val="4D4F53"/>
                </a:solidFill>
              </a:rPr>
              <a:t>livraison souhaitée</a:t>
            </a:r>
            <a:endParaRPr lang="fr-FR" sz="1300" dirty="0">
              <a:solidFill>
                <a:srgbClr val="4D4F53"/>
              </a:solidFill>
            </a:endParaRPr>
          </a:p>
          <a:p>
            <a:endParaRPr lang="fr-FR" sz="1300" dirty="0">
              <a:solidFill>
                <a:srgbClr val="4D4F53"/>
              </a:solidFill>
            </a:endParaRPr>
          </a:p>
          <a:p>
            <a:r>
              <a:rPr lang="fr-FR" sz="1300" dirty="0">
                <a:solidFill>
                  <a:srgbClr val="4D4F53"/>
                </a:solidFill>
              </a:rPr>
              <a:t>Indiquer le groupe de </a:t>
            </a:r>
            <a:r>
              <a:rPr lang="fr-FR" sz="1300" dirty="0" smtClean="0">
                <a:solidFill>
                  <a:srgbClr val="4D4F53"/>
                </a:solidFill>
              </a:rPr>
              <a:t>marchandise </a:t>
            </a:r>
          </a:p>
          <a:p>
            <a:r>
              <a:rPr lang="fr-FR" sz="1300" dirty="0" smtClean="0">
                <a:solidFill>
                  <a:srgbClr val="4D4F53"/>
                </a:solidFill>
              </a:rPr>
              <a:t>(choisir dans la liste p2 et p3)</a:t>
            </a:r>
            <a:endParaRPr lang="fr-FR" sz="1300" dirty="0">
              <a:solidFill>
                <a:srgbClr val="4D4F53"/>
              </a:solidFill>
            </a:endParaRPr>
          </a:p>
          <a:p>
            <a:endParaRPr lang="fr-FR" sz="1300" dirty="0">
              <a:solidFill>
                <a:srgbClr val="4D4F53"/>
              </a:solidFill>
            </a:endParaRPr>
          </a:p>
          <a:p>
            <a:r>
              <a:rPr lang="fr-FR" sz="1300" dirty="0">
                <a:solidFill>
                  <a:srgbClr val="4D4F53"/>
                </a:solidFill>
              </a:rPr>
              <a:t>Entrer le groupe </a:t>
            </a:r>
            <a:r>
              <a:rPr lang="fr-FR" sz="1300" dirty="0" smtClean="0">
                <a:solidFill>
                  <a:srgbClr val="4D4F53"/>
                </a:solidFill>
              </a:rPr>
              <a:t>acheteur = ZLO</a:t>
            </a:r>
            <a:endParaRPr lang="fr-FR" sz="1300" dirty="0">
              <a:solidFill>
                <a:srgbClr val="4D4F53"/>
              </a:solidFill>
            </a:endParaRPr>
          </a:p>
          <a:p>
            <a:endParaRPr lang="fr-FR" sz="1300" dirty="0">
              <a:solidFill>
                <a:srgbClr val="4D4F53"/>
              </a:solidFill>
            </a:endParaRPr>
          </a:p>
          <a:p>
            <a:r>
              <a:rPr lang="fr-FR" sz="1300" dirty="0">
                <a:solidFill>
                  <a:srgbClr val="4D4F53"/>
                </a:solidFill>
              </a:rPr>
              <a:t>Entrer le </a:t>
            </a:r>
            <a:r>
              <a:rPr lang="fr-FR" sz="1300" dirty="0" smtClean="0">
                <a:solidFill>
                  <a:srgbClr val="4D4F53"/>
                </a:solidFill>
              </a:rPr>
              <a:t>demandeur (= </a:t>
            </a:r>
            <a:r>
              <a:rPr lang="fr-FR" sz="1300" dirty="0" smtClean="0">
                <a:solidFill>
                  <a:srgbClr val="4D4F53"/>
                </a:solidFill>
              </a:rPr>
              <a:t>le nouveau numéro </a:t>
            </a:r>
            <a:r>
              <a:rPr lang="fr-FR" sz="1300" dirty="0" smtClean="0">
                <a:solidFill>
                  <a:srgbClr val="4D4F53"/>
                </a:solidFill>
              </a:rPr>
              <a:t>de département)</a:t>
            </a:r>
            <a:endParaRPr lang="fr-FR" sz="1300" dirty="0">
              <a:solidFill>
                <a:srgbClr val="4D4F53"/>
              </a:solidFill>
            </a:endParaRPr>
          </a:p>
          <a:p>
            <a:endParaRPr lang="fr-FR" sz="1300" dirty="0">
              <a:solidFill>
                <a:srgbClr val="4D4F53"/>
              </a:solidFill>
            </a:endParaRPr>
          </a:p>
          <a:p>
            <a:r>
              <a:rPr lang="fr-FR" sz="1300" dirty="0">
                <a:solidFill>
                  <a:srgbClr val="4D4F53"/>
                </a:solidFill>
              </a:rPr>
              <a:t>Indiquer la </a:t>
            </a:r>
            <a:r>
              <a:rPr lang="fr-FR" sz="1300" dirty="0" smtClean="0">
                <a:solidFill>
                  <a:srgbClr val="4D4F53"/>
                </a:solidFill>
              </a:rPr>
              <a:t>division </a:t>
            </a:r>
            <a:r>
              <a:rPr lang="fr-FR" sz="1300" dirty="0" smtClean="0">
                <a:solidFill>
                  <a:srgbClr val="4D4F53"/>
                </a:solidFill>
              </a:rPr>
              <a:t>(division qui demande le service)</a:t>
            </a:r>
            <a:endParaRPr lang="fr-FR" sz="1300" dirty="0">
              <a:solidFill>
                <a:srgbClr val="4D4F53"/>
              </a:solidFill>
            </a:endParaRPr>
          </a:p>
          <a:p>
            <a:endParaRPr lang="fr-FR" sz="1300" dirty="0">
              <a:solidFill>
                <a:srgbClr val="4D4F53"/>
              </a:solidFill>
            </a:endParaRPr>
          </a:p>
          <a:p>
            <a:r>
              <a:rPr lang="fr-FR" sz="1300" dirty="0" smtClean="0">
                <a:solidFill>
                  <a:srgbClr val="4D4F53"/>
                </a:solidFill>
              </a:rPr>
              <a:t>Appuyez </a:t>
            </a:r>
            <a:r>
              <a:rPr lang="fr-FR" sz="1300" dirty="0" smtClean="0">
                <a:solidFill>
                  <a:srgbClr val="4D4F53"/>
                </a:solidFill>
              </a:rPr>
              <a:t>sur «</a:t>
            </a:r>
            <a:r>
              <a:rPr lang="fr-FR" sz="1300" dirty="0">
                <a:solidFill>
                  <a:srgbClr val="4D4F53"/>
                </a:solidFill>
              </a:rPr>
              <a:t> Entrée </a:t>
            </a:r>
            <a:r>
              <a:rPr lang="fr-FR" sz="1300" dirty="0" smtClean="0">
                <a:solidFill>
                  <a:srgbClr val="4D4F53"/>
                </a:solidFill>
              </a:rPr>
              <a:t>», le message suivant apparaît</a:t>
            </a:r>
            <a:endParaRPr lang="fr-FR" sz="1300" dirty="0">
              <a:solidFill>
                <a:srgbClr val="4D4F53"/>
              </a:solidFill>
            </a:endParaRPr>
          </a:p>
        </p:txBody>
      </p:sp>
      <p:sp>
        <p:nvSpPr>
          <p:cNvPr id="2" name="Titre 1"/>
          <p:cNvSpPr>
            <a:spLocks noGrp="1"/>
          </p:cNvSpPr>
          <p:nvPr>
            <p:ph type="title"/>
          </p:nvPr>
        </p:nvSpPr>
        <p:spPr>
          <a:xfrm>
            <a:off x="495300" y="633600"/>
            <a:ext cx="8915400" cy="1143000"/>
          </a:xfrm>
        </p:spPr>
        <p:txBody>
          <a:bodyPr anchor="t">
            <a:no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a:t>
            </a:r>
            <a:r>
              <a:rPr lang="fr-FR" altLang="en-US" sz="2000" dirty="0" smtClean="0"/>
              <a:t> </a:t>
            </a:r>
            <a:r>
              <a:rPr lang="fr-FR" altLang="en-US" sz="2000" dirty="0"/>
              <a:t>(ZSRV) </a:t>
            </a:r>
            <a:r>
              <a:rPr lang="fr-FR" altLang="en-US" sz="1900" dirty="0" smtClean="0"/>
              <a:t/>
            </a:r>
            <a:br>
              <a:rPr lang="fr-FR" altLang="en-US" sz="1900" dirty="0" smtClean="0"/>
            </a:br>
            <a:r>
              <a:rPr lang="fr-FR" altLang="en-US" sz="1900" b="1" dirty="0" smtClean="0"/>
              <a:t>Cas n°2: Le service n’est pas codifié </a:t>
            </a:r>
            <a:r>
              <a:rPr lang="fr-FR" altLang="en-US" sz="1900" dirty="0" smtClean="0"/>
              <a:t>(3/9)</a:t>
            </a:r>
            <a:endParaRPr lang="en-US" sz="1900" b="1" dirty="0"/>
          </a:p>
        </p:txBody>
      </p:sp>
      <p:sp>
        <p:nvSpPr>
          <p:cNvPr id="26" name="Ellipse 25"/>
          <p:cNvSpPr/>
          <p:nvPr/>
        </p:nvSpPr>
        <p:spPr>
          <a:xfrm>
            <a:off x="391294" y="183228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7" name="Ellipse 26"/>
          <p:cNvSpPr/>
          <p:nvPr/>
        </p:nvSpPr>
        <p:spPr>
          <a:xfrm>
            <a:off x="391294" y="223423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28" name="Ellipse 27"/>
          <p:cNvSpPr/>
          <p:nvPr/>
        </p:nvSpPr>
        <p:spPr>
          <a:xfrm>
            <a:off x="391294" y="262794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9" name="Ellipse 28"/>
          <p:cNvSpPr/>
          <p:nvPr/>
        </p:nvSpPr>
        <p:spPr>
          <a:xfrm>
            <a:off x="391294" y="303229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30" name="Rectangle 29"/>
          <p:cNvSpPr/>
          <p:nvPr/>
        </p:nvSpPr>
        <p:spPr>
          <a:xfrm>
            <a:off x="3844604" y="2086126"/>
            <a:ext cx="1152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9" name="Ellipse 38"/>
          <p:cNvSpPr/>
          <p:nvPr/>
        </p:nvSpPr>
        <p:spPr>
          <a:xfrm>
            <a:off x="3844604"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40" name="Ellipse 39"/>
          <p:cNvSpPr/>
          <p:nvPr/>
        </p:nvSpPr>
        <p:spPr>
          <a:xfrm>
            <a:off x="5132160"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41" name="Ellipse 40"/>
          <p:cNvSpPr/>
          <p:nvPr/>
        </p:nvSpPr>
        <p:spPr>
          <a:xfrm>
            <a:off x="5600815"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42" name="Ellipse 41"/>
          <p:cNvSpPr/>
          <p:nvPr/>
        </p:nvSpPr>
        <p:spPr>
          <a:xfrm>
            <a:off x="6132570"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4</a:t>
            </a:r>
          </a:p>
        </p:txBody>
      </p:sp>
      <p:sp>
        <p:nvSpPr>
          <p:cNvPr id="43" name="Ellipse 42"/>
          <p:cNvSpPr/>
          <p:nvPr/>
        </p:nvSpPr>
        <p:spPr>
          <a:xfrm>
            <a:off x="6790724"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44" name="Ellipse 43"/>
          <p:cNvSpPr/>
          <p:nvPr/>
        </p:nvSpPr>
        <p:spPr>
          <a:xfrm>
            <a:off x="8685055"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6</a:t>
            </a:r>
          </a:p>
        </p:txBody>
      </p:sp>
      <p:sp>
        <p:nvSpPr>
          <p:cNvPr id="50" name="Ellipse 49"/>
          <p:cNvSpPr/>
          <p:nvPr/>
        </p:nvSpPr>
        <p:spPr>
          <a:xfrm>
            <a:off x="9081055"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7</a:t>
            </a:r>
          </a:p>
        </p:txBody>
      </p:sp>
      <p:sp>
        <p:nvSpPr>
          <p:cNvPr id="51" name="Ellipse 50"/>
          <p:cNvSpPr/>
          <p:nvPr/>
        </p:nvSpPr>
        <p:spPr>
          <a:xfrm>
            <a:off x="7444834" y="221430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8</a:t>
            </a:r>
          </a:p>
        </p:txBody>
      </p:sp>
      <p:sp>
        <p:nvSpPr>
          <p:cNvPr id="53" name="Ellipse 52"/>
          <p:cNvSpPr/>
          <p:nvPr/>
        </p:nvSpPr>
        <p:spPr>
          <a:xfrm>
            <a:off x="391294" y="342601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5</a:t>
            </a:r>
          </a:p>
        </p:txBody>
      </p:sp>
      <p:sp>
        <p:nvSpPr>
          <p:cNvPr id="54" name="Ellipse 53"/>
          <p:cNvSpPr/>
          <p:nvPr/>
        </p:nvSpPr>
        <p:spPr>
          <a:xfrm>
            <a:off x="391294" y="4388444"/>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7</a:t>
            </a:r>
          </a:p>
        </p:txBody>
      </p:sp>
      <p:sp>
        <p:nvSpPr>
          <p:cNvPr id="55" name="Ellipse 54"/>
          <p:cNvSpPr/>
          <p:nvPr/>
        </p:nvSpPr>
        <p:spPr>
          <a:xfrm>
            <a:off x="391294" y="4790396"/>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8</a:t>
            </a:r>
          </a:p>
        </p:txBody>
      </p:sp>
      <p:sp>
        <p:nvSpPr>
          <p:cNvPr id="56" name="Ellipse 55"/>
          <p:cNvSpPr/>
          <p:nvPr/>
        </p:nvSpPr>
        <p:spPr>
          <a:xfrm>
            <a:off x="391294" y="402040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6</a:t>
            </a:r>
          </a:p>
        </p:txBody>
      </p:sp>
      <p:pic>
        <p:nvPicPr>
          <p:cNvPr id="57" name="Image 56"/>
          <p:cNvPicPr>
            <a:picLocks noChangeAspect="1"/>
          </p:cNvPicPr>
          <p:nvPr/>
        </p:nvPicPr>
        <p:blipFill>
          <a:blip r:embed="rId3"/>
          <a:stretch>
            <a:fillRect/>
          </a:stretch>
        </p:blipFill>
        <p:spPr>
          <a:xfrm>
            <a:off x="4247609" y="5140256"/>
            <a:ext cx="2641968" cy="258005"/>
          </a:xfrm>
          <a:prstGeom prst="rect">
            <a:avLst/>
          </a:prstGeom>
        </p:spPr>
      </p:pic>
      <p:sp>
        <p:nvSpPr>
          <p:cNvPr id="38" name="Flèche droite 37"/>
          <p:cNvSpPr/>
          <p:nvPr/>
        </p:nvSpPr>
        <p:spPr>
          <a:xfrm>
            <a:off x="366733" y="5168550"/>
            <a:ext cx="218268"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52" name="Rectangle 51"/>
          <p:cNvSpPr/>
          <p:nvPr/>
        </p:nvSpPr>
        <p:spPr>
          <a:xfrm>
            <a:off x="5132160" y="2086126"/>
            <a:ext cx="396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58" name="Rectangle 57"/>
          <p:cNvSpPr/>
          <p:nvPr/>
        </p:nvSpPr>
        <p:spPr>
          <a:xfrm>
            <a:off x="5600815" y="2086126"/>
            <a:ext cx="324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59" name="Rectangle 58"/>
          <p:cNvSpPr/>
          <p:nvPr/>
        </p:nvSpPr>
        <p:spPr>
          <a:xfrm>
            <a:off x="6132570" y="2086126"/>
            <a:ext cx="612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0" name="Rectangle 59"/>
          <p:cNvSpPr/>
          <p:nvPr/>
        </p:nvSpPr>
        <p:spPr>
          <a:xfrm>
            <a:off x="6790724" y="2086126"/>
            <a:ext cx="612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1" name="Rectangle 60"/>
          <p:cNvSpPr/>
          <p:nvPr/>
        </p:nvSpPr>
        <p:spPr>
          <a:xfrm>
            <a:off x="7444834" y="2086126"/>
            <a:ext cx="612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62" name="Rectangle 61"/>
          <p:cNvSpPr/>
          <p:nvPr/>
        </p:nvSpPr>
        <p:spPr>
          <a:xfrm>
            <a:off x="8685055" y="2086126"/>
            <a:ext cx="396000" cy="133374"/>
          </a:xfrm>
          <a:prstGeom prst="rect">
            <a:avLst/>
          </a:prstGeom>
          <a:solidFill>
            <a:schemeClr val="bg1"/>
          </a:solid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9530" rIns="99060" bIns="49530" numCol="1" spcCol="0" rtlCol="0" fromWordArt="0" anchor="ctr" anchorCtr="0" forceAA="0" compatLnSpc="1">
            <a:prstTxWarp prst="textNoShape">
              <a:avLst/>
            </a:prstTxWarp>
            <a:noAutofit/>
          </a:bodyPr>
          <a:lstStyle/>
          <a:p>
            <a:r>
              <a:rPr lang="fr-FR" sz="1000" dirty="0" smtClean="0">
                <a:solidFill>
                  <a:srgbClr val="4D4F53"/>
                </a:solidFill>
              </a:rPr>
              <a:t>ZLO</a:t>
            </a:r>
            <a:endParaRPr lang="en-US" sz="1000" dirty="0" err="1">
              <a:solidFill>
                <a:srgbClr val="4D4F53"/>
              </a:solidFill>
            </a:endParaRPr>
          </a:p>
        </p:txBody>
      </p:sp>
      <p:sp>
        <p:nvSpPr>
          <p:cNvPr id="63" name="Rectangle 62"/>
          <p:cNvSpPr/>
          <p:nvPr/>
        </p:nvSpPr>
        <p:spPr>
          <a:xfrm>
            <a:off x="9081055" y="2086126"/>
            <a:ext cx="468000" cy="1333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Tree>
    <p:extLst>
      <p:ext uri="{BB962C8B-B14F-4D97-AF65-F5344CB8AC3E}">
        <p14:creationId xmlns:p14="http://schemas.microsoft.com/office/powerpoint/2010/main" val="24112838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nvPicPr>
        <p:blipFill>
          <a:blip r:embed="rId2"/>
          <a:stretch>
            <a:fillRect/>
          </a:stretch>
        </p:blipFill>
        <p:spPr>
          <a:xfrm>
            <a:off x="4548626" y="2084996"/>
            <a:ext cx="4865030" cy="3523793"/>
          </a:xfrm>
          <a:prstGeom prst="rect">
            <a:avLst/>
          </a:prstGeom>
        </p:spPr>
      </p:pic>
      <p:sp>
        <p:nvSpPr>
          <p:cNvPr id="2" name="Titre 1"/>
          <p:cNvSpPr>
            <a:spLocks noGrp="1"/>
          </p:cNvSpPr>
          <p:nvPr>
            <p:ph type="title"/>
          </p:nvPr>
        </p:nvSpPr>
        <p:spPr>
          <a:xfrm>
            <a:off x="495300" y="633600"/>
            <a:ext cx="8915400" cy="1106181"/>
          </a:xfrm>
        </p:spPr>
        <p:txBody>
          <a:bodyPr anchor="t">
            <a:no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une demande </a:t>
            </a:r>
            <a:r>
              <a:rPr lang="fr-FR" altLang="en-US" sz="1900" dirty="0" smtClean="0"/>
              <a:t>d’achat de service à un fournisseur local </a:t>
            </a:r>
            <a:r>
              <a:rPr lang="fr-FR" altLang="en-US" sz="1900" dirty="0"/>
              <a:t>(ZSRV) </a:t>
            </a:r>
            <a:br>
              <a:rPr lang="fr-FR" altLang="en-US" sz="1900" dirty="0"/>
            </a:br>
            <a:r>
              <a:rPr lang="fr-FR" altLang="en-US" sz="1900" b="1" dirty="0" smtClean="0"/>
              <a:t>Cas n°2: Le service n’est pas codifié </a:t>
            </a:r>
            <a:r>
              <a:rPr lang="fr-FR" altLang="en-US" sz="1900" dirty="0" smtClean="0"/>
              <a:t>(4/9)</a:t>
            </a:r>
            <a:endParaRPr lang="en-US" sz="1900" b="1" dirty="0"/>
          </a:p>
        </p:txBody>
      </p:sp>
      <p:sp>
        <p:nvSpPr>
          <p:cNvPr id="6" name="ZoneTexte 5"/>
          <p:cNvSpPr txBox="1"/>
          <p:nvPr/>
        </p:nvSpPr>
        <p:spPr>
          <a:xfrm>
            <a:off x="535273" y="3450209"/>
            <a:ext cx="3645395" cy="1692771"/>
          </a:xfrm>
          <a:prstGeom prst="rect">
            <a:avLst/>
          </a:prstGeom>
          <a:noFill/>
        </p:spPr>
        <p:txBody>
          <a:bodyPr wrap="square" rtlCol="0">
            <a:spAutoFit/>
          </a:bodyPr>
          <a:lstStyle/>
          <a:p>
            <a:pPr algn="just"/>
            <a:r>
              <a:rPr lang="fr-FR" sz="1300" dirty="0" smtClean="0">
                <a:solidFill>
                  <a:srgbClr val="4D4F53"/>
                </a:solidFill>
              </a:rPr>
              <a:t>Après </a:t>
            </a:r>
            <a:r>
              <a:rPr lang="fr-FR" sz="1300" dirty="0">
                <a:solidFill>
                  <a:srgbClr val="4D4F53"/>
                </a:solidFill>
              </a:rPr>
              <a:t>avoir </a:t>
            </a:r>
            <a:r>
              <a:rPr lang="fr-FR" sz="1300" dirty="0" smtClean="0">
                <a:solidFill>
                  <a:srgbClr val="4D4F53"/>
                </a:solidFill>
              </a:rPr>
              <a:t>renseigné </a:t>
            </a:r>
            <a:r>
              <a:rPr lang="fr-FR" sz="1300" dirty="0">
                <a:solidFill>
                  <a:srgbClr val="4D4F53"/>
                </a:solidFill>
              </a:rPr>
              <a:t>les champs obligatoires, </a:t>
            </a:r>
            <a:r>
              <a:rPr lang="fr-FR" sz="1300" dirty="0" smtClean="0">
                <a:solidFill>
                  <a:srgbClr val="4D4F53"/>
                </a:solidFill>
              </a:rPr>
              <a:t>cliquer </a:t>
            </a:r>
            <a:r>
              <a:rPr lang="fr-FR" sz="1300" dirty="0">
                <a:solidFill>
                  <a:srgbClr val="4D4F53"/>
                </a:solidFill>
              </a:rPr>
              <a:t>sur l’onglet « Textes » </a:t>
            </a:r>
          </a:p>
          <a:p>
            <a:pPr algn="just"/>
            <a:endParaRPr lang="fr-FR" sz="1300" dirty="0">
              <a:solidFill>
                <a:srgbClr val="4D4F53"/>
              </a:solidFill>
            </a:endParaRPr>
          </a:p>
          <a:p>
            <a:pPr algn="just"/>
            <a:r>
              <a:rPr lang="fr-FR" sz="1300" dirty="0">
                <a:solidFill>
                  <a:srgbClr val="4D4F53"/>
                </a:solidFill>
              </a:rPr>
              <a:t>Vérifier que vous </a:t>
            </a:r>
            <a:r>
              <a:rPr lang="fr-FR" sz="1300" dirty="0" smtClean="0">
                <a:solidFill>
                  <a:srgbClr val="4D4F53"/>
                </a:solidFill>
              </a:rPr>
              <a:t>êtes </a:t>
            </a:r>
            <a:r>
              <a:rPr lang="fr-FR" sz="1300" dirty="0">
                <a:solidFill>
                  <a:srgbClr val="4D4F53"/>
                </a:solidFill>
              </a:rPr>
              <a:t>sur le bon poste. </a:t>
            </a:r>
          </a:p>
          <a:p>
            <a:pPr algn="just"/>
            <a:endParaRPr lang="fr-FR" sz="1300" dirty="0">
              <a:solidFill>
                <a:srgbClr val="4D4F53"/>
              </a:solidFill>
            </a:endParaRPr>
          </a:p>
          <a:p>
            <a:pPr algn="just"/>
            <a:r>
              <a:rPr lang="fr-FR" sz="1300" dirty="0">
                <a:solidFill>
                  <a:srgbClr val="4D4F53"/>
                </a:solidFill>
              </a:rPr>
              <a:t>Vous pouvez changer le poste sur lequel </a:t>
            </a:r>
            <a:r>
              <a:rPr lang="fr-FR" sz="1300" dirty="0" smtClean="0">
                <a:solidFill>
                  <a:srgbClr val="4D4F53"/>
                </a:solidFill>
              </a:rPr>
              <a:t>vous voulez </a:t>
            </a:r>
            <a:r>
              <a:rPr lang="fr-FR" sz="1300" dirty="0">
                <a:solidFill>
                  <a:srgbClr val="4D4F53"/>
                </a:solidFill>
              </a:rPr>
              <a:t>travailler en utilisant les icônes </a:t>
            </a:r>
            <a:endParaRPr lang="fr-FR" sz="1083" dirty="0">
              <a:solidFill>
                <a:srgbClr val="4D4F53"/>
              </a:solidFill>
            </a:endParaRPr>
          </a:p>
          <a:p>
            <a:pPr algn="just"/>
            <a:endParaRPr lang="fr-FR" sz="1300" dirty="0">
              <a:solidFill>
                <a:srgbClr val="4D4F53"/>
              </a:solidFill>
            </a:endParaRPr>
          </a:p>
        </p:txBody>
      </p:sp>
      <p:sp>
        <p:nvSpPr>
          <p:cNvPr id="8" name="Ellipse 7"/>
          <p:cNvSpPr/>
          <p:nvPr/>
        </p:nvSpPr>
        <p:spPr>
          <a:xfrm>
            <a:off x="337626" y="3535251"/>
            <a:ext cx="17713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337626" y="4129139"/>
            <a:ext cx="17713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337626" y="4536612"/>
            <a:ext cx="17713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7" name="Flèche droite 16"/>
          <p:cNvSpPr/>
          <p:nvPr/>
        </p:nvSpPr>
        <p:spPr>
          <a:xfrm>
            <a:off x="320708" y="2116840"/>
            <a:ext cx="228497" cy="229711"/>
          </a:xfrm>
          <a:prstGeom prst="rightArrow">
            <a:avLst/>
          </a:prstGeom>
          <a:solidFill>
            <a:srgbClr val="FF0000"/>
          </a:solidFill>
          <a:ln>
            <a:solidFill>
              <a:srgbClr val="4D4F5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1" name="Rectangle 40"/>
          <p:cNvSpPr/>
          <p:nvPr/>
        </p:nvSpPr>
        <p:spPr>
          <a:xfrm>
            <a:off x="8058641" y="4437425"/>
            <a:ext cx="468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4" name="Ellipse 33"/>
          <p:cNvSpPr/>
          <p:nvPr/>
        </p:nvSpPr>
        <p:spPr>
          <a:xfrm>
            <a:off x="8442068" y="446912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9" name="Rectangle 28"/>
          <p:cNvSpPr/>
          <p:nvPr/>
        </p:nvSpPr>
        <p:spPr>
          <a:xfrm>
            <a:off x="5171815" y="4331762"/>
            <a:ext cx="800526"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0" name="Ellipse 29"/>
          <p:cNvSpPr/>
          <p:nvPr/>
        </p:nvSpPr>
        <p:spPr>
          <a:xfrm>
            <a:off x="5815082" y="446912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pic>
        <p:nvPicPr>
          <p:cNvPr id="4" name="Image 3"/>
          <p:cNvPicPr>
            <a:picLocks noChangeAspect="1"/>
          </p:cNvPicPr>
          <p:nvPr/>
        </p:nvPicPr>
        <p:blipFill>
          <a:blip r:embed="rId3"/>
          <a:stretch>
            <a:fillRect/>
          </a:stretch>
        </p:blipFill>
        <p:spPr>
          <a:xfrm>
            <a:off x="3217070" y="4704069"/>
            <a:ext cx="550919" cy="278606"/>
          </a:xfrm>
          <a:prstGeom prst="rect">
            <a:avLst/>
          </a:prstGeom>
        </p:spPr>
      </p:pic>
      <p:sp>
        <p:nvSpPr>
          <p:cNvPr id="31" name="Rectangle 30"/>
          <p:cNvSpPr/>
          <p:nvPr/>
        </p:nvSpPr>
        <p:spPr>
          <a:xfrm>
            <a:off x="5989617" y="4331762"/>
            <a:ext cx="273000" cy="156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2" name="Ellipse 31"/>
          <p:cNvSpPr/>
          <p:nvPr/>
        </p:nvSpPr>
        <p:spPr>
          <a:xfrm>
            <a:off x="6206871" y="446912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5" name="Rectangle 4"/>
          <p:cNvSpPr/>
          <p:nvPr/>
        </p:nvSpPr>
        <p:spPr>
          <a:xfrm>
            <a:off x="535273" y="2086018"/>
            <a:ext cx="3645395" cy="892552"/>
          </a:xfrm>
          <a:prstGeom prst="rect">
            <a:avLst/>
          </a:prstGeom>
        </p:spPr>
        <p:txBody>
          <a:bodyPr wrap="square">
            <a:spAutoFit/>
          </a:bodyPr>
          <a:lstStyle/>
          <a:p>
            <a:pPr lvl="0" algn="just"/>
            <a:r>
              <a:rPr lang="fr-FR" sz="1300" dirty="0">
                <a:solidFill>
                  <a:srgbClr val="4D4F53"/>
                </a:solidFill>
              </a:rPr>
              <a:t>Lorsque vous faites des achats de services non codifiés, il est important de </a:t>
            </a:r>
            <a:r>
              <a:rPr lang="fr-FR" sz="1300" b="1" dirty="0">
                <a:solidFill>
                  <a:srgbClr val="4D4F53"/>
                </a:solidFill>
              </a:rPr>
              <a:t>donner le plus de détails possible concernant le service souhaité</a:t>
            </a:r>
          </a:p>
          <a:p>
            <a:pPr lvl="0" algn="just"/>
            <a:endParaRPr lang="fr-FR" sz="1300" dirty="0">
              <a:solidFill>
                <a:srgbClr val="4D4F53"/>
              </a:solidFill>
            </a:endParaRPr>
          </a:p>
        </p:txBody>
      </p:sp>
      <p:sp>
        <p:nvSpPr>
          <p:cNvPr id="20" name="ZoneTexte 19"/>
          <p:cNvSpPr txBox="1"/>
          <p:nvPr/>
        </p:nvSpPr>
        <p:spPr>
          <a:xfrm>
            <a:off x="362706" y="2785736"/>
            <a:ext cx="3312000" cy="509101"/>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Ces détails doivent permettre aux Achats de solliciter les bons fournisseurs, et aux fournisseurs de bien identifier le ou les articles demandés</a:t>
            </a:r>
            <a:endParaRPr lang="en-US" sz="1050" b="0" kern="0" dirty="0">
              <a:latin typeface="Calibri" panose="020F0502020204030204"/>
            </a:endParaRPr>
          </a:p>
        </p:txBody>
      </p:sp>
      <p:pic>
        <p:nvPicPr>
          <p:cNvPr id="21" name="Picture 35" descr="F:\_mesDoc\Downloads\Downloads\Icones\free_ecommerce_icons\glossy_ecommerce_icons\alert.png"/>
          <p:cNvPicPr>
            <a:picLocks noChangeAspect="1" noChangeArrowheads="1"/>
          </p:cNvPicPr>
          <p:nvPr/>
        </p:nvPicPr>
        <p:blipFill>
          <a:blip r:embed="rId4" cstate="print"/>
          <a:srcRect/>
          <a:stretch>
            <a:fillRect/>
          </a:stretch>
        </p:blipFill>
        <p:spPr bwMode="auto">
          <a:xfrm>
            <a:off x="295737" y="2734491"/>
            <a:ext cx="295707" cy="295707"/>
          </a:xfrm>
          <a:prstGeom prst="rect">
            <a:avLst/>
          </a:prstGeom>
          <a:noFill/>
        </p:spPr>
      </p:pic>
      <p:sp>
        <p:nvSpPr>
          <p:cNvPr id="3" name="Rectangle 2"/>
          <p:cNvSpPr/>
          <p:nvPr/>
        </p:nvSpPr>
        <p:spPr>
          <a:xfrm>
            <a:off x="8815387" y="2574131"/>
            <a:ext cx="161925" cy="69056"/>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fr-FR" sz="500" dirty="0" smtClean="0">
                <a:solidFill>
                  <a:srgbClr val="4D4F53"/>
                </a:solidFill>
              </a:rPr>
              <a:t>ZLO</a:t>
            </a:r>
            <a:endParaRPr lang="en-US" sz="500" dirty="0" err="1" smtClean="0">
              <a:solidFill>
                <a:srgbClr val="4D4F53"/>
              </a:solidFill>
            </a:endParaRPr>
          </a:p>
        </p:txBody>
      </p:sp>
    </p:spTree>
    <p:extLst>
      <p:ext uri="{BB962C8B-B14F-4D97-AF65-F5344CB8AC3E}">
        <p14:creationId xmlns:p14="http://schemas.microsoft.com/office/powerpoint/2010/main" val="21862588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23"/>
          <p:cNvPicPr>
            <a:picLocks noChangeAspect="1"/>
          </p:cNvPicPr>
          <p:nvPr/>
        </p:nvPicPr>
        <p:blipFill rotWithShape="1">
          <a:blip r:embed="rId2"/>
          <a:srcRect t="61868" r="31363" b="3679"/>
          <a:stretch/>
        </p:blipFill>
        <p:spPr>
          <a:xfrm>
            <a:off x="4361094" y="2097236"/>
            <a:ext cx="5362014" cy="1613985"/>
          </a:xfrm>
          <a:prstGeom prst="rect">
            <a:avLst/>
          </a:prstGeom>
        </p:spPr>
      </p:pic>
      <p:pic>
        <p:nvPicPr>
          <p:cNvPr id="14" name="Image 13"/>
          <p:cNvPicPr>
            <a:picLocks noChangeAspect="1"/>
          </p:cNvPicPr>
          <p:nvPr/>
        </p:nvPicPr>
        <p:blipFill>
          <a:blip r:embed="rId3"/>
          <a:stretch>
            <a:fillRect/>
          </a:stretch>
        </p:blipFill>
        <p:spPr>
          <a:xfrm>
            <a:off x="4359408" y="3898162"/>
            <a:ext cx="5358848" cy="1615580"/>
          </a:xfrm>
          <a:prstGeom prst="rect">
            <a:avLst/>
          </a:prstGeom>
        </p:spPr>
      </p:pic>
      <p:sp>
        <p:nvSpPr>
          <p:cNvPr id="2" name="Titre 1"/>
          <p:cNvSpPr>
            <a:spLocks noGrp="1"/>
          </p:cNvSpPr>
          <p:nvPr>
            <p:ph type="title"/>
          </p:nvPr>
        </p:nvSpPr>
        <p:spPr>
          <a:xfrm>
            <a:off x="495300" y="633600"/>
            <a:ext cx="8915400" cy="1308216"/>
          </a:xfrm>
        </p:spPr>
        <p:txBody>
          <a:bodyPr anchor="t">
            <a:no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une demande </a:t>
            </a:r>
            <a:r>
              <a:rPr lang="fr-FR" altLang="en-US" sz="1900" dirty="0" smtClean="0"/>
              <a:t>d’achat de service à un fournisseur local </a:t>
            </a:r>
            <a:r>
              <a:rPr lang="fr-FR" altLang="en-US" sz="1900" dirty="0"/>
              <a:t>(ZSRV) </a:t>
            </a:r>
            <a:br>
              <a:rPr lang="fr-FR" altLang="en-US" sz="1900" dirty="0"/>
            </a:br>
            <a:r>
              <a:rPr lang="fr-FR" altLang="en-US" sz="1900" b="1" dirty="0" smtClean="0"/>
              <a:t>Cas n°2: Le service n’est pas codifié </a:t>
            </a:r>
            <a:r>
              <a:rPr lang="fr-FR" altLang="en-US" sz="1900" dirty="0" smtClean="0"/>
              <a:t>(5/9)</a:t>
            </a:r>
            <a:endParaRPr lang="en-US" sz="1900" b="1" dirty="0"/>
          </a:p>
        </p:txBody>
      </p:sp>
      <p:sp>
        <p:nvSpPr>
          <p:cNvPr id="6" name="ZoneTexte 5"/>
          <p:cNvSpPr txBox="1"/>
          <p:nvPr/>
        </p:nvSpPr>
        <p:spPr>
          <a:xfrm>
            <a:off x="543020" y="2397623"/>
            <a:ext cx="6104475" cy="1692771"/>
          </a:xfrm>
          <a:prstGeom prst="rect">
            <a:avLst/>
          </a:prstGeom>
          <a:noFill/>
        </p:spPr>
        <p:txBody>
          <a:bodyPr wrap="square" rtlCol="0">
            <a:spAutoFit/>
          </a:bodyPr>
          <a:lstStyle/>
          <a:p>
            <a:r>
              <a:rPr lang="fr-FR" sz="1300" dirty="0">
                <a:solidFill>
                  <a:srgbClr val="4D4F53"/>
                </a:solidFill>
              </a:rPr>
              <a:t>Cliquer sur « Texte poste »</a:t>
            </a:r>
          </a:p>
          <a:p>
            <a:endParaRPr lang="fr-FR" sz="1300" dirty="0">
              <a:solidFill>
                <a:srgbClr val="4D4F53"/>
              </a:solidFill>
            </a:endParaRPr>
          </a:p>
          <a:p>
            <a:r>
              <a:rPr lang="fr-FR" sz="1300" dirty="0">
                <a:solidFill>
                  <a:srgbClr val="4D4F53"/>
                </a:solidFill>
              </a:rPr>
              <a:t>Renseigner les détails </a:t>
            </a:r>
            <a:r>
              <a:rPr lang="fr-FR" sz="1300" dirty="0" smtClean="0">
                <a:solidFill>
                  <a:srgbClr val="4D4F53"/>
                </a:solidFill>
              </a:rPr>
              <a:t>du service </a:t>
            </a:r>
            <a:r>
              <a:rPr lang="fr-FR" sz="1300" dirty="0">
                <a:solidFill>
                  <a:srgbClr val="4D4F53"/>
                </a:solidFill>
              </a:rPr>
              <a:t>à commander</a:t>
            </a:r>
          </a:p>
          <a:p>
            <a:r>
              <a:rPr lang="fr-FR" sz="1300" dirty="0">
                <a:solidFill>
                  <a:srgbClr val="4D4F53"/>
                </a:solidFill>
              </a:rPr>
              <a:t>dans la case blanche </a:t>
            </a:r>
          </a:p>
          <a:p>
            <a:endParaRPr lang="fr-FR" sz="1300" dirty="0">
              <a:solidFill>
                <a:srgbClr val="4D4F53"/>
              </a:solidFill>
            </a:endParaRPr>
          </a:p>
          <a:p>
            <a:r>
              <a:rPr lang="fr-FR" sz="1300" dirty="0">
                <a:solidFill>
                  <a:srgbClr val="4D4F53"/>
                </a:solidFill>
              </a:rPr>
              <a:t>Une fois le texte confirmé dans la case </a:t>
            </a:r>
          </a:p>
          <a:p>
            <a:r>
              <a:rPr lang="fr-FR" sz="1300" dirty="0">
                <a:solidFill>
                  <a:srgbClr val="4D4F53"/>
                </a:solidFill>
              </a:rPr>
              <a:t>« Texte poste », l’icône suivante apparaît</a:t>
            </a:r>
          </a:p>
          <a:p>
            <a:endParaRPr lang="fr-FR" sz="1300" dirty="0">
              <a:solidFill>
                <a:srgbClr val="4D4F53"/>
              </a:solidFill>
            </a:endParaRPr>
          </a:p>
        </p:txBody>
      </p:sp>
      <p:sp>
        <p:nvSpPr>
          <p:cNvPr id="8" name="Ellipse 7"/>
          <p:cNvSpPr/>
          <p:nvPr/>
        </p:nvSpPr>
        <p:spPr>
          <a:xfrm>
            <a:off x="373820" y="2464402"/>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9" name="Ellipse 8"/>
          <p:cNvSpPr/>
          <p:nvPr/>
        </p:nvSpPr>
        <p:spPr>
          <a:xfrm>
            <a:off x="373820" y="2851755"/>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10" name="Ellipse 9"/>
          <p:cNvSpPr/>
          <p:nvPr/>
        </p:nvSpPr>
        <p:spPr>
          <a:xfrm>
            <a:off x="373820" y="3457114"/>
            <a:ext cx="169200"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29" name="Rectangle 28"/>
          <p:cNvSpPr/>
          <p:nvPr/>
        </p:nvSpPr>
        <p:spPr>
          <a:xfrm>
            <a:off x="5834440" y="2633268"/>
            <a:ext cx="3833120" cy="9093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4" name="Ellipse 33"/>
          <p:cNvSpPr/>
          <p:nvPr/>
        </p:nvSpPr>
        <p:spPr>
          <a:xfrm>
            <a:off x="9549109" y="344604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
        <p:nvSpPr>
          <p:cNvPr id="41" name="Rectangle 40"/>
          <p:cNvSpPr/>
          <p:nvPr/>
        </p:nvSpPr>
        <p:spPr>
          <a:xfrm>
            <a:off x="4764293" y="2770605"/>
            <a:ext cx="766710" cy="1518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8" name="Ellipse 17"/>
          <p:cNvSpPr/>
          <p:nvPr/>
        </p:nvSpPr>
        <p:spPr>
          <a:xfrm>
            <a:off x="5404144" y="289509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pic>
        <p:nvPicPr>
          <p:cNvPr id="12" name="Image 11"/>
          <p:cNvPicPr>
            <a:picLocks noChangeAspect="1"/>
          </p:cNvPicPr>
          <p:nvPr/>
        </p:nvPicPr>
        <p:blipFill>
          <a:blip r:embed="rId4"/>
          <a:stretch>
            <a:fillRect/>
          </a:stretch>
        </p:blipFill>
        <p:spPr>
          <a:xfrm>
            <a:off x="3554119" y="3692068"/>
            <a:ext cx="216694" cy="196056"/>
          </a:xfrm>
          <a:prstGeom prst="rect">
            <a:avLst/>
          </a:prstGeom>
        </p:spPr>
      </p:pic>
      <p:sp>
        <p:nvSpPr>
          <p:cNvPr id="21" name="Rectangle 20"/>
          <p:cNvSpPr/>
          <p:nvPr/>
        </p:nvSpPr>
        <p:spPr>
          <a:xfrm>
            <a:off x="5571536" y="4567524"/>
            <a:ext cx="234000" cy="1518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2" name="Ellipse 21"/>
          <p:cNvSpPr/>
          <p:nvPr/>
        </p:nvSpPr>
        <p:spPr>
          <a:xfrm>
            <a:off x="5698496" y="464344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3</a:t>
            </a:r>
          </a:p>
        </p:txBody>
      </p:sp>
      <p:sp>
        <p:nvSpPr>
          <p:cNvPr id="16" name="ZoneTexte 15"/>
          <p:cNvSpPr txBox="1"/>
          <p:nvPr/>
        </p:nvSpPr>
        <p:spPr>
          <a:xfrm>
            <a:off x="408154" y="3975863"/>
            <a:ext cx="3487572" cy="360796"/>
          </a:xfrm>
          <a:prstGeom prst="rect">
            <a:avLst/>
          </a:prstGeom>
          <a:solidFill>
            <a:srgbClr val="ED7D31">
              <a:lumMod val="20000"/>
              <a:lumOff val="80000"/>
            </a:srgbClr>
          </a:solidFill>
          <a:ln w="19050" cap="flat" cmpd="sng" algn="ctr">
            <a:solidFill>
              <a:srgbClr val="ED7D31"/>
            </a:solidFill>
            <a:prstDash val="solid"/>
            <a:miter lim="800000"/>
          </a:ln>
          <a:effectLst/>
        </p:spPr>
        <p:txBody>
          <a:bodyPr rtlCol="0" anchor="ctr"/>
          <a:lstStyle>
            <a:defPPr>
              <a:defRPr lang="fr-FR"/>
            </a:defPPr>
            <a:lvl1pPr algn="ctr">
              <a:defRPr sz="1200" b="1">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indent="-171450" algn="just" defTabSz="990570">
              <a:buFont typeface="Arial" panose="020B0604020202020204" pitchFamily="34" charset="0"/>
              <a:buChar char="•"/>
              <a:defRPr/>
            </a:pPr>
            <a:r>
              <a:rPr lang="fr-FR" sz="1050" b="0" kern="0" dirty="0" smtClean="0">
                <a:latin typeface="Calibri" panose="020F0502020204030204"/>
              </a:rPr>
              <a:t>Le texte descriptif doit être renseigné pour chaque poste</a:t>
            </a:r>
            <a:endParaRPr lang="en-US" sz="1050" b="0" kern="0" dirty="0">
              <a:latin typeface="Calibri" panose="020F0502020204030204"/>
            </a:endParaRPr>
          </a:p>
        </p:txBody>
      </p:sp>
      <p:pic>
        <p:nvPicPr>
          <p:cNvPr id="17" name="Picture 35" descr="F:\_mesDoc\Downloads\Downloads\Icones\free_ecommerce_icons\glossy_ecommerce_icons\alert.png"/>
          <p:cNvPicPr>
            <a:picLocks noChangeAspect="1" noChangeArrowheads="1"/>
          </p:cNvPicPr>
          <p:nvPr/>
        </p:nvPicPr>
        <p:blipFill>
          <a:blip r:embed="rId5" cstate="print"/>
          <a:srcRect/>
          <a:stretch>
            <a:fillRect/>
          </a:stretch>
        </p:blipFill>
        <p:spPr bwMode="auto">
          <a:xfrm>
            <a:off x="347446" y="4003861"/>
            <a:ext cx="309469" cy="295707"/>
          </a:xfrm>
          <a:prstGeom prst="rect">
            <a:avLst/>
          </a:prstGeom>
          <a:noFill/>
        </p:spPr>
      </p:pic>
      <p:sp>
        <p:nvSpPr>
          <p:cNvPr id="5" name="Rectangle 4"/>
          <p:cNvSpPr/>
          <p:nvPr/>
        </p:nvSpPr>
        <p:spPr>
          <a:xfrm>
            <a:off x="5865970" y="2675308"/>
            <a:ext cx="2836594" cy="261830"/>
          </a:xfrm>
          <a:prstGeom prst="rect">
            <a:avLst/>
          </a:prstGeom>
          <a:solidFill>
            <a:srgbClr val="FFFFFF"/>
          </a:solidFill>
          <a:ln w="9525" cap="flat" cmpd="sng" algn="ctr">
            <a:noFill/>
            <a:prstDash val="solid"/>
          </a:ln>
          <a:effectLst/>
          <a:extLst>
            <a:ext uri="{91240B29-F687-4F45-9708-019B960494DF}">
              <a14:hiddenLine xmlns:a14="http://schemas.microsoft.com/office/drawing/2010/main" w="9525" cap="flat" cmpd="sng" algn="ctr">
                <a:solidFill>
                  <a:srgbClr val="4D4F53"/>
                </a:solidFill>
                <a:prstDash val="solid"/>
              </a14:hiddenLine>
            </a:ext>
          </a:ex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3" name="Rectangle 12"/>
          <p:cNvSpPr/>
          <p:nvPr/>
        </p:nvSpPr>
        <p:spPr>
          <a:xfrm>
            <a:off x="5605763" y="2781408"/>
            <a:ext cx="196205" cy="102886"/>
          </a:xfrm>
          <a:prstGeom prst="rect">
            <a:avLst/>
          </a:prstGeom>
          <a:solidFill>
            <a:srgbClr val="FCDD8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6156174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4790173" y="3880814"/>
            <a:ext cx="3970446" cy="1797006"/>
          </a:xfrm>
          <a:prstGeom prst="rect">
            <a:avLst/>
          </a:prstGeom>
        </p:spPr>
      </p:pic>
      <p:pic>
        <p:nvPicPr>
          <p:cNvPr id="5" name="Image 4"/>
          <p:cNvPicPr>
            <a:picLocks noChangeAspect="1"/>
          </p:cNvPicPr>
          <p:nvPr/>
        </p:nvPicPr>
        <p:blipFill>
          <a:blip r:embed="rId3"/>
          <a:stretch>
            <a:fillRect/>
          </a:stretch>
        </p:blipFill>
        <p:spPr>
          <a:xfrm>
            <a:off x="4790173" y="1776600"/>
            <a:ext cx="3970446" cy="1785357"/>
          </a:xfrm>
          <a:prstGeom prst="rect">
            <a:avLst/>
          </a:prstGeom>
        </p:spPr>
      </p:pic>
      <p:sp>
        <p:nvSpPr>
          <p:cNvPr id="2" name="Titre 1"/>
          <p:cNvSpPr>
            <a:spLocks noGrp="1"/>
          </p:cNvSpPr>
          <p:nvPr>
            <p:ph type="title"/>
          </p:nvPr>
        </p:nvSpPr>
        <p:spPr>
          <a:xfrm>
            <a:off x="495300" y="633600"/>
            <a:ext cx="8915400" cy="1143000"/>
          </a:xfrm>
        </p:spPr>
        <p:txBody>
          <a:bodyPr anchor="t">
            <a:no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a:t>
            </a:r>
            <a:r>
              <a:rPr lang="fr-FR" altLang="en-US" sz="2000" dirty="0" smtClean="0"/>
              <a:t> </a:t>
            </a:r>
            <a:r>
              <a:rPr lang="fr-FR" altLang="en-US" sz="2000" dirty="0"/>
              <a:t>(ZSRV) </a:t>
            </a:r>
            <a:r>
              <a:rPr lang="fr-FR" altLang="en-US" sz="1900" dirty="0" smtClean="0"/>
              <a:t/>
            </a:r>
            <a:br>
              <a:rPr lang="fr-FR" altLang="en-US" sz="1900" dirty="0" smtClean="0"/>
            </a:br>
            <a:r>
              <a:rPr lang="fr-FR" altLang="en-US" sz="1900" b="1" dirty="0" smtClean="0"/>
              <a:t>Cas n°2: Le service n’est pas codifié </a:t>
            </a:r>
            <a:r>
              <a:rPr lang="fr-FR" altLang="en-US" sz="1900" dirty="0" smtClean="0"/>
              <a:t>(6/9)</a:t>
            </a:r>
            <a:endParaRPr lang="en-US" sz="1900" b="1" dirty="0"/>
          </a:p>
        </p:txBody>
      </p:sp>
      <p:grpSp>
        <p:nvGrpSpPr>
          <p:cNvPr id="24" name="Groupe 23"/>
          <p:cNvGrpSpPr/>
          <p:nvPr/>
        </p:nvGrpSpPr>
        <p:grpSpPr>
          <a:xfrm>
            <a:off x="572668" y="1868594"/>
            <a:ext cx="4145276" cy="3609899"/>
            <a:chOff x="424889" y="1232489"/>
            <a:chExt cx="4106131" cy="3226309"/>
          </a:xfrm>
        </p:grpSpPr>
        <p:sp>
          <p:nvSpPr>
            <p:cNvPr id="25" name="ZoneTexte 24"/>
            <p:cNvSpPr txBox="1"/>
            <p:nvPr/>
          </p:nvSpPr>
          <p:spPr>
            <a:xfrm>
              <a:off x="581025" y="1232489"/>
              <a:ext cx="3949995" cy="3226309"/>
            </a:xfrm>
            <a:prstGeom prst="rect">
              <a:avLst/>
            </a:prstGeom>
            <a:noFill/>
          </p:spPr>
          <p:txBody>
            <a:bodyPr wrap="square" rtlCol="0">
              <a:spAutoFit/>
            </a:bodyPr>
            <a:lstStyle/>
            <a:p>
              <a:r>
                <a:rPr lang="fr-FR" sz="1300" dirty="0">
                  <a:solidFill>
                    <a:srgbClr val="4D4F53"/>
                  </a:solidFill>
                </a:rPr>
                <a:t>2 types d’imputations : </a:t>
              </a:r>
            </a:p>
            <a:p>
              <a:endParaRPr lang="fr-FR" sz="758" dirty="0">
                <a:solidFill>
                  <a:srgbClr val="4D4F53"/>
                </a:solidFill>
              </a:endParaRPr>
            </a:p>
            <a:p>
              <a:r>
                <a:rPr lang="fr-FR" sz="1300" dirty="0">
                  <a:solidFill>
                    <a:srgbClr val="4D4F53"/>
                  </a:solidFill>
                </a:rPr>
                <a:t>K (Centre)</a:t>
              </a:r>
            </a:p>
            <a:p>
              <a:endParaRPr lang="fr-FR" sz="1300" dirty="0">
                <a:solidFill>
                  <a:srgbClr val="4D4F53"/>
                </a:solidFill>
              </a:endParaRPr>
            </a:p>
            <a:p>
              <a:r>
                <a:rPr lang="fr-FR" sz="1300" dirty="0">
                  <a:solidFill>
                    <a:srgbClr val="4D4F53"/>
                  </a:solidFill>
                </a:rPr>
                <a:t>P(Projet)</a:t>
              </a:r>
            </a:p>
            <a:p>
              <a:endParaRPr lang="fr-FR" sz="1300" dirty="0">
                <a:solidFill>
                  <a:srgbClr val="4D4F53"/>
                </a:solidFill>
              </a:endParaRPr>
            </a:p>
            <a:p>
              <a:r>
                <a:rPr lang="fr-FR" sz="1300" dirty="0">
                  <a:solidFill>
                    <a:srgbClr val="4D4F53"/>
                  </a:solidFill>
                </a:rPr>
                <a:t>Vous pouvez modifier l’imputation à deux endroits différent : </a:t>
              </a:r>
            </a:p>
            <a:p>
              <a:endParaRPr lang="fr-FR" sz="1300" dirty="0">
                <a:solidFill>
                  <a:srgbClr val="4D4F53"/>
                </a:solidFill>
              </a:endParaRPr>
            </a:p>
            <a:p>
              <a:pPr marL="185732" indent="-185732">
                <a:buFontTx/>
                <a:buChar char="-"/>
              </a:pPr>
              <a:r>
                <a:rPr lang="fr-FR" sz="1300" dirty="0">
                  <a:solidFill>
                    <a:srgbClr val="4D4F53"/>
                  </a:solidFill>
                </a:rPr>
                <a:t>Dans la synthèse des postes dans le « type Imputation »</a:t>
              </a:r>
            </a:p>
            <a:p>
              <a:pPr marL="185732" indent="-185732">
                <a:buFontTx/>
                <a:buChar char="-"/>
              </a:pPr>
              <a:endParaRPr lang="fr-FR" sz="1300" dirty="0">
                <a:solidFill>
                  <a:srgbClr val="4D4F53"/>
                </a:solidFill>
              </a:endParaRPr>
            </a:p>
            <a:p>
              <a:pPr marL="185732" indent="-185732">
                <a:buFontTx/>
                <a:buChar char="-"/>
              </a:pPr>
              <a:endParaRPr lang="fr-FR" sz="1300" dirty="0">
                <a:solidFill>
                  <a:srgbClr val="4D4F53"/>
                </a:solidFill>
              </a:endParaRPr>
            </a:p>
            <a:p>
              <a:pPr marL="185732" indent="-185732">
                <a:buFontTx/>
                <a:buChar char="-"/>
              </a:pPr>
              <a:endParaRPr lang="fr-FR" sz="1300" dirty="0">
                <a:solidFill>
                  <a:srgbClr val="4D4F53"/>
                </a:solidFill>
              </a:endParaRPr>
            </a:p>
            <a:p>
              <a:pPr marL="185732" indent="-185732">
                <a:buFontTx/>
                <a:buChar char="-"/>
              </a:pPr>
              <a:endParaRPr lang="fr-FR" sz="1300" dirty="0">
                <a:solidFill>
                  <a:srgbClr val="4D4F53"/>
                </a:solidFill>
              </a:endParaRPr>
            </a:p>
            <a:p>
              <a:pPr marL="185732" indent="-185732">
                <a:buFontTx/>
                <a:buChar char="-"/>
              </a:pPr>
              <a:r>
                <a:rPr lang="fr-FR" sz="1300" dirty="0">
                  <a:solidFill>
                    <a:srgbClr val="4D4F53"/>
                  </a:solidFill>
                </a:rPr>
                <a:t>Dans le détail du poste</a:t>
              </a:r>
            </a:p>
            <a:p>
              <a:endParaRPr lang="fr-FR" sz="1300" dirty="0">
                <a:solidFill>
                  <a:srgbClr val="4D4F53"/>
                </a:solidFill>
              </a:endParaRPr>
            </a:p>
            <a:p>
              <a:endParaRPr lang="fr-FR" sz="1300" dirty="0">
                <a:solidFill>
                  <a:srgbClr val="4D4F53"/>
                </a:solidFill>
              </a:endParaRPr>
            </a:p>
          </p:txBody>
        </p:sp>
        <p:sp>
          <p:nvSpPr>
            <p:cNvPr id="26" name="Ellipse 25"/>
            <p:cNvSpPr/>
            <p:nvPr/>
          </p:nvSpPr>
          <p:spPr>
            <a:xfrm>
              <a:off x="424889" y="15602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35" name="Rectangle 34"/>
          <p:cNvSpPr/>
          <p:nvPr/>
        </p:nvSpPr>
        <p:spPr>
          <a:xfrm>
            <a:off x="6017081" y="2199064"/>
            <a:ext cx="628194"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6" name="Rectangle 35"/>
          <p:cNvSpPr/>
          <p:nvPr/>
        </p:nvSpPr>
        <p:spPr>
          <a:xfrm>
            <a:off x="6017080" y="4331638"/>
            <a:ext cx="762338" cy="14317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8" name="Ellipse 37"/>
          <p:cNvSpPr/>
          <p:nvPr/>
        </p:nvSpPr>
        <p:spPr>
          <a:xfrm>
            <a:off x="5890458" y="202476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45" name="Ellipse 44"/>
          <p:cNvSpPr/>
          <p:nvPr/>
        </p:nvSpPr>
        <p:spPr>
          <a:xfrm>
            <a:off x="5890458" y="413883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pic>
        <p:nvPicPr>
          <p:cNvPr id="7" name="Image 6"/>
          <p:cNvPicPr>
            <a:picLocks noChangeAspect="1"/>
          </p:cNvPicPr>
          <p:nvPr/>
        </p:nvPicPr>
        <p:blipFill>
          <a:blip r:embed="rId4"/>
          <a:stretch>
            <a:fillRect/>
          </a:stretch>
        </p:blipFill>
        <p:spPr>
          <a:xfrm>
            <a:off x="730293" y="4238958"/>
            <a:ext cx="1609949" cy="392168"/>
          </a:xfrm>
          <a:prstGeom prst="rect">
            <a:avLst/>
          </a:prstGeom>
        </p:spPr>
      </p:pic>
      <p:cxnSp>
        <p:nvCxnSpPr>
          <p:cNvPr id="9" name="Connecteur droit avec flèche 8"/>
          <p:cNvCxnSpPr/>
          <p:nvPr/>
        </p:nvCxnSpPr>
        <p:spPr>
          <a:xfrm>
            <a:off x="2879456" y="4933061"/>
            <a:ext cx="1729353" cy="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4" name="Ellipse 13"/>
          <p:cNvSpPr/>
          <p:nvPr/>
        </p:nvSpPr>
        <p:spPr>
          <a:xfrm>
            <a:off x="572667" y="2640157"/>
            <a:ext cx="157625"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p>
        </p:txBody>
      </p:sp>
    </p:spTree>
    <p:extLst>
      <p:ext uri="{BB962C8B-B14F-4D97-AF65-F5344CB8AC3E}">
        <p14:creationId xmlns:p14="http://schemas.microsoft.com/office/powerpoint/2010/main" val="7222723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br>
              <a:rPr lang="fr-FR" altLang="en-US" sz="23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 </a:t>
            </a:r>
            <a:r>
              <a:rPr lang="fr-FR" altLang="en-US" sz="1900" dirty="0" smtClean="0"/>
              <a:t/>
            </a:r>
            <a:br>
              <a:rPr lang="fr-FR" altLang="en-US" sz="1900" dirty="0" smtClean="0"/>
            </a:br>
            <a:r>
              <a:rPr lang="fr-FR" altLang="en-US" sz="1900" b="1" dirty="0"/>
              <a:t>Cas </a:t>
            </a:r>
            <a:r>
              <a:rPr lang="fr-FR" altLang="en-US" sz="1900" b="1" dirty="0" smtClean="0"/>
              <a:t>n°2.1 : Le service </a:t>
            </a:r>
            <a:r>
              <a:rPr lang="fr-FR" altLang="en-US" sz="1900" b="1" dirty="0"/>
              <a:t>n’est pas </a:t>
            </a:r>
            <a:r>
              <a:rPr lang="fr-FR" altLang="en-US" sz="1900" b="1" dirty="0" smtClean="0"/>
              <a:t>codifié et </a:t>
            </a:r>
            <a:r>
              <a:rPr lang="fr-FR" altLang="en-US" sz="1900" b="1" u="sng" dirty="0" smtClean="0"/>
              <a:t>imputé sur centre de coûts </a:t>
            </a:r>
            <a:r>
              <a:rPr lang="fr-FR" altLang="en-US" sz="1900" dirty="0" smtClean="0"/>
              <a:t>(7a/9)</a:t>
            </a:r>
            <a:endParaRPr lang="en-US" sz="1900" b="1" dirty="0"/>
          </a:p>
        </p:txBody>
      </p:sp>
      <p:grpSp>
        <p:nvGrpSpPr>
          <p:cNvPr id="24" name="Groupe 23"/>
          <p:cNvGrpSpPr/>
          <p:nvPr/>
        </p:nvGrpSpPr>
        <p:grpSpPr>
          <a:xfrm>
            <a:off x="586292" y="2267808"/>
            <a:ext cx="4447656" cy="892552"/>
            <a:chOff x="425491" y="1232489"/>
            <a:chExt cx="4105529" cy="823894"/>
          </a:xfrm>
        </p:grpSpPr>
        <p:sp>
          <p:nvSpPr>
            <p:cNvPr id="25" name="ZoneTexte 24"/>
            <p:cNvSpPr txBox="1"/>
            <p:nvPr/>
          </p:nvSpPr>
          <p:spPr>
            <a:xfrm>
              <a:off x="581025" y="1232489"/>
              <a:ext cx="3949995" cy="823894"/>
            </a:xfrm>
            <a:prstGeom prst="rect">
              <a:avLst/>
            </a:prstGeom>
            <a:noFill/>
          </p:spPr>
          <p:txBody>
            <a:bodyPr wrap="square" rtlCol="0">
              <a:spAutoFit/>
            </a:bodyPr>
            <a:lstStyle/>
            <a:p>
              <a:r>
                <a:rPr lang="fr-FR" sz="1300" dirty="0">
                  <a:solidFill>
                    <a:srgbClr val="4D4F53"/>
                  </a:solidFill>
                </a:rPr>
                <a:t>Imputation sur centre de cout - K (Centre)</a:t>
              </a:r>
            </a:p>
            <a:p>
              <a:endParaRPr lang="fr-FR" sz="1300" dirty="0">
                <a:solidFill>
                  <a:srgbClr val="4D4F53"/>
                </a:solidFill>
              </a:endParaRPr>
            </a:p>
            <a:p>
              <a:r>
                <a:rPr lang="fr-FR" sz="1300" dirty="0">
                  <a:solidFill>
                    <a:srgbClr val="4D4F53"/>
                  </a:solidFill>
                </a:rPr>
                <a:t>Saisir un centre de coût</a:t>
              </a:r>
            </a:p>
            <a:p>
              <a:endParaRPr lang="fr-FR" sz="1300" dirty="0">
                <a:solidFill>
                  <a:srgbClr val="4D4F53"/>
                </a:solidFill>
              </a:endParaRPr>
            </a:p>
          </p:txBody>
        </p:sp>
        <p:sp>
          <p:nvSpPr>
            <p:cNvPr id="26" name="Ellipse 2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18" name="Ellipse 17"/>
          <p:cNvSpPr/>
          <p:nvPr/>
        </p:nvSpPr>
        <p:spPr>
          <a:xfrm>
            <a:off x="586301" y="274751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pic>
        <p:nvPicPr>
          <p:cNvPr id="27" name="Image 26"/>
          <p:cNvPicPr>
            <a:picLocks noChangeAspect="1"/>
          </p:cNvPicPr>
          <p:nvPr/>
        </p:nvPicPr>
        <p:blipFill rotWithShape="1">
          <a:blip r:embed="rId2"/>
          <a:srcRect r="9469"/>
          <a:stretch/>
        </p:blipFill>
        <p:spPr>
          <a:xfrm>
            <a:off x="4300062" y="1795198"/>
            <a:ext cx="4846478" cy="3645958"/>
          </a:xfrm>
          <a:prstGeom prst="rect">
            <a:avLst/>
          </a:prstGeom>
        </p:spPr>
      </p:pic>
      <p:sp>
        <p:nvSpPr>
          <p:cNvPr id="28" name="Rectangle 27"/>
          <p:cNvSpPr/>
          <p:nvPr/>
        </p:nvSpPr>
        <p:spPr>
          <a:xfrm>
            <a:off x="5086751" y="2556776"/>
            <a:ext cx="248043"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9" name="Ellipse 28"/>
          <p:cNvSpPr/>
          <p:nvPr/>
        </p:nvSpPr>
        <p:spPr>
          <a:xfrm>
            <a:off x="5610983" y="438083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30" name="Rectangle 29"/>
          <p:cNvSpPr/>
          <p:nvPr/>
        </p:nvSpPr>
        <p:spPr>
          <a:xfrm>
            <a:off x="5695557" y="4548295"/>
            <a:ext cx="712387"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1" name="Ellipse 30"/>
          <p:cNvSpPr/>
          <p:nvPr/>
        </p:nvSpPr>
        <p:spPr>
          <a:xfrm>
            <a:off x="5830481" y="507367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32" name="Rectangle 31"/>
          <p:cNvSpPr/>
          <p:nvPr/>
        </p:nvSpPr>
        <p:spPr>
          <a:xfrm>
            <a:off x="5334794" y="5241133"/>
            <a:ext cx="495687"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33" name="Image 32"/>
          <p:cNvPicPr>
            <a:picLocks noChangeAspect="1"/>
          </p:cNvPicPr>
          <p:nvPr/>
        </p:nvPicPr>
        <p:blipFill>
          <a:blip r:embed="rId3"/>
          <a:stretch>
            <a:fillRect/>
          </a:stretch>
        </p:blipFill>
        <p:spPr>
          <a:xfrm>
            <a:off x="6104344" y="2567546"/>
            <a:ext cx="1067187" cy="118013"/>
          </a:xfrm>
          <a:prstGeom prst="rect">
            <a:avLst/>
          </a:prstGeom>
        </p:spPr>
      </p:pic>
      <p:pic>
        <p:nvPicPr>
          <p:cNvPr id="34" name="Image 33"/>
          <p:cNvPicPr>
            <a:picLocks noChangeAspect="1"/>
          </p:cNvPicPr>
          <p:nvPr/>
        </p:nvPicPr>
        <p:blipFill>
          <a:blip r:embed="rId3"/>
          <a:stretch>
            <a:fillRect/>
          </a:stretch>
        </p:blipFill>
        <p:spPr>
          <a:xfrm>
            <a:off x="5909589" y="4072855"/>
            <a:ext cx="1067187" cy="118013"/>
          </a:xfrm>
          <a:prstGeom prst="rect">
            <a:avLst/>
          </a:prstGeom>
        </p:spPr>
      </p:pic>
    </p:spTree>
    <p:extLst>
      <p:ext uri="{BB962C8B-B14F-4D97-AF65-F5344CB8AC3E}">
        <p14:creationId xmlns:p14="http://schemas.microsoft.com/office/powerpoint/2010/main" val="7840281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r>
              <a:rPr lang="fr-FR" altLang="en-US" sz="2600" dirty="0"/>
              <a:t/>
            </a:r>
            <a:br>
              <a:rPr lang="fr-FR" altLang="en-US" sz="26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 </a:t>
            </a:r>
            <a:r>
              <a:rPr lang="fr-FR" altLang="en-US" sz="1900" dirty="0" smtClean="0"/>
              <a:t/>
            </a:r>
            <a:br>
              <a:rPr lang="fr-FR" altLang="en-US" sz="1900" dirty="0" smtClean="0"/>
            </a:br>
            <a:r>
              <a:rPr lang="fr-FR" altLang="en-US" sz="1900" b="1" dirty="0"/>
              <a:t>Cas </a:t>
            </a:r>
            <a:r>
              <a:rPr lang="fr-FR" altLang="en-US" sz="1900" b="1" dirty="0" smtClean="0"/>
              <a:t>n°2.2 : Le service </a:t>
            </a:r>
            <a:r>
              <a:rPr lang="fr-FR" altLang="en-US" sz="1900" b="1" dirty="0"/>
              <a:t>n’est pas </a:t>
            </a:r>
            <a:r>
              <a:rPr lang="fr-FR" altLang="en-US" sz="1900" b="1" dirty="0" smtClean="0"/>
              <a:t>codifié et </a:t>
            </a:r>
            <a:r>
              <a:rPr lang="fr-FR" altLang="en-US" sz="1900" b="1" u="sng" dirty="0" smtClean="0"/>
              <a:t>imputé sur projet </a:t>
            </a:r>
            <a:r>
              <a:rPr lang="fr-FR" altLang="en-US" sz="1900" dirty="0" smtClean="0"/>
              <a:t>(7b/9)</a:t>
            </a:r>
            <a:endParaRPr lang="en-US" sz="1900" b="1" dirty="0"/>
          </a:p>
        </p:txBody>
      </p:sp>
      <p:grpSp>
        <p:nvGrpSpPr>
          <p:cNvPr id="21" name="Groupe 20"/>
          <p:cNvGrpSpPr/>
          <p:nvPr/>
        </p:nvGrpSpPr>
        <p:grpSpPr>
          <a:xfrm>
            <a:off x="586292" y="2267808"/>
            <a:ext cx="4447656" cy="892552"/>
            <a:chOff x="425491" y="1232489"/>
            <a:chExt cx="4105529" cy="823894"/>
          </a:xfrm>
        </p:grpSpPr>
        <p:sp>
          <p:nvSpPr>
            <p:cNvPr id="27" name="ZoneTexte 26"/>
            <p:cNvSpPr txBox="1"/>
            <p:nvPr/>
          </p:nvSpPr>
          <p:spPr>
            <a:xfrm>
              <a:off x="581025" y="1232489"/>
              <a:ext cx="3949995" cy="823894"/>
            </a:xfrm>
            <a:prstGeom prst="rect">
              <a:avLst/>
            </a:prstGeom>
            <a:noFill/>
          </p:spPr>
          <p:txBody>
            <a:bodyPr wrap="square" rtlCol="0">
              <a:spAutoFit/>
            </a:bodyPr>
            <a:lstStyle/>
            <a:p>
              <a:r>
                <a:rPr lang="fr-FR" sz="1300" dirty="0">
                  <a:solidFill>
                    <a:srgbClr val="4D4F53"/>
                  </a:solidFill>
                </a:rPr>
                <a:t>Imputation sur Projet - </a:t>
              </a:r>
              <a:r>
                <a:rPr lang="fr-FR" sz="1300" dirty="0">
                  <a:solidFill>
                    <a:srgbClr val="4D4F53"/>
                  </a:solidFill>
                </a:rPr>
                <a:t>P</a:t>
              </a:r>
              <a:r>
                <a:rPr lang="fr-FR" sz="1300" dirty="0">
                  <a:solidFill>
                    <a:srgbClr val="4D4F53"/>
                  </a:solidFill>
                </a:rPr>
                <a:t> (Projet)</a:t>
              </a:r>
            </a:p>
            <a:p>
              <a:endParaRPr lang="fr-FR" sz="1300" dirty="0">
                <a:solidFill>
                  <a:srgbClr val="4D4F53"/>
                </a:solidFill>
              </a:endParaRPr>
            </a:p>
            <a:p>
              <a:r>
                <a:rPr lang="fr-FR" sz="1300" dirty="0">
                  <a:solidFill>
                    <a:srgbClr val="4D4F53"/>
                  </a:solidFill>
                </a:rPr>
                <a:t>Ajouter l’élément d’OTP qui correspond au </a:t>
              </a:r>
              <a:endParaRPr lang="fr-FR" sz="1300" dirty="0">
                <a:solidFill>
                  <a:srgbClr val="4D4F53"/>
                </a:solidFill>
              </a:endParaRPr>
            </a:p>
            <a:p>
              <a:r>
                <a:rPr lang="fr-FR" sz="1300" dirty="0">
                  <a:solidFill>
                    <a:srgbClr val="4D4F53"/>
                  </a:solidFill>
                </a:rPr>
                <a:t>numéro </a:t>
              </a:r>
              <a:r>
                <a:rPr lang="fr-FR" sz="1300" dirty="0">
                  <a:solidFill>
                    <a:srgbClr val="4D4F53"/>
                  </a:solidFill>
                </a:rPr>
                <a:t>de projet</a:t>
              </a:r>
            </a:p>
          </p:txBody>
        </p:sp>
        <p:sp>
          <p:nvSpPr>
            <p:cNvPr id="28" name="Ellipse 2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29" name="Ellipse 28"/>
          <p:cNvSpPr/>
          <p:nvPr/>
        </p:nvSpPr>
        <p:spPr>
          <a:xfrm>
            <a:off x="586301" y="274751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pic>
        <p:nvPicPr>
          <p:cNvPr id="18" name="Image 17"/>
          <p:cNvPicPr>
            <a:picLocks noChangeAspect="1"/>
          </p:cNvPicPr>
          <p:nvPr/>
        </p:nvPicPr>
        <p:blipFill rotWithShape="1">
          <a:blip r:embed="rId2"/>
          <a:srcRect r="8717"/>
          <a:stretch/>
        </p:blipFill>
        <p:spPr>
          <a:xfrm>
            <a:off x="3858649" y="1795197"/>
            <a:ext cx="5221851" cy="3718190"/>
          </a:xfrm>
          <a:prstGeom prst="rect">
            <a:avLst/>
          </a:prstGeom>
        </p:spPr>
      </p:pic>
      <p:sp>
        <p:nvSpPr>
          <p:cNvPr id="23" name="Rectangle 22"/>
          <p:cNvSpPr/>
          <p:nvPr/>
        </p:nvSpPr>
        <p:spPr>
          <a:xfrm>
            <a:off x="4652117" y="2875352"/>
            <a:ext cx="248043"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4" name="Ellipse 23"/>
          <p:cNvSpPr/>
          <p:nvPr/>
        </p:nvSpPr>
        <p:spPr>
          <a:xfrm>
            <a:off x="5814769" y="445901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25" name="Rectangle 24"/>
          <p:cNvSpPr/>
          <p:nvPr/>
        </p:nvSpPr>
        <p:spPr>
          <a:xfrm>
            <a:off x="5219166" y="4626466"/>
            <a:ext cx="712387"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26" name="Rectangle 25"/>
          <p:cNvSpPr/>
          <p:nvPr/>
        </p:nvSpPr>
        <p:spPr>
          <a:xfrm>
            <a:off x="4876491" y="5224344"/>
            <a:ext cx="1226613" cy="1395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30" name="Ellipse 29"/>
          <p:cNvSpPr/>
          <p:nvPr/>
        </p:nvSpPr>
        <p:spPr>
          <a:xfrm>
            <a:off x="5979869" y="4624110"/>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pic>
        <p:nvPicPr>
          <p:cNvPr id="31" name="Image 30"/>
          <p:cNvPicPr>
            <a:picLocks noChangeAspect="1"/>
          </p:cNvPicPr>
          <p:nvPr/>
        </p:nvPicPr>
        <p:blipFill>
          <a:blip r:embed="rId3"/>
          <a:stretch>
            <a:fillRect/>
          </a:stretch>
        </p:blipFill>
        <p:spPr>
          <a:xfrm>
            <a:off x="5651735" y="2903773"/>
            <a:ext cx="1067187" cy="93561"/>
          </a:xfrm>
          <a:prstGeom prst="rect">
            <a:avLst/>
          </a:prstGeom>
        </p:spPr>
      </p:pic>
      <p:pic>
        <p:nvPicPr>
          <p:cNvPr id="32" name="Image 31"/>
          <p:cNvPicPr>
            <a:picLocks noChangeAspect="1"/>
          </p:cNvPicPr>
          <p:nvPr/>
        </p:nvPicPr>
        <p:blipFill>
          <a:blip r:embed="rId3"/>
          <a:stretch>
            <a:fillRect/>
          </a:stretch>
        </p:blipFill>
        <p:spPr>
          <a:xfrm>
            <a:off x="5097506" y="4218386"/>
            <a:ext cx="1067187" cy="90234"/>
          </a:xfrm>
          <a:prstGeom prst="rect">
            <a:avLst/>
          </a:prstGeom>
        </p:spPr>
      </p:pic>
    </p:spTree>
    <p:extLst>
      <p:ext uri="{BB962C8B-B14F-4D97-AF65-F5344CB8AC3E}">
        <p14:creationId xmlns:p14="http://schemas.microsoft.com/office/powerpoint/2010/main" val="15084109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4319070" y="1897236"/>
            <a:ext cx="5091630" cy="2459007"/>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br>
              <a:rPr lang="fr-FR" altLang="en-US" sz="23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a:t>
            </a:r>
            <a:r>
              <a:rPr lang="fr-FR" altLang="en-US" sz="1900" dirty="0" smtClean="0"/>
              <a:t/>
            </a:r>
            <a:br>
              <a:rPr lang="fr-FR" altLang="en-US" sz="1900" dirty="0" smtClean="0"/>
            </a:br>
            <a:r>
              <a:rPr lang="fr-FR" altLang="en-US" sz="1900" b="1" dirty="0" smtClean="0"/>
              <a:t>Cas </a:t>
            </a:r>
            <a:r>
              <a:rPr lang="fr-FR" altLang="en-US" sz="1900" b="1" dirty="0" smtClean="0"/>
              <a:t>n°2 : Le service </a:t>
            </a:r>
            <a:r>
              <a:rPr lang="fr-FR" altLang="en-US" sz="1900" b="1" dirty="0" smtClean="0"/>
              <a:t>n’est pas </a:t>
            </a:r>
            <a:r>
              <a:rPr lang="fr-FR" altLang="en-US" sz="1900" b="1" dirty="0" smtClean="0"/>
              <a:t>codifié </a:t>
            </a:r>
            <a:r>
              <a:rPr lang="fr-FR" altLang="en-US" sz="1900" dirty="0" smtClean="0"/>
              <a:t>(8/9)</a:t>
            </a:r>
            <a:endParaRPr lang="en-US" sz="1900" b="1" dirty="0"/>
          </a:p>
        </p:txBody>
      </p:sp>
      <p:grpSp>
        <p:nvGrpSpPr>
          <p:cNvPr id="24" name="Groupe 23"/>
          <p:cNvGrpSpPr/>
          <p:nvPr/>
        </p:nvGrpSpPr>
        <p:grpSpPr>
          <a:xfrm>
            <a:off x="568962" y="1983517"/>
            <a:ext cx="3750108" cy="892552"/>
            <a:chOff x="425491" y="1232489"/>
            <a:chExt cx="4105529" cy="823894"/>
          </a:xfrm>
        </p:grpSpPr>
        <p:sp>
          <p:nvSpPr>
            <p:cNvPr id="25" name="ZoneTexte 24"/>
            <p:cNvSpPr txBox="1"/>
            <p:nvPr/>
          </p:nvSpPr>
          <p:spPr>
            <a:xfrm>
              <a:off x="581025" y="1232489"/>
              <a:ext cx="3949995" cy="823894"/>
            </a:xfrm>
            <a:prstGeom prst="rect">
              <a:avLst/>
            </a:prstGeom>
            <a:noFill/>
          </p:spPr>
          <p:txBody>
            <a:bodyPr wrap="square" rtlCol="0">
              <a:spAutoFit/>
            </a:bodyPr>
            <a:lstStyle/>
            <a:p>
              <a:r>
                <a:rPr lang="fr-FR" sz="1300" dirty="0">
                  <a:solidFill>
                    <a:srgbClr val="4D4F53"/>
                  </a:solidFill>
                </a:rPr>
                <a:t>Aller dans l’onglet valorisation</a:t>
              </a:r>
            </a:p>
            <a:p>
              <a:endParaRPr lang="fr-FR" sz="1300" dirty="0">
                <a:solidFill>
                  <a:srgbClr val="4D4F53"/>
                </a:solidFill>
              </a:endParaRPr>
            </a:p>
            <a:p>
              <a:r>
                <a:rPr lang="fr-FR" sz="1300" dirty="0">
                  <a:solidFill>
                    <a:srgbClr val="4D4F53"/>
                  </a:solidFill>
                </a:rPr>
                <a:t>Préciser le prix estimé </a:t>
              </a:r>
            </a:p>
            <a:p>
              <a:endParaRPr lang="fr-FR" sz="1300" dirty="0">
                <a:solidFill>
                  <a:srgbClr val="4D4F53"/>
                </a:solidFill>
              </a:endParaRPr>
            </a:p>
          </p:txBody>
        </p:sp>
        <p:sp>
          <p:nvSpPr>
            <p:cNvPr id="26" name="Ellipse 2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36" name="Rectangle 35"/>
          <p:cNvSpPr/>
          <p:nvPr/>
        </p:nvSpPr>
        <p:spPr>
          <a:xfrm>
            <a:off x="6391369" y="2316548"/>
            <a:ext cx="701052" cy="15531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45" name="Ellipse 44"/>
          <p:cNvSpPr/>
          <p:nvPr/>
        </p:nvSpPr>
        <p:spPr>
          <a:xfrm>
            <a:off x="5107095" y="2542613"/>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14" name="Rectangle 13"/>
          <p:cNvSpPr/>
          <p:nvPr/>
        </p:nvSpPr>
        <p:spPr>
          <a:xfrm>
            <a:off x="5242663" y="2710068"/>
            <a:ext cx="843651" cy="21904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5" name="Ellipse 14"/>
          <p:cNvSpPr/>
          <p:nvPr/>
        </p:nvSpPr>
        <p:spPr>
          <a:xfrm>
            <a:off x="555424" y="2433639"/>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pic>
        <p:nvPicPr>
          <p:cNvPr id="12" name="Image 11"/>
          <p:cNvPicPr>
            <a:picLocks noChangeAspect="1"/>
          </p:cNvPicPr>
          <p:nvPr/>
        </p:nvPicPr>
        <p:blipFill>
          <a:blip r:embed="rId3"/>
          <a:stretch>
            <a:fillRect/>
          </a:stretch>
        </p:blipFill>
        <p:spPr>
          <a:xfrm>
            <a:off x="5489618" y="2114532"/>
            <a:ext cx="1111802" cy="143290"/>
          </a:xfrm>
          <a:prstGeom prst="rect">
            <a:avLst/>
          </a:prstGeom>
        </p:spPr>
      </p:pic>
      <p:sp>
        <p:nvSpPr>
          <p:cNvPr id="38" name="Ellipse 37"/>
          <p:cNvSpPr/>
          <p:nvPr/>
        </p:nvSpPr>
        <p:spPr>
          <a:xfrm>
            <a:off x="6313674" y="213834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Tree>
    <p:extLst>
      <p:ext uri="{BB962C8B-B14F-4D97-AF65-F5344CB8AC3E}">
        <p14:creationId xmlns:p14="http://schemas.microsoft.com/office/powerpoint/2010/main" val="26618623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2916430" y="1897242"/>
            <a:ext cx="3186759" cy="3737674"/>
          </a:xfrm>
          <a:prstGeom prst="rect">
            <a:avLst/>
          </a:prstGeom>
        </p:spPr>
      </p:pic>
      <p:sp>
        <p:nvSpPr>
          <p:cNvPr id="2" name="Titre 1"/>
          <p:cNvSpPr>
            <a:spLocks noGrp="1"/>
          </p:cNvSpPr>
          <p:nvPr>
            <p:ph type="title"/>
          </p:nvPr>
        </p:nvSpPr>
        <p:spPr>
          <a:xfrm>
            <a:off x="495300" y="633600"/>
            <a:ext cx="8915400" cy="1143000"/>
          </a:xfrm>
        </p:spPr>
        <p:txBody>
          <a:bodyPr anchor="t">
            <a:normAutofit/>
          </a:bodyPr>
          <a:lstStyle/>
          <a:p>
            <a:r>
              <a:rPr lang="fr-FR" altLang="en-US" sz="2300" dirty="0"/>
              <a:t>Mode opératoire</a:t>
            </a:r>
            <a:br>
              <a:rPr lang="fr-FR" altLang="en-US" sz="2300" dirty="0"/>
            </a:br>
            <a:r>
              <a:rPr lang="fr-FR" altLang="en-US" sz="1900" dirty="0" smtClean="0"/>
              <a:t>ME51N </a:t>
            </a:r>
            <a:r>
              <a:rPr lang="fr-FR" altLang="en-US" sz="1900" dirty="0"/>
              <a:t>- Créer </a:t>
            </a:r>
            <a:r>
              <a:rPr lang="fr-FR" altLang="en-US" sz="1900" dirty="0" smtClean="0"/>
              <a:t>une demande </a:t>
            </a:r>
            <a:r>
              <a:rPr lang="fr-FR" altLang="en-US" sz="1900" dirty="0" smtClean="0"/>
              <a:t>d’achat de service à un fournisseur local (ZSRV) </a:t>
            </a:r>
            <a:r>
              <a:rPr lang="fr-FR" altLang="en-US" sz="1900" dirty="0" smtClean="0"/>
              <a:t/>
            </a:r>
            <a:br>
              <a:rPr lang="fr-FR" altLang="en-US" sz="1900" dirty="0" smtClean="0"/>
            </a:br>
            <a:r>
              <a:rPr lang="fr-FR" altLang="en-US" sz="1900" b="1" dirty="0" smtClean="0"/>
              <a:t>Cas </a:t>
            </a:r>
            <a:r>
              <a:rPr lang="fr-FR" altLang="en-US" sz="1900" b="1" dirty="0" smtClean="0"/>
              <a:t>n°2 : Le service </a:t>
            </a:r>
            <a:r>
              <a:rPr lang="fr-FR" altLang="en-US" sz="1900" b="1" dirty="0" smtClean="0"/>
              <a:t>n’est pas </a:t>
            </a:r>
            <a:r>
              <a:rPr lang="fr-FR" altLang="en-US" sz="1900" b="1" dirty="0" smtClean="0"/>
              <a:t>codifié </a:t>
            </a:r>
            <a:r>
              <a:rPr lang="fr-FR" altLang="en-US" sz="1900" dirty="0" smtClean="0"/>
              <a:t>(9/9)</a:t>
            </a:r>
            <a:endParaRPr lang="en-US" sz="1900" b="1" dirty="0"/>
          </a:p>
        </p:txBody>
      </p:sp>
      <p:grpSp>
        <p:nvGrpSpPr>
          <p:cNvPr id="24" name="Groupe 23"/>
          <p:cNvGrpSpPr/>
          <p:nvPr/>
        </p:nvGrpSpPr>
        <p:grpSpPr>
          <a:xfrm>
            <a:off x="568962" y="1983516"/>
            <a:ext cx="2569022" cy="1292662"/>
            <a:chOff x="425489" y="1232489"/>
            <a:chExt cx="4105531" cy="1193226"/>
          </a:xfrm>
        </p:grpSpPr>
        <p:sp>
          <p:nvSpPr>
            <p:cNvPr id="25" name="ZoneTexte 24"/>
            <p:cNvSpPr txBox="1"/>
            <p:nvPr/>
          </p:nvSpPr>
          <p:spPr>
            <a:xfrm>
              <a:off x="581023" y="1232489"/>
              <a:ext cx="3949997" cy="1193226"/>
            </a:xfrm>
            <a:prstGeom prst="rect">
              <a:avLst/>
            </a:prstGeom>
            <a:noFill/>
          </p:spPr>
          <p:txBody>
            <a:bodyPr wrap="square" rtlCol="0">
              <a:spAutoFit/>
            </a:bodyPr>
            <a:lstStyle/>
            <a:p>
              <a:r>
                <a:rPr lang="fr-FR" sz="1300" dirty="0">
                  <a:solidFill>
                    <a:srgbClr val="4D4F53"/>
                  </a:solidFill>
                </a:rPr>
                <a:t>Contrôler la D.A en cliquant sur l’icone       </a:t>
              </a:r>
            </a:p>
            <a:p>
              <a:endParaRPr lang="fr-FR" sz="1300" dirty="0">
                <a:solidFill>
                  <a:srgbClr val="4D4F53"/>
                </a:solidFill>
              </a:endParaRPr>
            </a:p>
            <a:p>
              <a:r>
                <a:rPr lang="fr-FR" sz="1300" dirty="0">
                  <a:solidFill>
                    <a:srgbClr val="4D4F53"/>
                  </a:solidFill>
                </a:rPr>
                <a:t>Clique sur la disquette pour sauvegarder</a:t>
              </a:r>
            </a:p>
            <a:p>
              <a:endParaRPr lang="fr-FR" sz="1300" dirty="0">
                <a:solidFill>
                  <a:srgbClr val="4D4F53"/>
                </a:solidFill>
              </a:endParaRPr>
            </a:p>
          </p:txBody>
        </p:sp>
        <p:sp>
          <p:nvSpPr>
            <p:cNvPr id="26" name="Ellipse 25"/>
            <p:cNvSpPr/>
            <p:nvPr/>
          </p:nvSpPr>
          <p:spPr>
            <a:xfrm>
              <a:off x="425489" y="1287110"/>
              <a:ext cx="248677"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grpSp>
      <p:sp>
        <p:nvSpPr>
          <p:cNvPr id="38" name="Ellipse 37"/>
          <p:cNvSpPr/>
          <p:nvPr/>
        </p:nvSpPr>
        <p:spPr>
          <a:xfrm>
            <a:off x="4065350" y="1899788"/>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1</a:t>
            </a:r>
          </a:p>
        </p:txBody>
      </p:sp>
      <p:sp>
        <p:nvSpPr>
          <p:cNvPr id="45" name="Ellipse 44"/>
          <p:cNvSpPr/>
          <p:nvPr/>
        </p:nvSpPr>
        <p:spPr>
          <a:xfrm>
            <a:off x="7644513" y="1751487"/>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14" name="Rectangle 13"/>
          <p:cNvSpPr/>
          <p:nvPr/>
        </p:nvSpPr>
        <p:spPr>
          <a:xfrm>
            <a:off x="4206625" y="2070228"/>
            <a:ext cx="132994" cy="13991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sp>
        <p:nvSpPr>
          <p:cNvPr id="15" name="Ellipse 14"/>
          <p:cNvSpPr/>
          <p:nvPr/>
        </p:nvSpPr>
        <p:spPr>
          <a:xfrm>
            <a:off x="555424" y="2633135"/>
            <a:ext cx="169147" cy="16745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fr-FR" sz="975" b="1" dirty="0">
                <a:solidFill>
                  <a:schemeClr val="bg1"/>
                </a:solidFill>
              </a:rPr>
              <a:t>2</a:t>
            </a:r>
            <a:endParaRPr lang="fr-FR" sz="975" b="1" dirty="0">
              <a:solidFill>
                <a:schemeClr val="bg1"/>
              </a:solidFill>
            </a:endParaRPr>
          </a:p>
        </p:txBody>
      </p:sp>
      <p:sp>
        <p:nvSpPr>
          <p:cNvPr id="6" name="Flèche droite 5"/>
          <p:cNvSpPr/>
          <p:nvPr/>
        </p:nvSpPr>
        <p:spPr>
          <a:xfrm>
            <a:off x="5903787" y="3105679"/>
            <a:ext cx="619735" cy="460904"/>
          </a:xfrm>
          <a:prstGeom prst="rightArrow">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fr-FR" sz="1300" dirty="0" err="1">
              <a:solidFill>
                <a:srgbClr val="4D4F53"/>
              </a:solidFill>
            </a:endParaRPr>
          </a:p>
        </p:txBody>
      </p:sp>
      <p:pic>
        <p:nvPicPr>
          <p:cNvPr id="8" name="Image 7"/>
          <p:cNvPicPr>
            <a:picLocks noChangeAspect="1"/>
          </p:cNvPicPr>
          <p:nvPr/>
        </p:nvPicPr>
        <p:blipFill>
          <a:blip r:embed="rId3"/>
          <a:stretch>
            <a:fillRect/>
          </a:stretch>
        </p:blipFill>
        <p:spPr>
          <a:xfrm>
            <a:off x="1259494" y="2237454"/>
            <a:ext cx="184685" cy="219863"/>
          </a:xfrm>
          <a:prstGeom prst="rect">
            <a:avLst/>
          </a:prstGeom>
        </p:spPr>
      </p:pic>
      <p:pic>
        <p:nvPicPr>
          <p:cNvPr id="9" name="Image 8"/>
          <p:cNvPicPr>
            <a:picLocks noChangeAspect="1"/>
          </p:cNvPicPr>
          <p:nvPr/>
        </p:nvPicPr>
        <p:blipFill>
          <a:blip r:embed="rId2"/>
          <a:stretch>
            <a:fillRect/>
          </a:stretch>
        </p:blipFill>
        <p:spPr>
          <a:xfrm>
            <a:off x="6529931" y="2126416"/>
            <a:ext cx="3119659" cy="3658974"/>
          </a:xfrm>
          <a:prstGeom prst="rect">
            <a:avLst/>
          </a:prstGeom>
        </p:spPr>
      </p:pic>
      <p:pic>
        <p:nvPicPr>
          <p:cNvPr id="10" name="Image 9"/>
          <p:cNvPicPr>
            <a:picLocks noChangeAspect="1"/>
          </p:cNvPicPr>
          <p:nvPr/>
        </p:nvPicPr>
        <p:blipFill>
          <a:blip r:embed="rId4"/>
          <a:stretch>
            <a:fillRect/>
          </a:stretch>
        </p:blipFill>
        <p:spPr>
          <a:xfrm>
            <a:off x="6523522" y="1910780"/>
            <a:ext cx="3126068" cy="222383"/>
          </a:xfrm>
          <a:prstGeom prst="rect">
            <a:avLst/>
          </a:prstGeom>
        </p:spPr>
      </p:pic>
      <p:sp>
        <p:nvSpPr>
          <p:cNvPr id="36" name="Rectangle 35"/>
          <p:cNvSpPr/>
          <p:nvPr/>
        </p:nvSpPr>
        <p:spPr>
          <a:xfrm>
            <a:off x="7827408" y="1916772"/>
            <a:ext cx="155777" cy="15531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300" dirty="0" err="1">
              <a:solidFill>
                <a:srgbClr val="4D4F53"/>
              </a:solidFill>
            </a:endParaRPr>
          </a:p>
        </p:txBody>
      </p:sp>
      <p:pic>
        <p:nvPicPr>
          <p:cNvPr id="11" name="Image 10"/>
          <p:cNvPicPr>
            <a:picLocks noChangeAspect="1"/>
          </p:cNvPicPr>
          <p:nvPr/>
        </p:nvPicPr>
        <p:blipFill>
          <a:blip r:embed="rId5"/>
          <a:stretch>
            <a:fillRect/>
          </a:stretch>
        </p:blipFill>
        <p:spPr>
          <a:xfrm>
            <a:off x="6625774" y="3270443"/>
            <a:ext cx="3023816" cy="227044"/>
          </a:xfrm>
          <a:prstGeom prst="rect">
            <a:avLst/>
          </a:prstGeom>
        </p:spPr>
      </p:pic>
    </p:spTree>
    <p:extLst>
      <p:ext uri="{BB962C8B-B14F-4D97-AF65-F5344CB8AC3E}">
        <p14:creationId xmlns:p14="http://schemas.microsoft.com/office/powerpoint/2010/main" val="21964735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a:xfrm>
            <a:off x="495300" y="633600"/>
            <a:ext cx="8915400" cy="1143000"/>
          </a:xfrm>
        </p:spPr>
        <p:txBody>
          <a:bodyPr anchor="t">
            <a:normAutofit/>
          </a:bodyPr>
          <a:lstStyle/>
          <a:p>
            <a:r>
              <a:rPr lang="fr-FR" altLang="en-US" sz="2600" dirty="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6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95300" y="1795199"/>
            <a:ext cx="8915400" cy="1646644"/>
          </a:xfrm>
        </p:spPr>
        <p:txBody>
          <a:bodyPr/>
          <a:lstStyle/>
          <a:p>
            <a:pPr marL="185732" indent="-185732">
              <a:buClr>
                <a:srgbClr val="0070C0"/>
              </a:buClr>
              <a:buSzPct val="100000"/>
              <a:buFont typeface="Arial" panose="020B0604020202020204" pitchFamily="34" charset="0"/>
              <a:buChar char="•"/>
            </a:pPr>
            <a:r>
              <a:rPr lang="fr-FR" altLang="en-US" sz="1517" dirty="0">
                <a:latin typeface="Arial" panose="020B0604020202020204" pitchFamily="34" charset="0"/>
                <a:ea typeface="ＭＳ Ｐゴシック" panose="020B0600070205080204" pitchFamily="34" charset="-128"/>
                <a:cs typeface="Arial" panose="020B0604020202020204" pitchFamily="34" charset="0"/>
              </a:rPr>
              <a:t>Une </a:t>
            </a:r>
            <a:r>
              <a:rPr lang="fr-FR" altLang="en-US" sz="1517" b="1" dirty="0">
                <a:latin typeface="Arial" panose="020B0604020202020204" pitchFamily="34" charset="0"/>
                <a:ea typeface="ＭＳ Ｐゴシック" panose="020B0600070205080204" pitchFamily="34" charset="-128"/>
                <a:cs typeface="Arial" panose="020B0604020202020204" pitchFamily="34" charset="0"/>
              </a:rPr>
              <a:t>demande d’achat </a:t>
            </a:r>
            <a:r>
              <a:rPr lang="fr-FR" altLang="en-US" sz="1517" b="1" dirty="0" smtClean="0">
                <a:latin typeface="Arial" panose="020B0604020202020204" pitchFamily="34" charset="0"/>
                <a:ea typeface="ＭＳ Ｐゴシック" panose="020B0600070205080204" pitchFamily="34" charset="-128"/>
                <a:cs typeface="Arial" panose="020B0604020202020204" pitchFamily="34" charset="0"/>
              </a:rPr>
              <a:t>de services </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à un fournisseur </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local </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est de type </a:t>
            </a:r>
            <a:r>
              <a:rPr lang="fr-FR" altLang="en-US" sz="1517" b="1" dirty="0" smtClean="0">
                <a:solidFill>
                  <a:srgbClr val="00B050"/>
                </a:solidFill>
                <a:latin typeface="Arial" panose="020B0604020202020204" pitchFamily="34" charset="0"/>
                <a:ea typeface="ＭＳ Ｐゴシック" panose="020B0600070205080204" pitchFamily="34" charset="-128"/>
                <a:cs typeface="Arial" panose="020B0604020202020204" pitchFamily="34" charset="0"/>
              </a:rPr>
              <a:t>ZSRV</a:t>
            </a:r>
            <a:endParaRPr lang="fr-FR" altLang="en-US" b="1" dirty="0">
              <a:solidFill>
                <a:srgbClr val="00B050"/>
              </a:solidFill>
              <a:latin typeface="Arial" panose="020B0604020202020204" pitchFamily="34" charset="0"/>
              <a:ea typeface="ＭＳ Ｐゴシック" panose="020B0600070205080204" pitchFamily="34" charset="-128"/>
              <a:cs typeface="Arial" panose="020B0604020202020204" pitchFamily="34" charset="0"/>
            </a:endParaRPr>
          </a:p>
          <a:p>
            <a:pPr marL="185732" indent="-185732">
              <a:buClr>
                <a:srgbClr val="0070C0"/>
              </a:buClr>
              <a:buSzPct val="100000"/>
              <a:buFont typeface="Arial" panose="020B0604020202020204" pitchFamily="34" charset="0"/>
              <a:buChar char="•"/>
            </a:pP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Pour une demande d’achat à un </a:t>
            </a:r>
            <a:r>
              <a:rPr lang="fr-FR" altLang="en-US" sz="1517" b="1" dirty="0" smtClean="0">
                <a:latin typeface="Arial" panose="020B0604020202020204" pitchFamily="34" charset="0"/>
                <a:ea typeface="ＭＳ Ｐゴシック" panose="020B0600070205080204" pitchFamily="34" charset="-128"/>
                <a:cs typeface="Arial" panose="020B0604020202020204" pitchFamily="34" charset="0"/>
              </a:rPr>
              <a:t>fournisseur </a:t>
            </a:r>
            <a:r>
              <a:rPr lang="fr-FR" altLang="en-US" sz="1517" b="1" dirty="0" smtClean="0">
                <a:latin typeface="Arial" panose="020B0604020202020204" pitchFamily="34" charset="0"/>
                <a:ea typeface="ＭＳ Ｐゴシック" panose="020B0600070205080204" pitchFamily="34" charset="-128"/>
                <a:cs typeface="Arial" panose="020B0604020202020204" pitchFamily="34" charset="0"/>
              </a:rPr>
              <a:t>local</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 </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le groupe acheteurs (</a:t>
            </a:r>
            <a:r>
              <a:rPr lang="fr-FR" altLang="en-US" sz="1517" dirty="0" err="1" smtClean="0">
                <a:latin typeface="Arial" panose="020B0604020202020204" pitchFamily="34" charset="0"/>
                <a:ea typeface="ＭＳ Ｐゴシック" panose="020B0600070205080204" pitchFamily="34" charset="-128"/>
                <a:cs typeface="Arial" panose="020B0604020202020204" pitchFamily="34" charset="0"/>
              </a:rPr>
              <a:t>GAc</a:t>
            </a:r>
            <a:r>
              <a:rPr lang="fr-FR" altLang="en-US" sz="1517" dirty="0" smtClean="0">
                <a:latin typeface="Arial" panose="020B0604020202020204" pitchFamily="34" charset="0"/>
                <a:ea typeface="ＭＳ Ｐゴシック" panose="020B0600070205080204" pitchFamily="34" charset="-128"/>
                <a:cs typeface="Arial" panose="020B0604020202020204" pitchFamily="34" charset="0"/>
              </a:rPr>
              <a:t>) à utiliser est </a:t>
            </a:r>
            <a:r>
              <a:rPr lang="fr-FR" altLang="en-US" sz="1517" b="1" dirty="0" smtClean="0">
                <a:solidFill>
                  <a:srgbClr val="00B050"/>
                </a:solidFill>
                <a:latin typeface="Arial" panose="020B0604020202020204" pitchFamily="34" charset="0"/>
                <a:ea typeface="ＭＳ Ｐゴシック" panose="020B0600070205080204" pitchFamily="34" charset="-128"/>
                <a:cs typeface="Arial" panose="020B0604020202020204" pitchFamily="34" charset="0"/>
              </a:rPr>
              <a:t>ZLO</a:t>
            </a:r>
            <a:endParaRPr lang="fr-FR" altLang="en-US" sz="1517" dirty="0">
              <a:latin typeface="Arial" panose="020B0604020202020204" pitchFamily="34" charset="0"/>
              <a:ea typeface="ＭＳ Ｐゴシック" panose="020B0600070205080204" pitchFamily="34" charset="-128"/>
              <a:cs typeface="Arial" panose="020B0604020202020204" pitchFamily="34" charset="0"/>
            </a:endParaRPr>
          </a:p>
          <a:p>
            <a:pPr marL="185732" indent="-185732">
              <a:buClr>
                <a:srgbClr val="0070C0"/>
              </a:buClr>
              <a:buSzPct val="100000"/>
            </a:pPr>
            <a:endParaRPr lang="fr-FR" altLang="en-US" sz="1517" dirty="0">
              <a:latin typeface="Arial" panose="020B0604020202020204" pitchFamily="34" charset="0"/>
              <a:ea typeface="ＭＳ Ｐゴシック" panose="020B0600070205080204" pitchFamily="34" charset="-128"/>
              <a:cs typeface="Arial" panose="020B0604020202020204" pitchFamily="34" charset="0"/>
            </a:endParaRPr>
          </a:p>
        </p:txBody>
      </p:sp>
      <p:grpSp>
        <p:nvGrpSpPr>
          <p:cNvPr id="6" name="Groupe 5"/>
          <p:cNvGrpSpPr/>
          <p:nvPr/>
        </p:nvGrpSpPr>
        <p:grpSpPr>
          <a:xfrm>
            <a:off x="368736" y="3674365"/>
            <a:ext cx="9167052" cy="457200"/>
            <a:chOff x="307092" y="3645710"/>
            <a:chExt cx="9167052" cy="457200"/>
          </a:xfrm>
        </p:grpSpPr>
        <p:sp>
          <p:nvSpPr>
            <p:cNvPr id="8" name="Rectangle 7"/>
            <p:cNvSpPr/>
            <p:nvPr/>
          </p:nvSpPr>
          <p:spPr>
            <a:xfrm>
              <a:off x="556944" y="3711413"/>
              <a:ext cx="8917200" cy="369332"/>
            </a:xfrm>
            <a:prstGeom prst="rect">
              <a:avLst/>
            </a:prstGeom>
          </p:spPr>
          <p:txBody>
            <a:bodyPr wrap="square">
              <a:spAutoFit/>
            </a:bodyPr>
            <a:lstStyle/>
            <a:p>
              <a:pPr marL="185732" lvl="0" indent="-185732" defTabSz="422082">
                <a:spcBef>
                  <a:spcPts val="1108"/>
                </a:spcBef>
                <a:spcAft>
                  <a:spcPts val="277"/>
                </a:spcAft>
                <a:buClr>
                  <a:srgbClr val="0070C0"/>
                </a:buClr>
                <a:buSzPct val="100000"/>
                <a:buFont typeface="Arial" panose="020B0604020202020204" pitchFamily="34" charset="0"/>
                <a:buChar char="•"/>
              </a:pPr>
              <a:r>
                <a:rPr lang="fr-FR" altLang="en-US" sz="16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Les demandes d’achat mal créées risquent de ne pas être honorées</a:t>
              </a:r>
              <a:endParaRPr lang="en-US" sz="2800" dirty="0"/>
            </a:p>
          </p:txBody>
        </p:sp>
        <p:pic>
          <p:nvPicPr>
            <p:cNvPr id="12" name="Picture 64" descr="F:\Back Clé\A trier\Ressources\Icones\Office\customicondesign-office3-png\png\Process-Warning48.png"/>
            <p:cNvPicPr>
              <a:picLocks noChangeAspect="1" noChangeArrowheads="1"/>
            </p:cNvPicPr>
            <p:nvPr/>
          </p:nvPicPr>
          <p:blipFill>
            <a:blip r:embed="rId2" cstate="print"/>
            <a:srcRect/>
            <a:stretch>
              <a:fillRect/>
            </a:stretch>
          </p:blipFill>
          <p:spPr bwMode="auto">
            <a:xfrm>
              <a:off x="307092" y="3645710"/>
              <a:ext cx="457200" cy="457200"/>
            </a:xfrm>
            <a:prstGeom prst="rect">
              <a:avLst/>
            </a:prstGeom>
            <a:noFill/>
          </p:spPr>
        </p:pic>
      </p:grpSp>
      <p:grpSp>
        <p:nvGrpSpPr>
          <p:cNvPr id="4" name="Groupe 3"/>
          <p:cNvGrpSpPr/>
          <p:nvPr/>
        </p:nvGrpSpPr>
        <p:grpSpPr>
          <a:xfrm>
            <a:off x="368736" y="2988232"/>
            <a:ext cx="9167052" cy="457200"/>
            <a:chOff x="307092" y="2959577"/>
            <a:chExt cx="9167052" cy="457200"/>
          </a:xfrm>
        </p:grpSpPr>
        <p:sp>
          <p:nvSpPr>
            <p:cNvPr id="3" name="Rectangle 2"/>
            <p:cNvSpPr/>
            <p:nvPr/>
          </p:nvSpPr>
          <p:spPr>
            <a:xfrm>
              <a:off x="556944" y="3025280"/>
              <a:ext cx="8917200" cy="369332"/>
            </a:xfrm>
            <a:prstGeom prst="rect">
              <a:avLst/>
            </a:prstGeom>
          </p:spPr>
          <p:txBody>
            <a:bodyPr wrap="square">
              <a:spAutoFit/>
            </a:bodyPr>
            <a:lstStyle/>
            <a:p>
              <a:pPr marL="185732" lvl="0" indent="-185732" defTabSz="422082">
                <a:spcBef>
                  <a:spcPts val="1108"/>
                </a:spcBef>
                <a:spcAft>
                  <a:spcPts val="277"/>
                </a:spcAft>
                <a:buClr>
                  <a:srgbClr val="0070C0"/>
                </a:buClr>
                <a:buSzPct val="100000"/>
                <a:buFont typeface="Arial" panose="020B0604020202020204" pitchFamily="34" charset="0"/>
                <a:buChar char="•"/>
              </a:pPr>
              <a:r>
                <a:rPr lang="fr-FR" altLang="en-US" sz="16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Le processus d’achats est plus rapide si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le service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est codifié </a:t>
              </a:r>
              <a:endParaRPr lang="en-US" sz="2800" dirty="0"/>
            </a:p>
          </p:txBody>
        </p:sp>
        <p:pic>
          <p:nvPicPr>
            <p:cNvPr id="14" name="Picture 62" descr="F:\Back Clé\A trier\Ressources\Icones\Office\customicondesign-office3-png\png\Process-Accept48.png"/>
            <p:cNvPicPr>
              <a:picLocks noChangeAspect="1" noChangeArrowheads="1"/>
            </p:cNvPicPr>
            <p:nvPr/>
          </p:nvPicPr>
          <p:blipFill>
            <a:blip r:embed="rId3" cstate="print"/>
            <a:srcRect/>
            <a:stretch>
              <a:fillRect/>
            </a:stretch>
          </p:blipFill>
          <p:spPr bwMode="auto">
            <a:xfrm>
              <a:off x="307092" y="2959577"/>
              <a:ext cx="457200" cy="457200"/>
            </a:xfrm>
            <a:prstGeom prst="rect">
              <a:avLst/>
            </a:prstGeom>
            <a:noFill/>
          </p:spPr>
        </p:pic>
      </p:grpSp>
      <p:grpSp>
        <p:nvGrpSpPr>
          <p:cNvPr id="15" name="Groupe 14"/>
          <p:cNvGrpSpPr/>
          <p:nvPr/>
        </p:nvGrpSpPr>
        <p:grpSpPr>
          <a:xfrm>
            <a:off x="368736" y="4360578"/>
            <a:ext cx="9167052" cy="856929"/>
            <a:chOff x="307092" y="4331923"/>
            <a:chExt cx="9167052" cy="856929"/>
          </a:xfrm>
        </p:grpSpPr>
        <p:sp>
          <p:nvSpPr>
            <p:cNvPr id="10" name="Rectangle 9"/>
            <p:cNvSpPr/>
            <p:nvPr/>
          </p:nvSpPr>
          <p:spPr>
            <a:xfrm>
              <a:off x="556944" y="4362985"/>
              <a:ext cx="8917200" cy="825867"/>
            </a:xfrm>
            <a:prstGeom prst="rect">
              <a:avLst/>
            </a:prstGeom>
          </p:spPr>
          <p:txBody>
            <a:bodyPr wrap="square">
              <a:spAutoFit/>
            </a:bodyPr>
            <a:lstStyle/>
            <a:p>
              <a:pPr marL="185732" lvl="0" indent="-185732" defTabSz="422082">
                <a:spcBef>
                  <a:spcPts val="1108"/>
                </a:spcBef>
                <a:spcAft>
                  <a:spcPts val="277"/>
                </a:spcAft>
                <a:buClr>
                  <a:srgbClr val="0070C0"/>
                </a:buClr>
                <a:buSzPct val="100000"/>
                <a:buFont typeface="Arial" panose="020B0604020202020204" pitchFamily="34" charset="0"/>
                <a:buChar char="•"/>
              </a:pPr>
              <a:r>
                <a:rPr lang="fr-FR" altLang="en-US" sz="16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Plus les données de la DA sont précises, plus le processus est rapide</a:t>
              </a:r>
            </a:p>
            <a:p>
              <a:pPr marL="722165" lvl="1" indent="-185732" defTabSz="422082">
                <a:spcBef>
                  <a:spcPts val="1108"/>
                </a:spcBef>
                <a:spcAft>
                  <a:spcPts val="277"/>
                </a:spcAft>
                <a:buClr>
                  <a:srgbClr val="0070C0"/>
                </a:buClr>
                <a:buSzPct val="100000"/>
                <a:buFont typeface="Arial" panose="020B0604020202020204" pitchFamily="34" charset="0"/>
                <a:buChar char="•"/>
              </a:pPr>
              <a:r>
                <a:rPr lang="fr-FR"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 5 minutes </a:t>
              </a:r>
              <a:r>
                <a:rPr lang="fr-FR" sz="1800" dirty="0">
                  <a:solidFill>
                    <a:srgbClr val="4D4F53"/>
                  </a:solidFill>
                  <a:latin typeface="Arial" panose="020B0604020202020204" pitchFamily="34" charset="0"/>
                  <a:ea typeface="ＭＳ Ｐゴシック" panose="020B0600070205080204" pitchFamily="34" charset="-128"/>
                  <a:cs typeface="Arial" panose="020B0604020202020204" pitchFamily="34" charset="0"/>
                </a:rPr>
                <a:t>d’effort en plus, </a:t>
              </a:r>
              <a:r>
                <a:rPr lang="fr-FR" sz="1800" dirty="0" smtClean="0">
                  <a:solidFill>
                    <a:srgbClr val="4D4F53"/>
                  </a:solidFill>
                  <a:latin typeface="Arial" panose="020B0604020202020204" pitchFamily="34" charset="0"/>
                  <a:ea typeface="ＭＳ Ｐゴシック" panose="020B0600070205080204" pitchFamily="34" charset="-128"/>
                  <a:cs typeface="Arial" panose="020B0604020202020204" pitchFamily="34" charset="0"/>
                </a:rPr>
                <a:t>5 jours de gagnés »</a:t>
              </a:r>
              <a:endParaRPr lang="en-US" sz="1800" dirty="0"/>
            </a:p>
          </p:txBody>
        </p:sp>
        <p:pic>
          <p:nvPicPr>
            <p:cNvPr id="13" name="Picture 63" descr="F:\Back Clé\A trier\Ressources\Icones\Office\customicondesign-office3-png\png\Process-Info48.png"/>
            <p:cNvPicPr>
              <a:picLocks noChangeAspect="1" noChangeArrowheads="1"/>
            </p:cNvPicPr>
            <p:nvPr/>
          </p:nvPicPr>
          <p:blipFill>
            <a:blip r:embed="rId4" cstate="print"/>
            <a:srcRect/>
            <a:stretch>
              <a:fillRect/>
            </a:stretch>
          </p:blipFill>
          <p:spPr bwMode="auto">
            <a:xfrm>
              <a:off x="307092" y="4331923"/>
              <a:ext cx="457200" cy="457200"/>
            </a:xfrm>
            <a:prstGeom prst="rect">
              <a:avLst/>
            </a:prstGeom>
            <a:noFill/>
          </p:spPr>
        </p:pic>
      </p:grpSp>
      <p:pic>
        <p:nvPicPr>
          <p:cNvPr id="18" name="Picture 89" descr="F:\Back Clé\A trier\Ressources\Icones\Office\customicondesign-office3-png\png\wheel48.png"/>
          <p:cNvPicPr>
            <a:picLocks noChangeAspect="1" noChangeArrowheads="1"/>
          </p:cNvPicPr>
          <p:nvPr/>
        </p:nvPicPr>
        <p:blipFill>
          <a:blip r:embed="rId5" cstate="print"/>
          <a:srcRect/>
          <a:stretch>
            <a:fillRect/>
          </a:stretch>
        </p:blipFill>
        <p:spPr bwMode="auto">
          <a:xfrm>
            <a:off x="306388" y="1764377"/>
            <a:ext cx="293054" cy="293054"/>
          </a:xfrm>
          <a:prstGeom prst="rect">
            <a:avLst/>
          </a:prstGeom>
          <a:noFill/>
        </p:spPr>
      </p:pic>
      <p:pic>
        <p:nvPicPr>
          <p:cNvPr id="20" name="Picture 89" descr="F:\Back Clé\A trier\Ressources\Icones\Office\customicondesign-office3-png\png\wheel48.png"/>
          <p:cNvPicPr>
            <a:picLocks noChangeAspect="1" noChangeArrowheads="1"/>
          </p:cNvPicPr>
          <p:nvPr/>
        </p:nvPicPr>
        <p:blipFill>
          <a:blip r:embed="rId5" cstate="print"/>
          <a:srcRect/>
          <a:stretch>
            <a:fillRect/>
          </a:stretch>
        </p:blipFill>
        <p:spPr bwMode="auto">
          <a:xfrm>
            <a:off x="306388" y="2185617"/>
            <a:ext cx="293054" cy="293054"/>
          </a:xfrm>
          <a:prstGeom prst="rect">
            <a:avLst/>
          </a:prstGeom>
          <a:noFill/>
        </p:spPr>
      </p:pic>
    </p:spTree>
    <p:extLst>
      <p:ext uri="{BB962C8B-B14F-4D97-AF65-F5344CB8AC3E}">
        <p14:creationId xmlns:p14="http://schemas.microsoft.com/office/powerpoint/2010/main" val="3556807652"/>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VHEKTECQ7ECW-1532981086-4919</_dlc_DocId>
    <_dlc_DocIdUrl xmlns="f36dd47d-0b23-43fd-9b2d-c5346ffa1660">
      <Url>http://projets.cbg-guinee.com/erp/_layouts/15/DocIdRedir.aspx?ID=VHEKTECQ7ECW-1532981086-4919</Url>
      <Description>VHEKTECQ7ECW-1532981086-4919</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418F06-6433-4C96-A26C-1130D4C87976}"/>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32A746E0-E5B8-4F75-A704-05ACD82AA017}"/>
</file>

<file path=docProps/app.xml><?xml version="1.0" encoding="utf-8"?>
<Properties xmlns="http://schemas.openxmlformats.org/officeDocument/2006/extended-properties" xmlns:vt="http://schemas.openxmlformats.org/officeDocument/2006/docPropsVTypes">
  <Template/>
  <TotalTime>0</TotalTime>
  <Words>1549</Words>
  <Application>Microsoft Office PowerPoint</Application>
  <PresentationFormat>Format A4 (210 x 297 mm)</PresentationFormat>
  <Paragraphs>354</Paragraphs>
  <Slides>21</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ＭＳ Ｐゴシック</vt:lpstr>
      <vt:lpstr>Arial</vt:lpstr>
      <vt:lpstr>Calibri</vt:lpstr>
      <vt:lpstr>Courier New</vt:lpstr>
      <vt:lpstr>Verdana</vt:lpstr>
      <vt:lpstr>TemplateBE_FR</vt:lpstr>
      <vt:lpstr>Présentation PowerPoint</vt:lpstr>
      <vt:lpstr>Rappel sur les groupes marchandises à utiliser  Services (1/2) </vt:lpstr>
      <vt:lpstr>Rappel sur les groupes marchandises à utiliser  Services (2/2)</vt:lpstr>
      <vt:lpstr>Description du processus métier Les enjeux du processus</vt:lpstr>
      <vt:lpstr>Mode opératoire ME51N - Créer une demande d’achat de service à un fournisseur local (ZSRV) Cas n°1 : Le service est codifié (1/5)</vt:lpstr>
      <vt:lpstr>Mode opératoire ME51N - Créer une demande d’achat de service à un fournisseur local (ZSRV) Cas n°1 : Le service est codifié (2/5)</vt:lpstr>
      <vt:lpstr>Mode opératoire ME51N - Créer une demande d’achat de service à un fournisseur local (ZSRV) Cas n°1 : Le service est codifié (3/5)</vt:lpstr>
      <vt:lpstr>Mode opératoire ME51N - Créer une demande d’achat de service à un fournisseur local (ZSRV)  Cas n°1.1 : Le service est codifié et imputé sur centre de coûts (4a/5)</vt:lpstr>
      <vt:lpstr>Mode opératoire ME51N - Créer une demande d’achat de service à un fournisseur local (ZSRV)  Cas n°1.2 : Le service est codifié et imputé sur projet (4b/5)</vt:lpstr>
      <vt:lpstr>Mode opératoire ME51N - Créer une demande d’achat de service à un fournisseur local (ZSRV)  Cas n°1 : Le service est codifié (5/5)</vt:lpstr>
      <vt:lpstr>Mode opératoire ME51N - Créer une demande d’achat de service à un fournisseur local (ZSRV) Cas n°2 : Le service n’est pas codifié (1/9)</vt:lpstr>
      <vt:lpstr>Mode opératoire ME51N - Créer une demande d’achat de service à un fournisseur local (ZSRV) Cas n°2 : Le service n’est pas codifié (2/9)</vt:lpstr>
      <vt:lpstr>Mode opératoire ME51N - Créer une demande d’achat de service à un fournisseur local (ZSRV)  Cas n°2: Le service n’est pas codifié (3/9)</vt:lpstr>
      <vt:lpstr>Mode opératoire ME51N - Créer une demande d’achat de service à un fournisseur local (ZSRV)  Cas n°2: Le service n’est pas codifié (4/9)</vt:lpstr>
      <vt:lpstr>Mode opératoire ME51N - Créer une demande d’achat de service à un fournisseur local (ZSRV)  Cas n°2: Le service n’est pas codifié (5/9)</vt:lpstr>
      <vt:lpstr>Mode opératoire ME51N - Créer une demande d’achat de service à un fournisseur local (ZSRV)  Cas n°2: Le service n’est pas codifié (6/9)</vt:lpstr>
      <vt:lpstr>Mode opératoire ME51N - Créer une demande d’achat de service à un fournisseur local (ZSRV)  Cas n°2.1 : Le service n’est pas codifié et imputé sur centre de coûts (7a/9)</vt:lpstr>
      <vt:lpstr>Mode opératoire ME51N - Créer une demande d’achat de service à un fournisseur local (ZSRV)  Cas n°2.2 : Le service n’est pas codifié et imputé sur projet (7b/9)</vt:lpstr>
      <vt:lpstr>Mode opératoire ME51N - Créer une demande d’achat de service à un fournisseur local (ZSRV) Cas n°2 : Le service n’est pas codifié (8/9)</vt:lpstr>
      <vt:lpstr>Mode opératoire ME51N - Créer une demande d’achat de service à un fournisseur local (ZSRV)  Cas n°2 : Le service n’est pas codifié (9/9)</vt:lpstr>
      <vt:lpstr>Synthèse</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creation DA</dc:title>
  <dc:creator>BearingPoint</dc:creator>
  <cp:lastModifiedBy>Tilloy, Perrine</cp:lastModifiedBy>
  <cp:revision>3690</cp:revision>
  <cp:lastPrinted>2015-12-09T16:09:19Z</cp:lastPrinted>
  <dcterms:created xsi:type="dcterms:W3CDTF">2012-05-17T14:14:37Z</dcterms:created>
  <dcterms:modified xsi:type="dcterms:W3CDTF">2016-03-15T18:28:40Z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4eff4c2e-224a-4d50-af4f-79c72a708bf4</vt:lpwstr>
  </property>
</Properties>
</file>