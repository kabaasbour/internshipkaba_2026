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0.xml" ContentType="application/vnd.openxmlformats-officedocument.presentationml.slide+xml"/>
  <Override PartName="/ppt/slides/slide21.xml" ContentType="application/vnd.openxmlformats-officedocument.presentationml.slide+xml"/>
  <Override PartName="/ppt/presentation.xml" ContentType="application/vnd.openxmlformats-officedocument.presentationml.presentation.main+xml"/>
  <Override PartName="/ppt/slides/slide1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notesSlides/notesSlide7.xml" ContentType="application/vnd.openxmlformats-officedocument.presentationml.notesSlide+xml"/>
  <Override PartName="/ppt/notesSlides/notesSlide5.xml" ContentType="application/vnd.openxmlformats-officedocument.presentationml.notesSlide+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customXml/itemProps2.xml" ContentType="application/vnd.openxmlformats-officedocument.customXmlProperties+xml"/>
  <Override PartName="/docProps/custom.xml" ContentType="application/vnd.openxmlformats-officedocument.custom-propertie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6"/>
  </p:notesMasterIdLst>
  <p:handoutMasterIdLst>
    <p:handoutMasterId r:id="rId27"/>
  </p:handoutMasterIdLst>
  <p:sldIdLst>
    <p:sldId id="685" r:id="rId5"/>
    <p:sldId id="686" r:id="rId6"/>
    <p:sldId id="687" r:id="rId7"/>
    <p:sldId id="688" r:id="rId8"/>
    <p:sldId id="723" r:id="rId9"/>
    <p:sldId id="691" r:id="rId10"/>
    <p:sldId id="692" r:id="rId11"/>
    <p:sldId id="724" r:id="rId12"/>
    <p:sldId id="755" r:id="rId13"/>
    <p:sldId id="696" r:id="rId14"/>
    <p:sldId id="762" r:id="rId15"/>
    <p:sldId id="729" r:id="rId16"/>
    <p:sldId id="734" r:id="rId17"/>
    <p:sldId id="735" r:id="rId18"/>
    <p:sldId id="757" r:id="rId19"/>
    <p:sldId id="758" r:id="rId20"/>
    <p:sldId id="759" r:id="rId21"/>
    <p:sldId id="760" r:id="rId22"/>
    <p:sldId id="743" r:id="rId23"/>
    <p:sldId id="710" r:id="rId24"/>
    <p:sldId id="728" r:id="rId25"/>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8" autoAdjust="0"/>
    <p:restoredTop sz="94278" autoAdjust="0"/>
  </p:normalViewPr>
  <p:slideViewPr>
    <p:cSldViewPr snapToGrid="0" snapToObjects="1">
      <p:cViewPr varScale="1">
        <p:scale>
          <a:sx n="131" d="100"/>
          <a:sy n="131" d="100"/>
        </p:scale>
        <p:origin x="504" y="114"/>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12/16/2015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16.12.2015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8</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11</a:t>
            </a:fld>
            <a:endParaRPr lang="de-DE" dirty="0"/>
          </a:p>
        </p:txBody>
      </p:sp>
    </p:spTree>
    <p:extLst>
      <p:ext uri="{BB962C8B-B14F-4D97-AF65-F5344CB8AC3E}">
        <p14:creationId xmlns:p14="http://schemas.microsoft.com/office/powerpoint/2010/main" val="1159837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12</a:t>
            </a:fld>
            <a:endParaRPr lang="de-DE" dirty="0"/>
          </a:p>
        </p:txBody>
      </p:sp>
    </p:spTree>
    <p:extLst>
      <p:ext uri="{BB962C8B-B14F-4D97-AF65-F5344CB8AC3E}">
        <p14:creationId xmlns:p14="http://schemas.microsoft.com/office/powerpoint/2010/main" val="2616438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13</a:t>
            </a:fld>
            <a:endParaRPr lang="de-DE" dirty="0"/>
          </a:p>
        </p:txBody>
      </p:sp>
    </p:spTree>
    <p:extLst>
      <p:ext uri="{BB962C8B-B14F-4D97-AF65-F5344CB8AC3E}">
        <p14:creationId xmlns:p14="http://schemas.microsoft.com/office/powerpoint/2010/main" val="4215279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7733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20</a:t>
            </a:fld>
            <a:endParaRPr lang="de-DE" dirty="0"/>
          </a:p>
        </p:txBody>
      </p:sp>
    </p:spTree>
    <p:extLst>
      <p:ext uri="{BB962C8B-B14F-4D97-AF65-F5344CB8AC3E}">
        <p14:creationId xmlns:p14="http://schemas.microsoft.com/office/powerpoint/2010/main" val="21171458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16/12/2015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t>
            </a:r>
            <a:endParaRPr lang="fr-FR" sz="2800" b="1" dirty="0">
              <a:solidFill>
                <a:srgbClr val="0070C0"/>
              </a:solidFill>
              <a:latin typeface="Arial" charset="0"/>
              <a:cs typeface="Arial" charset="0"/>
            </a:endParaRPr>
          </a:p>
          <a:p>
            <a:r>
              <a:rPr lang="fr-FR" sz="2800" b="1" dirty="0" smtClean="0">
                <a:solidFill>
                  <a:srgbClr val="0070C0"/>
                </a:solidFill>
                <a:latin typeface="Arial" charset="0"/>
                <a:cs typeface="Arial" charset="0"/>
              </a:rPr>
              <a:t>Logistique</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09.01</a:t>
            </a:r>
          </a:p>
          <a:p>
            <a:r>
              <a:rPr lang="fr-FR" sz="2000" b="1" dirty="0" err="1" smtClean="0">
                <a:solidFill>
                  <a:srgbClr val="0070C0"/>
                </a:solidFill>
                <a:latin typeface="Arial" charset="0"/>
                <a:cs typeface="Arial" charset="0"/>
              </a:rPr>
              <a:t>Reporting</a:t>
            </a:r>
            <a:r>
              <a:rPr lang="fr-FR" sz="2000" b="1" dirty="0" smtClean="0">
                <a:solidFill>
                  <a:srgbClr val="0070C0"/>
                </a:solidFill>
                <a:latin typeface="Arial" charset="0"/>
                <a:cs typeface="Arial" charset="0"/>
              </a:rPr>
              <a:t> d’état des stocks</a:t>
            </a:r>
            <a:endParaRPr lang="fr-FR" sz="20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faire le </a:t>
            </a:r>
            <a:r>
              <a:rPr lang="fr-FR" sz="900" dirty="0" err="1" smtClean="0">
                <a:solidFill>
                  <a:schemeClr val="tx1"/>
                </a:solidFill>
                <a:latin typeface="Arial" pitchFamily="34" charset="0"/>
                <a:cs typeface="Arial" pitchFamily="34" charset="0"/>
              </a:rPr>
              <a:t>reporting</a:t>
            </a:r>
            <a:r>
              <a:rPr lang="fr-FR" sz="900" dirty="0" smtClean="0">
                <a:solidFill>
                  <a:schemeClr val="tx1"/>
                </a:solidFill>
                <a:latin typeface="Arial" pitchFamily="34" charset="0"/>
                <a:cs typeface="Arial" pitchFamily="34" charset="0"/>
              </a:rPr>
              <a:t> d’état des stocks</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la liste des documents articles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a:t>
            </a:r>
            <a:r>
              <a:rPr lang="fr-FR" sz="900" dirty="0" smtClean="0">
                <a:solidFill>
                  <a:schemeClr val="tx1"/>
                </a:solidFill>
                <a:latin typeface="Arial" pitchFamily="34" charset="0"/>
                <a:cs typeface="Arial" pitchFamily="34" charset="0"/>
              </a:rPr>
              <a:t>l’état des stocks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l’état dynamique des stocks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Visualiser le stock à la date comptable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Connaître la valeur des stocks à date comptable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 stock chez le sous-traitance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les réservations de stock en cours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Afficher le stock en transit</a:t>
            </a:r>
          </a:p>
          <a:p>
            <a:pPr marL="67866"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 </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Surintendant Logistique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a:t>
              </a:r>
              <a:r>
                <a:rPr lang="fr-FR" sz="900" dirty="0">
                  <a:solidFill>
                    <a:schemeClr val="tx1"/>
                  </a:solidFill>
                  <a:latin typeface="Arial" pitchFamily="34" charset="0"/>
                  <a:cs typeface="Arial" pitchFamily="34" charset="0"/>
                </a:rPr>
                <a:t>Guinée</a:t>
              </a: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Coordonnateur magasin</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Outre-Mer</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1868554231"/>
              </p:ext>
            </p:extLst>
          </p:nvPr>
        </p:nvGraphicFramePr>
        <p:xfrm>
          <a:off x="2758033" y="1291506"/>
          <a:ext cx="3627934" cy="1531431"/>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785649">
                <a:tc>
                  <a:txBody>
                    <a:bodyPr/>
                    <a:lstStyle/>
                    <a:p>
                      <a:pPr algn="ctr"/>
                      <a:r>
                        <a:rPr lang="fr-FR" sz="900" dirty="0" smtClean="0"/>
                        <a:t>8h10 – 9h00</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Le </a:t>
                      </a:r>
                      <a:r>
                        <a:rPr lang="fr-FR" sz="900" dirty="0" err="1" smtClean="0"/>
                        <a:t>reporting</a:t>
                      </a:r>
                      <a:r>
                        <a:rPr lang="fr-FR" sz="900" dirty="0" smtClean="0"/>
                        <a:t> d’état des</a:t>
                      </a:r>
                      <a:r>
                        <a:rPr lang="fr-FR" sz="900" baseline="0" dirty="0" smtClean="0"/>
                        <a:t> stocks</a:t>
                      </a:r>
                      <a:endParaRPr lang="fr-FR" sz="900" dirty="0" smtClean="0"/>
                    </a:p>
                    <a:p>
                      <a:pPr marL="171450" indent="-171450">
                        <a:lnSpc>
                          <a:spcPct val="100000"/>
                        </a:lnSpc>
                        <a:spcBef>
                          <a:spcPts val="0"/>
                        </a:spcBef>
                        <a:spcAft>
                          <a:spcPts val="0"/>
                        </a:spcAft>
                        <a:buFont typeface="Arial" panose="020B0604020202020204" pitchFamily="34" charset="0"/>
                        <a:buChar char="•"/>
                      </a:pPr>
                      <a:r>
                        <a:rPr lang="fr-FR" sz="900" dirty="0" smtClean="0"/>
                        <a:t>Présentation : 30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30 min</a:t>
                      </a:r>
                    </a:p>
                  </a:txBody>
                  <a:tcPr marL="68566" marR="68566" marT="34292" marB="34292" anchor="ctr">
                    <a:solidFill>
                      <a:srgbClr val="E7E8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a:t>
            </a:r>
            <a:r>
              <a:rPr lang="fr-FR" dirty="0" err="1" smtClean="0"/>
              <a:t>reporting</a:t>
            </a:r>
            <a:r>
              <a:rPr lang="fr-FR" dirty="0" smtClean="0"/>
              <a:t> d’état des stock permet de </a:t>
            </a:r>
            <a:r>
              <a:rPr lang="fr-FR" dirty="0">
                <a:latin typeface="+mj-lt"/>
                <a:cs typeface="Times New Roman" panose="02020603050405020304" pitchFamily="18" charset="0"/>
              </a:rPr>
              <a:t>s</a:t>
            </a:r>
            <a:r>
              <a:rPr lang="fr-FR" dirty="0" smtClean="0">
                <a:latin typeface="+mj-lt"/>
                <a:cs typeface="Times New Roman" panose="02020603050405020304" pitchFamily="18" charset="0"/>
              </a:rPr>
              <a:t>uivre l’état des stocks actuels, à date passée ou la projection de l’état des stocks pour n’importe quel stock  :</a:t>
            </a:r>
          </a:p>
          <a:p>
            <a:pPr marL="171450" indent="-171450">
              <a:buFont typeface="Wingdings" panose="05000000000000000000" pitchFamily="2" charset="2"/>
              <a:buChar char="§"/>
            </a:pPr>
            <a:r>
              <a:rPr lang="fr-FR" dirty="0" smtClean="0">
                <a:latin typeface="+mj-lt"/>
                <a:cs typeface="Times New Roman" panose="02020603050405020304" pitchFamily="18" charset="0"/>
              </a:rPr>
              <a:t>Stock magasin </a:t>
            </a:r>
          </a:p>
          <a:p>
            <a:pPr marL="171450" indent="-171450">
              <a:buFont typeface="Wingdings" panose="05000000000000000000" pitchFamily="2" charset="2"/>
              <a:buChar char="§"/>
            </a:pPr>
            <a:r>
              <a:rPr lang="fr-FR" dirty="0" smtClean="0">
                <a:latin typeface="+mj-lt"/>
                <a:cs typeface="Times New Roman" panose="02020603050405020304" pitchFamily="18" charset="0"/>
              </a:rPr>
              <a:t>Stock mis à disposition du fournisseur</a:t>
            </a:r>
          </a:p>
          <a:p>
            <a:pPr marL="171450" indent="-171450">
              <a:buFont typeface="Wingdings" panose="05000000000000000000" pitchFamily="2" charset="2"/>
              <a:buChar char="§"/>
            </a:pPr>
            <a:r>
              <a:rPr lang="fr-FR" dirty="0" smtClean="0">
                <a:latin typeface="+mj-lt"/>
                <a:cs typeface="Times New Roman" panose="02020603050405020304" pitchFamily="18" charset="0"/>
              </a:rPr>
              <a:t>Stock en transit …</a:t>
            </a:r>
          </a:p>
          <a:p>
            <a:pPr marL="171450" indent="-171450" algn="just">
              <a:spcAft>
                <a:spcPts val="600"/>
              </a:spcAft>
              <a:buClr>
                <a:srgbClr val="004376"/>
              </a:buClr>
              <a:buSzPct val="100000"/>
              <a:buFont typeface="Arial" panose="020B0604020202020204" pitchFamily="34" charset="0"/>
              <a:buChar char="•"/>
              <a:tabLst>
                <a:tab pos="900430" algn="l"/>
              </a:tabLst>
            </a:pPr>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 </a:t>
            </a:r>
            <a:r>
              <a:rPr lang="fr-FR" altLang="en-US" dirty="0" err="1" smtClean="0"/>
              <a:t>reporting</a:t>
            </a:r>
            <a:r>
              <a:rPr lang="fr-FR" altLang="en-US" dirty="0" smtClean="0"/>
              <a:t> d’état de stock</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faire du </a:t>
            </a:r>
            <a:r>
              <a:rPr lang="fr-FR" altLang="en-US" sz="1050" dirty="0" err="1" smtClean="0">
                <a:cs typeface="Arial" panose="020B0604020202020204" pitchFamily="34" charset="0"/>
              </a:rPr>
              <a:t>reporting</a:t>
            </a:r>
            <a:r>
              <a:rPr lang="fr-FR" altLang="en-US" sz="1050" dirty="0" smtClean="0">
                <a:cs typeface="Arial" panose="020B0604020202020204" pitchFamily="34" charset="0"/>
              </a:rPr>
              <a:t>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le </a:t>
            </a:r>
            <a:r>
              <a:rPr lang="fr-FR" altLang="en-US" sz="1050" dirty="0" err="1" smtClean="0">
                <a:solidFill>
                  <a:schemeClr val="bg1"/>
                </a:solidFill>
                <a:cs typeface="Arial" panose="020B0604020202020204" pitchFamily="34" charset="0"/>
              </a:rPr>
              <a:t>reporting</a:t>
            </a:r>
            <a:r>
              <a:rPr lang="fr-FR" altLang="en-US" sz="1050" dirty="0" smtClean="0">
                <a:solidFill>
                  <a:schemeClr val="bg1"/>
                </a:solidFill>
                <a:cs typeface="Arial" panose="020B0604020202020204" pitchFamily="34" charset="0"/>
              </a:rPr>
              <a:t> d’état des stocks?</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618530"/>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Toute l’équipe Logistique</a:t>
            </a:r>
          </a:p>
        </p:txBody>
      </p:sp>
      <p:sp>
        <p:nvSpPr>
          <p:cNvPr id="28681" name="AutoShape 12"/>
          <p:cNvSpPr>
            <a:spLocks noChangeArrowheads="1"/>
          </p:cNvSpPr>
          <p:nvPr/>
        </p:nvSpPr>
        <p:spPr bwMode="auto">
          <a:xfrm>
            <a:off x="5248029" y="1479941"/>
            <a:ext cx="2717673" cy="656973"/>
          </a:xfrm>
          <a:prstGeom prst="wedgeRoundRectCallout">
            <a:avLst>
              <a:gd name="adj1" fmla="val -64726"/>
              <a:gd name="adj2" fmla="val 53479"/>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De manière régulière pour le pilotage opérationnelle et le suivi de l’état des stocks</a:t>
            </a:r>
            <a:endParaRPr lang="fr-FR" altLang="en-US" sz="1050" dirty="0"/>
          </a:p>
        </p:txBody>
      </p:sp>
      <p:sp>
        <p:nvSpPr>
          <p:cNvPr id="28682" name="AutoShape 6"/>
          <p:cNvSpPr>
            <a:spLocks noChangeArrowheads="1"/>
          </p:cNvSpPr>
          <p:nvPr/>
        </p:nvSpPr>
        <p:spPr bwMode="auto">
          <a:xfrm>
            <a:off x="1231921" y="2513875"/>
            <a:ext cx="1666915" cy="478201"/>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faire du </a:t>
            </a:r>
            <a:r>
              <a:rPr lang="fr-FR" altLang="en-US" sz="1050" dirty="0" err="1" smtClean="0">
                <a:solidFill>
                  <a:schemeClr val="bg1"/>
                </a:solidFill>
                <a:cs typeface="Arial" panose="020B0604020202020204" pitchFamily="34" charset="0"/>
              </a:rPr>
              <a:t>reporting</a:t>
            </a:r>
            <a:r>
              <a:rPr lang="fr-FR" altLang="en-US" sz="1050" dirty="0" smtClean="0">
                <a:solidFill>
                  <a:schemeClr val="bg1"/>
                </a:solidFill>
                <a:cs typeface="Arial" panose="020B0604020202020204" pitchFamily="34" charset="0"/>
              </a:rPr>
              <a:t>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3299011"/>
            <a:ext cx="2893219" cy="920875"/>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L’état des stocks et l’état dynamique </a:t>
            </a:r>
          </a:p>
          <a:p>
            <a:pPr eaLnBrk="1" hangingPunct="1">
              <a:spcBef>
                <a:spcPts val="225"/>
              </a:spcBef>
              <a:buFont typeface="Arial" panose="020B0604020202020204" pitchFamily="34" charset="0"/>
              <a:buChar char="•"/>
            </a:pPr>
            <a:r>
              <a:rPr lang="fr-FR" altLang="en-US" sz="1050" dirty="0" smtClean="0">
                <a:solidFill>
                  <a:schemeClr val="bg1"/>
                </a:solidFill>
              </a:rPr>
              <a:t>Stock à date comptable</a:t>
            </a:r>
          </a:p>
          <a:p>
            <a:pPr eaLnBrk="1" hangingPunct="1">
              <a:spcBef>
                <a:spcPts val="225"/>
              </a:spcBef>
              <a:buFont typeface="Arial" panose="020B0604020202020204" pitchFamily="34" charset="0"/>
              <a:buChar char="•"/>
            </a:pPr>
            <a:r>
              <a:rPr lang="fr-FR" altLang="en-US" sz="1050" dirty="0" smtClean="0">
                <a:solidFill>
                  <a:schemeClr val="bg1"/>
                </a:solidFill>
              </a:rPr>
              <a:t>Stock en transit </a:t>
            </a:r>
          </a:p>
          <a:p>
            <a:pPr eaLnBrk="1" hangingPunct="1">
              <a:spcBef>
                <a:spcPts val="225"/>
              </a:spcBef>
              <a:buFont typeface="Arial" panose="020B0604020202020204" pitchFamily="34" charset="0"/>
              <a:buChar char="•"/>
            </a:pPr>
            <a:r>
              <a:rPr lang="fr-FR" altLang="en-US" sz="1050" dirty="0" smtClean="0">
                <a:solidFill>
                  <a:schemeClr val="bg1"/>
                </a:solidFill>
              </a:rPr>
              <a:t>Stock mis à disposition du fournisseur</a:t>
            </a: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menu pour le </a:t>
            </a:r>
            <a:r>
              <a:rPr lang="fr-FR" altLang="en-US" dirty="0" err="1" smtClean="0"/>
              <a:t>reporting</a:t>
            </a:r>
            <a:r>
              <a:rPr lang="fr-FR" altLang="en-US" dirty="0" smtClean="0"/>
              <a:t> WM dans SAP</a:t>
            </a:r>
            <a:endParaRPr lang="en-US" altLang="en-US" dirty="0" smtClean="0"/>
          </a:p>
        </p:txBody>
      </p:sp>
      <p:sp>
        <p:nvSpPr>
          <p:cNvPr id="35" name="Espace réservé du contenu 1"/>
          <p:cNvSpPr>
            <a:spLocks noGrp="1"/>
          </p:cNvSpPr>
          <p:nvPr>
            <p:ph idx="1"/>
          </p:nvPr>
        </p:nvSpPr>
        <p:spPr>
          <a:xfrm>
            <a:off x="573579" y="1152525"/>
            <a:ext cx="3760678" cy="3240571"/>
          </a:xfrm>
        </p:spPr>
        <p:txBody>
          <a:bodyPr/>
          <a:lstStyle/>
          <a:p>
            <a:r>
              <a:rPr lang="fr-FR" dirty="0" smtClean="0"/>
              <a:t>Dans le menu SAP, il suffit d’entrer la transaction SAP1 pour accéder au menu SAP des transactions de </a:t>
            </a:r>
            <a:r>
              <a:rPr lang="fr-FR" dirty="0" err="1" smtClean="0"/>
              <a:t>reporting</a:t>
            </a:r>
            <a:r>
              <a:rPr lang="fr-FR" dirty="0" smtClean="0"/>
              <a:t> :</a:t>
            </a:r>
            <a:endParaRPr lang="fr-FR" sz="1100" dirty="0" smtClean="0">
              <a:latin typeface="Arial" panose="020B0604020202020204" pitchFamily="34" charset="0"/>
              <a:ea typeface="ＭＳ Ｐゴシック" panose="020B0600070205080204" pitchFamily="34" charset="-128"/>
              <a:cs typeface="Arial" panose="020B0604020202020204" pitchFamily="34" charset="0"/>
            </a:endParaRPr>
          </a:p>
          <a:p>
            <a:r>
              <a:rPr lang="fr-FR" b="1" dirty="0">
                <a:solidFill>
                  <a:srgbClr val="0070C0"/>
                </a:solidFill>
              </a:rPr>
              <a:t>Pour </a:t>
            </a:r>
            <a:r>
              <a:rPr lang="fr-FR" b="1" dirty="0" smtClean="0">
                <a:solidFill>
                  <a:srgbClr val="0070C0"/>
                </a:solidFill>
              </a:rPr>
              <a:t>les </a:t>
            </a:r>
            <a:r>
              <a:rPr lang="fr-FR" b="1" dirty="0" err="1" smtClean="0">
                <a:solidFill>
                  <a:srgbClr val="0070C0"/>
                </a:solidFill>
              </a:rPr>
              <a:t>reportings</a:t>
            </a:r>
            <a:r>
              <a:rPr lang="fr-FR" b="1" dirty="0" smtClean="0">
                <a:solidFill>
                  <a:srgbClr val="0070C0"/>
                </a:solidFill>
              </a:rPr>
              <a:t> des mouvements de stock:</a:t>
            </a:r>
            <a:endParaRPr lang="fr-FR" b="1" dirty="0">
              <a:solidFill>
                <a:srgbClr val="0070C0"/>
              </a:solidFill>
            </a:endParaRPr>
          </a:p>
          <a:p>
            <a:pPr algn="just">
              <a:spcAft>
                <a:spcPts val="600"/>
              </a:spcAft>
              <a:buClr>
                <a:srgbClr val="004376"/>
              </a:buClr>
              <a:buSzPct val="100000"/>
              <a:tabLst>
                <a:tab pos="900430" algn="l"/>
              </a:tabLst>
            </a:pPr>
            <a:r>
              <a:rPr lang="fr-FR" dirty="0" smtClean="0"/>
              <a:t>Gestion des article &gt; Gestion des stocks</a:t>
            </a:r>
          </a:p>
          <a:p>
            <a:pPr algn="just">
              <a:spcAft>
                <a:spcPts val="600"/>
              </a:spcAft>
              <a:buClr>
                <a:srgbClr val="004376"/>
              </a:buClr>
              <a:buSzPct val="100000"/>
              <a:tabLst>
                <a:tab pos="900430" algn="l"/>
              </a:tabLst>
            </a:pPr>
            <a:r>
              <a:rPr lang="fr-FR" dirty="0" smtClean="0"/>
              <a:t>Toutes les transactions présentées ici peuvent être retrouvées dans cette arborescence</a:t>
            </a:r>
            <a:endParaRPr lang="en-US" dirty="0"/>
          </a:p>
          <a:p>
            <a:pPr marL="171450" lvl="0" indent="-171450">
              <a:buClr>
                <a:srgbClr val="004376"/>
              </a:buClr>
              <a:buSzPct val="100000"/>
              <a:buFont typeface="Arial" panose="020B0604020202020204" pitchFamily="34" charset="0"/>
              <a:buChar char="•"/>
            </a:pPr>
            <a:endParaRPr lang="en-US" dirty="0"/>
          </a:p>
        </p:txBody>
      </p:sp>
      <p:pic>
        <p:nvPicPr>
          <p:cNvPr id="2" name="Image 1"/>
          <p:cNvPicPr>
            <a:picLocks noChangeAspect="1"/>
          </p:cNvPicPr>
          <p:nvPr/>
        </p:nvPicPr>
        <p:blipFill>
          <a:blip r:embed="rId2"/>
          <a:stretch>
            <a:fillRect/>
          </a:stretch>
        </p:blipFill>
        <p:spPr>
          <a:xfrm>
            <a:off x="6079806" y="532355"/>
            <a:ext cx="2789874" cy="4212646"/>
          </a:xfrm>
          <a:prstGeom prst="rect">
            <a:avLst/>
          </a:prstGeom>
        </p:spPr>
      </p:pic>
    </p:spTree>
    <p:extLst>
      <p:ext uri="{BB962C8B-B14F-4D97-AF65-F5344CB8AC3E}">
        <p14:creationId xmlns:p14="http://schemas.microsoft.com/office/powerpoint/2010/main" val="18029760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3205002" y="1870670"/>
            <a:ext cx="1296000" cy="75485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l’état des stocks</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MMBE</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20" name="Groupe 19"/>
          <p:cNvGrpSpPr/>
          <p:nvPr/>
        </p:nvGrpSpPr>
        <p:grpSpPr>
          <a:xfrm>
            <a:off x="4794905" y="1870670"/>
            <a:ext cx="1296000" cy="754857"/>
            <a:chOff x="1507778" y="2276353"/>
            <a:chExt cx="1258269" cy="754857"/>
          </a:xfrm>
        </p:grpSpPr>
        <p:sp>
          <p:nvSpPr>
            <p:cNvPr id="21" name="Rectangle 20"/>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l’état dynamique des stocks</a:t>
              </a:r>
              <a:endParaRPr lang="en-US" sz="800" dirty="0">
                <a:solidFill>
                  <a:schemeClr val="bg1"/>
                </a:solidFill>
                <a:latin typeface="Arial" pitchFamily="34" charset="0"/>
                <a:cs typeface="Arial" pitchFamily="34" charset="0"/>
              </a:endParaRPr>
            </a:p>
          </p:txBody>
        </p:sp>
        <p:sp>
          <p:nvSpPr>
            <p:cNvPr id="22" name="Rectangle 2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MD04</a:t>
              </a:r>
              <a:endParaRPr lang="en-US" sz="800" b="1" dirty="0">
                <a:solidFill>
                  <a:schemeClr val="bg1"/>
                </a:solidFill>
                <a:latin typeface="Arial" panose="020B0604020202020204" pitchFamily="34" charset="0"/>
                <a:cs typeface="Arial" panose="020B0604020202020204" pitchFamily="34" charset="0"/>
              </a:endParaRPr>
            </a:p>
          </p:txBody>
        </p:sp>
        <p:sp>
          <p:nvSpPr>
            <p:cNvPr id="23" name="Rectangle 2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4" name="Groupe 23"/>
          <p:cNvGrpSpPr/>
          <p:nvPr/>
        </p:nvGrpSpPr>
        <p:grpSpPr>
          <a:xfrm>
            <a:off x="6377097" y="1870670"/>
            <a:ext cx="1296000" cy="754857"/>
            <a:chOff x="1507778" y="2276353"/>
            <a:chExt cx="1258269" cy="754857"/>
          </a:xfrm>
        </p:grpSpPr>
        <p:sp>
          <p:nvSpPr>
            <p:cNvPr id="25" name="Rectangle 24"/>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le stock à la date comptable</a:t>
              </a:r>
              <a:endParaRPr lang="en-US" sz="800" dirty="0">
                <a:solidFill>
                  <a:schemeClr val="bg1"/>
                </a:solidFill>
                <a:latin typeface="Arial" pitchFamily="34" charset="0"/>
                <a:cs typeface="Arial" pitchFamily="34" charset="0"/>
              </a:endParaRPr>
            </a:p>
          </p:txBody>
        </p:sp>
        <p:sp>
          <p:nvSpPr>
            <p:cNvPr id="26" name="Rectangle 25"/>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MB5B</a:t>
              </a:r>
              <a:endParaRPr lang="en-US" sz="800" b="1" dirty="0">
                <a:solidFill>
                  <a:schemeClr val="bg1"/>
                </a:solidFill>
                <a:latin typeface="Arial" panose="020B0604020202020204" pitchFamily="34" charset="0"/>
                <a:cs typeface="Arial" panose="020B0604020202020204" pitchFamily="34" charset="0"/>
              </a:endParaRPr>
            </a:p>
          </p:txBody>
        </p:sp>
        <p:sp>
          <p:nvSpPr>
            <p:cNvPr id="34" name="Rectangle 33"/>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35" name="Groupe 34"/>
          <p:cNvGrpSpPr/>
          <p:nvPr/>
        </p:nvGrpSpPr>
        <p:grpSpPr>
          <a:xfrm>
            <a:off x="1615099" y="2893218"/>
            <a:ext cx="1296000" cy="754857"/>
            <a:chOff x="1507778" y="2276353"/>
            <a:chExt cx="1258269" cy="754857"/>
          </a:xfrm>
        </p:grpSpPr>
        <p:sp>
          <p:nvSpPr>
            <p:cNvPr id="36" name="Rectangle 35"/>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l’état des stocks en transit </a:t>
              </a:r>
              <a:endParaRPr lang="en-US" sz="800" dirty="0">
                <a:solidFill>
                  <a:schemeClr val="bg1"/>
                </a:solidFill>
                <a:latin typeface="Arial" pitchFamily="34" charset="0"/>
                <a:cs typeface="Arial" pitchFamily="34" charset="0"/>
              </a:endParaRPr>
            </a:p>
          </p:txBody>
        </p:sp>
        <p:sp>
          <p:nvSpPr>
            <p:cNvPr id="38" name="Rectangle 37"/>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MB5T</a:t>
              </a:r>
              <a:endParaRPr lang="en-US" sz="800" b="1" dirty="0">
                <a:solidFill>
                  <a:schemeClr val="bg1"/>
                </a:solidFill>
                <a:latin typeface="Arial" panose="020B0604020202020204" pitchFamily="34" charset="0"/>
                <a:cs typeface="Arial" panose="020B0604020202020204" pitchFamily="34" charset="0"/>
              </a:endParaRPr>
            </a:p>
          </p:txBody>
        </p:sp>
        <p:sp>
          <p:nvSpPr>
            <p:cNvPr id="42" name="Rectangle 41"/>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3" name="Groupe 42"/>
          <p:cNvGrpSpPr/>
          <p:nvPr/>
        </p:nvGrpSpPr>
        <p:grpSpPr>
          <a:xfrm>
            <a:off x="6357580" y="2893218"/>
            <a:ext cx="1296000" cy="754857"/>
            <a:chOff x="1507778" y="2276353"/>
            <a:chExt cx="1258269" cy="754857"/>
          </a:xfrm>
        </p:grpSpPr>
        <p:sp>
          <p:nvSpPr>
            <p:cNvPr id="44" name="Rectangle 4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Liste des réservations article</a:t>
              </a:r>
              <a:endParaRPr lang="en-US" sz="800" dirty="0">
                <a:solidFill>
                  <a:schemeClr val="bg1"/>
                </a:solidFill>
                <a:latin typeface="Arial" pitchFamily="34" charset="0"/>
                <a:cs typeface="Arial" pitchFamily="34" charset="0"/>
              </a:endParaRPr>
            </a:p>
          </p:txBody>
        </p:sp>
        <p:sp>
          <p:nvSpPr>
            <p:cNvPr id="45" name="Rectangle 44"/>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MB25</a:t>
              </a:r>
              <a:endParaRPr lang="en-US" sz="800" b="1" dirty="0">
                <a:solidFill>
                  <a:schemeClr val="bg1"/>
                </a:solidFill>
                <a:latin typeface="Arial" panose="020B0604020202020204" pitchFamily="34" charset="0"/>
                <a:cs typeface="Arial" panose="020B0604020202020204" pitchFamily="34" charset="0"/>
              </a:endParaRPr>
            </a:p>
          </p:txBody>
        </p:sp>
        <p:sp>
          <p:nvSpPr>
            <p:cNvPr id="46" name="Rectangle 4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3205002" y="2893218"/>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Cockpit de retour fournisseur</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MSR_TSR_I</a:t>
              </a:r>
              <a:endParaRPr lang="en-US" sz="800" b="1" dirty="0">
                <a:solidFill>
                  <a:schemeClr val="bg1"/>
                </a:solidFill>
                <a:latin typeface="Arial" panose="020B0604020202020204" pitchFamily="34" charset="0"/>
                <a:cs typeface="Arial" panose="020B0604020202020204" pitchFamily="34" charset="0"/>
              </a:endParaRPr>
            </a:p>
          </p:txBody>
        </p:sp>
        <p:sp>
          <p:nvSpPr>
            <p:cNvPr id="51" name="Rectangle 5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52" name="Groupe 51"/>
          <p:cNvGrpSpPr/>
          <p:nvPr/>
        </p:nvGrpSpPr>
        <p:grpSpPr>
          <a:xfrm>
            <a:off x="4787194" y="2893218"/>
            <a:ext cx="1296000" cy="754857"/>
            <a:chOff x="1507778" y="2276353"/>
            <a:chExt cx="1258269" cy="754857"/>
          </a:xfrm>
        </p:grpSpPr>
        <p:sp>
          <p:nvSpPr>
            <p:cNvPr id="53" name="Rectangle 52"/>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Cockpit de mise à disposition du fournisseur</a:t>
              </a:r>
              <a:endParaRPr lang="en-US" sz="800" dirty="0">
                <a:solidFill>
                  <a:schemeClr val="bg1"/>
                </a:solidFill>
                <a:latin typeface="Arial" pitchFamily="34" charset="0"/>
                <a:cs typeface="Arial" pitchFamily="34" charset="0"/>
              </a:endParaRPr>
            </a:p>
          </p:txBody>
        </p:sp>
        <p:sp>
          <p:nvSpPr>
            <p:cNvPr id="54" name="Rectangle 53"/>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MBLB</a:t>
              </a:r>
              <a:endParaRPr lang="en-US" sz="800" b="1" dirty="0">
                <a:solidFill>
                  <a:schemeClr val="bg1"/>
                </a:solidFill>
                <a:latin typeface="Arial" panose="020B0604020202020204" pitchFamily="34" charset="0"/>
                <a:cs typeface="Arial" panose="020B0604020202020204" pitchFamily="34" charset="0"/>
              </a:endParaRPr>
            </a:p>
          </p:txBody>
        </p:sp>
        <p:sp>
          <p:nvSpPr>
            <p:cNvPr id="55" name="Rectangle 54"/>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68" name="Groupe 67"/>
          <p:cNvGrpSpPr/>
          <p:nvPr/>
        </p:nvGrpSpPr>
        <p:grpSpPr>
          <a:xfrm>
            <a:off x="1615099" y="1870670"/>
            <a:ext cx="1296000" cy="754857"/>
            <a:chOff x="1507778" y="2276353"/>
            <a:chExt cx="1258269" cy="754857"/>
          </a:xfrm>
        </p:grpSpPr>
        <p:sp>
          <p:nvSpPr>
            <p:cNvPr id="69" name="Rectangle 6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la liste des documents articles</a:t>
              </a:r>
              <a:endParaRPr lang="en-US" sz="800" dirty="0">
                <a:solidFill>
                  <a:schemeClr val="bg1"/>
                </a:solidFill>
                <a:latin typeface="Arial" pitchFamily="34" charset="0"/>
                <a:cs typeface="Arial" pitchFamily="34" charset="0"/>
              </a:endParaRPr>
            </a:p>
          </p:txBody>
        </p:sp>
        <p:sp>
          <p:nvSpPr>
            <p:cNvPr id="70" name="Rectangle 6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MB51</a:t>
              </a:r>
              <a:endParaRPr lang="en-US" sz="800" b="1" dirty="0">
                <a:solidFill>
                  <a:schemeClr val="bg1"/>
                </a:solidFill>
                <a:latin typeface="Arial" panose="020B0604020202020204" pitchFamily="34" charset="0"/>
                <a:cs typeface="Arial" panose="020B0604020202020204" pitchFamily="34" charset="0"/>
              </a:endParaRPr>
            </a:p>
          </p:txBody>
        </p:sp>
        <p:sp>
          <p:nvSpPr>
            <p:cNvPr id="71" name="Rectangle 7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MB51 – Liste des documents articles</a:t>
            </a:r>
            <a:endParaRPr lang="en-US" dirty="0"/>
          </a:p>
        </p:txBody>
      </p:sp>
      <p:grpSp>
        <p:nvGrpSpPr>
          <p:cNvPr id="47" name="Groupe 46"/>
          <p:cNvGrpSpPr/>
          <p:nvPr/>
        </p:nvGrpSpPr>
        <p:grpSpPr>
          <a:xfrm>
            <a:off x="447963" y="1095783"/>
            <a:ext cx="3191349" cy="2377574"/>
            <a:chOff x="5413599" y="888071"/>
            <a:chExt cx="3409539" cy="2377574"/>
          </a:xfrm>
        </p:grpSpPr>
        <p:sp>
          <p:nvSpPr>
            <p:cNvPr id="5" name="ZoneTexte 4"/>
            <p:cNvSpPr txBox="1"/>
            <p:nvPr/>
          </p:nvSpPr>
          <p:spPr>
            <a:xfrm>
              <a:off x="5551436" y="888071"/>
              <a:ext cx="3271702" cy="2377574"/>
            </a:xfrm>
            <a:prstGeom prst="rect">
              <a:avLst/>
            </a:prstGeom>
            <a:noFill/>
          </p:spPr>
          <p:txBody>
            <a:bodyPr wrap="square" rtlCol="0">
              <a:spAutoFit/>
            </a:bodyPr>
            <a:lstStyle/>
            <a:p>
              <a:pPr>
                <a:lnSpc>
                  <a:spcPct val="150000"/>
                </a:lnSpc>
              </a:pPr>
              <a:r>
                <a:rPr lang="fr-FR" sz="1100" dirty="0" smtClean="0">
                  <a:solidFill>
                    <a:srgbClr val="4D4F53"/>
                  </a:solidFill>
                </a:rPr>
                <a:t>Saisir la division </a:t>
              </a:r>
            </a:p>
            <a:p>
              <a:pPr>
                <a:lnSpc>
                  <a:spcPct val="150000"/>
                </a:lnSpc>
              </a:pPr>
              <a:r>
                <a:rPr lang="fr-FR" sz="1100" dirty="0" smtClean="0">
                  <a:solidFill>
                    <a:srgbClr val="4D4F53"/>
                  </a:solidFill>
                </a:rPr>
                <a:t>On peut faire une sélection plus précise en détaillant d’autres critères comme  : article, magasin, lot, code mouvement, …</a:t>
              </a:r>
            </a:p>
            <a:p>
              <a:pPr>
                <a:lnSpc>
                  <a:spcPct val="150000"/>
                </a:lnSpc>
              </a:pPr>
              <a:endParaRPr lang="fr-FR" sz="1100" dirty="0" smtClean="0">
                <a:solidFill>
                  <a:srgbClr val="4D4F53"/>
                </a:solidFill>
              </a:endParaRPr>
            </a:p>
            <a:p>
              <a:pPr>
                <a:lnSpc>
                  <a:spcPct val="150000"/>
                </a:lnSpc>
              </a:pPr>
              <a:r>
                <a:rPr lang="fr-FR" sz="1100" dirty="0" smtClean="0">
                  <a:solidFill>
                    <a:srgbClr val="4D4F53"/>
                  </a:solidFill>
                </a:rPr>
                <a:t>Exécuter :</a:t>
              </a:r>
            </a:p>
            <a:p>
              <a:pPr>
                <a:lnSpc>
                  <a:spcPct val="150000"/>
                </a:lnSpc>
              </a:pPr>
              <a:r>
                <a:rPr lang="fr-FR" sz="1100" dirty="0" smtClean="0">
                  <a:solidFill>
                    <a:srgbClr val="4D4F53"/>
                  </a:solidFill>
                </a:rPr>
                <a:t>La liste des documents articles par article s’affiche avec les codes mouvements associés, les dates et les quantités</a:t>
              </a:r>
            </a:p>
          </p:txBody>
        </p:sp>
        <p:sp>
          <p:nvSpPr>
            <p:cNvPr id="11" name="Ellipse 10"/>
            <p:cNvSpPr/>
            <p:nvPr/>
          </p:nvSpPr>
          <p:spPr>
            <a:xfrm>
              <a:off x="5413599" y="1028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2" name="Ellipse 11"/>
            <p:cNvSpPr/>
            <p:nvPr/>
          </p:nvSpPr>
          <p:spPr>
            <a:xfrm>
              <a:off x="5413599" y="22576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grpSp>
      <p:pic>
        <p:nvPicPr>
          <p:cNvPr id="4" name="Image 3"/>
          <p:cNvPicPr>
            <a:picLocks noChangeAspect="1"/>
          </p:cNvPicPr>
          <p:nvPr/>
        </p:nvPicPr>
        <p:blipFill>
          <a:blip r:embed="rId3"/>
          <a:stretch>
            <a:fillRect/>
          </a:stretch>
        </p:blipFill>
        <p:spPr>
          <a:xfrm>
            <a:off x="6037040" y="391705"/>
            <a:ext cx="2850928" cy="3784506"/>
          </a:xfrm>
          <a:prstGeom prst="rect">
            <a:avLst/>
          </a:prstGeom>
        </p:spPr>
      </p:pic>
      <p:pic>
        <p:nvPicPr>
          <p:cNvPr id="6" name="Image 5"/>
          <p:cNvPicPr>
            <a:picLocks noChangeAspect="1"/>
          </p:cNvPicPr>
          <p:nvPr/>
        </p:nvPicPr>
        <p:blipFill>
          <a:blip r:embed="rId4"/>
          <a:stretch>
            <a:fillRect/>
          </a:stretch>
        </p:blipFill>
        <p:spPr>
          <a:xfrm>
            <a:off x="3945122" y="1235935"/>
            <a:ext cx="3419856" cy="3250910"/>
          </a:xfrm>
          <a:prstGeom prst="rect">
            <a:avLst/>
          </a:prstGeom>
        </p:spPr>
      </p:pic>
      <p:sp>
        <p:nvSpPr>
          <p:cNvPr id="23" name="Ellipse 22"/>
          <p:cNvSpPr/>
          <p:nvPr/>
        </p:nvSpPr>
        <p:spPr>
          <a:xfrm>
            <a:off x="5835872" y="55771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4" name="Ellipse 23"/>
          <p:cNvSpPr/>
          <p:nvPr/>
        </p:nvSpPr>
        <p:spPr>
          <a:xfrm>
            <a:off x="6918867" y="95526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6" name="Rectangle 25"/>
          <p:cNvSpPr/>
          <p:nvPr/>
        </p:nvSpPr>
        <p:spPr>
          <a:xfrm>
            <a:off x="7197818" y="983805"/>
            <a:ext cx="221537" cy="13924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Rectangle 26"/>
          <p:cNvSpPr/>
          <p:nvPr/>
        </p:nvSpPr>
        <p:spPr>
          <a:xfrm>
            <a:off x="4179269" y="2283958"/>
            <a:ext cx="221537" cy="4318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4114153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3063790" y="1063625"/>
            <a:ext cx="2711750" cy="2744310"/>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MMBE – Etat des stocks</a:t>
            </a:r>
            <a:endParaRPr lang="en-US" dirty="0"/>
          </a:p>
        </p:txBody>
      </p:sp>
      <p:grpSp>
        <p:nvGrpSpPr>
          <p:cNvPr id="47" name="Groupe 46"/>
          <p:cNvGrpSpPr/>
          <p:nvPr/>
        </p:nvGrpSpPr>
        <p:grpSpPr>
          <a:xfrm>
            <a:off x="447962" y="1095783"/>
            <a:ext cx="2542126" cy="2123658"/>
            <a:chOff x="5413599" y="888071"/>
            <a:chExt cx="2715929" cy="2123658"/>
          </a:xfrm>
        </p:grpSpPr>
        <p:sp>
          <p:nvSpPr>
            <p:cNvPr id="5" name="ZoneTexte 4"/>
            <p:cNvSpPr txBox="1"/>
            <p:nvPr/>
          </p:nvSpPr>
          <p:spPr>
            <a:xfrm>
              <a:off x="5551437" y="888071"/>
              <a:ext cx="2578091" cy="2123658"/>
            </a:xfrm>
            <a:prstGeom prst="rect">
              <a:avLst/>
            </a:prstGeom>
            <a:noFill/>
          </p:spPr>
          <p:txBody>
            <a:bodyPr wrap="square" rtlCol="0">
              <a:spAutoFit/>
            </a:bodyPr>
            <a:lstStyle/>
            <a:p>
              <a:pPr>
                <a:lnSpc>
                  <a:spcPct val="150000"/>
                </a:lnSpc>
              </a:pPr>
              <a:r>
                <a:rPr lang="fr-FR" sz="1100" dirty="0" smtClean="0">
                  <a:solidFill>
                    <a:srgbClr val="4D4F53"/>
                  </a:solidFill>
                </a:rPr>
                <a:t>Saisir l’article</a:t>
              </a:r>
            </a:p>
            <a:p>
              <a:pPr>
                <a:lnSpc>
                  <a:spcPct val="150000"/>
                </a:lnSpc>
              </a:pPr>
              <a:r>
                <a:rPr lang="fr-FR" sz="1100" dirty="0" smtClean="0">
                  <a:solidFill>
                    <a:srgbClr val="4D4F53"/>
                  </a:solidFill>
                </a:rPr>
                <a:t>Saisir la version d’affichage 99</a:t>
              </a:r>
            </a:p>
            <a:p>
              <a:pPr>
                <a:lnSpc>
                  <a:spcPct val="150000"/>
                </a:lnSpc>
              </a:pPr>
              <a:r>
                <a:rPr lang="fr-FR" sz="1100" dirty="0" smtClean="0">
                  <a:solidFill>
                    <a:srgbClr val="4D4F53"/>
                  </a:solidFill>
                </a:rPr>
                <a:t>Exécuter </a:t>
              </a:r>
            </a:p>
            <a:p>
              <a:pPr>
                <a:lnSpc>
                  <a:spcPct val="150000"/>
                </a:lnSpc>
              </a:pPr>
              <a:r>
                <a:rPr lang="fr-FR" sz="1100" dirty="0" smtClean="0">
                  <a:solidFill>
                    <a:srgbClr val="4D4F53"/>
                  </a:solidFill>
                </a:rPr>
                <a:t>L’état de stock d’affiche à un instant t, pour un article avec un affichage multi-niveaux (société, division, magasin, lot. La quantité en stock est découpé selon la statut du stock</a:t>
              </a:r>
            </a:p>
          </p:txBody>
        </p:sp>
        <p:sp>
          <p:nvSpPr>
            <p:cNvPr id="11" name="Ellipse 10"/>
            <p:cNvSpPr/>
            <p:nvPr/>
          </p:nvSpPr>
          <p:spPr>
            <a:xfrm>
              <a:off x="5413599" y="99882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2" name="Ellipse 11"/>
            <p:cNvSpPr/>
            <p:nvPr/>
          </p:nvSpPr>
          <p:spPr>
            <a:xfrm>
              <a:off x="5413599" y="121903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grpSp>
      <p:sp>
        <p:nvSpPr>
          <p:cNvPr id="23" name="Ellipse 22"/>
          <p:cNvSpPr/>
          <p:nvPr/>
        </p:nvSpPr>
        <p:spPr>
          <a:xfrm>
            <a:off x="3893485" y="256109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4" name="Ellipse 23"/>
          <p:cNvSpPr/>
          <p:nvPr/>
        </p:nvSpPr>
        <p:spPr>
          <a:xfrm>
            <a:off x="3877383" y="14688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7" name="Rectangle 26"/>
          <p:cNvSpPr/>
          <p:nvPr/>
        </p:nvSpPr>
        <p:spPr>
          <a:xfrm>
            <a:off x="4156334" y="1479921"/>
            <a:ext cx="671698" cy="1323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7" name="Image 6"/>
          <p:cNvPicPr>
            <a:picLocks noChangeAspect="1"/>
          </p:cNvPicPr>
          <p:nvPr/>
        </p:nvPicPr>
        <p:blipFill>
          <a:blip r:embed="rId4"/>
          <a:stretch>
            <a:fillRect/>
          </a:stretch>
        </p:blipFill>
        <p:spPr>
          <a:xfrm>
            <a:off x="5299661" y="1612300"/>
            <a:ext cx="3530700" cy="2786370"/>
          </a:xfrm>
          <a:prstGeom prst="rect">
            <a:avLst/>
          </a:prstGeom>
        </p:spPr>
      </p:pic>
      <p:sp>
        <p:nvSpPr>
          <p:cNvPr id="15" name="Ellipse 14"/>
          <p:cNvSpPr/>
          <p:nvPr/>
        </p:nvSpPr>
        <p:spPr>
          <a:xfrm>
            <a:off x="447963" y="169776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16" name="Ellipse 15"/>
          <p:cNvSpPr/>
          <p:nvPr/>
        </p:nvSpPr>
        <p:spPr>
          <a:xfrm>
            <a:off x="447963" y="194135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17" name="Rectangle 16"/>
          <p:cNvSpPr/>
          <p:nvPr/>
        </p:nvSpPr>
        <p:spPr>
          <a:xfrm>
            <a:off x="4111248" y="2596026"/>
            <a:ext cx="195576" cy="1323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9" name="Rectangle 18"/>
          <p:cNvSpPr/>
          <p:nvPr/>
        </p:nvSpPr>
        <p:spPr>
          <a:xfrm>
            <a:off x="3054646" y="1217637"/>
            <a:ext cx="146050" cy="1323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Ellipse 20"/>
          <p:cNvSpPr/>
          <p:nvPr/>
        </p:nvSpPr>
        <p:spPr>
          <a:xfrm>
            <a:off x="2871651" y="119544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cxnSp>
        <p:nvCxnSpPr>
          <p:cNvPr id="22" name="Connecteur en angle 21"/>
          <p:cNvCxnSpPr>
            <a:stCxn id="19" idx="3"/>
            <a:endCxn id="7" idx="0"/>
          </p:cNvCxnSpPr>
          <p:nvPr/>
        </p:nvCxnSpPr>
        <p:spPr>
          <a:xfrm>
            <a:off x="3200696" y="1283827"/>
            <a:ext cx="3864315" cy="328473"/>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64877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 MD04 – Afficher l’état dynamique des stocks</a:t>
            </a:r>
            <a:endParaRPr lang="en-US" dirty="0"/>
          </a:p>
        </p:txBody>
      </p:sp>
      <p:sp>
        <p:nvSpPr>
          <p:cNvPr id="25" name="Ellipse 24"/>
          <p:cNvSpPr/>
          <p:nvPr/>
        </p:nvSpPr>
        <p:spPr>
          <a:xfrm>
            <a:off x="462792" y="219536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pic>
        <p:nvPicPr>
          <p:cNvPr id="4" name="Image 3"/>
          <p:cNvPicPr>
            <a:picLocks noChangeAspect="1"/>
          </p:cNvPicPr>
          <p:nvPr/>
        </p:nvPicPr>
        <p:blipFill>
          <a:blip r:embed="rId3"/>
          <a:stretch>
            <a:fillRect/>
          </a:stretch>
        </p:blipFill>
        <p:spPr>
          <a:xfrm>
            <a:off x="6301360" y="778584"/>
            <a:ext cx="2266568" cy="1168562"/>
          </a:xfrm>
          <a:prstGeom prst="rect">
            <a:avLst/>
          </a:prstGeom>
        </p:spPr>
      </p:pic>
      <p:pic>
        <p:nvPicPr>
          <p:cNvPr id="5" name="Image 4"/>
          <p:cNvPicPr>
            <a:picLocks noChangeAspect="1"/>
          </p:cNvPicPr>
          <p:nvPr/>
        </p:nvPicPr>
        <p:blipFill>
          <a:blip r:embed="rId4"/>
          <a:stretch>
            <a:fillRect/>
          </a:stretch>
        </p:blipFill>
        <p:spPr>
          <a:xfrm>
            <a:off x="4405962" y="1983853"/>
            <a:ext cx="3924222" cy="2621180"/>
          </a:xfrm>
          <a:prstGeom prst="rect">
            <a:avLst/>
          </a:prstGeom>
        </p:spPr>
      </p:pic>
      <p:sp>
        <p:nvSpPr>
          <p:cNvPr id="29" name="ZoneTexte 28"/>
          <p:cNvSpPr txBox="1"/>
          <p:nvPr/>
        </p:nvSpPr>
        <p:spPr>
          <a:xfrm>
            <a:off x="678606" y="1344004"/>
            <a:ext cx="3828983" cy="1869743"/>
          </a:xfrm>
          <a:prstGeom prst="rect">
            <a:avLst/>
          </a:prstGeom>
          <a:noFill/>
        </p:spPr>
        <p:txBody>
          <a:bodyPr wrap="square" rtlCol="0">
            <a:spAutoFit/>
          </a:bodyPr>
          <a:lstStyle/>
          <a:p>
            <a:pPr>
              <a:lnSpc>
                <a:spcPct val="150000"/>
              </a:lnSpc>
            </a:pPr>
            <a:r>
              <a:rPr lang="fr-FR" sz="1100" dirty="0" smtClean="0">
                <a:solidFill>
                  <a:srgbClr val="4D4F53"/>
                </a:solidFill>
              </a:rPr>
              <a:t>Saisir l’article</a:t>
            </a:r>
          </a:p>
          <a:p>
            <a:pPr>
              <a:lnSpc>
                <a:spcPct val="150000"/>
              </a:lnSpc>
            </a:pPr>
            <a:r>
              <a:rPr lang="fr-FR" sz="1100" dirty="0" smtClean="0">
                <a:solidFill>
                  <a:srgbClr val="4D4F53"/>
                </a:solidFill>
              </a:rPr>
              <a:t>Saisir la division</a:t>
            </a:r>
          </a:p>
          <a:p>
            <a:pPr>
              <a:lnSpc>
                <a:spcPct val="150000"/>
              </a:lnSpc>
            </a:pPr>
            <a:r>
              <a:rPr lang="fr-FR" sz="1100" dirty="0" smtClean="0">
                <a:solidFill>
                  <a:srgbClr val="4D4F53"/>
                </a:solidFill>
              </a:rPr>
              <a:t>Entrer </a:t>
            </a:r>
          </a:p>
          <a:p>
            <a:pPr>
              <a:lnSpc>
                <a:spcPct val="150000"/>
              </a:lnSpc>
            </a:pPr>
            <a:r>
              <a:rPr lang="fr-FR" sz="1100" dirty="0" smtClean="0">
                <a:solidFill>
                  <a:srgbClr val="4D4F53"/>
                </a:solidFill>
              </a:rPr>
              <a:t>L’état dynamique du stock d’affiche. Par ordre chronologique, on peut voir les entrées et sorties prévisionnelles. Cet état dynamique sert de base au calcul du MRP pour lancer les propositions de réapprovisionnement.</a:t>
            </a:r>
          </a:p>
        </p:txBody>
      </p:sp>
      <p:sp>
        <p:nvSpPr>
          <p:cNvPr id="30" name="Ellipse 29"/>
          <p:cNvSpPr/>
          <p:nvPr/>
        </p:nvSpPr>
        <p:spPr>
          <a:xfrm>
            <a:off x="469048" y="143478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1</a:t>
            </a:r>
            <a:endParaRPr lang="fr-FR" sz="900" b="1" dirty="0" smtClean="0">
              <a:solidFill>
                <a:schemeClr val="bg1"/>
              </a:solidFill>
            </a:endParaRPr>
          </a:p>
        </p:txBody>
      </p:sp>
      <p:sp>
        <p:nvSpPr>
          <p:cNvPr id="31" name="Ellipse 30"/>
          <p:cNvSpPr/>
          <p:nvPr/>
        </p:nvSpPr>
        <p:spPr>
          <a:xfrm>
            <a:off x="468728" y="169773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2" name="Ellipse 31"/>
          <p:cNvSpPr/>
          <p:nvPr/>
        </p:nvSpPr>
        <p:spPr>
          <a:xfrm>
            <a:off x="462792" y="196068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33" name="Ellipse 32"/>
          <p:cNvSpPr/>
          <p:nvPr/>
        </p:nvSpPr>
        <p:spPr>
          <a:xfrm>
            <a:off x="6628013" y="142809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1</a:t>
            </a:r>
            <a:endParaRPr lang="fr-FR" sz="900" b="1" dirty="0" smtClean="0">
              <a:solidFill>
                <a:schemeClr val="bg1"/>
              </a:solidFill>
            </a:endParaRPr>
          </a:p>
        </p:txBody>
      </p:sp>
      <p:sp>
        <p:nvSpPr>
          <p:cNvPr id="34" name="Ellipse 33"/>
          <p:cNvSpPr/>
          <p:nvPr/>
        </p:nvSpPr>
        <p:spPr>
          <a:xfrm>
            <a:off x="6628013" y="161938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5" name="Ellipse 34"/>
          <p:cNvSpPr/>
          <p:nvPr/>
        </p:nvSpPr>
        <p:spPr>
          <a:xfrm>
            <a:off x="6368073" y="19825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41" name="Rectangle 40"/>
          <p:cNvSpPr/>
          <p:nvPr/>
        </p:nvSpPr>
        <p:spPr>
          <a:xfrm>
            <a:off x="6774156" y="1460610"/>
            <a:ext cx="467891" cy="12206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Rectangle 41"/>
          <p:cNvSpPr/>
          <p:nvPr/>
        </p:nvSpPr>
        <p:spPr>
          <a:xfrm>
            <a:off x="6792445" y="1604088"/>
            <a:ext cx="221004" cy="10837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41420821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sz="2400" dirty="0" smtClean="0"/>
              <a:t>MB5B</a:t>
            </a:r>
            <a:r>
              <a:rPr lang="fr-FR" altLang="en-US" dirty="0" smtClean="0"/>
              <a:t> </a:t>
            </a:r>
            <a:r>
              <a:rPr lang="fr-FR" altLang="en-US" dirty="0"/>
              <a:t>– </a:t>
            </a:r>
            <a:r>
              <a:rPr lang="fr-FR" altLang="en-US" dirty="0" smtClean="0"/>
              <a:t>Stock à la date comptable</a:t>
            </a:r>
            <a:endParaRPr lang="en-US" dirty="0"/>
          </a:p>
        </p:txBody>
      </p:sp>
      <p:grpSp>
        <p:nvGrpSpPr>
          <p:cNvPr id="4" name="Groupe 3"/>
          <p:cNvGrpSpPr/>
          <p:nvPr/>
        </p:nvGrpSpPr>
        <p:grpSpPr>
          <a:xfrm>
            <a:off x="351807" y="972028"/>
            <a:ext cx="4805411" cy="1361911"/>
            <a:chOff x="5413599" y="888071"/>
            <a:chExt cx="5133953" cy="1361911"/>
          </a:xfrm>
        </p:grpSpPr>
        <p:sp>
          <p:nvSpPr>
            <p:cNvPr id="5" name="ZoneTexte 4"/>
            <p:cNvSpPr txBox="1"/>
            <p:nvPr/>
          </p:nvSpPr>
          <p:spPr>
            <a:xfrm>
              <a:off x="5551434" y="888071"/>
              <a:ext cx="4996118" cy="1361911"/>
            </a:xfrm>
            <a:prstGeom prst="rect">
              <a:avLst/>
            </a:prstGeom>
            <a:noFill/>
          </p:spPr>
          <p:txBody>
            <a:bodyPr wrap="square" rtlCol="0">
              <a:spAutoFit/>
            </a:bodyPr>
            <a:lstStyle/>
            <a:p>
              <a:pPr>
                <a:lnSpc>
                  <a:spcPct val="150000"/>
                </a:lnSpc>
              </a:pPr>
              <a:r>
                <a:rPr lang="fr-FR" sz="1100" dirty="0" smtClean="0">
                  <a:solidFill>
                    <a:srgbClr val="4D4F53"/>
                  </a:solidFill>
                </a:rPr>
                <a:t>Saisir un ou plusieurs articles</a:t>
              </a:r>
            </a:p>
            <a:p>
              <a:pPr>
                <a:lnSpc>
                  <a:spcPct val="150000"/>
                </a:lnSpc>
              </a:pPr>
              <a:r>
                <a:rPr lang="fr-FR" sz="1100" dirty="0" smtClean="0">
                  <a:solidFill>
                    <a:srgbClr val="4D4F53"/>
                  </a:solidFill>
                </a:rPr>
                <a:t>Choisir la division </a:t>
              </a:r>
            </a:p>
            <a:p>
              <a:pPr>
                <a:lnSpc>
                  <a:spcPct val="150000"/>
                </a:lnSpc>
              </a:pPr>
              <a:r>
                <a:rPr lang="fr-FR" sz="1100" dirty="0" smtClean="0">
                  <a:solidFill>
                    <a:srgbClr val="4D4F53"/>
                  </a:solidFill>
                </a:rPr>
                <a:t>Choisir une période d’exécution</a:t>
              </a:r>
            </a:p>
            <a:p>
              <a:pPr>
                <a:lnSpc>
                  <a:spcPct val="150000"/>
                </a:lnSpc>
              </a:pPr>
              <a:r>
                <a:rPr lang="fr-FR" sz="1100" dirty="0">
                  <a:solidFill>
                    <a:srgbClr val="4D4F53"/>
                  </a:solidFill>
                </a:rPr>
                <a:t>E</a:t>
              </a:r>
              <a:r>
                <a:rPr lang="fr-FR" sz="1100" dirty="0" smtClean="0">
                  <a:solidFill>
                    <a:srgbClr val="4D4F53"/>
                  </a:solidFill>
                </a:rPr>
                <a:t>xécuter</a:t>
              </a:r>
            </a:p>
            <a:p>
              <a:pPr>
                <a:lnSpc>
                  <a:spcPct val="150000"/>
                </a:lnSpc>
              </a:pPr>
              <a:r>
                <a:rPr lang="fr-FR" sz="1100" dirty="0" smtClean="0">
                  <a:solidFill>
                    <a:srgbClr val="4D4F53"/>
                  </a:solidFill>
                </a:rPr>
                <a:t>L’évolution des quantités en stock pour une période donnée s’affiche</a:t>
              </a:r>
            </a:p>
          </p:txBody>
        </p:sp>
        <p:sp>
          <p:nvSpPr>
            <p:cNvPr id="6" name="Ellipse 5"/>
            <p:cNvSpPr/>
            <p:nvPr/>
          </p:nvSpPr>
          <p:spPr>
            <a:xfrm>
              <a:off x="5413599" y="1028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5413599" y="12789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5416914" y="15295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19" name="Ellipse 18"/>
          <p:cNvSpPr/>
          <p:nvPr/>
        </p:nvSpPr>
        <p:spPr>
          <a:xfrm>
            <a:off x="361165" y="184288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0" name="Ellipse 19"/>
          <p:cNvSpPr/>
          <p:nvPr/>
        </p:nvSpPr>
        <p:spPr>
          <a:xfrm>
            <a:off x="5317051" y="61347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pic>
        <p:nvPicPr>
          <p:cNvPr id="12" name="Image 11"/>
          <p:cNvPicPr>
            <a:picLocks noChangeAspect="1"/>
          </p:cNvPicPr>
          <p:nvPr/>
        </p:nvPicPr>
        <p:blipFill>
          <a:blip r:embed="rId2"/>
          <a:stretch>
            <a:fillRect/>
          </a:stretch>
        </p:blipFill>
        <p:spPr>
          <a:xfrm>
            <a:off x="5583979" y="4057601"/>
            <a:ext cx="2851868" cy="716700"/>
          </a:xfrm>
          <a:prstGeom prst="rect">
            <a:avLst/>
          </a:prstGeom>
        </p:spPr>
      </p:pic>
      <p:pic>
        <p:nvPicPr>
          <p:cNvPr id="15" name="Image 14"/>
          <p:cNvPicPr>
            <a:picLocks noChangeAspect="1"/>
          </p:cNvPicPr>
          <p:nvPr/>
        </p:nvPicPr>
        <p:blipFill>
          <a:blip r:embed="rId3"/>
          <a:stretch>
            <a:fillRect/>
          </a:stretch>
        </p:blipFill>
        <p:spPr>
          <a:xfrm>
            <a:off x="5522820" y="456598"/>
            <a:ext cx="3001200" cy="3586048"/>
          </a:xfrm>
          <a:prstGeom prst="rect">
            <a:avLst/>
          </a:prstGeom>
        </p:spPr>
      </p:pic>
      <p:pic>
        <p:nvPicPr>
          <p:cNvPr id="16" name="Image 15"/>
          <p:cNvPicPr>
            <a:picLocks noChangeAspect="1"/>
          </p:cNvPicPr>
          <p:nvPr/>
        </p:nvPicPr>
        <p:blipFill>
          <a:blip r:embed="rId4"/>
          <a:stretch>
            <a:fillRect/>
          </a:stretch>
        </p:blipFill>
        <p:spPr>
          <a:xfrm>
            <a:off x="2706546" y="2270965"/>
            <a:ext cx="2523744" cy="2616786"/>
          </a:xfrm>
          <a:prstGeom prst="rect">
            <a:avLst/>
          </a:prstGeom>
        </p:spPr>
      </p:pic>
      <p:sp>
        <p:nvSpPr>
          <p:cNvPr id="21" name="Rectangle 20"/>
          <p:cNvSpPr/>
          <p:nvPr/>
        </p:nvSpPr>
        <p:spPr>
          <a:xfrm>
            <a:off x="6723185" y="915986"/>
            <a:ext cx="482287" cy="13924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6723185" y="1140232"/>
            <a:ext cx="253688" cy="1265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6710640" y="1940291"/>
            <a:ext cx="1390944" cy="1265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5522820" y="641366"/>
            <a:ext cx="183036" cy="1265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2687798" y="3036330"/>
            <a:ext cx="2085369" cy="43839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348994" y="206783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7" name="Ellipse 36"/>
          <p:cNvSpPr/>
          <p:nvPr/>
        </p:nvSpPr>
        <p:spPr>
          <a:xfrm>
            <a:off x="6503848" y="89353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8" name="Ellipse 37"/>
          <p:cNvSpPr/>
          <p:nvPr/>
        </p:nvSpPr>
        <p:spPr>
          <a:xfrm>
            <a:off x="6503848" y="111218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9" name="Ellipse 38"/>
          <p:cNvSpPr/>
          <p:nvPr/>
        </p:nvSpPr>
        <p:spPr>
          <a:xfrm>
            <a:off x="6503848" y="191223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0" name="Ellipse 39"/>
          <p:cNvSpPr/>
          <p:nvPr/>
        </p:nvSpPr>
        <p:spPr>
          <a:xfrm>
            <a:off x="2603662" y="232127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Tree>
    <p:extLst>
      <p:ext uri="{BB962C8B-B14F-4D97-AF65-F5344CB8AC3E}">
        <p14:creationId xmlns:p14="http://schemas.microsoft.com/office/powerpoint/2010/main" val="32799952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2"/>
          <a:stretch>
            <a:fillRect/>
          </a:stretch>
        </p:blipFill>
        <p:spPr>
          <a:xfrm>
            <a:off x="5111197" y="635000"/>
            <a:ext cx="3712466" cy="2485736"/>
          </a:xfrm>
          <a:prstGeom prst="rect">
            <a:avLst/>
          </a:prstGeom>
        </p:spPr>
      </p:pic>
      <p:pic>
        <p:nvPicPr>
          <p:cNvPr id="11" name="Image 10"/>
          <p:cNvPicPr>
            <a:picLocks noChangeAspect="1"/>
          </p:cNvPicPr>
          <p:nvPr/>
        </p:nvPicPr>
        <p:blipFill>
          <a:blip r:embed="rId3"/>
          <a:stretch>
            <a:fillRect/>
          </a:stretch>
        </p:blipFill>
        <p:spPr>
          <a:xfrm>
            <a:off x="233874" y="2949836"/>
            <a:ext cx="5278024" cy="1689492"/>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MB5T </a:t>
            </a:r>
            <a:r>
              <a:rPr lang="fr-FR" altLang="en-US" dirty="0"/>
              <a:t>– </a:t>
            </a:r>
            <a:r>
              <a:rPr lang="fr-FR" altLang="en-US" dirty="0" smtClean="0"/>
              <a:t>Etat du stock en transit</a:t>
            </a:r>
            <a:endParaRPr lang="en-US" dirty="0"/>
          </a:p>
        </p:txBody>
      </p:sp>
      <p:grpSp>
        <p:nvGrpSpPr>
          <p:cNvPr id="4" name="Groupe 3"/>
          <p:cNvGrpSpPr/>
          <p:nvPr/>
        </p:nvGrpSpPr>
        <p:grpSpPr>
          <a:xfrm>
            <a:off x="351807" y="1128741"/>
            <a:ext cx="3891009" cy="1361911"/>
            <a:chOff x="5413599" y="888071"/>
            <a:chExt cx="4157034" cy="1361911"/>
          </a:xfrm>
        </p:grpSpPr>
        <p:sp>
          <p:nvSpPr>
            <p:cNvPr id="5" name="ZoneTexte 4"/>
            <p:cNvSpPr txBox="1"/>
            <p:nvPr/>
          </p:nvSpPr>
          <p:spPr>
            <a:xfrm>
              <a:off x="5551435" y="888071"/>
              <a:ext cx="4019198" cy="1361911"/>
            </a:xfrm>
            <a:prstGeom prst="rect">
              <a:avLst/>
            </a:prstGeom>
            <a:noFill/>
          </p:spPr>
          <p:txBody>
            <a:bodyPr wrap="square" rtlCol="0">
              <a:spAutoFit/>
            </a:bodyPr>
            <a:lstStyle/>
            <a:p>
              <a:pPr>
                <a:lnSpc>
                  <a:spcPct val="150000"/>
                </a:lnSpc>
              </a:pPr>
              <a:r>
                <a:rPr lang="fr-FR" sz="1100" dirty="0" smtClean="0">
                  <a:solidFill>
                    <a:srgbClr val="4D4F53"/>
                  </a:solidFill>
                </a:rPr>
                <a:t>Choisir une division </a:t>
              </a:r>
            </a:p>
            <a:p>
              <a:pPr>
                <a:lnSpc>
                  <a:spcPct val="150000"/>
                </a:lnSpc>
              </a:pPr>
              <a:r>
                <a:rPr lang="fr-FR" sz="1100" dirty="0" smtClean="0">
                  <a:solidFill>
                    <a:srgbClr val="4D4F53"/>
                  </a:solidFill>
                </a:rPr>
                <a:t>Exécuter</a:t>
              </a:r>
            </a:p>
            <a:p>
              <a:pPr>
                <a:lnSpc>
                  <a:spcPct val="150000"/>
                </a:lnSpc>
              </a:pPr>
              <a:r>
                <a:rPr lang="fr-FR" sz="1100" dirty="0" smtClean="0">
                  <a:solidFill>
                    <a:srgbClr val="4D4F53"/>
                  </a:solidFill>
                </a:rPr>
                <a:t>L’état du stock en transit s’affiche par code article avec la division cédante. On voit la quantité commandée et la quantité en transit.</a:t>
              </a:r>
            </a:p>
          </p:txBody>
        </p:sp>
        <p:sp>
          <p:nvSpPr>
            <p:cNvPr id="6" name="Ellipse 5"/>
            <p:cNvSpPr/>
            <p:nvPr/>
          </p:nvSpPr>
          <p:spPr>
            <a:xfrm>
              <a:off x="5413599" y="1028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5413599" y="12789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5416914" y="15295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45" name="Image 44"/>
          <p:cNvPicPr>
            <a:picLocks noChangeAspect="1"/>
          </p:cNvPicPr>
          <p:nvPr/>
        </p:nvPicPr>
        <p:blipFill>
          <a:blip r:embed="rId4"/>
          <a:stretch>
            <a:fillRect/>
          </a:stretch>
        </p:blipFill>
        <p:spPr>
          <a:xfrm>
            <a:off x="1144740" y="1448709"/>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50" name="Rectangle 49"/>
          <p:cNvSpPr/>
          <p:nvPr/>
        </p:nvSpPr>
        <p:spPr>
          <a:xfrm>
            <a:off x="6584762" y="1377841"/>
            <a:ext cx="373822" cy="141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Rectangle 25"/>
          <p:cNvSpPr/>
          <p:nvPr/>
        </p:nvSpPr>
        <p:spPr>
          <a:xfrm>
            <a:off x="5151948" y="845943"/>
            <a:ext cx="141646" cy="18841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31" name="Connecteur droit avec flèche 30"/>
          <p:cNvCxnSpPr/>
          <p:nvPr/>
        </p:nvCxnSpPr>
        <p:spPr>
          <a:xfrm flipH="1">
            <a:off x="4434840" y="941832"/>
            <a:ext cx="676358" cy="2008004"/>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43390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p:txBody>
          <a:bodyPr/>
          <a:lstStyle/>
          <a:p>
            <a:r>
              <a:rPr lang="fr-FR" altLang="en-US" sz="2400" dirty="0"/>
              <a:t>Mode opératoire</a:t>
            </a:r>
            <a:br>
              <a:rPr lang="fr-FR" altLang="en-US" sz="2400" dirty="0"/>
            </a:br>
            <a:r>
              <a:rPr lang="fr-FR" altLang="en-US" dirty="0" smtClean="0"/>
              <a:t> </a:t>
            </a:r>
            <a:r>
              <a:rPr lang="fr-FR" altLang="en-US" dirty="0" smtClean="0"/>
              <a:t>MSR_TRC_I– </a:t>
            </a:r>
            <a:r>
              <a:rPr lang="fr-FR" altLang="en-US" dirty="0" smtClean="0"/>
              <a:t>Cockpit de retour fournisseur </a:t>
            </a:r>
            <a:endParaRPr lang="en-US" dirty="0"/>
          </a:p>
        </p:txBody>
      </p:sp>
      <p:pic>
        <p:nvPicPr>
          <p:cNvPr id="4" name="Image 3"/>
          <p:cNvPicPr>
            <a:picLocks noChangeAspect="1"/>
          </p:cNvPicPr>
          <p:nvPr/>
        </p:nvPicPr>
        <p:blipFill>
          <a:blip r:embed="rId2"/>
          <a:stretch>
            <a:fillRect/>
          </a:stretch>
        </p:blipFill>
        <p:spPr>
          <a:xfrm>
            <a:off x="222931" y="1339596"/>
            <a:ext cx="5775924" cy="2791144"/>
          </a:xfrm>
          <a:prstGeom prst="rect">
            <a:avLst/>
          </a:prstGeom>
        </p:spPr>
      </p:pic>
      <p:grpSp>
        <p:nvGrpSpPr>
          <p:cNvPr id="5" name="Groupe 4"/>
          <p:cNvGrpSpPr/>
          <p:nvPr/>
        </p:nvGrpSpPr>
        <p:grpSpPr>
          <a:xfrm>
            <a:off x="6223973" y="1901948"/>
            <a:ext cx="2636492" cy="954107"/>
            <a:chOff x="424889" y="1232489"/>
            <a:chExt cx="3315234" cy="954107"/>
          </a:xfrm>
        </p:grpSpPr>
        <p:sp>
          <p:nvSpPr>
            <p:cNvPr id="6" name="ZoneTexte 5"/>
            <p:cNvSpPr txBox="1"/>
            <p:nvPr/>
          </p:nvSpPr>
          <p:spPr>
            <a:xfrm>
              <a:off x="581025" y="1232489"/>
              <a:ext cx="3159098" cy="954107"/>
            </a:xfrm>
            <a:prstGeom prst="rect">
              <a:avLst/>
            </a:prstGeom>
            <a:noFill/>
          </p:spPr>
          <p:txBody>
            <a:bodyPr wrap="square" rtlCol="0">
              <a:spAutoFit/>
            </a:bodyPr>
            <a:lstStyle/>
            <a:p>
              <a:pPr>
                <a:spcBef>
                  <a:spcPts val="300"/>
                </a:spcBef>
                <a:spcAft>
                  <a:spcPts val="300"/>
                </a:spcAft>
              </a:pPr>
              <a:r>
                <a:rPr lang="fr-FR" sz="1000" dirty="0" smtClean="0">
                  <a:solidFill>
                    <a:srgbClr val="4D4F53"/>
                  </a:solidFill>
                </a:rPr>
                <a:t>Indiquer le numéro de la commande retour</a:t>
              </a:r>
              <a:endParaRPr lang="fr-FR" sz="1000" dirty="0">
                <a:solidFill>
                  <a:srgbClr val="4D4F53"/>
                </a:solidFill>
              </a:endParaRPr>
            </a:p>
            <a:p>
              <a:pPr>
                <a:spcBef>
                  <a:spcPts val="300"/>
                </a:spcBef>
                <a:spcAft>
                  <a:spcPts val="300"/>
                </a:spcAft>
              </a:pPr>
              <a:r>
                <a:rPr lang="fr-FR" sz="1000" dirty="0" smtClean="0">
                  <a:solidFill>
                    <a:srgbClr val="4D4F53"/>
                  </a:solidFill>
                </a:rPr>
                <a:t>Exécuter</a:t>
              </a:r>
            </a:p>
            <a:p>
              <a:pPr>
                <a:spcBef>
                  <a:spcPts val="300"/>
                </a:spcBef>
                <a:spcAft>
                  <a:spcPts val="300"/>
                </a:spcAft>
              </a:pPr>
              <a:r>
                <a:rPr lang="fr-FR" sz="1000" dirty="0" smtClean="0">
                  <a:solidFill>
                    <a:srgbClr val="4D4F53"/>
                  </a:solidFill>
                </a:rPr>
                <a:t>L’étape de sortie de marchandises est mise à jour</a:t>
              </a:r>
            </a:p>
            <a:p>
              <a:pPr>
                <a:spcBef>
                  <a:spcPts val="300"/>
                </a:spcBef>
                <a:spcAft>
                  <a:spcPts val="300"/>
                </a:spcAft>
              </a:pPr>
              <a:endParaRPr lang="fr-FR" sz="1100" dirty="0" smtClean="0">
                <a:solidFill>
                  <a:srgbClr val="4D4F53"/>
                </a:solidFill>
              </a:endParaRPr>
            </a:p>
          </p:txBody>
        </p:sp>
        <p:sp>
          <p:nvSpPr>
            <p:cNvPr id="7" name="Ellipse 6"/>
            <p:cNvSpPr/>
            <p:nvPr/>
          </p:nvSpPr>
          <p:spPr>
            <a:xfrm>
              <a:off x="424889" y="12881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8" name="Ellipse 7"/>
            <p:cNvSpPr/>
            <p:nvPr/>
          </p:nvSpPr>
          <p:spPr>
            <a:xfrm>
              <a:off x="424889" y="1522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9" name="Ellipse 8"/>
            <p:cNvSpPr/>
            <p:nvPr/>
          </p:nvSpPr>
          <p:spPr>
            <a:xfrm>
              <a:off x="424889" y="17476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grpSp>
      <p:sp>
        <p:nvSpPr>
          <p:cNvPr id="10" name="Rectangle 9"/>
          <p:cNvSpPr/>
          <p:nvPr/>
        </p:nvSpPr>
        <p:spPr>
          <a:xfrm>
            <a:off x="1338212" y="1766136"/>
            <a:ext cx="419703" cy="117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1" name="Rectangle 10"/>
          <p:cNvSpPr/>
          <p:nvPr/>
        </p:nvSpPr>
        <p:spPr>
          <a:xfrm>
            <a:off x="230019" y="1502332"/>
            <a:ext cx="166930" cy="17761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2" name="Ellipse 11"/>
          <p:cNvSpPr/>
          <p:nvPr/>
        </p:nvSpPr>
        <p:spPr>
          <a:xfrm>
            <a:off x="1104105" y="1747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3" name="Ellipse 12"/>
          <p:cNvSpPr/>
          <p:nvPr/>
        </p:nvSpPr>
        <p:spPr>
          <a:xfrm>
            <a:off x="396949" y="15253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4" name="Rectangle 13"/>
          <p:cNvSpPr/>
          <p:nvPr/>
        </p:nvSpPr>
        <p:spPr>
          <a:xfrm>
            <a:off x="5098596" y="4013690"/>
            <a:ext cx="409070" cy="117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Ellipse 14"/>
          <p:cNvSpPr/>
          <p:nvPr/>
        </p:nvSpPr>
        <p:spPr>
          <a:xfrm>
            <a:off x="4873478" y="399492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Tree>
    <p:extLst>
      <p:ext uri="{BB962C8B-B14F-4D97-AF65-F5344CB8AC3E}">
        <p14:creationId xmlns:p14="http://schemas.microsoft.com/office/powerpoint/2010/main" val="5875592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p:txBody>
          <a:bodyPr/>
          <a:lstStyle/>
          <a:p>
            <a:r>
              <a:rPr lang="fr-FR" altLang="en-US" sz="2400" dirty="0"/>
              <a:t>Mode opératoire</a:t>
            </a:r>
            <a:br>
              <a:rPr lang="fr-FR" altLang="en-US" sz="2400" dirty="0"/>
            </a:br>
            <a:r>
              <a:rPr lang="fr-FR" altLang="en-US" dirty="0" smtClean="0"/>
              <a:t> MBLB – Cockpit de mise à disposition du fournisseur</a:t>
            </a:r>
            <a:endParaRPr lang="en-US" dirty="0"/>
          </a:p>
        </p:txBody>
      </p:sp>
      <p:pic>
        <p:nvPicPr>
          <p:cNvPr id="5" name="Image 4"/>
          <p:cNvPicPr>
            <a:picLocks noChangeAspect="1"/>
          </p:cNvPicPr>
          <p:nvPr/>
        </p:nvPicPr>
        <p:blipFill>
          <a:blip r:embed="rId2"/>
          <a:stretch>
            <a:fillRect/>
          </a:stretch>
        </p:blipFill>
        <p:spPr>
          <a:xfrm>
            <a:off x="5111495" y="1375956"/>
            <a:ext cx="3346706" cy="1641780"/>
          </a:xfrm>
          <a:prstGeom prst="rect">
            <a:avLst/>
          </a:prstGeom>
        </p:spPr>
      </p:pic>
      <p:pic>
        <p:nvPicPr>
          <p:cNvPr id="6" name="Image 5"/>
          <p:cNvPicPr>
            <a:picLocks noChangeAspect="1"/>
          </p:cNvPicPr>
          <p:nvPr/>
        </p:nvPicPr>
        <p:blipFill>
          <a:blip r:embed="rId3"/>
          <a:stretch>
            <a:fillRect/>
          </a:stretch>
        </p:blipFill>
        <p:spPr>
          <a:xfrm>
            <a:off x="2304287" y="3109176"/>
            <a:ext cx="6547106" cy="1333300"/>
          </a:xfrm>
          <a:prstGeom prst="rect">
            <a:avLst/>
          </a:prstGeom>
        </p:spPr>
      </p:pic>
      <p:grpSp>
        <p:nvGrpSpPr>
          <p:cNvPr id="7" name="Groupe 6"/>
          <p:cNvGrpSpPr/>
          <p:nvPr/>
        </p:nvGrpSpPr>
        <p:grpSpPr>
          <a:xfrm>
            <a:off x="351807" y="1128741"/>
            <a:ext cx="3891009" cy="1107996"/>
            <a:chOff x="5413599" y="888071"/>
            <a:chExt cx="4157034" cy="1107996"/>
          </a:xfrm>
        </p:grpSpPr>
        <p:sp>
          <p:nvSpPr>
            <p:cNvPr id="8" name="ZoneTexte 7"/>
            <p:cNvSpPr txBox="1"/>
            <p:nvPr/>
          </p:nvSpPr>
          <p:spPr>
            <a:xfrm>
              <a:off x="5551435" y="888071"/>
              <a:ext cx="4019198" cy="1107996"/>
            </a:xfrm>
            <a:prstGeom prst="rect">
              <a:avLst/>
            </a:prstGeom>
            <a:noFill/>
          </p:spPr>
          <p:txBody>
            <a:bodyPr wrap="square" rtlCol="0">
              <a:spAutoFit/>
            </a:bodyPr>
            <a:lstStyle/>
            <a:p>
              <a:pPr>
                <a:lnSpc>
                  <a:spcPct val="150000"/>
                </a:lnSpc>
              </a:pPr>
              <a:r>
                <a:rPr lang="fr-FR" sz="1100" dirty="0" smtClean="0">
                  <a:solidFill>
                    <a:srgbClr val="4D4F53"/>
                  </a:solidFill>
                </a:rPr>
                <a:t>Choisir un fournisseur</a:t>
              </a:r>
            </a:p>
            <a:p>
              <a:pPr>
                <a:lnSpc>
                  <a:spcPct val="150000"/>
                </a:lnSpc>
              </a:pPr>
              <a:r>
                <a:rPr lang="fr-FR" sz="1100" dirty="0" smtClean="0">
                  <a:solidFill>
                    <a:srgbClr val="4D4F53"/>
                  </a:solidFill>
                </a:rPr>
                <a:t>Exécuter</a:t>
              </a:r>
            </a:p>
            <a:p>
              <a:pPr>
                <a:lnSpc>
                  <a:spcPct val="150000"/>
                </a:lnSpc>
              </a:pPr>
              <a:r>
                <a:rPr lang="fr-FR" sz="1100" dirty="0" smtClean="0">
                  <a:solidFill>
                    <a:srgbClr val="4D4F53"/>
                  </a:solidFill>
                </a:rPr>
                <a:t>La liste des articles en stock chez le sous-traitance s’affiche avec les quantités</a:t>
              </a:r>
            </a:p>
          </p:txBody>
        </p:sp>
        <p:sp>
          <p:nvSpPr>
            <p:cNvPr id="9" name="Ellipse 8"/>
            <p:cNvSpPr/>
            <p:nvPr/>
          </p:nvSpPr>
          <p:spPr>
            <a:xfrm>
              <a:off x="5413599" y="1028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5413599" y="12789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5416914" y="15295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12" name="Rectangle 11"/>
          <p:cNvSpPr/>
          <p:nvPr/>
        </p:nvSpPr>
        <p:spPr>
          <a:xfrm>
            <a:off x="6397850" y="1902901"/>
            <a:ext cx="588165" cy="141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3" name="Rectangle 12"/>
          <p:cNvSpPr/>
          <p:nvPr/>
        </p:nvSpPr>
        <p:spPr>
          <a:xfrm>
            <a:off x="5111495" y="1596865"/>
            <a:ext cx="164593" cy="141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6173487" y="189006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Ellipse 14"/>
          <p:cNvSpPr/>
          <p:nvPr/>
        </p:nvSpPr>
        <p:spPr>
          <a:xfrm>
            <a:off x="4875039" y="158402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6" name="Ellipse 15"/>
          <p:cNvSpPr/>
          <p:nvPr/>
        </p:nvSpPr>
        <p:spPr>
          <a:xfrm>
            <a:off x="4096672" y="310917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28946011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285872" y="475488"/>
            <a:ext cx="3400928" cy="4164402"/>
          </a:xfrm>
          <a:prstGeom prst="rect">
            <a:avLst/>
          </a:prstGeom>
        </p:spPr>
      </p:pic>
      <p:sp>
        <p:nvSpPr>
          <p:cNvPr id="3" name="Titre 1"/>
          <p:cNvSpPr>
            <a:spLocks noGrp="1"/>
          </p:cNvSpPr>
          <p:nvPr>
            <p:ph type="title"/>
          </p:nvPr>
        </p:nvSpPr>
        <p:spPr/>
        <p:txBody>
          <a:bodyPr/>
          <a:lstStyle/>
          <a:p>
            <a:r>
              <a:rPr lang="fr-FR" altLang="en-US" sz="2400" dirty="0"/>
              <a:t>Mode opératoire</a:t>
            </a:r>
            <a:br>
              <a:rPr lang="fr-FR" altLang="en-US" sz="2400" dirty="0"/>
            </a:br>
            <a:r>
              <a:rPr lang="fr-FR" altLang="en-US" dirty="0" smtClean="0"/>
              <a:t> MB25 – Liste des réservations article</a:t>
            </a:r>
            <a:endParaRPr lang="en-US" dirty="0"/>
          </a:p>
        </p:txBody>
      </p:sp>
      <p:grpSp>
        <p:nvGrpSpPr>
          <p:cNvPr id="7" name="Groupe 6"/>
          <p:cNvGrpSpPr/>
          <p:nvPr/>
        </p:nvGrpSpPr>
        <p:grpSpPr>
          <a:xfrm>
            <a:off x="351807" y="1128741"/>
            <a:ext cx="3891009" cy="854080"/>
            <a:chOff x="5413599" y="888071"/>
            <a:chExt cx="4157034" cy="854080"/>
          </a:xfrm>
        </p:grpSpPr>
        <p:sp>
          <p:nvSpPr>
            <p:cNvPr id="8" name="ZoneTexte 7"/>
            <p:cNvSpPr txBox="1"/>
            <p:nvPr/>
          </p:nvSpPr>
          <p:spPr>
            <a:xfrm>
              <a:off x="5551435" y="888071"/>
              <a:ext cx="4019198" cy="854080"/>
            </a:xfrm>
            <a:prstGeom prst="rect">
              <a:avLst/>
            </a:prstGeom>
            <a:noFill/>
          </p:spPr>
          <p:txBody>
            <a:bodyPr wrap="square" rtlCol="0">
              <a:spAutoFit/>
            </a:bodyPr>
            <a:lstStyle/>
            <a:p>
              <a:pPr>
                <a:lnSpc>
                  <a:spcPct val="150000"/>
                </a:lnSpc>
              </a:pPr>
              <a:r>
                <a:rPr lang="fr-FR" sz="1100" dirty="0" smtClean="0">
                  <a:solidFill>
                    <a:srgbClr val="4D4F53"/>
                  </a:solidFill>
                </a:rPr>
                <a:t>Choisir une division</a:t>
              </a:r>
            </a:p>
            <a:p>
              <a:pPr>
                <a:lnSpc>
                  <a:spcPct val="150000"/>
                </a:lnSpc>
              </a:pPr>
              <a:r>
                <a:rPr lang="fr-FR" sz="1100" dirty="0" smtClean="0">
                  <a:solidFill>
                    <a:srgbClr val="4D4F53"/>
                  </a:solidFill>
                </a:rPr>
                <a:t>Exécuter</a:t>
              </a:r>
            </a:p>
            <a:p>
              <a:pPr>
                <a:lnSpc>
                  <a:spcPct val="150000"/>
                </a:lnSpc>
              </a:pPr>
              <a:r>
                <a:rPr lang="fr-FR" sz="1100" dirty="0" smtClean="0">
                  <a:solidFill>
                    <a:srgbClr val="4D4F53"/>
                  </a:solidFill>
                </a:rPr>
                <a:t>La liste des réservations en cours s’affiche</a:t>
              </a:r>
            </a:p>
          </p:txBody>
        </p:sp>
        <p:sp>
          <p:nvSpPr>
            <p:cNvPr id="9" name="Ellipse 8"/>
            <p:cNvSpPr/>
            <p:nvPr/>
          </p:nvSpPr>
          <p:spPr>
            <a:xfrm>
              <a:off x="5413599" y="1028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5413599" y="127890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5416914" y="15295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12" name="Rectangle 11"/>
          <p:cNvSpPr/>
          <p:nvPr/>
        </p:nvSpPr>
        <p:spPr>
          <a:xfrm>
            <a:off x="6691933" y="1127156"/>
            <a:ext cx="186470" cy="141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3" name="Rectangle 12"/>
          <p:cNvSpPr/>
          <p:nvPr/>
        </p:nvSpPr>
        <p:spPr>
          <a:xfrm>
            <a:off x="5340095" y="666567"/>
            <a:ext cx="164593" cy="1417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6467569" y="111431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Ellipse 14"/>
          <p:cNvSpPr/>
          <p:nvPr/>
        </p:nvSpPr>
        <p:spPr>
          <a:xfrm>
            <a:off x="5108611" y="63500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6" name="Ellipse 15"/>
          <p:cNvSpPr/>
          <p:nvPr/>
        </p:nvSpPr>
        <p:spPr>
          <a:xfrm>
            <a:off x="4096672" y="310917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4" name="Image 3"/>
          <p:cNvPicPr>
            <a:picLocks noChangeAspect="1"/>
          </p:cNvPicPr>
          <p:nvPr/>
        </p:nvPicPr>
        <p:blipFill>
          <a:blip r:embed="rId3"/>
          <a:stretch>
            <a:fillRect/>
          </a:stretch>
        </p:blipFill>
        <p:spPr>
          <a:xfrm>
            <a:off x="264248" y="2277317"/>
            <a:ext cx="4490632" cy="2203050"/>
          </a:xfrm>
          <a:prstGeom prst="rect">
            <a:avLst/>
          </a:prstGeom>
        </p:spPr>
      </p:pic>
      <p:cxnSp>
        <p:nvCxnSpPr>
          <p:cNvPr id="17" name="Connecteur droit avec flèche 16"/>
          <p:cNvCxnSpPr/>
          <p:nvPr/>
        </p:nvCxnSpPr>
        <p:spPr>
          <a:xfrm flipH="1">
            <a:off x="3300984" y="789575"/>
            <a:ext cx="2039112" cy="1487742"/>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0" name="Ellipse 19"/>
          <p:cNvSpPr/>
          <p:nvPr/>
        </p:nvSpPr>
        <p:spPr>
          <a:xfrm>
            <a:off x="2420913" y="230629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37284387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756458"/>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Exécuter les transactions de </a:t>
            </a:r>
            <a:r>
              <a:rPr lang="fr-FR" sz="1350" dirty="0" err="1" smtClean="0">
                <a:solidFill>
                  <a:srgbClr val="4F81BD"/>
                </a:solidFill>
                <a:latin typeface="Arial Narrow" pitchFamily="34" charset="0"/>
                <a:ea typeface="ＭＳ Ｐゴシック"/>
                <a:cs typeface="ＭＳ Ｐゴシック"/>
              </a:rPr>
              <a:t>reporting</a:t>
            </a:r>
            <a:r>
              <a:rPr lang="fr-FR" sz="1350" dirty="0" smtClean="0">
                <a:solidFill>
                  <a:srgbClr val="4F81BD"/>
                </a:solidFill>
                <a:latin typeface="Arial Narrow" pitchFamily="34" charset="0"/>
                <a:ea typeface="ＭＳ Ｐゴシック"/>
                <a:cs typeface="ＭＳ Ｐゴシック"/>
              </a:rPr>
              <a:t> d’état des stocks</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800516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285750" indent="-285750">
              <a:buClr>
                <a:srgbClr val="004376"/>
              </a:buClr>
              <a:buSzPct val="100000"/>
              <a:buFont typeface="Arial" panose="020B0604020202020204" pitchFamily="34" charset="0"/>
              <a:buChar char="•"/>
            </a:pPr>
            <a:r>
              <a:rPr lang="fr-FR" sz="1600" dirty="0" smtClean="0">
                <a:latin typeface="Arial" panose="020B0604020202020204" pitchFamily="34" charset="0"/>
                <a:ea typeface="ＭＳ Ｐゴシック" panose="020B0600070205080204" pitchFamily="34" charset="-128"/>
                <a:cs typeface="Arial" panose="020B0604020202020204" pitchFamily="34" charset="0"/>
              </a:rPr>
              <a:t>Le </a:t>
            </a:r>
            <a:r>
              <a:rPr lang="fr-FR" sz="1600" dirty="0" err="1" smtClean="0">
                <a:latin typeface="Arial" panose="020B0604020202020204" pitchFamily="34" charset="0"/>
                <a:ea typeface="ＭＳ Ｐゴシック" panose="020B0600070205080204" pitchFamily="34" charset="-128"/>
                <a:cs typeface="Arial" panose="020B0604020202020204" pitchFamily="34" charset="0"/>
              </a:rPr>
              <a:t>reporting</a:t>
            </a:r>
            <a:r>
              <a:rPr lang="fr-FR" sz="1600" dirty="0" smtClean="0">
                <a:latin typeface="Arial" panose="020B0604020202020204" pitchFamily="34" charset="0"/>
                <a:ea typeface="ＭＳ Ｐゴシック" panose="020B0600070205080204" pitchFamily="34" charset="-128"/>
                <a:cs typeface="Arial" panose="020B0604020202020204" pitchFamily="34" charset="0"/>
              </a:rPr>
              <a:t> des mouvements de stock permet de suivre les quantités en stock, le type de stock, les actions en cours, passées ou futures sur le stock</a:t>
            </a:r>
          </a:p>
          <a:p>
            <a:pPr marL="285750" indent="-285750">
              <a:buClr>
                <a:srgbClr val="004376"/>
              </a:buClr>
              <a:buSzPct val="100000"/>
              <a:buFont typeface="Arial" panose="020B0604020202020204" pitchFamily="34" charset="0"/>
              <a:buChar char="•"/>
            </a:pPr>
            <a:r>
              <a:rPr lang="fr-FR" sz="1600" dirty="0" smtClean="0">
                <a:latin typeface="Arial" panose="020B0604020202020204" pitchFamily="34" charset="0"/>
                <a:ea typeface="ＭＳ Ｐゴシック" panose="020B0600070205080204" pitchFamily="34" charset="-128"/>
                <a:cs typeface="Arial" panose="020B0604020202020204" pitchFamily="34" charset="0"/>
              </a:rPr>
              <a:t>Le stock peut être visualisé dans les magasins, chez le sous-traitant, en transit.</a:t>
            </a:r>
          </a:p>
          <a:p>
            <a:pPr marL="285750" indent="-285750">
              <a:buClr>
                <a:srgbClr val="004376"/>
              </a:buClr>
              <a:buSzPct val="100000"/>
              <a:buFont typeface="Arial" panose="020B0604020202020204" pitchFamily="34" charset="0"/>
              <a:buChar char="•"/>
            </a:pPr>
            <a:r>
              <a:rPr lang="fr-FR" sz="1600" dirty="0" smtClean="0">
                <a:latin typeface="Arial" panose="020B0604020202020204" pitchFamily="34" charset="0"/>
                <a:ea typeface="ＭＳ Ｐゴシック" panose="020B0600070205080204" pitchFamily="34" charset="-128"/>
                <a:cs typeface="Arial" panose="020B0604020202020204" pitchFamily="34" charset="0"/>
              </a:rPr>
              <a:t>On peut voir l’évolution du stock disponible dans le temps avec les mouvements en cours et les actions futures</a:t>
            </a:r>
          </a:p>
          <a:p>
            <a:pPr marL="285750" indent="-285750">
              <a:buClr>
                <a:srgbClr val="004376"/>
              </a:buClr>
              <a:buSzPct val="100000"/>
              <a:buFont typeface="Arial" panose="020B0604020202020204" pitchFamily="34" charset="0"/>
              <a:buChar char="•"/>
            </a:pPr>
            <a:endParaRPr lang="fr-FR" sz="1600"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VHEKTECQ7ECW-1532981086-4345</_dlc_DocId>
    <_dlc_DocIdUrl xmlns="f36dd47d-0b23-43fd-9b2d-c5346ffa1660">
      <Url>http://projets.cbg-guinee.com/erp/_layouts/15/DocIdRedir.aspx?ID=VHEKTECQ7ECW-1532981086-4345</Url>
      <Description>VHEKTECQ7ECW-1532981086-4345</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0440AA-2818-4CCC-80D7-64D459898810}"/>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03CB18F6-422B-4DA5-A6CE-F0446514847E}"/>
</file>

<file path=docProps/app.xml><?xml version="1.0" encoding="utf-8"?>
<Properties xmlns="http://schemas.openxmlformats.org/officeDocument/2006/extended-properties" xmlns:vt="http://schemas.openxmlformats.org/officeDocument/2006/docPropsVTypes">
  <Template/>
  <TotalTime>0</TotalTime>
  <Words>794</Words>
  <Application>Microsoft Office PowerPoint</Application>
  <PresentationFormat>Affichage à l'écran (16:9)</PresentationFormat>
  <Paragraphs>206</Paragraphs>
  <Slides>21</Slides>
  <Notes>10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21</vt:i4>
      </vt:variant>
    </vt:vector>
  </HeadingPairs>
  <TitlesOfParts>
    <vt:vector size="30" baseType="lpstr">
      <vt:lpstr>ＭＳ Ｐゴシック</vt:lpstr>
      <vt:lpstr>Arial</vt:lpstr>
      <vt:lpstr>Arial Narrow</vt:lpstr>
      <vt:lpstr>Calibri</vt:lpstr>
      <vt:lpstr>Courier New</vt:lpstr>
      <vt:lpstr>Times New Roman</vt:lpstr>
      <vt:lpstr>Verdana</vt:lpstr>
      <vt:lpstr>Wingdings</vt:lpstr>
      <vt:lpstr>TemplateBE_FR</vt:lpstr>
      <vt:lpstr>Présentation PowerPoint</vt:lpstr>
      <vt:lpstr>Présentation PowerPoint</vt:lpstr>
      <vt:lpstr>Objectifs de la formation</vt:lpstr>
      <vt:lpstr>Agenda : 1h</vt:lpstr>
      <vt:lpstr>Présentation PowerPoint</vt:lpstr>
      <vt:lpstr>Description du processus métier Les enjeux du processus</vt:lpstr>
      <vt:lpstr>Description du processus métier Le reporting d’état de stock</vt:lpstr>
      <vt:lpstr>Présentation PowerPoint</vt:lpstr>
      <vt:lpstr>Mode opératoire Présentation du menu pour le reporting WM dans SAP</vt:lpstr>
      <vt:lpstr>Mode opératoire Présentation du mode opératoire dans SAP</vt:lpstr>
      <vt:lpstr>Mode opératoire MB51 – Liste des documents articles</vt:lpstr>
      <vt:lpstr>Mode opératoire MMBE – Etat des stocks</vt:lpstr>
      <vt:lpstr>Mode opératoire  MD04 – Afficher l’état dynamique des stocks</vt:lpstr>
      <vt:lpstr>Mode opératoire MB5B – Stock à la date comptable</vt:lpstr>
      <vt:lpstr>Mode opératoire MB5T – Etat du stock en transit</vt:lpstr>
      <vt:lpstr>Mode opératoire  MSR_TRC_I– Cockpit de retour fournisseur </vt:lpstr>
      <vt:lpstr>Mode opératoire  MBLB – Cockpit de mise à disposition du fournisseur</vt:lpstr>
      <vt:lpstr>Mode opératoire  MB25 – Liste des réservations article</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Desquirez, Chloe</cp:lastModifiedBy>
  <cp:revision>3728</cp:revision>
  <cp:lastPrinted>2015-04-23T03:57:16Z</cp:lastPrinted>
  <dcterms:created xsi:type="dcterms:W3CDTF">2012-05-17T14:14:37Z</dcterms:created>
  <dcterms:modified xsi:type="dcterms:W3CDTF">2015-12-16T16:40:57Z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26cb4ae2-55f9-47cc-a08f-7b2b6b018884</vt:lpwstr>
  </property>
</Properties>
</file>