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17.xml" ContentType="application/vnd.openxmlformats-officedocument.presentationml.slide+xml"/>
  <Override PartName="/ppt/slides/slide18.xml" ContentType="application/vnd.openxmlformats-officedocument.presentationml.slide+xml"/>
  <Override PartName="/ppt/presentation.xml" ContentType="application/vnd.openxmlformats-officedocument.presentationml.presentation.main+xml"/>
  <Override PartName="/ppt/slides/slide16.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5.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Masters/slideMaster1.xml" ContentType="application/vnd.openxmlformats-officedocument.presentationml.slideMaster+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5.xml" ContentType="application/vnd.openxmlformats-officedocument.presentationml.notesSlide+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docProps/custom.xml" ContentType="application/vnd.openxmlformats-officedocument.custom-properties+xml"/>
  <Override PartName="/customXml/itemProps3.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3"/>
  </p:notesMasterIdLst>
  <p:handoutMasterIdLst>
    <p:handoutMasterId r:id="rId24"/>
  </p:handoutMasterIdLst>
  <p:sldIdLst>
    <p:sldId id="685" r:id="rId5"/>
    <p:sldId id="686" r:id="rId6"/>
    <p:sldId id="687" r:id="rId7"/>
    <p:sldId id="688" r:id="rId8"/>
    <p:sldId id="723" r:id="rId9"/>
    <p:sldId id="783" r:id="rId10"/>
    <p:sldId id="724" r:id="rId11"/>
    <p:sldId id="800" r:id="rId12"/>
    <p:sldId id="807" r:id="rId13"/>
    <p:sldId id="806" r:id="rId14"/>
    <p:sldId id="805" r:id="rId15"/>
    <p:sldId id="808" r:id="rId16"/>
    <p:sldId id="810" r:id="rId17"/>
    <p:sldId id="809" r:id="rId18"/>
    <p:sldId id="699" r:id="rId19"/>
    <p:sldId id="725" r:id="rId20"/>
    <p:sldId id="710" r:id="rId21"/>
    <p:sldId id="728" r:id="rId22"/>
  </p:sldIdLst>
  <p:sldSz cx="9144000" cy="5143500" type="screen16x9"/>
  <p:notesSz cx="7086600" cy="93726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52" userDrawn="1">
          <p15:clr>
            <a:srgbClr val="A4A3A4"/>
          </p15:clr>
        </p15:guide>
        <p15:guide id="2" pos="2214" userDrawn="1">
          <p15:clr>
            <a:srgbClr val="A4A3A4"/>
          </p15:clr>
        </p15:guide>
        <p15:guide id="3" pos="223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9BD3"/>
    <a:srgbClr val="D3D5FF"/>
    <a:srgbClr val="A7ABFF"/>
    <a:srgbClr val="C5C8FF"/>
    <a:srgbClr val="004376"/>
    <a:srgbClr val="4F81BD"/>
    <a:srgbClr val="F3F4FF"/>
    <a:srgbClr val="E7E8FF"/>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32" autoAdjust="0"/>
    <p:restoredTop sz="95565" autoAdjust="0"/>
  </p:normalViewPr>
  <p:slideViewPr>
    <p:cSldViewPr snapToGrid="0" snapToObjects="1">
      <p:cViewPr varScale="1">
        <p:scale>
          <a:sx n="123" d="100"/>
          <a:sy n="123" d="100"/>
        </p:scale>
        <p:origin x="360" y="108"/>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52"/>
        <p:guide pos="2214"/>
        <p:guide pos="223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ustomXml" Target="../customXml/item4.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4014102" y="2"/>
            <a:ext cx="3070860" cy="468630"/>
          </a:xfrm>
          <a:prstGeom prst="rect">
            <a:avLst/>
          </a:prstGeom>
        </p:spPr>
        <p:txBody>
          <a:bodyPr vert="horz" lIns="91427" tIns="45714" rIns="91427" bIns="45714" rtlCol="0"/>
          <a:lstStyle>
            <a:lvl1pPr algn="r">
              <a:defRPr sz="1200"/>
            </a:lvl1pPr>
          </a:lstStyle>
          <a:p>
            <a:fld id="{4FCF4903-D1A4-F14A-B207-A0D2CC9D4B8B}" type="datetimeFigureOut">
              <a:rPr lang="en-US" smtClean="0"/>
              <a:t>1/14/2016</a:t>
            </a:fld>
            <a:endParaRPr lang="en-US" dirty="0"/>
          </a:p>
        </p:txBody>
      </p:sp>
      <p:sp>
        <p:nvSpPr>
          <p:cNvPr id="4" name="Footer Placeholder 3"/>
          <p:cNvSpPr>
            <a:spLocks noGrp="1"/>
          </p:cNvSpPr>
          <p:nvPr>
            <p:ph type="ftr" sz="quarter" idx="2"/>
          </p:nvPr>
        </p:nvSpPr>
        <p:spPr>
          <a:xfrm>
            <a:off x="1" y="8902345"/>
            <a:ext cx="3070860" cy="468630"/>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14102" y="8902345"/>
            <a:ext cx="3070860" cy="468630"/>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70860" cy="468630"/>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4014102" y="2"/>
            <a:ext cx="3070860" cy="468630"/>
          </a:xfrm>
          <a:prstGeom prst="rect">
            <a:avLst/>
          </a:prstGeom>
        </p:spPr>
        <p:txBody>
          <a:bodyPr vert="horz" lIns="91427" tIns="45714" rIns="91427" bIns="45714" rtlCol="0"/>
          <a:lstStyle>
            <a:lvl1pPr algn="r">
              <a:defRPr sz="1200"/>
            </a:lvl1pPr>
          </a:lstStyle>
          <a:p>
            <a:fld id="{BC5B4241-C98F-4766-9E25-5F8403374385}" type="datetimeFigureOut">
              <a:rPr lang="de-DE" smtClean="0"/>
              <a:t>14.01.2016</a:t>
            </a:fld>
            <a:endParaRPr lang="de-DE" dirty="0"/>
          </a:p>
        </p:txBody>
      </p:sp>
      <p:sp>
        <p:nvSpPr>
          <p:cNvPr id="4" name="Folienbildplatzhalter 3"/>
          <p:cNvSpPr>
            <a:spLocks noGrp="1" noRot="1" noChangeAspect="1"/>
          </p:cNvSpPr>
          <p:nvPr>
            <p:ph type="sldImg" idx="2"/>
          </p:nvPr>
        </p:nvSpPr>
        <p:spPr>
          <a:xfrm>
            <a:off x="417513" y="701675"/>
            <a:ext cx="6251575" cy="351631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708661" y="4451985"/>
            <a:ext cx="5669280" cy="4217670"/>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902345"/>
            <a:ext cx="3070860" cy="468630"/>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4014102" y="8902345"/>
            <a:ext cx="3070860" cy="468630"/>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7</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15</a:t>
            </a:fld>
            <a:endParaRPr lang="fr-FR" altLang="en-US" sz="1200"/>
          </a:p>
        </p:txBody>
      </p:sp>
      <p:sp>
        <p:nvSpPr>
          <p:cNvPr id="51203" name="Rectangle 2"/>
          <p:cNvSpPr>
            <a:spLocks noGrp="1" noRot="1" noChangeAspect="1" noChangeArrowheads="1" noTextEdit="1"/>
          </p:cNvSpPr>
          <p:nvPr>
            <p:ph type="sldImg"/>
          </p:nvPr>
        </p:nvSpPr>
        <p:spPr bwMode="auto">
          <a:xfrm>
            <a:off x="-303213" y="225425"/>
            <a:ext cx="7681913" cy="4322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81038" y="8099425"/>
            <a:ext cx="5718175" cy="1084263"/>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16</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14/01/2016</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0.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5.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22.png"/><Relationship Id="rId1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9.png"/><Relationship Id="rId7" Type="http://schemas.openxmlformats.org/officeDocument/2006/relationships/image" Target="../media/image8.png"/><Relationship Id="rId12"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28.png"/><Relationship Id="rId11" Type="http://schemas.openxmlformats.org/officeDocument/2006/relationships/image" Target="../media/image26.png"/><Relationship Id="rId5" Type="http://schemas.openxmlformats.org/officeDocument/2006/relationships/image" Target="../media/image15.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FINANCE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03.06</a:t>
            </a:r>
            <a:r>
              <a:rPr lang="fr-FR" sz="2000" b="1" dirty="0">
                <a:solidFill>
                  <a:srgbClr val="0070C0"/>
                </a:solidFill>
                <a:latin typeface="Arial" charset="0"/>
                <a:cs typeface="Arial" charset="0"/>
              </a:rPr>
              <a:t/>
            </a:r>
            <a:br>
              <a:rPr lang="fr-FR" sz="2000" b="1" dirty="0">
                <a:solidFill>
                  <a:srgbClr val="0070C0"/>
                </a:solidFill>
                <a:latin typeface="Arial" charset="0"/>
                <a:cs typeface="Arial" charset="0"/>
              </a:rPr>
            </a:br>
            <a:r>
              <a:rPr lang="fr-FR" sz="2000" b="1" dirty="0" err="1" smtClean="0">
                <a:solidFill>
                  <a:srgbClr val="0070C0"/>
                </a:solidFill>
                <a:latin typeface="Arial" charset="0"/>
                <a:cs typeface="Arial" charset="0"/>
              </a:rPr>
              <a:t>Reporting</a:t>
            </a:r>
            <a:r>
              <a:rPr lang="fr-FR" sz="2000" b="1" dirty="0" smtClean="0">
                <a:solidFill>
                  <a:srgbClr val="0070C0"/>
                </a:solidFill>
                <a:latin typeface="Arial" charset="0"/>
                <a:cs typeface="Arial" charset="0"/>
              </a:rPr>
              <a:t> Fournisseurs </a:t>
            </a:r>
            <a:endParaRPr lang="fr-FR" sz="1800" dirty="0" smtClean="0">
              <a:solidFill>
                <a:srgbClr val="0070C0"/>
              </a:solidFill>
              <a:latin typeface="Arial" charset="0"/>
              <a:cs typeface="Arial" charset="0"/>
            </a:endParaRPr>
          </a:p>
        </p:txBody>
      </p:sp>
      <p:sp>
        <p:nvSpPr>
          <p:cNvPr id="21506" name="Rectangle 2"/>
          <p:cNvSpPr>
            <a:spLocks noGrp="1"/>
          </p:cNvSpPr>
          <p:nvPr>
            <p:ph type="ctrTitle" idx="4294967295"/>
          </p:nvPr>
        </p:nvSpPr>
        <p:spPr>
          <a:xfrm>
            <a:off x="6245817" y="4002921"/>
            <a:ext cx="2772366" cy="708563"/>
          </a:xfrm>
        </p:spPr>
        <p:txBody>
          <a:bodyPr>
            <a:normAutofit/>
          </a:bodyPr>
          <a:lstStyle/>
          <a:p>
            <a:pPr algn="r" defTabSz="457200"/>
            <a:r>
              <a:rPr lang="fr-FR" altLang="en-US" sz="1800" dirty="0" smtClean="0">
                <a:solidFill>
                  <a:schemeClr val="tx1"/>
                </a:solidFill>
                <a:latin typeface="Arial" charset="0"/>
              </a:rPr>
              <a:t>Kamsar, le 03.02.2016</a:t>
            </a:r>
            <a:endParaRPr lang="en-US" altLang="en-US" sz="1800" dirty="0">
              <a:solidFill>
                <a:schemeClr val="tx1"/>
              </a:solidFill>
              <a:latin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a:t>
            </a:fld>
            <a:endParaRPr lang="fr-FR" altLang="en-US" sz="750"/>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2720"/>
            <a:ext cx="4589859" cy="601073"/>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gérer et interpréter le </a:t>
            </a:r>
            <a:r>
              <a:rPr lang="fr-FR" sz="900" dirty="0" err="1" smtClean="0">
                <a:solidFill>
                  <a:schemeClr val="tx1"/>
                </a:solidFill>
                <a:latin typeface="Arial" pitchFamily="34" charset="0"/>
                <a:cs typeface="Arial" pitchFamily="34" charset="0"/>
              </a:rPr>
              <a:t>reporting</a:t>
            </a:r>
            <a:r>
              <a:rPr lang="fr-FR" sz="900" dirty="0" smtClean="0">
                <a:solidFill>
                  <a:schemeClr val="tx1"/>
                </a:solidFill>
                <a:latin typeface="Arial" pitchFamily="34" charset="0"/>
                <a:cs typeface="Arial" pitchFamily="34" charset="0"/>
              </a:rPr>
              <a:t> fournisseurs </a:t>
            </a:r>
          </a:p>
          <a:p>
            <a:pPr marL="67866" indent="-67866" eaLnBrk="0" hangingPunct="0">
              <a:spcBef>
                <a:spcPts val="225"/>
              </a:spcBef>
              <a:buClr>
                <a:srgbClr val="4F81BD"/>
              </a:buClr>
              <a:buFont typeface="Arial" charset="0"/>
              <a:buChar char="•"/>
              <a:defRPr/>
            </a:pPr>
            <a:endParaRPr lang="fr-FR" sz="900" dirty="0">
              <a:solidFill>
                <a:schemeClr val="tx1"/>
              </a:solidFill>
              <a:latin typeface="Arial" pitchFamily="34" charset="0"/>
              <a:cs typeface="Arial" pitchFamily="34" charset="0"/>
            </a:endParaRPr>
          </a:p>
        </p:txBody>
      </p:sp>
      <p:sp>
        <p:nvSpPr>
          <p:cNvPr id="7" name="Rectangle 6"/>
          <p:cNvSpPr/>
          <p:nvPr/>
        </p:nvSpPr>
        <p:spPr>
          <a:xfrm>
            <a:off x="1763272" y="3689525"/>
            <a:ext cx="458985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Gérer le </a:t>
            </a:r>
            <a:r>
              <a:rPr lang="fr-FR" sz="900" dirty="0" err="1" smtClean="0">
                <a:solidFill>
                  <a:schemeClr val="tx1"/>
                </a:solidFill>
                <a:latin typeface="Arial" pitchFamily="34" charset="0"/>
                <a:cs typeface="Arial" pitchFamily="34" charset="0"/>
              </a:rPr>
              <a:t>reporting</a:t>
            </a:r>
            <a:r>
              <a:rPr lang="fr-FR" sz="900" dirty="0" smtClean="0">
                <a:solidFill>
                  <a:schemeClr val="tx1"/>
                </a:solidFill>
                <a:latin typeface="Arial" pitchFamily="34" charset="0"/>
                <a:cs typeface="Arial" pitchFamily="34" charset="0"/>
              </a:rPr>
              <a:t> fournisseurs</a:t>
            </a:r>
          </a:p>
          <a:p>
            <a:pPr marL="0" lvl="1" eaLnBrk="0" hangingPunct="0">
              <a:spcBef>
                <a:spcPts val="225"/>
              </a:spcBef>
              <a:buClr>
                <a:srgbClr val="4F81BD"/>
              </a:buClr>
              <a:defRPr/>
            </a:pPr>
            <a:endParaRPr lang="fr-FR" sz="900" dirty="0">
              <a:solidFill>
                <a:schemeClr val="tx1"/>
              </a:solidFill>
              <a:latin typeface="Arial" pitchFamily="34" charset="0"/>
              <a:cs typeface="Arial" pitchFamily="34" charset="0"/>
            </a:endParaRPr>
          </a:p>
          <a:p>
            <a:pPr marL="0" lvl="1" eaLnBrk="0" hangingPunct="0">
              <a:spcBef>
                <a:spcPts val="225"/>
              </a:spcBef>
              <a:buClr>
                <a:srgbClr val="4F81BD"/>
              </a:buClr>
              <a:defRPr/>
            </a:pPr>
            <a:endParaRPr lang="fr-FR" sz="900" dirty="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p:txBody>
      </p:sp>
      <p:sp>
        <p:nvSpPr>
          <p:cNvPr id="11" name="Rectangle 10"/>
          <p:cNvSpPr/>
          <p:nvPr/>
        </p:nvSpPr>
        <p:spPr>
          <a:xfrm>
            <a:off x="1763272" y="3389443"/>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52317" y="1012639"/>
            <a:ext cx="755335" cy="300082"/>
          </a:xfrm>
          <a:prstGeom prst="rect">
            <a:avLst/>
          </a:prstGeom>
          <a:noFill/>
        </p:spPr>
        <p:txBody>
          <a:bodyPr wrap="none">
            <a:spAutoFit/>
          </a:bodyPr>
          <a:lstStyle/>
          <a:p>
            <a:pPr algn="ctr" eaLnBrk="0" hangingPunct="0">
              <a:spcBef>
                <a:spcPct val="20000"/>
              </a:spcBef>
              <a:buFont typeface="Arial" charset="0"/>
              <a:buNone/>
              <a:defRPr/>
            </a:pPr>
            <a:r>
              <a:rPr lang="fr-FR" sz="1350" b="1" dirty="0" smtClean="0">
                <a:solidFill>
                  <a:srgbClr val="4F81BD"/>
                </a:solidFill>
                <a:cs typeface="Arial" pitchFamily="34" charset="0"/>
              </a:rPr>
              <a:t>Objectif</a:t>
            </a:r>
            <a:endParaRPr lang="fr-FR" sz="1350" b="1" dirty="0">
              <a:solidFill>
                <a:srgbClr val="4F81BD"/>
              </a:solidFill>
              <a:cs typeface="Arial" pitchFamily="34" charset="0"/>
            </a:endParaRP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a:t>
              </a:r>
              <a:r>
                <a:rPr lang="fr-FR" sz="900" dirty="0" smtClean="0">
                  <a:solidFill>
                    <a:schemeClr val="tx1"/>
                  </a:solidFill>
                  <a:latin typeface="Arial" pitchFamily="34" charset="0"/>
                  <a:cs typeface="Arial" pitchFamily="34" charset="0"/>
                </a:rPr>
                <a:t> Heure</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Comptables fournisseurs </a:t>
              </a:r>
            </a:p>
            <a:p>
              <a:pPr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2h00</a:t>
            </a:r>
            <a:endParaRPr lang="en-US" altLang="en-US"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2937443542"/>
              </p:ext>
            </p:extLst>
          </p:nvPr>
        </p:nvGraphicFramePr>
        <p:xfrm>
          <a:off x="2758033" y="1291506"/>
          <a:ext cx="3627934" cy="1967902"/>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8h20</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p>
                      <a:pPr>
                        <a:lnSpc>
                          <a:spcPct val="100000"/>
                        </a:lnSpc>
                        <a:spcBef>
                          <a:spcPts val="0"/>
                        </a:spcBef>
                        <a:spcAft>
                          <a:spcPts val="0"/>
                        </a:spcAft>
                      </a:pPr>
                      <a:r>
                        <a:rPr lang="fr-FR" sz="900" dirty="0" smtClean="0"/>
                        <a:t>Présentation des</a:t>
                      </a:r>
                      <a:r>
                        <a:rPr lang="fr-FR" sz="900" baseline="0" dirty="0" smtClean="0"/>
                        <a:t> p</a:t>
                      </a:r>
                      <a:r>
                        <a:rPr lang="fr-FR" sz="900" dirty="0" smtClean="0"/>
                        <a:t>rocessus : 15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611060">
                <a:tc>
                  <a:txBody>
                    <a:bodyPr/>
                    <a:lstStyle/>
                    <a:p>
                      <a:pPr algn="ctr"/>
                      <a:r>
                        <a:rPr lang="fr-FR" sz="900" dirty="0" smtClean="0"/>
                        <a:t>8h20 – 9h30</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La représentation des</a:t>
                      </a:r>
                      <a:r>
                        <a:rPr lang="fr-FR" sz="900" baseline="0" dirty="0" smtClean="0"/>
                        <a:t> processus</a:t>
                      </a:r>
                      <a:endParaRPr lang="fr-FR" sz="900" dirty="0" smtClean="0"/>
                    </a:p>
                    <a:p>
                      <a:pPr marL="177800" indent="-177800">
                        <a:lnSpc>
                          <a:spcPct val="100000"/>
                        </a:lnSpc>
                        <a:spcBef>
                          <a:spcPts val="0"/>
                        </a:spcBef>
                        <a:spcAft>
                          <a:spcPts val="0"/>
                        </a:spcAft>
                        <a:buFont typeface="Arial" pitchFamily="34" charset="0"/>
                        <a:buChar char="•"/>
                      </a:pPr>
                      <a:r>
                        <a:rPr lang="fr-FR" sz="900" dirty="0" smtClean="0"/>
                        <a:t>Présentation : 20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50 min</a:t>
                      </a:r>
                      <a:endParaRPr lang="fr-FR" sz="900" baseline="0" dirty="0" smtClean="0">
                        <a:solidFill>
                          <a:schemeClr val="bg1"/>
                        </a:solidFill>
                        <a:latin typeface="Arial" pitchFamily="34" charset="0"/>
                        <a:cs typeface="Arial" pitchFamily="34" charset="0"/>
                      </a:endParaRPr>
                    </a:p>
                  </a:txBody>
                  <a:tcPr marL="68566" marR="68566" marT="34292" marB="34292" anchor="ctr">
                    <a:solidFill>
                      <a:srgbClr val="F3F4FF"/>
                    </a:solidFill>
                  </a:tcPr>
                </a:tc>
              </a:tr>
              <a:tr h="611060">
                <a:tc>
                  <a:txBody>
                    <a:bodyPr/>
                    <a:lstStyle/>
                    <a:p>
                      <a:pPr algn="ctr"/>
                      <a:r>
                        <a:rPr lang="fr-FR" sz="900" dirty="0" smtClean="0"/>
                        <a:t>9h30 – 10h00</a:t>
                      </a:r>
                      <a:endParaRPr lang="en-US" sz="900" dirty="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marL="177800" indent="-177800">
                        <a:lnSpc>
                          <a:spcPct val="100000"/>
                        </a:lnSpc>
                        <a:spcBef>
                          <a:spcPts val="0"/>
                        </a:spcBef>
                        <a:spcAft>
                          <a:spcPts val="0"/>
                        </a:spcAft>
                        <a:buFont typeface="Arial" pitchFamily="34" charset="0"/>
                        <a:buNone/>
                      </a:pPr>
                      <a:r>
                        <a:rPr lang="fr-FR" sz="900" baseline="0" dirty="0" smtClean="0"/>
                        <a:t>Question et libre échange </a:t>
                      </a:r>
                    </a:p>
                  </a:txBody>
                  <a:tcPr marL="68566" marR="68566" marT="34292" marB="34292" anchor="ctr">
                    <a:solidFill>
                      <a:srgbClr val="F3F4FF"/>
                    </a:solidFill>
                  </a:tcPr>
                </a:tc>
              </a:tr>
            </a:tbl>
          </a:graphicData>
        </a:graphic>
      </p:graphicFrame>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Objectif </a:t>
            </a:r>
            <a:r>
              <a:rPr lang="fr-FR" altLang="en-US" dirty="0">
                <a:latin typeface="Arial" panose="020B0604020202020204" pitchFamily="34" charset="0"/>
                <a:ea typeface="ＭＳ Ｐゴシック" panose="020B0600070205080204" pitchFamily="34" charset="-128"/>
                <a:cs typeface="Arial" panose="020B0604020202020204" pitchFamily="34" charset="0"/>
              </a:rPr>
              <a:t>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a:t>
            </a:r>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des </a:t>
            </a:r>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processus </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5</a:t>
            </a:fld>
            <a:endParaRPr lang="fr-FR" altLang="en-US" sz="750"/>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smtClean="0">
                <a:cs typeface="Arial" panose="020B0604020202020204" pitchFamily="34" charset="0"/>
              </a:rPr>
              <a:t>Description du processus de </a:t>
            </a:r>
            <a:r>
              <a:rPr lang="fr-FR" altLang="en-US" sz="2400" dirty="0" err="1" smtClean="0">
                <a:cs typeface="Arial" panose="020B0604020202020204" pitchFamily="34" charset="0"/>
              </a:rPr>
              <a:t>reporting</a:t>
            </a:r>
            <a:r>
              <a:rPr lang="fr-FR" altLang="en-US" sz="2400" dirty="0" smtClean="0">
                <a:cs typeface="Arial" panose="020B0604020202020204" pitchFamily="34" charset="0"/>
              </a:rPr>
              <a:t>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a:cs typeface="Arial" panose="020B0604020202020204" pitchFamily="34" charset="0"/>
              </a:rPr>
              <a:t>Les états standards SAP peuvent être utilisés pour répondre aux besoins de la CBG en matière de </a:t>
            </a:r>
            <a:r>
              <a:rPr lang="fr-FR" dirty="0" err="1">
                <a:cs typeface="Arial" panose="020B0604020202020204" pitchFamily="34" charset="0"/>
              </a:rPr>
              <a:t>reporting</a:t>
            </a:r>
            <a:r>
              <a:rPr lang="fr-FR" dirty="0">
                <a:cs typeface="Arial" panose="020B0604020202020204" pitchFamily="34" charset="0"/>
              </a:rPr>
              <a:t> fournisseurs. </a:t>
            </a:r>
          </a:p>
          <a:p>
            <a:r>
              <a:rPr lang="fr-FR" dirty="0">
                <a:cs typeface="Arial" panose="020B0604020202020204" pitchFamily="34" charset="0"/>
              </a:rPr>
              <a:t>Les états standards sont regroupés par :</a:t>
            </a:r>
          </a:p>
          <a:p>
            <a:pPr lvl="0"/>
            <a:r>
              <a:rPr lang="fr-FR" dirty="0"/>
              <a:t> - Soldes fournisseurs </a:t>
            </a:r>
          </a:p>
          <a:p>
            <a:pPr lvl="0"/>
            <a:r>
              <a:rPr lang="fr-FR" dirty="0"/>
              <a:t> - Postes fournisseurs</a:t>
            </a:r>
          </a:p>
          <a:p>
            <a:pPr lvl="0"/>
            <a:r>
              <a:rPr lang="fr-FR" dirty="0"/>
              <a:t> - Données de base. </a:t>
            </a: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6</a:t>
            </a:fld>
            <a:endParaRPr lang="fr-FR" altLang="en-US" sz="750">
              <a:solidFill>
                <a:srgbClr val="000000"/>
              </a:solidFill>
            </a:endParaRPr>
          </a:p>
        </p:txBody>
      </p:sp>
    </p:spTree>
    <p:extLst>
      <p:ext uri="{BB962C8B-B14F-4D97-AF65-F5344CB8AC3E}">
        <p14:creationId xmlns:p14="http://schemas.microsoft.com/office/powerpoint/2010/main" val="299212312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Modes opératoires</a:t>
            </a:r>
            <a:endPar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 </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7</a:t>
            </a:fld>
            <a:endParaRPr lang="fr-FR" altLang="en-US" sz="750"/>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  </a:t>
            </a:r>
            <a:endParaRPr lang="en-US" altLang="en-US" dirty="0" smtClean="0"/>
          </a:p>
        </p:txBody>
      </p:sp>
      <p:sp>
        <p:nvSpPr>
          <p:cNvPr id="32792" name="Espace réservé du numéro de diapositive 33"/>
          <p:cNvSpPr>
            <a:spLocks noGrp="1"/>
          </p:cNvSpPr>
          <p:nvPr>
            <p:ph type="sldNum" sz="quarter" idx="11"/>
          </p:nvPr>
        </p:nvSpPr>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fld id="{1961261D-50EE-437A-BA51-3E7588D0C470}" type="slidenum">
              <a:rPr lang="fr-FR" altLang="en-US" smtClean="0">
                <a:solidFill>
                  <a:srgbClr val="4D4F53"/>
                </a:solidFill>
              </a:rPr>
              <a:pPr/>
              <a:t>8</a:t>
            </a:fld>
            <a:endParaRPr lang="fr-FR" altLang="en-US">
              <a:solidFill>
                <a:srgbClr val="4D4F53"/>
              </a:solidFill>
            </a:endParaRPr>
          </a:p>
        </p:txBody>
      </p:sp>
      <p:grpSp>
        <p:nvGrpSpPr>
          <p:cNvPr id="49" name="Groupe 48"/>
          <p:cNvGrpSpPr/>
          <p:nvPr/>
        </p:nvGrpSpPr>
        <p:grpSpPr>
          <a:xfrm>
            <a:off x="814126" y="2175754"/>
            <a:ext cx="1421605" cy="756917"/>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t>Etats relatifs au solde fournisseurs</a:t>
              </a:r>
              <a:r>
                <a:rPr lang="fr-FR" sz="800" dirty="0"/>
                <a:t> </a:t>
              </a:r>
              <a:endParaRPr lang="en-US" sz="800" dirty="0">
                <a:solidFill>
                  <a:prstClr val="white"/>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cs typeface="Arial" panose="020B0604020202020204" pitchFamily="34" charset="0"/>
                </a:rPr>
                <a:t> </a:t>
              </a:r>
              <a:r>
                <a:rPr lang="fr-FR" sz="800" dirty="0" smtClean="0"/>
                <a:t>S_ALR_87012XX </a:t>
              </a:r>
              <a:endParaRPr lang="en-US" sz="800" b="1" dirty="0">
                <a:solidFill>
                  <a:prstClr val="white"/>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rgbClr val="4D4F53">
                      <a:lumMod val="50000"/>
                    </a:srgbClr>
                  </a:solidFill>
                  <a:latin typeface="Arial" panose="020B0604020202020204" pitchFamily="34" charset="0"/>
                  <a:cs typeface="Arial" panose="020B0604020202020204" pitchFamily="34" charset="0"/>
                </a:rPr>
                <a:t>Comptable Fournisseurs</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39" name="Groupe 38"/>
          <p:cNvGrpSpPr/>
          <p:nvPr/>
        </p:nvGrpSpPr>
        <p:grpSpPr>
          <a:xfrm>
            <a:off x="2565267" y="2158526"/>
            <a:ext cx="1296000" cy="756917"/>
            <a:chOff x="1507778" y="2274293"/>
            <a:chExt cx="1258269" cy="756917"/>
          </a:xfrm>
        </p:grpSpPr>
        <p:sp>
          <p:nvSpPr>
            <p:cNvPr id="40" name="Rectangle 39"/>
            <p:cNvSpPr/>
            <p:nvPr/>
          </p:nvSpPr>
          <p:spPr>
            <a:xfrm>
              <a:off x="1507778" y="227429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a:t>Etats relatifs </a:t>
              </a:r>
              <a:r>
                <a:rPr lang="fr-FR" sz="800" dirty="0" smtClean="0"/>
                <a:t>aux postes </a:t>
              </a:r>
              <a:r>
                <a:rPr lang="fr-FR" sz="800" dirty="0"/>
                <a:t>fournisseurs</a:t>
              </a:r>
              <a:endParaRPr lang="en-US" sz="800" dirty="0">
                <a:solidFill>
                  <a:prstClr val="white"/>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t>S_ALR_87012XX </a:t>
              </a:r>
              <a:endParaRPr lang="en-US" sz="800" b="1" dirty="0">
                <a:solidFill>
                  <a:prstClr val="white"/>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rgbClr val="4D4F53">
                      <a:lumMod val="50000"/>
                    </a:srgbClr>
                  </a:solidFill>
                  <a:latin typeface="Arial" panose="020B0604020202020204" pitchFamily="34" charset="0"/>
                  <a:cs typeface="Arial" panose="020B0604020202020204" pitchFamily="34" charset="0"/>
                </a:rPr>
                <a:t>Comptable Fournisseurs</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47" name="Groupe 46"/>
          <p:cNvGrpSpPr/>
          <p:nvPr/>
        </p:nvGrpSpPr>
        <p:grpSpPr>
          <a:xfrm>
            <a:off x="4122846" y="2165706"/>
            <a:ext cx="1296000" cy="754857"/>
            <a:chOff x="1507778" y="2276353"/>
            <a:chExt cx="1258269" cy="754857"/>
          </a:xfrm>
        </p:grpSpPr>
        <p:sp>
          <p:nvSpPr>
            <p:cNvPr id="48" name="Rectangle 47"/>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a:t>Etats relatifs aux </a:t>
              </a:r>
              <a:r>
                <a:rPr lang="fr-FR" sz="800" dirty="0" smtClean="0"/>
                <a:t>données de base fournisseur</a:t>
              </a:r>
              <a:endParaRPr lang="en-US" sz="800" dirty="0">
                <a:solidFill>
                  <a:prstClr val="white"/>
                </a:solidFill>
                <a:latin typeface="Arial" pitchFamily="34" charset="0"/>
                <a:cs typeface="Arial" pitchFamily="34" charset="0"/>
              </a:endParaRPr>
            </a:p>
            <a:p>
              <a:pPr algn="ctr">
                <a:defRPr/>
              </a:pPr>
              <a:r>
                <a:rPr lang="fr-FR" sz="800" dirty="0" smtClean="0"/>
                <a:t> </a:t>
              </a:r>
              <a:endParaRPr lang="en-US" sz="800" dirty="0">
                <a:solidFill>
                  <a:prstClr val="white"/>
                </a:solidFill>
                <a:latin typeface="Arial" pitchFamily="34" charset="0"/>
                <a:cs typeface="Arial" pitchFamily="34" charset="0"/>
              </a:endParaRPr>
            </a:p>
          </p:txBody>
        </p:sp>
        <p:sp>
          <p:nvSpPr>
            <p:cNvPr id="50" name="Rectangle 4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t>S_ALR_87012XX </a:t>
              </a:r>
              <a:endParaRPr lang="en-US" sz="800" b="1" dirty="0">
                <a:solidFill>
                  <a:prstClr val="white"/>
                </a:solidFill>
                <a:latin typeface="Arial" panose="020B0604020202020204" pitchFamily="34" charset="0"/>
                <a:cs typeface="Arial" panose="020B0604020202020204" pitchFamily="34" charset="0"/>
              </a:endParaRPr>
            </a:p>
          </p:txBody>
        </p:sp>
        <p:sp>
          <p:nvSpPr>
            <p:cNvPr id="56" name="Rectangle 55"/>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Comptable </a:t>
              </a:r>
              <a:r>
                <a:rPr lang="fr-FR" sz="800" dirty="0" smtClean="0">
                  <a:solidFill>
                    <a:srgbClr val="4D4F53">
                      <a:lumMod val="50000"/>
                    </a:srgbClr>
                  </a:solidFill>
                  <a:latin typeface="Arial" panose="020B0604020202020204" pitchFamily="34" charset="0"/>
                  <a:cs typeface="Arial" panose="020B0604020202020204" pitchFamily="34" charset="0"/>
                </a:rPr>
                <a:t>Fournisseurs</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pic>
        <p:nvPicPr>
          <p:cNvPr id="2" name="Image 1"/>
          <p:cNvPicPr>
            <a:picLocks noChangeAspect="1"/>
          </p:cNvPicPr>
          <p:nvPr/>
        </p:nvPicPr>
        <p:blipFill>
          <a:blip r:embed="rId2"/>
          <a:stretch>
            <a:fillRect/>
          </a:stretch>
        </p:blipFill>
        <p:spPr>
          <a:xfrm>
            <a:off x="327067" y="3310707"/>
            <a:ext cx="1170533" cy="1249788"/>
          </a:xfrm>
          <a:prstGeom prst="rect">
            <a:avLst/>
          </a:prstGeom>
        </p:spPr>
      </p:pic>
    </p:spTree>
    <p:extLst>
      <p:ext uri="{BB962C8B-B14F-4D97-AF65-F5344CB8AC3E}">
        <p14:creationId xmlns:p14="http://schemas.microsoft.com/office/powerpoint/2010/main" val="4760985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200" dirty="0">
                <a:cs typeface="Arial" panose="020B0604020202020204" pitchFamily="34" charset="0"/>
              </a:rPr>
              <a:t>M</a:t>
            </a:r>
            <a:r>
              <a:rPr lang="fr-FR" altLang="en-US" sz="2200" dirty="0" smtClean="0">
                <a:cs typeface="Arial" panose="020B0604020202020204" pitchFamily="34" charset="0"/>
              </a:rPr>
              <a:t>ode </a:t>
            </a:r>
            <a:r>
              <a:rPr lang="fr-FR" altLang="en-US" sz="2200" dirty="0">
                <a:cs typeface="Arial" panose="020B0604020202020204" pitchFamily="34" charset="0"/>
              </a:rPr>
              <a:t>opératoire dans </a:t>
            </a:r>
            <a:r>
              <a:rPr lang="fr-FR" altLang="en-US" sz="2200" dirty="0" smtClean="0">
                <a:cs typeface="Arial" panose="020B0604020202020204" pitchFamily="34" charset="0"/>
              </a:rPr>
              <a:t>SAP pour le </a:t>
            </a:r>
            <a:r>
              <a:rPr lang="fr-FR" altLang="en-US" sz="2200" dirty="0" err="1" smtClean="0">
                <a:cs typeface="Arial" panose="020B0604020202020204" pitchFamily="34" charset="0"/>
              </a:rPr>
              <a:t>reporting</a:t>
            </a:r>
            <a:r>
              <a:rPr lang="fr-FR" altLang="en-US" sz="2200" dirty="0" smtClean="0">
                <a:cs typeface="Arial" panose="020B0604020202020204" pitchFamily="34" charset="0"/>
              </a:rPr>
              <a:t> fournisseur : solde fournisseur 1/2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790414"/>
            <a:ext cx="8246571" cy="3751235"/>
          </a:xfrm>
        </p:spPr>
        <p:txBody>
          <a:bodyPr/>
          <a:lstStyle/>
          <a:p>
            <a:r>
              <a:rPr lang="fr-FR" dirty="0">
                <a:cs typeface="Arial" panose="020B0604020202020204" pitchFamily="34" charset="0"/>
              </a:rPr>
              <a:t>Dans ce mode opératoire, nous lancerons un état par catégorie de </a:t>
            </a:r>
            <a:r>
              <a:rPr lang="fr-FR" dirty="0" err="1">
                <a:cs typeface="Arial" panose="020B0604020202020204" pitchFamily="34" charset="0"/>
              </a:rPr>
              <a:t>reporting</a:t>
            </a:r>
            <a:r>
              <a:rPr lang="fr-FR" dirty="0">
                <a:cs typeface="Arial" panose="020B0604020202020204" pitchFamily="34" charset="0"/>
              </a:rPr>
              <a:t>. </a:t>
            </a:r>
          </a:p>
          <a:p>
            <a:r>
              <a:rPr lang="fr-FR" dirty="0">
                <a:cs typeface="Arial" panose="020B0604020202020204" pitchFamily="34" charset="0"/>
              </a:rPr>
              <a:t>Lancer la transaction </a:t>
            </a:r>
            <a:r>
              <a:rPr lang="fr-FR" dirty="0">
                <a:solidFill>
                  <a:prstClr val="white"/>
                </a:solidFill>
                <a:cs typeface="Arial" panose="020B0604020202020204" pitchFamily="34" charset="0"/>
              </a:rPr>
              <a:t> </a:t>
            </a:r>
            <a:r>
              <a:rPr lang="fr-FR" dirty="0"/>
              <a:t>S_ALR_8701282 : Solde fournisseur en devises interne</a:t>
            </a:r>
          </a:p>
          <a:p>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	Renseigner un compte fournisseur ou laisser à blanc si l’on souhaite</a:t>
            </a:r>
          </a:p>
          <a:p>
            <a:r>
              <a:rPr lang="fr-FR" dirty="0">
                <a:cs typeface="Arial" panose="020B0604020202020204" pitchFamily="34" charset="0"/>
              </a:rPr>
              <a:t>	</a:t>
            </a:r>
            <a:r>
              <a:rPr lang="fr-FR" dirty="0" smtClean="0">
                <a:cs typeface="Arial" panose="020B0604020202020204" pitchFamily="34" charset="0"/>
              </a:rPr>
              <a:t>									avoir la totalité des fournisseurs. </a:t>
            </a:r>
          </a:p>
          <a:p>
            <a:r>
              <a:rPr lang="fr-FR" dirty="0">
                <a:cs typeface="Arial" panose="020B0604020202020204" pitchFamily="34" charset="0"/>
              </a:rPr>
              <a:t>	</a:t>
            </a:r>
            <a:r>
              <a:rPr lang="fr-FR" dirty="0" smtClean="0">
                <a:cs typeface="Arial" panose="020B0604020202020204" pitchFamily="34" charset="0"/>
              </a:rPr>
              <a:t>									Renseigner la société</a:t>
            </a:r>
          </a:p>
          <a:p>
            <a:r>
              <a:rPr lang="fr-FR" dirty="0">
                <a:cs typeface="Arial" panose="020B0604020202020204" pitchFamily="34" charset="0"/>
              </a:rPr>
              <a:t>	</a:t>
            </a:r>
            <a:r>
              <a:rPr lang="fr-FR" dirty="0" smtClean="0">
                <a:cs typeface="Arial" panose="020B0604020202020204" pitchFamily="34" charset="0"/>
              </a:rPr>
              <a:t>									Renseigner la période de </a:t>
            </a:r>
            <a:r>
              <a:rPr lang="fr-FR" dirty="0" err="1" smtClean="0">
                <a:cs typeface="Arial" panose="020B0604020202020204" pitchFamily="34" charset="0"/>
              </a:rPr>
              <a:t>reporting</a:t>
            </a:r>
            <a:endParaRPr lang="fr-FR" dirty="0" smtClean="0">
              <a:cs typeface="Arial" panose="020B0604020202020204" pitchFamily="34" charset="0"/>
            </a:endParaRPr>
          </a:p>
          <a:p>
            <a:r>
              <a:rPr lang="fr-FR" dirty="0">
                <a:cs typeface="Arial" panose="020B0604020202020204" pitchFamily="34" charset="0"/>
              </a:rPr>
              <a:t>	</a:t>
            </a:r>
            <a:r>
              <a:rPr lang="fr-FR" dirty="0" smtClean="0">
                <a:cs typeface="Arial" panose="020B0604020202020204" pitchFamily="34" charset="0"/>
              </a:rPr>
              <a:t>									Cliquer sur la touche « Exécuter »</a:t>
            </a: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9</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317356"/>
            <a:ext cx="3618714" cy="3146802"/>
          </a:xfrm>
          <a:prstGeom prst="rect">
            <a:avLst/>
          </a:prstGeom>
        </p:spPr>
      </p:pic>
      <p:pic>
        <p:nvPicPr>
          <p:cNvPr id="4" name="Image 3"/>
          <p:cNvPicPr>
            <a:picLocks noChangeAspect="1"/>
          </p:cNvPicPr>
          <p:nvPr/>
        </p:nvPicPr>
        <p:blipFill>
          <a:blip r:embed="rId3"/>
          <a:stretch>
            <a:fillRect/>
          </a:stretch>
        </p:blipFill>
        <p:spPr>
          <a:xfrm>
            <a:off x="4192292" y="1449554"/>
            <a:ext cx="310923" cy="353599"/>
          </a:xfrm>
          <a:prstGeom prst="rect">
            <a:avLst/>
          </a:prstGeom>
        </p:spPr>
      </p:pic>
      <p:pic>
        <p:nvPicPr>
          <p:cNvPr id="5" name="Image 4"/>
          <p:cNvPicPr>
            <a:picLocks noChangeAspect="1"/>
          </p:cNvPicPr>
          <p:nvPr/>
        </p:nvPicPr>
        <p:blipFill>
          <a:blip r:embed="rId4"/>
          <a:stretch>
            <a:fillRect/>
          </a:stretch>
        </p:blipFill>
        <p:spPr>
          <a:xfrm>
            <a:off x="2471500" y="1626353"/>
            <a:ext cx="310923" cy="353599"/>
          </a:xfrm>
          <a:prstGeom prst="rect">
            <a:avLst/>
          </a:prstGeom>
        </p:spPr>
      </p:pic>
      <p:pic>
        <p:nvPicPr>
          <p:cNvPr id="6" name="Image 5"/>
          <p:cNvPicPr>
            <a:picLocks noChangeAspect="1"/>
          </p:cNvPicPr>
          <p:nvPr/>
        </p:nvPicPr>
        <p:blipFill>
          <a:blip r:embed="rId5"/>
          <a:stretch>
            <a:fillRect/>
          </a:stretch>
        </p:blipFill>
        <p:spPr>
          <a:xfrm>
            <a:off x="4192291" y="2135396"/>
            <a:ext cx="310923" cy="353599"/>
          </a:xfrm>
          <a:prstGeom prst="rect">
            <a:avLst/>
          </a:prstGeom>
        </p:spPr>
      </p:pic>
      <p:pic>
        <p:nvPicPr>
          <p:cNvPr id="7" name="Image 6"/>
          <p:cNvPicPr>
            <a:picLocks noChangeAspect="1"/>
          </p:cNvPicPr>
          <p:nvPr/>
        </p:nvPicPr>
        <p:blipFill>
          <a:blip r:embed="rId6"/>
          <a:stretch>
            <a:fillRect/>
          </a:stretch>
        </p:blipFill>
        <p:spPr>
          <a:xfrm>
            <a:off x="2160577" y="1739160"/>
            <a:ext cx="310923" cy="353599"/>
          </a:xfrm>
          <a:prstGeom prst="rect">
            <a:avLst/>
          </a:prstGeom>
        </p:spPr>
      </p:pic>
      <p:pic>
        <p:nvPicPr>
          <p:cNvPr id="9" name="Image 8"/>
          <p:cNvPicPr>
            <a:picLocks noChangeAspect="1"/>
          </p:cNvPicPr>
          <p:nvPr/>
        </p:nvPicPr>
        <p:blipFill>
          <a:blip r:embed="rId7"/>
          <a:stretch>
            <a:fillRect/>
          </a:stretch>
        </p:blipFill>
        <p:spPr>
          <a:xfrm flipV="1">
            <a:off x="2071316" y="2820690"/>
            <a:ext cx="1253070" cy="123987"/>
          </a:xfrm>
          <a:prstGeom prst="rect">
            <a:avLst/>
          </a:prstGeom>
        </p:spPr>
      </p:pic>
      <p:pic>
        <p:nvPicPr>
          <p:cNvPr id="10" name="Image 9"/>
          <p:cNvPicPr>
            <a:picLocks noChangeAspect="1"/>
          </p:cNvPicPr>
          <p:nvPr/>
        </p:nvPicPr>
        <p:blipFill>
          <a:blip r:embed="rId8"/>
          <a:stretch>
            <a:fillRect/>
          </a:stretch>
        </p:blipFill>
        <p:spPr>
          <a:xfrm>
            <a:off x="3283726" y="2751597"/>
            <a:ext cx="310923" cy="359695"/>
          </a:xfrm>
          <a:prstGeom prst="rect">
            <a:avLst/>
          </a:prstGeom>
        </p:spPr>
      </p:pic>
      <p:pic>
        <p:nvPicPr>
          <p:cNvPr id="11" name="Image 10"/>
          <p:cNvPicPr>
            <a:picLocks noChangeAspect="1"/>
          </p:cNvPicPr>
          <p:nvPr/>
        </p:nvPicPr>
        <p:blipFill>
          <a:blip r:embed="rId9"/>
          <a:stretch>
            <a:fillRect/>
          </a:stretch>
        </p:blipFill>
        <p:spPr>
          <a:xfrm>
            <a:off x="4180190" y="2493214"/>
            <a:ext cx="310923" cy="359695"/>
          </a:xfrm>
          <a:prstGeom prst="rect">
            <a:avLst/>
          </a:prstGeom>
        </p:spPr>
      </p:pic>
      <p:pic>
        <p:nvPicPr>
          <p:cNvPr id="12" name="Image 11"/>
          <p:cNvPicPr>
            <a:picLocks noChangeAspect="1"/>
          </p:cNvPicPr>
          <p:nvPr/>
        </p:nvPicPr>
        <p:blipFill>
          <a:blip r:embed="rId10"/>
          <a:stretch>
            <a:fillRect/>
          </a:stretch>
        </p:blipFill>
        <p:spPr>
          <a:xfrm>
            <a:off x="619711" y="1443457"/>
            <a:ext cx="170703" cy="182896"/>
          </a:xfrm>
          <a:prstGeom prst="rect">
            <a:avLst/>
          </a:prstGeom>
        </p:spPr>
      </p:pic>
      <p:pic>
        <p:nvPicPr>
          <p:cNvPr id="13" name="Image 12"/>
          <p:cNvPicPr>
            <a:picLocks noChangeAspect="1"/>
          </p:cNvPicPr>
          <p:nvPr/>
        </p:nvPicPr>
        <p:blipFill>
          <a:blip r:embed="rId11"/>
          <a:stretch>
            <a:fillRect/>
          </a:stretch>
        </p:blipFill>
        <p:spPr>
          <a:xfrm>
            <a:off x="4209896" y="2852909"/>
            <a:ext cx="310923" cy="353599"/>
          </a:xfrm>
          <a:prstGeom prst="rect">
            <a:avLst/>
          </a:prstGeom>
        </p:spPr>
      </p:pic>
      <p:pic>
        <p:nvPicPr>
          <p:cNvPr id="14" name="Image 13"/>
          <p:cNvPicPr>
            <a:picLocks noChangeAspect="1"/>
          </p:cNvPicPr>
          <p:nvPr/>
        </p:nvPicPr>
        <p:blipFill>
          <a:blip r:embed="rId12"/>
          <a:stretch>
            <a:fillRect/>
          </a:stretch>
        </p:blipFill>
        <p:spPr>
          <a:xfrm>
            <a:off x="726982" y="1488299"/>
            <a:ext cx="310923" cy="353599"/>
          </a:xfrm>
          <a:prstGeom prst="rect">
            <a:avLst/>
          </a:prstGeom>
        </p:spPr>
      </p:pic>
    </p:spTree>
    <p:extLst>
      <p:ext uri="{BB962C8B-B14F-4D97-AF65-F5344CB8AC3E}">
        <p14:creationId xmlns:p14="http://schemas.microsoft.com/office/powerpoint/2010/main" val="834140222"/>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200" dirty="0">
                <a:cs typeface="Arial" panose="020B0604020202020204" pitchFamily="34" charset="0"/>
              </a:rPr>
              <a:t>M</a:t>
            </a:r>
            <a:r>
              <a:rPr lang="fr-FR" altLang="en-US" sz="2200" dirty="0" smtClean="0">
                <a:cs typeface="Arial" panose="020B0604020202020204" pitchFamily="34" charset="0"/>
              </a:rPr>
              <a:t>ode </a:t>
            </a:r>
            <a:r>
              <a:rPr lang="fr-FR" altLang="en-US" sz="2200" dirty="0">
                <a:cs typeface="Arial" panose="020B0604020202020204" pitchFamily="34" charset="0"/>
              </a:rPr>
              <a:t>opératoire dans </a:t>
            </a:r>
            <a:r>
              <a:rPr lang="fr-FR" altLang="en-US" sz="2200" dirty="0" smtClean="0">
                <a:cs typeface="Arial" panose="020B0604020202020204" pitchFamily="34" charset="0"/>
              </a:rPr>
              <a:t>SAP pour le </a:t>
            </a:r>
            <a:r>
              <a:rPr lang="fr-FR" altLang="en-US" sz="2200" dirty="0" err="1" smtClean="0">
                <a:cs typeface="Arial" panose="020B0604020202020204" pitchFamily="34" charset="0"/>
              </a:rPr>
              <a:t>reporting</a:t>
            </a:r>
            <a:r>
              <a:rPr lang="fr-FR" altLang="en-US" sz="2200" dirty="0" smtClean="0">
                <a:cs typeface="Arial" panose="020B0604020202020204" pitchFamily="34" charset="0"/>
              </a:rPr>
              <a:t> fournisseur : solde fournisseur 2/2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790414"/>
            <a:ext cx="8246571" cy="3751235"/>
          </a:xfrm>
        </p:spPr>
        <p:txBody>
          <a:bodyPr/>
          <a:lstStyle/>
          <a:p>
            <a:r>
              <a:rPr lang="fr-FR" dirty="0" smtClean="0">
                <a:latin typeface="Arial" panose="020B0604020202020204" pitchFamily="34" charset="0"/>
                <a:cs typeface="Arial" panose="020B0604020202020204" pitchFamily="34" charset="0"/>
              </a:rPr>
              <a:t>										</a:t>
            </a:r>
            <a:endParaRPr lang="fr-FR" dirty="0" smtClean="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10</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790414"/>
            <a:ext cx="6374131" cy="3751235"/>
          </a:xfrm>
          <a:prstGeom prst="rect">
            <a:avLst/>
          </a:prstGeom>
        </p:spPr>
      </p:pic>
    </p:spTree>
    <p:extLst>
      <p:ext uri="{BB962C8B-B14F-4D97-AF65-F5344CB8AC3E}">
        <p14:creationId xmlns:p14="http://schemas.microsoft.com/office/powerpoint/2010/main" val="1016389541"/>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200" dirty="0">
                <a:cs typeface="Arial" panose="020B0604020202020204" pitchFamily="34" charset="0"/>
              </a:rPr>
              <a:t>M</a:t>
            </a:r>
            <a:r>
              <a:rPr lang="fr-FR" altLang="en-US" sz="2200" dirty="0" smtClean="0">
                <a:cs typeface="Arial" panose="020B0604020202020204" pitchFamily="34" charset="0"/>
              </a:rPr>
              <a:t>ode </a:t>
            </a:r>
            <a:r>
              <a:rPr lang="fr-FR" altLang="en-US" sz="2200" dirty="0">
                <a:cs typeface="Arial" panose="020B0604020202020204" pitchFamily="34" charset="0"/>
              </a:rPr>
              <a:t>opératoire dans </a:t>
            </a:r>
            <a:r>
              <a:rPr lang="fr-FR" altLang="en-US" sz="2200" dirty="0" smtClean="0">
                <a:cs typeface="Arial" panose="020B0604020202020204" pitchFamily="34" charset="0"/>
              </a:rPr>
              <a:t>SAP pour le </a:t>
            </a:r>
            <a:r>
              <a:rPr lang="fr-FR" altLang="en-US" sz="2200" dirty="0" err="1" smtClean="0">
                <a:cs typeface="Arial" panose="020B0604020202020204" pitchFamily="34" charset="0"/>
              </a:rPr>
              <a:t>reporting</a:t>
            </a:r>
            <a:r>
              <a:rPr lang="fr-FR" altLang="en-US" sz="2200" dirty="0" smtClean="0">
                <a:cs typeface="Arial" panose="020B0604020202020204" pitchFamily="34" charset="0"/>
              </a:rPr>
              <a:t> fournisseur : postes fournisseurs 1/2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790414"/>
            <a:ext cx="8246571" cy="3751235"/>
          </a:xfrm>
        </p:spPr>
        <p:txBody>
          <a:bodyPr/>
          <a:lstStyle/>
          <a:p>
            <a:r>
              <a:rPr lang="fr-FR" dirty="0" smtClean="0">
                <a:cs typeface="Arial" panose="020B0604020202020204" pitchFamily="34" charset="0"/>
              </a:rPr>
              <a:t>Lancer la transaction S_ALR_87012078 : Analyse des échéances postes non soldés</a:t>
            </a:r>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cs typeface="Arial" panose="020B0604020202020204" pitchFamily="34" charset="0"/>
              </a:rPr>
              <a:t>Renseigner un compte fournisseur ou laisser à blanc si l’on souhaite</a:t>
            </a:r>
          </a:p>
          <a:p>
            <a:r>
              <a:rPr lang="fr-FR" dirty="0">
                <a:cs typeface="Arial" panose="020B0604020202020204" pitchFamily="34" charset="0"/>
              </a:rPr>
              <a:t>										avoir la totalité des fournisseurs</a:t>
            </a:r>
            <a:r>
              <a:rPr lang="fr-FR" dirty="0" smtClean="0">
                <a:cs typeface="Arial" panose="020B0604020202020204" pitchFamily="34" charset="0"/>
              </a:rPr>
              <a:t>.</a:t>
            </a:r>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Renseigner la société</a:t>
            </a:r>
          </a:p>
          <a:p>
            <a:r>
              <a:rPr lang="fr-FR" dirty="0">
                <a:cs typeface="Arial" panose="020B0604020202020204" pitchFamily="34" charset="0"/>
              </a:rPr>
              <a:t>										Renseigner la </a:t>
            </a:r>
            <a:r>
              <a:rPr lang="fr-FR" dirty="0" smtClean="0">
                <a:cs typeface="Arial" panose="020B0604020202020204" pitchFamily="34" charset="0"/>
              </a:rPr>
              <a:t>date de prise en comptes des PNS</a:t>
            </a:r>
          </a:p>
          <a:p>
            <a:r>
              <a:rPr lang="fr-FR" dirty="0">
                <a:cs typeface="Arial" panose="020B0604020202020204" pitchFamily="34" charset="0"/>
              </a:rPr>
              <a:t>	</a:t>
            </a:r>
            <a:r>
              <a:rPr lang="fr-FR" dirty="0" smtClean="0">
                <a:cs typeface="Arial" panose="020B0604020202020204" pitchFamily="34" charset="0"/>
              </a:rPr>
              <a:t>									Choisir le type d’édition souhaité	</a:t>
            </a:r>
            <a:endParaRPr lang="fr-FR" dirty="0">
              <a:cs typeface="Arial" panose="020B0604020202020204" pitchFamily="34" charset="0"/>
            </a:endParaRPr>
          </a:p>
          <a:p>
            <a:r>
              <a:rPr lang="fr-FR" dirty="0">
                <a:cs typeface="Arial" panose="020B0604020202020204" pitchFamily="34" charset="0"/>
              </a:rPr>
              <a:t>										Cliquer sur la touche « Exécuter »</a:t>
            </a:r>
          </a:p>
          <a:p>
            <a:r>
              <a:rPr lang="fr-FR" dirty="0" smtClean="0">
                <a:cs typeface="Arial" panose="020B0604020202020204" pitchFamily="34" charset="0"/>
              </a:rPr>
              <a:t> </a:t>
            </a:r>
            <a:endParaRPr lang="fr-FR" dirty="0">
              <a:cs typeface="Arial" panose="020B0604020202020204" pitchFamily="34" charset="0"/>
            </a:endParaRPr>
          </a:p>
          <a:p>
            <a:r>
              <a:rPr lang="fr-FR" dirty="0" smtClean="0">
                <a:cs typeface="Arial" panose="020B0604020202020204" pitchFamily="34" charset="0"/>
              </a:rPr>
              <a:t> </a:t>
            </a: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11</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4176315" y="1093093"/>
            <a:ext cx="310923" cy="353599"/>
          </a:xfrm>
          <a:prstGeom prst="rect">
            <a:avLst/>
          </a:prstGeom>
        </p:spPr>
      </p:pic>
      <p:pic>
        <p:nvPicPr>
          <p:cNvPr id="4" name="Image 3"/>
          <p:cNvPicPr>
            <a:picLocks noChangeAspect="1"/>
          </p:cNvPicPr>
          <p:nvPr/>
        </p:nvPicPr>
        <p:blipFill>
          <a:blip r:embed="rId3"/>
          <a:stretch>
            <a:fillRect/>
          </a:stretch>
        </p:blipFill>
        <p:spPr>
          <a:xfrm>
            <a:off x="4174879" y="1807494"/>
            <a:ext cx="310923" cy="353599"/>
          </a:xfrm>
          <a:prstGeom prst="rect">
            <a:avLst/>
          </a:prstGeom>
        </p:spPr>
      </p:pic>
      <p:pic>
        <p:nvPicPr>
          <p:cNvPr id="5" name="Image 4"/>
          <p:cNvPicPr>
            <a:picLocks noChangeAspect="1"/>
          </p:cNvPicPr>
          <p:nvPr/>
        </p:nvPicPr>
        <p:blipFill>
          <a:blip r:embed="rId4"/>
          <a:stretch>
            <a:fillRect/>
          </a:stretch>
        </p:blipFill>
        <p:spPr>
          <a:xfrm>
            <a:off x="4176315" y="2158045"/>
            <a:ext cx="310923" cy="359695"/>
          </a:xfrm>
          <a:prstGeom prst="rect">
            <a:avLst/>
          </a:prstGeom>
        </p:spPr>
      </p:pic>
      <p:pic>
        <p:nvPicPr>
          <p:cNvPr id="6" name="Image 5"/>
          <p:cNvPicPr>
            <a:picLocks noChangeAspect="1"/>
          </p:cNvPicPr>
          <p:nvPr/>
        </p:nvPicPr>
        <p:blipFill>
          <a:blip r:embed="rId5"/>
          <a:stretch>
            <a:fillRect/>
          </a:stretch>
        </p:blipFill>
        <p:spPr>
          <a:xfrm>
            <a:off x="4174878" y="2489231"/>
            <a:ext cx="310923" cy="353599"/>
          </a:xfrm>
          <a:prstGeom prst="rect">
            <a:avLst/>
          </a:prstGeom>
        </p:spPr>
      </p:pic>
      <p:pic>
        <p:nvPicPr>
          <p:cNvPr id="7" name="Image 6"/>
          <p:cNvPicPr>
            <a:picLocks noChangeAspect="1"/>
          </p:cNvPicPr>
          <p:nvPr/>
        </p:nvPicPr>
        <p:blipFill>
          <a:blip r:embed="rId6"/>
          <a:stretch>
            <a:fillRect/>
          </a:stretch>
        </p:blipFill>
        <p:spPr>
          <a:xfrm>
            <a:off x="4176315" y="2838015"/>
            <a:ext cx="310923" cy="359695"/>
          </a:xfrm>
          <a:prstGeom prst="rect">
            <a:avLst/>
          </a:prstGeom>
        </p:spPr>
      </p:pic>
      <p:pic>
        <p:nvPicPr>
          <p:cNvPr id="8" name="Image 7"/>
          <p:cNvPicPr>
            <a:picLocks noChangeAspect="1"/>
          </p:cNvPicPr>
          <p:nvPr/>
        </p:nvPicPr>
        <p:blipFill>
          <a:blip r:embed="rId7"/>
          <a:stretch>
            <a:fillRect/>
          </a:stretch>
        </p:blipFill>
        <p:spPr>
          <a:xfrm>
            <a:off x="573578" y="1121373"/>
            <a:ext cx="3602737" cy="3148410"/>
          </a:xfrm>
          <a:prstGeom prst="rect">
            <a:avLst/>
          </a:prstGeom>
        </p:spPr>
      </p:pic>
      <p:pic>
        <p:nvPicPr>
          <p:cNvPr id="9" name="Image 8"/>
          <p:cNvPicPr>
            <a:picLocks noChangeAspect="1"/>
          </p:cNvPicPr>
          <p:nvPr/>
        </p:nvPicPr>
        <p:blipFill>
          <a:blip r:embed="rId8"/>
          <a:stretch>
            <a:fillRect/>
          </a:stretch>
        </p:blipFill>
        <p:spPr>
          <a:xfrm>
            <a:off x="3471142" y="2041351"/>
            <a:ext cx="310923" cy="353599"/>
          </a:xfrm>
          <a:prstGeom prst="rect">
            <a:avLst/>
          </a:prstGeom>
        </p:spPr>
      </p:pic>
      <p:pic>
        <p:nvPicPr>
          <p:cNvPr id="10" name="Image 9"/>
          <p:cNvPicPr>
            <a:picLocks noChangeAspect="1"/>
          </p:cNvPicPr>
          <p:nvPr/>
        </p:nvPicPr>
        <p:blipFill>
          <a:blip r:embed="rId9"/>
          <a:stretch>
            <a:fillRect/>
          </a:stretch>
        </p:blipFill>
        <p:spPr>
          <a:xfrm>
            <a:off x="2122789" y="2218612"/>
            <a:ext cx="310923" cy="353599"/>
          </a:xfrm>
          <a:prstGeom prst="rect">
            <a:avLst/>
          </a:prstGeom>
        </p:spPr>
      </p:pic>
      <p:pic>
        <p:nvPicPr>
          <p:cNvPr id="11" name="Image 10"/>
          <p:cNvPicPr>
            <a:picLocks noChangeAspect="1"/>
          </p:cNvPicPr>
          <p:nvPr/>
        </p:nvPicPr>
        <p:blipFill>
          <a:blip r:embed="rId10"/>
          <a:stretch>
            <a:fillRect/>
          </a:stretch>
        </p:blipFill>
        <p:spPr>
          <a:xfrm>
            <a:off x="2379388" y="2838015"/>
            <a:ext cx="310923" cy="359695"/>
          </a:xfrm>
          <a:prstGeom prst="rect">
            <a:avLst/>
          </a:prstGeom>
        </p:spPr>
      </p:pic>
      <p:pic>
        <p:nvPicPr>
          <p:cNvPr id="12" name="Image 11"/>
          <p:cNvPicPr>
            <a:picLocks noChangeAspect="1"/>
          </p:cNvPicPr>
          <p:nvPr/>
        </p:nvPicPr>
        <p:blipFill>
          <a:blip r:embed="rId11"/>
          <a:stretch>
            <a:fillRect/>
          </a:stretch>
        </p:blipFill>
        <p:spPr>
          <a:xfrm>
            <a:off x="611960" y="1539870"/>
            <a:ext cx="170703" cy="182896"/>
          </a:xfrm>
          <a:prstGeom prst="rect">
            <a:avLst/>
          </a:prstGeom>
        </p:spPr>
      </p:pic>
      <p:pic>
        <p:nvPicPr>
          <p:cNvPr id="13" name="Image 12"/>
          <p:cNvPicPr>
            <a:picLocks noChangeAspect="1"/>
          </p:cNvPicPr>
          <p:nvPr/>
        </p:nvPicPr>
        <p:blipFill>
          <a:blip r:embed="rId12"/>
          <a:stretch>
            <a:fillRect/>
          </a:stretch>
        </p:blipFill>
        <p:spPr>
          <a:xfrm>
            <a:off x="697311" y="1571198"/>
            <a:ext cx="310923" cy="359695"/>
          </a:xfrm>
          <a:prstGeom prst="rect">
            <a:avLst/>
          </a:prstGeom>
        </p:spPr>
      </p:pic>
      <p:pic>
        <p:nvPicPr>
          <p:cNvPr id="14" name="Image 13"/>
          <p:cNvPicPr>
            <a:picLocks noChangeAspect="1"/>
          </p:cNvPicPr>
          <p:nvPr/>
        </p:nvPicPr>
        <p:blipFill>
          <a:blip r:embed="rId13"/>
          <a:stretch>
            <a:fillRect/>
          </a:stretch>
        </p:blipFill>
        <p:spPr>
          <a:xfrm>
            <a:off x="667049" y="3526438"/>
            <a:ext cx="170703" cy="182896"/>
          </a:xfrm>
          <a:prstGeom prst="rect">
            <a:avLst/>
          </a:prstGeom>
        </p:spPr>
      </p:pic>
      <p:pic>
        <p:nvPicPr>
          <p:cNvPr id="15" name="Image 14"/>
          <p:cNvPicPr>
            <a:picLocks noChangeAspect="1"/>
          </p:cNvPicPr>
          <p:nvPr/>
        </p:nvPicPr>
        <p:blipFill>
          <a:blip r:embed="rId14"/>
          <a:stretch>
            <a:fillRect/>
          </a:stretch>
        </p:blipFill>
        <p:spPr>
          <a:xfrm>
            <a:off x="775761" y="3532534"/>
            <a:ext cx="310923" cy="353599"/>
          </a:xfrm>
          <a:prstGeom prst="rect">
            <a:avLst/>
          </a:prstGeom>
        </p:spPr>
      </p:pic>
    </p:spTree>
    <p:extLst>
      <p:ext uri="{BB962C8B-B14F-4D97-AF65-F5344CB8AC3E}">
        <p14:creationId xmlns:p14="http://schemas.microsoft.com/office/powerpoint/2010/main" val="3445365631"/>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200" dirty="0">
                <a:cs typeface="Arial" panose="020B0604020202020204" pitchFamily="34" charset="0"/>
              </a:rPr>
              <a:t>M</a:t>
            </a:r>
            <a:r>
              <a:rPr lang="fr-FR" altLang="en-US" sz="2200" dirty="0" smtClean="0">
                <a:cs typeface="Arial" panose="020B0604020202020204" pitchFamily="34" charset="0"/>
              </a:rPr>
              <a:t>ode </a:t>
            </a:r>
            <a:r>
              <a:rPr lang="fr-FR" altLang="en-US" sz="2200" dirty="0">
                <a:cs typeface="Arial" panose="020B0604020202020204" pitchFamily="34" charset="0"/>
              </a:rPr>
              <a:t>opératoire dans </a:t>
            </a:r>
            <a:r>
              <a:rPr lang="fr-FR" altLang="en-US" sz="2200" dirty="0" smtClean="0">
                <a:cs typeface="Arial" panose="020B0604020202020204" pitchFamily="34" charset="0"/>
              </a:rPr>
              <a:t>SAP pour le </a:t>
            </a:r>
            <a:r>
              <a:rPr lang="fr-FR" altLang="en-US" sz="2200" dirty="0" err="1" smtClean="0">
                <a:cs typeface="Arial" panose="020B0604020202020204" pitchFamily="34" charset="0"/>
              </a:rPr>
              <a:t>reporting</a:t>
            </a:r>
            <a:r>
              <a:rPr lang="fr-FR" altLang="en-US" sz="2200" dirty="0" smtClean="0">
                <a:cs typeface="Arial" panose="020B0604020202020204" pitchFamily="34" charset="0"/>
              </a:rPr>
              <a:t> fournisseur : postes fournisseurs 2/2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790414"/>
            <a:ext cx="8246571" cy="3751235"/>
          </a:xfrm>
        </p:spPr>
        <p:txBody>
          <a:bodyPr/>
          <a:lstStyle/>
          <a:p>
            <a:r>
              <a:rPr lang="fr-FR" dirty="0" smtClean="0">
                <a:cs typeface="Arial" panose="020B0604020202020204" pitchFamily="34" charset="0"/>
              </a:rPr>
              <a:t> </a:t>
            </a:r>
            <a:endParaRPr lang="fr-FR" dirty="0">
              <a:cs typeface="Arial" panose="020B0604020202020204" pitchFamily="34" charset="0"/>
            </a:endParaRPr>
          </a:p>
          <a:p>
            <a:r>
              <a:rPr lang="fr-FR" dirty="0" smtClean="0">
                <a:cs typeface="Arial" panose="020B0604020202020204" pitchFamily="34" charset="0"/>
              </a:rPr>
              <a:t> </a:t>
            </a: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12</a:t>
            </a:fld>
            <a:endParaRPr lang="fr-FR" altLang="en-US" sz="750">
              <a:solidFill>
                <a:srgbClr val="000000"/>
              </a:solidFill>
            </a:endParaRPr>
          </a:p>
        </p:txBody>
      </p:sp>
      <p:pic>
        <p:nvPicPr>
          <p:cNvPr id="15" name="Image 14"/>
          <p:cNvPicPr>
            <a:picLocks noChangeAspect="1"/>
          </p:cNvPicPr>
          <p:nvPr/>
        </p:nvPicPr>
        <p:blipFill>
          <a:blip r:embed="rId2"/>
          <a:stretch>
            <a:fillRect/>
          </a:stretch>
        </p:blipFill>
        <p:spPr>
          <a:xfrm>
            <a:off x="623233" y="790413"/>
            <a:ext cx="7699357" cy="3587857"/>
          </a:xfrm>
          <a:prstGeom prst="rect">
            <a:avLst/>
          </a:prstGeom>
        </p:spPr>
      </p:pic>
    </p:spTree>
    <p:extLst>
      <p:ext uri="{BB962C8B-B14F-4D97-AF65-F5344CB8AC3E}">
        <p14:creationId xmlns:p14="http://schemas.microsoft.com/office/powerpoint/2010/main" val="3120748250"/>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200" dirty="0">
                <a:cs typeface="Arial" panose="020B0604020202020204" pitchFamily="34" charset="0"/>
              </a:rPr>
              <a:t>M</a:t>
            </a:r>
            <a:r>
              <a:rPr lang="fr-FR" altLang="en-US" sz="2200" dirty="0" smtClean="0">
                <a:cs typeface="Arial" panose="020B0604020202020204" pitchFamily="34" charset="0"/>
              </a:rPr>
              <a:t>ode </a:t>
            </a:r>
            <a:r>
              <a:rPr lang="fr-FR" altLang="en-US" sz="2200" dirty="0">
                <a:cs typeface="Arial" panose="020B0604020202020204" pitchFamily="34" charset="0"/>
              </a:rPr>
              <a:t>opératoire dans </a:t>
            </a:r>
            <a:r>
              <a:rPr lang="fr-FR" altLang="en-US" sz="2200" dirty="0" smtClean="0">
                <a:cs typeface="Arial" panose="020B0604020202020204" pitchFamily="34" charset="0"/>
              </a:rPr>
              <a:t>SAP pour le </a:t>
            </a:r>
            <a:r>
              <a:rPr lang="fr-FR" altLang="en-US" sz="2200" dirty="0" err="1" smtClean="0">
                <a:cs typeface="Arial" panose="020B0604020202020204" pitchFamily="34" charset="0"/>
              </a:rPr>
              <a:t>reporting</a:t>
            </a:r>
            <a:r>
              <a:rPr lang="fr-FR" altLang="en-US" sz="2200" dirty="0" smtClean="0">
                <a:cs typeface="Arial" panose="020B0604020202020204" pitchFamily="34" charset="0"/>
              </a:rPr>
              <a:t> fournisseur : données de base 1/2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790414"/>
            <a:ext cx="8246571" cy="3751235"/>
          </a:xfrm>
        </p:spPr>
        <p:txBody>
          <a:bodyPr/>
          <a:lstStyle/>
          <a:p>
            <a:r>
              <a:rPr lang="fr-FR" dirty="0" smtClean="0">
                <a:cs typeface="Arial" panose="020B0604020202020204" pitchFamily="34" charset="0"/>
              </a:rPr>
              <a:t>Lancer </a:t>
            </a:r>
            <a:r>
              <a:rPr lang="fr-FR" dirty="0">
                <a:cs typeface="Arial" panose="020B0604020202020204" pitchFamily="34" charset="0"/>
              </a:rPr>
              <a:t>la transaction </a:t>
            </a:r>
            <a:r>
              <a:rPr lang="fr-FR" dirty="0">
                <a:solidFill>
                  <a:prstClr val="white"/>
                </a:solidFill>
                <a:cs typeface="Arial" panose="020B0604020202020204" pitchFamily="34" charset="0"/>
              </a:rPr>
              <a:t> </a:t>
            </a:r>
            <a:r>
              <a:rPr lang="fr-FR" dirty="0" smtClean="0"/>
              <a:t>S_ALR_87012089 </a:t>
            </a:r>
            <a:r>
              <a:rPr lang="fr-FR" dirty="0"/>
              <a:t>: </a:t>
            </a:r>
            <a:r>
              <a:rPr lang="fr-FR" dirty="0" smtClean="0"/>
              <a:t>Affichage modifications fournisseurs </a:t>
            </a:r>
            <a:endParaRPr lang="fr-FR" dirty="0"/>
          </a:p>
          <a:p>
            <a:r>
              <a:rPr lang="fr-FR" dirty="0" smtClean="0">
                <a:latin typeface="Arial" panose="020B0604020202020204" pitchFamily="34" charset="0"/>
                <a:cs typeface="Arial" panose="020B0604020202020204" pitchFamily="34" charset="0"/>
              </a:rPr>
              <a:t>									</a:t>
            </a:r>
            <a:r>
              <a:rPr lang="fr-FR" dirty="0" smtClean="0">
                <a:cs typeface="Arial" panose="020B0604020202020204" pitchFamily="34" charset="0"/>
              </a:rPr>
              <a:t>	Renseigner un compte fournisseur ou laisser à blanc si l’on souhaite</a:t>
            </a:r>
          </a:p>
          <a:p>
            <a:r>
              <a:rPr lang="fr-FR" dirty="0">
                <a:cs typeface="Arial" panose="020B0604020202020204" pitchFamily="34" charset="0"/>
              </a:rPr>
              <a:t>	</a:t>
            </a:r>
            <a:r>
              <a:rPr lang="fr-FR" dirty="0" smtClean="0">
                <a:cs typeface="Arial" panose="020B0604020202020204" pitchFamily="34" charset="0"/>
              </a:rPr>
              <a:t>									avoir la totalité des fournisseurs. </a:t>
            </a:r>
          </a:p>
          <a:p>
            <a:r>
              <a:rPr lang="fr-FR" dirty="0">
                <a:cs typeface="Arial" panose="020B0604020202020204" pitchFamily="34" charset="0"/>
              </a:rPr>
              <a:t>	</a:t>
            </a:r>
            <a:r>
              <a:rPr lang="fr-FR" dirty="0" smtClean="0">
                <a:cs typeface="Arial" panose="020B0604020202020204" pitchFamily="34" charset="0"/>
              </a:rPr>
              <a:t>									Renseigner la date de modification si elle est connue sinon blanc</a:t>
            </a:r>
          </a:p>
          <a:p>
            <a:r>
              <a:rPr lang="fr-FR" dirty="0">
                <a:cs typeface="Arial" panose="020B0604020202020204" pitchFamily="34" charset="0"/>
              </a:rPr>
              <a:t>	</a:t>
            </a:r>
            <a:r>
              <a:rPr lang="fr-FR" dirty="0" smtClean="0">
                <a:cs typeface="Arial" panose="020B0604020202020204" pitchFamily="34" charset="0"/>
              </a:rPr>
              <a:t>									Activer toutes les coches dans le pavé Autres sélections</a:t>
            </a:r>
          </a:p>
          <a:p>
            <a:r>
              <a:rPr lang="fr-FR" dirty="0">
                <a:cs typeface="Arial" panose="020B0604020202020204" pitchFamily="34" charset="0"/>
              </a:rPr>
              <a:t>	</a:t>
            </a:r>
            <a:r>
              <a:rPr lang="fr-FR" dirty="0" smtClean="0">
                <a:cs typeface="Arial" panose="020B0604020202020204" pitchFamily="34" charset="0"/>
              </a:rPr>
              <a:t>									Cliquer sur la touche « Exécuter »</a:t>
            </a: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13</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4167941" y="1104385"/>
            <a:ext cx="310923" cy="353599"/>
          </a:xfrm>
          <a:prstGeom prst="rect">
            <a:avLst/>
          </a:prstGeom>
        </p:spPr>
      </p:pic>
      <p:pic>
        <p:nvPicPr>
          <p:cNvPr id="6" name="Image 5"/>
          <p:cNvPicPr>
            <a:picLocks noChangeAspect="1"/>
          </p:cNvPicPr>
          <p:nvPr/>
        </p:nvPicPr>
        <p:blipFill>
          <a:blip r:embed="rId3"/>
          <a:stretch>
            <a:fillRect/>
          </a:stretch>
        </p:blipFill>
        <p:spPr>
          <a:xfrm>
            <a:off x="4167316" y="1803374"/>
            <a:ext cx="310923" cy="353599"/>
          </a:xfrm>
          <a:prstGeom prst="rect">
            <a:avLst/>
          </a:prstGeom>
        </p:spPr>
      </p:pic>
      <p:pic>
        <p:nvPicPr>
          <p:cNvPr id="11" name="Image 10"/>
          <p:cNvPicPr>
            <a:picLocks noChangeAspect="1"/>
          </p:cNvPicPr>
          <p:nvPr/>
        </p:nvPicPr>
        <p:blipFill>
          <a:blip r:embed="rId4"/>
          <a:stretch>
            <a:fillRect/>
          </a:stretch>
        </p:blipFill>
        <p:spPr>
          <a:xfrm>
            <a:off x="4156983" y="2153920"/>
            <a:ext cx="310923" cy="359695"/>
          </a:xfrm>
          <a:prstGeom prst="rect">
            <a:avLst/>
          </a:prstGeom>
        </p:spPr>
      </p:pic>
      <p:pic>
        <p:nvPicPr>
          <p:cNvPr id="13" name="Image 12"/>
          <p:cNvPicPr>
            <a:picLocks noChangeAspect="1"/>
          </p:cNvPicPr>
          <p:nvPr/>
        </p:nvPicPr>
        <p:blipFill>
          <a:blip r:embed="rId5"/>
          <a:stretch>
            <a:fillRect/>
          </a:stretch>
        </p:blipFill>
        <p:spPr>
          <a:xfrm>
            <a:off x="4195151" y="2510562"/>
            <a:ext cx="310923" cy="353599"/>
          </a:xfrm>
          <a:prstGeom prst="rect">
            <a:avLst/>
          </a:prstGeom>
        </p:spPr>
      </p:pic>
      <p:pic>
        <p:nvPicPr>
          <p:cNvPr id="8" name="Image 7"/>
          <p:cNvPicPr>
            <a:picLocks noChangeAspect="1"/>
          </p:cNvPicPr>
          <p:nvPr/>
        </p:nvPicPr>
        <p:blipFill>
          <a:blip r:embed="rId6"/>
          <a:stretch>
            <a:fillRect/>
          </a:stretch>
        </p:blipFill>
        <p:spPr>
          <a:xfrm>
            <a:off x="591035" y="1067398"/>
            <a:ext cx="3559449" cy="3167195"/>
          </a:xfrm>
          <a:prstGeom prst="rect">
            <a:avLst/>
          </a:prstGeom>
        </p:spPr>
      </p:pic>
      <p:pic>
        <p:nvPicPr>
          <p:cNvPr id="16" name="Image 15"/>
          <p:cNvPicPr>
            <a:picLocks noChangeAspect="1"/>
          </p:cNvPicPr>
          <p:nvPr/>
        </p:nvPicPr>
        <p:blipFill>
          <a:blip r:embed="rId7"/>
          <a:stretch>
            <a:fillRect/>
          </a:stretch>
        </p:blipFill>
        <p:spPr>
          <a:xfrm>
            <a:off x="3486640" y="1591483"/>
            <a:ext cx="310923" cy="353599"/>
          </a:xfrm>
          <a:prstGeom prst="rect">
            <a:avLst/>
          </a:prstGeom>
        </p:spPr>
      </p:pic>
      <p:pic>
        <p:nvPicPr>
          <p:cNvPr id="17" name="Image 16"/>
          <p:cNvPicPr>
            <a:picLocks noChangeAspect="1"/>
          </p:cNvPicPr>
          <p:nvPr/>
        </p:nvPicPr>
        <p:blipFill>
          <a:blip r:embed="rId8"/>
          <a:stretch>
            <a:fillRect/>
          </a:stretch>
        </p:blipFill>
        <p:spPr>
          <a:xfrm>
            <a:off x="3495056" y="1738135"/>
            <a:ext cx="310923" cy="353599"/>
          </a:xfrm>
          <a:prstGeom prst="rect">
            <a:avLst/>
          </a:prstGeom>
        </p:spPr>
      </p:pic>
      <p:pic>
        <p:nvPicPr>
          <p:cNvPr id="18" name="Image 17"/>
          <p:cNvPicPr>
            <a:picLocks noChangeAspect="1"/>
          </p:cNvPicPr>
          <p:nvPr/>
        </p:nvPicPr>
        <p:blipFill>
          <a:blip r:embed="rId9"/>
          <a:stretch>
            <a:fillRect/>
          </a:stretch>
        </p:blipFill>
        <p:spPr>
          <a:xfrm>
            <a:off x="653645" y="2156974"/>
            <a:ext cx="193023" cy="1384390"/>
          </a:xfrm>
          <a:prstGeom prst="rect">
            <a:avLst/>
          </a:prstGeom>
        </p:spPr>
      </p:pic>
      <p:pic>
        <p:nvPicPr>
          <p:cNvPr id="19" name="Image 18"/>
          <p:cNvPicPr>
            <a:picLocks noChangeAspect="1"/>
          </p:cNvPicPr>
          <p:nvPr/>
        </p:nvPicPr>
        <p:blipFill>
          <a:blip r:embed="rId10"/>
          <a:stretch>
            <a:fillRect/>
          </a:stretch>
        </p:blipFill>
        <p:spPr>
          <a:xfrm>
            <a:off x="753816" y="2037399"/>
            <a:ext cx="310923" cy="359695"/>
          </a:xfrm>
          <a:prstGeom prst="rect">
            <a:avLst/>
          </a:prstGeom>
        </p:spPr>
      </p:pic>
      <p:pic>
        <p:nvPicPr>
          <p:cNvPr id="20" name="Image 19"/>
          <p:cNvPicPr>
            <a:picLocks noChangeAspect="1"/>
          </p:cNvPicPr>
          <p:nvPr/>
        </p:nvPicPr>
        <p:blipFill>
          <a:blip r:embed="rId11"/>
          <a:stretch>
            <a:fillRect/>
          </a:stretch>
        </p:blipFill>
        <p:spPr>
          <a:xfrm>
            <a:off x="653645" y="1281808"/>
            <a:ext cx="166238" cy="178112"/>
          </a:xfrm>
          <a:prstGeom prst="rect">
            <a:avLst/>
          </a:prstGeom>
        </p:spPr>
      </p:pic>
      <p:pic>
        <p:nvPicPr>
          <p:cNvPr id="21" name="Image 20"/>
          <p:cNvPicPr>
            <a:picLocks noChangeAspect="1"/>
          </p:cNvPicPr>
          <p:nvPr/>
        </p:nvPicPr>
        <p:blipFill>
          <a:blip r:embed="rId12"/>
          <a:stretch>
            <a:fillRect/>
          </a:stretch>
        </p:blipFill>
        <p:spPr>
          <a:xfrm>
            <a:off x="737527" y="1346441"/>
            <a:ext cx="310923" cy="353599"/>
          </a:xfrm>
          <a:prstGeom prst="rect">
            <a:avLst/>
          </a:prstGeom>
        </p:spPr>
      </p:pic>
    </p:spTree>
    <p:extLst>
      <p:ext uri="{BB962C8B-B14F-4D97-AF65-F5344CB8AC3E}">
        <p14:creationId xmlns:p14="http://schemas.microsoft.com/office/powerpoint/2010/main" val="499713996"/>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a:xfrm>
            <a:off x="457200" y="206375"/>
            <a:ext cx="8229600" cy="584039"/>
          </a:xfrm>
        </p:spPr>
        <p:txBody>
          <a:bodyPr>
            <a:normAutofit fontScale="90000"/>
          </a:bodyPr>
          <a:lstStyle/>
          <a:p>
            <a:r>
              <a:rPr lang="fr-FR" altLang="en-US" sz="2200" dirty="0">
                <a:cs typeface="Arial" panose="020B0604020202020204" pitchFamily="34" charset="0"/>
              </a:rPr>
              <a:t>M</a:t>
            </a:r>
            <a:r>
              <a:rPr lang="fr-FR" altLang="en-US" sz="2200" dirty="0" smtClean="0">
                <a:cs typeface="Arial" panose="020B0604020202020204" pitchFamily="34" charset="0"/>
              </a:rPr>
              <a:t>ode </a:t>
            </a:r>
            <a:r>
              <a:rPr lang="fr-FR" altLang="en-US" sz="2200" dirty="0">
                <a:cs typeface="Arial" panose="020B0604020202020204" pitchFamily="34" charset="0"/>
              </a:rPr>
              <a:t>opératoire dans </a:t>
            </a:r>
            <a:r>
              <a:rPr lang="fr-FR" altLang="en-US" sz="2200" dirty="0" smtClean="0">
                <a:cs typeface="Arial" panose="020B0604020202020204" pitchFamily="34" charset="0"/>
              </a:rPr>
              <a:t>SAP pour le </a:t>
            </a:r>
            <a:r>
              <a:rPr lang="fr-FR" altLang="en-US" sz="2200" dirty="0" err="1" smtClean="0">
                <a:cs typeface="Arial" panose="020B0604020202020204" pitchFamily="34" charset="0"/>
              </a:rPr>
              <a:t>reporting</a:t>
            </a:r>
            <a:r>
              <a:rPr lang="fr-FR" altLang="en-US" sz="2200" dirty="0" smtClean="0">
                <a:cs typeface="Arial" panose="020B0604020202020204" pitchFamily="34" charset="0"/>
              </a:rPr>
              <a:t> fournisseur : données de base 2/2</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790414"/>
            <a:ext cx="8246571" cy="3751235"/>
          </a:xfrm>
        </p:spPr>
        <p:txBody>
          <a:bodyPr/>
          <a:lstStyle/>
          <a:p>
            <a:r>
              <a:rPr lang="fr-FR" dirty="0" smtClean="0">
                <a:cs typeface="Arial" panose="020B0604020202020204" pitchFamily="34" charset="0"/>
              </a:rPr>
              <a:t> </a:t>
            </a:r>
            <a:endParaRPr lang="fr-FR" dirty="0">
              <a:cs typeface="Arial" panose="020B0604020202020204" pitchFamily="34" charset="0"/>
            </a:endParaRPr>
          </a:p>
          <a:p>
            <a:r>
              <a:rPr lang="fr-FR" dirty="0" smtClean="0">
                <a:cs typeface="Arial" panose="020B0604020202020204" pitchFamily="34" charset="0"/>
              </a:rPr>
              <a:t> </a:t>
            </a: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p>
          <a:p>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	</a:t>
            </a:r>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14</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790414"/>
            <a:ext cx="6372514" cy="2998922"/>
          </a:xfrm>
          <a:prstGeom prst="rect">
            <a:avLst/>
          </a:prstGeom>
        </p:spPr>
      </p:pic>
    </p:spTree>
    <p:extLst>
      <p:ext uri="{BB962C8B-B14F-4D97-AF65-F5344CB8AC3E}">
        <p14:creationId xmlns:p14="http://schemas.microsoft.com/office/powerpoint/2010/main" val="112267950"/>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5" y="1058111"/>
            <a:ext cx="3063507" cy="737928"/>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Lancer deux trois </a:t>
            </a:r>
            <a:r>
              <a:rPr lang="fr-FR" sz="1350" dirty="0" err="1" smtClean="0">
                <a:solidFill>
                  <a:srgbClr val="4F81BD"/>
                </a:solidFill>
                <a:latin typeface="Arial Narrow" pitchFamily="34" charset="0"/>
                <a:ea typeface="ＭＳ Ｐゴシック"/>
                <a:cs typeface="ＭＳ Ｐゴシック"/>
              </a:rPr>
              <a:t>reportings</a:t>
            </a:r>
            <a:r>
              <a:rPr lang="fr-FR" sz="1350" dirty="0" smtClean="0">
                <a:solidFill>
                  <a:srgbClr val="4F81BD"/>
                </a:solidFill>
                <a:latin typeface="Arial Narrow" pitchFamily="34" charset="0"/>
                <a:ea typeface="ＭＳ Ｐゴシック"/>
                <a:cs typeface="ＭＳ Ｐゴシック"/>
              </a:rPr>
              <a:t> de votre choix afin de vous familiariser avec  </a:t>
            </a:r>
          </a:p>
          <a:p>
            <a:pPr marL="135731" indent="-135731">
              <a:lnSpc>
                <a:spcPct val="110000"/>
              </a:lnSpc>
              <a:buFont typeface="Wingdings" pitchFamily="2" charset="2"/>
              <a:buChar char="§"/>
              <a:defRPr/>
            </a:pP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16</a:t>
            </a:fld>
            <a:endParaRPr lang="fr-FR" altLang="en-US" sz="750"/>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ea typeface="ＭＳ Ｐゴシック" panose="020B0600070205080204" pitchFamily="34" charset="-128"/>
                <a:cs typeface="Arial" panose="020B0604020202020204" pitchFamily="34" charset="0"/>
              </a:rPr>
              <a:t>Synthèse</a:t>
            </a:r>
            <a:endParaRPr lang="en-US" altLang="en-US" sz="2400" dirty="0" smtClean="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2880694"/>
          </a:xfrm>
        </p:spPr>
        <p:txBody>
          <a:bodyPr/>
          <a:lstStyle/>
          <a:p>
            <a:pPr marL="171450" indent="-171450">
              <a:buClr>
                <a:srgbClr val="0070C0"/>
              </a:buClr>
              <a:buSzPct val="100000"/>
              <a:buFont typeface="Arial" panose="020B0604020202020204" pitchFamily="34" charset="0"/>
              <a:buChar char="•"/>
            </a:pPr>
            <a:r>
              <a:rPr lang="fr-FR" altLang="en-US" dirty="0" smtClean="0">
                <a:ea typeface="ＭＳ Ｐゴシック" panose="020B0600070205080204" pitchFamily="34" charset="-128"/>
                <a:cs typeface="Arial" panose="020B0604020202020204" pitchFamily="34" charset="0"/>
              </a:rPr>
              <a:t>Le </a:t>
            </a:r>
            <a:r>
              <a:rPr lang="fr-FR" altLang="en-US" dirty="0" err="1" smtClean="0">
                <a:ea typeface="ＭＳ Ｐゴシック" panose="020B0600070205080204" pitchFamily="34" charset="-128"/>
                <a:cs typeface="Arial" panose="020B0604020202020204" pitchFamily="34" charset="0"/>
              </a:rPr>
              <a:t>reporting</a:t>
            </a:r>
            <a:r>
              <a:rPr lang="fr-FR" altLang="en-US" dirty="0" smtClean="0">
                <a:ea typeface="ＭＳ Ｐゴシック" panose="020B0600070205080204" pitchFamily="34" charset="-128"/>
                <a:cs typeface="Arial" panose="020B0604020202020204" pitchFamily="34" charset="0"/>
              </a:rPr>
              <a:t> est un très bon outil qui facilite le travail au quotidien. Mais en amont de ce travail de suivi, tout le travail de </a:t>
            </a:r>
            <a:r>
              <a:rPr lang="fr-FR" altLang="en-US" dirty="0" err="1" smtClean="0">
                <a:ea typeface="ＭＳ Ｐゴシック" panose="020B0600070205080204" pitchFamily="34" charset="-128"/>
                <a:cs typeface="Arial" panose="020B0604020202020204" pitchFamily="34" charset="0"/>
              </a:rPr>
              <a:t>cleaning</a:t>
            </a:r>
            <a:r>
              <a:rPr lang="fr-FR" altLang="en-US" dirty="0" smtClean="0">
                <a:ea typeface="ＭＳ Ｐゴシック" panose="020B0600070205080204" pitchFamily="34" charset="-128"/>
                <a:cs typeface="Arial" panose="020B0604020202020204" pitchFamily="34" charset="0"/>
              </a:rPr>
              <a:t> des comptes fournisseurs doit être effectué au jour le jour. </a:t>
            </a:r>
          </a:p>
          <a:p>
            <a:pPr marL="171450" indent="-171450">
              <a:buClr>
                <a:srgbClr val="0070C0"/>
              </a:buClr>
              <a:buSzPct val="100000"/>
              <a:buFont typeface="Arial" panose="020B0604020202020204" pitchFamily="34" charset="0"/>
              <a:buChar char="•"/>
            </a:pPr>
            <a:r>
              <a:rPr lang="fr-FR" altLang="en-US" dirty="0" smtClean="0">
                <a:ea typeface="ＭＳ Ｐゴシック" panose="020B0600070205080204" pitchFamily="34" charset="-128"/>
                <a:cs typeface="Arial" panose="020B0604020202020204" pitchFamily="34" charset="0"/>
              </a:rPr>
              <a:t>Depuis </a:t>
            </a:r>
            <a:r>
              <a:rPr lang="fr-FR" altLang="en-US" dirty="0" smtClean="0">
                <a:ea typeface="ＭＳ Ｐゴシック" panose="020B0600070205080204" pitchFamily="34" charset="-128"/>
                <a:cs typeface="Arial" panose="020B0604020202020204" pitchFamily="34" charset="0"/>
              </a:rPr>
              <a:t>le menu SAP : Gestion Comptable / Comptabilité Financière / </a:t>
            </a:r>
            <a:r>
              <a:rPr lang="fr-FR" altLang="en-US" dirty="0" err="1" smtClean="0">
                <a:ea typeface="ＭＳ Ｐゴシック" panose="020B0600070205080204" pitchFamily="34" charset="-128"/>
                <a:cs typeface="Arial" panose="020B0604020202020204" pitchFamily="34" charset="0"/>
              </a:rPr>
              <a:t>Fournsseurs</a:t>
            </a:r>
            <a:r>
              <a:rPr lang="fr-FR" altLang="en-US" dirty="0" smtClean="0">
                <a:ea typeface="ＭＳ Ｐゴシック" panose="020B0600070205080204" pitchFamily="34" charset="-128"/>
                <a:cs typeface="Arial" panose="020B0604020202020204" pitchFamily="34" charset="0"/>
              </a:rPr>
              <a:t> / Système d’information / Etats pour comptabilité fournisseur : </a:t>
            </a:r>
          </a:p>
          <a:p>
            <a:pPr marL="479904" lvl="2" indent="-171450">
              <a:buClr>
                <a:srgbClr val="0070C0"/>
              </a:buClr>
              <a:buSzPct val="100000"/>
            </a:pPr>
            <a:r>
              <a:rPr lang="fr-FR" altLang="en-US" dirty="0" smtClean="0">
                <a:ea typeface="ＭＳ Ｐゴシック" panose="020B0600070205080204" pitchFamily="34" charset="-128"/>
                <a:cs typeface="Arial" panose="020B0604020202020204" pitchFamily="34" charset="0"/>
              </a:rPr>
              <a:t>Soldes fournisseurs</a:t>
            </a:r>
          </a:p>
          <a:p>
            <a:pPr marL="479904" lvl="2" indent="-171450">
              <a:buClr>
                <a:srgbClr val="0070C0"/>
              </a:buClr>
              <a:buSzPct val="100000"/>
            </a:pPr>
            <a:r>
              <a:rPr lang="fr-FR" altLang="en-US" dirty="0" smtClean="0">
                <a:ea typeface="ＭＳ Ｐゴシック" panose="020B0600070205080204" pitchFamily="34" charset="-128"/>
                <a:cs typeface="Arial" panose="020B0604020202020204" pitchFamily="34" charset="0"/>
              </a:rPr>
              <a:t>Postes fournisseurs</a:t>
            </a:r>
          </a:p>
          <a:p>
            <a:pPr marL="479904" lvl="2" indent="-171450">
              <a:buClr>
                <a:srgbClr val="0070C0"/>
              </a:buClr>
              <a:buSzPct val="100000"/>
            </a:pPr>
            <a:r>
              <a:rPr lang="fr-FR" altLang="en-US" dirty="0" smtClean="0">
                <a:ea typeface="ＭＳ Ｐゴシック" panose="020B0600070205080204" pitchFamily="34" charset="-128"/>
                <a:cs typeface="Arial" panose="020B0604020202020204" pitchFamily="34" charset="0"/>
              </a:rPr>
              <a:t>Données de base </a:t>
            </a:r>
          </a:p>
          <a:p>
            <a:pPr marL="171450" indent="-171450">
              <a:buClr>
                <a:srgbClr val="0070C0"/>
              </a:buClr>
              <a:buSzPct val="100000"/>
              <a:buFont typeface="Arial" panose="020B0604020202020204" pitchFamily="34" charset="0"/>
              <a:buChar char="•"/>
            </a:pPr>
            <a:endParaRPr lang="fr-FR" altLang="en-US" sz="1400" dirty="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a:p>
            <a:pPr>
              <a:buClr>
                <a:srgbClr val="0070C0"/>
              </a:buClr>
              <a:buSzPct val="100000"/>
            </a:pP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4" name="Espace réservé du numéro de diapositive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36DFBA8F-B79A-4011-8444-03085D4A6CB3}" type="slidenum">
              <a:rPr lang="fr-FR" altLang="en-US" sz="750"/>
              <a:pPr eaLnBrk="1" hangingPunct="1"/>
              <a:t>17</a:t>
            </a:fld>
            <a:endParaRPr lang="fr-FR" altLang="en-US" sz="750"/>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VHEKTECQ7ECW-1532981086-4834</_dlc_DocId>
    <_dlc_DocIdUrl xmlns="f36dd47d-0b23-43fd-9b2d-c5346ffa1660">
      <Url>http://projets.cbg-guinee.com/erp/_layouts/15/DocIdRedir.aspx?ID=VHEKTECQ7ECW-1532981086-4834</Url>
      <Description>VHEKTECQ7ECW-1532981086-4834</Description>
    </_dlc_DocIdUrl>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D44805B3-8F41-4DDE-8867-BF0BD2AF6481}"/>
</file>

<file path=customXml/itemProps2.xml><?xml version="1.0" encoding="utf-8"?>
<ds:datastoreItem xmlns:ds="http://schemas.openxmlformats.org/officeDocument/2006/customXml" ds:itemID="{DFE7DD0B-0BE8-4E24-A363-4DD0A01C5DCF}"/>
</file>

<file path=customXml/itemProps3.xml><?xml version="1.0" encoding="utf-8"?>
<ds:datastoreItem xmlns:ds="http://schemas.openxmlformats.org/officeDocument/2006/customXml" ds:itemID="{6B08D313-DD74-49B0-B6A4-96BD802D9198}"/>
</file>

<file path=customXml/itemProps4.xml><?xml version="1.0" encoding="utf-8"?>
<ds:datastoreItem xmlns:ds="http://schemas.openxmlformats.org/officeDocument/2006/customXml" ds:itemID="{9C93B275-1F50-4CF3-8E69-D68905D8E9A9}"/>
</file>

<file path=docProps/app.xml><?xml version="1.0" encoding="utf-8"?>
<Properties xmlns="http://schemas.openxmlformats.org/officeDocument/2006/extended-properties" xmlns:vt="http://schemas.openxmlformats.org/officeDocument/2006/docPropsVTypes">
  <Template/>
  <TotalTime>0</TotalTime>
  <Words>456</Words>
  <Application>Microsoft Office PowerPoint</Application>
  <PresentationFormat>Affichage à l'écran (16:9)</PresentationFormat>
  <Paragraphs>237</Paragraphs>
  <Slides>18</Slides>
  <Notes>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18</vt:i4>
      </vt:variant>
    </vt:vector>
  </HeadingPairs>
  <TitlesOfParts>
    <vt:vector size="26" baseType="lpstr">
      <vt:lpstr>MS PGothic</vt:lpstr>
      <vt:lpstr>Arial</vt:lpstr>
      <vt:lpstr>Arial Narrow</vt:lpstr>
      <vt:lpstr>Calibri</vt:lpstr>
      <vt:lpstr>Courier New</vt:lpstr>
      <vt:lpstr>Verdana</vt:lpstr>
      <vt:lpstr>Wingdings</vt:lpstr>
      <vt:lpstr>TemplateBE_FR</vt:lpstr>
      <vt:lpstr>Kamsar, le 03.02.2016</vt:lpstr>
      <vt:lpstr>Présentation PowerPoint</vt:lpstr>
      <vt:lpstr>Objectifs de la formation</vt:lpstr>
      <vt:lpstr>Agenda : 2h00</vt:lpstr>
      <vt:lpstr>Présentation PowerPoint</vt:lpstr>
      <vt:lpstr>Description du processus de reporting   </vt:lpstr>
      <vt:lpstr>Présentation PowerPoint</vt:lpstr>
      <vt:lpstr>Mode opératoire Présentation du mode opératoire dans SAP  </vt:lpstr>
      <vt:lpstr>Mode opératoire dans SAP pour le reporting fournisseur : solde fournisseur 1/2 </vt:lpstr>
      <vt:lpstr>Mode opératoire dans SAP pour le reporting fournisseur : solde fournisseur 2/2 </vt:lpstr>
      <vt:lpstr>Mode opératoire dans SAP pour le reporting fournisseur : postes fournisseurs 1/2 </vt:lpstr>
      <vt:lpstr>Mode opératoire dans SAP pour le reporting fournisseur : postes fournisseurs 2/2 </vt:lpstr>
      <vt:lpstr>Mode opératoire dans SAP pour le reporting fournisseur : données de base 1/2 </vt:lpstr>
      <vt:lpstr>Mode opératoire dans SAP pour le reporting fournisseur : données de base 2/2 </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Ogoundele, Jean Yves (CE)</cp:lastModifiedBy>
  <cp:revision>3848</cp:revision>
  <cp:lastPrinted>2015-04-23T03:57:16Z</cp:lastPrinted>
  <dcterms:created xsi:type="dcterms:W3CDTF">2012-05-17T14:14:37Z</dcterms:created>
  <dcterms:modified xsi:type="dcterms:W3CDTF">2016-01-14T10:14:11Z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023ce384-a04d-4ec1-a6c2-c331d00cfc7c</vt:lpwstr>
  </property>
</Properties>
</file>