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customXml/itemProps2.xml" ContentType="application/vnd.openxmlformats-officedocument.customXmlProperties+xml"/>
  <Override PartName="/docProps/core.xml" ContentType="application/vnd.openxmlformats-package.core-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3"/>
  </p:notesMasterIdLst>
  <p:handoutMasterIdLst>
    <p:handoutMasterId r:id="rId24"/>
  </p:handoutMasterIdLst>
  <p:sldIdLst>
    <p:sldId id="685" r:id="rId5"/>
    <p:sldId id="686" r:id="rId6"/>
    <p:sldId id="687" r:id="rId7"/>
    <p:sldId id="688" r:id="rId8"/>
    <p:sldId id="723" r:id="rId9"/>
    <p:sldId id="691" r:id="rId10"/>
    <p:sldId id="729" r:id="rId11"/>
    <p:sldId id="739" r:id="rId12"/>
    <p:sldId id="745" r:id="rId13"/>
    <p:sldId id="732" r:id="rId14"/>
    <p:sldId id="735" r:id="rId15"/>
    <p:sldId id="741" r:id="rId16"/>
    <p:sldId id="744" r:id="rId17"/>
    <p:sldId id="693" r:id="rId18"/>
    <p:sldId id="699" r:id="rId19"/>
    <p:sldId id="725" r:id="rId20"/>
    <p:sldId id="710" r:id="rId21"/>
    <p:sldId id="728" r:id="rId22"/>
  </p:sldIdLst>
  <p:sldSz cx="9144000" cy="5143500" type="screen16x9"/>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48" autoAdjust="0"/>
    <p:restoredTop sz="95565" autoAdjust="0"/>
  </p:normalViewPr>
  <p:slideViewPr>
    <p:cSldViewPr snapToGrid="0" snapToObjects="1">
      <p:cViewPr varScale="1">
        <p:scale>
          <a:sx n="100" d="100"/>
          <a:sy n="100" d="100"/>
        </p:scale>
        <p:origin x="738" y="84"/>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1427" tIns="45714" rIns="91427" bIns="45714" rtlCol="0"/>
          <a:lstStyle>
            <a:lvl1pPr algn="r">
              <a:defRPr sz="1200"/>
            </a:lvl1pPr>
          </a:lstStyle>
          <a:p>
            <a:fld id="{4FCF4903-D1A4-F14A-B207-A0D2CC9D4B8B}" type="datetimeFigureOut">
              <a:rPr lang="en-US" smtClean="0"/>
              <a:t>1/20/2016</a:t>
            </a:fld>
            <a:endParaRPr lang="en-US" dirty="0"/>
          </a:p>
        </p:txBody>
      </p:sp>
      <p:sp>
        <p:nvSpPr>
          <p:cNvPr id="4" name="Footer Placeholder 3"/>
          <p:cNvSpPr>
            <a:spLocks noGrp="1"/>
          </p:cNvSpPr>
          <p:nvPr>
            <p:ph type="ftr" sz="quarter" idx="2"/>
          </p:nvPr>
        </p:nvSpPr>
        <p:spPr>
          <a:xfrm>
            <a:off x="1" y="9430093"/>
            <a:ext cx="2945659" cy="496411"/>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3"/>
            <a:ext cx="2945659" cy="496411"/>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1427" tIns="45714" rIns="91427" bIns="45714" rtlCol="0"/>
          <a:lstStyle>
            <a:lvl1pPr algn="r">
              <a:defRPr sz="1200"/>
            </a:lvl1pPr>
          </a:lstStyle>
          <a:p>
            <a:fld id="{BC5B4241-C98F-4766-9E25-5F8403374385}" type="datetimeFigureOut">
              <a:rPr lang="de-DE" smtClean="0"/>
              <a:t>20.01.2016</a:t>
            </a:fld>
            <a:endParaRPr lang="de-DE" dirty="0"/>
          </a:p>
        </p:txBody>
      </p:sp>
      <p:sp>
        <p:nvSpPr>
          <p:cNvPr id="4" name="Folienbildplatzhalter 3"/>
          <p:cNvSpPr>
            <a:spLocks noGrp="1" noRot="1" noChangeAspect="1"/>
          </p:cNvSpPr>
          <p:nvPr>
            <p:ph type="sldImg" idx="2"/>
          </p:nvPr>
        </p:nvSpPr>
        <p:spPr>
          <a:xfrm>
            <a:off x="87313" y="742950"/>
            <a:ext cx="6623050" cy="372586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3"/>
            <a:ext cx="2945659" cy="496411"/>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3"/>
            <a:ext cx="2945659" cy="496411"/>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8</a:t>
            </a:fld>
            <a:endParaRPr lang="en-US" altLang="en-US" sz="1200"/>
          </a:p>
        </p:txBody>
      </p:sp>
    </p:spTree>
    <p:extLst>
      <p:ext uri="{BB962C8B-B14F-4D97-AF65-F5344CB8AC3E}">
        <p14:creationId xmlns:p14="http://schemas.microsoft.com/office/powerpoint/2010/main" val="916042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15</a:t>
            </a:fld>
            <a:endParaRPr lang="fr-FR" altLang="en-US" sz="1200"/>
          </a:p>
        </p:txBody>
      </p:sp>
      <p:sp>
        <p:nvSpPr>
          <p:cNvPr id="51203" name="Rectangle 2"/>
          <p:cNvSpPr>
            <a:spLocks noGrp="1" noRot="1" noChangeAspect="1" noChangeArrowheads="1" noTextEdit="1"/>
          </p:cNvSpPr>
          <p:nvPr>
            <p:ph type="sldImg"/>
          </p:nvPr>
        </p:nvSpPr>
        <p:spPr bwMode="auto">
          <a:xfrm>
            <a:off x="-676275" y="238125"/>
            <a:ext cx="8139113" cy="45799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79574"/>
            <a:ext cx="5485042" cy="1148540"/>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16</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20/01/2016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png"/><Relationship Id="rId7" Type="http://schemas.openxmlformats.org/officeDocument/2006/relationships/image" Target="../media/image19.png"/><Relationship Id="rId12"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27.png"/><Relationship Id="rId11" Type="http://schemas.openxmlformats.org/officeDocument/2006/relationships/image" Target="../media/image8.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06.01</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données de base bancaires</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10.02.2016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 compte bancaire dans le système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une agence bancaire dans le système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afficher le répertoire des banques dans le système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3487119"/>
            <a:ext cx="4589859" cy="73098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Comment procéder à la création d’une agence bancaire dans SAP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Comment procéder à la création d’un compte bancaire dans SAP</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Affichage du répertoire des banques </a:t>
            </a:r>
          </a:p>
          <a:p>
            <a:pPr marL="0" lvl="1"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0" lvl="1"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p>
        </p:txBody>
      </p:sp>
      <p:sp>
        <p:nvSpPr>
          <p:cNvPr id="11" name="Rectangle 10"/>
          <p:cNvSpPr/>
          <p:nvPr/>
        </p:nvSpPr>
        <p:spPr>
          <a:xfrm>
            <a:off x="1735621" y="3137375"/>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Trésoriers </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généraux </a:t>
              </a:r>
            </a:p>
            <a:p>
              <a:pPr eaLnBrk="0" hangingPunct="0">
                <a:spcBef>
                  <a:spcPts val="225"/>
                </a:spcBef>
                <a:buClr>
                  <a:srgbClr val="4F81BD"/>
                </a:buClr>
                <a:defRPr/>
              </a:pP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4073206913"/>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10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9h00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structure</a:t>
                      </a:r>
                    </a:p>
                    <a:p>
                      <a:pPr marL="177800" indent="-177800">
                        <a:lnSpc>
                          <a:spcPct val="100000"/>
                        </a:lnSpc>
                        <a:spcBef>
                          <a:spcPts val="0"/>
                        </a:spcBef>
                        <a:spcAft>
                          <a:spcPts val="0"/>
                        </a:spcAft>
                        <a:buFont typeface="Arial" pitchFamily="34" charset="0"/>
                        <a:buChar char="•"/>
                      </a:pPr>
                      <a:r>
                        <a:rPr lang="fr-FR" sz="900" dirty="0" smtClean="0"/>
                        <a:t>Présentation : 10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20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9h50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Test :</a:t>
                      </a:r>
                    </a:p>
                    <a:p>
                      <a:pPr marL="177800" indent="-177800">
                        <a:lnSpc>
                          <a:spcPct val="100000"/>
                        </a:lnSpc>
                        <a:spcBef>
                          <a:spcPts val="0"/>
                        </a:spcBef>
                        <a:spcAft>
                          <a:spcPts val="0"/>
                        </a:spcAft>
                        <a:buFont typeface="Arial" pitchFamily="34" charset="0"/>
                        <a:buChar char="•"/>
                      </a:pPr>
                      <a:r>
                        <a:rPr lang="fr-FR" sz="900" baseline="0" dirty="0" smtClean="0"/>
                        <a:t>QCM : 5 min</a:t>
                      </a:r>
                    </a:p>
                    <a:p>
                      <a:pPr marL="177800" indent="-177800">
                        <a:lnSpc>
                          <a:spcPct val="100000"/>
                        </a:lnSpc>
                        <a:spcBef>
                          <a:spcPts val="0"/>
                        </a:spcBef>
                        <a:spcAft>
                          <a:spcPts val="0"/>
                        </a:spcAft>
                        <a:buFont typeface="Arial" pitchFamily="34" charset="0"/>
                        <a:buChar char="•"/>
                      </a:pPr>
                      <a:r>
                        <a:rPr lang="fr-FR" sz="900" baseline="0" dirty="0" smtClean="0"/>
                        <a:t>Correction : 5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71983"/>
          </a:xfrm>
        </p:spPr>
        <p:txBody>
          <a:bodyPr>
            <a:normAutofit fontScale="90000"/>
          </a:bodyPr>
          <a:lstStyle/>
          <a:p>
            <a:r>
              <a:rPr lang="fr-FR" altLang="en-US" sz="2700" dirty="0" smtClean="0"/>
              <a:t>Description du processus métier 1/2</a:t>
            </a:r>
            <a:r>
              <a:rPr lang="fr-FR" altLang="en-US" dirty="0" smtClean="0"/>
              <a:t/>
            </a:r>
            <a:br>
              <a:rPr lang="fr-FR" altLang="en-US" dirty="0" smtClean="0"/>
            </a:br>
            <a:endParaRPr lang="en-US" altLang="en-US" dirty="0" smtClean="0"/>
          </a:p>
        </p:txBody>
      </p:sp>
      <p:sp>
        <p:nvSpPr>
          <p:cNvPr id="2" name="Espace réservé du contenu 1"/>
          <p:cNvSpPr>
            <a:spLocks noGrp="1"/>
          </p:cNvSpPr>
          <p:nvPr>
            <p:ph idx="1"/>
          </p:nvPr>
        </p:nvSpPr>
        <p:spPr>
          <a:xfrm>
            <a:off x="573578" y="778359"/>
            <a:ext cx="8246571" cy="3614738"/>
          </a:xfrm>
        </p:spPr>
        <p:txBody>
          <a:bodyPr/>
          <a:lstStyle/>
          <a:p>
            <a:r>
              <a:rPr lang="fr-FR" dirty="0" smtClean="0"/>
              <a:t>La décision de création d’un compte bancaire est prise par la direction financière. Le service trésorerie transmet une demande d’ouverture bancaire à la banque. Le service trésorerie attend la confirmation de la banque pour formuler une demande d’ouverture du compte dans SAP.  Ce processus peut se faire en deux temps : soit l’agence bancaire existe déjà et auquel cas il faut juste lui rattacher le nouveau compte bancaire, soit l’agence bancaire n’existe pas auquel cas, il faut d’abord la créer. </a:t>
            </a:r>
          </a:p>
          <a:p>
            <a:r>
              <a:rPr lang="fr-FR" b="1" dirty="0" smtClean="0">
                <a:solidFill>
                  <a:srgbClr val="0070C0"/>
                </a:solidFill>
              </a:rPr>
              <a:t>Contenu de cette demande</a:t>
            </a:r>
          </a:p>
          <a:p>
            <a:pPr marL="171450" indent="-171450">
              <a:buClr>
                <a:srgbClr val="0070C0"/>
              </a:buClr>
              <a:buSzPct val="100000"/>
              <a:buFont typeface="Arial" panose="020B0604020202020204" pitchFamily="34" charset="0"/>
              <a:buChar char="•"/>
            </a:pPr>
            <a:r>
              <a:rPr lang="fr-FR" dirty="0" smtClean="0"/>
              <a:t>Cette demande contient les détails relatifs au compte bancaire : </a:t>
            </a:r>
          </a:p>
          <a:p>
            <a:pPr marL="322971" lvl="1" indent="-171450">
              <a:buClr>
                <a:srgbClr val="0070C0"/>
              </a:buClr>
              <a:buSzPct val="100000"/>
            </a:pPr>
            <a:r>
              <a:rPr lang="fr-FR" dirty="0" smtClean="0"/>
              <a:t>Le code agence bancaire qui regroupe le code banque et le code guichet. Les agences bancaires de la CBG sont codifiées dans le système avec un code de 5 caractères alphanumériques avec les 4 premiers caractères qui font référence à la banque et le dernier caractère identifie l’agence bancaire. Exemple BICIGUI Conakry : </a:t>
            </a:r>
            <a:r>
              <a:rPr lang="fr-FR" b="1" i="1" dirty="0" smtClean="0"/>
              <a:t>BICIC</a:t>
            </a:r>
            <a:r>
              <a:rPr lang="fr-FR" dirty="0" smtClean="0"/>
              <a:t> et la BICIGUI </a:t>
            </a:r>
            <a:r>
              <a:rPr lang="fr-FR" dirty="0" err="1" smtClean="0"/>
              <a:t>Kamsar</a:t>
            </a:r>
            <a:r>
              <a:rPr lang="fr-FR" dirty="0" smtClean="0"/>
              <a:t> </a:t>
            </a:r>
            <a:r>
              <a:rPr lang="fr-FR" b="1" i="1" dirty="0" smtClean="0"/>
              <a:t>BICIK</a:t>
            </a:r>
          </a:p>
          <a:p>
            <a:pPr marL="322971" lvl="1" indent="-171450">
              <a:buClr>
                <a:srgbClr val="0070C0"/>
              </a:buClr>
              <a:buSzPct val="100000"/>
            </a:pPr>
            <a:r>
              <a:rPr lang="fr-FR" dirty="0" smtClean="0"/>
              <a:t>Le nom de la banque : société générale, BICIGUI…</a:t>
            </a:r>
          </a:p>
          <a:p>
            <a:pPr marL="322971" lvl="1" indent="-171450">
              <a:buClr>
                <a:srgbClr val="0070C0"/>
              </a:buClr>
              <a:buSzPct val="100000"/>
            </a:pPr>
            <a:r>
              <a:rPr lang="fr-FR" dirty="0" smtClean="0"/>
              <a:t>L’adresse postale complète de la banque</a:t>
            </a:r>
          </a:p>
          <a:p>
            <a:pPr marL="322971" lvl="1" indent="-171450">
              <a:buClr>
                <a:srgbClr val="0070C0"/>
              </a:buClr>
              <a:buSzPct val="100000"/>
            </a:pPr>
            <a:r>
              <a:rPr lang="fr-FR" dirty="0" smtClean="0"/>
              <a:t>Le nom de la succursale </a:t>
            </a:r>
          </a:p>
          <a:p>
            <a:pPr marL="322971" lvl="1" indent="-171450">
              <a:buClr>
                <a:srgbClr val="0070C0"/>
              </a:buClr>
              <a:buSzPct val="100000"/>
            </a:pPr>
            <a:r>
              <a:rPr lang="fr-FR" dirty="0" smtClean="0"/>
              <a:t>Le code SWIFT et/ou le BIC</a:t>
            </a:r>
          </a:p>
          <a:p>
            <a:pPr marL="322971" lvl="1" indent="-171450">
              <a:buClr>
                <a:srgbClr val="0070C0"/>
              </a:buClr>
              <a:buSzPct val="100000"/>
            </a:pPr>
            <a:r>
              <a:rPr lang="fr-FR" dirty="0" smtClean="0"/>
              <a:t>Le code d’identification bancaire</a:t>
            </a:r>
          </a:p>
          <a:p>
            <a:pPr marL="322971" lvl="1" indent="-171450">
              <a:buClr>
                <a:srgbClr val="0070C0"/>
              </a:buClr>
              <a:buSzPct val="100000"/>
            </a:pPr>
            <a:r>
              <a:rPr lang="fr-FR" dirty="0" smtClean="0"/>
              <a:t>Le compte bancaire et sa clé </a:t>
            </a:r>
            <a:r>
              <a:rPr lang="fr-FR" dirty="0" err="1" smtClean="0"/>
              <a:t>Rib</a:t>
            </a:r>
            <a:r>
              <a:rPr lang="fr-FR" dirty="0" smtClean="0"/>
              <a:t>. </a:t>
            </a:r>
          </a:p>
          <a:p>
            <a:pPr marL="322971" lvl="1" indent="-171450">
              <a:buClr>
                <a:srgbClr val="0070C0"/>
              </a:buClr>
              <a:buSzPct val="100000"/>
            </a:pPr>
            <a:endParaRPr lang="fr-FR" dirty="0" smtClean="0"/>
          </a:p>
          <a:p>
            <a:pPr lvl="1" indent="0">
              <a:buClr>
                <a:srgbClr val="0070C0"/>
              </a:buClr>
              <a:buSzPct val="100000"/>
              <a:buNone/>
            </a:pPr>
            <a:r>
              <a:rPr lang="fr-FR" dirty="0" smtClean="0"/>
              <a:t> </a:t>
            </a:r>
          </a:p>
          <a:p>
            <a:pPr marL="322971" lvl="1" indent="-171450">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b="1" dirty="0" smtClean="0">
              <a:solidFill>
                <a:srgbClr val="0070C0"/>
              </a:solidFill>
            </a:endParaRP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646032"/>
          </a:xfrm>
        </p:spPr>
        <p:txBody>
          <a:bodyPr>
            <a:normAutofit fontScale="90000"/>
          </a:bodyPr>
          <a:lstStyle/>
          <a:p>
            <a:r>
              <a:rPr lang="fr-FR" altLang="en-US" sz="2400" dirty="0" smtClean="0"/>
              <a:t>Description du processus métier 2/2</a:t>
            </a:r>
            <a:r>
              <a:rPr lang="fr-FR" altLang="en-US" dirty="0" smtClean="0"/>
              <a:t/>
            </a:r>
            <a:br>
              <a:rPr lang="fr-FR" altLang="en-US" dirty="0" smtClean="0"/>
            </a:br>
            <a:endParaRPr lang="en-US" altLang="en-US" dirty="0" smtClean="0"/>
          </a:p>
        </p:txBody>
      </p:sp>
      <p:sp>
        <p:nvSpPr>
          <p:cNvPr id="2" name="Espace réservé du contenu 1"/>
          <p:cNvSpPr>
            <a:spLocks noGrp="1"/>
          </p:cNvSpPr>
          <p:nvPr>
            <p:ph idx="1"/>
          </p:nvPr>
        </p:nvSpPr>
        <p:spPr>
          <a:xfrm>
            <a:off x="573578" y="991893"/>
            <a:ext cx="8246571" cy="3401204"/>
          </a:xfrm>
        </p:spPr>
        <p:txBody>
          <a:bodyPr/>
          <a:lstStyle/>
          <a:p>
            <a:pPr lvl="1" indent="0">
              <a:buClr>
                <a:srgbClr val="0070C0"/>
              </a:buClr>
              <a:buSzPct val="100000"/>
              <a:buNone/>
            </a:pPr>
            <a:r>
              <a:rPr lang="fr-FR" dirty="0" smtClean="0"/>
              <a:t>Une fois cette création faite dans le système, il faut rattacher à cette nouvelle banque deux types de compte général. </a:t>
            </a:r>
          </a:p>
          <a:p>
            <a:pPr lvl="1" indent="0">
              <a:buClr>
                <a:srgbClr val="0070C0"/>
              </a:buClr>
              <a:buSzPct val="100000"/>
              <a:buNone/>
            </a:pPr>
            <a:r>
              <a:rPr lang="fr-FR" dirty="0"/>
              <a:t>	U</a:t>
            </a:r>
            <a:r>
              <a:rPr lang="fr-FR" dirty="0" smtClean="0"/>
              <a:t>n compte principal 521</a:t>
            </a:r>
            <a:r>
              <a:rPr lang="fr-FR" b="1" dirty="0" smtClean="0"/>
              <a:t>X</a:t>
            </a:r>
            <a:r>
              <a:rPr lang="fr-FR" dirty="0" smtClean="0"/>
              <a:t>0000 : les seuls enregistrements effectués sur ce compte sont ceux issus de l’intégration d’un relevé 	bancaire. Aucune entrée manuelle. De ce fait, ce compte est l’image de la situation en banque. </a:t>
            </a:r>
          </a:p>
          <a:p>
            <a:pPr lvl="1" indent="0">
              <a:buClr>
                <a:srgbClr val="0070C0"/>
              </a:buClr>
              <a:buSzPct val="100000"/>
              <a:buNone/>
            </a:pPr>
            <a:r>
              <a:rPr lang="fr-FR" dirty="0"/>
              <a:t>	</a:t>
            </a:r>
            <a:r>
              <a:rPr lang="fr-FR" dirty="0" smtClean="0"/>
              <a:t>Un compte intermédiaire 521XYY00 : à un compte principal, peut être rattaché plusieurs comptes intermédiaires. Sur ces 	comptes, on peut tout comptabiliser et faire aussi des rapprochements bancaires.</a:t>
            </a:r>
          </a:p>
          <a:p>
            <a:pPr lvl="1" indent="0">
              <a:buClr>
                <a:srgbClr val="0070C0"/>
              </a:buClr>
              <a:buSzPct val="100000"/>
              <a:buNone/>
            </a:pPr>
            <a:r>
              <a:rPr lang="fr-FR" b="1" dirty="0"/>
              <a:t>Exemple compte BICIGUI </a:t>
            </a:r>
            <a:r>
              <a:rPr lang="fr-FR" b="1" dirty="0" smtClean="0"/>
              <a:t>KAMSAR dont la clé bancaire est 002848</a:t>
            </a:r>
          </a:p>
          <a:p>
            <a:pPr lvl="1" indent="0">
              <a:buClr>
                <a:srgbClr val="0070C0"/>
              </a:buClr>
              <a:buSzPct val="100000"/>
              <a:buNone/>
            </a:pPr>
            <a:r>
              <a:rPr lang="fr-FR" sz="900" dirty="0"/>
              <a:t>BICIK	GNF01	0000501001	Compte courant BICIGUI GNF</a:t>
            </a:r>
          </a:p>
          <a:p>
            <a:pPr lvl="1" indent="0">
              <a:buClr>
                <a:srgbClr val="0070C0"/>
              </a:buClr>
              <a:buSzPct val="100000"/>
              <a:buNone/>
            </a:pPr>
            <a:r>
              <a:rPr lang="fr-FR" sz="900" dirty="0"/>
              <a:t>BICIK	GNF02	0000501002	Compte ravitaillement BICIGUI GNF</a:t>
            </a:r>
          </a:p>
          <a:p>
            <a:pPr lvl="1" indent="0">
              <a:buClr>
                <a:srgbClr val="0070C0"/>
              </a:buClr>
              <a:buSzPct val="100000"/>
              <a:buNone/>
            </a:pPr>
            <a:r>
              <a:rPr lang="fr-FR" sz="900" dirty="0"/>
              <a:t>BICIK	GNF03	0000501003	Compte Syndicat BICIGUI GNF</a:t>
            </a:r>
          </a:p>
          <a:p>
            <a:pPr lvl="1" indent="0">
              <a:buClr>
                <a:srgbClr val="0070C0"/>
              </a:buClr>
              <a:buSzPct val="100000"/>
              <a:buNone/>
            </a:pPr>
            <a:r>
              <a:rPr lang="fr-FR" sz="900" dirty="0"/>
              <a:t>BICIK	GNF04	0000501005	Compte </a:t>
            </a:r>
            <a:r>
              <a:rPr lang="fr-FR" sz="900" dirty="0" err="1"/>
              <a:t>Dougoufissa</a:t>
            </a:r>
            <a:r>
              <a:rPr lang="fr-FR" sz="900" dirty="0"/>
              <a:t> BICIGUI GNF</a:t>
            </a:r>
          </a:p>
          <a:p>
            <a:pPr lvl="1" indent="0">
              <a:buClr>
                <a:srgbClr val="0070C0"/>
              </a:buClr>
              <a:buSzPct val="100000"/>
              <a:buNone/>
            </a:pPr>
            <a:r>
              <a:rPr lang="fr-FR" sz="900" dirty="0"/>
              <a:t>BICIK	GNF05	0000501006	Compte OASIS BICIGUI GNF</a:t>
            </a:r>
          </a:p>
          <a:p>
            <a:pPr lvl="1" indent="0">
              <a:buClr>
                <a:srgbClr val="0070C0"/>
              </a:buClr>
              <a:buSzPct val="100000"/>
              <a:buNone/>
            </a:pPr>
            <a:r>
              <a:rPr lang="fr-FR" sz="900" dirty="0"/>
              <a:t>BICIK	GNF06	0000589001	BICIGUI KAMSAR FAH (COURANT-GNF)</a:t>
            </a:r>
          </a:p>
          <a:p>
            <a:pPr lvl="1" indent="0">
              <a:buClr>
                <a:srgbClr val="0070C0"/>
              </a:buClr>
              <a:buSzPct val="100000"/>
              <a:buNone/>
            </a:pPr>
            <a:r>
              <a:rPr lang="fr-FR" sz="900" dirty="0"/>
              <a:t>BICIK	GNF07	0000589100	BICIGUI KAMSAR FAH (DAT-GNF)</a:t>
            </a:r>
          </a:p>
          <a:p>
            <a:pPr lvl="1" indent="0">
              <a:buClr>
                <a:srgbClr val="0070C0"/>
              </a:buClr>
              <a:buSzPct val="100000"/>
              <a:buNone/>
            </a:pPr>
            <a:r>
              <a:rPr lang="fr-FR" sz="900" dirty="0"/>
              <a:t>BICIK	USD01	0000589001	BICIGUI KAMSAR FAH (COURANT-USD)</a:t>
            </a:r>
          </a:p>
          <a:p>
            <a:pPr lvl="1" indent="0">
              <a:buClr>
                <a:srgbClr val="0070C0"/>
              </a:buClr>
              <a:buSzPct val="100000"/>
              <a:buNone/>
            </a:pPr>
            <a:r>
              <a:rPr lang="fr-FR" sz="900" dirty="0"/>
              <a:t>BICIK	USD02	0000589100	BICIGUI KAMSAR FAH (DAT-USD) </a:t>
            </a:r>
            <a:endParaRPr lang="fr-FR" sz="900" dirty="0" smtClean="0"/>
          </a:p>
          <a:p>
            <a:pPr lvl="1" indent="0">
              <a:buClr>
                <a:srgbClr val="0070C0"/>
              </a:buClr>
              <a:buSzPct val="100000"/>
              <a:buNone/>
            </a:pPr>
            <a:r>
              <a:rPr lang="fr-FR" dirty="0"/>
              <a:t>	</a:t>
            </a:r>
            <a:r>
              <a:rPr lang="fr-FR" dirty="0" smtClean="0"/>
              <a:t>    </a:t>
            </a:r>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b="1" dirty="0" smtClean="0">
              <a:solidFill>
                <a:srgbClr val="0070C0"/>
              </a:solidFill>
            </a:endParaRP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spTree>
    <p:extLst>
      <p:ext uri="{BB962C8B-B14F-4D97-AF65-F5344CB8AC3E}">
        <p14:creationId xmlns:p14="http://schemas.microsoft.com/office/powerpoint/2010/main" val="166095444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8</a:t>
            </a:fld>
            <a:endParaRPr lang="fr-FR" altLang="en-US" sz="750"/>
          </a:p>
        </p:txBody>
      </p:sp>
    </p:spTree>
    <p:extLst>
      <p:ext uri="{BB962C8B-B14F-4D97-AF65-F5344CB8AC3E}">
        <p14:creationId xmlns:p14="http://schemas.microsoft.com/office/powerpoint/2010/main" val="42886126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Modes opératoires</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9</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Création d’une agence bancaire</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cs typeface="Arial" panose="020B0604020202020204" pitchFamily="34" charset="0"/>
                </a:rPr>
                <a:t> FI01</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Gestionnaire système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7" y="215852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Création d’un compte bancaire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cs typeface="Arial" panose="020B0604020202020204" pitchFamily="34" charset="0"/>
                </a:rPr>
                <a:t>FI12</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Gestionnaire système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327067" y="3310707"/>
            <a:ext cx="1170533" cy="1249788"/>
          </a:xfrm>
          <a:prstGeom prst="rect">
            <a:avLst/>
          </a:prstGeom>
        </p:spPr>
      </p:pic>
      <p:grpSp>
        <p:nvGrpSpPr>
          <p:cNvPr id="21" name="Groupe 20"/>
          <p:cNvGrpSpPr/>
          <p:nvPr/>
        </p:nvGrpSpPr>
        <p:grpSpPr>
          <a:xfrm>
            <a:off x="4242762" y="2158526"/>
            <a:ext cx="1296000" cy="756917"/>
            <a:chOff x="1507778" y="2274293"/>
            <a:chExt cx="1258269" cy="756917"/>
          </a:xfrm>
        </p:grpSpPr>
        <p:sp>
          <p:nvSpPr>
            <p:cNvPr id="22" name="Rectangle 21"/>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Affichage du répertoire des banques  </a:t>
              </a:r>
              <a:endParaRPr lang="en-US" sz="800" dirty="0">
                <a:solidFill>
                  <a:prstClr val="white"/>
                </a:solidFill>
                <a:latin typeface="Arial" pitchFamily="34" charset="0"/>
                <a:cs typeface="Arial" pitchFamily="34" charset="0"/>
              </a:endParaRPr>
            </a:p>
          </p:txBody>
        </p:sp>
        <p:sp>
          <p:nvSpPr>
            <p:cNvPr id="23" name="Rectangle 22"/>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cs typeface="Arial" panose="020B0604020202020204" pitchFamily="34" charset="0"/>
                </a:rPr>
                <a:t>FI03</a:t>
              </a:r>
              <a:endParaRPr lang="en-US" sz="800" b="1" dirty="0">
                <a:solidFill>
                  <a:prstClr val="white"/>
                </a:solidFill>
                <a:latin typeface="Arial" panose="020B0604020202020204" pitchFamily="34" charset="0"/>
                <a:cs typeface="Arial" panose="020B0604020202020204" pitchFamily="34" charset="0"/>
              </a:endParaRPr>
            </a:p>
          </p:txBody>
        </p:sp>
        <p:sp>
          <p:nvSpPr>
            <p:cNvPr id="24" name="Rectangle 23"/>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Gestionnaire système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9216282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178231" y="1"/>
            <a:ext cx="8671301" cy="550190"/>
          </a:xfrm>
        </p:spPr>
        <p:txBody>
          <a:bodyPr>
            <a:normAutofit fontScale="90000"/>
          </a:bodyPr>
          <a:lstStyle/>
          <a:p>
            <a:pPr lvl="1" algn="l" defTabSz="389626" rtl="0">
              <a:spcBef>
                <a:spcPct val="0"/>
              </a:spcBef>
            </a:pPr>
            <a:r>
              <a:rPr lang="fr-FR" altLang="en-US" sz="2700" dirty="0" smtClean="0">
                <a:latin typeface="+mj-lt"/>
              </a:rPr>
              <a:t/>
            </a:r>
            <a:br>
              <a:rPr lang="fr-FR" altLang="en-US" sz="2700" dirty="0" smtClean="0">
                <a:latin typeface="+mj-lt"/>
              </a:rPr>
            </a:br>
            <a:r>
              <a:rPr lang="fr-FR" altLang="en-US" sz="2700" dirty="0" smtClean="0">
                <a:latin typeface="+mj-lt"/>
              </a:rPr>
              <a:t>Création d’une fiche bancaire dans SAP via la transaction FI01 </a:t>
            </a:r>
            <a:r>
              <a:rPr lang="fr-FR" altLang="en-US" dirty="0" smtClean="0"/>
              <a:t/>
            </a:r>
            <a:br>
              <a:rPr lang="fr-FR" altLang="en-US" dirty="0" smtClean="0"/>
            </a:br>
            <a:endParaRPr lang="en-US" altLang="en-US" dirty="0" smtClean="0"/>
          </a:p>
        </p:txBody>
      </p:sp>
      <p:sp>
        <p:nvSpPr>
          <p:cNvPr id="2" name="Espace réservé du contenu 1"/>
          <p:cNvSpPr>
            <a:spLocks noGrp="1"/>
          </p:cNvSpPr>
          <p:nvPr>
            <p:ph idx="1"/>
          </p:nvPr>
        </p:nvSpPr>
        <p:spPr>
          <a:xfrm>
            <a:off x="494983" y="821411"/>
            <a:ext cx="8246571" cy="3571686"/>
          </a:xfrm>
        </p:spPr>
        <p:txBody>
          <a:bodyPr/>
          <a:lstStyle/>
          <a:p>
            <a:pPr lvl="1" indent="0">
              <a:buClr>
                <a:srgbClr val="0070C0"/>
              </a:buClr>
              <a:buSzPct val="100000"/>
              <a:buNone/>
            </a:pPr>
            <a:r>
              <a:rPr lang="fr-FR" dirty="0" smtClean="0"/>
              <a:t>Depuis </a:t>
            </a:r>
            <a:r>
              <a:rPr lang="fr-FR" dirty="0"/>
              <a:t>le menu utilisateur : Gestion Comptable / Comptabilité Financière / Banque / Données de base / Fiche banque : FI01 Créer</a:t>
            </a:r>
            <a:endParaRPr lang="fr-FR" dirty="0" smtClean="0"/>
          </a:p>
          <a:p>
            <a:pPr lvl="1" indent="0">
              <a:buClr>
                <a:srgbClr val="0070C0"/>
              </a:buClr>
              <a:buSzPct val="100000"/>
              <a:buNone/>
            </a:pPr>
            <a:r>
              <a:rPr lang="fr-FR" dirty="0"/>
              <a:t>									</a:t>
            </a:r>
            <a:r>
              <a:rPr lang="fr-FR" dirty="0" smtClean="0"/>
              <a:t> </a:t>
            </a:r>
            <a:r>
              <a:rPr lang="fr-FR" dirty="0"/>
              <a:t>Renseigner le code pays : GN pour la </a:t>
            </a:r>
            <a:r>
              <a:rPr lang="fr-FR" dirty="0" smtClean="0"/>
              <a:t>Guinée</a:t>
            </a:r>
          </a:p>
          <a:p>
            <a:pPr lvl="1" indent="0">
              <a:buClr>
                <a:srgbClr val="0070C0"/>
              </a:buClr>
              <a:buSzPct val="100000"/>
              <a:buNone/>
            </a:pPr>
            <a:r>
              <a:rPr lang="fr-FR" dirty="0"/>
              <a:t>	</a:t>
            </a:r>
            <a:r>
              <a:rPr lang="fr-FR" dirty="0" smtClean="0"/>
              <a:t>								 </a:t>
            </a:r>
            <a:r>
              <a:rPr lang="fr-FR" dirty="0"/>
              <a:t>Renseigner la clé bancaire </a:t>
            </a:r>
            <a:endParaRPr lang="fr-FR" dirty="0" smtClean="0"/>
          </a:p>
          <a:p>
            <a:pPr lvl="1" indent="0">
              <a:buClr>
                <a:srgbClr val="0070C0"/>
              </a:buClr>
              <a:buSzPct val="100000"/>
              <a:buNone/>
            </a:pPr>
            <a:r>
              <a:rPr lang="fr-FR" dirty="0"/>
              <a:t>	</a:t>
            </a:r>
            <a:r>
              <a:rPr lang="fr-FR" dirty="0" smtClean="0"/>
              <a:t>								 </a:t>
            </a:r>
            <a:r>
              <a:rPr lang="fr-FR" dirty="0"/>
              <a:t>Puis </a:t>
            </a:r>
            <a:r>
              <a:rPr lang="fr-FR" dirty="0" smtClean="0"/>
              <a:t>valider votre saisie. </a:t>
            </a:r>
          </a:p>
          <a:p>
            <a:pPr lvl="1" indent="0">
              <a:buClr>
                <a:srgbClr val="0070C0"/>
              </a:buClr>
              <a:buSzPct val="100000"/>
              <a:buNone/>
            </a:pPr>
            <a:endParaRPr lang="fr-FR" dirty="0"/>
          </a:p>
          <a:p>
            <a:pPr lvl="1" indent="0">
              <a:buClr>
                <a:srgbClr val="0070C0"/>
              </a:buClr>
              <a:buSzPct val="100000"/>
              <a:buNone/>
            </a:pPr>
            <a:endParaRPr lang="fr-FR" dirty="0" smtClean="0"/>
          </a:p>
          <a:p>
            <a:pPr lvl="1" indent="0">
              <a:buClr>
                <a:srgbClr val="0070C0"/>
              </a:buClr>
              <a:buSzPct val="100000"/>
              <a:buNone/>
            </a:pPr>
            <a:endParaRPr lang="fr-FR" dirty="0"/>
          </a:p>
          <a:p>
            <a:pPr lvl="1" indent="0">
              <a:buClr>
                <a:srgbClr val="0070C0"/>
              </a:buClr>
              <a:buSzPct val="100000"/>
              <a:buNone/>
            </a:pPr>
            <a:endParaRPr lang="fr-FR" dirty="0" smtClean="0"/>
          </a:p>
          <a:p>
            <a:pPr lvl="1" indent="0">
              <a:buClr>
                <a:srgbClr val="0070C0"/>
              </a:buClr>
              <a:buSzPct val="100000"/>
              <a:buNone/>
            </a:pPr>
            <a:endParaRPr lang="fr-FR" dirty="0"/>
          </a:p>
          <a:p>
            <a:pPr lvl="1" indent="0">
              <a:buClr>
                <a:srgbClr val="0070C0"/>
              </a:buClr>
              <a:buSzPct val="100000"/>
              <a:buNone/>
            </a:pPr>
            <a:endParaRPr lang="fr-FR" dirty="0" smtClean="0"/>
          </a:p>
          <a:p>
            <a:pPr lvl="1" indent="0">
              <a:buClr>
                <a:srgbClr val="0070C0"/>
              </a:buClr>
              <a:buSzPct val="100000"/>
              <a:buNone/>
            </a:pPr>
            <a:endParaRPr lang="fr-FR" dirty="0" smtClean="0"/>
          </a:p>
          <a:p>
            <a:pPr lvl="1" indent="0">
              <a:buClr>
                <a:srgbClr val="0070C0"/>
              </a:buClr>
              <a:buSzPct val="100000"/>
              <a:buNone/>
            </a:pPr>
            <a:r>
              <a:rPr lang="fr-FR" dirty="0"/>
              <a:t>	</a:t>
            </a:r>
            <a:r>
              <a:rPr lang="fr-FR" dirty="0" smtClean="0"/>
              <a:t>								</a:t>
            </a:r>
            <a:r>
              <a:rPr lang="fr-FR" altLang="en-US" dirty="0"/>
              <a:t>Renseigner toutes les zones </a:t>
            </a:r>
            <a:r>
              <a:rPr lang="fr-FR" altLang="en-US" dirty="0" smtClean="0"/>
              <a:t>obligatoires puis </a:t>
            </a:r>
            <a:r>
              <a:rPr lang="fr-FR" altLang="en-US" dirty="0"/>
              <a:t>sauvegarder votre </a:t>
            </a:r>
            <a:r>
              <a:rPr lang="fr-FR" altLang="en-US" dirty="0" smtClean="0"/>
              <a:t>saisie en 										cliquant sur la disquette. </a:t>
            </a:r>
          </a:p>
          <a:p>
            <a:pPr lvl="1" indent="0">
              <a:buClr>
                <a:srgbClr val="0070C0"/>
              </a:buClr>
              <a:buSzPct val="100000"/>
              <a:buNone/>
            </a:pPr>
            <a:r>
              <a:rPr lang="fr-FR" altLang="en-US" dirty="0"/>
              <a:t>	</a:t>
            </a:r>
            <a:r>
              <a:rPr lang="fr-FR" altLang="en-US" dirty="0" smtClean="0"/>
              <a:t>								Le message suivant apparait en bas de l’écran : </a:t>
            </a:r>
          </a:p>
          <a:p>
            <a:pPr lvl="1" indent="0">
              <a:buClr>
                <a:srgbClr val="0070C0"/>
              </a:buClr>
              <a:buSzPct val="100000"/>
              <a:buNone/>
            </a:pPr>
            <a:endParaRPr lang="fr-FR" dirty="0" smtClean="0"/>
          </a:p>
          <a:p>
            <a:pPr lvl="1" indent="0">
              <a:buClr>
                <a:srgbClr val="0070C0"/>
              </a:buClr>
              <a:buSzPct val="100000"/>
              <a:buNone/>
            </a:pPr>
            <a:r>
              <a:rPr lang="fr-FR" dirty="0"/>
              <a:t>	</a:t>
            </a:r>
            <a:r>
              <a:rPr lang="fr-FR" dirty="0" smtClean="0"/>
              <a:t>											</a:t>
            </a:r>
            <a:endParaRPr lang="fr-FR" dirty="0"/>
          </a:p>
          <a:p>
            <a:pPr lvl="1" indent="0">
              <a:buClr>
                <a:srgbClr val="0070C0"/>
              </a:buClr>
              <a:buSzPct val="100000"/>
              <a:buNone/>
            </a:pPr>
            <a:endParaRPr lang="fr-FR" dirty="0" smtClean="0"/>
          </a:p>
          <a:p>
            <a:pPr lvl="1" indent="0">
              <a:buClr>
                <a:srgbClr val="0070C0"/>
              </a:buClr>
              <a:buSzPct val="100000"/>
              <a:buNone/>
            </a:pPr>
            <a:r>
              <a:rPr lang="fr-FR" dirty="0"/>
              <a:t>	</a:t>
            </a:r>
            <a:br>
              <a:rPr lang="fr-FR" dirty="0"/>
            </a:br>
            <a:r>
              <a:rPr lang="fr-FR" dirty="0" smtClean="0"/>
              <a:t> 													</a:t>
            </a:r>
          </a:p>
          <a:p>
            <a:pPr lvl="1" indent="0">
              <a:buClr>
                <a:srgbClr val="0070C0"/>
              </a:buClr>
              <a:buSzPct val="100000"/>
              <a:buNone/>
            </a:pPr>
            <a:endParaRPr lang="fr-FR" dirty="0" smtClean="0"/>
          </a:p>
          <a:p>
            <a:pPr lvl="1" indent="0">
              <a:buClr>
                <a:srgbClr val="0070C0"/>
              </a:buClr>
              <a:buSzPct val="100000"/>
              <a:buNone/>
            </a:pPr>
            <a:r>
              <a:rPr lang="fr-FR" dirty="0"/>
              <a:t>												</a:t>
            </a:r>
            <a:r>
              <a:rPr lang="fr-FR" dirty="0" smtClean="0"/>
              <a:t>    												</a:t>
            </a:r>
            <a:endParaRPr lang="fr-FR" dirty="0"/>
          </a:p>
          <a:p>
            <a:pPr lvl="1" indent="0">
              <a:buClr>
                <a:srgbClr val="0070C0"/>
              </a:buClr>
              <a:buSzPct val="100000"/>
              <a:buNone/>
            </a:pPr>
            <a:r>
              <a:rPr lang="fr-FR" dirty="0" smtClean="0"/>
              <a:t>																										</a:t>
            </a:r>
          </a:p>
          <a:p>
            <a:pPr>
              <a:buClr>
                <a:srgbClr val="0070C0"/>
              </a:buClr>
              <a:buSzPct val="100000"/>
            </a:pPr>
            <a:endParaRPr lang="fr-FR" dirty="0" smtClean="0"/>
          </a:p>
          <a:p>
            <a:pPr>
              <a:buClr>
                <a:srgbClr val="0070C0"/>
              </a:buClr>
              <a:buSzPct val="100000"/>
            </a:pPr>
            <a:endParaRPr lang="fr-FR" b="1" dirty="0" smtClean="0">
              <a:solidFill>
                <a:srgbClr val="0070C0"/>
              </a:solidFill>
            </a:endParaRP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sp>
        <p:nvSpPr>
          <p:cNvPr id="7" name="Ellipse 6"/>
          <p:cNvSpPr/>
          <p:nvPr/>
        </p:nvSpPr>
        <p:spPr>
          <a:xfrm>
            <a:off x="3812968" y="11055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3812968" y="13514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3" name="Image 2"/>
          <p:cNvPicPr>
            <a:picLocks noChangeAspect="1"/>
          </p:cNvPicPr>
          <p:nvPr/>
        </p:nvPicPr>
        <p:blipFill>
          <a:blip r:embed="rId2"/>
          <a:stretch>
            <a:fillRect/>
          </a:stretch>
        </p:blipFill>
        <p:spPr>
          <a:xfrm>
            <a:off x="645197" y="1133475"/>
            <a:ext cx="3095625" cy="2876550"/>
          </a:xfrm>
          <a:prstGeom prst="rect">
            <a:avLst/>
          </a:prstGeom>
        </p:spPr>
      </p:pic>
      <p:pic>
        <p:nvPicPr>
          <p:cNvPr id="4" name="Image 3"/>
          <p:cNvPicPr>
            <a:picLocks noChangeAspect="1"/>
          </p:cNvPicPr>
          <p:nvPr/>
        </p:nvPicPr>
        <p:blipFill>
          <a:blip r:embed="rId3"/>
          <a:stretch>
            <a:fillRect/>
          </a:stretch>
        </p:blipFill>
        <p:spPr>
          <a:xfrm>
            <a:off x="829048" y="1505974"/>
            <a:ext cx="228978" cy="245333"/>
          </a:xfrm>
          <a:prstGeom prst="rect">
            <a:avLst/>
          </a:prstGeom>
        </p:spPr>
      </p:pic>
      <p:pic>
        <p:nvPicPr>
          <p:cNvPr id="6" name="Image 5"/>
          <p:cNvPicPr>
            <a:picLocks noChangeAspect="1"/>
          </p:cNvPicPr>
          <p:nvPr/>
        </p:nvPicPr>
        <p:blipFill>
          <a:blip r:embed="rId4"/>
          <a:stretch>
            <a:fillRect/>
          </a:stretch>
        </p:blipFill>
        <p:spPr>
          <a:xfrm>
            <a:off x="943537" y="1628640"/>
            <a:ext cx="317019" cy="353599"/>
          </a:xfrm>
          <a:prstGeom prst="rect">
            <a:avLst/>
          </a:prstGeom>
        </p:spPr>
      </p:pic>
      <p:pic>
        <p:nvPicPr>
          <p:cNvPr id="10" name="Image 9"/>
          <p:cNvPicPr>
            <a:picLocks noChangeAspect="1"/>
          </p:cNvPicPr>
          <p:nvPr/>
        </p:nvPicPr>
        <p:blipFill>
          <a:blip r:embed="rId4"/>
          <a:stretch>
            <a:fillRect/>
          </a:stretch>
        </p:blipFill>
        <p:spPr>
          <a:xfrm>
            <a:off x="3740822" y="1544216"/>
            <a:ext cx="317019" cy="353599"/>
          </a:xfrm>
          <a:prstGeom prst="rect">
            <a:avLst/>
          </a:prstGeom>
        </p:spPr>
      </p:pic>
      <p:pic>
        <p:nvPicPr>
          <p:cNvPr id="11" name="Image 10"/>
          <p:cNvPicPr>
            <a:picLocks noChangeAspect="1"/>
          </p:cNvPicPr>
          <p:nvPr/>
        </p:nvPicPr>
        <p:blipFill>
          <a:blip r:embed="rId5"/>
          <a:stretch>
            <a:fillRect/>
          </a:stretch>
        </p:blipFill>
        <p:spPr>
          <a:xfrm>
            <a:off x="3886689" y="1880141"/>
            <a:ext cx="3342250" cy="1650553"/>
          </a:xfrm>
          <a:prstGeom prst="rect">
            <a:avLst/>
          </a:prstGeom>
        </p:spPr>
      </p:pic>
      <p:pic>
        <p:nvPicPr>
          <p:cNvPr id="12" name="Image 11"/>
          <p:cNvPicPr>
            <a:picLocks noChangeAspect="1"/>
          </p:cNvPicPr>
          <p:nvPr/>
        </p:nvPicPr>
        <p:blipFill>
          <a:blip r:embed="rId6"/>
          <a:stretch>
            <a:fillRect/>
          </a:stretch>
        </p:blipFill>
        <p:spPr>
          <a:xfrm>
            <a:off x="4822825" y="2599505"/>
            <a:ext cx="1872443" cy="507905"/>
          </a:xfrm>
          <a:prstGeom prst="rect">
            <a:avLst/>
          </a:prstGeom>
        </p:spPr>
      </p:pic>
      <p:pic>
        <p:nvPicPr>
          <p:cNvPr id="13" name="Image 12"/>
          <p:cNvPicPr>
            <a:picLocks noChangeAspect="1"/>
          </p:cNvPicPr>
          <p:nvPr/>
        </p:nvPicPr>
        <p:blipFill>
          <a:blip r:embed="rId7"/>
          <a:stretch>
            <a:fillRect/>
          </a:stretch>
        </p:blipFill>
        <p:spPr>
          <a:xfrm>
            <a:off x="5527222" y="2016318"/>
            <a:ext cx="108964" cy="114699"/>
          </a:xfrm>
          <a:prstGeom prst="rect">
            <a:avLst/>
          </a:prstGeom>
        </p:spPr>
      </p:pic>
      <p:pic>
        <p:nvPicPr>
          <p:cNvPr id="15" name="Image 14"/>
          <p:cNvPicPr>
            <a:picLocks noChangeAspect="1"/>
          </p:cNvPicPr>
          <p:nvPr/>
        </p:nvPicPr>
        <p:blipFill>
          <a:blip r:embed="rId8"/>
          <a:stretch>
            <a:fillRect/>
          </a:stretch>
        </p:blipFill>
        <p:spPr>
          <a:xfrm>
            <a:off x="3746918" y="3642749"/>
            <a:ext cx="310923" cy="353599"/>
          </a:xfrm>
          <a:prstGeom prst="rect">
            <a:avLst/>
          </a:prstGeom>
        </p:spPr>
      </p:pic>
      <p:pic>
        <p:nvPicPr>
          <p:cNvPr id="16" name="Image 15"/>
          <p:cNvPicPr>
            <a:picLocks noChangeAspect="1"/>
          </p:cNvPicPr>
          <p:nvPr/>
        </p:nvPicPr>
        <p:blipFill>
          <a:blip r:embed="rId9"/>
          <a:stretch>
            <a:fillRect/>
          </a:stretch>
        </p:blipFill>
        <p:spPr>
          <a:xfrm>
            <a:off x="6651180" y="2430454"/>
            <a:ext cx="310923" cy="353599"/>
          </a:xfrm>
          <a:prstGeom prst="rect">
            <a:avLst/>
          </a:prstGeom>
        </p:spPr>
      </p:pic>
      <p:pic>
        <p:nvPicPr>
          <p:cNvPr id="19" name="Image 18"/>
          <p:cNvPicPr>
            <a:picLocks noChangeAspect="1"/>
          </p:cNvPicPr>
          <p:nvPr/>
        </p:nvPicPr>
        <p:blipFill>
          <a:blip r:embed="rId10"/>
          <a:stretch>
            <a:fillRect/>
          </a:stretch>
        </p:blipFill>
        <p:spPr>
          <a:xfrm>
            <a:off x="6962103" y="4081007"/>
            <a:ext cx="1150856" cy="257175"/>
          </a:xfrm>
          <a:prstGeom prst="rect">
            <a:avLst/>
          </a:prstGeom>
        </p:spPr>
      </p:pic>
      <p:pic>
        <p:nvPicPr>
          <p:cNvPr id="5" name="Image 4"/>
          <p:cNvPicPr>
            <a:picLocks noChangeAspect="1"/>
          </p:cNvPicPr>
          <p:nvPr/>
        </p:nvPicPr>
        <p:blipFill>
          <a:blip r:embed="rId11"/>
          <a:stretch>
            <a:fillRect/>
          </a:stretch>
        </p:blipFill>
        <p:spPr>
          <a:xfrm>
            <a:off x="1967806" y="2853457"/>
            <a:ext cx="310923" cy="353599"/>
          </a:xfrm>
          <a:prstGeom prst="rect">
            <a:avLst/>
          </a:prstGeom>
        </p:spPr>
      </p:pic>
      <p:pic>
        <p:nvPicPr>
          <p:cNvPr id="8" name="Image 7"/>
          <p:cNvPicPr>
            <a:picLocks noChangeAspect="1"/>
          </p:cNvPicPr>
          <p:nvPr/>
        </p:nvPicPr>
        <p:blipFill>
          <a:blip r:embed="rId12"/>
          <a:stretch>
            <a:fillRect/>
          </a:stretch>
        </p:blipFill>
        <p:spPr>
          <a:xfrm>
            <a:off x="2698852" y="3177095"/>
            <a:ext cx="310923" cy="353599"/>
          </a:xfrm>
          <a:prstGeom prst="rect">
            <a:avLst/>
          </a:prstGeom>
        </p:spPr>
      </p:pic>
    </p:spTree>
    <p:extLst>
      <p:ext uri="{BB962C8B-B14F-4D97-AF65-F5344CB8AC3E}">
        <p14:creationId xmlns:p14="http://schemas.microsoft.com/office/powerpoint/2010/main" val="3342424487"/>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147234" y="206375"/>
            <a:ext cx="8539566" cy="653781"/>
          </a:xfrm>
        </p:spPr>
        <p:txBody>
          <a:bodyPr>
            <a:normAutofit fontScale="90000"/>
          </a:bodyPr>
          <a:lstStyle/>
          <a:p>
            <a:pPr lvl="1" algn="l" defTabSz="389626" rtl="0">
              <a:spcBef>
                <a:spcPct val="0"/>
              </a:spcBef>
            </a:pPr>
            <a:r>
              <a:rPr lang="fr-FR" altLang="en-US" dirty="0" smtClean="0"/>
              <a:t/>
            </a:r>
            <a:br>
              <a:rPr lang="fr-FR" altLang="en-US" dirty="0" smtClean="0"/>
            </a:br>
            <a:r>
              <a:rPr lang="fr-FR" altLang="en-US" sz="2700" dirty="0" smtClean="0">
                <a:latin typeface="+mj-lt"/>
              </a:rPr>
              <a:t>Création du compte bancaire dans SAP via la transaction FI12 1/2</a:t>
            </a:r>
            <a:r>
              <a:rPr lang="fr-FR" altLang="en-US" dirty="0" smtClean="0">
                <a:latin typeface="+mj-lt"/>
              </a:rPr>
              <a:t/>
            </a:r>
            <a:br>
              <a:rPr lang="fr-FR" altLang="en-US" dirty="0" smtClean="0">
                <a:latin typeface="+mj-lt"/>
              </a:rPr>
            </a:br>
            <a:r>
              <a:rPr lang="fr-FR" altLang="en-US" sz="1300" dirty="0" smtClean="0">
                <a:latin typeface="+mn-lt"/>
              </a:rPr>
              <a:t/>
            </a:r>
            <a:br>
              <a:rPr lang="fr-FR" altLang="en-US" sz="1300" dirty="0" smtClean="0">
                <a:latin typeface="+mn-lt"/>
              </a:rPr>
            </a:br>
            <a:endParaRPr lang="en-US" altLang="en-US" sz="1300" dirty="0" smtClean="0">
              <a:latin typeface="+mn-lt"/>
            </a:endParaRPr>
          </a:p>
        </p:txBody>
      </p:sp>
      <p:sp>
        <p:nvSpPr>
          <p:cNvPr id="2" name="Espace réservé du contenu 1"/>
          <p:cNvSpPr>
            <a:spLocks noGrp="1"/>
          </p:cNvSpPr>
          <p:nvPr>
            <p:ph idx="1"/>
          </p:nvPr>
        </p:nvSpPr>
        <p:spPr>
          <a:xfrm>
            <a:off x="494983" y="681925"/>
            <a:ext cx="8246571" cy="3851329"/>
          </a:xfrm>
        </p:spPr>
        <p:txBody>
          <a:bodyPr/>
          <a:lstStyle/>
          <a:p>
            <a:pPr lvl="1" indent="0">
              <a:buClr>
                <a:srgbClr val="0070C0"/>
              </a:buClr>
              <a:buSzPct val="100000"/>
              <a:buNone/>
            </a:pPr>
            <a:endParaRPr lang="fr-FR" dirty="0" smtClean="0"/>
          </a:p>
          <a:p>
            <a:pPr>
              <a:buClr>
                <a:srgbClr val="0070C0"/>
              </a:buClr>
              <a:buSzPct val="100000"/>
            </a:pPr>
            <a:r>
              <a:rPr lang="fr-FR" dirty="0" smtClean="0"/>
              <a:t>Gestion Comptable / SAP Financial </a:t>
            </a:r>
            <a:r>
              <a:rPr lang="fr-FR" dirty="0" err="1" smtClean="0"/>
              <a:t>Supply</a:t>
            </a:r>
            <a:r>
              <a:rPr lang="fr-FR" dirty="0" smtClean="0"/>
              <a:t> Chain Management / </a:t>
            </a:r>
            <a:r>
              <a:rPr lang="fr-FR" dirty="0" err="1" smtClean="0"/>
              <a:t>Treasury</a:t>
            </a:r>
            <a:r>
              <a:rPr lang="fr-FR" dirty="0" smtClean="0"/>
              <a:t> and </a:t>
            </a:r>
            <a:r>
              <a:rPr lang="fr-FR" dirty="0" err="1" smtClean="0"/>
              <a:t>Risk</a:t>
            </a:r>
            <a:r>
              <a:rPr lang="fr-FR" dirty="0" smtClean="0"/>
              <a:t> Management / Fonction de base / Données de base / Banques société : Transaction FI12								</a:t>
            </a:r>
          </a:p>
          <a:p>
            <a:pPr>
              <a:buClr>
                <a:srgbClr val="0070C0"/>
              </a:buClr>
              <a:buSzPct val="100000"/>
            </a:pPr>
            <a:r>
              <a:rPr lang="fr-FR" dirty="0" smtClean="0"/>
              <a:t>									Renseigner la société et valider</a:t>
            </a:r>
          </a:p>
          <a:p>
            <a:pPr>
              <a:buClr>
                <a:srgbClr val="0070C0"/>
              </a:buClr>
              <a:buSzPct val="100000"/>
            </a:pPr>
            <a:endParaRPr lang="fr-FR" dirty="0"/>
          </a:p>
          <a:p>
            <a:pPr>
              <a:buClr>
                <a:srgbClr val="0070C0"/>
              </a:buClr>
              <a:buSzPct val="100000"/>
            </a:pPr>
            <a:endParaRPr lang="fr-FR" dirty="0" smtClean="0"/>
          </a:p>
          <a:p>
            <a:pPr>
              <a:buClr>
                <a:srgbClr val="0070C0"/>
              </a:buClr>
              <a:buSzPct val="100000"/>
            </a:pPr>
            <a:r>
              <a:rPr lang="fr-FR" dirty="0" smtClean="0"/>
              <a:t>									Sélectionner Comptes bancaires et cliquer sur Nouvelle entrée </a:t>
            </a:r>
          </a:p>
          <a:p>
            <a:pPr>
              <a:buClr>
                <a:srgbClr val="0070C0"/>
              </a:buClr>
              <a:buSzPct val="100000"/>
            </a:pPr>
            <a:r>
              <a:rPr lang="fr-FR" dirty="0" smtClean="0"/>
              <a:t>								</a:t>
            </a:r>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r>
              <a:rPr lang="fr-FR" dirty="0" smtClean="0"/>
              <a:t>Renseigner </a:t>
            </a:r>
            <a:r>
              <a:rPr lang="fr-FR" dirty="0"/>
              <a:t>la banque société et toutes les autres données de cet </a:t>
            </a:r>
            <a:r>
              <a:rPr lang="fr-FR" dirty="0" smtClean="0"/>
              <a:t>écran et sauvegarder votre saisie.</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494983" y="1451817"/>
            <a:ext cx="2387702" cy="1084801"/>
          </a:xfrm>
          <a:prstGeom prst="rect">
            <a:avLst/>
          </a:prstGeom>
        </p:spPr>
      </p:pic>
      <p:sp>
        <p:nvSpPr>
          <p:cNvPr id="9" name="Rectangle 8"/>
          <p:cNvSpPr/>
          <p:nvPr/>
        </p:nvSpPr>
        <p:spPr>
          <a:xfrm flipV="1">
            <a:off x="2185261" y="1810583"/>
            <a:ext cx="224725" cy="17319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5" name="Image 4"/>
          <p:cNvPicPr>
            <a:picLocks noChangeAspect="1"/>
          </p:cNvPicPr>
          <p:nvPr/>
        </p:nvPicPr>
        <p:blipFill>
          <a:blip r:embed="rId3"/>
          <a:stretch>
            <a:fillRect/>
          </a:stretch>
        </p:blipFill>
        <p:spPr>
          <a:xfrm>
            <a:off x="1226422" y="2304072"/>
            <a:ext cx="152928" cy="188992"/>
          </a:xfrm>
          <a:prstGeom prst="rect">
            <a:avLst/>
          </a:prstGeom>
        </p:spPr>
      </p:pic>
      <p:pic>
        <p:nvPicPr>
          <p:cNvPr id="6" name="Image 5"/>
          <p:cNvPicPr>
            <a:picLocks noChangeAspect="1"/>
          </p:cNvPicPr>
          <p:nvPr/>
        </p:nvPicPr>
        <p:blipFill>
          <a:blip r:embed="rId4"/>
          <a:stretch>
            <a:fillRect/>
          </a:stretch>
        </p:blipFill>
        <p:spPr>
          <a:xfrm>
            <a:off x="3688118" y="1543583"/>
            <a:ext cx="310923" cy="353599"/>
          </a:xfrm>
          <a:prstGeom prst="rect">
            <a:avLst/>
          </a:prstGeom>
        </p:spPr>
      </p:pic>
      <p:cxnSp>
        <p:nvCxnSpPr>
          <p:cNvPr id="8" name="Connecteur droit avec flèche 7"/>
          <p:cNvCxnSpPr/>
          <p:nvPr/>
        </p:nvCxnSpPr>
        <p:spPr>
          <a:xfrm flipV="1">
            <a:off x="1379350" y="1762557"/>
            <a:ext cx="2464229" cy="541516"/>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eur droit avec flèche 13"/>
          <p:cNvCxnSpPr>
            <a:endCxn id="6" idx="1"/>
          </p:cNvCxnSpPr>
          <p:nvPr/>
        </p:nvCxnSpPr>
        <p:spPr>
          <a:xfrm flipV="1">
            <a:off x="2409986" y="1720383"/>
            <a:ext cx="1278132" cy="263399"/>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6" name="Image 15"/>
          <p:cNvPicPr>
            <a:picLocks noChangeAspect="1"/>
          </p:cNvPicPr>
          <p:nvPr/>
        </p:nvPicPr>
        <p:blipFill>
          <a:blip r:embed="rId5"/>
          <a:stretch>
            <a:fillRect/>
          </a:stretch>
        </p:blipFill>
        <p:spPr>
          <a:xfrm>
            <a:off x="3722678" y="2550074"/>
            <a:ext cx="310923" cy="353599"/>
          </a:xfrm>
          <a:prstGeom prst="rect">
            <a:avLst/>
          </a:prstGeom>
        </p:spPr>
      </p:pic>
      <p:pic>
        <p:nvPicPr>
          <p:cNvPr id="18" name="Image 17"/>
          <p:cNvPicPr>
            <a:picLocks noChangeAspect="1"/>
          </p:cNvPicPr>
          <p:nvPr/>
        </p:nvPicPr>
        <p:blipFill>
          <a:blip r:embed="rId6"/>
          <a:stretch>
            <a:fillRect/>
          </a:stretch>
        </p:blipFill>
        <p:spPr>
          <a:xfrm>
            <a:off x="493564" y="2634578"/>
            <a:ext cx="3194554" cy="1697198"/>
          </a:xfrm>
          <a:prstGeom prst="rect">
            <a:avLst/>
          </a:prstGeom>
        </p:spPr>
      </p:pic>
      <p:pic>
        <p:nvPicPr>
          <p:cNvPr id="19" name="Image 18"/>
          <p:cNvPicPr>
            <a:picLocks noChangeAspect="1"/>
          </p:cNvPicPr>
          <p:nvPr/>
        </p:nvPicPr>
        <p:blipFill>
          <a:blip r:embed="rId7"/>
          <a:stretch>
            <a:fillRect/>
          </a:stretch>
        </p:blipFill>
        <p:spPr>
          <a:xfrm>
            <a:off x="494983" y="3371344"/>
            <a:ext cx="310923" cy="353599"/>
          </a:xfrm>
          <a:prstGeom prst="rect">
            <a:avLst/>
          </a:prstGeom>
        </p:spPr>
      </p:pic>
      <p:pic>
        <p:nvPicPr>
          <p:cNvPr id="20" name="Image 19"/>
          <p:cNvPicPr>
            <a:picLocks noChangeAspect="1"/>
          </p:cNvPicPr>
          <p:nvPr/>
        </p:nvPicPr>
        <p:blipFill>
          <a:blip r:embed="rId8"/>
          <a:stretch>
            <a:fillRect/>
          </a:stretch>
        </p:blipFill>
        <p:spPr>
          <a:xfrm>
            <a:off x="805907" y="3128279"/>
            <a:ext cx="483940" cy="72590"/>
          </a:xfrm>
          <a:prstGeom prst="rect">
            <a:avLst/>
          </a:prstGeom>
        </p:spPr>
      </p:pic>
    </p:spTree>
    <p:extLst>
      <p:ext uri="{BB962C8B-B14F-4D97-AF65-F5344CB8AC3E}">
        <p14:creationId xmlns:p14="http://schemas.microsoft.com/office/powerpoint/2010/main" val="2305994147"/>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147234" y="206375"/>
            <a:ext cx="8539566" cy="653781"/>
          </a:xfrm>
        </p:spPr>
        <p:txBody>
          <a:bodyPr>
            <a:normAutofit fontScale="90000"/>
          </a:bodyPr>
          <a:lstStyle/>
          <a:p>
            <a:pPr lvl="1" algn="l" defTabSz="389626" rtl="0">
              <a:spcBef>
                <a:spcPct val="0"/>
              </a:spcBef>
            </a:pPr>
            <a:r>
              <a:rPr lang="fr-FR" altLang="en-US" dirty="0" smtClean="0"/>
              <a:t/>
            </a:r>
            <a:br>
              <a:rPr lang="fr-FR" altLang="en-US" dirty="0" smtClean="0"/>
            </a:br>
            <a:r>
              <a:rPr lang="fr-FR" altLang="en-US" sz="2700" dirty="0" smtClean="0">
                <a:latin typeface="+mj-lt"/>
              </a:rPr>
              <a:t>Création du compte bancaire dans SAP via la transaction FI12 2/2</a:t>
            </a:r>
            <a:r>
              <a:rPr lang="fr-FR" altLang="en-US" dirty="0" smtClean="0">
                <a:latin typeface="+mj-lt"/>
              </a:rPr>
              <a:t/>
            </a:r>
            <a:br>
              <a:rPr lang="fr-FR" altLang="en-US" dirty="0" smtClean="0">
                <a:latin typeface="+mj-lt"/>
              </a:rPr>
            </a:br>
            <a:r>
              <a:rPr lang="fr-FR" altLang="en-US" sz="1300" dirty="0" smtClean="0">
                <a:latin typeface="+mn-lt"/>
              </a:rPr>
              <a:t/>
            </a:r>
            <a:br>
              <a:rPr lang="fr-FR" altLang="en-US" sz="1300" dirty="0" smtClean="0">
                <a:latin typeface="+mn-lt"/>
              </a:rPr>
            </a:br>
            <a:endParaRPr lang="en-US" altLang="en-US" sz="1300" dirty="0" smtClean="0">
              <a:latin typeface="+mn-lt"/>
            </a:endParaRPr>
          </a:p>
        </p:txBody>
      </p:sp>
      <p:sp>
        <p:nvSpPr>
          <p:cNvPr id="2" name="Espace réservé du contenu 1"/>
          <p:cNvSpPr>
            <a:spLocks noGrp="1"/>
          </p:cNvSpPr>
          <p:nvPr>
            <p:ph idx="1"/>
          </p:nvPr>
        </p:nvSpPr>
        <p:spPr>
          <a:xfrm>
            <a:off x="494983" y="1015139"/>
            <a:ext cx="8246571" cy="3518115"/>
          </a:xfrm>
        </p:spPr>
        <p:txBody>
          <a:bodyPr/>
          <a:lstStyle/>
          <a:p>
            <a:pPr lvl="1" indent="0">
              <a:buClr>
                <a:srgbClr val="0070C0"/>
              </a:buClr>
              <a:buSzPct val="100000"/>
              <a:buNone/>
            </a:pPr>
            <a:r>
              <a:rPr lang="fr-FR" dirty="0"/>
              <a:t>Renseigner la banque société et toutes les autres données de cet écran et sauvegarder votre saisie.</a:t>
            </a:r>
          </a:p>
          <a:p>
            <a:pPr>
              <a:buClr>
                <a:srgbClr val="0070C0"/>
              </a:buClr>
              <a:buSzPct val="100000"/>
            </a:pPr>
            <a:r>
              <a:rPr lang="fr-FR" dirty="0" smtClean="0"/>
              <a:t>					</a:t>
            </a:r>
          </a:p>
          <a:p>
            <a:pPr>
              <a:buClr>
                <a:srgbClr val="0070C0"/>
              </a:buClr>
              <a:buSzPct val="100000"/>
            </a:pPr>
            <a:endParaRPr lang="fr-FR" dirty="0" smtClean="0"/>
          </a:p>
          <a:p>
            <a:pPr>
              <a:buClr>
                <a:srgbClr val="0070C0"/>
              </a:buClr>
              <a:buSzPct val="100000"/>
            </a:pPr>
            <a:endParaRPr lang="fr-FR" dirty="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a:p>
            <a:r>
              <a:rPr lang="fr-FR" dirty="0"/>
              <a:t>Une fois toutes les zones renseignées, le système vérifie la cohérence des données en utilisant le code </a:t>
            </a:r>
            <a:r>
              <a:rPr lang="fr-FR" dirty="0" err="1"/>
              <a:t>swift</a:t>
            </a:r>
            <a:r>
              <a:rPr lang="fr-FR" dirty="0"/>
              <a:t> et le </a:t>
            </a:r>
            <a:r>
              <a:rPr lang="fr-FR" dirty="0" err="1"/>
              <a:t>rib</a:t>
            </a:r>
            <a:r>
              <a:rPr lang="fr-FR" dirty="0"/>
              <a:t>. </a:t>
            </a:r>
            <a:endParaRPr lang="ru-RU" dirty="0"/>
          </a:p>
          <a:p>
            <a:r>
              <a:rPr lang="fr-FR" dirty="0" smtClean="0"/>
              <a:t>L’option </a:t>
            </a:r>
            <a:r>
              <a:rPr lang="fr-FR" dirty="0"/>
              <a:t>prise par la CBG à savoir avoir rattacher des comptes intermédiaires au compte principal de banque permet d’optimiser le programme de rapprochement bancaire automatique. </a:t>
            </a:r>
            <a:endParaRPr lang="ru-RU" dirty="0"/>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8" name="Image 7"/>
          <p:cNvPicPr/>
          <p:nvPr/>
        </p:nvPicPr>
        <p:blipFill>
          <a:blip r:embed="rId2"/>
          <a:stretch>
            <a:fillRect/>
          </a:stretch>
        </p:blipFill>
        <p:spPr>
          <a:xfrm>
            <a:off x="643180" y="1263112"/>
            <a:ext cx="4649491" cy="2417736"/>
          </a:xfrm>
          <a:prstGeom prst="rect">
            <a:avLst/>
          </a:prstGeom>
        </p:spPr>
      </p:pic>
    </p:spTree>
    <p:extLst>
      <p:ext uri="{BB962C8B-B14F-4D97-AF65-F5344CB8AC3E}">
        <p14:creationId xmlns:p14="http://schemas.microsoft.com/office/powerpoint/2010/main" val="85048432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147234" y="206375"/>
            <a:ext cx="8539566" cy="653781"/>
          </a:xfrm>
        </p:spPr>
        <p:txBody>
          <a:bodyPr>
            <a:normAutofit fontScale="90000"/>
          </a:bodyPr>
          <a:lstStyle/>
          <a:p>
            <a:pPr lvl="1" algn="l" defTabSz="389626" rtl="0">
              <a:spcBef>
                <a:spcPct val="0"/>
              </a:spcBef>
            </a:pPr>
            <a:r>
              <a:rPr lang="fr-FR" altLang="en-US" dirty="0" smtClean="0"/>
              <a:t/>
            </a:r>
            <a:br>
              <a:rPr lang="fr-FR" altLang="en-US" dirty="0" smtClean="0"/>
            </a:br>
            <a:r>
              <a:rPr lang="fr-FR" altLang="en-US" sz="2700" dirty="0" smtClean="0">
                <a:latin typeface="+mj-lt"/>
              </a:rPr>
              <a:t>Affichage du répertoire des banques via la transaction FI03 1/2</a:t>
            </a:r>
            <a:r>
              <a:rPr lang="fr-FR" altLang="en-US" dirty="0" smtClean="0">
                <a:latin typeface="+mj-lt"/>
              </a:rPr>
              <a:t/>
            </a:r>
            <a:br>
              <a:rPr lang="fr-FR" altLang="en-US" dirty="0" smtClean="0">
                <a:latin typeface="+mj-lt"/>
              </a:rPr>
            </a:br>
            <a:r>
              <a:rPr lang="fr-FR" altLang="en-US" sz="1300" dirty="0" smtClean="0">
                <a:latin typeface="+mn-lt"/>
              </a:rPr>
              <a:t/>
            </a:r>
            <a:br>
              <a:rPr lang="fr-FR" altLang="en-US" sz="1300" dirty="0" smtClean="0">
                <a:latin typeface="+mn-lt"/>
              </a:rPr>
            </a:br>
            <a:endParaRPr lang="en-US" altLang="en-US" sz="1300" dirty="0" smtClean="0">
              <a:latin typeface="+mn-lt"/>
            </a:endParaRPr>
          </a:p>
        </p:txBody>
      </p:sp>
      <p:sp>
        <p:nvSpPr>
          <p:cNvPr id="2" name="Espace réservé du contenu 1"/>
          <p:cNvSpPr>
            <a:spLocks noGrp="1"/>
          </p:cNvSpPr>
          <p:nvPr>
            <p:ph idx="1"/>
          </p:nvPr>
        </p:nvSpPr>
        <p:spPr>
          <a:xfrm>
            <a:off x="494983" y="860156"/>
            <a:ext cx="8246571" cy="3673098"/>
          </a:xfrm>
        </p:spPr>
        <p:txBody>
          <a:bodyPr/>
          <a:lstStyle/>
          <a:p>
            <a:pPr lvl="1" indent="0">
              <a:buClr>
                <a:srgbClr val="0070C0"/>
              </a:buClr>
              <a:buSzPct val="100000"/>
              <a:buNone/>
            </a:pPr>
            <a:r>
              <a:rPr lang="fr-FR" dirty="0" smtClean="0"/>
              <a:t>Lancer la transaction FI03 : 	</a:t>
            </a:r>
          </a:p>
          <a:p>
            <a:pPr lvl="1" indent="0">
              <a:buClr>
                <a:srgbClr val="0070C0"/>
              </a:buClr>
              <a:buSzPct val="100000"/>
              <a:buNone/>
            </a:pPr>
            <a:r>
              <a:rPr lang="fr-FR" dirty="0"/>
              <a:t>	</a:t>
            </a:r>
            <a:r>
              <a:rPr lang="fr-FR" dirty="0" smtClean="0"/>
              <a:t>									Renseigner le code pays.</a:t>
            </a:r>
          </a:p>
          <a:p>
            <a:pPr lvl="1" indent="0">
              <a:buClr>
                <a:srgbClr val="0070C0"/>
              </a:buClr>
              <a:buSzPct val="100000"/>
              <a:buNone/>
            </a:pPr>
            <a:r>
              <a:rPr lang="fr-FR" dirty="0"/>
              <a:t>	</a:t>
            </a:r>
            <a:r>
              <a:rPr lang="fr-FR" dirty="0" smtClean="0"/>
              <a:t>									</a:t>
            </a:r>
            <a:r>
              <a:rPr lang="fr-FR" dirty="0"/>
              <a:t> Cliquer sur le </a:t>
            </a:r>
            <a:r>
              <a:rPr lang="fr-FR" dirty="0" err="1" smtClean="0"/>
              <a:t>matchcode</a:t>
            </a:r>
            <a:r>
              <a:rPr lang="fr-FR" dirty="0"/>
              <a:t>.</a:t>
            </a:r>
            <a:r>
              <a:rPr lang="fr-FR" dirty="0" smtClean="0"/>
              <a:t>  </a:t>
            </a:r>
          </a:p>
          <a:p>
            <a:pPr lvl="1" indent="0">
              <a:buClr>
                <a:srgbClr val="0070C0"/>
              </a:buClr>
              <a:buSzPct val="100000"/>
              <a:buNone/>
            </a:pPr>
            <a:r>
              <a:rPr lang="fr-FR" dirty="0"/>
              <a:t>										 </a:t>
            </a:r>
            <a:r>
              <a:rPr lang="fr-FR" dirty="0" smtClean="0"/>
              <a:t>La </a:t>
            </a:r>
            <a:r>
              <a:rPr lang="fr-FR" dirty="0"/>
              <a:t>fenêtre Rechercher banque s’ouvre. Valider la recherche </a:t>
            </a:r>
            <a:r>
              <a:rPr lang="fr-FR" dirty="0" smtClean="0"/>
              <a:t>sans</a:t>
            </a:r>
          </a:p>
          <a:p>
            <a:pPr lvl="1" indent="0">
              <a:buClr>
                <a:srgbClr val="0070C0"/>
              </a:buClr>
              <a:buSzPct val="100000"/>
              <a:buNone/>
            </a:pPr>
            <a:r>
              <a:rPr lang="fr-FR" dirty="0"/>
              <a:t>	</a:t>
            </a:r>
            <a:r>
              <a:rPr lang="fr-FR" dirty="0" smtClean="0"/>
              <a:t>									 mettre de valeurs. 	 </a:t>
            </a:r>
          </a:p>
          <a:p>
            <a:pPr lvl="1" indent="0">
              <a:buClr>
                <a:srgbClr val="0070C0"/>
              </a:buClr>
              <a:buSzPct val="100000"/>
              <a:buNone/>
            </a:pPr>
            <a:r>
              <a:rPr lang="fr-FR" dirty="0"/>
              <a:t>	</a:t>
            </a:r>
            <a:r>
              <a:rPr lang="fr-FR" dirty="0" smtClean="0"/>
              <a:t>									</a:t>
            </a:r>
          </a:p>
          <a:p>
            <a:pPr>
              <a:buClr>
                <a:srgbClr val="0070C0"/>
              </a:buClr>
              <a:buSzPct val="100000"/>
            </a:pPr>
            <a:r>
              <a:rPr lang="fr-FR" dirty="0" smtClean="0"/>
              <a:t>					</a:t>
            </a:r>
          </a:p>
          <a:p>
            <a:pPr>
              <a:buClr>
                <a:srgbClr val="0070C0"/>
              </a:buClr>
              <a:buSzPct val="100000"/>
            </a:pPr>
            <a:endParaRPr lang="fr-FR" dirty="0" smtClean="0"/>
          </a:p>
          <a:p>
            <a:pPr>
              <a:buClr>
                <a:srgbClr val="0070C0"/>
              </a:buClr>
              <a:buSzPct val="100000"/>
            </a:pPr>
            <a:endParaRPr lang="fr-FR" dirty="0"/>
          </a:p>
          <a:p>
            <a:pPr>
              <a:buClr>
                <a:srgbClr val="0070C0"/>
              </a:buClr>
              <a:buSzPct val="100000"/>
            </a:pPr>
            <a:endParaRPr lang="fr-FR" dirty="0" smtClean="0"/>
          </a:p>
          <a:p>
            <a:pPr>
              <a:buClr>
                <a:srgbClr val="0070C0"/>
              </a:buClr>
              <a:buSzPct val="100000"/>
            </a:pPr>
            <a:r>
              <a:rPr lang="fr-FR" dirty="0"/>
              <a:t>Attention : Par défaut SAP limite le nombre d’occurrence lors des recherches. Mais vous pouvez enlever cette limite afin d’avoir la totalité des occurrences.    </a:t>
            </a:r>
            <a:endParaRPr lang="ru-RU" dirty="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660464" y="1074099"/>
            <a:ext cx="3231160" cy="2328874"/>
          </a:xfrm>
          <a:prstGeom prst="rect">
            <a:avLst/>
          </a:prstGeom>
        </p:spPr>
      </p:pic>
      <p:pic>
        <p:nvPicPr>
          <p:cNvPr id="4" name="Image 3"/>
          <p:cNvPicPr>
            <a:picLocks noChangeAspect="1"/>
          </p:cNvPicPr>
          <p:nvPr/>
        </p:nvPicPr>
        <p:blipFill>
          <a:blip r:embed="rId3"/>
          <a:stretch>
            <a:fillRect/>
          </a:stretch>
        </p:blipFill>
        <p:spPr>
          <a:xfrm>
            <a:off x="1921679" y="2642461"/>
            <a:ext cx="263582" cy="180959"/>
          </a:xfrm>
          <a:prstGeom prst="rect">
            <a:avLst/>
          </a:prstGeom>
        </p:spPr>
      </p:pic>
      <p:pic>
        <p:nvPicPr>
          <p:cNvPr id="6" name="Image 5"/>
          <p:cNvPicPr>
            <a:picLocks noChangeAspect="1"/>
          </p:cNvPicPr>
          <p:nvPr/>
        </p:nvPicPr>
        <p:blipFill>
          <a:blip r:embed="rId4"/>
          <a:stretch>
            <a:fillRect/>
          </a:stretch>
        </p:blipFill>
        <p:spPr>
          <a:xfrm>
            <a:off x="2987801" y="2873504"/>
            <a:ext cx="177204" cy="123631"/>
          </a:xfrm>
          <a:prstGeom prst="rect">
            <a:avLst/>
          </a:prstGeom>
        </p:spPr>
      </p:pic>
      <p:pic>
        <p:nvPicPr>
          <p:cNvPr id="7" name="Image 6"/>
          <p:cNvPicPr>
            <a:picLocks noChangeAspect="1"/>
          </p:cNvPicPr>
          <p:nvPr/>
        </p:nvPicPr>
        <p:blipFill>
          <a:blip r:embed="rId5"/>
          <a:stretch>
            <a:fillRect/>
          </a:stretch>
        </p:blipFill>
        <p:spPr>
          <a:xfrm>
            <a:off x="4105615" y="1074099"/>
            <a:ext cx="310923" cy="353599"/>
          </a:xfrm>
          <a:prstGeom prst="rect">
            <a:avLst/>
          </a:prstGeom>
        </p:spPr>
      </p:pic>
      <p:pic>
        <p:nvPicPr>
          <p:cNvPr id="8" name="Image 7"/>
          <p:cNvPicPr>
            <a:picLocks noChangeAspect="1"/>
          </p:cNvPicPr>
          <p:nvPr/>
        </p:nvPicPr>
        <p:blipFill>
          <a:blip r:embed="rId6"/>
          <a:stretch>
            <a:fillRect/>
          </a:stretch>
        </p:blipFill>
        <p:spPr>
          <a:xfrm>
            <a:off x="2127463" y="2519905"/>
            <a:ext cx="310923" cy="353599"/>
          </a:xfrm>
          <a:prstGeom prst="rect">
            <a:avLst/>
          </a:prstGeom>
        </p:spPr>
      </p:pic>
      <p:pic>
        <p:nvPicPr>
          <p:cNvPr id="9" name="Image 8"/>
          <p:cNvPicPr>
            <a:picLocks noChangeAspect="1"/>
          </p:cNvPicPr>
          <p:nvPr/>
        </p:nvPicPr>
        <p:blipFill>
          <a:blip r:embed="rId7"/>
          <a:stretch>
            <a:fillRect/>
          </a:stretch>
        </p:blipFill>
        <p:spPr>
          <a:xfrm>
            <a:off x="4105615" y="1367903"/>
            <a:ext cx="310923" cy="353599"/>
          </a:xfrm>
          <a:prstGeom prst="rect">
            <a:avLst/>
          </a:prstGeom>
        </p:spPr>
      </p:pic>
      <p:pic>
        <p:nvPicPr>
          <p:cNvPr id="11" name="Image 10"/>
          <p:cNvPicPr>
            <a:picLocks noChangeAspect="1"/>
          </p:cNvPicPr>
          <p:nvPr/>
        </p:nvPicPr>
        <p:blipFill>
          <a:blip r:embed="rId8"/>
          <a:stretch>
            <a:fillRect/>
          </a:stretch>
        </p:blipFill>
        <p:spPr>
          <a:xfrm>
            <a:off x="3033940" y="2873504"/>
            <a:ext cx="390178" cy="353599"/>
          </a:xfrm>
          <a:prstGeom prst="rect">
            <a:avLst/>
          </a:prstGeom>
        </p:spPr>
      </p:pic>
      <p:pic>
        <p:nvPicPr>
          <p:cNvPr id="12" name="Image 11"/>
          <p:cNvPicPr>
            <a:picLocks noChangeAspect="1"/>
          </p:cNvPicPr>
          <p:nvPr/>
        </p:nvPicPr>
        <p:blipFill>
          <a:blip r:embed="rId9"/>
          <a:stretch>
            <a:fillRect/>
          </a:stretch>
        </p:blipFill>
        <p:spPr>
          <a:xfrm>
            <a:off x="4441013" y="2123794"/>
            <a:ext cx="2427906" cy="1650043"/>
          </a:xfrm>
          <a:prstGeom prst="rect">
            <a:avLst/>
          </a:prstGeom>
        </p:spPr>
      </p:pic>
      <p:pic>
        <p:nvPicPr>
          <p:cNvPr id="13" name="Image 12"/>
          <p:cNvPicPr>
            <a:picLocks noChangeAspect="1"/>
          </p:cNvPicPr>
          <p:nvPr/>
        </p:nvPicPr>
        <p:blipFill>
          <a:blip r:embed="rId10"/>
          <a:stretch>
            <a:fillRect/>
          </a:stretch>
        </p:blipFill>
        <p:spPr>
          <a:xfrm>
            <a:off x="6553200" y="3581352"/>
            <a:ext cx="176799" cy="128027"/>
          </a:xfrm>
          <a:prstGeom prst="rect">
            <a:avLst/>
          </a:prstGeom>
        </p:spPr>
      </p:pic>
      <p:pic>
        <p:nvPicPr>
          <p:cNvPr id="14" name="Image 13"/>
          <p:cNvPicPr>
            <a:picLocks noChangeAspect="1"/>
          </p:cNvPicPr>
          <p:nvPr/>
        </p:nvPicPr>
        <p:blipFill>
          <a:blip r:embed="rId11"/>
          <a:stretch>
            <a:fillRect/>
          </a:stretch>
        </p:blipFill>
        <p:spPr>
          <a:xfrm>
            <a:off x="6640950" y="3433039"/>
            <a:ext cx="317019" cy="353599"/>
          </a:xfrm>
          <a:prstGeom prst="rect">
            <a:avLst/>
          </a:prstGeom>
        </p:spPr>
      </p:pic>
      <p:pic>
        <p:nvPicPr>
          <p:cNvPr id="15" name="Image 14"/>
          <p:cNvPicPr>
            <a:picLocks noChangeAspect="1"/>
          </p:cNvPicPr>
          <p:nvPr/>
        </p:nvPicPr>
        <p:blipFill>
          <a:blip r:embed="rId12"/>
          <a:stretch>
            <a:fillRect/>
          </a:stretch>
        </p:blipFill>
        <p:spPr>
          <a:xfrm>
            <a:off x="4114113" y="1611106"/>
            <a:ext cx="317019" cy="353599"/>
          </a:xfrm>
          <a:prstGeom prst="rect">
            <a:avLst/>
          </a:prstGeom>
        </p:spPr>
      </p:pic>
      <p:pic>
        <p:nvPicPr>
          <p:cNvPr id="16" name="Image 15"/>
          <p:cNvPicPr>
            <a:picLocks noChangeAspect="1"/>
          </p:cNvPicPr>
          <p:nvPr/>
        </p:nvPicPr>
        <p:blipFill>
          <a:blip r:embed="rId4"/>
          <a:stretch>
            <a:fillRect/>
          </a:stretch>
        </p:blipFill>
        <p:spPr>
          <a:xfrm>
            <a:off x="5208090" y="3402973"/>
            <a:ext cx="262151" cy="121514"/>
          </a:xfrm>
          <a:prstGeom prst="rect">
            <a:avLst/>
          </a:prstGeom>
        </p:spPr>
      </p:pic>
    </p:spTree>
    <p:extLst>
      <p:ext uri="{BB962C8B-B14F-4D97-AF65-F5344CB8AC3E}">
        <p14:creationId xmlns:p14="http://schemas.microsoft.com/office/powerpoint/2010/main" val="311887145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re 1"/>
          <p:cNvSpPr>
            <a:spLocks noGrp="1"/>
          </p:cNvSpPr>
          <p:nvPr>
            <p:ph type="title"/>
          </p:nvPr>
        </p:nvSpPr>
        <p:spPr>
          <a:xfrm>
            <a:off x="457200" y="206375"/>
            <a:ext cx="8229600" cy="708025"/>
          </a:xfrm>
        </p:spPr>
        <p:txBody>
          <a:bodyPr>
            <a:normAutofit fontScale="90000"/>
          </a:bodyPr>
          <a:lstStyle/>
          <a:p>
            <a:r>
              <a:rPr lang="fr-FR" altLang="en-US" sz="2400" dirty="0" smtClean="0"/>
              <a:t>Affichage du répertoire des banques via la transaction FI03 2/2</a:t>
            </a:r>
            <a:br>
              <a:rPr lang="fr-FR" altLang="en-US" sz="2400" dirty="0" smtClean="0"/>
            </a:br>
            <a:endParaRPr lang="en-US" altLang="en-US" dirty="0" smtClean="0"/>
          </a:p>
        </p:txBody>
      </p:sp>
      <p:sp>
        <p:nvSpPr>
          <p:cNvPr id="29699" name="Espace réservé du numéro de diapositive 3"/>
          <p:cNvSpPr>
            <a:spLocks noGrp="1"/>
          </p:cNvSpPr>
          <p:nvPr>
            <p:ph type="sldNum" sz="quarter" idx="4294967295"/>
          </p:nvPr>
        </p:nvSpPr>
        <p:spPr>
          <a:xfrm>
            <a:off x="7010400" y="4767263"/>
            <a:ext cx="2133600" cy="274637"/>
          </a:xfrm>
          <a:prstGeom prst="rect">
            <a:avLst/>
          </a:prstGeom>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BAAEE032-D564-47BC-82B1-E2D835587CAA}" type="slidenum">
              <a:rPr lang="fr-FR" altLang="en-US" smtClean="0"/>
              <a:pPr/>
              <a:t>14</a:t>
            </a:fld>
            <a:endParaRPr lang="fr-FR" altLang="en-US"/>
          </a:p>
        </p:txBody>
      </p:sp>
      <p:pic>
        <p:nvPicPr>
          <p:cNvPr id="2" name="Image 1"/>
          <p:cNvPicPr>
            <a:picLocks noChangeAspect="1"/>
          </p:cNvPicPr>
          <p:nvPr/>
        </p:nvPicPr>
        <p:blipFill>
          <a:blip r:embed="rId2"/>
          <a:stretch>
            <a:fillRect/>
          </a:stretch>
        </p:blipFill>
        <p:spPr>
          <a:xfrm>
            <a:off x="457200" y="1284663"/>
            <a:ext cx="5854405" cy="2543175"/>
          </a:xfrm>
          <a:prstGeom prst="rect">
            <a:avLst/>
          </a:prstGeom>
        </p:spPr>
      </p:pic>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1213506"/>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compte bancaire</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la liste des comptes bancaires </a:t>
            </a:r>
          </a:p>
          <a:p>
            <a:pPr>
              <a:lnSpc>
                <a:spcPct val="110000"/>
              </a:lnSpc>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16</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Le processus de </a:t>
            </a:r>
            <a:r>
              <a:rPr lang="fr-FR" dirty="0" smtClean="0">
                <a:ea typeface="ＭＳ Ｐゴシック" panose="020B0600070205080204" pitchFamily="34" charset="-128"/>
                <a:cs typeface="Arial" panose="020B0604020202020204" pitchFamily="34" charset="0"/>
              </a:rPr>
              <a:t>création de compte bancaire doit respecter les règles établies depuis la demande d’ouverture faite à la banque jusqu’à sa création dans SAP. </a:t>
            </a:r>
            <a:endParaRPr lang="fr-FR"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a:ea typeface="ＭＳ Ｐゴシック" panose="020B0600070205080204" pitchFamily="34" charset="-128"/>
                <a:cs typeface="Arial" panose="020B0604020202020204" pitchFamily="34" charset="0"/>
              </a:rPr>
              <a:t>L</a:t>
            </a:r>
            <a:r>
              <a:rPr lang="fr-FR" altLang="en-US" dirty="0" smtClean="0">
                <a:ea typeface="ＭＳ Ｐゴシック" panose="020B0600070205080204" pitchFamily="34" charset="-128"/>
                <a:cs typeface="Arial" panose="020B0604020202020204" pitchFamily="34" charset="0"/>
              </a:rPr>
              <a:t>e besoin doit être clairement défini et les règles de nommage respectées.  </a:t>
            </a: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17</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VHEKTECQ7ECW-1532981086-4843</_dlc_DocId>
    <_dlc_DocIdUrl xmlns="f36dd47d-0b23-43fd-9b2d-c5346ffa1660">
      <Url>http://projets.cbg-guinee.com/erp/_layouts/15/DocIdRedir.aspx?ID=VHEKTECQ7ECW-1532981086-4843</Url>
      <Description>VHEKTECQ7ECW-1532981086-4843</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48684205-29C3-4250-A680-0E5772BEAD08}"/>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8199D1E5-0260-411B-9DFE-D78D17C49B9A}"/>
</file>

<file path=docProps/app.xml><?xml version="1.0" encoding="utf-8"?>
<Properties xmlns="http://schemas.openxmlformats.org/officeDocument/2006/extended-properties" xmlns:vt="http://schemas.openxmlformats.org/officeDocument/2006/docPropsVTypes">
  <Template/>
  <TotalTime>0</TotalTime>
  <Words>612</Words>
  <Application>Microsoft Office PowerPoint</Application>
  <PresentationFormat>Affichage à l'écran (16:9)</PresentationFormat>
  <Paragraphs>185</Paragraphs>
  <Slides>18</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18</vt:i4>
      </vt:variant>
    </vt:vector>
  </HeadingPairs>
  <TitlesOfParts>
    <vt:vector size="26" baseType="lpstr">
      <vt:lpstr>ＭＳ Ｐゴシック</vt:lpstr>
      <vt:lpstr>Arial</vt:lpstr>
      <vt:lpstr>Arial Narrow</vt:lpstr>
      <vt:lpstr>Calibri</vt:lpstr>
      <vt:lpstr>Courier New</vt:lpstr>
      <vt:lpstr>Verdana</vt:lpstr>
      <vt:lpstr>Wingdings</vt:lpstr>
      <vt:lpstr>TemplateBE_FR</vt:lpstr>
      <vt:lpstr>Kamsar, le 10.02.2016</vt:lpstr>
      <vt:lpstr>Présentation PowerPoint</vt:lpstr>
      <vt:lpstr>Objectifs de la formation</vt:lpstr>
      <vt:lpstr>Agenda : 2h00</vt:lpstr>
      <vt:lpstr>Présentation PowerPoint</vt:lpstr>
      <vt:lpstr>Description du processus métier 1/2 </vt:lpstr>
      <vt:lpstr>Description du processus métier 2/2 </vt:lpstr>
      <vt:lpstr>Présentation PowerPoint</vt:lpstr>
      <vt:lpstr>Modes opératoires Présentation du mode opératoire dans SAP</vt:lpstr>
      <vt:lpstr> Création d’une fiche bancaire dans SAP via la transaction FI01  </vt:lpstr>
      <vt:lpstr> Création du compte bancaire dans SAP via la transaction FI12 1/2  </vt:lpstr>
      <vt:lpstr> Création du compte bancaire dans SAP via la transaction FI12 2/2  </vt:lpstr>
      <vt:lpstr> Affichage du répertoire des banques via la transaction FI03 1/2  </vt:lpstr>
      <vt:lpstr>Affichage du répertoire des banques via la transaction FI03 2/2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Bearingpoint</cp:lastModifiedBy>
  <cp:revision>3686</cp:revision>
  <cp:lastPrinted>2016-01-20T14:40:58Z</cp:lastPrinted>
  <dcterms:created xsi:type="dcterms:W3CDTF">2012-05-17T14:14:37Z</dcterms:created>
  <dcterms:modified xsi:type="dcterms:W3CDTF">2016-01-20T14:44:03Z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ea81ffdd-b0aa-4add-8e91-28e995905aef</vt:lpwstr>
  </property>
</Properties>
</file>