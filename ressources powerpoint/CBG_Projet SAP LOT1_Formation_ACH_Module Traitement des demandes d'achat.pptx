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18.xml" ContentType="application/vnd.openxmlformats-officedocument.presentationml.slide+xml"/>
  <Override PartName="/ppt/slides/slide19.xml" ContentType="application/vnd.openxmlformats-officedocument.presentationml.slide+xml"/>
  <Override PartName="/ppt/presentation.xml" ContentType="application/vnd.openxmlformats-officedocument.presentationml.presentation.main+xml"/>
  <Override PartName="/ppt/slides/slide17.xml" ContentType="application/vnd.openxmlformats-officedocument.presentationml.slide+xml"/>
  <Override PartName="/ppt/slides/slide9.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5.xml" ContentType="application/vnd.openxmlformats-officedocument.presentationml.notesSlide+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notesSlides/notesSlide6.xml" ContentType="application/vnd.openxmlformats-officedocument.presentationml.notesSlide+xml"/>
  <Override PartName="/ppt/theme/theme1.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4"/>
  </p:notesMasterIdLst>
  <p:handoutMasterIdLst>
    <p:handoutMasterId r:id="rId25"/>
  </p:handoutMasterIdLst>
  <p:sldIdLst>
    <p:sldId id="685" r:id="rId5"/>
    <p:sldId id="686" r:id="rId6"/>
    <p:sldId id="687" r:id="rId7"/>
    <p:sldId id="723" r:id="rId8"/>
    <p:sldId id="691" r:id="rId9"/>
    <p:sldId id="692" r:id="rId10"/>
    <p:sldId id="693" r:id="rId11"/>
    <p:sldId id="694" r:id="rId12"/>
    <p:sldId id="729" r:id="rId13"/>
    <p:sldId id="724" r:id="rId14"/>
    <p:sldId id="713" r:id="rId15"/>
    <p:sldId id="696" r:id="rId16"/>
    <p:sldId id="730" r:id="rId17"/>
    <p:sldId id="732" r:id="rId18"/>
    <p:sldId id="734" r:id="rId19"/>
    <p:sldId id="735" r:id="rId20"/>
    <p:sldId id="725" r:id="rId21"/>
    <p:sldId id="710" r:id="rId22"/>
    <p:sldId id="728" r:id="rId23"/>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90" userDrawn="1">
          <p15:clr>
            <a:srgbClr val="A4A3A4"/>
          </p15:clr>
        </p15:guide>
        <p15:guide id="3"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D3D5FF"/>
    <a:srgbClr val="A7ABFF"/>
    <a:srgbClr val="C5C8FF"/>
    <a:srgbClr val="004376"/>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48" autoAdjust="0"/>
    <p:restoredTop sz="95565" autoAdjust="0"/>
  </p:normalViewPr>
  <p:slideViewPr>
    <p:cSldViewPr snapToGrid="0" snapToObjects="1">
      <p:cViewPr varScale="1">
        <p:scale>
          <a:sx n="123" d="100"/>
          <a:sy n="123" d="100"/>
        </p:scale>
        <p:origin x="714"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28"/>
        <p:guide pos="2190"/>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openxmlformats.org/officeDocument/2006/relationships/customXml" Target="../customXml/item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en-US" dirty="0"/>
          </a:p>
        </p:txBody>
      </p:sp>
      <p:sp>
        <p:nvSpPr>
          <p:cNvPr id="3" name="Date Placeholder 2"/>
          <p:cNvSpPr>
            <a:spLocks noGrp="1"/>
          </p:cNvSpPr>
          <p:nvPr>
            <p:ph type="dt" sz="quarter" idx="1"/>
          </p:nvPr>
        </p:nvSpPr>
        <p:spPr>
          <a:xfrm>
            <a:off x="3970940" y="2"/>
            <a:ext cx="3037840" cy="464820"/>
          </a:xfrm>
          <a:prstGeom prst="rect">
            <a:avLst/>
          </a:prstGeom>
        </p:spPr>
        <p:txBody>
          <a:bodyPr vert="horz" lIns="90577" tIns="45289" rIns="90577" bIns="45289"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8829968"/>
            <a:ext cx="3037840" cy="464820"/>
          </a:xfrm>
          <a:prstGeom prst="rect">
            <a:avLst/>
          </a:prstGeom>
        </p:spPr>
        <p:txBody>
          <a:bodyPr vert="horz" lIns="90577" tIns="45289" rIns="90577" bIns="452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0577" tIns="45289" rIns="90577" bIns="45289"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de-DE" dirty="0"/>
          </a:p>
        </p:txBody>
      </p:sp>
      <p:sp>
        <p:nvSpPr>
          <p:cNvPr id="3" name="Datumsplatzhalter 2"/>
          <p:cNvSpPr>
            <a:spLocks noGrp="1"/>
          </p:cNvSpPr>
          <p:nvPr>
            <p:ph type="dt" idx="1"/>
          </p:nvPr>
        </p:nvSpPr>
        <p:spPr>
          <a:xfrm>
            <a:off x="3970940" y="2"/>
            <a:ext cx="3037840" cy="464820"/>
          </a:xfrm>
          <a:prstGeom prst="rect">
            <a:avLst/>
          </a:prstGeom>
        </p:spPr>
        <p:txBody>
          <a:bodyPr vert="horz" lIns="90577" tIns="45289" rIns="90577" bIns="45289"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406400" y="695325"/>
            <a:ext cx="6197600" cy="3487738"/>
          </a:xfrm>
          <a:prstGeom prst="rect">
            <a:avLst/>
          </a:prstGeom>
          <a:noFill/>
          <a:ln w="12700">
            <a:solidFill>
              <a:prstClr val="black"/>
            </a:solidFill>
          </a:ln>
        </p:spPr>
        <p:txBody>
          <a:bodyPr vert="horz" lIns="90577" tIns="45289" rIns="90577" bIns="45289" rtlCol="0" anchor="ctr"/>
          <a:lstStyle/>
          <a:p>
            <a:endParaRPr lang="de-DE" dirty="0"/>
          </a:p>
        </p:txBody>
      </p:sp>
      <p:sp>
        <p:nvSpPr>
          <p:cNvPr id="5" name="Notizenplatzhalter 4"/>
          <p:cNvSpPr>
            <a:spLocks noGrp="1"/>
          </p:cNvSpPr>
          <p:nvPr>
            <p:ph type="body" sz="quarter" idx="3"/>
          </p:nvPr>
        </p:nvSpPr>
        <p:spPr>
          <a:xfrm>
            <a:off x="701041" y="4415790"/>
            <a:ext cx="5608320" cy="4183380"/>
          </a:xfrm>
          <a:prstGeom prst="rect">
            <a:avLst/>
          </a:prstGeom>
        </p:spPr>
        <p:txBody>
          <a:bodyPr vert="horz" lIns="90577" tIns="45289" rIns="90577" bIns="45289"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829968"/>
            <a:ext cx="3037840" cy="464820"/>
          </a:xfrm>
          <a:prstGeom prst="rect">
            <a:avLst/>
          </a:prstGeom>
        </p:spPr>
        <p:txBody>
          <a:bodyPr vert="horz" lIns="90577" tIns="45289" rIns="90577" bIns="45289" rtlCol="0" anchor="b"/>
          <a:lstStyle>
            <a:lvl1pPr algn="l">
              <a:defRPr sz="1200"/>
            </a:lvl1pPr>
          </a:lstStyle>
          <a:p>
            <a:endParaRPr lang="de-DE" dirty="0"/>
          </a:p>
        </p:txBody>
      </p:sp>
      <p:sp>
        <p:nvSpPr>
          <p:cNvPr id="7" name="Foliennummernplatzhalter 6"/>
          <p:cNvSpPr>
            <a:spLocks noGrp="1"/>
          </p:cNvSpPr>
          <p:nvPr>
            <p:ph type="sldNum" sz="quarter" idx="5"/>
          </p:nvPr>
        </p:nvSpPr>
        <p:spPr>
          <a:xfrm>
            <a:off x="3970940" y="8829968"/>
            <a:ext cx="3037840" cy="464820"/>
          </a:xfrm>
          <a:prstGeom prst="rect">
            <a:avLst/>
          </a:prstGeom>
        </p:spPr>
        <p:txBody>
          <a:bodyPr vert="horz" lIns="90577" tIns="45289" rIns="90577" bIns="45289"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10</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14</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4040163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16</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549830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17</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Achats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Traitement </a:t>
            </a:r>
            <a:r>
              <a:rPr lang="fr-FR" sz="2000" b="1" dirty="0" smtClean="0">
                <a:solidFill>
                  <a:srgbClr val="0070C0"/>
                </a:solidFill>
                <a:latin typeface="Arial" charset="0"/>
                <a:cs typeface="Arial" charset="0"/>
              </a:rPr>
              <a:t>des demandes d’achat</a:t>
            </a:r>
            <a:endParaRPr lang="fr-FR" sz="1800" dirty="0" smtClean="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créer une demande d’achat </a:t>
            </a:r>
            <a:endParaRPr lang="fr-FR" sz="900" dirty="0" smtClean="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a:t>
            </a:r>
            <a:r>
              <a:rPr lang="fr-FR" sz="900" dirty="0" smtClean="0">
                <a:solidFill>
                  <a:schemeClr val="tx1"/>
                </a:solidFill>
                <a:latin typeface="Arial" pitchFamily="34" charset="0"/>
                <a:cs typeface="Arial" pitchFamily="34" charset="0"/>
              </a:rPr>
              <a:t>afficher la liste des demandes d’achat</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Créer une demande d’achat </a:t>
            </a:r>
            <a:endParaRPr lang="fr-FR" sz="900" dirty="0" smtClean="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Rechercher </a:t>
            </a:r>
            <a:r>
              <a:rPr lang="fr-FR" sz="900" dirty="0" smtClean="0">
                <a:solidFill>
                  <a:schemeClr val="tx1"/>
                </a:solidFill>
                <a:latin typeface="Arial" pitchFamily="34" charset="0"/>
                <a:cs typeface="Arial" pitchFamily="34" charset="0"/>
              </a:rPr>
              <a:t>les Demandes d’Achat pour lesquelles un fournisseur n’est pas affecté</a:t>
            </a: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 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locaux</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Bureau des Achats Industriels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Outre-Mer</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Clients internes</a:t>
              </a:r>
              <a:endParaRPr lang="fr-FR" sz="900" dirty="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Le processus de création et de gestion des demandes d’achat s’inscrit dans le processus d’Achats Indirects. Il permet :</a:t>
            </a:r>
          </a:p>
          <a:p>
            <a:r>
              <a:rPr lang="fr-FR" b="1" dirty="0" smtClean="0">
                <a:solidFill>
                  <a:srgbClr val="0070C0"/>
                </a:solidFill>
              </a:rPr>
              <a:t>Pour les Achats</a:t>
            </a:r>
          </a:p>
          <a:p>
            <a:pPr marL="171450" indent="-171450">
              <a:buClr>
                <a:srgbClr val="0070C0"/>
              </a:buClr>
              <a:buSzPct val="100000"/>
              <a:buFont typeface="Arial" panose="020B0604020202020204" pitchFamily="34" charset="0"/>
              <a:buChar char="•"/>
            </a:pPr>
            <a:r>
              <a:rPr lang="fr-FR" dirty="0" smtClean="0"/>
              <a:t>De connaitre le besoin de ses clients internes en nouveaux produits ou services</a:t>
            </a:r>
          </a:p>
          <a:p>
            <a:pPr>
              <a:buClr>
                <a:srgbClr val="0070C0"/>
              </a:buClr>
              <a:buSzPct val="100000"/>
            </a:pPr>
            <a:r>
              <a:rPr lang="fr-FR" b="1" dirty="0" smtClean="0">
                <a:solidFill>
                  <a:srgbClr val="0070C0"/>
                </a:solidFill>
              </a:rPr>
              <a:t>Pour un client interne </a:t>
            </a:r>
          </a:p>
          <a:p>
            <a:pPr marL="171450" indent="-171450">
              <a:buClr>
                <a:srgbClr val="0070C0"/>
              </a:buClr>
              <a:buSzPct val="100000"/>
              <a:buFont typeface="Arial" panose="020B0604020202020204" pitchFamily="34" charset="0"/>
              <a:buChar char="•"/>
            </a:pPr>
            <a:r>
              <a:rPr lang="fr-FR" dirty="0" smtClean="0"/>
              <a:t>De pouvoir exprimer un besoin d’un produit ou d’un service</a:t>
            </a:r>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Demandes d’Achat</a:t>
            </a:r>
            <a:endParaRPr lang="en-US" altLang="en-US" dirty="0" smtClean="0"/>
          </a:p>
        </p:txBody>
      </p:sp>
      <p:sp>
        <p:nvSpPr>
          <p:cNvPr id="28675" name="Espace réservé du numéro de diapositive 3"/>
          <p:cNvSpPr>
            <a:spLocks noGrp="1"/>
          </p:cNvSpPr>
          <p:nvPr>
            <p:ph type="sldNum" sz="quarter" idx="4294967295"/>
          </p:nvPr>
        </p:nvSpPr>
        <p:spPr>
          <a:xfrm>
            <a:off x="7010400" y="4767263"/>
            <a:ext cx="2133600" cy="274637"/>
          </a:xfrm>
          <a:prstGeom prst="rect">
            <a:avLst/>
          </a:prstGeom>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B5E4A77F-B84E-41D2-B4CA-28AF5FFC85A6}" type="slidenum">
              <a:rPr lang="fr-FR" altLang="en-US" smtClean="0"/>
              <a:pPr/>
              <a:t>6</a:t>
            </a:fld>
            <a:endParaRPr lang="fr-FR" altLang="en-US"/>
          </a:p>
        </p:txBody>
      </p:sp>
      <p:sp>
        <p:nvSpPr>
          <p:cNvPr id="28678" name="AutoShape 6"/>
          <p:cNvSpPr>
            <a:spLocks noChangeArrowheads="1"/>
          </p:cNvSpPr>
          <p:nvPr/>
        </p:nvSpPr>
        <p:spPr bwMode="auto">
          <a:xfrm>
            <a:off x="1613861" y="1534837"/>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créer </a:t>
            </a:r>
            <a:r>
              <a:rPr lang="fr-FR" altLang="en-US" sz="1050" dirty="0" smtClean="0">
                <a:cs typeface="Arial" panose="020B0604020202020204" pitchFamily="34" charset="0"/>
              </a:rPr>
              <a:t>une demande d’achat </a:t>
            </a:r>
            <a:r>
              <a:rPr lang="fr-FR" altLang="en-US" sz="1050" dirty="0">
                <a:cs typeface="Arial" panose="020B0604020202020204" pitchFamily="34" charset="0"/>
              </a:rPr>
              <a:t>?</a:t>
            </a:r>
          </a:p>
        </p:txBody>
      </p:sp>
      <p:sp>
        <p:nvSpPr>
          <p:cNvPr id="28679" name="AutoShape 7"/>
          <p:cNvSpPr>
            <a:spLocks noChangeArrowheads="1"/>
          </p:cNvSpPr>
          <p:nvPr/>
        </p:nvSpPr>
        <p:spPr bwMode="auto">
          <a:xfrm>
            <a:off x="1613861" y="3595561"/>
            <a:ext cx="1647825"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a:t>
            </a:r>
            <a:r>
              <a:rPr lang="fr-FR" altLang="en-US" sz="1050" dirty="0" smtClean="0">
                <a:solidFill>
                  <a:schemeClr val="bg1"/>
                </a:solidFill>
                <a:cs typeface="Arial" panose="020B0604020202020204" pitchFamily="34" charset="0"/>
              </a:rPr>
              <a:t>une demande d’achat </a:t>
            </a:r>
            <a:r>
              <a:rPr lang="fr-FR" altLang="en-US" sz="1050" dirty="0">
                <a:solidFill>
                  <a:schemeClr val="bg1"/>
                </a:solidFill>
                <a:cs typeface="Arial" panose="020B0604020202020204" pitchFamily="34" charset="0"/>
              </a:rPr>
              <a:t>?</a:t>
            </a:r>
          </a:p>
        </p:txBody>
      </p:sp>
      <p:sp>
        <p:nvSpPr>
          <p:cNvPr id="28680" name="AutoShape 9"/>
          <p:cNvSpPr>
            <a:spLocks noChangeArrowheads="1"/>
          </p:cNvSpPr>
          <p:nvPr/>
        </p:nvSpPr>
        <p:spPr bwMode="auto">
          <a:xfrm>
            <a:off x="5155407" y="2618530"/>
            <a:ext cx="2166938" cy="299429"/>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Tout client interne</a:t>
            </a:r>
            <a:endParaRPr lang="fr-FR" altLang="en-US" sz="1050" dirty="0">
              <a:solidFill>
                <a:schemeClr val="bg1"/>
              </a:solidFill>
            </a:endParaRPr>
          </a:p>
        </p:txBody>
      </p:sp>
      <p:sp>
        <p:nvSpPr>
          <p:cNvPr id="28681" name="AutoShape 12"/>
          <p:cNvSpPr>
            <a:spLocks noChangeArrowheads="1"/>
          </p:cNvSpPr>
          <p:nvPr/>
        </p:nvSpPr>
        <p:spPr bwMode="auto">
          <a:xfrm>
            <a:off x="5155407" y="1476935"/>
            <a:ext cx="2701669" cy="656973"/>
          </a:xfrm>
          <a:prstGeom prst="wedgeRoundRectCallout">
            <a:avLst>
              <a:gd name="adj1" fmla="val -60434"/>
              <a:gd name="adj2" fmla="val 46405"/>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A chaque besoin d’achat d’un produit non géré par le réapprovisionnement ou pour l’achat d’un service</a:t>
            </a:r>
            <a:endParaRPr lang="fr-FR" altLang="en-US" sz="1050" dirty="0"/>
          </a:p>
        </p:txBody>
      </p:sp>
      <p:sp>
        <p:nvSpPr>
          <p:cNvPr id="28682" name="AutoShape 6"/>
          <p:cNvSpPr>
            <a:spLocks noChangeArrowheads="1"/>
          </p:cNvSpPr>
          <p:nvPr/>
        </p:nvSpPr>
        <p:spPr bwMode="auto">
          <a:xfrm>
            <a:off x="1739947" y="2394864"/>
            <a:ext cx="1151334" cy="656973"/>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créer </a:t>
            </a:r>
            <a:r>
              <a:rPr lang="fr-FR" altLang="en-US" sz="1050" dirty="0" smtClean="0">
                <a:solidFill>
                  <a:schemeClr val="bg1"/>
                </a:solidFill>
                <a:cs typeface="Arial" panose="020B0604020202020204" pitchFamily="34" charset="0"/>
              </a:rPr>
              <a:t>une demande d’achat </a:t>
            </a:r>
            <a:r>
              <a:rPr lang="fr-FR" altLang="en-US" sz="1050" dirty="0">
                <a:solidFill>
                  <a:schemeClr val="bg1"/>
                </a:solidFill>
                <a:cs typeface="Arial" panose="020B0604020202020204" pitchFamily="34" charset="0"/>
              </a:rPr>
              <a:t>?</a:t>
            </a:r>
          </a:p>
        </p:txBody>
      </p:sp>
      <p:sp>
        <p:nvSpPr>
          <p:cNvPr id="28685" name="AutoShape 10"/>
          <p:cNvSpPr>
            <a:spLocks noChangeArrowheads="1"/>
          </p:cNvSpPr>
          <p:nvPr/>
        </p:nvSpPr>
        <p:spPr bwMode="auto">
          <a:xfrm>
            <a:off x="5397949" y="3567184"/>
            <a:ext cx="2069652" cy="506578"/>
          </a:xfrm>
          <a:prstGeom prst="wedgeRoundRectCallout">
            <a:avLst>
              <a:gd name="adj1" fmla="val -70272"/>
              <a:gd name="adj2" fmla="val -6620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Le détail du besoin</a:t>
            </a:r>
          </a:p>
          <a:p>
            <a:pPr eaLnBrk="1" hangingPunct="1">
              <a:spcBef>
                <a:spcPts val="225"/>
              </a:spcBef>
              <a:buFont typeface="Arial" panose="020B0604020202020204" pitchFamily="34" charset="0"/>
              <a:buChar char="•"/>
            </a:pPr>
            <a:r>
              <a:rPr lang="fr-FR" altLang="en-US" sz="1050" dirty="0" smtClean="0">
                <a:solidFill>
                  <a:schemeClr val="bg1"/>
                </a:solidFill>
              </a:rPr>
              <a:t>La date de livraison</a:t>
            </a:r>
            <a:endParaRPr lang="fr-FR" altLang="en-US" sz="1050" dirty="0">
              <a:solidFill>
                <a:schemeClr val="bg1"/>
              </a:solidFill>
            </a:endParaRPr>
          </a:p>
        </p:txBody>
      </p:sp>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r>
              <a:rPr lang="fr-FR" altLang="en-US" dirty="0" smtClean="0"/>
              <a:t>Un sous processus de la gestion des demandes d’achat</a:t>
            </a:r>
            <a:endParaRPr lang="en-US" altLang="en-US" dirty="0" smtClean="0"/>
          </a:p>
        </p:txBody>
      </p:sp>
      <p:sp>
        <p:nvSpPr>
          <p:cNvPr id="29699" name="Espace réservé du numéro de diapositive 3"/>
          <p:cNvSpPr>
            <a:spLocks noGrp="1"/>
          </p:cNvSpPr>
          <p:nvPr>
            <p:ph type="sldNum" sz="quarter" idx="4294967295"/>
          </p:nvPr>
        </p:nvSpPr>
        <p:spPr>
          <a:xfrm>
            <a:off x="7010400" y="4767263"/>
            <a:ext cx="2133600" cy="274637"/>
          </a:xfrm>
          <a:prstGeom prst="rect">
            <a:avLst/>
          </a:prstGeom>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BAAEE032-D564-47BC-82B1-E2D835587CAA}" type="slidenum">
              <a:rPr lang="fr-FR" altLang="en-US" smtClean="0"/>
              <a:pPr/>
              <a:t>7</a:t>
            </a:fld>
            <a:endParaRPr lang="fr-FR" altLang="en-US"/>
          </a:p>
        </p:txBody>
      </p:sp>
      <p:sp>
        <p:nvSpPr>
          <p:cNvPr id="20" name="Rectangle à coins arrondis 19"/>
          <p:cNvSpPr/>
          <p:nvPr/>
        </p:nvSpPr>
        <p:spPr>
          <a:xfrm>
            <a:off x="4355243" y="1494414"/>
            <a:ext cx="2874704" cy="478201"/>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des </a:t>
            </a:r>
            <a:r>
              <a:rPr lang="fr-FR" sz="1050" dirty="0" smtClean="0">
                <a:solidFill>
                  <a:schemeClr val="bg1"/>
                </a:solidFill>
                <a:latin typeface="Arial" panose="020B0604020202020204" pitchFamily="34" charset="0"/>
                <a:ea typeface="ＭＳ Ｐゴシック" panose="020B0600070205080204" pitchFamily="34" charset="-128"/>
              </a:rPr>
              <a:t>demandes d’achat s’inscrit dans le Processus Achats Indirects</a:t>
            </a:r>
          </a:p>
        </p:txBody>
      </p:sp>
      <p:sp>
        <p:nvSpPr>
          <p:cNvPr id="65540" name="AutoShape 16"/>
          <p:cNvSpPr>
            <a:spLocks noChangeArrowheads="1"/>
          </p:cNvSpPr>
          <p:nvPr/>
        </p:nvSpPr>
        <p:spPr bwMode="auto">
          <a:xfrm>
            <a:off x="1663229" y="3777107"/>
            <a:ext cx="1237060" cy="400050"/>
          </a:xfrm>
          <a:prstGeom prst="homePlate">
            <a:avLst>
              <a:gd name="adj" fmla="val 28403"/>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defRPr/>
            </a:pPr>
            <a:r>
              <a:rPr lang="fr-FR" altLang="ko-KR" sz="800" b="1" dirty="0" smtClean="0">
                <a:solidFill>
                  <a:srgbClr val="FFFFFF"/>
                </a:solidFill>
                <a:latin typeface="Verdana" pitchFamily="34" charset="0"/>
                <a:ea typeface="ＭＳ Ｐゴシック"/>
                <a:cs typeface="Arial" pitchFamily="34" charset="0"/>
              </a:rPr>
              <a:t>Besoin </a:t>
            </a:r>
            <a:endParaRPr lang="fr-FR" altLang="ko-KR" sz="800" b="1" dirty="0">
              <a:solidFill>
                <a:srgbClr val="FFFFFF"/>
              </a:solidFill>
              <a:latin typeface="Verdana" pitchFamily="34" charset="0"/>
              <a:ea typeface="ＭＳ Ｐゴシック"/>
              <a:cs typeface="Arial" pitchFamily="34" charset="0"/>
            </a:endParaRPr>
          </a:p>
        </p:txBody>
      </p:sp>
      <p:sp>
        <p:nvSpPr>
          <p:cNvPr id="29701" name="AutoShape 17"/>
          <p:cNvSpPr>
            <a:spLocks noChangeArrowheads="1"/>
          </p:cNvSpPr>
          <p:nvPr/>
        </p:nvSpPr>
        <p:spPr bwMode="auto">
          <a:xfrm>
            <a:off x="2924655"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de la DA</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2" name="AutoShape 18"/>
          <p:cNvSpPr>
            <a:spLocks noChangeArrowheads="1"/>
          </p:cNvSpPr>
          <p:nvPr/>
        </p:nvSpPr>
        <p:spPr bwMode="auto">
          <a:xfrm>
            <a:off x="4186081" y="3777107"/>
            <a:ext cx="1235869" cy="400050"/>
          </a:xfrm>
          <a:prstGeom prst="chevron">
            <a:avLst>
              <a:gd name="adj" fmla="val 28676"/>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a:solidFill>
                  <a:srgbClr val="FFFFFF"/>
                </a:solidFill>
                <a:latin typeface="Verdana" pitchFamily="34" charset="0"/>
                <a:ea typeface="ＭＳ Ｐゴシック"/>
                <a:cs typeface="Arial" pitchFamily="34" charset="0"/>
              </a:rPr>
              <a:t>Validation de la DA</a:t>
            </a:r>
            <a:endParaRPr lang="fr-FR" altLang="ko-KR" sz="800" b="1" dirty="0">
              <a:solidFill>
                <a:srgbClr val="FFFFFF"/>
              </a:solidFill>
              <a:latin typeface="Verdana" pitchFamily="34" charset="0"/>
              <a:ea typeface="ＭＳ Ｐゴシック"/>
              <a:cs typeface="Arial" pitchFamily="34" charset="0"/>
            </a:endParaRPr>
          </a:p>
        </p:txBody>
      </p:sp>
      <p:sp>
        <p:nvSpPr>
          <p:cNvPr id="29703" name="AutoShape 19"/>
          <p:cNvSpPr>
            <a:spLocks noChangeArrowheads="1"/>
          </p:cNvSpPr>
          <p:nvPr/>
        </p:nvSpPr>
        <p:spPr bwMode="auto">
          <a:xfrm>
            <a:off x="5446316" y="3777107"/>
            <a:ext cx="1237060"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a:solidFill>
                  <a:srgbClr val="FFFFFF"/>
                </a:solidFill>
                <a:latin typeface="Verdana" pitchFamily="34" charset="0"/>
                <a:ea typeface="ＭＳ Ｐゴシック"/>
                <a:cs typeface="Arial" pitchFamily="34" charset="0"/>
              </a:rPr>
              <a:t>RFQ</a:t>
            </a:r>
          </a:p>
        </p:txBody>
      </p:sp>
      <p:sp>
        <p:nvSpPr>
          <p:cNvPr id="24" name="AutoShape 19"/>
          <p:cNvSpPr>
            <a:spLocks noChangeArrowheads="1"/>
          </p:cNvSpPr>
          <p:nvPr/>
        </p:nvSpPr>
        <p:spPr bwMode="auto">
          <a:xfrm>
            <a:off x="6707743" y="3777107"/>
            <a:ext cx="1237060"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a:solidFill>
                  <a:srgbClr val="FFFFFF"/>
                </a:solidFill>
                <a:latin typeface="Verdana" pitchFamily="34" charset="0"/>
                <a:ea typeface="ＭＳ Ｐゴシック"/>
                <a:cs typeface="Arial" pitchFamily="34" charset="0"/>
              </a:rPr>
              <a:t>Commande d’Achat</a:t>
            </a: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d’achats indirects Outre-Mer</a:t>
            </a:r>
            <a:endParaRPr lang="en-US" altLang="en-US" sz="2400" dirty="0" smtClean="0"/>
          </a:p>
        </p:txBody>
      </p:sp>
      <p:pic>
        <p:nvPicPr>
          <p:cNvPr id="6" name="Image 5"/>
          <p:cNvPicPr/>
          <p:nvPr/>
        </p:nvPicPr>
        <p:blipFill>
          <a:blip r:embed="rId2">
            <a:extLst>
              <a:ext uri="{28A0092B-C50C-407E-A947-70E740481C1C}">
                <a14:useLocalDpi xmlns:a14="http://schemas.microsoft.com/office/drawing/2010/main" val="0"/>
              </a:ext>
            </a:extLst>
          </a:blip>
          <a:srcRect/>
          <a:stretch>
            <a:fillRect/>
          </a:stretch>
        </p:blipFill>
        <p:spPr bwMode="auto">
          <a:xfrm>
            <a:off x="1239863" y="893144"/>
            <a:ext cx="6303937" cy="3500625"/>
          </a:xfrm>
          <a:prstGeom prst="rect">
            <a:avLst/>
          </a:prstGeom>
          <a:noFill/>
        </p:spPr>
      </p:pic>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d’achats indirects locaux</a:t>
            </a:r>
            <a:endParaRPr lang="en-US" altLang="en-US" sz="2400" dirty="0" smtClean="0"/>
          </a:p>
        </p:txBody>
      </p:sp>
      <p:pic>
        <p:nvPicPr>
          <p:cNvPr id="5" name="Image 4"/>
          <p:cNvPicPr/>
          <p:nvPr/>
        </p:nvPicPr>
        <p:blipFill>
          <a:blip r:embed="rId2">
            <a:extLst>
              <a:ext uri="{28A0092B-C50C-407E-A947-70E740481C1C}">
                <a14:useLocalDpi xmlns:a14="http://schemas.microsoft.com/office/drawing/2010/main" val="0"/>
              </a:ext>
            </a:extLst>
          </a:blip>
          <a:srcRect/>
          <a:stretch>
            <a:fillRect/>
          </a:stretch>
        </p:blipFill>
        <p:spPr bwMode="auto">
          <a:xfrm>
            <a:off x="1401732" y="864219"/>
            <a:ext cx="6340535" cy="3903044"/>
          </a:xfrm>
          <a:prstGeom prst="rect">
            <a:avLst/>
          </a:prstGeom>
          <a:noFill/>
        </p:spPr>
      </p:pic>
    </p:spTree>
    <p:extLst>
      <p:ext uri="{BB962C8B-B14F-4D97-AF65-F5344CB8AC3E}">
        <p14:creationId xmlns:p14="http://schemas.microsoft.com/office/powerpoint/2010/main" val="404538772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2"/>
            <a:ext cx="6172200" cy="497306"/>
          </a:xfrm>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Une Demande d’Achats (DA) SAP représente l’expression d’un besoin par un client interne, ce besoin devant être approvisionné depuis un fournisseur externe à la CBG.</a:t>
            </a: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Parmi les informations que l’on retrouve dans une DA, nous avons :</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 Code article et/ou une désignation</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quantité</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date de livraison souhaitée</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 groupe de marchandises</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valorisation estimée (si non codifié) ou le Prix Moyen Pondéré</a:t>
            </a:r>
            <a:endParaRPr lang="fr-FR" altLang="en-US" sz="1100" dirty="0">
              <a:latin typeface="Arial" panose="020B0604020202020204" pitchFamily="34" charset="0"/>
              <a:ea typeface="ＭＳ Ｐゴシック" panose="020B0600070205080204" pitchFamily="34" charset="-128"/>
              <a:cs typeface="Arial" panose="020B0604020202020204" pitchFamily="34" charset="0"/>
            </a:endParaRPr>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Demande d’Achats</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543638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49" name="Groupe 48"/>
          <p:cNvGrpSpPr/>
          <p:nvPr/>
        </p:nvGrpSpPr>
        <p:grpSpPr>
          <a:xfrm>
            <a:off x="2854568" y="1434708"/>
            <a:ext cx="1469458" cy="991259"/>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Création d’une demande d’achat à un fournisseur local</a:t>
              </a:r>
              <a:endParaRPr lang="en-US" sz="800" dirty="0">
                <a:solidFill>
                  <a:schemeClr val="bg1"/>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schemeClr val="bg1"/>
                  </a:solidFill>
                  <a:latin typeface="Arial" panose="020B0604020202020204" pitchFamily="34" charset="0"/>
                  <a:cs typeface="Arial" panose="020B0604020202020204" pitchFamily="34" charset="0"/>
                </a:rPr>
                <a:t>ME51N</a:t>
              </a:r>
              <a:endParaRPr lang="en-US" sz="8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Client interne</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39" name="Groupe 38"/>
          <p:cNvGrpSpPr/>
          <p:nvPr/>
        </p:nvGrpSpPr>
        <p:grpSpPr>
          <a:xfrm>
            <a:off x="2854568" y="2760221"/>
            <a:ext cx="1469458" cy="991259"/>
            <a:chOff x="1507778" y="2276353"/>
            <a:chExt cx="1258269" cy="754857"/>
          </a:xfrm>
        </p:grpSpPr>
        <p:sp>
          <p:nvSpPr>
            <p:cNvPr id="40" name="Rectangle 39"/>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Création d’une demande d’achat à un fournisseur Outre-Mer</a:t>
              </a:r>
              <a:endParaRPr lang="en-US" sz="800" dirty="0">
                <a:solidFill>
                  <a:schemeClr val="bg1"/>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a:solidFill>
                    <a:schemeClr val="bg1"/>
                  </a:solidFill>
                  <a:latin typeface="Arial" panose="020B0604020202020204" pitchFamily="34" charset="0"/>
                  <a:cs typeface="Arial" panose="020B0604020202020204" pitchFamily="34" charset="0"/>
                </a:rPr>
                <a:t>ME51N</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Client interne</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5114738" y="2104229"/>
            <a:ext cx="1469458" cy="991259"/>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Affichage des demandes d’achat</a:t>
              </a:r>
              <a:endParaRPr lang="en-US" sz="800" dirty="0">
                <a:solidFill>
                  <a:schemeClr val="bg1"/>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ME5A</a:t>
              </a:r>
              <a:endParaRPr lang="en-US" sz="800" b="1" dirty="0">
                <a:solidFill>
                  <a:schemeClr val="bg1"/>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6" name="Connecteur en angle 5"/>
          <p:cNvCxnSpPr>
            <a:stCxn id="12" idx="3"/>
            <a:endCxn id="50" idx="1"/>
          </p:cNvCxnSpPr>
          <p:nvPr/>
        </p:nvCxnSpPr>
        <p:spPr>
          <a:xfrm>
            <a:off x="4324026" y="2001477"/>
            <a:ext cx="790712" cy="669521"/>
          </a:xfrm>
          <a:prstGeom prst="bentConnector3">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 name="Connecteur en angle 9"/>
          <p:cNvCxnSpPr>
            <a:stCxn id="41" idx="3"/>
            <a:endCxn id="50" idx="1"/>
          </p:cNvCxnSpPr>
          <p:nvPr/>
        </p:nvCxnSpPr>
        <p:spPr>
          <a:xfrm flipV="1">
            <a:off x="4324026" y="2670998"/>
            <a:ext cx="790712" cy="655992"/>
          </a:xfrm>
          <a:prstGeom prst="bentConnector3">
            <a:avLst/>
          </a:prstGeom>
          <a:ln w="12700">
            <a:solidFill>
              <a:srgbClr val="4F81BD"/>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ME51N </a:t>
            </a:r>
            <a:r>
              <a:rPr lang="fr-FR" altLang="en-US" dirty="0"/>
              <a:t>- Créer </a:t>
            </a:r>
            <a:r>
              <a:rPr lang="fr-FR" altLang="en-US" dirty="0" smtClean="0"/>
              <a:t>une demande </a:t>
            </a:r>
            <a:r>
              <a:rPr lang="fr-FR" altLang="en-US" dirty="0" smtClean="0"/>
              <a:t>d’achat</a:t>
            </a:r>
            <a:endParaRPr lang="en-US" dirty="0"/>
          </a:p>
        </p:txBody>
      </p:sp>
      <p:pic>
        <p:nvPicPr>
          <p:cNvPr id="4" name="Image 3"/>
          <p:cNvPicPr>
            <a:picLocks noChangeAspect="1"/>
          </p:cNvPicPr>
          <p:nvPr/>
        </p:nvPicPr>
        <p:blipFill>
          <a:blip r:embed="rId2"/>
          <a:stretch>
            <a:fillRect/>
          </a:stretch>
        </p:blipFill>
        <p:spPr>
          <a:xfrm>
            <a:off x="3091914" y="1240512"/>
            <a:ext cx="5594886" cy="1498744"/>
          </a:xfrm>
          <a:prstGeom prst="rect">
            <a:avLst/>
          </a:prstGeom>
          <a:ln>
            <a:solidFill>
              <a:schemeClr val="tx1"/>
            </a:solidFill>
          </a:ln>
          <a:effectLst>
            <a:outerShdw blurRad="50800" dist="38100" dir="2700000" algn="tl" rotWithShape="0">
              <a:prstClr val="black">
                <a:alpha val="40000"/>
              </a:prstClr>
            </a:outerShdw>
          </a:effectLst>
        </p:spPr>
      </p:pic>
      <p:grpSp>
        <p:nvGrpSpPr>
          <p:cNvPr id="5" name="Groupe 4"/>
          <p:cNvGrpSpPr/>
          <p:nvPr/>
        </p:nvGrpSpPr>
        <p:grpSpPr>
          <a:xfrm>
            <a:off x="457200" y="1509948"/>
            <a:ext cx="4105529" cy="3046988"/>
            <a:chOff x="425491" y="1232489"/>
            <a:chExt cx="4105529" cy="3046988"/>
          </a:xfrm>
        </p:grpSpPr>
        <p:sp>
          <p:nvSpPr>
            <p:cNvPr id="6" name="ZoneTexte 5"/>
            <p:cNvSpPr txBox="1"/>
            <p:nvPr/>
          </p:nvSpPr>
          <p:spPr>
            <a:xfrm>
              <a:off x="581025" y="1232489"/>
              <a:ext cx="3949995" cy="3046988"/>
            </a:xfrm>
            <a:prstGeom prst="rect">
              <a:avLst/>
            </a:prstGeom>
            <a:noFill/>
          </p:spPr>
          <p:txBody>
            <a:bodyPr wrap="square" rtlCol="0">
              <a:spAutoFit/>
            </a:bodyPr>
            <a:lstStyle/>
            <a:p>
              <a:r>
                <a:rPr lang="fr-FR" sz="1200" dirty="0" smtClean="0">
                  <a:solidFill>
                    <a:srgbClr val="4D4F53"/>
                  </a:solidFill>
                </a:rPr>
                <a:t>Saisir </a:t>
              </a:r>
              <a:r>
                <a:rPr lang="fr-FR" sz="1200" dirty="0">
                  <a:solidFill>
                    <a:srgbClr val="4D4F53"/>
                  </a:solidFill>
                </a:rPr>
                <a:t>le &lt;&lt;Type de DA =  </a:t>
              </a:r>
              <a:r>
                <a:rPr lang="fr-FR" sz="1200" dirty="0" smtClean="0">
                  <a:solidFill>
                    <a:srgbClr val="4D4F53"/>
                  </a:solidFill>
                </a:rPr>
                <a:t>ZDIR&gt;&gt;</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Entrer un Article </a:t>
              </a:r>
            </a:p>
            <a:p>
              <a:endParaRPr lang="fr-FR" sz="1200" dirty="0">
                <a:solidFill>
                  <a:srgbClr val="4D4F53"/>
                </a:solidFill>
              </a:endParaRPr>
            </a:p>
            <a:p>
              <a:r>
                <a:rPr lang="fr-FR" sz="1200" dirty="0" smtClean="0">
                  <a:solidFill>
                    <a:srgbClr val="4D4F53"/>
                  </a:solidFill>
                </a:rPr>
                <a:t>Entrer la Quantité </a:t>
              </a:r>
            </a:p>
            <a:p>
              <a:endParaRPr lang="fr-FR" sz="1200" dirty="0">
                <a:solidFill>
                  <a:srgbClr val="4D4F53"/>
                </a:solidFill>
              </a:endParaRPr>
            </a:p>
            <a:p>
              <a:r>
                <a:rPr lang="fr-FR" sz="1200" dirty="0" smtClean="0">
                  <a:solidFill>
                    <a:srgbClr val="4D4F53"/>
                  </a:solidFill>
                </a:rPr>
                <a:t>Entrer la Division </a:t>
              </a:r>
            </a:p>
            <a:p>
              <a:endParaRPr lang="fr-FR" sz="1200" dirty="0">
                <a:solidFill>
                  <a:srgbClr val="4D4F53"/>
                </a:solidFill>
              </a:endParaRPr>
            </a:p>
            <a:p>
              <a:r>
                <a:rPr lang="fr-FR" sz="1200" dirty="0" smtClean="0">
                  <a:solidFill>
                    <a:srgbClr val="4D4F53"/>
                  </a:solidFill>
                </a:rPr>
                <a:t>Entrer la Date </a:t>
              </a:r>
              <a:r>
                <a:rPr lang="fr-FR" sz="1200" dirty="0">
                  <a:solidFill>
                    <a:srgbClr val="4D4F53"/>
                  </a:solidFill>
                </a:rPr>
                <a:t>de </a:t>
              </a:r>
              <a:r>
                <a:rPr lang="fr-FR" sz="1200" dirty="0" smtClean="0">
                  <a:solidFill>
                    <a:srgbClr val="4D4F53"/>
                  </a:solidFill>
                </a:rPr>
                <a:t>livraison</a:t>
              </a:r>
              <a:r>
                <a:rPr lang="fr-FR" sz="1200" dirty="0">
                  <a:solidFill>
                    <a:srgbClr val="4D4F53"/>
                  </a:solidFill>
                </a:rPr>
                <a:t> </a:t>
              </a:r>
              <a:endParaRPr lang="fr-FR" sz="1200" dirty="0" smtClean="0">
                <a:solidFill>
                  <a:srgbClr val="4D4F53"/>
                </a:solidFill>
              </a:endParaRPr>
            </a:p>
            <a:p>
              <a:endParaRPr lang="fr-FR" sz="1200" dirty="0">
                <a:solidFill>
                  <a:srgbClr val="4D4F53"/>
                </a:solidFill>
              </a:endParaRPr>
            </a:p>
            <a:p>
              <a:r>
                <a:rPr lang="fr-FR" sz="1200" dirty="0">
                  <a:solidFill>
                    <a:srgbClr val="4D4F53"/>
                  </a:solidFill>
                </a:rPr>
                <a:t>Appuyer sur entrée : le magasin de réception et le groupe d'acheteur sont proposés par défaut (depuis la fiche </a:t>
              </a:r>
              <a:r>
                <a:rPr lang="fr-FR" sz="1200" dirty="0" smtClean="0">
                  <a:solidFill>
                    <a:srgbClr val="4D4F53"/>
                  </a:solidFill>
                </a:rPr>
                <a:t>article)</a:t>
              </a:r>
            </a:p>
            <a:p>
              <a:endParaRPr lang="fr-FR" sz="1200" dirty="0">
                <a:solidFill>
                  <a:srgbClr val="4D4F53"/>
                </a:solidFill>
              </a:endParaRPr>
            </a:p>
            <a:p>
              <a:r>
                <a:rPr lang="fr-FR" sz="1200" dirty="0" smtClean="0">
                  <a:solidFill>
                    <a:srgbClr val="4D4F53"/>
                  </a:solidFill>
                </a:rPr>
                <a:t>Contrôler en appuyant sur</a:t>
              </a:r>
            </a:p>
            <a:p>
              <a:endParaRPr lang="fr-FR" sz="1200" dirty="0">
                <a:solidFill>
                  <a:srgbClr val="4D4F53"/>
                </a:solidFill>
              </a:endParaRPr>
            </a:p>
            <a:p>
              <a:r>
                <a:rPr lang="fr-FR" sz="1200" dirty="0" smtClean="0">
                  <a:solidFill>
                    <a:srgbClr val="4D4F53"/>
                  </a:solidFill>
                </a:rPr>
                <a:t>Sauvegarder </a:t>
              </a:r>
              <a:r>
                <a:rPr lang="fr-FR" sz="1200" dirty="0" smtClean="0">
                  <a:solidFill>
                    <a:srgbClr val="4D4F53"/>
                  </a:solidFill>
                </a:rPr>
                <a:t>avec l’icône       </a:t>
              </a:r>
              <a:r>
                <a:rPr lang="fr-FR" sz="1200" dirty="0" smtClean="0">
                  <a:solidFill>
                    <a:srgbClr val="4D4F53"/>
                  </a:solidFill>
                </a:rPr>
                <a:t>: un message </a:t>
              </a:r>
              <a:r>
                <a:rPr lang="fr-FR" sz="1200" dirty="0" smtClean="0">
                  <a:solidFill>
                    <a:srgbClr val="4D4F53"/>
                  </a:solidFill>
                </a:rPr>
                <a:t>apparait</a:t>
              </a:r>
              <a:endParaRPr lang="fr-FR" sz="1200" dirty="0">
                <a:solidFill>
                  <a:srgbClr val="4D4F53"/>
                </a:solidFill>
              </a:endParaRPr>
            </a:p>
          </p:txBody>
        </p:sp>
        <p:sp>
          <p:nvSpPr>
            <p:cNvPr id="8" name="Ellipse 7"/>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9" name="Ellipse 8"/>
            <p:cNvSpPr/>
            <p:nvPr/>
          </p:nvSpPr>
          <p:spPr>
            <a:xfrm>
              <a:off x="425491" y="16790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 name="Ellipse 9"/>
            <p:cNvSpPr/>
            <p:nvPr/>
          </p:nvSpPr>
          <p:spPr>
            <a:xfrm>
              <a:off x="425491" y="20403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1" name="Ellipse 10"/>
            <p:cNvSpPr/>
            <p:nvPr/>
          </p:nvSpPr>
          <p:spPr>
            <a:xfrm>
              <a:off x="425491" y="24015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5491" y="276487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14" name="Ellipse 13"/>
            <p:cNvSpPr/>
            <p:nvPr/>
          </p:nvSpPr>
          <p:spPr>
            <a:xfrm>
              <a:off x="425491" y="312609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23" name="Ellipse 22"/>
            <p:cNvSpPr/>
            <p:nvPr/>
          </p:nvSpPr>
          <p:spPr>
            <a:xfrm>
              <a:off x="425491" y="36603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2" name="Ellipse 41"/>
            <p:cNvSpPr/>
            <p:nvPr/>
          </p:nvSpPr>
          <p:spPr>
            <a:xfrm>
              <a:off x="425491" y="40245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grpSp>
      <p:pic>
        <p:nvPicPr>
          <p:cNvPr id="12" name="Image 11"/>
          <p:cNvPicPr>
            <a:picLocks noChangeAspect="1"/>
          </p:cNvPicPr>
          <p:nvPr/>
        </p:nvPicPr>
        <p:blipFill>
          <a:blip r:embed="rId3"/>
          <a:stretch>
            <a:fillRect/>
          </a:stretch>
        </p:blipFill>
        <p:spPr>
          <a:xfrm>
            <a:off x="2391463" y="3937838"/>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24" name="Rectangle 23"/>
          <p:cNvSpPr/>
          <p:nvPr/>
        </p:nvSpPr>
        <p:spPr>
          <a:xfrm>
            <a:off x="4816900" y="1713073"/>
            <a:ext cx="204551" cy="1453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5" name="Rectangle 24"/>
          <p:cNvSpPr/>
          <p:nvPr/>
        </p:nvSpPr>
        <p:spPr>
          <a:xfrm>
            <a:off x="4413943" y="1252026"/>
            <a:ext cx="204551" cy="1453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6" name="Rectangle 25"/>
          <p:cNvSpPr/>
          <p:nvPr/>
        </p:nvSpPr>
        <p:spPr>
          <a:xfrm>
            <a:off x="4193893" y="2502738"/>
            <a:ext cx="641577" cy="1397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Rectangle 26"/>
          <p:cNvSpPr/>
          <p:nvPr/>
        </p:nvSpPr>
        <p:spPr>
          <a:xfrm>
            <a:off x="5826694" y="2512832"/>
            <a:ext cx="341632" cy="1296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Rectangle 27"/>
          <p:cNvSpPr/>
          <p:nvPr/>
        </p:nvSpPr>
        <p:spPr>
          <a:xfrm>
            <a:off x="7528925" y="2507784"/>
            <a:ext cx="506946" cy="1296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9" name="Rectangle 28"/>
          <p:cNvSpPr/>
          <p:nvPr/>
        </p:nvSpPr>
        <p:spPr>
          <a:xfrm>
            <a:off x="6449210" y="2518354"/>
            <a:ext cx="506946" cy="1296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0" name="Image 29"/>
          <p:cNvPicPr>
            <a:picLocks noChangeAspect="1"/>
          </p:cNvPicPr>
          <p:nvPr/>
        </p:nvPicPr>
        <p:blipFill>
          <a:blip r:embed="rId4"/>
          <a:stretch>
            <a:fillRect/>
          </a:stretch>
        </p:blipFill>
        <p:spPr>
          <a:xfrm>
            <a:off x="4809151" y="3211817"/>
            <a:ext cx="2771775" cy="219075"/>
          </a:xfrm>
          <a:prstGeom prst="rect">
            <a:avLst/>
          </a:prstGeom>
        </p:spPr>
      </p:pic>
      <p:cxnSp>
        <p:nvCxnSpPr>
          <p:cNvPr id="32" name="Connecteur en angle 31"/>
          <p:cNvCxnSpPr>
            <a:endCxn id="30" idx="0"/>
          </p:cNvCxnSpPr>
          <p:nvPr/>
        </p:nvCxnSpPr>
        <p:spPr>
          <a:xfrm rot="16200000" flipH="1">
            <a:off x="4447626" y="1464404"/>
            <a:ext cx="1814468" cy="1680358"/>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811328" y="3221181"/>
            <a:ext cx="2717597" cy="20196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Ellipse 33"/>
          <p:cNvSpPr/>
          <p:nvPr/>
        </p:nvSpPr>
        <p:spPr>
          <a:xfrm>
            <a:off x="4133815" y="191259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5" name="Ellipse 34"/>
          <p:cNvSpPr/>
          <p:nvPr/>
        </p:nvSpPr>
        <p:spPr>
          <a:xfrm>
            <a:off x="4728351" y="248226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6" name="Ellipse 35"/>
          <p:cNvSpPr/>
          <p:nvPr/>
        </p:nvSpPr>
        <p:spPr>
          <a:xfrm>
            <a:off x="5748626" y="24953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7" name="Ellipse 36"/>
          <p:cNvSpPr/>
          <p:nvPr/>
        </p:nvSpPr>
        <p:spPr>
          <a:xfrm>
            <a:off x="7957803" y="24953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8" name="Ellipse 37"/>
          <p:cNvSpPr/>
          <p:nvPr/>
        </p:nvSpPr>
        <p:spPr>
          <a:xfrm>
            <a:off x="6913652" y="24878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39" name="Ellipse 38"/>
          <p:cNvSpPr/>
          <p:nvPr/>
        </p:nvSpPr>
        <p:spPr>
          <a:xfrm>
            <a:off x="8587480" y="240166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0" name="Ellipse 39"/>
          <p:cNvSpPr/>
          <p:nvPr/>
        </p:nvSpPr>
        <p:spPr>
          <a:xfrm>
            <a:off x="4358545" y="116721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1" name="Rectangle 40"/>
          <p:cNvSpPr/>
          <p:nvPr/>
        </p:nvSpPr>
        <p:spPr>
          <a:xfrm>
            <a:off x="3320573" y="1956122"/>
            <a:ext cx="873320"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3" name="Rectangle 42"/>
          <p:cNvSpPr/>
          <p:nvPr/>
        </p:nvSpPr>
        <p:spPr>
          <a:xfrm>
            <a:off x="8035871" y="2515597"/>
            <a:ext cx="637746" cy="12124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4" name="Ellipse 43"/>
          <p:cNvSpPr/>
          <p:nvPr/>
        </p:nvSpPr>
        <p:spPr>
          <a:xfrm>
            <a:off x="4733260" y="161926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pic>
        <p:nvPicPr>
          <p:cNvPr id="45" name="Image 44"/>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277202" y="4326336"/>
            <a:ext cx="145257" cy="142875"/>
          </a:xfrm>
          <a:prstGeom prst="rect">
            <a:avLst/>
          </a:prstGeom>
        </p:spPr>
      </p:pic>
    </p:spTree>
    <p:extLst>
      <p:ext uri="{BB962C8B-B14F-4D97-AF65-F5344CB8AC3E}">
        <p14:creationId xmlns:p14="http://schemas.microsoft.com/office/powerpoint/2010/main" val="39767687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774803" y="205978"/>
            <a:ext cx="3557833" cy="523220"/>
          </a:xfrm>
          <a:prstGeom prst="rect">
            <a:avLst/>
          </a:prstGeom>
          <a:noFill/>
        </p:spPr>
        <p:txBody>
          <a:bodyPr wrap="square" rtlCol="0">
            <a:spAutoFit/>
          </a:bodyPr>
          <a:lstStyle/>
          <a:p>
            <a:pPr algn="ctr"/>
            <a:r>
              <a:rPr lang="en-US" sz="2800" b="1" dirty="0" err="1">
                <a:solidFill>
                  <a:srgbClr val="4F81BD"/>
                </a:solidFill>
              </a:rPr>
              <a:t>Exercice</a:t>
            </a:r>
            <a:r>
              <a:rPr lang="en-US" sz="2800" b="1" dirty="0">
                <a:solidFill>
                  <a:srgbClr val="4F81BD"/>
                </a:solidFill>
              </a:rPr>
              <a:t> </a:t>
            </a:r>
            <a:r>
              <a:rPr lang="en-US" sz="2800" b="1" dirty="0" err="1" smtClean="0">
                <a:solidFill>
                  <a:srgbClr val="4F81BD"/>
                </a:solidFill>
              </a:rPr>
              <a:t>en</a:t>
            </a:r>
            <a:r>
              <a:rPr lang="en-US" sz="2800" b="1" dirty="0" smtClean="0">
                <a:solidFill>
                  <a:srgbClr val="4F81BD"/>
                </a:solidFill>
              </a:rPr>
              <a:t> </a:t>
            </a:r>
            <a:r>
              <a:rPr lang="en-US" sz="2800" b="1" dirty="0" err="1" smtClean="0">
                <a:solidFill>
                  <a:srgbClr val="4F81BD"/>
                </a:solidFill>
              </a:rPr>
              <a:t>autonomie</a:t>
            </a:r>
            <a:endParaRPr lang="en-US" sz="2800" b="1" dirty="0">
              <a:solidFill>
                <a:srgbClr val="4F81BD"/>
              </a:solidFill>
            </a:endParaRPr>
          </a:p>
        </p:txBody>
      </p:sp>
      <p:pic>
        <p:nvPicPr>
          <p:cNvPr id="35841" name="Image 358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92083" y="2749116"/>
            <a:ext cx="1719245" cy="1719245"/>
          </a:xfrm>
          <a:prstGeom prst="rect">
            <a:avLst/>
          </a:prstGeom>
        </p:spPr>
      </p:pic>
      <p:grpSp>
        <p:nvGrpSpPr>
          <p:cNvPr id="35844" name="Groupe 35843"/>
          <p:cNvGrpSpPr/>
          <p:nvPr/>
        </p:nvGrpSpPr>
        <p:grpSpPr>
          <a:xfrm>
            <a:off x="5174456" y="205978"/>
            <a:ext cx="3680275" cy="4299347"/>
            <a:chOff x="5174456" y="205978"/>
            <a:chExt cx="3680275" cy="4299347"/>
          </a:xfrm>
        </p:grpSpPr>
        <p:grpSp>
          <p:nvGrpSpPr>
            <p:cNvPr id="2" name="Groupe 1"/>
            <p:cNvGrpSpPr/>
            <p:nvPr/>
          </p:nvGrpSpPr>
          <p:grpSpPr>
            <a:xfrm>
              <a:off x="5174456" y="205978"/>
              <a:ext cx="3680275" cy="4299347"/>
              <a:chOff x="3707606" y="205978"/>
              <a:chExt cx="4105275" cy="4795838"/>
            </a:xfrm>
          </p:grpSpPr>
          <p:sp>
            <p:nvSpPr>
              <p:cNvPr id="6" name="Rectangle 5"/>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8" name="Connecteur droit 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Connecteur droit 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Connecteur droit 1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3" name="Connecteur droit 1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Connecteur droit 1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Connecteur droit 1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8" name="Connecteur droit 1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9" name="Connecteur droit 1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1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Connecteur droit 2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3" name="Connecteur droit 2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4" name="Connecteur droit 2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Connecteur droit 2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Connecteur droit 2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Connecteur droit 2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Connecteur droit 2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Connecteur droit 31"/>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Connecteur droit 32"/>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46" name="Image 45"/>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4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
        <p:nvSpPr>
          <p:cNvPr id="31" name="Text Box 3"/>
          <p:cNvSpPr txBox="1">
            <a:spLocks noChangeArrowheads="1"/>
          </p:cNvSpPr>
          <p:nvPr/>
        </p:nvSpPr>
        <p:spPr bwMode="auto">
          <a:xfrm>
            <a:off x="954960" y="1043860"/>
            <a:ext cx="3197518" cy="299410"/>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a:solidFill>
                  <a:srgbClr val="4F81BD"/>
                </a:solidFill>
                <a:latin typeface="Arial Narrow" pitchFamily="34" charset="0"/>
                <a:ea typeface="ＭＳ Ｐゴシック"/>
                <a:cs typeface="ＭＳ Ｐゴシック"/>
              </a:rPr>
              <a:t>Créer une demande </a:t>
            </a:r>
            <a:r>
              <a:rPr lang="fr-FR" sz="1350" dirty="0" smtClean="0">
                <a:solidFill>
                  <a:srgbClr val="4F81BD"/>
                </a:solidFill>
                <a:latin typeface="Arial Narrow" pitchFamily="34" charset="0"/>
                <a:ea typeface="ＭＳ Ｐゴシック"/>
                <a:cs typeface="ＭＳ Ｐゴシック"/>
              </a:rPr>
              <a:t>d’achat</a:t>
            </a:r>
            <a:endParaRPr lang="fr-FR" sz="1350" dirty="0" smtClean="0">
              <a:solidFill>
                <a:srgbClr val="4F81BD"/>
              </a:solidFill>
              <a:latin typeface="Arial Narrow" pitchFamily="34" charset="0"/>
              <a:ea typeface="ＭＳ Ｐゴシック"/>
              <a:cs typeface="ＭＳ Ｐゴシック"/>
            </a:endParaRPr>
          </a:p>
        </p:txBody>
      </p:sp>
    </p:spTree>
    <p:extLst>
      <p:ext uri="{BB962C8B-B14F-4D97-AF65-F5344CB8AC3E}">
        <p14:creationId xmlns:p14="http://schemas.microsoft.com/office/powerpoint/2010/main" val="15633091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457200" y="206375"/>
            <a:ext cx="8229600" cy="857250"/>
          </a:xfrm>
          <a:prstGeom prst="rect">
            <a:avLst/>
          </a:prstGeom>
        </p:spPr>
        <p:txBody>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altLang="en-US" sz="2400" dirty="0" smtClean="0"/>
              <a:t>Mode opératoire</a:t>
            </a:r>
            <a:br>
              <a:rPr lang="fr-FR" altLang="en-US" sz="2400" dirty="0" smtClean="0"/>
            </a:br>
            <a:r>
              <a:rPr lang="fr-FR" altLang="en-US" dirty="0" smtClean="0"/>
              <a:t>ME5A – Afficher les demandes d’achat</a:t>
            </a:r>
            <a:endParaRPr lang="fr-FR" dirty="0"/>
          </a:p>
        </p:txBody>
      </p:sp>
      <p:grpSp>
        <p:nvGrpSpPr>
          <p:cNvPr id="4" name="Groupe 3"/>
          <p:cNvGrpSpPr/>
          <p:nvPr/>
        </p:nvGrpSpPr>
        <p:grpSpPr>
          <a:xfrm>
            <a:off x="457200" y="959759"/>
            <a:ext cx="4106131" cy="1200329"/>
            <a:chOff x="425491" y="1232489"/>
            <a:chExt cx="4106131" cy="1200329"/>
          </a:xfrm>
        </p:grpSpPr>
        <p:sp>
          <p:nvSpPr>
            <p:cNvPr id="5" name="ZoneTexte 4"/>
            <p:cNvSpPr txBox="1"/>
            <p:nvPr/>
          </p:nvSpPr>
          <p:spPr>
            <a:xfrm>
              <a:off x="581627" y="1232489"/>
              <a:ext cx="3949995" cy="1200329"/>
            </a:xfrm>
            <a:prstGeom prst="rect">
              <a:avLst/>
            </a:prstGeom>
            <a:noFill/>
          </p:spPr>
          <p:txBody>
            <a:bodyPr wrap="square" rtlCol="0">
              <a:spAutoFit/>
            </a:bodyPr>
            <a:lstStyle/>
            <a:p>
              <a:r>
                <a:rPr lang="fr-FR" sz="1200" dirty="0" smtClean="0">
                  <a:solidFill>
                    <a:srgbClr val="4D4F53"/>
                  </a:solidFill>
                </a:rPr>
                <a:t>Saisir le Groupe d’acheteurs</a:t>
              </a:r>
            </a:p>
            <a:p>
              <a:endParaRPr lang="fr-FR" sz="1200" dirty="0">
                <a:solidFill>
                  <a:srgbClr val="4D4F53"/>
                </a:solidFill>
              </a:endParaRPr>
            </a:p>
            <a:p>
              <a:r>
                <a:rPr lang="fr-FR" sz="1200" dirty="0" smtClean="0">
                  <a:solidFill>
                    <a:srgbClr val="4D4F53"/>
                  </a:solidFill>
                </a:rPr>
                <a:t>Exécuter en appuyant sur</a:t>
              </a:r>
            </a:p>
            <a:p>
              <a:endParaRPr lang="fr-FR" sz="1200" dirty="0">
                <a:solidFill>
                  <a:srgbClr val="4D4F53"/>
                </a:solidFill>
              </a:endParaRPr>
            </a:p>
            <a:p>
              <a:r>
                <a:rPr lang="fr-FR" sz="1200" dirty="0" smtClean="0">
                  <a:solidFill>
                    <a:srgbClr val="4D4F53"/>
                  </a:solidFill>
                </a:rPr>
                <a:t>La liste des demandes d’achat s’affiche </a:t>
              </a:r>
            </a:p>
            <a:p>
              <a:endParaRPr lang="fr-FR" sz="1200" dirty="0">
                <a:solidFill>
                  <a:srgbClr val="4D4F53"/>
                </a:solidFill>
              </a:endParaRPr>
            </a:p>
          </p:txBody>
        </p:sp>
        <p:sp>
          <p:nvSpPr>
            <p:cNvPr id="6" name="Ellipse 5"/>
            <p:cNvSpPr/>
            <p:nvPr/>
          </p:nvSpPr>
          <p:spPr>
            <a:xfrm>
              <a:off x="426093"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7" name="Ellipse 6"/>
            <p:cNvSpPr/>
            <p:nvPr/>
          </p:nvSpPr>
          <p:spPr>
            <a:xfrm>
              <a:off x="426093" y="16790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8" name="Ellipse 7"/>
            <p:cNvSpPr/>
            <p:nvPr/>
          </p:nvSpPr>
          <p:spPr>
            <a:xfrm>
              <a:off x="425491" y="20403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pic>
        <p:nvPicPr>
          <p:cNvPr id="14" name="Image 13"/>
          <p:cNvPicPr>
            <a:picLocks noChangeAspect="1"/>
          </p:cNvPicPr>
          <p:nvPr/>
        </p:nvPicPr>
        <p:blipFill>
          <a:blip r:embed="rId2"/>
          <a:stretch>
            <a:fillRect/>
          </a:stretch>
        </p:blipFill>
        <p:spPr>
          <a:xfrm>
            <a:off x="1205016" y="1999710"/>
            <a:ext cx="2626102" cy="2514826"/>
          </a:xfrm>
          <a:prstGeom prst="rect">
            <a:avLst/>
          </a:prstGeom>
          <a:ln>
            <a:solidFill>
              <a:schemeClr val="tx1"/>
            </a:solidFill>
          </a:ln>
          <a:effectLst>
            <a:outerShdw blurRad="50800" dist="38100" dir="2700000" algn="tl" rotWithShape="0">
              <a:prstClr val="black">
                <a:alpha val="40000"/>
              </a:prstClr>
            </a:outerShdw>
          </a:effectLst>
        </p:spPr>
      </p:pic>
      <p:pic>
        <p:nvPicPr>
          <p:cNvPr id="15" name="Image 14"/>
          <p:cNvPicPr>
            <a:picLocks noChangeAspect="1"/>
          </p:cNvPicPr>
          <p:nvPr/>
        </p:nvPicPr>
        <p:blipFill>
          <a:blip r:embed="rId3"/>
          <a:stretch>
            <a:fillRect/>
          </a:stretch>
        </p:blipFill>
        <p:spPr>
          <a:xfrm>
            <a:off x="2327567" y="1370394"/>
            <a:ext cx="190500" cy="190500"/>
          </a:xfrm>
          <a:prstGeom prst="rect">
            <a:avLst/>
          </a:prstGeom>
        </p:spPr>
      </p:pic>
      <p:pic>
        <p:nvPicPr>
          <p:cNvPr id="16" name="Image 15"/>
          <p:cNvPicPr>
            <a:picLocks noChangeAspect="1"/>
          </p:cNvPicPr>
          <p:nvPr/>
        </p:nvPicPr>
        <p:blipFill>
          <a:blip r:embed="rId4"/>
          <a:stretch>
            <a:fillRect/>
          </a:stretch>
        </p:blipFill>
        <p:spPr>
          <a:xfrm>
            <a:off x="4718263" y="407316"/>
            <a:ext cx="3591353" cy="3397056"/>
          </a:xfrm>
          <a:prstGeom prst="rect">
            <a:avLst/>
          </a:prstGeom>
          <a:ln>
            <a:solidFill>
              <a:schemeClr val="tx1"/>
            </a:solidFill>
          </a:ln>
          <a:effectLst>
            <a:outerShdw blurRad="50800" dist="38100" dir="2700000" algn="tl" rotWithShape="0">
              <a:prstClr val="black">
                <a:alpha val="40000"/>
              </a:prstClr>
            </a:outerShdw>
          </a:effectLst>
        </p:spPr>
      </p:pic>
      <p:cxnSp>
        <p:nvCxnSpPr>
          <p:cNvPr id="18" name="Connecteur en angle 17"/>
          <p:cNvCxnSpPr>
            <a:stCxn id="20" idx="3"/>
            <a:endCxn id="16" idx="1"/>
          </p:cNvCxnSpPr>
          <p:nvPr/>
        </p:nvCxnSpPr>
        <p:spPr>
          <a:xfrm flipV="1">
            <a:off x="1374980" y="2105844"/>
            <a:ext cx="3343283" cy="116155"/>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270565" y="2425956"/>
            <a:ext cx="139421"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Rectangle 19"/>
          <p:cNvSpPr/>
          <p:nvPr/>
        </p:nvSpPr>
        <p:spPr>
          <a:xfrm>
            <a:off x="1235559" y="2166474"/>
            <a:ext cx="139421" cy="111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Rectangle 22"/>
          <p:cNvSpPr/>
          <p:nvPr/>
        </p:nvSpPr>
        <p:spPr>
          <a:xfrm>
            <a:off x="4763003" y="1333556"/>
            <a:ext cx="3546613" cy="247081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Ellipse 23"/>
          <p:cNvSpPr/>
          <p:nvPr/>
        </p:nvSpPr>
        <p:spPr>
          <a:xfrm>
            <a:off x="2416752" y="23964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5" name="Ellipse 24"/>
          <p:cNvSpPr/>
          <p:nvPr/>
        </p:nvSpPr>
        <p:spPr>
          <a:xfrm>
            <a:off x="1077611" y="213696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6" name="Ellipse 25"/>
          <p:cNvSpPr/>
          <p:nvPr/>
        </p:nvSpPr>
        <p:spPr>
          <a:xfrm>
            <a:off x="4718263" y="12517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Tree>
    <p:extLst>
      <p:ext uri="{BB962C8B-B14F-4D97-AF65-F5344CB8AC3E}">
        <p14:creationId xmlns:p14="http://schemas.microsoft.com/office/powerpoint/2010/main" val="37213463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774803" y="205978"/>
            <a:ext cx="3557833" cy="523220"/>
          </a:xfrm>
          <a:prstGeom prst="rect">
            <a:avLst/>
          </a:prstGeom>
          <a:noFill/>
        </p:spPr>
        <p:txBody>
          <a:bodyPr wrap="square" rtlCol="0">
            <a:spAutoFit/>
          </a:bodyPr>
          <a:lstStyle/>
          <a:p>
            <a:pPr algn="ctr"/>
            <a:r>
              <a:rPr lang="en-US" sz="2800" b="1" dirty="0" err="1">
                <a:solidFill>
                  <a:srgbClr val="4F81BD"/>
                </a:solidFill>
              </a:rPr>
              <a:t>Exercice</a:t>
            </a:r>
            <a:r>
              <a:rPr lang="en-US" sz="2800" b="1" dirty="0">
                <a:solidFill>
                  <a:srgbClr val="4F81BD"/>
                </a:solidFill>
              </a:rPr>
              <a:t> </a:t>
            </a:r>
            <a:r>
              <a:rPr lang="en-US" sz="2800" b="1" dirty="0" err="1" smtClean="0">
                <a:solidFill>
                  <a:srgbClr val="4F81BD"/>
                </a:solidFill>
              </a:rPr>
              <a:t>en</a:t>
            </a:r>
            <a:r>
              <a:rPr lang="en-US" sz="2800" b="1" dirty="0" smtClean="0">
                <a:solidFill>
                  <a:srgbClr val="4F81BD"/>
                </a:solidFill>
              </a:rPr>
              <a:t> </a:t>
            </a:r>
            <a:r>
              <a:rPr lang="en-US" sz="2800" b="1" dirty="0" err="1" smtClean="0">
                <a:solidFill>
                  <a:srgbClr val="4F81BD"/>
                </a:solidFill>
              </a:rPr>
              <a:t>autonomie</a:t>
            </a:r>
            <a:endParaRPr lang="en-US" sz="2800" b="1" dirty="0">
              <a:solidFill>
                <a:srgbClr val="4F81BD"/>
              </a:solidFill>
            </a:endParaRPr>
          </a:p>
        </p:txBody>
      </p:sp>
      <p:pic>
        <p:nvPicPr>
          <p:cNvPr id="35841" name="Image 358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92083" y="2749116"/>
            <a:ext cx="1719245" cy="1719245"/>
          </a:xfrm>
          <a:prstGeom prst="rect">
            <a:avLst/>
          </a:prstGeom>
        </p:spPr>
      </p:pic>
      <p:grpSp>
        <p:nvGrpSpPr>
          <p:cNvPr id="35844" name="Groupe 35843"/>
          <p:cNvGrpSpPr/>
          <p:nvPr/>
        </p:nvGrpSpPr>
        <p:grpSpPr>
          <a:xfrm>
            <a:off x="5174456" y="205978"/>
            <a:ext cx="3680275" cy="4299347"/>
            <a:chOff x="5174456" y="205978"/>
            <a:chExt cx="3680275" cy="4299347"/>
          </a:xfrm>
        </p:grpSpPr>
        <p:grpSp>
          <p:nvGrpSpPr>
            <p:cNvPr id="2" name="Groupe 1"/>
            <p:cNvGrpSpPr/>
            <p:nvPr/>
          </p:nvGrpSpPr>
          <p:grpSpPr>
            <a:xfrm>
              <a:off x="5174456" y="205978"/>
              <a:ext cx="3680275" cy="4299347"/>
              <a:chOff x="3707606" y="205978"/>
              <a:chExt cx="4105275" cy="4795838"/>
            </a:xfrm>
          </p:grpSpPr>
          <p:sp>
            <p:nvSpPr>
              <p:cNvPr id="6" name="Rectangle 5"/>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8" name="Connecteur droit 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Connecteur droit 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Connecteur droit 1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3" name="Connecteur droit 1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Connecteur droit 1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Connecteur droit 1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8" name="Connecteur droit 1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9" name="Connecteur droit 1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1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Connecteur droit 2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3" name="Connecteur droit 2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4" name="Connecteur droit 2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Connecteur droit 2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Connecteur droit 2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Connecteur droit 2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Connecteur droit 2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Connecteur droit 31"/>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Connecteur droit 32"/>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46" name="Image 45"/>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4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
        <p:nvSpPr>
          <p:cNvPr id="31" name="Text Box 3"/>
          <p:cNvSpPr txBox="1">
            <a:spLocks noChangeArrowheads="1"/>
          </p:cNvSpPr>
          <p:nvPr/>
        </p:nvSpPr>
        <p:spPr bwMode="auto">
          <a:xfrm>
            <a:off x="954960" y="1043860"/>
            <a:ext cx="3197518" cy="280879"/>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Afficher la liste des demandes d’achat</a:t>
            </a:r>
          </a:p>
        </p:txBody>
      </p:sp>
    </p:spTree>
    <p:extLst>
      <p:ext uri="{BB962C8B-B14F-4D97-AF65-F5344CB8AC3E}">
        <p14:creationId xmlns:p14="http://schemas.microsoft.com/office/powerpoint/2010/main" val="5706598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400" dirty="0">
                <a:latin typeface="Arial" panose="020B0604020202020204" pitchFamily="34" charset="0"/>
                <a:ea typeface="ＭＳ Ｐゴシック" panose="020B0600070205080204" pitchFamily="34" charset="-128"/>
                <a:cs typeface="Arial" panose="020B0604020202020204" pitchFamily="34" charset="0"/>
              </a:rPr>
              <a:t>Le processus de création et de gestion des </a:t>
            </a:r>
            <a:r>
              <a:rPr lang="fr-FR" sz="1400" dirty="0">
                <a:latin typeface="Arial" panose="020B0604020202020204" pitchFamily="34" charset="0"/>
                <a:ea typeface="ＭＳ Ｐゴシック" panose="020B0600070205080204" pitchFamily="34" charset="-128"/>
                <a:cs typeface="Arial" panose="020B0604020202020204" pitchFamily="34" charset="0"/>
              </a:rPr>
              <a:t>D</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emandes d’Achats </a:t>
            </a:r>
            <a:r>
              <a:rPr lang="fr-FR" sz="1400" dirty="0">
                <a:latin typeface="Arial" panose="020B0604020202020204" pitchFamily="34" charset="0"/>
                <a:ea typeface="ＭＳ Ｐゴシック" panose="020B0600070205080204" pitchFamily="34" charset="-128"/>
                <a:cs typeface="Arial" panose="020B0604020202020204" pitchFamily="34" charset="0"/>
              </a:rPr>
              <a:t>s’inscrit dans le processus d’Achats Indirects</a:t>
            </a: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La Demande d’Achats est le </a:t>
            </a:r>
            <a:r>
              <a:rPr lang="fr-FR" altLang="en-US" sz="1400" dirty="0">
                <a:latin typeface="Arial" panose="020B0604020202020204" pitchFamily="34" charset="0"/>
                <a:ea typeface="ＭＳ Ｐゴシック" panose="020B0600070205080204" pitchFamily="34" charset="-128"/>
                <a:cs typeface="Arial" panose="020B0604020202020204" pitchFamily="34" charset="0"/>
              </a:rPr>
              <a:t>document qui formalise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le besoin du client interne</a:t>
            </a: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VHEKTECQ7ECW-1532981086-4394</_dlc_DocId>
    <_dlc_DocIdUrl xmlns="f36dd47d-0b23-43fd-9b2d-c5346ffa1660">
      <Url>http://extranet.cbg-guinee.com/erp/_layouts/15/DocIdRedir.aspx?ID=VHEKTECQ7ECW-1532981086-4394</Url>
      <Description>VHEKTECQ7ECW-1532981086-4394</Description>
    </_dlc_DocIdUrl>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89607C-2312-4CFC-AA8C-0641C74C7B98}"/>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6B08D313-DD74-49B0-B6A4-96BD802D9198}"/>
</file>

<file path=customXml/itemProps4.xml><?xml version="1.0" encoding="utf-8"?>
<ds:datastoreItem xmlns:ds="http://schemas.openxmlformats.org/officeDocument/2006/customXml" ds:itemID="{A7F016CE-0453-4F59-86FB-B8AFDDF91E38}"/>
</file>

<file path=docProps/app.xml><?xml version="1.0" encoding="utf-8"?>
<Properties xmlns="http://schemas.openxmlformats.org/officeDocument/2006/extended-properties" xmlns:vt="http://schemas.openxmlformats.org/officeDocument/2006/docPropsVTypes">
  <Template/>
  <TotalTime>0</TotalTime>
  <Words>569</Words>
  <Application>Microsoft Office PowerPoint</Application>
  <PresentationFormat>Affichage à l'écran (16:9)</PresentationFormat>
  <Paragraphs>150</Paragraphs>
  <Slides>19</Slides>
  <Notes>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19</vt:i4>
      </vt:variant>
    </vt:vector>
  </HeadingPairs>
  <TitlesOfParts>
    <vt:vector size="27"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Gestion des Demandes d’Achat</vt:lpstr>
      <vt:lpstr>Description du processus métier Un sous processus de la gestion des demandes d’achat</vt:lpstr>
      <vt:lpstr>Le processus d’achats indirects Outre-Mer</vt:lpstr>
      <vt:lpstr>Le processus d’achats indirects locaux</vt:lpstr>
      <vt:lpstr>Présentation PowerPoint</vt:lpstr>
      <vt:lpstr>Description des objets SAP</vt:lpstr>
      <vt:lpstr>Mode opératoire Présentation du mode opératoire dans SAP</vt:lpstr>
      <vt:lpstr>Mode opératoire ME51N - Créer une demande d’achat</vt:lpstr>
      <vt:lpstr>Présentation PowerPoint</vt:lpstr>
      <vt:lpstr>Présentation PowerPoint</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3645</cp:revision>
  <cp:lastPrinted>2015-12-09T16:09:19Z</cp:lastPrinted>
  <dcterms:created xsi:type="dcterms:W3CDTF">2012-05-17T14:14:37Z</dcterms:created>
  <dcterms:modified xsi:type="dcterms:W3CDTF">2015-12-21T14:12:48Z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0782e9fd-6519-4fdd-a0ec-5b890afca7a3</vt:lpwstr>
  </property>
</Properties>
</file>