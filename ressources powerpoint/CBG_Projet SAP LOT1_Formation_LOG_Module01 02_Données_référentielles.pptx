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32.xml" ContentType="application/vnd.openxmlformats-officedocument.presentationml.slide+xml"/>
  <Override PartName="/ppt/slides/slide33.xml" ContentType="application/vnd.openxmlformats-officedocument.presentationml.slide+xml"/>
  <Override PartName="/ppt/presentation.xml" ContentType="application/vnd.openxmlformats-officedocument.presentationml.presentation.main+xml"/>
  <Override PartName="/ppt/slides/slide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30.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Masters/slideMaster1.xml" ContentType="application/vnd.openxmlformats-officedocument.presentationml.slideMaster+xml"/>
  <Override PartName="/ppt/notesSlides/notesSlide11.xml" ContentType="application/vnd.openxmlformats-officedocument.presentationml.notesSlide+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notesSlides/notesSlide4.xml" ContentType="application/vnd.openxmlformats-officedocument.presentationml.notesSlide+xml"/>
  <Override PartName="/ppt/slideLayouts/slideLayout3.xml" ContentType="application/vnd.openxmlformats-officedocument.presentationml.slideLayout+xml"/>
  <Override PartName="/ppt/notesSlides/notesSlide8.xml" ContentType="application/vnd.openxmlformats-officedocument.presentationml.notesSlid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docProps/custom.xml" ContentType="application/vnd.openxmlformats-officedocument.custom-properties+xml"/>
  <Override PartName="/docProps/app.xml" ContentType="application/vnd.openxmlformats-officedocument.extended-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38"/>
  </p:notesMasterIdLst>
  <p:handoutMasterIdLst>
    <p:handoutMasterId r:id="rId39"/>
  </p:handoutMasterIdLst>
  <p:sldIdLst>
    <p:sldId id="685" r:id="rId5"/>
    <p:sldId id="686" r:id="rId6"/>
    <p:sldId id="687" r:id="rId7"/>
    <p:sldId id="688" r:id="rId8"/>
    <p:sldId id="723" r:id="rId9"/>
    <p:sldId id="691" r:id="rId10"/>
    <p:sldId id="729" r:id="rId11"/>
    <p:sldId id="692" r:id="rId12"/>
    <p:sldId id="693" r:id="rId13"/>
    <p:sldId id="694" r:id="rId14"/>
    <p:sldId id="724" r:id="rId15"/>
    <p:sldId id="696" r:id="rId16"/>
    <p:sldId id="697" r:id="rId17"/>
    <p:sldId id="734" r:id="rId18"/>
    <p:sldId id="711" r:id="rId19"/>
    <p:sldId id="699" r:id="rId20"/>
    <p:sldId id="700" r:id="rId21"/>
    <p:sldId id="712" r:id="rId22"/>
    <p:sldId id="713" r:id="rId23"/>
    <p:sldId id="714" r:id="rId24"/>
    <p:sldId id="733" r:id="rId25"/>
    <p:sldId id="735" r:id="rId26"/>
    <p:sldId id="736" r:id="rId27"/>
    <p:sldId id="737" r:id="rId28"/>
    <p:sldId id="732" r:id="rId29"/>
    <p:sldId id="715" r:id="rId30"/>
    <p:sldId id="719" r:id="rId31"/>
    <p:sldId id="730" r:id="rId32"/>
    <p:sldId id="738" r:id="rId33"/>
    <p:sldId id="739" r:id="rId34"/>
    <p:sldId id="725" r:id="rId35"/>
    <p:sldId id="710" r:id="rId36"/>
    <p:sldId id="728" r:id="rId37"/>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5FF"/>
    <a:srgbClr val="A7ABFF"/>
    <a:srgbClr val="C5C8FF"/>
    <a:srgbClr val="004376"/>
    <a:srgbClr val="4F81BD"/>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48" autoAdjust="0"/>
    <p:restoredTop sz="95565" autoAdjust="0"/>
  </p:normalViewPr>
  <p:slideViewPr>
    <p:cSldViewPr snapToGrid="0" snapToObjects="1">
      <p:cViewPr varScale="1">
        <p:scale>
          <a:sx n="123" d="100"/>
          <a:sy n="123" d="100"/>
        </p:scale>
        <p:origin x="714"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ustomXml" Target="../customXml/item4.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12/4/2015</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04.12.2015</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11</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16</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21</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740709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26</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1151841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28</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1316747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30</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608188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31</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04/12/2015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Logistique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01.02</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Données référentielles</a:t>
            </a:r>
            <a:endParaRPr lang="fr-FR" sz="1800" dirty="0" smtClean="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Partager la terminologie SAP et maîtriser le verbatim propre à SAP</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Connaître les données de base référentielles pour la Logistique </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2582383"/>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buClr>
                <a:srgbClr val="DF0414"/>
              </a:buClr>
              <a:buFont typeface="Arial" charset="0"/>
              <a:buChar char="•"/>
              <a:defRPr/>
            </a:pPr>
            <a:r>
              <a:rPr lang="fr-FR" sz="900" dirty="0" smtClean="0">
                <a:solidFill>
                  <a:schemeClr val="tx1"/>
                </a:solidFill>
                <a:latin typeface="Arial" pitchFamily="34" charset="0"/>
                <a:cs typeface="Arial" pitchFamily="34" charset="0"/>
              </a:rPr>
              <a:t>Rappel des données référentielles de la Logistique </a:t>
            </a:r>
          </a:p>
          <a:p>
            <a:pPr marL="67866" lvl="1" indent="-67866" eaLnBrk="0" hangingPunct="0">
              <a:buClr>
                <a:srgbClr val="DF0414"/>
              </a:buClr>
              <a:buFont typeface="Arial" charset="0"/>
              <a:buChar char="•"/>
              <a:defRPr/>
            </a:pPr>
            <a:r>
              <a:rPr lang="fr-FR" sz="900" dirty="0" smtClean="0">
                <a:solidFill>
                  <a:schemeClr val="tx1"/>
                </a:solidFill>
                <a:latin typeface="Arial" pitchFamily="34" charset="0"/>
                <a:cs typeface="Arial" pitchFamily="34" charset="0"/>
              </a:rPr>
              <a:t>Gérer les fiches articles pour les vues Logistiques</a:t>
            </a:r>
          </a:p>
          <a:p>
            <a:pPr marL="67866" lvl="1" indent="-67866" eaLnBrk="0" hangingPunct="0">
              <a:buClr>
                <a:srgbClr val="DF0414"/>
              </a:buClr>
              <a:buFont typeface="Arial" charset="0"/>
              <a:buChar char="•"/>
              <a:defRPr/>
            </a:pPr>
            <a:r>
              <a:rPr lang="fr-FR" sz="900" dirty="0" smtClean="0">
                <a:solidFill>
                  <a:schemeClr val="tx1"/>
                </a:solidFill>
                <a:latin typeface="Arial" pitchFamily="34" charset="0"/>
                <a:cs typeface="Arial" pitchFamily="34" charset="0"/>
              </a:rPr>
              <a:t>Créer une nomenclature</a:t>
            </a:r>
          </a:p>
          <a:p>
            <a:pPr marL="67866" lvl="1" indent="-67866" eaLnBrk="0" hangingPunct="0">
              <a:buClr>
                <a:srgbClr val="DF0414"/>
              </a:buClr>
              <a:buFont typeface="Arial" charset="0"/>
              <a:buChar char="•"/>
              <a:defRPr/>
            </a:pPr>
            <a:r>
              <a:rPr lang="fr-FR" sz="900" dirty="0" smtClean="0">
                <a:solidFill>
                  <a:schemeClr val="tx1"/>
                </a:solidFill>
                <a:latin typeface="Arial" pitchFamily="34" charset="0"/>
                <a:cs typeface="Arial" pitchFamily="34" charset="0"/>
              </a:rPr>
              <a:t>Afficher les cas d’emplois pour un composant</a:t>
            </a:r>
          </a:p>
          <a:p>
            <a:pPr marL="67866" lvl="1" indent="-67866" eaLnBrk="0" hangingPunct="0">
              <a:buClr>
                <a:srgbClr val="DF0414"/>
              </a:buClr>
              <a:buFont typeface="Arial" charset="0"/>
              <a:buChar char="•"/>
              <a:defRPr/>
            </a:pPr>
            <a:endParaRPr lang="fr-FR" sz="900" dirty="0">
              <a:solidFill>
                <a:schemeClr val="tx1"/>
              </a:solidFill>
              <a:latin typeface="Arial" pitchFamily="34" charset="0"/>
              <a:cs typeface="Arial" pitchFamily="34" charset="0"/>
            </a:endParaRP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1</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Magasinier Guinée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Coordinateur magasin</a:t>
              </a: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a:t>
            </a:r>
            <a:r>
              <a:rPr lang="fr-FR" altLang="en-US" dirty="0" smtClean="0"/>
              <a:t>1h30</a:t>
            </a:r>
            <a:endParaRPr lang="en-US" altLang="en-US" dirty="0"/>
          </a:p>
        </p:txBody>
      </p:sp>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graphicFrame>
        <p:nvGraphicFramePr>
          <p:cNvPr id="7" name="Espace réservé du contenu 5"/>
          <p:cNvGraphicFramePr>
            <a:graphicFrameLocks/>
          </p:cNvGraphicFramePr>
          <p:nvPr>
            <p:extLst>
              <p:ext uri="{D42A27DB-BD31-4B8C-83A1-F6EECF244321}">
                <p14:modId xmlns:p14="http://schemas.microsoft.com/office/powerpoint/2010/main" val="96372427"/>
              </p:ext>
            </p:extLst>
          </p:nvPr>
        </p:nvGraphicFramePr>
        <p:xfrm>
          <a:off x="2758033" y="1291506"/>
          <a:ext cx="3627934" cy="2928140"/>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8h10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du processus : 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8h10 – 8h20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Structure organisationnelle</a:t>
                      </a:r>
                    </a:p>
                    <a:p>
                      <a:pPr marL="177800" indent="-177800">
                        <a:lnSpc>
                          <a:spcPct val="100000"/>
                        </a:lnSpc>
                        <a:spcBef>
                          <a:spcPts val="0"/>
                        </a:spcBef>
                        <a:spcAft>
                          <a:spcPts val="0"/>
                        </a:spcAft>
                        <a:buFont typeface="Arial" pitchFamily="34" charset="0"/>
                        <a:buChar char="•"/>
                      </a:pPr>
                      <a:r>
                        <a:rPr lang="fr-FR" sz="900" dirty="0" smtClean="0"/>
                        <a:t>Présentation : 10 min</a:t>
                      </a:r>
                    </a:p>
                  </a:txBody>
                  <a:tcPr marL="68566" marR="68566" marT="34292" marB="34292" anchor="ctr">
                    <a:solidFill>
                      <a:srgbClr val="F3F4FF"/>
                    </a:solidFill>
                  </a:tcPr>
                </a:tc>
              </a:tr>
              <a:tr h="785649">
                <a:tc>
                  <a:txBody>
                    <a:bodyPr/>
                    <a:lstStyle/>
                    <a:p>
                      <a:pPr algn="ctr"/>
                      <a:r>
                        <a:rPr lang="fr-FR" sz="900" dirty="0" smtClean="0"/>
                        <a:t>8h20 – 9h00</a:t>
                      </a:r>
                      <a:endParaRPr lang="fr-FR" sz="900" dirty="0" smtClean="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Les vues logistiques des fiches articles</a:t>
                      </a:r>
                    </a:p>
                    <a:p>
                      <a:pPr marL="177800" indent="-177800">
                        <a:lnSpc>
                          <a:spcPct val="100000"/>
                        </a:lnSpc>
                        <a:spcBef>
                          <a:spcPts val="0"/>
                        </a:spcBef>
                        <a:spcAft>
                          <a:spcPts val="0"/>
                        </a:spcAft>
                        <a:buFont typeface="Arial" pitchFamily="34" charset="0"/>
                        <a:buChar char="•"/>
                      </a:pPr>
                      <a:r>
                        <a:rPr lang="fr-FR" sz="900" dirty="0" smtClean="0"/>
                        <a:t>Présentation : 20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20 min</a:t>
                      </a:r>
                    </a:p>
                  </a:txBody>
                  <a:tcPr marL="68566" marR="68566" marT="34292" marB="34292" anchor="ctr">
                    <a:solidFill>
                      <a:srgbClr val="E7E8FF"/>
                    </a:solidFill>
                  </a:tcPr>
                </a:tc>
              </a:tr>
              <a:tr h="785649">
                <a:tc>
                  <a:txBody>
                    <a:bodyPr/>
                    <a:lstStyle/>
                    <a:p>
                      <a:pPr algn="ctr"/>
                      <a:r>
                        <a:rPr lang="fr-FR" sz="900" dirty="0" smtClean="0"/>
                        <a:t>9h00 – 9h30</a:t>
                      </a:r>
                      <a:endParaRPr lang="fr-FR" sz="900" dirty="0" smtClean="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Les nomenclatures</a:t>
                      </a:r>
                    </a:p>
                    <a:p>
                      <a:pPr marL="177800" indent="-177800">
                        <a:lnSpc>
                          <a:spcPct val="100000"/>
                        </a:lnSpc>
                        <a:spcBef>
                          <a:spcPts val="0"/>
                        </a:spcBef>
                        <a:spcAft>
                          <a:spcPts val="0"/>
                        </a:spcAft>
                        <a:buFont typeface="Arial" pitchFamily="34" charset="0"/>
                        <a:buChar char="•"/>
                      </a:pPr>
                      <a:r>
                        <a:rPr lang="fr-FR" sz="900" dirty="0" smtClean="0"/>
                        <a:t>Présentation : 10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20 min</a:t>
                      </a:r>
                    </a:p>
                  </a:txBody>
                  <a:tcPr marL="68566" marR="68566" marT="34292" marB="34292" anchor="ctr">
                    <a:solidFill>
                      <a:srgbClr val="E7E8FF"/>
                    </a:solidFill>
                  </a:tcPr>
                </a:tc>
              </a:tr>
            </a:tbl>
          </a:graphicData>
        </a:graphic>
      </p:graphicFrame>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La gestion des données référentielles permet de :</a:t>
            </a:r>
          </a:p>
          <a:p>
            <a:r>
              <a:rPr lang="fr-FR" b="1" dirty="0" smtClean="0">
                <a:solidFill>
                  <a:srgbClr val="0070C0"/>
                </a:solidFill>
              </a:rPr>
              <a:t>Pour la Logistique : </a:t>
            </a:r>
          </a:p>
          <a:p>
            <a:pPr marL="171450" indent="-171450">
              <a:buClr>
                <a:srgbClr val="0070C0"/>
              </a:buClr>
              <a:buSzPct val="100000"/>
              <a:buFont typeface="Arial" panose="020B0604020202020204" pitchFamily="34" charset="0"/>
              <a:buChar char="•"/>
            </a:pPr>
            <a:r>
              <a:rPr lang="fr-FR" dirty="0"/>
              <a:t>G</a:t>
            </a:r>
            <a:r>
              <a:rPr lang="fr-FR" dirty="0" smtClean="0"/>
              <a:t>érer les articles pour les opérations logistiques</a:t>
            </a:r>
          </a:p>
          <a:p>
            <a:pPr marL="171450" indent="-171450">
              <a:buClr>
                <a:srgbClr val="0070C0"/>
              </a:buClr>
              <a:buSzPct val="100000"/>
              <a:buFont typeface="Arial" panose="020B0604020202020204" pitchFamily="34" charset="0"/>
              <a:buChar char="•"/>
            </a:pPr>
            <a:r>
              <a:rPr lang="fr-FR" dirty="0" smtClean="0"/>
              <a:t>Définir les nomenclatures pour les opérations de sous-traitance</a:t>
            </a:r>
          </a:p>
          <a:p>
            <a:pPr marL="171450" indent="-171450">
              <a:buClr>
                <a:srgbClr val="0070C0"/>
              </a:buClr>
              <a:buSzPct val="100000"/>
              <a:buFont typeface="Arial" panose="020B0604020202020204" pitchFamily="34" charset="0"/>
              <a:buChar char="•"/>
            </a:pPr>
            <a:r>
              <a:rPr lang="fr-FR" dirty="0" smtClean="0"/>
              <a:t>Organiser des transports grâce aux itinéraires </a:t>
            </a:r>
          </a:p>
          <a:p>
            <a:pPr marL="171450" indent="-171450">
              <a:buClr>
                <a:srgbClr val="0070C0"/>
              </a:buClr>
              <a:buSzPct val="100000"/>
              <a:buFont typeface="Arial" panose="020B0604020202020204" pitchFamily="34" charset="0"/>
              <a:buChar char="•"/>
            </a:pPr>
            <a:endParaRPr lang="fr-FR" dirty="0" smtClean="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données référentielles de la Logistique</a:t>
            </a:r>
            <a:endParaRPr lang="en-US" dirty="0"/>
          </a:p>
        </p:txBody>
      </p:sp>
      <p:sp>
        <p:nvSpPr>
          <p:cNvPr id="5" name="ZoneTexte 4"/>
          <p:cNvSpPr txBox="1"/>
          <p:nvPr/>
        </p:nvSpPr>
        <p:spPr>
          <a:xfrm>
            <a:off x="462150" y="1382601"/>
            <a:ext cx="7060266" cy="1569660"/>
          </a:xfrm>
          <a:prstGeom prst="rect">
            <a:avLst/>
          </a:prstGeom>
          <a:noFill/>
        </p:spPr>
        <p:txBody>
          <a:bodyPr wrap="none" rtlCol="0">
            <a:spAutoFit/>
          </a:bodyPr>
          <a:lstStyle/>
          <a:p>
            <a:r>
              <a:rPr lang="fr-FR" sz="1200" dirty="0" smtClean="0"/>
              <a:t>Dans </a:t>
            </a:r>
            <a:r>
              <a:rPr lang="fr-FR" sz="1200" dirty="0"/>
              <a:t>SAP, chaque fiche article est constituée de plusieurs vues. </a:t>
            </a:r>
            <a:endParaRPr lang="fr-FR" sz="1200" dirty="0" smtClean="0"/>
          </a:p>
          <a:p>
            <a:r>
              <a:rPr lang="fr-FR" sz="1200" dirty="0" smtClean="0"/>
              <a:t>Selon </a:t>
            </a:r>
            <a:r>
              <a:rPr lang="fr-FR" sz="1200" dirty="0"/>
              <a:t>les besoins, certaines vues peuvent être ou ne pas être créées pour chaque article.</a:t>
            </a:r>
            <a:endParaRPr lang="en-US" sz="1200" dirty="0"/>
          </a:p>
          <a:p>
            <a:r>
              <a:rPr lang="fr-FR" sz="1200" dirty="0"/>
              <a:t>Il existe </a:t>
            </a:r>
            <a:r>
              <a:rPr lang="fr-FR" sz="1200" b="1" dirty="0"/>
              <a:t>4 vues logistiques </a:t>
            </a:r>
            <a:r>
              <a:rPr lang="fr-FR" sz="1200" dirty="0"/>
              <a:t>dans la fiche article :</a:t>
            </a:r>
            <a:endParaRPr lang="en-US" sz="1200" dirty="0"/>
          </a:p>
          <a:p>
            <a:pPr marL="171450" lvl="0" indent="-171450">
              <a:buFont typeface="Arial" panose="020B0604020202020204" pitchFamily="34" charset="0"/>
              <a:buChar char="•"/>
            </a:pPr>
            <a:r>
              <a:rPr lang="fr-FR" sz="1200" dirty="0" smtClean="0"/>
              <a:t>2 </a:t>
            </a:r>
            <a:r>
              <a:rPr lang="fr-FR" sz="1200" dirty="0"/>
              <a:t>vues de données générales de stockage dans une division (niveau MM</a:t>
            </a:r>
            <a:r>
              <a:rPr lang="fr-FR" sz="1200" dirty="0" smtClean="0"/>
              <a:t>) qui permettent la gestion en stock</a:t>
            </a:r>
            <a:endParaRPr lang="en-US" sz="1200" dirty="0"/>
          </a:p>
          <a:p>
            <a:pPr marL="171450" lvl="0" indent="-171450">
              <a:buFont typeface="Arial" panose="020B0604020202020204" pitchFamily="34" charset="0"/>
              <a:buChar char="•"/>
            </a:pPr>
            <a:r>
              <a:rPr lang="fr-FR" sz="1200" dirty="0" smtClean="0"/>
              <a:t>2 </a:t>
            </a:r>
            <a:r>
              <a:rPr lang="fr-FR" sz="1200" dirty="0"/>
              <a:t>vues de gestion des emplacements magasin (niveau WM</a:t>
            </a:r>
            <a:r>
              <a:rPr lang="fr-FR" sz="1200" dirty="0" smtClean="0"/>
              <a:t>) qui permettent la gestion WM</a:t>
            </a:r>
            <a:endParaRPr lang="en-US" sz="1200" dirty="0"/>
          </a:p>
          <a:p>
            <a:r>
              <a:rPr lang="fr-FR" sz="1200" dirty="0"/>
              <a:t> </a:t>
            </a:r>
            <a:endParaRPr lang="en-US" sz="1200" dirty="0"/>
          </a:p>
          <a:p>
            <a:r>
              <a:rPr lang="fr-FR" sz="1200" dirty="0" smtClean="0"/>
              <a:t>Le </a:t>
            </a:r>
            <a:r>
              <a:rPr lang="fr-FR" sz="1200" dirty="0"/>
              <a:t>type article définit les vues pouvant être créées sur un article.</a:t>
            </a:r>
            <a:endParaRPr lang="en-US" sz="1200" dirty="0"/>
          </a:p>
          <a:p>
            <a:r>
              <a:rPr lang="fr-FR" sz="1200" dirty="0" smtClean="0">
                <a:solidFill>
                  <a:srgbClr val="4D4F53"/>
                </a:solidFill>
              </a:rPr>
              <a:t> </a:t>
            </a:r>
            <a:endParaRPr lang="en-US" sz="1200" dirty="0" smtClean="0">
              <a:solidFill>
                <a:srgbClr val="4D4F53"/>
              </a:solidFill>
            </a:endParaRPr>
          </a:p>
        </p:txBody>
      </p:sp>
      <p:sp>
        <p:nvSpPr>
          <p:cNvPr id="6" name="Rectangle 5"/>
          <p:cNvSpPr/>
          <p:nvPr/>
        </p:nvSpPr>
        <p:spPr>
          <a:xfrm>
            <a:off x="462150" y="1038447"/>
            <a:ext cx="1208985" cy="338554"/>
          </a:xfrm>
          <a:prstGeom prst="rect">
            <a:avLst/>
          </a:prstGeom>
        </p:spPr>
        <p:txBody>
          <a:bodyPr wrap="none">
            <a:spAutoFit/>
          </a:bodyPr>
          <a:lstStyle/>
          <a:p>
            <a:r>
              <a:rPr lang="fr-FR" sz="1600" b="1" u="sng" dirty="0"/>
              <a:t>Fiche article</a:t>
            </a:r>
            <a:endParaRPr lang="en-US" sz="1600" dirty="0"/>
          </a:p>
        </p:txBody>
      </p:sp>
      <p:sp>
        <p:nvSpPr>
          <p:cNvPr id="7" name="Rectangle 6"/>
          <p:cNvSpPr/>
          <p:nvPr/>
        </p:nvSpPr>
        <p:spPr>
          <a:xfrm>
            <a:off x="462150" y="2929092"/>
            <a:ext cx="7714287" cy="1323439"/>
          </a:xfrm>
          <a:prstGeom prst="rect">
            <a:avLst/>
          </a:prstGeom>
        </p:spPr>
        <p:txBody>
          <a:bodyPr wrap="square">
            <a:spAutoFit/>
          </a:bodyPr>
          <a:lstStyle/>
          <a:p>
            <a:r>
              <a:rPr lang="fr-FR" sz="1600" b="1" u="sng" dirty="0" smtClean="0"/>
              <a:t>Nomenclature</a:t>
            </a:r>
          </a:p>
          <a:p>
            <a:endParaRPr lang="fr-FR" sz="1200" dirty="0"/>
          </a:p>
          <a:p>
            <a:r>
              <a:rPr lang="fr-FR" sz="1200" dirty="0"/>
              <a:t>Dans SAP, </a:t>
            </a:r>
            <a:r>
              <a:rPr lang="fr-FR" sz="1200" dirty="0" smtClean="0"/>
              <a:t>des nomenclatures permettent d’associer à un article d’autres articles qui seront ces composants.</a:t>
            </a:r>
          </a:p>
          <a:p>
            <a:r>
              <a:rPr lang="fr-FR" sz="1200" dirty="0" smtClean="0"/>
              <a:t>Lors d’opérations de sous-traitance, la commande du produit fini entraîne la mise à disposition des composants avec les quantités décrites dans la nomenclature pour leur consommation.</a:t>
            </a:r>
            <a:endParaRPr lang="fr-FR" sz="1200" dirty="0"/>
          </a:p>
          <a:p>
            <a:endParaRPr lang="en-US" sz="1600" dirty="0"/>
          </a:p>
        </p:txBody>
      </p:sp>
    </p:spTree>
    <p:extLst>
      <p:ext uri="{BB962C8B-B14F-4D97-AF65-F5344CB8AC3E}">
        <p14:creationId xmlns:p14="http://schemas.microsoft.com/office/powerpoint/2010/main" val="27508140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fiches articles pour les vues Logistique</a:t>
            </a:r>
            <a:endParaRPr lang="en-US" altLang="en-US" dirty="0" smtClean="0"/>
          </a:p>
        </p:txBody>
      </p:sp>
      <p:sp>
        <p:nvSpPr>
          <p:cNvPr id="28678" name="AutoShape 6"/>
          <p:cNvSpPr>
            <a:spLocks noChangeArrowheads="1"/>
          </p:cNvSpPr>
          <p:nvPr/>
        </p:nvSpPr>
        <p:spPr bwMode="auto">
          <a:xfrm>
            <a:off x="1613861" y="1445451"/>
            <a:ext cx="1570434" cy="656973"/>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créer </a:t>
            </a:r>
            <a:r>
              <a:rPr lang="fr-FR" altLang="en-US" sz="1050" dirty="0" smtClean="0">
                <a:cs typeface="Arial" panose="020B0604020202020204" pitchFamily="34" charset="0"/>
              </a:rPr>
              <a:t>les vues logistiques des fiches articles?</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613861" y="3506175"/>
            <a:ext cx="1647825" cy="656973"/>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a:t>
            </a:r>
            <a:r>
              <a:rPr lang="fr-FR" altLang="en-US" sz="1050" dirty="0" smtClean="0">
                <a:solidFill>
                  <a:schemeClr val="bg1"/>
                </a:solidFill>
                <a:cs typeface="Arial" panose="020B0604020202020204" pitchFamily="34" charset="0"/>
              </a:rPr>
              <a:t>les vues logistiques d’une fiche article?</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059652" y="2197380"/>
            <a:ext cx="2166938" cy="299429"/>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Acheteurs / </a:t>
            </a:r>
            <a:r>
              <a:rPr lang="fr-FR" altLang="en-US" sz="1050" dirty="0" err="1" smtClean="0">
                <a:solidFill>
                  <a:schemeClr val="bg1"/>
                </a:solidFill>
              </a:rPr>
              <a:t>Magasinisers</a:t>
            </a:r>
            <a:endParaRPr lang="fr-FR" altLang="en-US" sz="1050" dirty="0">
              <a:solidFill>
                <a:schemeClr val="bg1"/>
              </a:solidFill>
            </a:endParaRPr>
          </a:p>
        </p:txBody>
      </p:sp>
      <p:sp>
        <p:nvSpPr>
          <p:cNvPr id="28681" name="AutoShape 12"/>
          <p:cNvSpPr>
            <a:spLocks noChangeArrowheads="1"/>
          </p:cNvSpPr>
          <p:nvPr/>
        </p:nvSpPr>
        <p:spPr bwMode="auto">
          <a:xfrm>
            <a:off x="4792287" y="1114289"/>
            <a:ext cx="2701669" cy="656973"/>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Les vues logistiques des fiches articles permettent la gestion en stock de l’article et la gestion dans WM si nécessaire</a:t>
            </a:r>
            <a:endParaRPr lang="fr-FR" altLang="en-US" sz="1050" dirty="0"/>
          </a:p>
        </p:txBody>
      </p:sp>
      <p:sp>
        <p:nvSpPr>
          <p:cNvPr id="28682" name="AutoShape 6"/>
          <p:cNvSpPr>
            <a:spLocks noChangeArrowheads="1"/>
          </p:cNvSpPr>
          <p:nvPr/>
        </p:nvSpPr>
        <p:spPr bwMode="auto">
          <a:xfrm>
            <a:off x="1739947" y="2305478"/>
            <a:ext cx="1151334" cy="835746"/>
          </a:xfrm>
          <a:prstGeom prst="wedgeRoundRectCallout">
            <a:avLst>
              <a:gd name="adj1" fmla="val 86777"/>
              <a:gd name="adj2" fmla="val -3890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créer </a:t>
            </a:r>
            <a:r>
              <a:rPr lang="fr-FR" altLang="en-US" sz="1050" dirty="0" smtClean="0">
                <a:solidFill>
                  <a:schemeClr val="bg1"/>
                </a:solidFill>
                <a:cs typeface="Arial" panose="020B0604020202020204" pitchFamily="34" charset="0"/>
              </a:rPr>
              <a:t>les vues logistique des fiches articles ?</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4940748" y="3068730"/>
            <a:ext cx="2893219" cy="1250043"/>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On retrouve les données générales de stockage dans une division </a:t>
            </a:r>
          </a:p>
          <a:p>
            <a:pPr eaLnBrk="1" hangingPunct="1">
              <a:spcBef>
                <a:spcPts val="225"/>
              </a:spcBef>
              <a:buFont typeface="Arial" panose="020B0604020202020204" pitchFamily="34" charset="0"/>
              <a:buChar char="•"/>
            </a:pPr>
            <a:r>
              <a:rPr lang="fr-FR" altLang="en-US" sz="1050" dirty="0" smtClean="0">
                <a:solidFill>
                  <a:schemeClr val="bg1"/>
                </a:solidFill>
              </a:rPr>
              <a:t>On retrouve les indications de gestion par lots, par DLC, par n° de série</a:t>
            </a:r>
          </a:p>
          <a:p>
            <a:pPr eaLnBrk="1" hangingPunct="1">
              <a:spcBef>
                <a:spcPts val="225"/>
              </a:spcBef>
              <a:buFont typeface="Arial" panose="020B0604020202020204" pitchFamily="34" charset="0"/>
              <a:buChar char="•"/>
            </a:pPr>
            <a:r>
              <a:rPr lang="fr-FR" altLang="en-US" sz="1050" dirty="0" smtClean="0">
                <a:solidFill>
                  <a:schemeClr val="bg1"/>
                </a:solidFill>
              </a:rPr>
              <a:t>Les magasins et emplacements par défaut sont renseignés </a:t>
            </a:r>
            <a:endParaRPr lang="fr-FR" altLang="en-US" sz="1050" dirty="0">
              <a:solidFill>
                <a:schemeClr val="bg1"/>
              </a:solidFill>
            </a:endParaRPr>
          </a:p>
        </p:txBody>
      </p:sp>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endParaRPr lang="en-US" altLang="en-US" dirty="0" smtClean="0"/>
          </a:p>
        </p:txBody>
      </p:sp>
      <p:sp>
        <p:nvSpPr>
          <p:cNvPr id="20" name="Rectangle à coins arrondis 19"/>
          <p:cNvSpPr/>
          <p:nvPr/>
        </p:nvSpPr>
        <p:spPr>
          <a:xfrm>
            <a:off x="4355243" y="1405028"/>
            <a:ext cx="2874704" cy="656973"/>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a:t>
            </a:r>
            <a:r>
              <a:rPr lang="fr-FR" sz="1050" dirty="0" smtClean="0">
                <a:solidFill>
                  <a:schemeClr val="bg1"/>
                </a:solidFill>
                <a:latin typeface="Arial" panose="020B0604020202020204" pitchFamily="34" charset="0"/>
                <a:ea typeface="ＭＳ Ｐゴシック" panose="020B0600070205080204" pitchFamily="34" charset="-128"/>
              </a:rPr>
              <a:t>des vues des fiches articles s’inscrit dans le cadre de la création des données référentielles de base</a:t>
            </a:r>
          </a:p>
        </p:txBody>
      </p:sp>
      <p:sp>
        <p:nvSpPr>
          <p:cNvPr id="29702" name="AutoShape 18"/>
          <p:cNvSpPr>
            <a:spLocks noChangeArrowheads="1"/>
          </p:cNvSpPr>
          <p:nvPr/>
        </p:nvSpPr>
        <p:spPr bwMode="auto">
          <a:xfrm>
            <a:off x="2556225" y="3777107"/>
            <a:ext cx="1654268"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des vues logistiques de la fiche article</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4" name="AutoShape 19"/>
          <p:cNvSpPr>
            <a:spLocks noChangeArrowheads="1"/>
          </p:cNvSpPr>
          <p:nvPr/>
        </p:nvSpPr>
        <p:spPr bwMode="auto">
          <a:xfrm>
            <a:off x="920343" y="3777107"/>
            <a:ext cx="1553086"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a:r>
              <a:rPr lang="fr-FR" altLang="ko-KR" sz="800" b="1">
                <a:solidFill>
                  <a:srgbClr val="FFFFFF"/>
                </a:solidFill>
                <a:latin typeface="Verdana" pitchFamily="34" charset="0"/>
                <a:ea typeface="ＭＳ Ｐゴシック"/>
                <a:cs typeface="Arial" pitchFamily="34" charset="0"/>
              </a:rPr>
              <a:t>Création fiche article</a:t>
            </a:r>
            <a:endParaRPr lang="fr-FR" altLang="ko-KR" sz="800" b="1" dirty="0">
              <a:solidFill>
                <a:srgbClr val="FFFFFF"/>
              </a:solidFill>
              <a:latin typeface="Verdana" pitchFamily="34" charset="0"/>
              <a:ea typeface="ＭＳ Ｐゴシック"/>
              <a:cs typeface="Arial" pitchFamily="34" charset="0"/>
            </a:endParaRPr>
          </a:p>
        </p:txBody>
      </p:sp>
      <p:sp>
        <p:nvSpPr>
          <p:cNvPr id="14" name="AutoShape 19"/>
          <p:cNvSpPr>
            <a:spLocks noChangeArrowheads="1"/>
          </p:cNvSpPr>
          <p:nvPr/>
        </p:nvSpPr>
        <p:spPr bwMode="auto">
          <a:xfrm>
            <a:off x="5972616" y="3777107"/>
            <a:ext cx="1553086"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smtClean="0">
                <a:solidFill>
                  <a:srgbClr val="FFFFFF"/>
                </a:solidFill>
                <a:latin typeface="Verdana" pitchFamily="34" charset="0"/>
                <a:ea typeface="ＭＳ Ｐゴシック"/>
                <a:cs typeface="Arial" pitchFamily="34" charset="0"/>
              </a:rPr>
              <a:t>Gestion des articles en stock</a:t>
            </a:r>
            <a:endParaRPr lang="fr-FR" altLang="ko-KR" sz="800" b="1" dirty="0">
              <a:solidFill>
                <a:srgbClr val="FFFFFF"/>
              </a:solidFill>
              <a:latin typeface="Verdana" pitchFamily="34" charset="0"/>
              <a:ea typeface="ＭＳ Ｐゴシック"/>
              <a:cs typeface="Arial" pitchFamily="34" charset="0"/>
            </a:endParaRPr>
          </a:p>
        </p:txBody>
      </p:sp>
      <p:sp>
        <p:nvSpPr>
          <p:cNvPr id="15" name="AutoShape 18"/>
          <p:cNvSpPr>
            <a:spLocks noChangeArrowheads="1"/>
          </p:cNvSpPr>
          <p:nvPr/>
        </p:nvSpPr>
        <p:spPr bwMode="auto">
          <a:xfrm>
            <a:off x="4210493" y="3777107"/>
            <a:ext cx="1654268"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Modification des vues logistiques de la fiche article</a:t>
            </a:r>
            <a:endParaRPr lang="fr-FR" altLang="ko-KR" sz="800" b="1" dirty="0">
              <a:solidFill>
                <a:schemeClr val="bg1"/>
              </a:solidFill>
              <a:latin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de création des vues logistiques pour la fiche article</a:t>
            </a:r>
            <a:endParaRPr lang="en-US" altLang="en-US" sz="2400" dirty="0" smtClean="0"/>
          </a:p>
        </p:txBody>
      </p:sp>
      <p:pic>
        <p:nvPicPr>
          <p:cNvPr id="7" name="Image 6"/>
          <p:cNvPicPr/>
          <p:nvPr/>
        </p:nvPicPr>
        <p:blipFill>
          <a:blip r:embed="rId2">
            <a:extLst>
              <a:ext uri="{28A0092B-C50C-407E-A947-70E740481C1C}">
                <a14:useLocalDpi xmlns:a14="http://schemas.microsoft.com/office/drawing/2010/main" val="0"/>
              </a:ext>
            </a:extLst>
          </a:blip>
          <a:srcRect/>
          <a:stretch>
            <a:fillRect/>
          </a:stretch>
        </p:blipFill>
        <p:spPr bwMode="auto">
          <a:xfrm>
            <a:off x="2339163" y="1220086"/>
            <a:ext cx="4104166" cy="2873448"/>
          </a:xfrm>
          <a:prstGeom prst="rect">
            <a:avLst/>
          </a:prstGeom>
          <a:noFill/>
        </p:spPr>
      </p:pic>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39" name="Groupe 38"/>
          <p:cNvGrpSpPr/>
          <p:nvPr/>
        </p:nvGrpSpPr>
        <p:grpSpPr>
          <a:xfrm>
            <a:off x="1947918" y="2084982"/>
            <a:ext cx="1296000" cy="754857"/>
            <a:chOff x="1507778" y="2276353"/>
            <a:chExt cx="1258269" cy="754857"/>
          </a:xfrm>
        </p:grpSpPr>
        <p:sp>
          <p:nvSpPr>
            <p:cNvPr id="40" name="Rectangle 39"/>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solidFill>
                    <a:schemeClr val="bg1"/>
                  </a:solidFill>
                  <a:latin typeface="Arial" pitchFamily="34" charset="0"/>
                  <a:cs typeface="Arial" pitchFamily="34" charset="0"/>
                </a:rPr>
                <a:t>Créer </a:t>
              </a:r>
              <a:r>
                <a:rPr lang="fr-FR" sz="800" dirty="0" smtClean="0">
                  <a:solidFill>
                    <a:schemeClr val="bg1"/>
                  </a:solidFill>
                  <a:latin typeface="Arial" pitchFamily="34" charset="0"/>
                  <a:cs typeface="Arial" pitchFamily="34" charset="0"/>
                </a:rPr>
                <a:t>les vues logistiques d’une fiche article</a:t>
              </a:r>
              <a:endParaRPr lang="en-US" sz="800" dirty="0">
                <a:solidFill>
                  <a:schemeClr val="bg1"/>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MM01</a:t>
              </a:r>
              <a:endParaRPr lang="en-US" sz="8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47" name="Connecteur en angle 46"/>
          <p:cNvCxnSpPr>
            <a:stCxn id="41" idx="3"/>
            <a:endCxn id="58" idx="1"/>
          </p:cNvCxnSpPr>
          <p:nvPr/>
        </p:nvCxnSpPr>
        <p:spPr>
          <a:xfrm>
            <a:off x="3243918" y="2516584"/>
            <a:ext cx="2366469" cy="344564"/>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eur en angle 47"/>
          <p:cNvCxnSpPr>
            <a:stCxn id="41" idx="3"/>
            <a:endCxn id="61" idx="1"/>
          </p:cNvCxnSpPr>
          <p:nvPr/>
        </p:nvCxnSpPr>
        <p:spPr>
          <a:xfrm flipV="1">
            <a:off x="3243918" y="1747843"/>
            <a:ext cx="2366469" cy="768741"/>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50" name="Groupe 49"/>
          <p:cNvGrpSpPr/>
          <p:nvPr/>
        </p:nvGrpSpPr>
        <p:grpSpPr>
          <a:xfrm>
            <a:off x="5610387" y="1315993"/>
            <a:ext cx="1296000" cy="1861828"/>
            <a:chOff x="3827406" y="1979447"/>
            <a:chExt cx="1258269" cy="1861828"/>
          </a:xfrm>
        </p:grpSpPr>
        <p:sp>
          <p:nvSpPr>
            <p:cNvPr id="56" name="Rectangle 55"/>
            <p:cNvSpPr/>
            <p:nvPr/>
          </p:nvSpPr>
          <p:spPr>
            <a:xfrm>
              <a:off x="3827406" y="3092752"/>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les vues d’une fiche article</a:t>
              </a:r>
              <a:endParaRPr lang="en-US" sz="800" dirty="0">
                <a:solidFill>
                  <a:schemeClr val="bg1"/>
                </a:solidFill>
                <a:latin typeface="Arial" pitchFamily="34" charset="0"/>
                <a:cs typeface="Arial" pitchFamily="34" charset="0"/>
              </a:endParaRPr>
            </a:p>
          </p:txBody>
        </p:sp>
        <p:sp>
          <p:nvSpPr>
            <p:cNvPr id="58" name="Rectangle 57"/>
            <p:cNvSpPr/>
            <p:nvPr/>
          </p:nvSpPr>
          <p:spPr>
            <a:xfrm>
              <a:off x="3827406" y="3416602"/>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MM03</a:t>
              </a:r>
              <a:endParaRPr lang="en-US" sz="800" b="1" dirty="0">
                <a:solidFill>
                  <a:schemeClr val="bg1"/>
                </a:solidFill>
                <a:latin typeface="Arial" panose="020B0604020202020204" pitchFamily="34" charset="0"/>
                <a:cs typeface="Arial" panose="020B0604020202020204" pitchFamily="34" charset="0"/>
              </a:endParaRPr>
            </a:p>
          </p:txBody>
        </p:sp>
        <p:sp>
          <p:nvSpPr>
            <p:cNvPr id="59" name="Rectangle 58"/>
            <p:cNvSpPr/>
            <p:nvPr/>
          </p:nvSpPr>
          <p:spPr>
            <a:xfrm>
              <a:off x="3827406" y="3625275"/>
              <a:ext cx="1258269"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sp>
          <p:nvSpPr>
            <p:cNvPr id="60" name="Rectangle 59"/>
            <p:cNvSpPr/>
            <p:nvPr/>
          </p:nvSpPr>
          <p:spPr>
            <a:xfrm>
              <a:off x="3827406" y="1979447"/>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Modifier les vues logistiques d’une fiche article</a:t>
              </a:r>
              <a:endParaRPr lang="en-US" sz="800" dirty="0">
                <a:solidFill>
                  <a:schemeClr val="bg1"/>
                </a:solidFill>
                <a:latin typeface="Arial" pitchFamily="34" charset="0"/>
                <a:cs typeface="Arial" pitchFamily="34" charset="0"/>
              </a:endParaRPr>
            </a:p>
          </p:txBody>
        </p:sp>
        <p:sp>
          <p:nvSpPr>
            <p:cNvPr id="61" name="Rectangle 60"/>
            <p:cNvSpPr/>
            <p:nvPr/>
          </p:nvSpPr>
          <p:spPr>
            <a:xfrm>
              <a:off x="3827406" y="2303297"/>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MM02</a:t>
              </a:r>
              <a:endParaRPr lang="en-US" sz="800" b="1" dirty="0">
                <a:solidFill>
                  <a:schemeClr val="bg1"/>
                </a:solidFill>
                <a:latin typeface="Arial" panose="020B0604020202020204" pitchFamily="34" charset="0"/>
                <a:cs typeface="Arial" panose="020B0604020202020204" pitchFamily="34" charset="0"/>
              </a:endParaRPr>
            </a:p>
          </p:txBody>
        </p:sp>
        <p:sp>
          <p:nvSpPr>
            <p:cNvPr id="62" name="Rectangle 61"/>
            <p:cNvSpPr/>
            <p:nvPr/>
          </p:nvSpPr>
          <p:spPr>
            <a:xfrm>
              <a:off x="3827406" y="2519991"/>
              <a:ext cx="1258269"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smtClean="0"/>
              <a:t>MM01 </a:t>
            </a:r>
            <a:r>
              <a:rPr lang="fr-FR" altLang="en-US" dirty="0"/>
              <a:t>- Créer </a:t>
            </a:r>
            <a:r>
              <a:rPr lang="fr-FR" altLang="en-US" dirty="0" smtClean="0"/>
              <a:t>les vues logistiques d’une fiche article– 1/3 </a:t>
            </a:r>
            <a:endParaRPr lang="en-US" altLang="en-US" dirty="0" smtClean="0"/>
          </a:p>
        </p:txBody>
      </p:sp>
      <p:grpSp>
        <p:nvGrpSpPr>
          <p:cNvPr id="33794" name="Groupe 33793"/>
          <p:cNvGrpSpPr/>
          <p:nvPr/>
        </p:nvGrpSpPr>
        <p:grpSpPr>
          <a:xfrm>
            <a:off x="508490" y="1021294"/>
            <a:ext cx="3204199" cy="3416320"/>
            <a:chOff x="425491" y="1196439"/>
            <a:chExt cx="3204199" cy="3416320"/>
          </a:xfrm>
        </p:grpSpPr>
        <p:sp>
          <p:nvSpPr>
            <p:cNvPr id="8" name="ZoneTexte 7"/>
            <p:cNvSpPr txBox="1"/>
            <p:nvPr/>
          </p:nvSpPr>
          <p:spPr>
            <a:xfrm>
              <a:off x="591215" y="1196439"/>
              <a:ext cx="3038475" cy="3416320"/>
            </a:xfrm>
            <a:prstGeom prst="rect">
              <a:avLst/>
            </a:prstGeom>
            <a:noFill/>
          </p:spPr>
          <p:txBody>
            <a:bodyPr wrap="square" rtlCol="0">
              <a:spAutoFit/>
            </a:bodyPr>
            <a:lstStyle/>
            <a:p>
              <a:r>
                <a:rPr lang="fr-FR" sz="1200" dirty="0" smtClean="0">
                  <a:solidFill>
                    <a:srgbClr val="4D4F53"/>
                  </a:solidFill>
                </a:rPr>
                <a:t>Indiquer le code article pour lequel les vues logistiques sont à créer</a:t>
              </a:r>
            </a:p>
            <a:p>
              <a:endParaRPr lang="fr-FR" sz="1200" dirty="0">
                <a:solidFill>
                  <a:srgbClr val="4D4F53"/>
                </a:solidFill>
              </a:endParaRPr>
            </a:p>
            <a:p>
              <a:r>
                <a:rPr lang="fr-FR" sz="1200" dirty="0" smtClean="0">
                  <a:solidFill>
                    <a:srgbClr val="4D4F53"/>
                  </a:solidFill>
                </a:rPr>
                <a:t>Appuyer sur Entrer</a:t>
              </a:r>
            </a:p>
            <a:p>
              <a:endParaRPr lang="fr-FR" sz="1200" dirty="0">
                <a:solidFill>
                  <a:srgbClr val="4D4F53"/>
                </a:solidFill>
              </a:endParaRPr>
            </a:p>
            <a:p>
              <a:r>
                <a:rPr lang="fr-FR" sz="1200" dirty="0" smtClean="0">
                  <a:solidFill>
                    <a:srgbClr val="4D4F53"/>
                  </a:solidFill>
                </a:rPr>
                <a:t>Les champs « Branche » et « Type d’article » se remplissent </a:t>
              </a:r>
            </a:p>
            <a:p>
              <a:endParaRPr lang="fr-FR" sz="1200" dirty="0">
                <a:solidFill>
                  <a:srgbClr val="4D4F53"/>
                </a:solidFill>
              </a:endParaRPr>
            </a:p>
            <a:p>
              <a:r>
                <a:rPr lang="fr-FR" sz="1200" dirty="0" smtClean="0">
                  <a:solidFill>
                    <a:srgbClr val="4D4F53"/>
                  </a:solidFill>
                </a:rPr>
                <a:t>Cliquer sur Entrer</a:t>
              </a:r>
            </a:p>
            <a:p>
              <a:endParaRPr lang="fr-FR" sz="1200" dirty="0">
                <a:solidFill>
                  <a:srgbClr val="4D4F53"/>
                </a:solidFill>
              </a:endParaRPr>
            </a:p>
            <a:p>
              <a:r>
                <a:rPr lang="fr-FR" sz="1200" dirty="0" smtClean="0">
                  <a:solidFill>
                    <a:srgbClr val="4D4F53"/>
                  </a:solidFill>
                </a:rPr>
                <a:t>Sélectionner les 4 vues logistiques à créer</a:t>
              </a:r>
            </a:p>
            <a:p>
              <a:endParaRPr lang="fr-FR" sz="1200" dirty="0">
                <a:solidFill>
                  <a:srgbClr val="4D4F53"/>
                </a:solidFill>
              </a:endParaRPr>
            </a:p>
            <a:p>
              <a:r>
                <a:rPr lang="fr-FR" sz="1200" dirty="0" smtClean="0">
                  <a:solidFill>
                    <a:srgbClr val="4D4F53"/>
                  </a:solidFill>
                </a:rPr>
                <a:t>Appuyer sur « Suite »</a:t>
              </a:r>
            </a:p>
            <a:p>
              <a:endParaRPr lang="fr-FR" sz="1200" dirty="0">
                <a:solidFill>
                  <a:srgbClr val="4D4F53"/>
                </a:solidFill>
              </a:endParaRPr>
            </a:p>
            <a:p>
              <a:r>
                <a:rPr lang="fr-FR" sz="1200" dirty="0" smtClean="0">
                  <a:solidFill>
                    <a:srgbClr val="4D4F53"/>
                  </a:solidFill>
                </a:rPr>
                <a:t>Saisir les niveaux organisationnels : division, magasin, n° de magasin, type de magasin</a:t>
              </a:r>
            </a:p>
            <a:p>
              <a:endParaRPr lang="fr-FR" sz="1200" dirty="0" smtClean="0">
                <a:solidFill>
                  <a:srgbClr val="4D4F53"/>
                </a:solidFill>
              </a:endParaRPr>
            </a:p>
            <a:p>
              <a:r>
                <a:rPr lang="fr-FR" sz="1200" dirty="0" smtClean="0">
                  <a:solidFill>
                    <a:srgbClr val="4D4F53"/>
                  </a:solidFill>
                </a:rPr>
                <a:t>Appuyer sur « Suite »</a:t>
              </a: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8375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5491" y="21988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sp>
        <p:nvSpPr>
          <p:cNvPr id="40" name="Ellipse 39"/>
          <p:cNvSpPr/>
          <p:nvPr/>
        </p:nvSpPr>
        <p:spPr>
          <a:xfrm>
            <a:off x="498561" y="25345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pic>
        <p:nvPicPr>
          <p:cNvPr id="9" name="Image 8"/>
          <p:cNvPicPr>
            <a:picLocks noChangeAspect="1"/>
          </p:cNvPicPr>
          <p:nvPr/>
        </p:nvPicPr>
        <p:blipFill>
          <a:blip r:embed="rId2"/>
          <a:stretch>
            <a:fillRect/>
          </a:stretch>
        </p:blipFill>
        <p:spPr>
          <a:xfrm>
            <a:off x="3611674" y="1100189"/>
            <a:ext cx="2282160" cy="2119652"/>
          </a:xfrm>
          <a:prstGeom prst="rect">
            <a:avLst/>
          </a:prstGeom>
        </p:spPr>
      </p:pic>
      <p:sp>
        <p:nvSpPr>
          <p:cNvPr id="42" name="Ellipse 41"/>
          <p:cNvSpPr/>
          <p:nvPr/>
        </p:nvSpPr>
        <p:spPr>
          <a:xfrm>
            <a:off x="4222665" y="175201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4" name="Ellipse 43"/>
          <p:cNvSpPr/>
          <p:nvPr/>
        </p:nvSpPr>
        <p:spPr>
          <a:xfrm>
            <a:off x="4300733" y="201146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cxnSp>
        <p:nvCxnSpPr>
          <p:cNvPr id="33" name="Connecteur droit 32"/>
          <p:cNvCxnSpPr/>
          <p:nvPr/>
        </p:nvCxnSpPr>
        <p:spPr>
          <a:xfrm flipV="1">
            <a:off x="5432389" y="1984931"/>
            <a:ext cx="986742" cy="687137"/>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483583" y="1808268"/>
            <a:ext cx="907124"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grpSp>
        <p:nvGrpSpPr>
          <p:cNvPr id="21" name="Groupe 20"/>
          <p:cNvGrpSpPr/>
          <p:nvPr/>
        </p:nvGrpSpPr>
        <p:grpSpPr>
          <a:xfrm>
            <a:off x="6497199" y="872788"/>
            <a:ext cx="2455288" cy="3357230"/>
            <a:chOff x="5761385" y="994524"/>
            <a:chExt cx="2455288" cy="3357230"/>
          </a:xfrm>
        </p:grpSpPr>
        <p:pic>
          <p:nvPicPr>
            <p:cNvPr id="10" name="Image 9"/>
            <p:cNvPicPr>
              <a:picLocks noChangeAspect="1"/>
            </p:cNvPicPr>
            <p:nvPr/>
          </p:nvPicPr>
          <p:blipFill>
            <a:blip r:embed="rId3"/>
            <a:stretch>
              <a:fillRect/>
            </a:stretch>
          </p:blipFill>
          <p:spPr>
            <a:xfrm>
              <a:off x="5761385" y="994524"/>
              <a:ext cx="2455288" cy="3357230"/>
            </a:xfrm>
            <a:prstGeom prst="rect">
              <a:avLst/>
            </a:prstGeom>
          </p:spPr>
        </p:pic>
        <p:sp>
          <p:nvSpPr>
            <p:cNvPr id="45" name="Ellipse 44"/>
            <p:cNvSpPr/>
            <p:nvPr/>
          </p:nvSpPr>
          <p:spPr>
            <a:xfrm>
              <a:off x="7679882" y="306526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6" name="Ellipse 45"/>
            <p:cNvSpPr/>
            <p:nvPr/>
          </p:nvSpPr>
          <p:spPr>
            <a:xfrm>
              <a:off x="5860349" y="404997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47" name="Rectangle 46"/>
            <p:cNvSpPr/>
            <p:nvPr/>
          </p:nvSpPr>
          <p:spPr>
            <a:xfrm>
              <a:off x="5879734" y="2951091"/>
              <a:ext cx="1626852" cy="54026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grpSp>
      <p:sp>
        <p:nvSpPr>
          <p:cNvPr id="48" name="Ellipse 47"/>
          <p:cNvSpPr/>
          <p:nvPr/>
        </p:nvSpPr>
        <p:spPr>
          <a:xfrm>
            <a:off x="498561" y="28829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9" name="Ellipse 48"/>
          <p:cNvSpPr/>
          <p:nvPr/>
        </p:nvSpPr>
        <p:spPr>
          <a:xfrm>
            <a:off x="498561" y="323139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pic>
        <p:nvPicPr>
          <p:cNvPr id="16" name="Image 15"/>
          <p:cNvPicPr>
            <a:picLocks noChangeAspect="1"/>
          </p:cNvPicPr>
          <p:nvPr/>
        </p:nvPicPr>
        <p:blipFill>
          <a:blip r:embed="rId4"/>
          <a:stretch>
            <a:fillRect/>
          </a:stretch>
        </p:blipFill>
        <p:spPr>
          <a:xfrm>
            <a:off x="2107726" y="3231397"/>
            <a:ext cx="171450" cy="190500"/>
          </a:xfrm>
          <a:prstGeom prst="rect">
            <a:avLst/>
          </a:prstGeom>
        </p:spPr>
      </p:pic>
      <p:pic>
        <p:nvPicPr>
          <p:cNvPr id="18" name="Image 17"/>
          <p:cNvPicPr>
            <a:picLocks noChangeAspect="1"/>
          </p:cNvPicPr>
          <p:nvPr/>
        </p:nvPicPr>
        <p:blipFill>
          <a:blip r:embed="rId5"/>
          <a:stretch>
            <a:fillRect/>
          </a:stretch>
        </p:blipFill>
        <p:spPr>
          <a:xfrm>
            <a:off x="3584825" y="3266283"/>
            <a:ext cx="2873340" cy="1253922"/>
          </a:xfrm>
          <a:prstGeom prst="rect">
            <a:avLst/>
          </a:prstGeom>
        </p:spPr>
      </p:pic>
      <p:sp>
        <p:nvSpPr>
          <p:cNvPr id="52" name="Ellipse 51"/>
          <p:cNvSpPr/>
          <p:nvPr/>
        </p:nvSpPr>
        <p:spPr>
          <a:xfrm>
            <a:off x="4647125" y="37139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56" name="Ellipse 55"/>
          <p:cNvSpPr/>
          <p:nvPr/>
        </p:nvSpPr>
        <p:spPr>
          <a:xfrm>
            <a:off x="4745857" y="436563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57" name="Ellipse 56"/>
          <p:cNvSpPr/>
          <p:nvPr/>
        </p:nvSpPr>
        <p:spPr>
          <a:xfrm>
            <a:off x="507778" y="357981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58" name="Ellipse 57"/>
          <p:cNvSpPr/>
          <p:nvPr/>
        </p:nvSpPr>
        <p:spPr>
          <a:xfrm>
            <a:off x="498561" y="41220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pic>
        <p:nvPicPr>
          <p:cNvPr id="59" name="Image 58"/>
          <p:cNvPicPr>
            <a:picLocks noChangeAspect="1"/>
          </p:cNvPicPr>
          <p:nvPr/>
        </p:nvPicPr>
        <p:blipFill>
          <a:blip r:embed="rId4"/>
          <a:stretch>
            <a:fillRect/>
          </a:stretch>
        </p:blipFill>
        <p:spPr>
          <a:xfrm>
            <a:off x="2174401" y="4175130"/>
            <a:ext cx="171450" cy="190500"/>
          </a:xfrm>
          <a:prstGeom prst="rect">
            <a:avLst/>
          </a:prstGeom>
        </p:spPr>
      </p:pic>
      <p:cxnSp>
        <p:nvCxnSpPr>
          <p:cNvPr id="60" name="Connecteur droit 59"/>
          <p:cNvCxnSpPr/>
          <p:nvPr/>
        </p:nvCxnSpPr>
        <p:spPr>
          <a:xfrm flipH="1">
            <a:off x="5846959" y="4122086"/>
            <a:ext cx="611206" cy="0"/>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14678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re 3"/>
          <p:cNvSpPr>
            <a:spLocks noGrp="1"/>
          </p:cNvSpPr>
          <p:nvPr>
            <p:ph type="title"/>
          </p:nvPr>
        </p:nvSpPr>
        <p:spPr>
          <a:xfrm>
            <a:off x="457200" y="206375"/>
            <a:ext cx="8229600" cy="857250"/>
          </a:xfrm>
        </p:spPr>
        <p:txBody>
          <a:bodyPr/>
          <a:lstStyle/>
          <a:p>
            <a:r>
              <a:rPr lang="fr-FR" altLang="en-US" sz="2400" dirty="0"/>
              <a:t>Mode opératoire</a:t>
            </a:r>
            <a:br>
              <a:rPr lang="fr-FR" altLang="en-US" sz="2400" dirty="0"/>
            </a:br>
            <a:r>
              <a:rPr lang="fr-FR" altLang="en-US" dirty="0"/>
              <a:t>MM01 - Créer les vues logistiques d’une fiche article– 2</a:t>
            </a:r>
            <a:r>
              <a:rPr lang="fr-FR" altLang="en-US" dirty="0" smtClean="0"/>
              <a:t>/3</a:t>
            </a:r>
            <a:endParaRPr lang="en-US" altLang="en-US" dirty="0" smtClean="0"/>
          </a:p>
        </p:txBody>
      </p:sp>
      <p:grpSp>
        <p:nvGrpSpPr>
          <p:cNvPr id="48" name="Groupe 47"/>
          <p:cNvGrpSpPr/>
          <p:nvPr/>
        </p:nvGrpSpPr>
        <p:grpSpPr>
          <a:xfrm>
            <a:off x="319495" y="1160037"/>
            <a:ext cx="2683861" cy="3416320"/>
            <a:chOff x="425491" y="1196439"/>
            <a:chExt cx="2683861" cy="3416320"/>
          </a:xfrm>
        </p:grpSpPr>
        <p:sp>
          <p:nvSpPr>
            <p:cNvPr id="54" name="ZoneTexte 53"/>
            <p:cNvSpPr txBox="1"/>
            <p:nvPr/>
          </p:nvSpPr>
          <p:spPr>
            <a:xfrm>
              <a:off x="591216" y="1196439"/>
              <a:ext cx="2518136" cy="3416320"/>
            </a:xfrm>
            <a:prstGeom prst="rect">
              <a:avLst/>
            </a:prstGeom>
            <a:noFill/>
          </p:spPr>
          <p:txBody>
            <a:bodyPr wrap="square" rtlCol="0">
              <a:spAutoFit/>
            </a:bodyPr>
            <a:lstStyle/>
            <a:p>
              <a:r>
                <a:rPr lang="fr-FR" sz="1200" dirty="0" smtClean="0">
                  <a:solidFill>
                    <a:srgbClr val="4D4F53"/>
                  </a:solidFill>
                </a:rPr>
                <a:t>Indiquer l’unité de quantité de base</a:t>
              </a:r>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Choisir un emplacement MM </a:t>
              </a:r>
            </a:p>
            <a:p>
              <a:endParaRPr lang="fr-FR" sz="1200" dirty="0">
                <a:solidFill>
                  <a:srgbClr val="4D4F53"/>
                </a:solidFill>
              </a:endParaRPr>
            </a:p>
            <a:p>
              <a:r>
                <a:rPr lang="fr-FR" sz="1200" dirty="0" smtClean="0">
                  <a:solidFill>
                    <a:srgbClr val="4D4F53"/>
                  </a:solidFill>
                </a:rPr>
                <a:t>Indiquer le type d’étiquetage Z1</a:t>
              </a:r>
            </a:p>
            <a:p>
              <a:endParaRPr lang="fr-FR" sz="1200" dirty="0">
                <a:solidFill>
                  <a:srgbClr val="4D4F53"/>
                </a:solidFill>
              </a:endParaRPr>
            </a:p>
            <a:p>
              <a:r>
                <a:rPr lang="fr-FR" sz="1200" dirty="0" smtClean="0">
                  <a:solidFill>
                    <a:srgbClr val="4D4F53"/>
                  </a:solidFill>
                </a:rPr>
                <a:t>Indiquer la forme d’étiquetage</a:t>
              </a:r>
            </a:p>
            <a:p>
              <a:endParaRPr lang="fr-FR" sz="1200" dirty="0">
                <a:solidFill>
                  <a:srgbClr val="4D4F53"/>
                </a:solidFill>
              </a:endParaRPr>
            </a:p>
            <a:p>
              <a:r>
                <a:rPr lang="fr-FR" sz="1200" dirty="0" smtClean="0">
                  <a:solidFill>
                    <a:srgbClr val="4D4F53"/>
                  </a:solidFill>
                </a:rPr>
                <a:t>Cocher la case si l’article doit être géré par lots</a:t>
              </a:r>
            </a:p>
            <a:p>
              <a:endParaRPr lang="fr-FR" sz="1200" dirty="0" smtClean="0">
                <a:solidFill>
                  <a:srgbClr val="4D4F53"/>
                </a:solidFill>
              </a:endParaRPr>
            </a:p>
            <a:p>
              <a:r>
                <a:rPr lang="fr-FR" sz="1200" dirty="0" smtClean="0">
                  <a:solidFill>
                    <a:srgbClr val="4D4F53"/>
                  </a:solidFill>
                </a:rPr>
                <a:t>Indiquer la quantité de bons de réception (ex : 20 si toutes les 20 quantités reçues on imprime 1 étiquette)</a:t>
              </a:r>
            </a:p>
            <a:p>
              <a:endParaRPr lang="fr-FR" sz="1200" dirty="0" smtClean="0">
                <a:solidFill>
                  <a:srgbClr val="4D4F53"/>
                </a:solidFill>
              </a:endParaRPr>
            </a:p>
            <a:p>
              <a:r>
                <a:rPr lang="fr-FR" sz="1200" dirty="0" smtClean="0">
                  <a:solidFill>
                    <a:srgbClr val="4D4F53"/>
                  </a:solidFill>
                </a:rPr>
                <a:t>Cliquer sur le prochain onglet pour créer la vue suivante</a:t>
              </a:r>
              <a:endParaRPr lang="fr-FR" sz="1200" dirty="0">
                <a:solidFill>
                  <a:srgbClr val="4D4F53"/>
                </a:solidFill>
              </a:endParaRPr>
            </a:p>
          </p:txBody>
        </p:sp>
        <p:sp>
          <p:nvSpPr>
            <p:cNvPr id="55" name="Ellipse 54"/>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56" name="Ellipse 55"/>
            <p:cNvSpPr/>
            <p:nvPr/>
          </p:nvSpPr>
          <p:spPr>
            <a:xfrm>
              <a:off x="425491" y="16048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endParaRPr lang="fr-FR" sz="900" b="1" dirty="0">
                <a:solidFill>
                  <a:schemeClr val="bg1"/>
                </a:solidFill>
              </a:endParaRPr>
            </a:p>
          </p:txBody>
        </p:sp>
        <p:sp>
          <p:nvSpPr>
            <p:cNvPr id="57" name="Ellipse 56"/>
            <p:cNvSpPr/>
            <p:nvPr/>
          </p:nvSpPr>
          <p:spPr>
            <a:xfrm>
              <a:off x="425491" y="197589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pic>
        <p:nvPicPr>
          <p:cNvPr id="16" name="Image 15"/>
          <p:cNvPicPr>
            <a:picLocks noChangeAspect="1"/>
          </p:cNvPicPr>
          <p:nvPr/>
        </p:nvPicPr>
        <p:blipFill>
          <a:blip r:embed="rId2"/>
          <a:stretch>
            <a:fillRect/>
          </a:stretch>
        </p:blipFill>
        <p:spPr>
          <a:xfrm>
            <a:off x="3063686" y="969347"/>
            <a:ext cx="3572538" cy="3126714"/>
          </a:xfrm>
          <a:prstGeom prst="rect">
            <a:avLst/>
          </a:prstGeom>
        </p:spPr>
      </p:pic>
      <p:pic>
        <p:nvPicPr>
          <p:cNvPr id="25" name="Image 24"/>
          <p:cNvPicPr>
            <a:picLocks noChangeAspect="1"/>
          </p:cNvPicPr>
          <p:nvPr/>
        </p:nvPicPr>
        <p:blipFill>
          <a:blip r:embed="rId3"/>
          <a:stretch>
            <a:fillRect/>
          </a:stretch>
        </p:blipFill>
        <p:spPr>
          <a:xfrm>
            <a:off x="5915592" y="2085941"/>
            <a:ext cx="3083442" cy="2412888"/>
          </a:xfrm>
          <a:prstGeom prst="rect">
            <a:avLst/>
          </a:prstGeom>
        </p:spPr>
      </p:pic>
      <p:sp>
        <p:nvSpPr>
          <p:cNvPr id="65" name="Ellipse 64"/>
          <p:cNvSpPr/>
          <p:nvPr/>
        </p:nvSpPr>
        <p:spPr>
          <a:xfrm>
            <a:off x="3874776" y="229850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6" name="Ellipse 65"/>
          <p:cNvSpPr/>
          <p:nvPr/>
        </p:nvSpPr>
        <p:spPr>
          <a:xfrm>
            <a:off x="3674593" y="242526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endParaRPr lang="fr-FR" sz="900" b="1" dirty="0">
              <a:solidFill>
                <a:schemeClr val="bg1"/>
              </a:solidFill>
            </a:endParaRPr>
          </a:p>
        </p:txBody>
      </p:sp>
      <p:sp>
        <p:nvSpPr>
          <p:cNvPr id="67" name="Ellipse 66"/>
          <p:cNvSpPr/>
          <p:nvPr/>
        </p:nvSpPr>
        <p:spPr>
          <a:xfrm>
            <a:off x="3830729" y="29674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p>
        </p:txBody>
      </p:sp>
      <p:sp>
        <p:nvSpPr>
          <p:cNvPr id="68" name="Ellipse 67"/>
          <p:cNvSpPr/>
          <p:nvPr/>
        </p:nvSpPr>
        <p:spPr>
          <a:xfrm>
            <a:off x="3797880" y="313350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endParaRPr lang="fr-FR" sz="900" b="1" dirty="0">
              <a:solidFill>
                <a:schemeClr val="bg1"/>
              </a:solidFill>
            </a:endParaRPr>
          </a:p>
        </p:txBody>
      </p:sp>
      <p:sp>
        <p:nvSpPr>
          <p:cNvPr id="69" name="Ellipse 68"/>
          <p:cNvSpPr/>
          <p:nvPr/>
        </p:nvSpPr>
        <p:spPr>
          <a:xfrm>
            <a:off x="4510465" y="305665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p>
        </p:txBody>
      </p:sp>
      <p:sp>
        <p:nvSpPr>
          <p:cNvPr id="70" name="Ellipse 69"/>
          <p:cNvSpPr/>
          <p:nvPr/>
        </p:nvSpPr>
        <p:spPr>
          <a:xfrm>
            <a:off x="5524395" y="28167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p>
        </p:txBody>
      </p:sp>
      <p:sp>
        <p:nvSpPr>
          <p:cNvPr id="71" name="Ellipse 70"/>
          <p:cNvSpPr/>
          <p:nvPr/>
        </p:nvSpPr>
        <p:spPr>
          <a:xfrm>
            <a:off x="323315" y="23223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p>
        </p:txBody>
      </p:sp>
      <p:sp>
        <p:nvSpPr>
          <p:cNvPr id="72" name="Ellipse 71"/>
          <p:cNvSpPr/>
          <p:nvPr/>
        </p:nvSpPr>
        <p:spPr>
          <a:xfrm>
            <a:off x="323315" y="269160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p>
        </p:txBody>
      </p:sp>
      <p:sp>
        <p:nvSpPr>
          <p:cNvPr id="73" name="Ellipse 72"/>
          <p:cNvSpPr/>
          <p:nvPr/>
        </p:nvSpPr>
        <p:spPr>
          <a:xfrm>
            <a:off x="323315" y="322906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p>
        </p:txBody>
      </p:sp>
      <p:pic>
        <p:nvPicPr>
          <p:cNvPr id="26" name="Image 25"/>
          <p:cNvPicPr>
            <a:picLocks noChangeAspect="1"/>
          </p:cNvPicPr>
          <p:nvPr/>
        </p:nvPicPr>
        <p:blipFill>
          <a:blip r:embed="rId4"/>
          <a:stretch>
            <a:fillRect/>
          </a:stretch>
        </p:blipFill>
        <p:spPr>
          <a:xfrm>
            <a:off x="4391249" y="3939315"/>
            <a:ext cx="1313646" cy="535420"/>
          </a:xfrm>
          <a:prstGeom prst="rect">
            <a:avLst/>
          </a:prstGeom>
        </p:spPr>
      </p:pic>
      <p:cxnSp>
        <p:nvCxnSpPr>
          <p:cNvPr id="46" name="Connecteur droit 45"/>
          <p:cNvCxnSpPr/>
          <p:nvPr/>
        </p:nvCxnSpPr>
        <p:spPr>
          <a:xfrm>
            <a:off x="4164713" y="3122023"/>
            <a:ext cx="516709" cy="783334"/>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4047089" y="2322377"/>
            <a:ext cx="180755"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4" name="Rectangle 73"/>
          <p:cNvSpPr/>
          <p:nvPr/>
        </p:nvSpPr>
        <p:spPr>
          <a:xfrm>
            <a:off x="4041426" y="2444835"/>
            <a:ext cx="465455"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5" name="Rectangle 74"/>
          <p:cNvSpPr/>
          <p:nvPr/>
        </p:nvSpPr>
        <p:spPr>
          <a:xfrm>
            <a:off x="4030912" y="2967556"/>
            <a:ext cx="133801"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6" name="Rectangle 75"/>
          <p:cNvSpPr/>
          <p:nvPr/>
        </p:nvSpPr>
        <p:spPr>
          <a:xfrm>
            <a:off x="4630317" y="2982439"/>
            <a:ext cx="133801"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7" name="Rectangle 76"/>
          <p:cNvSpPr/>
          <p:nvPr/>
        </p:nvSpPr>
        <p:spPr>
          <a:xfrm>
            <a:off x="3146414" y="3099667"/>
            <a:ext cx="133801"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8" name="Rectangle 77"/>
          <p:cNvSpPr/>
          <p:nvPr/>
        </p:nvSpPr>
        <p:spPr>
          <a:xfrm>
            <a:off x="5721461" y="2836939"/>
            <a:ext cx="133801"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9" name="Rectangle 78"/>
          <p:cNvSpPr/>
          <p:nvPr/>
        </p:nvSpPr>
        <p:spPr>
          <a:xfrm>
            <a:off x="6958382" y="2501922"/>
            <a:ext cx="926833" cy="17671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0" name="Ellipse 79"/>
          <p:cNvSpPr/>
          <p:nvPr/>
        </p:nvSpPr>
        <p:spPr>
          <a:xfrm>
            <a:off x="6880314" y="249881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endParaRPr lang="fr-FR" sz="900" b="1" dirty="0">
              <a:solidFill>
                <a:schemeClr val="bg1"/>
              </a:solidFill>
            </a:endParaRPr>
          </a:p>
        </p:txBody>
      </p:sp>
      <p:sp>
        <p:nvSpPr>
          <p:cNvPr id="81" name="Ellipse 80"/>
          <p:cNvSpPr/>
          <p:nvPr/>
        </p:nvSpPr>
        <p:spPr>
          <a:xfrm>
            <a:off x="323315" y="419299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endParaRPr lang="fr-FR" sz="900" b="1" dirty="0">
              <a:solidFill>
                <a:schemeClr val="bg1"/>
              </a:solidFill>
            </a:endParaRPr>
          </a:p>
        </p:txBody>
      </p:sp>
    </p:spTree>
    <p:extLst>
      <p:ext uri="{BB962C8B-B14F-4D97-AF65-F5344CB8AC3E}">
        <p14:creationId xmlns:p14="http://schemas.microsoft.com/office/powerpoint/2010/main" val="7816825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re 3"/>
          <p:cNvSpPr>
            <a:spLocks noGrp="1"/>
          </p:cNvSpPr>
          <p:nvPr>
            <p:ph type="title"/>
          </p:nvPr>
        </p:nvSpPr>
        <p:spPr>
          <a:xfrm>
            <a:off x="457200" y="206375"/>
            <a:ext cx="8229600" cy="857250"/>
          </a:xfrm>
        </p:spPr>
        <p:txBody>
          <a:bodyPr/>
          <a:lstStyle/>
          <a:p>
            <a:r>
              <a:rPr lang="fr-FR" altLang="en-US" sz="2400" dirty="0"/>
              <a:t>Mode opératoire</a:t>
            </a:r>
            <a:br>
              <a:rPr lang="fr-FR" altLang="en-US" sz="2400" dirty="0"/>
            </a:br>
            <a:r>
              <a:rPr lang="fr-FR" altLang="en-US" dirty="0"/>
              <a:t>MM01 - Créer les vues logistiques d’une fiche article– 3</a:t>
            </a:r>
            <a:r>
              <a:rPr lang="fr-FR" altLang="en-US" dirty="0" smtClean="0"/>
              <a:t>/3</a:t>
            </a:r>
            <a:endParaRPr lang="en-US" altLang="en-US" dirty="0" smtClean="0"/>
          </a:p>
        </p:txBody>
      </p:sp>
      <p:sp>
        <p:nvSpPr>
          <p:cNvPr id="54" name="ZoneTexte 53"/>
          <p:cNvSpPr txBox="1"/>
          <p:nvPr/>
        </p:nvSpPr>
        <p:spPr>
          <a:xfrm>
            <a:off x="485220" y="1160037"/>
            <a:ext cx="2518136" cy="3046988"/>
          </a:xfrm>
          <a:prstGeom prst="rect">
            <a:avLst/>
          </a:prstGeom>
          <a:noFill/>
        </p:spPr>
        <p:txBody>
          <a:bodyPr wrap="square" rtlCol="0">
            <a:spAutoFit/>
          </a:bodyPr>
          <a:lstStyle/>
          <a:p>
            <a:r>
              <a:rPr lang="fr-FR" sz="1200" dirty="0" smtClean="0">
                <a:solidFill>
                  <a:srgbClr val="4D4F53"/>
                </a:solidFill>
              </a:rPr>
              <a:t>Indiquer l’unité de quantité de base</a:t>
            </a:r>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Indiquer le type de magasin pour sortie de marchandise par défaut</a:t>
            </a:r>
          </a:p>
          <a:p>
            <a:endParaRPr lang="fr-FR" sz="1200" dirty="0">
              <a:solidFill>
                <a:srgbClr val="4D4F53"/>
              </a:solidFill>
            </a:endParaRPr>
          </a:p>
          <a:p>
            <a:r>
              <a:rPr lang="fr-FR" sz="1200" dirty="0" smtClean="0">
                <a:solidFill>
                  <a:srgbClr val="4D4F53"/>
                </a:solidFill>
              </a:rPr>
              <a:t>Indiquer le type de magasin pour entrée de marchandise par défaut</a:t>
            </a:r>
          </a:p>
          <a:p>
            <a:endParaRPr lang="fr-FR" sz="1200" dirty="0">
              <a:solidFill>
                <a:srgbClr val="4D4F53"/>
              </a:solidFill>
            </a:endParaRPr>
          </a:p>
          <a:p>
            <a:r>
              <a:rPr lang="fr-FR" sz="1200" dirty="0" smtClean="0">
                <a:solidFill>
                  <a:srgbClr val="4D4F53"/>
                </a:solidFill>
              </a:rPr>
              <a:t>Cliquer sur l’onglet suivant pour créer la prochaine vue logistique</a:t>
            </a:r>
          </a:p>
          <a:p>
            <a:endParaRPr lang="fr-FR" sz="1200" dirty="0">
              <a:solidFill>
                <a:srgbClr val="4D4F53"/>
              </a:solidFill>
            </a:endParaRPr>
          </a:p>
          <a:p>
            <a:r>
              <a:rPr lang="fr-FR" sz="1200" dirty="0" smtClean="0">
                <a:solidFill>
                  <a:srgbClr val="4D4F53"/>
                </a:solidFill>
              </a:rPr>
              <a:t>Indiquer l’emplacement WM par défaut</a:t>
            </a:r>
          </a:p>
          <a:p>
            <a:endParaRPr lang="fr-FR" sz="1200" dirty="0" smtClean="0">
              <a:solidFill>
                <a:srgbClr val="4D4F53"/>
              </a:solidFill>
            </a:endParaRPr>
          </a:p>
          <a:p>
            <a:r>
              <a:rPr lang="fr-FR" sz="1200" dirty="0" smtClean="0">
                <a:solidFill>
                  <a:srgbClr val="4D4F53"/>
                </a:solidFill>
              </a:rPr>
              <a:t>Sauvegarder *    : un message de confirmation apparaît </a:t>
            </a:r>
          </a:p>
        </p:txBody>
      </p:sp>
      <p:sp>
        <p:nvSpPr>
          <p:cNvPr id="55" name="Ellipse 54"/>
          <p:cNvSpPr/>
          <p:nvPr/>
        </p:nvSpPr>
        <p:spPr>
          <a:xfrm>
            <a:off x="302626" y="125070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56" name="Ellipse 55"/>
          <p:cNvSpPr/>
          <p:nvPr/>
        </p:nvSpPr>
        <p:spPr>
          <a:xfrm>
            <a:off x="302626" y="160830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endParaRPr lang="fr-FR" sz="900" b="1" dirty="0">
              <a:solidFill>
                <a:schemeClr val="bg1"/>
              </a:solidFill>
            </a:endParaRPr>
          </a:p>
        </p:txBody>
      </p:sp>
      <p:sp>
        <p:nvSpPr>
          <p:cNvPr id="57" name="Ellipse 56"/>
          <p:cNvSpPr/>
          <p:nvPr/>
        </p:nvSpPr>
        <p:spPr>
          <a:xfrm>
            <a:off x="302626" y="21204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71" name="Ellipse 70"/>
          <p:cNvSpPr/>
          <p:nvPr/>
        </p:nvSpPr>
        <p:spPr>
          <a:xfrm>
            <a:off x="302626" y="269595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p>
        </p:txBody>
      </p:sp>
      <p:sp>
        <p:nvSpPr>
          <p:cNvPr id="72" name="Ellipse 71"/>
          <p:cNvSpPr/>
          <p:nvPr/>
        </p:nvSpPr>
        <p:spPr>
          <a:xfrm>
            <a:off x="302626" y="32355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p>
        </p:txBody>
      </p:sp>
      <p:sp>
        <p:nvSpPr>
          <p:cNvPr id="73" name="Ellipse 72"/>
          <p:cNvSpPr/>
          <p:nvPr/>
        </p:nvSpPr>
        <p:spPr>
          <a:xfrm>
            <a:off x="302626" y="37615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p>
        </p:txBody>
      </p:sp>
      <p:pic>
        <p:nvPicPr>
          <p:cNvPr id="83" name="Image 82"/>
          <p:cNvPicPr>
            <a:picLocks noChangeAspect="1"/>
          </p:cNvPicPr>
          <p:nvPr/>
        </p:nvPicPr>
        <p:blipFill>
          <a:blip r:embed="rId2"/>
          <a:stretch>
            <a:fillRect/>
          </a:stretch>
        </p:blipFill>
        <p:spPr>
          <a:xfrm>
            <a:off x="3289503" y="1233543"/>
            <a:ext cx="3735284" cy="3190946"/>
          </a:xfrm>
          <a:prstGeom prst="rect">
            <a:avLst/>
          </a:prstGeom>
        </p:spPr>
      </p:pic>
      <p:pic>
        <p:nvPicPr>
          <p:cNvPr id="84" name="Image 83"/>
          <p:cNvPicPr>
            <a:picLocks noChangeAspect="1"/>
          </p:cNvPicPr>
          <p:nvPr/>
        </p:nvPicPr>
        <p:blipFill>
          <a:blip r:embed="rId3"/>
          <a:stretch>
            <a:fillRect/>
          </a:stretch>
        </p:blipFill>
        <p:spPr>
          <a:xfrm>
            <a:off x="5630692" y="909330"/>
            <a:ext cx="3199182" cy="2642082"/>
          </a:xfrm>
          <a:prstGeom prst="rect">
            <a:avLst/>
          </a:prstGeom>
        </p:spPr>
      </p:pic>
      <p:sp>
        <p:nvSpPr>
          <p:cNvPr id="74" name="Rectangle 73"/>
          <p:cNvSpPr/>
          <p:nvPr/>
        </p:nvSpPr>
        <p:spPr>
          <a:xfrm>
            <a:off x="4313620" y="2691606"/>
            <a:ext cx="190198"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5" name="Rectangle 84"/>
          <p:cNvSpPr/>
          <p:nvPr/>
        </p:nvSpPr>
        <p:spPr>
          <a:xfrm>
            <a:off x="4286705" y="3769039"/>
            <a:ext cx="190198"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6" name="Rectangle 85"/>
          <p:cNvSpPr/>
          <p:nvPr/>
        </p:nvSpPr>
        <p:spPr>
          <a:xfrm>
            <a:off x="5991459" y="3771166"/>
            <a:ext cx="190198"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8" name="Rectangle 87"/>
          <p:cNvSpPr/>
          <p:nvPr/>
        </p:nvSpPr>
        <p:spPr>
          <a:xfrm>
            <a:off x="6766407" y="1348195"/>
            <a:ext cx="878402"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9" name="Rectangle 88"/>
          <p:cNvSpPr/>
          <p:nvPr/>
        </p:nvSpPr>
        <p:spPr>
          <a:xfrm>
            <a:off x="6479606" y="3031683"/>
            <a:ext cx="463454"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0" name="Ellipse 89"/>
          <p:cNvSpPr/>
          <p:nvPr/>
        </p:nvSpPr>
        <p:spPr>
          <a:xfrm>
            <a:off x="4092479" y="265120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1" name="Ellipse 90"/>
          <p:cNvSpPr/>
          <p:nvPr/>
        </p:nvSpPr>
        <p:spPr>
          <a:xfrm>
            <a:off x="4493932" y="374883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endParaRPr lang="fr-FR" sz="900" b="1" dirty="0">
              <a:solidFill>
                <a:schemeClr val="bg1"/>
              </a:solidFill>
            </a:endParaRPr>
          </a:p>
        </p:txBody>
      </p:sp>
      <p:sp>
        <p:nvSpPr>
          <p:cNvPr id="92" name="Ellipse 91"/>
          <p:cNvSpPr/>
          <p:nvPr/>
        </p:nvSpPr>
        <p:spPr>
          <a:xfrm>
            <a:off x="6234574" y="37590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94" name="Ellipse 93"/>
          <p:cNvSpPr/>
          <p:nvPr/>
        </p:nvSpPr>
        <p:spPr>
          <a:xfrm>
            <a:off x="6555197" y="133110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p>
        </p:txBody>
      </p:sp>
      <p:sp>
        <p:nvSpPr>
          <p:cNvPr id="95" name="Ellipse 94"/>
          <p:cNvSpPr/>
          <p:nvPr/>
        </p:nvSpPr>
        <p:spPr>
          <a:xfrm>
            <a:off x="6987583" y="299858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p>
        </p:txBody>
      </p:sp>
      <p:pic>
        <p:nvPicPr>
          <p:cNvPr id="97" name="Image 96"/>
          <p:cNvPicPr>
            <a:picLocks noChangeAspect="1"/>
          </p:cNvPicPr>
          <p:nvPr/>
        </p:nvPicPr>
        <p:blipFill>
          <a:blip r:embed="rId4"/>
          <a:stretch>
            <a:fillRect/>
          </a:stretch>
        </p:blipFill>
        <p:spPr>
          <a:xfrm>
            <a:off x="1355951" y="3739595"/>
            <a:ext cx="200025" cy="219075"/>
          </a:xfrm>
          <a:prstGeom prst="rect">
            <a:avLst/>
          </a:prstGeom>
        </p:spPr>
      </p:pic>
    </p:spTree>
    <p:extLst>
      <p:ext uri="{BB962C8B-B14F-4D97-AF65-F5344CB8AC3E}">
        <p14:creationId xmlns:p14="http://schemas.microsoft.com/office/powerpoint/2010/main" val="5488122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756458"/>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les vues logistiques pour un article déjà créé</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4" name="Rectangle 3"/>
          <p:cNvSpPr/>
          <p:nvPr/>
        </p:nvSpPr>
        <p:spPr>
          <a:xfrm>
            <a:off x="1485900" y="1438025"/>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Division</a:t>
            </a:r>
            <a:endParaRPr lang="en-US" sz="1350" b="1" dirty="0">
              <a:solidFill>
                <a:schemeClr val="bg1"/>
              </a:solidFill>
              <a:latin typeface="Arial" pitchFamily="34" charset="0"/>
              <a:cs typeface="Arial" pitchFamily="34" charset="0"/>
            </a:endParaRPr>
          </a:p>
        </p:txBody>
      </p:sp>
      <p:sp>
        <p:nvSpPr>
          <p:cNvPr id="36868" name="Espace réservé du contenu 4"/>
          <p:cNvSpPr>
            <a:spLocks noGrp="1"/>
          </p:cNvSpPr>
          <p:nvPr>
            <p:ph idx="1"/>
          </p:nvPr>
        </p:nvSpPr>
        <p:spPr>
          <a:xfrm>
            <a:off x="1485900" y="2151773"/>
            <a:ext cx="6172200" cy="1527091"/>
          </a:xfrm>
        </p:spPr>
        <p:txBody>
          <a:bodyPr/>
          <a:lstStyle/>
          <a:p>
            <a:r>
              <a:rPr lang="fr-FR" dirty="0"/>
              <a:t>Les </a:t>
            </a:r>
            <a:r>
              <a:rPr lang="fr-CA" dirty="0" smtClean="0"/>
              <a:t>divisions </a:t>
            </a:r>
            <a:r>
              <a:rPr lang="fr-CA" dirty="0"/>
              <a:t>représentent un site physique où se font les réceptions fournisseurs. </a:t>
            </a:r>
            <a:br>
              <a:rPr lang="fr-CA" dirty="0"/>
            </a:br>
            <a:r>
              <a:rPr lang="fr-CA" dirty="0"/>
              <a:t>Elles sont nécessairement liées à une Société dans SAP, et plusieurs Divisions peuvent être rattachées à une unique Société. Dans le cadre des activités de la CBG, il a été décidé de gérer une Société unique. </a:t>
            </a:r>
            <a:br>
              <a:rPr lang="fr-CA" dirty="0"/>
            </a:br>
            <a:r>
              <a:rPr lang="fr-CA" dirty="0"/>
              <a:t>Une division est une portion d’entité structurelle destinée à subdiviser une entreprise d’après les aspects de production, d’approvisionnement, de maintenance et de planification des besoins. Il s’agit d’un endroit où soit les articles sont produits, soit les marchandises et prestations sont fournies.</a:t>
            </a:r>
            <a:endParaRPr lang="en-US" dirty="0"/>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Pour la CBG, les divisions sont les suivantes :</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Divisions en Guinée  : GN01 </a:t>
            </a:r>
            <a:r>
              <a:rPr lang="fr-FR" altLang="en-US" sz="1100" dirty="0" err="1" smtClean="0">
                <a:latin typeface="Arial" panose="020B0604020202020204" pitchFamily="34" charset="0"/>
                <a:ea typeface="ＭＳ Ｐゴシック" panose="020B0600070205080204" pitchFamily="34" charset="-128"/>
                <a:cs typeface="Arial" panose="020B0604020202020204" pitchFamily="34" charset="0"/>
              </a:rPr>
              <a:t>Kamsar</a:t>
            </a: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 , GN02 </a:t>
            </a:r>
            <a:r>
              <a:rPr lang="fr-FR" altLang="en-US" sz="1100" dirty="0" err="1" smtClean="0">
                <a:latin typeface="Arial" panose="020B0604020202020204" pitchFamily="34" charset="0"/>
                <a:ea typeface="ＭＳ Ｐゴシック" panose="020B0600070205080204" pitchFamily="34" charset="-128"/>
                <a:cs typeface="Arial" panose="020B0604020202020204" pitchFamily="34" charset="0"/>
              </a:rPr>
              <a:t>Sangarédi</a:t>
            </a: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 , GN03 Conakry</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Divisions pour l’Outre-Mer  : BE01 Belgique, US01 </a:t>
            </a:r>
            <a:r>
              <a:rPr lang="fr-FR" altLang="en-US" sz="1100" dirty="0" err="1" smtClean="0">
                <a:latin typeface="Arial" panose="020B0604020202020204" pitchFamily="34" charset="0"/>
                <a:ea typeface="ＭＳ Ｐゴシック" panose="020B0600070205080204" pitchFamily="34" charset="-128"/>
                <a:cs typeface="Arial" panose="020B0604020202020204" pitchFamily="34" charset="0"/>
              </a:rPr>
              <a:t>Etats-Unsi</a:t>
            </a:r>
            <a:endParaRPr lang="fr-FR" altLang="en-US" sz="1100" dirty="0"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2" name="Image 1"/>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39601"/>
            <a:ext cx="884968" cy="422288"/>
          </a:xfrm>
          <a:prstGeom prst="rect">
            <a:avLst/>
          </a:prstGeom>
        </p:spPr>
      </p:pic>
    </p:spTree>
    <p:extLst>
      <p:ext uri="{BB962C8B-B14F-4D97-AF65-F5344CB8AC3E}">
        <p14:creationId xmlns:p14="http://schemas.microsoft.com/office/powerpoint/2010/main" val="19931925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22063"/>
            <a:ext cx="6172200" cy="1320867"/>
          </a:xfrm>
        </p:spPr>
        <p:txBody>
          <a:bodyPr/>
          <a:lstStyle/>
          <a:p>
            <a:r>
              <a:rPr lang="fr-FR" dirty="0"/>
              <a:t>Dans la terminologie SAP, un Magasin est une entité organisationnelle qui permet de différencier les stocks articles au sein d’une même Division. Toutes les données relatives à un Magasin particulier sont enregistrées au niveau du Magasin. Il est ainsi possible de différencier les stocks en quantité et en valeur avec un niveau de finesse supérieur à celui d’une division, représentant une réalité physique de répartition sur plusieurs aires de stockage physiques.</a:t>
            </a:r>
            <a:br>
              <a:rPr lang="fr-FR" dirty="0"/>
            </a:br>
            <a:r>
              <a:rPr lang="fr-FR" dirty="0"/>
              <a:t>Dans SAP, un Magasin est nécessairement rattaché à une unique Division. Une Division peut en revanche être composée une multitude de Magasins.</a:t>
            </a:r>
            <a:endParaRPr lang="en-US" dirty="0"/>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Les magasins définis par la CBG sont par exemple  </a:t>
            </a:r>
            <a:r>
              <a:rPr lang="fr-FR" altLang="en-US" dirty="0">
                <a:latin typeface="Arial" panose="020B0604020202020204" pitchFamily="34" charset="0"/>
                <a:ea typeface="ＭＳ Ｐゴシック" panose="020B0600070205080204" pitchFamily="34" charset="-128"/>
                <a:cs typeface="Arial" panose="020B0604020202020204" pitchFamily="34" charset="0"/>
              </a:rPr>
              <a:t>:</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ALIM  Alimentation</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CFB  Magasin Chemin de Fer</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GARA Garage</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a:t>
            </a:r>
            <a:endParaRPr lang="fr-FR" altLang="en-US" sz="1100" dirty="0">
              <a:latin typeface="Arial" panose="020B0604020202020204" pitchFamily="34" charset="0"/>
              <a:ea typeface="ＭＳ Ｐゴシック" panose="020B0600070205080204" pitchFamily="34" charset="-128"/>
              <a:cs typeface="Arial" panose="020B0604020202020204" pitchFamily="34" charset="0"/>
            </a:endParaRPr>
          </a:p>
          <a:p>
            <a:pPr>
              <a:spcBef>
                <a:spcPts val="0"/>
              </a:spcBef>
              <a:buClr>
                <a:srgbClr val="4F81BD"/>
              </a:buClr>
              <a:buSzPct val="100000"/>
            </a:pPr>
            <a:endParaRPr lang="fr-FR" altLang="en-US" dirty="0">
              <a:latin typeface="Arial" panose="020B0604020202020204" pitchFamily="34" charset="0"/>
              <a:ea typeface="ＭＳ Ｐゴシック" panose="020B0600070205080204" pitchFamily="34" charset="-128"/>
              <a:cs typeface="Arial" panose="020B0604020202020204" pitchFamily="34" charset="0"/>
            </a:endParaRPr>
          </a:p>
          <a:p>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208003"/>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a:solidFill>
                  <a:schemeClr val="bg1"/>
                </a:solidFill>
                <a:latin typeface="Arial" pitchFamily="34" charset="0"/>
                <a:cs typeface="Arial" pitchFamily="34" charset="0"/>
              </a:rPr>
              <a:t>M</a:t>
            </a:r>
            <a:r>
              <a:rPr lang="fr-FR" sz="1350" b="1" dirty="0" smtClean="0">
                <a:solidFill>
                  <a:schemeClr val="bg1"/>
                </a:solidFill>
                <a:latin typeface="Arial" pitchFamily="34" charset="0"/>
                <a:cs typeface="Arial" pitchFamily="34" charset="0"/>
              </a:rPr>
              <a:t>agasin</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209579"/>
            <a:ext cx="884968" cy="422288"/>
          </a:xfrm>
          <a:prstGeom prst="rect">
            <a:avLst/>
          </a:prstGeom>
        </p:spPr>
      </p:pic>
    </p:spTree>
    <p:extLst>
      <p:ext uri="{BB962C8B-B14F-4D97-AF65-F5344CB8AC3E}">
        <p14:creationId xmlns:p14="http://schemas.microsoft.com/office/powerpoint/2010/main" val="7753047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2124971"/>
            <a:ext cx="6172200" cy="830879"/>
          </a:xfrm>
        </p:spPr>
        <p:txBody>
          <a:bodyPr/>
          <a:lstStyle/>
          <a:p>
            <a:r>
              <a:rPr lang="fr-FR" dirty="0"/>
              <a:t>L'emplacement est la plus petite unité d'espace disponible dans un magasin. Il indique le poste du magasin où les marchandises sont ou peuvent être stockés (adresse de picking).</a:t>
            </a:r>
            <a:br>
              <a:rPr lang="fr-FR" dirty="0"/>
            </a:br>
            <a:r>
              <a:rPr lang="fr-FR" dirty="0"/>
              <a:t>Un emplacement est relié à un Type de Magasin. Un Type de Magasin est composé de plusieurs emplacements.</a:t>
            </a:r>
            <a:endParaRPr lang="en-US" dirty="0"/>
          </a:p>
          <a:p>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Emplacement</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543638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3"/>
          <p:cNvSpPr>
            <a:spLocks noGrp="1"/>
          </p:cNvSpPr>
          <p:nvPr>
            <p:ph type="title"/>
          </p:nvPr>
        </p:nvSpPr>
        <p:spPr>
          <a:xfrm>
            <a:off x="457200" y="206375"/>
            <a:ext cx="8229600" cy="857250"/>
          </a:xfrm>
        </p:spPr>
        <p:txBody>
          <a:bodyPr>
            <a:normAutofit/>
          </a:bodyPr>
          <a:lstStyle/>
          <a:p>
            <a:r>
              <a:rPr lang="fr-FR" altLang="en-US" sz="2400" dirty="0"/>
              <a:t>Mode opératoire</a:t>
            </a:r>
            <a:br>
              <a:rPr lang="fr-FR" altLang="en-US" sz="2400" dirty="0"/>
            </a:br>
            <a:r>
              <a:rPr lang="fr-FR" altLang="en-US" dirty="0" smtClean="0"/>
              <a:t>MM02 – Modifier une vue logistique d’une fiche article</a:t>
            </a:r>
            <a:endParaRPr lang="en-US" altLang="en-US" dirty="0" smtClean="0"/>
          </a:p>
        </p:txBody>
      </p:sp>
      <p:sp>
        <p:nvSpPr>
          <p:cNvPr id="28" name="ZoneTexte 27"/>
          <p:cNvSpPr txBox="1"/>
          <p:nvPr/>
        </p:nvSpPr>
        <p:spPr>
          <a:xfrm>
            <a:off x="578640" y="1198210"/>
            <a:ext cx="3038475" cy="3416320"/>
          </a:xfrm>
          <a:prstGeom prst="rect">
            <a:avLst/>
          </a:prstGeom>
          <a:noFill/>
        </p:spPr>
        <p:txBody>
          <a:bodyPr wrap="square" rtlCol="0">
            <a:spAutoFit/>
          </a:bodyPr>
          <a:lstStyle/>
          <a:p>
            <a:r>
              <a:rPr lang="fr-FR" sz="1200" dirty="0" smtClean="0">
                <a:solidFill>
                  <a:srgbClr val="4D4F53"/>
                </a:solidFill>
              </a:rPr>
              <a:t>Indiquer l’article</a:t>
            </a:r>
          </a:p>
          <a:p>
            <a:endParaRPr lang="fr-FR" sz="1200" dirty="0">
              <a:solidFill>
                <a:srgbClr val="4D4F53"/>
              </a:solidFill>
            </a:endParaRPr>
          </a:p>
          <a:p>
            <a:r>
              <a:rPr lang="fr-FR" sz="1200" dirty="0" smtClean="0">
                <a:solidFill>
                  <a:srgbClr val="4D4F53"/>
                </a:solidFill>
              </a:rPr>
              <a:t>Appuyer sur Entrer</a:t>
            </a:r>
          </a:p>
          <a:p>
            <a:endParaRPr lang="fr-FR" sz="1200" dirty="0">
              <a:solidFill>
                <a:srgbClr val="4D4F53"/>
              </a:solidFill>
            </a:endParaRPr>
          </a:p>
          <a:p>
            <a:endParaRPr lang="fr-FR" sz="1200" dirty="0">
              <a:solidFill>
                <a:srgbClr val="4D4F53"/>
              </a:solidFill>
            </a:endParaRPr>
          </a:p>
          <a:p>
            <a:r>
              <a:rPr lang="fr-FR" sz="1200" dirty="0" smtClean="0">
                <a:solidFill>
                  <a:srgbClr val="4D4F53"/>
                </a:solidFill>
              </a:rPr>
              <a:t>Sélectionner la vue à modifier « Gestion des emplacement 2 »</a:t>
            </a:r>
          </a:p>
          <a:p>
            <a:endParaRPr lang="fr-FR" sz="1200" dirty="0">
              <a:solidFill>
                <a:srgbClr val="4D4F53"/>
              </a:solidFill>
            </a:endParaRPr>
          </a:p>
          <a:p>
            <a:r>
              <a:rPr lang="fr-FR" sz="1200" dirty="0" smtClean="0">
                <a:solidFill>
                  <a:srgbClr val="4D4F53"/>
                </a:solidFill>
              </a:rPr>
              <a:t>Cliquer sur Suite</a:t>
            </a:r>
          </a:p>
          <a:p>
            <a:endParaRPr lang="fr-FR" sz="1200" dirty="0">
              <a:solidFill>
                <a:srgbClr val="4D4F53"/>
              </a:solidFill>
            </a:endParaRPr>
          </a:p>
          <a:p>
            <a:r>
              <a:rPr lang="fr-FR" sz="1200" dirty="0" smtClean="0">
                <a:solidFill>
                  <a:srgbClr val="4D4F53"/>
                </a:solidFill>
              </a:rPr>
              <a:t>Indiquer les niveaux organisationnels : Division, Magasin, Type de magasin</a:t>
            </a:r>
          </a:p>
          <a:p>
            <a:endParaRPr lang="fr-FR" sz="1200" dirty="0">
              <a:solidFill>
                <a:srgbClr val="4D4F53"/>
              </a:solidFill>
            </a:endParaRPr>
          </a:p>
          <a:p>
            <a:r>
              <a:rPr lang="fr-FR" sz="1200" dirty="0" smtClean="0">
                <a:solidFill>
                  <a:srgbClr val="4D4F53"/>
                </a:solidFill>
              </a:rPr>
              <a:t>Appuyer sur Suite</a:t>
            </a:r>
          </a:p>
          <a:p>
            <a:endParaRPr lang="fr-FR" sz="1200" dirty="0">
              <a:solidFill>
                <a:srgbClr val="4D4F53"/>
              </a:solidFill>
            </a:endParaRPr>
          </a:p>
          <a:p>
            <a:r>
              <a:rPr lang="fr-FR" sz="1200" dirty="0" smtClean="0">
                <a:solidFill>
                  <a:srgbClr val="4D4F53"/>
                </a:solidFill>
              </a:rPr>
              <a:t>Modifier l’emplacement WM</a:t>
            </a:r>
          </a:p>
          <a:p>
            <a:endParaRPr lang="fr-FR" sz="1200" dirty="0">
              <a:solidFill>
                <a:srgbClr val="4D4F53"/>
              </a:solidFill>
            </a:endParaRPr>
          </a:p>
          <a:p>
            <a:r>
              <a:rPr lang="fr-FR" sz="1200" dirty="0" smtClean="0">
                <a:solidFill>
                  <a:srgbClr val="4D4F53"/>
                </a:solidFill>
              </a:rPr>
              <a:t>Sauvegarder</a:t>
            </a:r>
          </a:p>
        </p:txBody>
      </p:sp>
      <p:sp>
        <p:nvSpPr>
          <p:cNvPr id="29" name="Ellipse 28"/>
          <p:cNvSpPr/>
          <p:nvPr/>
        </p:nvSpPr>
        <p:spPr>
          <a:xfrm>
            <a:off x="358088" y="125283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0" name="Ellipse 29"/>
          <p:cNvSpPr/>
          <p:nvPr/>
        </p:nvSpPr>
        <p:spPr>
          <a:xfrm>
            <a:off x="358088" y="163142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1" name="Ellipse 30"/>
          <p:cNvSpPr/>
          <p:nvPr/>
        </p:nvSpPr>
        <p:spPr>
          <a:xfrm>
            <a:off x="358088" y="216843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2" name="Ellipse 31"/>
          <p:cNvSpPr/>
          <p:nvPr/>
        </p:nvSpPr>
        <p:spPr>
          <a:xfrm>
            <a:off x="358088" y="270098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358088" y="308750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0" name="Ellipse 39"/>
          <p:cNvSpPr/>
          <p:nvPr/>
        </p:nvSpPr>
        <p:spPr>
          <a:xfrm>
            <a:off x="358088" y="36165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pic>
        <p:nvPicPr>
          <p:cNvPr id="44" name="Image 43"/>
          <p:cNvPicPr>
            <a:picLocks noChangeAspect="1"/>
          </p:cNvPicPr>
          <p:nvPr/>
        </p:nvPicPr>
        <p:blipFill>
          <a:blip r:embed="rId2"/>
          <a:stretch>
            <a:fillRect/>
          </a:stretch>
        </p:blipFill>
        <p:spPr>
          <a:xfrm>
            <a:off x="3453337" y="961434"/>
            <a:ext cx="2020962" cy="1047906"/>
          </a:xfrm>
          <a:prstGeom prst="rect">
            <a:avLst/>
          </a:prstGeom>
        </p:spPr>
      </p:pic>
      <p:pic>
        <p:nvPicPr>
          <p:cNvPr id="45" name="Image 44"/>
          <p:cNvPicPr>
            <a:picLocks noChangeAspect="1"/>
          </p:cNvPicPr>
          <p:nvPr/>
        </p:nvPicPr>
        <p:blipFill>
          <a:blip r:embed="rId3"/>
          <a:stretch>
            <a:fillRect/>
          </a:stretch>
        </p:blipFill>
        <p:spPr>
          <a:xfrm>
            <a:off x="3511857" y="2048189"/>
            <a:ext cx="1915698" cy="2964620"/>
          </a:xfrm>
          <a:prstGeom prst="rect">
            <a:avLst/>
          </a:prstGeom>
        </p:spPr>
      </p:pic>
      <p:pic>
        <p:nvPicPr>
          <p:cNvPr id="53" name="Image 52"/>
          <p:cNvPicPr>
            <a:picLocks noChangeAspect="1"/>
          </p:cNvPicPr>
          <p:nvPr/>
        </p:nvPicPr>
        <p:blipFill>
          <a:blip r:embed="rId4"/>
          <a:stretch>
            <a:fillRect/>
          </a:stretch>
        </p:blipFill>
        <p:spPr>
          <a:xfrm>
            <a:off x="5611906" y="1009314"/>
            <a:ext cx="3230428" cy="2706266"/>
          </a:xfrm>
          <a:prstGeom prst="rect">
            <a:avLst/>
          </a:prstGeom>
        </p:spPr>
      </p:pic>
      <p:pic>
        <p:nvPicPr>
          <p:cNvPr id="54" name="Image 53"/>
          <p:cNvPicPr>
            <a:picLocks noChangeAspect="1"/>
          </p:cNvPicPr>
          <p:nvPr/>
        </p:nvPicPr>
        <p:blipFill>
          <a:blip r:embed="rId5"/>
          <a:stretch>
            <a:fillRect/>
          </a:stretch>
        </p:blipFill>
        <p:spPr>
          <a:xfrm>
            <a:off x="5611906" y="3842953"/>
            <a:ext cx="2977118" cy="1203764"/>
          </a:xfrm>
          <a:prstGeom prst="rect">
            <a:avLst/>
          </a:prstGeom>
        </p:spPr>
      </p:pic>
      <p:sp>
        <p:nvSpPr>
          <p:cNvPr id="56" name="Rectangle 55"/>
          <p:cNvSpPr/>
          <p:nvPr/>
        </p:nvSpPr>
        <p:spPr>
          <a:xfrm>
            <a:off x="4183093" y="1549774"/>
            <a:ext cx="880537"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7" name="Rectangle 56"/>
          <p:cNvSpPr/>
          <p:nvPr/>
        </p:nvSpPr>
        <p:spPr>
          <a:xfrm>
            <a:off x="3589169" y="4113413"/>
            <a:ext cx="1262669"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8" name="Rectangle 57"/>
          <p:cNvSpPr/>
          <p:nvPr/>
        </p:nvSpPr>
        <p:spPr>
          <a:xfrm>
            <a:off x="6541274" y="3129971"/>
            <a:ext cx="478391" cy="23747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9" name="Rectangle 58"/>
          <p:cNvSpPr/>
          <p:nvPr/>
        </p:nvSpPr>
        <p:spPr>
          <a:xfrm>
            <a:off x="6302079" y="4170500"/>
            <a:ext cx="478391" cy="44403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0" name="Ellipse 59"/>
          <p:cNvSpPr/>
          <p:nvPr/>
        </p:nvSpPr>
        <p:spPr>
          <a:xfrm>
            <a:off x="3919662" y="15295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1" name="Ellipse 60"/>
          <p:cNvSpPr/>
          <p:nvPr/>
        </p:nvSpPr>
        <p:spPr>
          <a:xfrm>
            <a:off x="4882574" y="411341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62" name="Ellipse 61"/>
          <p:cNvSpPr/>
          <p:nvPr/>
        </p:nvSpPr>
        <p:spPr>
          <a:xfrm>
            <a:off x="6863529" y="428998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63" name="Ellipse 62"/>
          <p:cNvSpPr/>
          <p:nvPr/>
        </p:nvSpPr>
        <p:spPr>
          <a:xfrm>
            <a:off x="7101917" y="31647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cxnSp>
        <p:nvCxnSpPr>
          <p:cNvPr id="64" name="Connecteur droit 63"/>
          <p:cNvCxnSpPr/>
          <p:nvPr/>
        </p:nvCxnSpPr>
        <p:spPr>
          <a:xfrm>
            <a:off x="4882574" y="1708707"/>
            <a:ext cx="0" cy="884609"/>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6" name="Connecteur droit 65"/>
          <p:cNvCxnSpPr/>
          <p:nvPr/>
        </p:nvCxnSpPr>
        <p:spPr>
          <a:xfrm>
            <a:off x="4882574" y="4614530"/>
            <a:ext cx="859996" cy="0"/>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Connecteur droit 68"/>
          <p:cNvCxnSpPr/>
          <p:nvPr/>
        </p:nvCxnSpPr>
        <p:spPr>
          <a:xfrm flipV="1">
            <a:off x="7101917" y="3616586"/>
            <a:ext cx="542892" cy="1285024"/>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72" name="Image 71"/>
          <p:cNvPicPr>
            <a:picLocks noChangeAspect="1"/>
          </p:cNvPicPr>
          <p:nvPr/>
        </p:nvPicPr>
        <p:blipFill>
          <a:blip r:embed="rId6"/>
          <a:stretch>
            <a:fillRect/>
          </a:stretch>
        </p:blipFill>
        <p:spPr>
          <a:xfrm>
            <a:off x="1501392" y="4335024"/>
            <a:ext cx="200025" cy="219075"/>
          </a:xfrm>
          <a:prstGeom prst="rect">
            <a:avLst/>
          </a:prstGeom>
        </p:spPr>
      </p:pic>
      <p:sp>
        <p:nvSpPr>
          <p:cNvPr id="73" name="Ellipse 72"/>
          <p:cNvSpPr/>
          <p:nvPr/>
        </p:nvSpPr>
        <p:spPr>
          <a:xfrm>
            <a:off x="358088" y="399109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74" name="Ellipse 73"/>
          <p:cNvSpPr/>
          <p:nvPr/>
        </p:nvSpPr>
        <p:spPr>
          <a:xfrm>
            <a:off x="358088" y="43609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8</a:t>
            </a:r>
            <a:endParaRPr lang="fr-FR" sz="900" b="1" dirty="0" smtClean="0">
              <a:solidFill>
                <a:schemeClr val="bg1"/>
              </a:solidFill>
            </a:endParaRPr>
          </a:p>
        </p:txBody>
      </p:sp>
    </p:spTree>
    <p:extLst>
      <p:ext uri="{BB962C8B-B14F-4D97-AF65-F5344CB8AC3E}">
        <p14:creationId xmlns:p14="http://schemas.microsoft.com/office/powerpoint/2010/main" val="11447180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675930" y="1043860"/>
            <a:ext cx="3197518" cy="280879"/>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Modifier une vue logistique de la fiche article</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1" name="Groupe 30"/>
          <p:cNvGrpSpPr/>
          <p:nvPr/>
        </p:nvGrpSpPr>
        <p:grpSpPr>
          <a:xfrm>
            <a:off x="5174456" y="205978"/>
            <a:ext cx="3680275" cy="4299347"/>
            <a:chOff x="5174456" y="205978"/>
            <a:chExt cx="3680275" cy="4299347"/>
          </a:xfrm>
        </p:grpSpPr>
        <p:grpSp>
          <p:nvGrpSpPr>
            <p:cNvPr id="34" name="Groupe 33"/>
            <p:cNvGrpSpPr/>
            <p:nvPr/>
          </p:nvGrpSpPr>
          <p:grpSpPr>
            <a:xfrm>
              <a:off x="5174456" y="205978"/>
              <a:ext cx="3680275" cy="4299347"/>
              <a:chOff x="3707606" y="205978"/>
              <a:chExt cx="4105275" cy="4795838"/>
            </a:xfrm>
          </p:grpSpPr>
          <p:sp>
            <p:nvSpPr>
              <p:cNvPr id="37" name="Rectangle 36"/>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38" name="Connecteur droit 3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9" name="Connecteur droit 3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0" name="Connecteur droit 39"/>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5" name="Image 34"/>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6"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21117809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nomenclatures</a:t>
            </a:r>
            <a:endParaRPr lang="en-US" altLang="en-US" dirty="0" smtClean="0"/>
          </a:p>
        </p:txBody>
      </p:sp>
      <p:sp>
        <p:nvSpPr>
          <p:cNvPr id="28678" name="AutoShape 6"/>
          <p:cNvSpPr>
            <a:spLocks noChangeArrowheads="1"/>
          </p:cNvSpPr>
          <p:nvPr/>
        </p:nvSpPr>
        <p:spPr bwMode="auto">
          <a:xfrm>
            <a:off x="1613861" y="1534837"/>
            <a:ext cx="1570434"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créer </a:t>
            </a:r>
            <a:r>
              <a:rPr lang="fr-FR" altLang="en-US" sz="1050" dirty="0" smtClean="0">
                <a:cs typeface="Arial" panose="020B0604020202020204" pitchFamily="34" charset="0"/>
              </a:rPr>
              <a:t>les nomenclatures?</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613861" y="3595561"/>
            <a:ext cx="1647825" cy="478201"/>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a:t>
            </a:r>
            <a:r>
              <a:rPr lang="fr-FR" altLang="en-US" sz="1050" dirty="0" smtClean="0">
                <a:solidFill>
                  <a:schemeClr val="bg1"/>
                </a:solidFill>
                <a:cs typeface="Arial" panose="020B0604020202020204" pitchFamily="34" charset="0"/>
              </a:rPr>
              <a:t>les nomenclatures?</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059652" y="2466919"/>
            <a:ext cx="2166938" cy="478201"/>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Magasiniers, </a:t>
            </a:r>
            <a:r>
              <a:rPr lang="fr-FR" altLang="en-US" sz="1050" dirty="0" smtClean="0">
                <a:solidFill>
                  <a:schemeClr val="bg1"/>
                </a:solidFill>
              </a:rPr>
              <a:t>maintenance, </a:t>
            </a:r>
            <a:r>
              <a:rPr lang="fr-FR" altLang="en-US" sz="1050" dirty="0" smtClean="0">
                <a:solidFill>
                  <a:schemeClr val="bg1"/>
                </a:solidFill>
              </a:rPr>
              <a:t>autres possibles</a:t>
            </a:r>
            <a:endParaRPr lang="fr-FR" altLang="en-US" sz="1050" dirty="0">
              <a:solidFill>
                <a:schemeClr val="bg1"/>
              </a:solidFill>
            </a:endParaRPr>
          </a:p>
        </p:txBody>
      </p:sp>
      <p:sp>
        <p:nvSpPr>
          <p:cNvPr id="28681" name="AutoShape 12"/>
          <p:cNvSpPr>
            <a:spLocks noChangeArrowheads="1"/>
          </p:cNvSpPr>
          <p:nvPr/>
        </p:nvSpPr>
        <p:spPr bwMode="auto">
          <a:xfrm>
            <a:off x="4792287" y="935517"/>
            <a:ext cx="2701669" cy="1014518"/>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Les nomenclatures sont créées pour les articles galéniques ou les articles de maintenance pour réparation afin d’effectuer des opérations de sous-traitance</a:t>
            </a:r>
            <a:endParaRPr lang="fr-FR" altLang="en-US" sz="1050" dirty="0"/>
          </a:p>
        </p:txBody>
      </p:sp>
      <p:sp>
        <p:nvSpPr>
          <p:cNvPr id="28682" name="AutoShape 6"/>
          <p:cNvSpPr>
            <a:spLocks noChangeArrowheads="1"/>
          </p:cNvSpPr>
          <p:nvPr/>
        </p:nvSpPr>
        <p:spPr bwMode="auto">
          <a:xfrm>
            <a:off x="1739947" y="2394864"/>
            <a:ext cx="1151334" cy="656973"/>
          </a:xfrm>
          <a:prstGeom prst="wedgeRoundRectCallout">
            <a:avLst>
              <a:gd name="adj1" fmla="val 86777"/>
              <a:gd name="adj2" fmla="val -3890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créer </a:t>
            </a:r>
            <a:r>
              <a:rPr lang="fr-FR" altLang="en-US" sz="1050" dirty="0" smtClean="0">
                <a:solidFill>
                  <a:schemeClr val="bg1"/>
                </a:solidFill>
                <a:cs typeface="Arial" panose="020B0604020202020204" pitchFamily="34" charset="0"/>
              </a:rPr>
              <a:t>les nomenclatures?</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4940748" y="3365265"/>
            <a:ext cx="2893219" cy="656973"/>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On retrouve les articles (composants) qui vont permettre de constituer l’article final avec les quantités respectives</a:t>
            </a:r>
            <a:endParaRPr lang="fr-FR" altLang="en-US" sz="1050" dirty="0">
              <a:solidFill>
                <a:schemeClr val="bg1"/>
              </a:solidFill>
            </a:endParaRPr>
          </a:p>
        </p:txBody>
      </p:sp>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Tree>
    <p:extLst>
      <p:ext uri="{BB962C8B-B14F-4D97-AF65-F5344CB8AC3E}">
        <p14:creationId xmlns:p14="http://schemas.microsoft.com/office/powerpoint/2010/main" val="3294342866"/>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endParaRPr lang="en-US" altLang="en-US" dirty="0" smtClean="0"/>
          </a:p>
        </p:txBody>
      </p:sp>
      <p:sp>
        <p:nvSpPr>
          <p:cNvPr id="20" name="Rectangle à coins arrondis 19"/>
          <p:cNvSpPr/>
          <p:nvPr/>
        </p:nvSpPr>
        <p:spPr>
          <a:xfrm>
            <a:off x="4355243" y="1405028"/>
            <a:ext cx="2874704" cy="656973"/>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a:t>
            </a:r>
            <a:r>
              <a:rPr lang="fr-FR" sz="1050" dirty="0" smtClean="0">
                <a:solidFill>
                  <a:schemeClr val="bg1"/>
                </a:solidFill>
                <a:latin typeface="Arial" panose="020B0604020202020204" pitchFamily="34" charset="0"/>
                <a:ea typeface="ＭＳ Ｐゴシック" panose="020B0600070205080204" pitchFamily="34" charset="-128"/>
              </a:rPr>
              <a:t>des nomenclatures s’inscrit dans le cadre de la création des données référentielles de base</a:t>
            </a:r>
          </a:p>
        </p:txBody>
      </p:sp>
      <p:sp>
        <p:nvSpPr>
          <p:cNvPr id="29702" name="AutoShape 18"/>
          <p:cNvSpPr>
            <a:spLocks noChangeArrowheads="1"/>
          </p:cNvSpPr>
          <p:nvPr/>
        </p:nvSpPr>
        <p:spPr bwMode="auto">
          <a:xfrm>
            <a:off x="2556225" y="3777107"/>
            <a:ext cx="1654268"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d’une nomenclature</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14" name="AutoShape 19"/>
          <p:cNvSpPr>
            <a:spLocks noChangeArrowheads="1"/>
          </p:cNvSpPr>
          <p:nvPr/>
        </p:nvSpPr>
        <p:spPr bwMode="auto">
          <a:xfrm>
            <a:off x="5972616" y="3777107"/>
            <a:ext cx="1553086"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smtClean="0">
                <a:solidFill>
                  <a:srgbClr val="FFFFFF"/>
                </a:solidFill>
                <a:latin typeface="Verdana" pitchFamily="34" charset="0"/>
                <a:ea typeface="ＭＳ Ｐゴシック"/>
                <a:cs typeface="Arial" pitchFamily="34" charset="0"/>
              </a:rPr>
              <a:t>Commande de sous-traitance </a:t>
            </a:r>
            <a:endParaRPr lang="fr-FR" altLang="ko-KR" sz="800" b="1" dirty="0">
              <a:solidFill>
                <a:srgbClr val="FFFFFF"/>
              </a:solidFill>
              <a:latin typeface="Verdana" pitchFamily="34" charset="0"/>
              <a:ea typeface="ＭＳ Ｐゴシック"/>
              <a:cs typeface="Arial" pitchFamily="34" charset="0"/>
            </a:endParaRPr>
          </a:p>
        </p:txBody>
      </p:sp>
      <p:sp>
        <p:nvSpPr>
          <p:cNvPr id="15" name="AutoShape 18"/>
          <p:cNvSpPr>
            <a:spLocks noChangeArrowheads="1"/>
          </p:cNvSpPr>
          <p:nvPr/>
        </p:nvSpPr>
        <p:spPr bwMode="auto">
          <a:xfrm>
            <a:off x="4210493" y="3777107"/>
            <a:ext cx="1654268"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Modification d’une nomenclature</a:t>
            </a:r>
            <a:endParaRPr lang="fr-FR" altLang="ko-KR" sz="800" b="1" dirty="0">
              <a:solidFill>
                <a:schemeClr val="bg1"/>
              </a:solidFill>
              <a:latin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2873151043"/>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39" name="Groupe 38"/>
          <p:cNvGrpSpPr/>
          <p:nvPr/>
        </p:nvGrpSpPr>
        <p:grpSpPr>
          <a:xfrm>
            <a:off x="1947918" y="2084982"/>
            <a:ext cx="1296000" cy="754857"/>
            <a:chOff x="1507778" y="2276353"/>
            <a:chExt cx="1258269" cy="754857"/>
          </a:xfrm>
        </p:grpSpPr>
        <p:sp>
          <p:nvSpPr>
            <p:cNvPr id="40" name="Rectangle 39"/>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Création d’une nomenclature</a:t>
              </a:r>
              <a:endParaRPr lang="en-US" sz="800" dirty="0">
                <a:solidFill>
                  <a:schemeClr val="bg1"/>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CS01</a:t>
              </a:r>
              <a:endParaRPr lang="en-US" sz="8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47" name="Connecteur en angle 46"/>
          <p:cNvCxnSpPr>
            <a:stCxn id="41" idx="3"/>
            <a:endCxn id="58" idx="1"/>
          </p:cNvCxnSpPr>
          <p:nvPr/>
        </p:nvCxnSpPr>
        <p:spPr>
          <a:xfrm>
            <a:off x="3243918" y="2516584"/>
            <a:ext cx="2366469" cy="344564"/>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eur en angle 47"/>
          <p:cNvCxnSpPr>
            <a:stCxn id="41" idx="3"/>
            <a:endCxn id="61" idx="1"/>
          </p:cNvCxnSpPr>
          <p:nvPr/>
        </p:nvCxnSpPr>
        <p:spPr>
          <a:xfrm flipV="1">
            <a:off x="3243918" y="1747843"/>
            <a:ext cx="2366469" cy="768741"/>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50" name="Groupe 49"/>
          <p:cNvGrpSpPr/>
          <p:nvPr/>
        </p:nvGrpSpPr>
        <p:grpSpPr>
          <a:xfrm>
            <a:off x="5610387" y="1315993"/>
            <a:ext cx="1296000" cy="1861828"/>
            <a:chOff x="3827406" y="1979447"/>
            <a:chExt cx="1258269" cy="1861828"/>
          </a:xfrm>
        </p:grpSpPr>
        <p:sp>
          <p:nvSpPr>
            <p:cNvPr id="56" name="Rectangle 55"/>
            <p:cNvSpPr/>
            <p:nvPr/>
          </p:nvSpPr>
          <p:spPr>
            <a:xfrm>
              <a:off x="3827406" y="3092752"/>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Identifier les cas d’emploi d’un article</a:t>
              </a:r>
              <a:endParaRPr lang="en-US" sz="800" dirty="0">
                <a:solidFill>
                  <a:schemeClr val="bg1"/>
                </a:solidFill>
                <a:latin typeface="Arial" pitchFamily="34" charset="0"/>
                <a:cs typeface="Arial" pitchFamily="34" charset="0"/>
              </a:endParaRPr>
            </a:p>
          </p:txBody>
        </p:sp>
        <p:sp>
          <p:nvSpPr>
            <p:cNvPr id="58" name="Rectangle 57"/>
            <p:cNvSpPr/>
            <p:nvPr/>
          </p:nvSpPr>
          <p:spPr>
            <a:xfrm>
              <a:off x="3827406" y="3416602"/>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CS15</a:t>
              </a:r>
              <a:endParaRPr lang="en-US" sz="800" b="1" dirty="0">
                <a:solidFill>
                  <a:schemeClr val="bg1"/>
                </a:solidFill>
                <a:latin typeface="Arial" panose="020B0604020202020204" pitchFamily="34" charset="0"/>
                <a:cs typeface="Arial" panose="020B0604020202020204" pitchFamily="34" charset="0"/>
              </a:endParaRPr>
            </a:p>
          </p:txBody>
        </p:sp>
        <p:sp>
          <p:nvSpPr>
            <p:cNvPr id="59" name="Rectangle 58"/>
            <p:cNvSpPr/>
            <p:nvPr/>
          </p:nvSpPr>
          <p:spPr>
            <a:xfrm>
              <a:off x="3827406" y="3625275"/>
              <a:ext cx="1258269"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sp>
          <p:nvSpPr>
            <p:cNvPr id="60" name="Rectangle 59"/>
            <p:cNvSpPr/>
            <p:nvPr/>
          </p:nvSpPr>
          <p:spPr>
            <a:xfrm>
              <a:off x="3827406" y="1979447"/>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Modification d’une nomenclature</a:t>
              </a:r>
              <a:endParaRPr lang="en-US" sz="800" dirty="0">
                <a:solidFill>
                  <a:schemeClr val="bg1"/>
                </a:solidFill>
                <a:latin typeface="Arial" pitchFamily="34" charset="0"/>
                <a:cs typeface="Arial" pitchFamily="34" charset="0"/>
              </a:endParaRPr>
            </a:p>
          </p:txBody>
        </p:sp>
        <p:sp>
          <p:nvSpPr>
            <p:cNvPr id="61" name="Rectangle 60"/>
            <p:cNvSpPr/>
            <p:nvPr/>
          </p:nvSpPr>
          <p:spPr>
            <a:xfrm>
              <a:off x="3827406" y="2303297"/>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CS02</a:t>
              </a:r>
              <a:endParaRPr lang="en-US" sz="800" b="1" dirty="0">
                <a:solidFill>
                  <a:schemeClr val="bg1"/>
                </a:solidFill>
                <a:latin typeface="Arial" panose="020B0604020202020204" pitchFamily="34" charset="0"/>
                <a:cs typeface="Arial" panose="020B0604020202020204" pitchFamily="34" charset="0"/>
              </a:endParaRPr>
            </a:p>
          </p:txBody>
        </p:sp>
        <p:sp>
          <p:nvSpPr>
            <p:cNvPr id="62" name="Rectangle 61"/>
            <p:cNvSpPr/>
            <p:nvPr/>
          </p:nvSpPr>
          <p:spPr>
            <a:xfrm>
              <a:off x="3827406" y="2519991"/>
              <a:ext cx="1258269"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6987423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CS01 </a:t>
            </a:r>
            <a:r>
              <a:rPr lang="fr-FR" altLang="en-US" dirty="0"/>
              <a:t>– </a:t>
            </a:r>
            <a:r>
              <a:rPr lang="fr-FR" altLang="en-US" dirty="0" smtClean="0"/>
              <a:t>Créer une nomenclature</a:t>
            </a:r>
            <a:endParaRPr lang="en-US" dirty="0"/>
          </a:p>
        </p:txBody>
      </p:sp>
      <p:sp>
        <p:nvSpPr>
          <p:cNvPr id="20" name="ZoneTexte 19"/>
          <p:cNvSpPr txBox="1"/>
          <p:nvPr/>
        </p:nvSpPr>
        <p:spPr>
          <a:xfrm>
            <a:off x="5768945" y="749983"/>
            <a:ext cx="3331932" cy="3785652"/>
          </a:xfrm>
          <a:prstGeom prst="rect">
            <a:avLst/>
          </a:prstGeom>
          <a:noFill/>
        </p:spPr>
        <p:txBody>
          <a:bodyPr wrap="square" rtlCol="0">
            <a:spAutoFit/>
          </a:bodyPr>
          <a:lstStyle/>
          <a:p>
            <a:r>
              <a:rPr lang="fr-FR" sz="1200" dirty="0" smtClean="0">
                <a:solidFill>
                  <a:srgbClr val="4D4F53"/>
                </a:solidFill>
              </a:rPr>
              <a:t>Choisir l’article de la nomenclature</a:t>
            </a:r>
          </a:p>
          <a:p>
            <a:endParaRPr lang="fr-FR" sz="1200" dirty="0">
              <a:solidFill>
                <a:srgbClr val="4D4F53"/>
              </a:solidFill>
            </a:endParaRPr>
          </a:p>
          <a:p>
            <a:r>
              <a:rPr lang="fr-FR" sz="1200" dirty="0" smtClean="0">
                <a:solidFill>
                  <a:srgbClr val="4D4F53"/>
                </a:solidFill>
              </a:rPr>
              <a:t>Saisir la division</a:t>
            </a:r>
          </a:p>
          <a:p>
            <a:endParaRPr lang="fr-FR" sz="1200" dirty="0" smtClean="0">
              <a:solidFill>
                <a:srgbClr val="4D4F53"/>
              </a:solidFill>
            </a:endParaRPr>
          </a:p>
          <a:p>
            <a:r>
              <a:rPr lang="fr-FR" sz="1200" dirty="0" smtClean="0">
                <a:solidFill>
                  <a:srgbClr val="4D4F53"/>
                </a:solidFill>
              </a:rPr>
              <a:t>Saisir l’utilisation</a:t>
            </a:r>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Modifier la date de début de validité si besoin</a:t>
            </a:r>
          </a:p>
          <a:p>
            <a:r>
              <a:rPr lang="fr-FR" sz="1200" dirty="0" smtClean="0">
                <a:solidFill>
                  <a:srgbClr val="4D4F53"/>
                </a:solidFill>
              </a:rPr>
              <a:t/>
            </a:r>
            <a:br>
              <a:rPr lang="fr-FR" sz="1200" dirty="0" smtClean="0">
                <a:solidFill>
                  <a:srgbClr val="4D4F53"/>
                </a:solidFill>
              </a:rPr>
            </a:br>
            <a:r>
              <a:rPr lang="fr-FR" sz="1200" dirty="0" smtClean="0">
                <a:solidFill>
                  <a:srgbClr val="4D4F53"/>
                </a:solidFill>
              </a:rPr>
              <a:t>Appuyer sur Entrer</a:t>
            </a:r>
          </a:p>
          <a:p>
            <a:endParaRPr lang="fr-FR" sz="1200" dirty="0" smtClean="0">
              <a:solidFill>
                <a:srgbClr val="4D4F53"/>
              </a:solidFill>
            </a:endParaRPr>
          </a:p>
          <a:p>
            <a:r>
              <a:rPr lang="fr-FR" sz="1200" dirty="0" smtClean="0">
                <a:solidFill>
                  <a:srgbClr val="4D4F53"/>
                </a:solidFill>
              </a:rPr>
              <a:t>Saisir pour chaque poste : le type de poste</a:t>
            </a:r>
          </a:p>
          <a:p>
            <a:endParaRPr lang="fr-FR" sz="1200" dirty="0" smtClean="0">
              <a:solidFill>
                <a:srgbClr val="4D4F53"/>
              </a:solidFill>
            </a:endParaRPr>
          </a:p>
          <a:p>
            <a:r>
              <a:rPr lang="fr-FR" sz="1200" dirty="0">
                <a:solidFill>
                  <a:srgbClr val="4D4F53"/>
                </a:solidFill>
              </a:rPr>
              <a:t>Saisir pour chaque </a:t>
            </a:r>
            <a:r>
              <a:rPr lang="fr-FR" sz="1200" dirty="0" smtClean="0">
                <a:solidFill>
                  <a:srgbClr val="4D4F53"/>
                </a:solidFill>
              </a:rPr>
              <a:t>poste : le composant avec le code article</a:t>
            </a:r>
          </a:p>
          <a:p>
            <a:endParaRPr lang="fr-FR" sz="1200" dirty="0" smtClean="0">
              <a:solidFill>
                <a:srgbClr val="4D4F53"/>
              </a:solidFill>
            </a:endParaRPr>
          </a:p>
          <a:p>
            <a:r>
              <a:rPr lang="fr-FR" sz="1200" dirty="0">
                <a:solidFill>
                  <a:srgbClr val="4D4F53"/>
                </a:solidFill>
              </a:rPr>
              <a:t>Saisir pour chaque poste </a:t>
            </a:r>
            <a:r>
              <a:rPr lang="fr-FR" sz="1200" dirty="0" smtClean="0">
                <a:solidFill>
                  <a:srgbClr val="4D4F53"/>
                </a:solidFill>
              </a:rPr>
              <a:t>: la quantité et l’unité de quantité </a:t>
            </a:r>
          </a:p>
          <a:p>
            <a:endParaRPr lang="fr-FR" sz="1200" dirty="0">
              <a:solidFill>
                <a:srgbClr val="4D4F53"/>
              </a:solidFill>
            </a:endParaRPr>
          </a:p>
          <a:p>
            <a:r>
              <a:rPr lang="fr-FR" sz="1200" dirty="0" smtClean="0">
                <a:solidFill>
                  <a:srgbClr val="4D4F53"/>
                </a:solidFill>
              </a:rPr>
              <a:t>Sauvegarder         : un message de confirmation s’affiche</a:t>
            </a:r>
            <a:endParaRPr lang="fr-FR" sz="1200" dirty="0">
              <a:solidFill>
                <a:srgbClr val="4D4F53"/>
              </a:solidFill>
            </a:endParaRPr>
          </a:p>
        </p:txBody>
      </p:sp>
      <p:sp>
        <p:nvSpPr>
          <p:cNvPr id="21" name="Ellipse 20"/>
          <p:cNvSpPr/>
          <p:nvPr/>
        </p:nvSpPr>
        <p:spPr>
          <a:xfrm>
            <a:off x="5617915" y="827238"/>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5617915" y="118343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3" name="Ellipse 22"/>
          <p:cNvSpPr/>
          <p:nvPr/>
        </p:nvSpPr>
        <p:spPr>
          <a:xfrm>
            <a:off x="5617915" y="1534062"/>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8" name="Ellipse 27"/>
          <p:cNvSpPr/>
          <p:nvPr/>
        </p:nvSpPr>
        <p:spPr>
          <a:xfrm>
            <a:off x="5617915" y="1903514"/>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5617915" y="2261501"/>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48" name="Ellipse 47"/>
          <p:cNvSpPr/>
          <p:nvPr/>
        </p:nvSpPr>
        <p:spPr>
          <a:xfrm>
            <a:off x="5617915" y="3027614"/>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51" name="Ellipse 50"/>
          <p:cNvSpPr/>
          <p:nvPr/>
        </p:nvSpPr>
        <p:spPr>
          <a:xfrm>
            <a:off x="5617915" y="264455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52" name="Ellipse 51"/>
          <p:cNvSpPr/>
          <p:nvPr/>
        </p:nvSpPr>
        <p:spPr>
          <a:xfrm>
            <a:off x="5617915" y="3523843"/>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8</a:t>
            </a:r>
            <a:endParaRPr lang="fr-FR" sz="900" b="1" dirty="0" smtClean="0">
              <a:solidFill>
                <a:schemeClr val="bg1"/>
              </a:solidFill>
            </a:endParaRPr>
          </a:p>
        </p:txBody>
      </p:sp>
      <p:sp>
        <p:nvSpPr>
          <p:cNvPr id="53" name="Ellipse 52"/>
          <p:cNvSpPr/>
          <p:nvPr/>
        </p:nvSpPr>
        <p:spPr>
          <a:xfrm>
            <a:off x="5617915" y="4118486"/>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pic>
        <p:nvPicPr>
          <p:cNvPr id="60" name="Image 59"/>
          <p:cNvPicPr>
            <a:picLocks noChangeAspect="1"/>
          </p:cNvPicPr>
          <p:nvPr/>
        </p:nvPicPr>
        <p:blipFill>
          <a:blip r:embed="rId2"/>
          <a:stretch>
            <a:fillRect/>
          </a:stretch>
        </p:blipFill>
        <p:spPr>
          <a:xfrm>
            <a:off x="274337" y="977419"/>
            <a:ext cx="2278130" cy="1797876"/>
          </a:xfrm>
          <a:prstGeom prst="rect">
            <a:avLst/>
          </a:prstGeom>
        </p:spPr>
      </p:pic>
      <p:pic>
        <p:nvPicPr>
          <p:cNvPr id="59" name="Image 58"/>
          <p:cNvPicPr>
            <a:picLocks noChangeAspect="1"/>
          </p:cNvPicPr>
          <p:nvPr/>
        </p:nvPicPr>
        <p:blipFill>
          <a:blip r:embed="rId3"/>
          <a:stretch>
            <a:fillRect/>
          </a:stretch>
        </p:blipFill>
        <p:spPr>
          <a:xfrm>
            <a:off x="2703497" y="1020096"/>
            <a:ext cx="1672186" cy="1269118"/>
          </a:xfrm>
          <a:prstGeom prst="rect">
            <a:avLst/>
          </a:prstGeom>
        </p:spPr>
      </p:pic>
      <p:pic>
        <p:nvPicPr>
          <p:cNvPr id="62" name="Image 61"/>
          <p:cNvPicPr>
            <a:picLocks noChangeAspect="1"/>
          </p:cNvPicPr>
          <p:nvPr/>
        </p:nvPicPr>
        <p:blipFill>
          <a:blip r:embed="rId4"/>
          <a:stretch>
            <a:fillRect/>
          </a:stretch>
        </p:blipFill>
        <p:spPr>
          <a:xfrm>
            <a:off x="527917" y="2790465"/>
            <a:ext cx="4947554" cy="2227766"/>
          </a:xfrm>
          <a:prstGeom prst="rect">
            <a:avLst/>
          </a:prstGeom>
        </p:spPr>
      </p:pic>
      <p:pic>
        <p:nvPicPr>
          <p:cNvPr id="61" name="Image 60"/>
          <p:cNvPicPr>
            <a:picLocks noChangeAspect="1"/>
          </p:cNvPicPr>
          <p:nvPr/>
        </p:nvPicPr>
        <p:blipFill>
          <a:blip r:embed="rId5"/>
          <a:stretch>
            <a:fillRect/>
          </a:stretch>
        </p:blipFill>
        <p:spPr>
          <a:xfrm>
            <a:off x="3864962" y="2873109"/>
            <a:ext cx="1366918" cy="1497426"/>
          </a:xfrm>
          <a:prstGeom prst="rect">
            <a:avLst/>
          </a:prstGeom>
        </p:spPr>
      </p:pic>
      <p:sp>
        <p:nvSpPr>
          <p:cNvPr id="63" name="Rectangle 62"/>
          <p:cNvSpPr/>
          <p:nvPr/>
        </p:nvSpPr>
        <p:spPr>
          <a:xfrm>
            <a:off x="979870" y="1711842"/>
            <a:ext cx="912725" cy="10340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4" name="Rectangle 63"/>
          <p:cNvSpPr/>
          <p:nvPr/>
        </p:nvSpPr>
        <p:spPr>
          <a:xfrm>
            <a:off x="979871" y="1841677"/>
            <a:ext cx="248958" cy="10340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5" name="Rectangle 64"/>
          <p:cNvSpPr/>
          <p:nvPr/>
        </p:nvSpPr>
        <p:spPr>
          <a:xfrm>
            <a:off x="979871" y="1979852"/>
            <a:ext cx="97927" cy="10340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7" name="Rectangle 66"/>
          <p:cNvSpPr/>
          <p:nvPr/>
        </p:nvSpPr>
        <p:spPr>
          <a:xfrm>
            <a:off x="1231369" y="2663993"/>
            <a:ext cx="544268" cy="10340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8" name="Rectangle 67"/>
          <p:cNvSpPr/>
          <p:nvPr/>
        </p:nvSpPr>
        <p:spPr>
          <a:xfrm>
            <a:off x="919884" y="4666458"/>
            <a:ext cx="157914" cy="10340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9" name="Rectangle 68"/>
          <p:cNvSpPr/>
          <p:nvPr/>
        </p:nvSpPr>
        <p:spPr>
          <a:xfrm>
            <a:off x="1077798" y="4666457"/>
            <a:ext cx="921123" cy="10340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0" name="Rectangle 69"/>
          <p:cNvSpPr/>
          <p:nvPr/>
        </p:nvSpPr>
        <p:spPr>
          <a:xfrm>
            <a:off x="2943839" y="4666457"/>
            <a:ext cx="1128431" cy="10340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74" name="Connecteur droit 73"/>
          <p:cNvCxnSpPr/>
          <p:nvPr/>
        </p:nvCxnSpPr>
        <p:spPr>
          <a:xfrm flipV="1">
            <a:off x="1321761" y="1977612"/>
            <a:ext cx="1351714" cy="53943"/>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7" name="Connecteur droit 76"/>
          <p:cNvCxnSpPr/>
          <p:nvPr/>
        </p:nvCxnSpPr>
        <p:spPr>
          <a:xfrm flipV="1">
            <a:off x="1008251" y="3671924"/>
            <a:ext cx="2856711" cy="800111"/>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79" name="Image 78"/>
          <p:cNvPicPr>
            <a:picLocks noChangeAspect="1"/>
          </p:cNvPicPr>
          <p:nvPr/>
        </p:nvPicPr>
        <p:blipFill>
          <a:blip r:embed="rId6"/>
          <a:stretch>
            <a:fillRect/>
          </a:stretch>
        </p:blipFill>
        <p:spPr>
          <a:xfrm>
            <a:off x="6662113" y="4081560"/>
            <a:ext cx="209550" cy="190500"/>
          </a:xfrm>
          <a:prstGeom prst="rect">
            <a:avLst/>
          </a:prstGeom>
        </p:spPr>
      </p:pic>
      <p:sp>
        <p:nvSpPr>
          <p:cNvPr id="80" name="Ellipse 79"/>
          <p:cNvSpPr/>
          <p:nvPr/>
        </p:nvSpPr>
        <p:spPr>
          <a:xfrm>
            <a:off x="1959675" y="1649699"/>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81" name="Ellipse 80"/>
          <p:cNvSpPr/>
          <p:nvPr/>
        </p:nvSpPr>
        <p:spPr>
          <a:xfrm>
            <a:off x="1370460" y="182527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82" name="Ellipse 81"/>
          <p:cNvSpPr/>
          <p:nvPr/>
        </p:nvSpPr>
        <p:spPr>
          <a:xfrm>
            <a:off x="1135479" y="1974694"/>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83" name="Ellipse 82"/>
          <p:cNvSpPr/>
          <p:nvPr/>
        </p:nvSpPr>
        <p:spPr>
          <a:xfrm>
            <a:off x="1829719" y="261942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84" name="Ellipse 83"/>
          <p:cNvSpPr/>
          <p:nvPr/>
        </p:nvSpPr>
        <p:spPr>
          <a:xfrm>
            <a:off x="860935" y="4338545"/>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85" name="Ellipse 84"/>
          <p:cNvSpPr/>
          <p:nvPr/>
        </p:nvSpPr>
        <p:spPr>
          <a:xfrm>
            <a:off x="1740316" y="4608774"/>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86" name="Ellipse 85"/>
          <p:cNvSpPr/>
          <p:nvPr/>
        </p:nvSpPr>
        <p:spPr>
          <a:xfrm>
            <a:off x="3677611" y="458917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8</a:t>
            </a:r>
            <a:endParaRPr lang="fr-FR" sz="900" b="1" dirty="0" smtClean="0">
              <a:solidFill>
                <a:schemeClr val="bg1"/>
              </a:solidFill>
            </a:endParaRPr>
          </a:p>
        </p:txBody>
      </p:sp>
    </p:spTree>
    <p:extLst>
      <p:ext uri="{BB962C8B-B14F-4D97-AF65-F5344CB8AC3E}">
        <p14:creationId xmlns:p14="http://schemas.microsoft.com/office/powerpoint/2010/main" val="27191592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675930" y="1043860"/>
            <a:ext cx="3197518" cy="280879"/>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une nomenclature</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1" name="Groupe 30"/>
          <p:cNvGrpSpPr/>
          <p:nvPr/>
        </p:nvGrpSpPr>
        <p:grpSpPr>
          <a:xfrm>
            <a:off x="5174456" y="205978"/>
            <a:ext cx="3680275" cy="4299347"/>
            <a:chOff x="5174456" y="205978"/>
            <a:chExt cx="3680275" cy="4299347"/>
          </a:xfrm>
        </p:grpSpPr>
        <p:grpSp>
          <p:nvGrpSpPr>
            <p:cNvPr id="34" name="Groupe 33"/>
            <p:cNvGrpSpPr/>
            <p:nvPr/>
          </p:nvGrpSpPr>
          <p:grpSpPr>
            <a:xfrm>
              <a:off x="5174456" y="205978"/>
              <a:ext cx="3680275" cy="4299347"/>
              <a:chOff x="3707606" y="205978"/>
              <a:chExt cx="4105275" cy="4795838"/>
            </a:xfrm>
          </p:grpSpPr>
          <p:sp>
            <p:nvSpPr>
              <p:cNvPr id="37" name="Rectangle 36"/>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38" name="Connecteur droit 3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9" name="Connecteur droit 3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0" name="Connecteur droit 39"/>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5" name="Image 34"/>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6"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5429417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CS02 </a:t>
            </a:r>
            <a:r>
              <a:rPr lang="fr-FR" altLang="en-US" dirty="0"/>
              <a:t>– </a:t>
            </a:r>
            <a:r>
              <a:rPr lang="fr-FR" altLang="en-US" dirty="0" smtClean="0"/>
              <a:t>Modifier une nomenclature</a:t>
            </a:r>
            <a:endParaRPr lang="en-US" dirty="0"/>
          </a:p>
        </p:txBody>
      </p:sp>
      <p:sp>
        <p:nvSpPr>
          <p:cNvPr id="20" name="ZoneTexte 19"/>
          <p:cNvSpPr txBox="1"/>
          <p:nvPr/>
        </p:nvSpPr>
        <p:spPr>
          <a:xfrm>
            <a:off x="5567525" y="1797514"/>
            <a:ext cx="3331932" cy="2123658"/>
          </a:xfrm>
          <a:prstGeom prst="rect">
            <a:avLst/>
          </a:prstGeom>
          <a:noFill/>
        </p:spPr>
        <p:txBody>
          <a:bodyPr wrap="square" rtlCol="0">
            <a:spAutoFit/>
          </a:bodyPr>
          <a:lstStyle/>
          <a:p>
            <a:r>
              <a:rPr lang="fr-FR" sz="1200" dirty="0">
                <a:solidFill>
                  <a:srgbClr val="4D4F53"/>
                </a:solidFill>
              </a:rPr>
              <a:t>Choisir l’article de la nomenclature</a:t>
            </a:r>
          </a:p>
          <a:p>
            <a:endParaRPr lang="fr-FR" sz="1200" dirty="0">
              <a:solidFill>
                <a:srgbClr val="4D4F53"/>
              </a:solidFill>
            </a:endParaRPr>
          </a:p>
          <a:p>
            <a:r>
              <a:rPr lang="fr-FR" sz="1200" dirty="0">
                <a:solidFill>
                  <a:srgbClr val="4D4F53"/>
                </a:solidFill>
              </a:rPr>
              <a:t>Saisir la division</a:t>
            </a:r>
          </a:p>
          <a:p>
            <a:endParaRPr lang="fr-FR" sz="1200" dirty="0">
              <a:solidFill>
                <a:srgbClr val="4D4F53"/>
              </a:solidFill>
            </a:endParaRPr>
          </a:p>
          <a:p>
            <a:r>
              <a:rPr lang="fr-FR" sz="1200" dirty="0">
                <a:solidFill>
                  <a:srgbClr val="4D4F53"/>
                </a:solidFill>
              </a:rPr>
              <a:t>Saisir l’utilisation</a:t>
            </a:r>
          </a:p>
          <a:p>
            <a:r>
              <a:rPr lang="fr-FR" sz="1200" dirty="0" smtClean="0">
                <a:solidFill>
                  <a:srgbClr val="4D4F53"/>
                </a:solidFill>
              </a:rPr>
              <a:t/>
            </a:r>
            <a:br>
              <a:rPr lang="fr-FR" sz="1200" dirty="0" smtClean="0">
                <a:solidFill>
                  <a:srgbClr val="4D4F53"/>
                </a:solidFill>
              </a:rPr>
            </a:br>
            <a:r>
              <a:rPr lang="fr-FR" sz="1200" dirty="0" smtClean="0">
                <a:solidFill>
                  <a:srgbClr val="4D4F53"/>
                </a:solidFill>
              </a:rPr>
              <a:t>Appuyer sur Entrer</a:t>
            </a:r>
          </a:p>
          <a:p>
            <a:endParaRPr lang="fr-FR" sz="1200" dirty="0">
              <a:solidFill>
                <a:srgbClr val="4D4F53"/>
              </a:solidFill>
            </a:endParaRPr>
          </a:p>
          <a:p>
            <a:r>
              <a:rPr lang="fr-FR" sz="1200" dirty="0" smtClean="0">
                <a:solidFill>
                  <a:srgbClr val="4D4F53"/>
                </a:solidFill>
              </a:rPr>
              <a:t>Modifier les quantités</a:t>
            </a:r>
          </a:p>
          <a:p>
            <a:endParaRPr lang="fr-FR" sz="1200" dirty="0">
              <a:solidFill>
                <a:srgbClr val="4D4F53"/>
              </a:solidFill>
            </a:endParaRPr>
          </a:p>
          <a:p>
            <a:r>
              <a:rPr lang="fr-FR" sz="1200" dirty="0" smtClean="0">
                <a:solidFill>
                  <a:srgbClr val="4D4F53"/>
                </a:solidFill>
              </a:rPr>
              <a:t>Sauvegarder </a:t>
            </a:r>
            <a:endParaRPr lang="fr-FR" sz="1200" dirty="0">
              <a:solidFill>
                <a:srgbClr val="4D4F53"/>
              </a:solidFill>
            </a:endParaRPr>
          </a:p>
        </p:txBody>
      </p:sp>
      <p:sp>
        <p:nvSpPr>
          <p:cNvPr id="21" name="Ellipse 20"/>
          <p:cNvSpPr/>
          <p:nvPr/>
        </p:nvSpPr>
        <p:spPr>
          <a:xfrm>
            <a:off x="5399626" y="1852135"/>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5399626" y="223055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3" name="Ellipse 22"/>
          <p:cNvSpPr/>
          <p:nvPr/>
        </p:nvSpPr>
        <p:spPr>
          <a:xfrm>
            <a:off x="5399624" y="2586024"/>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8" name="Ellipse 27"/>
          <p:cNvSpPr/>
          <p:nvPr/>
        </p:nvSpPr>
        <p:spPr>
          <a:xfrm>
            <a:off x="5399626" y="2964446"/>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5399626" y="3319913"/>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pic>
        <p:nvPicPr>
          <p:cNvPr id="16" name="Image 15"/>
          <p:cNvPicPr>
            <a:picLocks noChangeAspect="1"/>
          </p:cNvPicPr>
          <p:nvPr/>
        </p:nvPicPr>
        <p:blipFill>
          <a:blip r:embed="rId2"/>
          <a:stretch>
            <a:fillRect/>
          </a:stretch>
        </p:blipFill>
        <p:spPr>
          <a:xfrm>
            <a:off x="457200" y="1063625"/>
            <a:ext cx="2402268" cy="2012888"/>
          </a:xfrm>
          <a:prstGeom prst="rect">
            <a:avLst/>
          </a:prstGeom>
        </p:spPr>
      </p:pic>
      <p:pic>
        <p:nvPicPr>
          <p:cNvPr id="38" name="Image 37"/>
          <p:cNvPicPr>
            <a:picLocks noChangeAspect="1"/>
          </p:cNvPicPr>
          <p:nvPr/>
        </p:nvPicPr>
        <p:blipFill>
          <a:blip r:embed="rId3"/>
          <a:stretch>
            <a:fillRect/>
          </a:stretch>
        </p:blipFill>
        <p:spPr>
          <a:xfrm>
            <a:off x="1402293" y="2280955"/>
            <a:ext cx="3446154" cy="1872274"/>
          </a:xfrm>
          <a:prstGeom prst="rect">
            <a:avLst/>
          </a:prstGeom>
        </p:spPr>
      </p:pic>
      <p:sp>
        <p:nvSpPr>
          <p:cNvPr id="39" name="Rectangle 38"/>
          <p:cNvSpPr/>
          <p:nvPr/>
        </p:nvSpPr>
        <p:spPr>
          <a:xfrm>
            <a:off x="1154971" y="1852135"/>
            <a:ext cx="912725" cy="10340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0" name="Rectangle 39"/>
          <p:cNvSpPr/>
          <p:nvPr/>
        </p:nvSpPr>
        <p:spPr>
          <a:xfrm>
            <a:off x="1154970" y="1996278"/>
            <a:ext cx="247323" cy="10340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1" name="Rectangle 40"/>
          <p:cNvSpPr/>
          <p:nvPr/>
        </p:nvSpPr>
        <p:spPr>
          <a:xfrm>
            <a:off x="1154970" y="2127150"/>
            <a:ext cx="247323" cy="10340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2" name="Rectangle 41"/>
          <p:cNvSpPr/>
          <p:nvPr/>
        </p:nvSpPr>
        <p:spPr>
          <a:xfrm>
            <a:off x="2669007" y="3882059"/>
            <a:ext cx="912725" cy="27117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3" name="Ellipse 42"/>
          <p:cNvSpPr/>
          <p:nvPr/>
        </p:nvSpPr>
        <p:spPr>
          <a:xfrm>
            <a:off x="5384127" y="3642993"/>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44" name="Ellipse 43"/>
          <p:cNvSpPr/>
          <p:nvPr/>
        </p:nvSpPr>
        <p:spPr>
          <a:xfrm>
            <a:off x="2211733" y="176630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5" name="Ellipse 44"/>
          <p:cNvSpPr/>
          <p:nvPr/>
        </p:nvSpPr>
        <p:spPr>
          <a:xfrm>
            <a:off x="1879032" y="1958458"/>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6" name="Ellipse 45"/>
          <p:cNvSpPr/>
          <p:nvPr/>
        </p:nvSpPr>
        <p:spPr>
          <a:xfrm>
            <a:off x="1869522" y="2131263"/>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7" name="Ellipse 46"/>
          <p:cNvSpPr/>
          <p:nvPr/>
        </p:nvSpPr>
        <p:spPr>
          <a:xfrm>
            <a:off x="3125369" y="3921172"/>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pic>
        <p:nvPicPr>
          <p:cNvPr id="48" name="Image 47"/>
          <p:cNvPicPr>
            <a:picLocks noChangeAspect="1"/>
          </p:cNvPicPr>
          <p:nvPr/>
        </p:nvPicPr>
        <p:blipFill>
          <a:blip r:embed="rId4"/>
          <a:stretch>
            <a:fillRect/>
          </a:stretch>
        </p:blipFill>
        <p:spPr>
          <a:xfrm>
            <a:off x="6452563" y="3642993"/>
            <a:ext cx="209550" cy="190500"/>
          </a:xfrm>
          <a:prstGeom prst="rect">
            <a:avLst/>
          </a:prstGeom>
        </p:spPr>
      </p:pic>
    </p:spTree>
    <p:extLst>
      <p:ext uri="{BB962C8B-B14F-4D97-AF65-F5344CB8AC3E}">
        <p14:creationId xmlns:p14="http://schemas.microsoft.com/office/powerpoint/2010/main" val="37273553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638959" y="1063205"/>
            <a:ext cx="3197518" cy="280879"/>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Modifier une nomenclature</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1" name="Groupe 30"/>
          <p:cNvGrpSpPr/>
          <p:nvPr/>
        </p:nvGrpSpPr>
        <p:grpSpPr>
          <a:xfrm>
            <a:off x="5174456" y="205978"/>
            <a:ext cx="3680275" cy="4299347"/>
            <a:chOff x="5174456" y="205978"/>
            <a:chExt cx="3680275" cy="4299347"/>
          </a:xfrm>
        </p:grpSpPr>
        <p:grpSp>
          <p:nvGrpSpPr>
            <p:cNvPr id="34" name="Groupe 33"/>
            <p:cNvGrpSpPr/>
            <p:nvPr/>
          </p:nvGrpSpPr>
          <p:grpSpPr>
            <a:xfrm>
              <a:off x="5174456" y="205978"/>
              <a:ext cx="3680275" cy="4299347"/>
              <a:chOff x="3707606" y="205978"/>
              <a:chExt cx="4105275" cy="4795838"/>
            </a:xfrm>
          </p:grpSpPr>
          <p:sp>
            <p:nvSpPr>
              <p:cNvPr id="37" name="Rectangle 36"/>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38" name="Connecteur droit 3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9" name="Connecteur droit 3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0" name="Connecteur droit 39"/>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5" name="Image 34"/>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6"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3467360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CS15 </a:t>
            </a:r>
            <a:r>
              <a:rPr lang="fr-FR" altLang="en-US" dirty="0"/>
              <a:t>– </a:t>
            </a:r>
            <a:r>
              <a:rPr lang="fr-FR" altLang="en-US" dirty="0" smtClean="0"/>
              <a:t>Identifier les cas d’emplois d’un article</a:t>
            </a:r>
            <a:endParaRPr lang="en-US" dirty="0"/>
          </a:p>
        </p:txBody>
      </p:sp>
      <p:sp>
        <p:nvSpPr>
          <p:cNvPr id="20" name="ZoneTexte 19"/>
          <p:cNvSpPr txBox="1"/>
          <p:nvPr/>
        </p:nvSpPr>
        <p:spPr>
          <a:xfrm>
            <a:off x="5567525" y="1063625"/>
            <a:ext cx="3331932" cy="3231654"/>
          </a:xfrm>
          <a:prstGeom prst="rect">
            <a:avLst/>
          </a:prstGeom>
          <a:noFill/>
        </p:spPr>
        <p:txBody>
          <a:bodyPr wrap="square" rtlCol="0">
            <a:spAutoFit/>
          </a:bodyPr>
          <a:lstStyle/>
          <a:p>
            <a:r>
              <a:rPr lang="fr-FR" sz="1200" dirty="0">
                <a:solidFill>
                  <a:srgbClr val="4D4F53"/>
                </a:solidFill>
              </a:rPr>
              <a:t>Choisir </a:t>
            </a:r>
            <a:r>
              <a:rPr lang="fr-FR" sz="1200" dirty="0" smtClean="0">
                <a:solidFill>
                  <a:srgbClr val="4D4F53"/>
                </a:solidFill>
              </a:rPr>
              <a:t>l’article censé être un composant d’une nomenclature</a:t>
            </a:r>
          </a:p>
          <a:p>
            <a:endParaRPr lang="fr-FR" sz="1200" dirty="0">
              <a:solidFill>
                <a:srgbClr val="4D4F53"/>
              </a:solidFill>
            </a:endParaRPr>
          </a:p>
          <a:p>
            <a:r>
              <a:rPr lang="fr-FR" sz="1200" dirty="0" smtClean="0">
                <a:solidFill>
                  <a:srgbClr val="4D4F53"/>
                </a:solidFill>
              </a:rPr>
              <a:t>Cocher la case « Type d’utilisation – directe »</a:t>
            </a:r>
            <a:endParaRPr lang="fr-FR" sz="1200" dirty="0">
              <a:solidFill>
                <a:srgbClr val="4D4F53"/>
              </a:solidFill>
            </a:endParaRPr>
          </a:p>
          <a:p>
            <a:endParaRPr lang="fr-FR" sz="1200" dirty="0">
              <a:solidFill>
                <a:srgbClr val="4D4F53"/>
              </a:solidFill>
            </a:endParaRPr>
          </a:p>
          <a:p>
            <a:r>
              <a:rPr lang="fr-FR" sz="1200" dirty="0" smtClean="0">
                <a:solidFill>
                  <a:srgbClr val="4D4F53"/>
                </a:solidFill>
              </a:rPr>
              <a:t>Vérifier que la case « Nomenclature article » est cochée</a:t>
            </a:r>
            <a:endParaRPr lang="fr-FR" sz="1200" dirty="0">
              <a:solidFill>
                <a:srgbClr val="4D4F53"/>
              </a:solidFill>
            </a:endParaRPr>
          </a:p>
          <a:p>
            <a:r>
              <a:rPr lang="fr-FR" sz="1200" dirty="0" smtClean="0">
                <a:solidFill>
                  <a:srgbClr val="4D4F53"/>
                </a:solidFill>
              </a:rPr>
              <a:t/>
            </a:r>
            <a:br>
              <a:rPr lang="fr-FR" sz="1200" dirty="0" smtClean="0">
                <a:solidFill>
                  <a:srgbClr val="4D4F53"/>
                </a:solidFill>
              </a:rPr>
            </a:br>
            <a:r>
              <a:rPr lang="fr-FR" sz="1200" dirty="0" smtClean="0">
                <a:solidFill>
                  <a:srgbClr val="4D4F53"/>
                </a:solidFill>
              </a:rPr>
              <a:t>Cliquer sur « Ecran suivant »</a:t>
            </a:r>
          </a:p>
          <a:p>
            <a:endParaRPr lang="fr-FR" sz="1200" dirty="0">
              <a:solidFill>
                <a:srgbClr val="4D4F53"/>
              </a:solidFill>
            </a:endParaRPr>
          </a:p>
          <a:p>
            <a:r>
              <a:rPr lang="fr-FR" sz="1200" dirty="0" smtClean="0">
                <a:solidFill>
                  <a:srgbClr val="4D4F53"/>
                </a:solidFill>
              </a:rPr>
              <a:t>Saisir une division</a:t>
            </a:r>
          </a:p>
          <a:p>
            <a:endParaRPr lang="fr-FR" sz="1200" dirty="0">
              <a:solidFill>
                <a:srgbClr val="4D4F53"/>
              </a:solidFill>
            </a:endParaRPr>
          </a:p>
          <a:p>
            <a:r>
              <a:rPr lang="fr-FR" sz="1200" dirty="0" smtClean="0">
                <a:solidFill>
                  <a:srgbClr val="4D4F53"/>
                </a:solidFill>
              </a:rPr>
              <a:t>Exécuter</a:t>
            </a:r>
          </a:p>
          <a:p>
            <a:endParaRPr lang="fr-FR" sz="1200" dirty="0">
              <a:solidFill>
                <a:srgbClr val="4D4F53"/>
              </a:solidFill>
            </a:endParaRPr>
          </a:p>
          <a:p>
            <a:r>
              <a:rPr lang="fr-FR" sz="1200" dirty="0" smtClean="0">
                <a:solidFill>
                  <a:srgbClr val="4D4F53"/>
                </a:solidFill>
              </a:rPr>
              <a:t>La liste des nomenclatures pour lesquelles l’article choisis est un composant apparaît avec les quantités requises</a:t>
            </a:r>
            <a:endParaRPr lang="fr-FR" sz="1200" dirty="0">
              <a:solidFill>
                <a:srgbClr val="4D4F53"/>
              </a:solidFill>
            </a:endParaRPr>
          </a:p>
        </p:txBody>
      </p:sp>
      <p:sp>
        <p:nvSpPr>
          <p:cNvPr id="21" name="Ellipse 20"/>
          <p:cNvSpPr/>
          <p:nvPr/>
        </p:nvSpPr>
        <p:spPr>
          <a:xfrm>
            <a:off x="5407435" y="1123958"/>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5407435" y="1642446"/>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3" name="Ellipse 22"/>
          <p:cNvSpPr/>
          <p:nvPr/>
        </p:nvSpPr>
        <p:spPr>
          <a:xfrm>
            <a:off x="5422932" y="2050038"/>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8" name="Ellipse 27"/>
          <p:cNvSpPr/>
          <p:nvPr/>
        </p:nvSpPr>
        <p:spPr>
          <a:xfrm>
            <a:off x="5422934" y="259714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5422934" y="295260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3" name="Ellipse 42"/>
          <p:cNvSpPr/>
          <p:nvPr/>
        </p:nvSpPr>
        <p:spPr>
          <a:xfrm>
            <a:off x="5407435" y="327568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pic>
        <p:nvPicPr>
          <p:cNvPr id="4" name="Image 3"/>
          <p:cNvPicPr>
            <a:picLocks noChangeAspect="1"/>
          </p:cNvPicPr>
          <p:nvPr/>
        </p:nvPicPr>
        <p:blipFill>
          <a:blip r:embed="rId2"/>
          <a:stretch>
            <a:fillRect/>
          </a:stretch>
        </p:blipFill>
        <p:spPr>
          <a:xfrm>
            <a:off x="138898" y="960050"/>
            <a:ext cx="2817348" cy="2540126"/>
          </a:xfrm>
          <a:prstGeom prst="rect">
            <a:avLst/>
          </a:prstGeom>
        </p:spPr>
      </p:pic>
      <p:pic>
        <p:nvPicPr>
          <p:cNvPr id="5" name="Image 4"/>
          <p:cNvPicPr>
            <a:picLocks noChangeAspect="1"/>
          </p:cNvPicPr>
          <p:nvPr/>
        </p:nvPicPr>
        <p:blipFill>
          <a:blip r:embed="rId3"/>
          <a:stretch>
            <a:fillRect/>
          </a:stretch>
        </p:blipFill>
        <p:spPr>
          <a:xfrm>
            <a:off x="7456206" y="2555551"/>
            <a:ext cx="171450" cy="209550"/>
          </a:xfrm>
          <a:prstGeom prst="rect">
            <a:avLst/>
          </a:prstGeom>
        </p:spPr>
      </p:pic>
      <p:pic>
        <p:nvPicPr>
          <p:cNvPr id="6" name="Image 5"/>
          <p:cNvPicPr>
            <a:picLocks noChangeAspect="1"/>
          </p:cNvPicPr>
          <p:nvPr/>
        </p:nvPicPr>
        <p:blipFill>
          <a:blip r:embed="rId4"/>
          <a:stretch>
            <a:fillRect/>
          </a:stretch>
        </p:blipFill>
        <p:spPr>
          <a:xfrm>
            <a:off x="3057975" y="1493443"/>
            <a:ext cx="2211572" cy="1487478"/>
          </a:xfrm>
          <a:prstGeom prst="rect">
            <a:avLst/>
          </a:prstGeom>
        </p:spPr>
      </p:pic>
      <p:pic>
        <p:nvPicPr>
          <p:cNvPr id="7" name="Image 6"/>
          <p:cNvPicPr>
            <a:picLocks noChangeAspect="1"/>
          </p:cNvPicPr>
          <p:nvPr/>
        </p:nvPicPr>
        <p:blipFill>
          <a:blip r:embed="rId5"/>
          <a:stretch>
            <a:fillRect/>
          </a:stretch>
        </p:blipFill>
        <p:spPr>
          <a:xfrm>
            <a:off x="6253040" y="3315489"/>
            <a:ext cx="200025" cy="190500"/>
          </a:xfrm>
          <a:prstGeom prst="rect">
            <a:avLst/>
          </a:prstGeom>
        </p:spPr>
      </p:pic>
      <p:pic>
        <p:nvPicPr>
          <p:cNvPr id="8" name="Image 7"/>
          <p:cNvPicPr>
            <a:picLocks noChangeAspect="1"/>
          </p:cNvPicPr>
          <p:nvPr/>
        </p:nvPicPr>
        <p:blipFill>
          <a:blip r:embed="rId6"/>
          <a:stretch>
            <a:fillRect/>
          </a:stretch>
        </p:blipFill>
        <p:spPr>
          <a:xfrm>
            <a:off x="607296" y="3505989"/>
            <a:ext cx="4453802" cy="1577106"/>
          </a:xfrm>
          <a:prstGeom prst="rect">
            <a:avLst/>
          </a:prstGeom>
        </p:spPr>
      </p:pic>
      <p:sp>
        <p:nvSpPr>
          <p:cNvPr id="42" name="Rectangle 41"/>
          <p:cNvSpPr/>
          <p:nvPr/>
        </p:nvSpPr>
        <p:spPr>
          <a:xfrm>
            <a:off x="926067" y="1402833"/>
            <a:ext cx="912725" cy="1858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7" name="Rectangle 26"/>
          <p:cNvSpPr/>
          <p:nvPr/>
        </p:nvSpPr>
        <p:spPr>
          <a:xfrm>
            <a:off x="138258" y="2519751"/>
            <a:ext cx="574124" cy="1858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9" name="Rectangle 28"/>
          <p:cNvSpPr/>
          <p:nvPr/>
        </p:nvSpPr>
        <p:spPr>
          <a:xfrm>
            <a:off x="2047799" y="2795061"/>
            <a:ext cx="712197" cy="1858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Rectangle 29"/>
          <p:cNvSpPr/>
          <p:nvPr/>
        </p:nvSpPr>
        <p:spPr>
          <a:xfrm>
            <a:off x="3103458" y="2492650"/>
            <a:ext cx="894384" cy="1858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1" name="Rectangle 30"/>
          <p:cNvSpPr/>
          <p:nvPr/>
        </p:nvSpPr>
        <p:spPr>
          <a:xfrm>
            <a:off x="607296" y="4643970"/>
            <a:ext cx="4453802" cy="47690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Ellipse 31"/>
          <p:cNvSpPr/>
          <p:nvPr/>
        </p:nvSpPr>
        <p:spPr>
          <a:xfrm>
            <a:off x="707303" y="138910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3" name="Ellipse 32"/>
          <p:cNvSpPr/>
          <p:nvPr/>
        </p:nvSpPr>
        <p:spPr>
          <a:xfrm>
            <a:off x="768964" y="2519751"/>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5" name="Ellipse 34"/>
          <p:cNvSpPr/>
          <p:nvPr/>
        </p:nvSpPr>
        <p:spPr>
          <a:xfrm>
            <a:off x="1838792" y="2821443"/>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6" name="Ellipse 35"/>
          <p:cNvSpPr/>
          <p:nvPr/>
        </p:nvSpPr>
        <p:spPr>
          <a:xfrm>
            <a:off x="330384" y="1149078"/>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7" name="Ellipse 36"/>
          <p:cNvSpPr/>
          <p:nvPr/>
        </p:nvSpPr>
        <p:spPr>
          <a:xfrm>
            <a:off x="3997842" y="2472096"/>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9" name="Ellipse 48"/>
          <p:cNvSpPr/>
          <p:nvPr/>
        </p:nvSpPr>
        <p:spPr>
          <a:xfrm>
            <a:off x="3254224" y="167002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50" name="Ellipse 49"/>
          <p:cNvSpPr/>
          <p:nvPr/>
        </p:nvSpPr>
        <p:spPr>
          <a:xfrm>
            <a:off x="5407434" y="3682516"/>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51" name="Ellipse 50"/>
          <p:cNvSpPr/>
          <p:nvPr/>
        </p:nvSpPr>
        <p:spPr>
          <a:xfrm>
            <a:off x="2047799" y="3527941"/>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Tree>
    <p:extLst>
      <p:ext uri="{BB962C8B-B14F-4D97-AF65-F5344CB8AC3E}">
        <p14:creationId xmlns:p14="http://schemas.microsoft.com/office/powerpoint/2010/main" val="15833524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638959" y="1063205"/>
            <a:ext cx="3197518" cy="280879"/>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Afficher les cas d’emplois d’un article</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1" name="Groupe 30"/>
          <p:cNvGrpSpPr/>
          <p:nvPr/>
        </p:nvGrpSpPr>
        <p:grpSpPr>
          <a:xfrm>
            <a:off x="5174456" y="205978"/>
            <a:ext cx="3680275" cy="4299347"/>
            <a:chOff x="5174456" y="205978"/>
            <a:chExt cx="3680275" cy="4299347"/>
          </a:xfrm>
        </p:grpSpPr>
        <p:grpSp>
          <p:nvGrpSpPr>
            <p:cNvPr id="34" name="Groupe 33"/>
            <p:cNvGrpSpPr/>
            <p:nvPr/>
          </p:nvGrpSpPr>
          <p:grpSpPr>
            <a:xfrm>
              <a:off x="5174456" y="205978"/>
              <a:ext cx="3680275" cy="4299347"/>
              <a:chOff x="3707606" y="205978"/>
              <a:chExt cx="4105275" cy="4795838"/>
            </a:xfrm>
          </p:grpSpPr>
          <p:sp>
            <p:nvSpPr>
              <p:cNvPr id="37" name="Rectangle 36"/>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38" name="Connecteur droit 3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9" name="Connecteur droit 3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0" name="Connecteur droit 39"/>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5" name="Image 34"/>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6"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6422252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31</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sz="1400" dirty="0">
                <a:latin typeface="Arial" panose="020B0604020202020204" pitchFamily="34" charset="0"/>
                <a:ea typeface="ＭＳ Ｐゴシック" panose="020B0600070205080204" pitchFamily="34" charset="-128"/>
                <a:cs typeface="Arial" panose="020B0604020202020204" pitchFamily="34" charset="0"/>
              </a:rPr>
              <a:t>Le processus de création et de gestion </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des 4 vues logistiques des fiches articles permet de gérer les articles en stock, dans MM et dans WM si besoin</a:t>
            </a:r>
            <a:endParaRPr lang="fr-FR"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La création et modification des nomenclatures permet de créer des kits / assemblage et d’effectuer le processus de sous-traitance</a:t>
            </a: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VHEKTECQ7ECW-1532981086-4349</_dlc_DocId>
    <_dlc_DocIdUrl xmlns="f36dd47d-0b23-43fd-9b2d-c5346ffa1660">
      <Url>http://projets.cbg-guinee.com/erp/_layouts/15/DocIdRedir.aspx?ID=VHEKTECQ7ECW-1532981086-4349</Url>
      <Description>VHEKTECQ7ECW-1532981086-4349</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6B08D313-DD74-49B0-B6A4-96BD802D9198}"/>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7B294656-0105-4D69-9B77-D69DF521700E}"/>
</file>

<file path=customXml/itemProps4.xml><?xml version="1.0" encoding="utf-8"?>
<ds:datastoreItem xmlns:ds="http://schemas.openxmlformats.org/officeDocument/2006/customXml" ds:itemID="{5B38A5DE-1A4A-42B2-A6FD-1969A977BF9D}"/>
</file>

<file path=docProps/app.xml><?xml version="1.0" encoding="utf-8"?>
<Properties xmlns="http://schemas.openxmlformats.org/officeDocument/2006/extended-properties" xmlns:vt="http://schemas.openxmlformats.org/officeDocument/2006/docPropsVTypes">
  <Template/>
  <TotalTime>0</TotalTime>
  <Words>1243</Words>
  <Application>Microsoft Office PowerPoint</Application>
  <PresentationFormat>Affichage à l'écran (16:9)</PresentationFormat>
  <Paragraphs>383</Paragraphs>
  <Slides>33</Slides>
  <Notes>11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33</vt:i4>
      </vt:variant>
    </vt:vector>
  </HeadingPairs>
  <TitlesOfParts>
    <vt:vector size="41"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Agenda : 1h30</vt:lpstr>
      <vt:lpstr>Présentation PowerPoint</vt:lpstr>
      <vt:lpstr>Description du processus métier Les enjeux du processus</vt:lpstr>
      <vt:lpstr>Les données référentielles de la Logistique</vt:lpstr>
      <vt:lpstr>Description du processus métier Gestion des fiches articles pour les vues Logistique</vt:lpstr>
      <vt:lpstr>Description du processus métier </vt:lpstr>
      <vt:lpstr>Le processus de création des vues logistiques pour la fiche article</vt:lpstr>
      <vt:lpstr>Présentation PowerPoint</vt:lpstr>
      <vt:lpstr>Mode opératoire Présentation du mode opératoire dans SAP</vt:lpstr>
      <vt:lpstr>Mode opératoire MM01 - Créer les vues logistiques d’une fiche article– 1/3 </vt:lpstr>
      <vt:lpstr>Mode opératoire MM01 - Créer les vues logistiques d’une fiche article– 2/3</vt:lpstr>
      <vt:lpstr>Mode opératoire MM01 - Créer les vues logistiques d’une fiche article– 3/3</vt:lpstr>
      <vt:lpstr>Présentation PowerPoint</vt:lpstr>
      <vt:lpstr>Description des objets SAP</vt:lpstr>
      <vt:lpstr>Description des objets SAP</vt:lpstr>
      <vt:lpstr>Description des objets SAP</vt:lpstr>
      <vt:lpstr>Mode opératoire MM02 – Modifier une vue logistique d’une fiche article</vt:lpstr>
      <vt:lpstr>Présentation PowerPoint</vt:lpstr>
      <vt:lpstr>Description du processus métier Gestion des nomenclatures</vt:lpstr>
      <vt:lpstr>Description du processus métier </vt:lpstr>
      <vt:lpstr>Mode opératoire Présentation du mode opératoire dans SAP</vt:lpstr>
      <vt:lpstr>Mode opératoire CS01 – Créer une nomenclature</vt:lpstr>
      <vt:lpstr>Présentation PowerPoint</vt:lpstr>
      <vt:lpstr>Mode opératoire CS02 – Modifier une nomenclature</vt:lpstr>
      <vt:lpstr>Présentation PowerPoint</vt:lpstr>
      <vt:lpstr>Mode opératoire CS15 – Identifier les cas d’emplois d’un article</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Zaiem, Yasmine</cp:lastModifiedBy>
  <cp:revision>3649</cp:revision>
  <cp:lastPrinted>2015-04-23T03:57:16Z</cp:lastPrinted>
  <dcterms:created xsi:type="dcterms:W3CDTF">2012-05-17T14:14:37Z</dcterms:created>
  <dcterms:modified xsi:type="dcterms:W3CDTF">2015-12-04T14:12:15Z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e754e448-322e-4441-aaef-390c4482737d</vt:lpwstr>
  </property>
</Properties>
</file>