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s/slide2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7"/>
  </p:notesMasterIdLst>
  <p:handoutMasterIdLst>
    <p:handoutMasterId r:id="rId28"/>
  </p:handoutMasterIdLst>
  <p:sldIdLst>
    <p:sldId id="685" r:id="rId5"/>
    <p:sldId id="686" r:id="rId6"/>
    <p:sldId id="687" r:id="rId7"/>
    <p:sldId id="723" r:id="rId8"/>
    <p:sldId id="691" r:id="rId9"/>
    <p:sldId id="692" r:id="rId10"/>
    <p:sldId id="693" r:id="rId11"/>
    <p:sldId id="694" r:id="rId12"/>
    <p:sldId id="724" r:id="rId13"/>
    <p:sldId id="713" r:id="rId14"/>
    <p:sldId id="742" r:id="rId15"/>
    <p:sldId id="696" r:id="rId16"/>
    <p:sldId id="730" r:id="rId17"/>
    <p:sldId id="736" r:id="rId18"/>
    <p:sldId id="737" r:id="rId19"/>
    <p:sldId id="738" r:id="rId20"/>
    <p:sldId id="741" r:id="rId21"/>
    <p:sldId id="740" r:id="rId22"/>
    <p:sldId id="732" r:id="rId23"/>
    <p:sldId id="725" r:id="rId24"/>
    <p:sldId id="710" r:id="rId25"/>
    <p:sldId id="728" r:id="rId26"/>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48" autoAdjust="0"/>
    <p:restoredTop sz="95565" autoAdjust="0"/>
  </p:normalViewPr>
  <p:slideViewPr>
    <p:cSldViewPr snapToGrid="0" snapToObjects="1">
      <p:cViewPr varScale="1">
        <p:scale>
          <a:sx n="118" d="100"/>
          <a:sy n="118" d="100"/>
        </p:scale>
        <p:origin x="864" y="96"/>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19</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404016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20</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Traitement </a:t>
            </a:r>
            <a:r>
              <a:rPr lang="fr-FR" sz="2000" b="1" dirty="0" smtClean="0">
                <a:solidFill>
                  <a:srgbClr val="0070C0"/>
                </a:solidFill>
                <a:latin typeface="Arial" charset="0"/>
                <a:cs typeface="Arial" charset="0"/>
              </a:rPr>
              <a:t>des commandes d’achat Outre-Mer</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une commande d’achat destinée à un fournisseur outre mer</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Transformer en commande les demandes d’achats créées en commande de transfert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Lancer le MRP outre mer afin de créer une demande d’achat outre mer</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Transformer la demande d’achat outre mer en commande d’achat</a:t>
            </a: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Clients internes</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processus de création et de gestion des commandes d’achats s’inscrit dans le processus d’Achats Indirects. Il permet :</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dirty="0" smtClean="0"/>
              <a:t>De tracer les achats Outre-mer, le stock Outre mer et de suivre le transfert vers la Guinée</a:t>
            </a:r>
          </a:p>
          <a:p>
            <a:pPr marL="171450" indent="-171450">
              <a:buClr>
                <a:srgbClr val="0070C0"/>
              </a:buClr>
              <a:buSzPct val="100000"/>
              <a:buFont typeface="Arial" panose="020B0604020202020204" pitchFamily="34" charset="0"/>
              <a:buChar char="•"/>
            </a:pPr>
            <a:r>
              <a:rPr lang="fr-FR" dirty="0" smtClean="0"/>
              <a:t>D’améliorer le pilotage des achats outre-mer</a:t>
            </a:r>
          </a:p>
          <a:p>
            <a:pPr>
              <a:buClr>
                <a:srgbClr val="0070C0"/>
              </a:buClr>
              <a:buSzPct val="100000"/>
            </a:pPr>
            <a:r>
              <a:rPr lang="fr-FR" b="1" dirty="0" smtClean="0">
                <a:solidFill>
                  <a:srgbClr val="0070C0"/>
                </a:solidFill>
              </a:rPr>
              <a:t>Pour la logistique</a:t>
            </a:r>
          </a:p>
          <a:p>
            <a:pPr marL="171450" indent="-171450">
              <a:buClr>
                <a:srgbClr val="0070C0"/>
              </a:buClr>
              <a:buSzPct val="100000"/>
              <a:buFont typeface="Arial" panose="020B0604020202020204" pitchFamily="34" charset="0"/>
              <a:buChar char="•"/>
            </a:pPr>
            <a:r>
              <a:rPr lang="fr-FR" dirty="0"/>
              <a:t>De </a:t>
            </a:r>
            <a:r>
              <a:rPr lang="fr-FR" dirty="0" smtClean="0"/>
              <a:t>suivre l’achat et l’acheminement des produits d’outre-mer vers la Guinée</a:t>
            </a:r>
            <a:endParaRPr lang="fr-FR" dirty="0"/>
          </a:p>
          <a:p>
            <a:pPr marL="171450" indent="-171450">
              <a:buClr>
                <a:srgbClr val="0070C0"/>
              </a:buClr>
              <a:buSzPct val="100000"/>
              <a:buFont typeface="Arial" panose="020B0604020202020204" pitchFamily="34" charset="0"/>
              <a:buChar char="•"/>
            </a:pPr>
            <a:endParaRPr lang="fr-FR" dirty="0" smtClean="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a:t>
            </a:r>
            <a:r>
              <a:rPr lang="fr-FR" altLang="en-US" dirty="0"/>
              <a:t>C</a:t>
            </a:r>
            <a:r>
              <a:rPr lang="fr-FR" altLang="en-US" dirty="0" smtClean="0"/>
              <a:t>ommandes d’Achat</a:t>
            </a:r>
            <a:endParaRPr lang="en-US" altLang="en-US" dirty="0" smtClean="0"/>
          </a:p>
        </p:txBody>
      </p:sp>
      <p:sp>
        <p:nvSpPr>
          <p:cNvPr id="28678" name="AutoShape 6"/>
          <p:cNvSpPr>
            <a:spLocks noChangeArrowheads="1"/>
          </p:cNvSpPr>
          <p:nvPr/>
        </p:nvSpPr>
        <p:spPr bwMode="auto">
          <a:xfrm>
            <a:off x="1540042" y="1534837"/>
            <a:ext cx="1644253"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une commande d’achat </a:t>
            </a:r>
            <a:r>
              <a:rPr lang="fr-FR" altLang="en-US" sz="1050" dirty="0">
                <a:cs typeface="Arial" panose="020B0604020202020204" pitchFamily="34" charset="0"/>
              </a:rPr>
              <a:t>?</a:t>
            </a:r>
          </a:p>
        </p:txBody>
      </p:sp>
      <p:sp>
        <p:nvSpPr>
          <p:cNvPr id="28679" name="AutoShape 7"/>
          <p:cNvSpPr>
            <a:spLocks noChangeArrowheads="1"/>
          </p:cNvSpPr>
          <p:nvPr/>
        </p:nvSpPr>
        <p:spPr bwMode="auto">
          <a:xfrm>
            <a:off x="1435769" y="3595561"/>
            <a:ext cx="1825918"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une commande d’achat </a:t>
            </a:r>
            <a:r>
              <a:rPr lang="fr-FR" altLang="en-US" sz="1050" dirty="0">
                <a:solidFill>
                  <a:schemeClr val="bg1"/>
                </a:solidFill>
                <a:cs typeface="Arial" panose="020B0604020202020204" pitchFamily="34" charset="0"/>
              </a:rPr>
              <a:t>?</a:t>
            </a:r>
          </a:p>
        </p:txBody>
      </p:sp>
      <p:sp>
        <p:nvSpPr>
          <p:cNvPr id="28680" name="AutoShape 9"/>
          <p:cNvSpPr>
            <a:spLocks noChangeArrowheads="1"/>
          </p:cNvSpPr>
          <p:nvPr/>
        </p:nvSpPr>
        <p:spPr bwMode="auto">
          <a:xfrm>
            <a:off x="5155407" y="2439758"/>
            <a:ext cx="2166938" cy="656973"/>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acheteurs outre mer sont responsables de la création des commandes d’achat outre mer</a:t>
            </a:r>
            <a:endParaRPr lang="fr-FR" altLang="en-US" sz="1050" dirty="0">
              <a:solidFill>
                <a:schemeClr val="bg1"/>
              </a:solidFill>
            </a:endParaRPr>
          </a:p>
        </p:txBody>
      </p:sp>
      <p:sp>
        <p:nvSpPr>
          <p:cNvPr id="28681" name="AutoShape 12"/>
          <p:cNvSpPr>
            <a:spLocks noChangeArrowheads="1"/>
          </p:cNvSpPr>
          <p:nvPr/>
        </p:nvSpPr>
        <p:spPr bwMode="auto">
          <a:xfrm>
            <a:off x="5155407" y="1476935"/>
            <a:ext cx="2701669" cy="656973"/>
          </a:xfrm>
          <a:prstGeom prst="wedgeRoundRectCallout">
            <a:avLst>
              <a:gd name="adj1" fmla="val -60434"/>
              <a:gd name="adj2" fmla="val 46405"/>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Une commande d’achat outre mer est créée à chaque besoin de commander un article à un fournisseur outre mer</a:t>
            </a:r>
            <a:endParaRPr lang="fr-FR" altLang="en-US" sz="1050" dirty="0"/>
          </a:p>
        </p:txBody>
      </p:sp>
      <p:sp>
        <p:nvSpPr>
          <p:cNvPr id="28682" name="AutoShape 6"/>
          <p:cNvSpPr>
            <a:spLocks noChangeArrowheads="1"/>
          </p:cNvSpPr>
          <p:nvPr/>
        </p:nvSpPr>
        <p:spPr bwMode="auto">
          <a:xfrm>
            <a:off x="1331495" y="2484250"/>
            <a:ext cx="1455513" cy="478201"/>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une Commande d’achat </a:t>
            </a:r>
            <a:r>
              <a:rPr lang="fr-FR" altLang="en-US" sz="1050" dirty="0">
                <a:solidFill>
                  <a:schemeClr val="bg1"/>
                </a:solidFill>
                <a:cs typeface="Arial" panose="020B0604020202020204" pitchFamily="34" charset="0"/>
              </a:rPr>
              <a:t>?</a:t>
            </a:r>
          </a:p>
        </p:txBody>
      </p:sp>
      <p:sp>
        <p:nvSpPr>
          <p:cNvPr id="28685" name="AutoShape 10"/>
          <p:cNvSpPr>
            <a:spLocks noChangeArrowheads="1"/>
          </p:cNvSpPr>
          <p:nvPr/>
        </p:nvSpPr>
        <p:spPr bwMode="auto">
          <a:xfrm>
            <a:off x="5397949" y="3360036"/>
            <a:ext cx="2069652" cy="920875"/>
          </a:xfrm>
          <a:prstGeom prst="wedgeRoundRectCallout">
            <a:avLst>
              <a:gd name="adj1" fmla="val -70272"/>
              <a:gd name="adj2" fmla="val -6620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L’article à acheter</a:t>
            </a:r>
          </a:p>
          <a:p>
            <a:pPr eaLnBrk="1" hangingPunct="1">
              <a:spcBef>
                <a:spcPts val="225"/>
              </a:spcBef>
              <a:buFont typeface="Arial" panose="020B0604020202020204" pitchFamily="34" charset="0"/>
              <a:buChar char="•"/>
            </a:pPr>
            <a:r>
              <a:rPr lang="fr-FR" altLang="en-US" sz="1050" dirty="0" smtClean="0">
                <a:solidFill>
                  <a:schemeClr val="bg1"/>
                </a:solidFill>
              </a:rPr>
              <a:t>La date de livraison</a:t>
            </a:r>
          </a:p>
          <a:p>
            <a:pPr eaLnBrk="1" hangingPunct="1">
              <a:spcBef>
                <a:spcPts val="225"/>
              </a:spcBef>
              <a:buFont typeface="Arial" panose="020B0604020202020204" pitchFamily="34" charset="0"/>
              <a:buChar char="•"/>
            </a:pPr>
            <a:r>
              <a:rPr lang="fr-FR" altLang="en-US" sz="1050" dirty="0" smtClean="0">
                <a:solidFill>
                  <a:schemeClr val="bg1"/>
                </a:solidFill>
              </a:rPr>
              <a:t>Le fournisseur</a:t>
            </a:r>
          </a:p>
          <a:p>
            <a:pPr eaLnBrk="1" hangingPunct="1">
              <a:spcBef>
                <a:spcPts val="225"/>
              </a:spcBef>
              <a:buFont typeface="Arial" panose="020B0604020202020204" pitchFamily="34" charset="0"/>
              <a:buChar char="•"/>
            </a:pPr>
            <a:r>
              <a:rPr lang="fr-FR" altLang="en-US" sz="1050" dirty="0" smtClean="0">
                <a:solidFill>
                  <a:schemeClr val="bg1"/>
                </a:solidFill>
              </a:rPr>
              <a:t>Le prix d’achat</a:t>
            </a:r>
            <a:endParaRPr lang="fr-FR" altLang="en-US" sz="1050" dirty="0">
              <a:solidFill>
                <a:schemeClr val="bg1"/>
              </a:solidFill>
            </a:endParaRP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des commandes d’achat outre-mer</a:t>
            </a: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a:t>
            </a:r>
            <a:r>
              <a:rPr lang="fr-FR" sz="1050" dirty="0" smtClean="0">
                <a:solidFill>
                  <a:schemeClr val="bg1"/>
                </a:solidFill>
                <a:latin typeface="Arial" panose="020B0604020202020204" pitchFamily="34" charset="0"/>
                <a:ea typeface="ＭＳ Ｐゴシック" panose="020B0600070205080204" pitchFamily="34" charset="-128"/>
              </a:rPr>
              <a:t>Commandes d’achat s’inscrit dans le Processus Achats directs et indirects</a:t>
            </a:r>
          </a:p>
        </p:txBody>
      </p:sp>
      <p:sp>
        <p:nvSpPr>
          <p:cNvPr id="65540" name="AutoShape 16"/>
          <p:cNvSpPr>
            <a:spLocks noChangeArrowheads="1"/>
          </p:cNvSpPr>
          <p:nvPr/>
        </p:nvSpPr>
        <p:spPr bwMode="auto">
          <a:xfrm>
            <a:off x="577713" y="3777107"/>
            <a:ext cx="1237060"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Un demande d’achat OM est créée</a:t>
            </a:r>
            <a:endParaRPr lang="fr-FR" altLang="ko-KR" sz="800" b="1" dirty="0">
              <a:solidFill>
                <a:srgbClr val="FFFFFF"/>
              </a:solidFill>
              <a:latin typeface="Verdana" pitchFamily="34" charset="0"/>
              <a:ea typeface="ＭＳ Ｐゴシック"/>
              <a:cs typeface="Arial" pitchFamily="34" charset="0"/>
            </a:endParaRPr>
          </a:p>
        </p:txBody>
      </p:sp>
      <p:sp>
        <p:nvSpPr>
          <p:cNvPr id="29701" name="AutoShape 17"/>
          <p:cNvSpPr>
            <a:spLocks noChangeArrowheads="1"/>
          </p:cNvSpPr>
          <p:nvPr/>
        </p:nvSpPr>
        <p:spPr bwMode="auto">
          <a:xfrm>
            <a:off x="1839139"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de la commande de transfert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5623417" y="3777107"/>
            <a:ext cx="1235869" cy="400050"/>
          </a:xfrm>
          <a:prstGeom prst="chevron">
            <a:avLst>
              <a:gd name="adj" fmla="val 28676"/>
            </a:avLst>
          </a:prstGeom>
          <a:solidFill>
            <a:srgbClr val="A7ABFF"/>
          </a:solidFill>
          <a:ln w="19050" algn="ctr">
            <a:solidFill>
              <a:srgbClr val="0070C0"/>
            </a:solidFill>
            <a:prstDash val="solid"/>
            <a:miter lim="800000"/>
            <a:headEnd/>
            <a:tailEnd/>
          </a:ln>
        </p:spPr>
        <p:txBody>
          <a:bodyPr lIns="108000" tIns="68580" rIns="108000" bIns="68580" anchor="ctr"/>
          <a:lstStyle/>
          <a:p>
            <a:pPr algn="ctr" eaLnBrk="0" hangingPunct="0"/>
            <a:r>
              <a:rPr lang="fr-FR" altLang="ko-KR" sz="800" b="1" dirty="0">
                <a:solidFill>
                  <a:srgbClr val="FFFFFF"/>
                </a:solidFill>
                <a:latin typeface="Verdana" pitchFamily="34" charset="0"/>
                <a:ea typeface="ＭＳ Ｐゴシック"/>
                <a:cs typeface="Arial" pitchFamily="34" charset="0"/>
              </a:rPr>
              <a:t>Réception de la commande OM</a:t>
            </a:r>
          </a:p>
        </p:txBody>
      </p:sp>
      <p:sp>
        <p:nvSpPr>
          <p:cNvPr id="29703" name="AutoShape 19"/>
          <p:cNvSpPr>
            <a:spLocks noChangeArrowheads="1"/>
          </p:cNvSpPr>
          <p:nvPr/>
        </p:nvSpPr>
        <p:spPr bwMode="auto">
          <a:xfrm>
            <a:off x="6884843" y="3777107"/>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0800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Réception de la commande de transfert</a:t>
            </a:r>
            <a:endParaRPr lang="fr-FR" altLang="ko-KR" sz="800" b="1" dirty="0">
              <a:solidFill>
                <a:srgbClr val="FFFFFF"/>
              </a:solidFill>
              <a:latin typeface="Verdana" pitchFamily="34" charset="0"/>
              <a:ea typeface="ＭＳ Ｐゴシック"/>
              <a:cs typeface="Arial" pitchFamily="34" charset="0"/>
            </a:endParaRPr>
          </a:p>
        </p:txBody>
      </p:sp>
      <p:sp>
        <p:nvSpPr>
          <p:cNvPr id="9" name="AutoShape 17"/>
          <p:cNvSpPr>
            <a:spLocks noChangeArrowheads="1"/>
          </p:cNvSpPr>
          <p:nvPr/>
        </p:nvSpPr>
        <p:spPr bwMode="auto">
          <a:xfrm>
            <a:off x="3100565"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Lancement du MRP outre mer</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0" name="AutoShape 17"/>
          <p:cNvSpPr>
            <a:spLocks noChangeArrowheads="1"/>
          </p:cNvSpPr>
          <p:nvPr/>
        </p:nvSpPr>
        <p:spPr bwMode="auto">
          <a:xfrm>
            <a:off x="4361991"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de la commande d’achat OM</a:t>
            </a:r>
            <a:endParaRPr lang="fr-FR" altLang="ko-KR" sz="800" b="1" dirty="0">
              <a:solidFill>
                <a:schemeClr val="bg1"/>
              </a:solidFill>
              <a:latin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d’achats indirects Outre-Mer</a:t>
            </a:r>
            <a:endParaRPr lang="en-US" altLang="en-US" sz="2400" dirty="0" smtClean="0"/>
          </a:p>
        </p:txBody>
      </p:sp>
      <p:pic>
        <p:nvPicPr>
          <p:cNvPr id="6" name="Image 5"/>
          <p:cNvPicPr/>
          <p:nvPr/>
        </p:nvPicPr>
        <p:blipFill>
          <a:blip r:embed="rId2">
            <a:extLst>
              <a:ext uri="{28A0092B-C50C-407E-A947-70E740481C1C}">
                <a14:useLocalDpi xmlns:a14="http://schemas.microsoft.com/office/drawing/2010/main" val="0"/>
              </a:ext>
            </a:extLst>
          </a:blip>
          <a:srcRect/>
          <a:stretch>
            <a:fillRect/>
          </a:stretch>
        </p:blipFill>
        <p:spPr bwMode="auto">
          <a:xfrm>
            <a:off x="1239863" y="893144"/>
            <a:ext cx="6303937" cy="3500625"/>
          </a:xfrm>
          <a:prstGeom prst="rect">
            <a:avLst/>
          </a:prstGeom>
          <a:noFill/>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Une Demande d’Achats (DA) SAP représente l’expression d’un besoin par un client interne, ce besoin devant être approvisionné depuis un fournisseur externe à la CBG.</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Parmi les informations que l’on retrouve dans une DA, nous avons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Code article et/ou une désignation</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quantité</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date de livraison souhaitée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groupe de marchandises</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valorisation estimée (si non codifié) ou le Prix Moyen Pondéré</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Demande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a:latin typeface="Arial" panose="020B0604020202020204" pitchFamily="34" charset="0"/>
                <a:ea typeface="ＭＳ Ｐゴシック" panose="020B0600070205080204" pitchFamily="34" charset="-128"/>
                <a:cs typeface="Arial" panose="020B0604020202020204" pitchFamily="34" charset="0"/>
              </a:rPr>
              <a:t>Une commande est un ordre ou instruction officiellement émis par une organisation d'achats demandant à un fournisseur ou à une division de livrer une certaine quantité de marchandises ou de services à une date donnée</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a:t>
            </a:r>
          </a:p>
          <a:p>
            <a:r>
              <a:rPr lang="fr-FR" altLang="en-US" dirty="0">
                <a:latin typeface="Arial" panose="020B0604020202020204" pitchFamily="34" charset="0"/>
                <a:ea typeface="ＭＳ Ｐゴシック" panose="020B0600070205080204" pitchFamily="34" charset="-128"/>
                <a:cs typeface="Arial" panose="020B0604020202020204" pitchFamily="34" charset="0"/>
              </a:rPr>
              <a:t>Une commande est constituée d'un en-tête de document et de plusieurs postes.</a:t>
            </a:r>
          </a:p>
          <a:p>
            <a:r>
              <a:rPr lang="fr-FR" altLang="en-US" dirty="0">
                <a:latin typeface="Arial" panose="020B0604020202020204" pitchFamily="34" charset="0"/>
                <a:ea typeface="ＭＳ Ｐゴシック" panose="020B0600070205080204" pitchFamily="34" charset="-128"/>
                <a:cs typeface="Arial" panose="020B0604020202020204" pitchFamily="34" charset="0"/>
              </a:rPr>
              <a:t>Les informations d’en-tête concernent la commande entière. Il s’agit, par exemple, des conditions de paiement et de livraison.</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Commande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3549087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2114978" y="1782294"/>
            <a:ext cx="1469458" cy="991259"/>
            <a:chOff x="1507778" y="2276353"/>
            <a:chExt cx="1258269" cy="754857"/>
          </a:xfrm>
        </p:grpSpPr>
        <p:sp>
          <p:nvSpPr>
            <p:cNvPr id="40" name="Rectangle 39"/>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la commande de transfert (1/2)</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MD04</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 </a:t>
              </a:r>
              <a:r>
                <a:rPr lang="fr-FR" sz="800" dirty="0" smtClean="0">
                  <a:solidFill>
                    <a:schemeClr val="tx1">
                      <a:lumMod val="50000"/>
                    </a:schemeClr>
                  </a:solidFill>
                  <a:latin typeface="Arial" panose="020B0604020202020204" pitchFamily="34" charset="0"/>
                  <a:cs typeface="Arial" panose="020B0604020202020204" pitchFamily="34" charset="0"/>
                </a:rPr>
                <a:t>Guinée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57200" y="1782294"/>
            <a:ext cx="1469458" cy="991259"/>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des demandes d’achat</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ME5A</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 </a:t>
              </a:r>
              <a:r>
                <a:rPr lang="fr-FR" sz="800" dirty="0" smtClean="0">
                  <a:solidFill>
                    <a:schemeClr val="tx1">
                      <a:lumMod val="50000"/>
                    </a:schemeClr>
                  </a:solidFill>
                  <a:latin typeface="Arial" panose="020B0604020202020204" pitchFamily="34" charset="0"/>
                  <a:cs typeface="Arial" panose="020B0604020202020204" pitchFamily="34" charset="0"/>
                </a:rPr>
                <a:t>Guinée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10" name="Connecteur en angle 9"/>
          <p:cNvCxnSpPr>
            <a:stCxn id="50" idx="3"/>
            <a:endCxn id="41" idx="1"/>
          </p:cNvCxnSpPr>
          <p:nvPr/>
        </p:nvCxnSpPr>
        <p:spPr>
          <a:xfrm>
            <a:off x="1926658" y="2349063"/>
            <a:ext cx="188320"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38" name="Groupe 37"/>
          <p:cNvGrpSpPr/>
          <p:nvPr/>
        </p:nvGrpSpPr>
        <p:grpSpPr>
          <a:xfrm>
            <a:off x="5538564" y="1782294"/>
            <a:ext cx="1469458" cy="991259"/>
            <a:chOff x="1507778" y="2276353"/>
            <a:chExt cx="1258269" cy="754857"/>
          </a:xfrm>
        </p:grpSpPr>
        <p:sp>
          <p:nvSpPr>
            <p:cNvPr id="42" name="Rectangle 41"/>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Lancer le MRP</a:t>
              </a:r>
              <a:endParaRPr lang="en-US" sz="800" dirty="0">
                <a:solidFill>
                  <a:schemeClr val="bg1"/>
                </a:solidFill>
                <a:latin typeface="Arial" pitchFamily="34" charset="0"/>
                <a:cs typeface="Arial" pitchFamily="34" charset="0"/>
              </a:endParaRPr>
            </a:p>
          </p:txBody>
        </p:sp>
        <p:sp>
          <p:nvSpPr>
            <p:cNvPr id="44" name="Rectangle 43"/>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MD01</a:t>
              </a:r>
              <a:endParaRPr lang="en-US" sz="800" b="1" dirty="0">
                <a:solidFill>
                  <a:schemeClr val="bg1"/>
                </a:solidFill>
                <a:latin typeface="Arial" panose="020B0604020202020204" pitchFamily="34" charset="0"/>
                <a:cs typeface="Arial" panose="020B0604020202020204" pitchFamily="34" charset="0"/>
              </a:endParaRPr>
            </a:p>
          </p:txBody>
        </p:sp>
        <p:sp>
          <p:nvSpPr>
            <p:cNvPr id="45" name="Rectangle 44"/>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 Guinée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6" name="Groupe 45"/>
          <p:cNvGrpSpPr/>
          <p:nvPr/>
        </p:nvGrpSpPr>
        <p:grpSpPr>
          <a:xfrm>
            <a:off x="7198031" y="1782294"/>
            <a:ext cx="1469458" cy="991259"/>
            <a:chOff x="1507778" y="2276353"/>
            <a:chExt cx="1258269" cy="754857"/>
          </a:xfrm>
        </p:grpSpPr>
        <p:sp>
          <p:nvSpPr>
            <p:cNvPr id="51" name="Rectangle 50"/>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Commander les demandes d’achats créées</a:t>
              </a:r>
              <a:endParaRPr lang="en-US" sz="800" dirty="0">
                <a:solidFill>
                  <a:schemeClr val="bg1"/>
                </a:solidFill>
                <a:latin typeface="Arial" pitchFamily="34" charset="0"/>
                <a:cs typeface="Arial" pitchFamily="34" charset="0"/>
              </a:endParaRPr>
            </a:p>
          </p:txBody>
        </p:sp>
        <p:sp>
          <p:nvSpPr>
            <p:cNvPr id="52" name="Rectangle 5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ME58</a:t>
              </a:r>
              <a:endParaRPr lang="en-US" sz="800" b="1" dirty="0">
                <a:solidFill>
                  <a:schemeClr val="bg1"/>
                </a:solidFill>
                <a:latin typeface="Arial" panose="020B0604020202020204" pitchFamily="34" charset="0"/>
                <a:cs typeface="Arial" panose="020B0604020202020204" pitchFamily="34" charset="0"/>
              </a:endParaRPr>
            </a:p>
          </p:txBody>
        </p:sp>
        <p:sp>
          <p:nvSpPr>
            <p:cNvPr id="53" name="Rectangle 5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 Outre mer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63" name="Groupe 62"/>
          <p:cNvGrpSpPr/>
          <p:nvPr/>
        </p:nvGrpSpPr>
        <p:grpSpPr>
          <a:xfrm>
            <a:off x="3853698" y="1782294"/>
            <a:ext cx="1469458" cy="991259"/>
            <a:chOff x="1507778" y="2276353"/>
            <a:chExt cx="1258269" cy="754857"/>
          </a:xfrm>
        </p:grpSpPr>
        <p:sp>
          <p:nvSpPr>
            <p:cNvPr id="64" name="Rectangle 6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la commande de transfert (2/2)</a:t>
              </a:r>
              <a:endParaRPr lang="en-US" sz="800" dirty="0">
                <a:solidFill>
                  <a:schemeClr val="bg1"/>
                </a:solidFill>
                <a:latin typeface="Arial" pitchFamily="34" charset="0"/>
                <a:cs typeface="Arial" pitchFamily="34" charset="0"/>
              </a:endParaRPr>
            </a:p>
          </p:txBody>
        </p:sp>
        <p:sp>
          <p:nvSpPr>
            <p:cNvPr id="65" name="Rectangle 64"/>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ME21N</a:t>
              </a:r>
              <a:endParaRPr lang="en-US" sz="800" b="1" dirty="0">
                <a:solidFill>
                  <a:schemeClr val="bg1"/>
                </a:solidFill>
                <a:latin typeface="Arial" panose="020B0604020202020204" pitchFamily="34" charset="0"/>
                <a:cs typeface="Arial" panose="020B0604020202020204" pitchFamily="34" charset="0"/>
              </a:endParaRPr>
            </a:p>
          </p:txBody>
        </p:sp>
        <p:sp>
          <p:nvSpPr>
            <p:cNvPr id="66" name="Rectangle 6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 Guinée</a:t>
              </a:r>
              <a:endParaRPr lang="en-US" sz="800" dirty="0">
                <a:solidFill>
                  <a:schemeClr val="tx1">
                    <a:lumMod val="50000"/>
                  </a:schemeClr>
                </a:solidFill>
                <a:latin typeface="Arial" panose="020B0604020202020204" pitchFamily="34" charset="0"/>
                <a:cs typeface="Arial" panose="020B0604020202020204" pitchFamily="34" charset="0"/>
              </a:endParaRPr>
            </a:p>
            <a:p>
              <a:pPr algn="ct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7" name="Connecteur en angle 5"/>
          <p:cNvCxnSpPr>
            <a:stCxn id="65" idx="3"/>
            <a:endCxn id="44" idx="1"/>
          </p:cNvCxnSpPr>
          <p:nvPr/>
        </p:nvCxnSpPr>
        <p:spPr>
          <a:xfrm>
            <a:off x="5323156" y="2349063"/>
            <a:ext cx="215408"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8" name="Connecteur en angle 9"/>
          <p:cNvCxnSpPr>
            <a:stCxn id="44" idx="3"/>
            <a:endCxn id="52" idx="1"/>
          </p:cNvCxnSpPr>
          <p:nvPr/>
        </p:nvCxnSpPr>
        <p:spPr>
          <a:xfrm>
            <a:off x="7008022" y="2349063"/>
            <a:ext cx="190009"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9" name="Connecteur en angle 5"/>
          <p:cNvCxnSpPr>
            <a:stCxn id="41" idx="3"/>
            <a:endCxn id="65" idx="1"/>
          </p:cNvCxnSpPr>
          <p:nvPr/>
        </p:nvCxnSpPr>
        <p:spPr>
          <a:xfrm>
            <a:off x="3584436" y="2349063"/>
            <a:ext cx="269262"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a:blip r:embed="rId2"/>
          <a:stretch>
            <a:fillRect/>
          </a:stretch>
        </p:blipFill>
        <p:spPr>
          <a:xfrm>
            <a:off x="4952704" y="1987966"/>
            <a:ext cx="3792825" cy="2751913"/>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ME5A – Afficher les demande d’achats non affectées</a:t>
            </a:r>
            <a:endParaRPr lang="en-US" dirty="0"/>
          </a:p>
        </p:txBody>
      </p:sp>
      <p:grpSp>
        <p:nvGrpSpPr>
          <p:cNvPr id="5" name="Groupe 4"/>
          <p:cNvGrpSpPr/>
          <p:nvPr/>
        </p:nvGrpSpPr>
        <p:grpSpPr>
          <a:xfrm>
            <a:off x="457200" y="1509948"/>
            <a:ext cx="4105529" cy="1754326"/>
            <a:chOff x="425491" y="1232489"/>
            <a:chExt cx="4105529" cy="1754326"/>
          </a:xfrm>
        </p:grpSpPr>
        <p:sp>
          <p:nvSpPr>
            <p:cNvPr id="6" name="ZoneTexte 5"/>
            <p:cNvSpPr txBox="1"/>
            <p:nvPr/>
          </p:nvSpPr>
          <p:spPr>
            <a:xfrm>
              <a:off x="581025" y="1232489"/>
              <a:ext cx="3949995" cy="1754326"/>
            </a:xfrm>
            <a:prstGeom prst="rect">
              <a:avLst/>
            </a:prstGeom>
            <a:noFill/>
          </p:spPr>
          <p:txBody>
            <a:bodyPr wrap="square" rtlCol="0">
              <a:spAutoFit/>
            </a:bodyPr>
            <a:lstStyle/>
            <a:p>
              <a:r>
                <a:rPr lang="fr-FR" sz="1200" dirty="0" smtClean="0">
                  <a:solidFill>
                    <a:srgbClr val="4D4F53"/>
                  </a:solidFill>
                </a:rPr>
                <a:t>Saisir groupe d’acheteurs</a:t>
              </a:r>
            </a:p>
            <a:p>
              <a:endParaRPr lang="fr-FR" sz="1200" dirty="0">
                <a:solidFill>
                  <a:srgbClr val="4D4F53"/>
                </a:solidFill>
              </a:endParaRPr>
            </a:p>
            <a:p>
              <a:r>
                <a:rPr lang="fr-FR" sz="1200" dirty="0" smtClean="0">
                  <a:solidFill>
                    <a:srgbClr val="4D4F53"/>
                  </a:solidFill>
                </a:rPr>
                <a:t>Saisir l’étendu de liste = A</a:t>
              </a:r>
            </a:p>
            <a:p>
              <a:endParaRPr lang="fr-FR" sz="1200" dirty="0">
                <a:solidFill>
                  <a:srgbClr val="4D4F53"/>
                </a:solidFill>
              </a:endParaRPr>
            </a:p>
            <a:p>
              <a:r>
                <a:rPr lang="fr-FR" sz="1200" dirty="0" smtClean="0">
                  <a:solidFill>
                    <a:srgbClr val="4D4F53"/>
                  </a:solidFill>
                </a:rPr>
                <a:t>Décocher </a:t>
              </a:r>
            </a:p>
            <a:p>
              <a:endParaRPr lang="fr-FR" sz="1200" dirty="0">
                <a:solidFill>
                  <a:srgbClr val="4D4F53"/>
                </a:solidFill>
              </a:endParaRPr>
            </a:p>
            <a:p>
              <a:r>
                <a:rPr lang="fr-FR" sz="1200" dirty="0" smtClean="0">
                  <a:solidFill>
                    <a:srgbClr val="4D4F53"/>
                  </a:solidFill>
                </a:rPr>
                <a:t>Exécuter la transaction en appuyant sur </a:t>
              </a:r>
            </a:p>
            <a:p>
              <a:endParaRPr lang="fr-FR" sz="1200" dirty="0" smtClean="0">
                <a:solidFill>
                  <a:srgbClr val="4D4F53"/>
                </a:solidFill>
              </a:endParaRPr>
            </a:p>
            <a:p>
              <a:r>
                <a:rPr lang="fr-FR" sz="1200" dirty="0" smtClean="0">
                  <a:solidFill>
                    <a:srgbClr val="4D4F53"/>
                  </a:solidFill>
                </a:rPr>
                <a:t>Afficher la liste des commandes d’achats en attente</a:t>
              </a:r>
              <a:endParaRPr lang="fr-FR" sz="1200" dirty="0">
                <a:solidFill>
                  <a:srgbClr val="4D4F53"/>
                </a:solidFill>
              </a:endParaRP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90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40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4015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5491" y="276487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grpSp>
      <p:pic>
        <p:nvPicPr>
          <p:cNvPr id="7" name="Image 6"/>
          <p:cNvPicPr>
            <a:picLocks noChangeAspect="1"/>
          </p:cNvPicPr>
          <p:nvPr/>
        </p:nvPicPr>
        <p:blipFill>
          <a:blip r:embed="rId3"/>
          <a:stretch>
            <a:fillRect/>
          </a:stretch>
        </p:blipFill>
        <p:spPr>
          <a:xfrm>
            <a:off x="3208307" y="2660066"/>
            <a:ext cx="190500" cy="190500"/>
          </a:xfrm>
          <a:prstGeom prst="rect">
            <a:avLst/>
          </a:prstGeom>
          <a:ln>
            <a:solidFill>
              <a:schemeClr val="tx1"/>
            </a:solidFill>
          </a:ln>
          <a:effectLst>
            <a:outerShdw blurRad="50800" dist="38100" dir="2700000" algn="tl" rotWithShape="0">
              <a:prstClr val="black">
                <a:alpha val="40000"/>
              </a:prstClr>
            </a:outerShdw>
          </a:effectLst>
        </p:spPr>
      </p:pic>
      <p:pic>
        <p:nvPicPr>
          <p:cNvPr id="4" name="Image 3"/>
          <p:cNvPicPr>
            <a:picLocks noChangeAspect="1"/>
          </p:cNvPicPr>
          <p:nvPr/>
        </p:nvPicPr>
        <p:blipFill rotWithShape="1">
          <a:blip r:embed="rId4"/>
          <a:srcRect r="17465" b="11334"/>
          <a:stretch/>
        </p:blipFill>
        <p:spPr>
          <a:xfrm>
            <a:off x="3986191" y="1087832"/>
            <a:ext cx="1933027" cy="1274279"/>
          </a:xfrm>
          <a:prstGeom prst="rect">
            <a:avLst/>
          </a:prstGeom>
          <a:ln>
            <a:solidFill>
              <a:schemeClr val="tx1"/>
            </a:solidFill>
          </a:ln>
          <a:effectLst>
            <a:outerShdw blurRad="50800" dist="38100" dir="2700000" algn="tl" rotWithShape="0">
              <a:prstClr val="black">
                <a:alpha val="40000"/>
              </a:prstClr>
            </a:outerShdw>
          </a:effectLst>
        </p:spPr>
      </p:pic>
      <p:sp>
        <p:nvSpPr>
          <p:cNvPr id="18" name="Ellipse 17"/>
          <p:cNvSpPr/>
          <p:nvPr/>
        </p:nvSpPr>
        <p:spPr>
          <a:xfrm>
            <a:off x="5694459" y="16393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5395863" y="1657845"/>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5694459" y="215687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5395863" y="2175342"/>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2" name="Image 11"/>
          <p:cNvPicPr>
            <a:picLocks noChangeAspect="1"/>
          </p:cNvPicPr>
          <p:nvPr/>
        </p:nvPicPr>
        <p:blipFill>
          <a:blip r:embed="rId5"/>
          <a:stretch>
            <a:fillRect/>
          </a:stretch>
        </p:blipFill>
        <p:spPr>
          <a:xfrm>
            <a:off x="1340908" y="2288550"/>
            <a:ext cx="1771650" cy="200025"/>
          </a:xfrm>
          <a:prstGeom prst="rect">
            <a:avLst/>
          </a:prstGeom>
          <a:ln>
            <a:solidFill>
              <a:schemeClr val="tx1"/>
            </a:solidFill>
          </a:ln>
          <a:effectLst>
            <a:outerShdw blurRad="50800" dist="38100" dir="2700000" algn="tl" rotWithShape="0">
              <a:prstClr val="black">
                <a:alpha val="40000"/>
              </a:prstClr>
            </a:outerShdw>
          </a:effectLst>
        </p:spPr>
      </p:pic>
      <p:sp>
        <p:nvSpPr>
          <p:cNvPr id="24" name="Ellipse 23"/>
          <p:cNvSpPr/>
          <p:nvPr/>
        </p:nvSpPr>
        <p:spPr>
          <a:xfrm>
            <a:off x="3777608" y="125778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5" name="Rectangle 24"/>
          <p:cNvSpPr/>
          <p:nvPr/>
        </p:nvSpPr>
        <p:spPr>
          <a:xfrm>
            <a:off x="3994786" y="1306584"/>
            <a:ext cx="229973"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Ellipse 25"/>
          <p:cNvSpPr/>
          <p:nvPr/>
        </p:nvSpPr>
        <p:spPr>
          <a:xfrm>
            <a:off x="4796568" y="24885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cxnSp>
        <p:nvCxnSpPr>
          <p:cNvPr id="27" name="Connecteur en angle 26"/>
          <p:cNvCxnSpPr>
            <a:stCxn id="25" idx="2"/>
            <a:endCxn id="16" idx="1"/>
          </p:cNvCxnSpPr>
          <p:nvPr/>
        </p:nvCxnSpPr>
        <p:spPr>
          <a:xfrm rot="16200000" flipH="1">
            <a:off x="3569754" y="1980973"/>
            <a:ext cx="1922968" cy="842931"/>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768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a:blip r:embed="rId2"/>
          <a:stretch>
            <a:fillRect/>
          </a:stretch>
        </p:blipFill>
        <p:spPr>
          <a:xfrm>
            <a:off x="2523824" y="3170258"/>
            <a:ext cx="3465765" cy="1082313"/>
          </a:xfrm>
          <a:prstGeom prst="rect">
            <a:avLst/>
          </a:prstGeom>
          <a:ln>
            <a:solidFill>
              <a:schemeClr val="tx1"/>
            </a:solidFill>
          </a:ln>
          <a:effectLst>
            <a:outerShdw blurRad="50800" dist="38100" dir="2700000" algn="tl" rotWithShape="0">
              <a:prstClr val="black">
                <a:alpha val="40000"/>
              </a:prstClr>
            </a:outerShdw>
          </a:effectLst>
        </p:spPr>
      </p:pic>
      <p:pic>
        <p:nvPicPr>
          <p:cNvPr id="14" name="Image 13"/>
          <p:cNvPicPr>
            <a:picLocks noChangeAspect="1"/>
          </p:cNvPicPr>
          <p:nvPr/>
        </p:nvPicPr>
        <p:blipFill>
          <a:blip r:embed="rId3"/>
          <a:stretch>
            <a:fillRect/>
          </a:stretch>
        </p:blipFill>
        <p:spPr>
          <a:xfrm>
            <a:off x="5804207" y="1758284"/>
            <a:ext cx="2777935" cy="1815091"/>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rotWithShape="1">
          <a:blip r:embed="rId4"/>
          <a:srcRect t="36999" b="-1"/>
          <a:stretch/>
        </p:blipFill>
        <p:spPr>
          <a:xfrm>
            <a:off x="3777608" y="1037407"/>
            <a:ext cx="2572710" cy="797391"/>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MD04 – Créer la commande de transfert (1/2)</a:t>
            </a:r>
            <a:endParaRPr lang="en-US" dirty="0"/>
          </a:p>
        </p:txBody>
      </p:sp>
      <p:grpSp>
        <p:nvGrpSpPr>
          <p:cNvPr id="5" name="Groupe 4"/>
          <p:cNvGrpSpPr/>
          <p:nvPr/>
        </p:nvGrpSpPr>
        <p:grpSpPr>
          <a:xfrm>
            <a:off x="457200" y="1294062"/>
            <a:ext cx="4105529" cy="1384995"/>
            <a:chOff x="425491" y="1232489"/>
            <a:chExt cx="4105529" cy="1384995"/>
          </a:xfrm>
        </p:grpSpPr>
        <p:sp>
          <p:nvSpPr>
            <p:cNvPr id="6" name="ZoneTexte 5"/>
            <p:cNvSpPr txBox="1"/>
            <p:nvPr/>
          </p:nvSpPr>
          <p:spPr>
            <a:xfrm>
              <a:off x="581025" y="1232489"/>
              <a:ext cx="3949995" cy="1384995"/>
            </a:xfrm>
            <a:prstGeom prst="rect">
              <a:avLst/>
            </a:prstGeom>
            <a:noFill/>
          </p:spPr>
          <p:txBody>
            <a:bodyPr wrap="square" rtlCol="0">
              <a:spAutoFit/>
            </a:bodyPr>
            <a:lstStyle/>
            <a:p>
              <a:r>
                <a:rPr lang="fr-FR" sz="1200" dirty="0" smtClean="0">
                  <a:solidFill>
                    <a:srgbClr val="4D4F53"/>
                  </a:solidFill>
                </a:rPr>
                <a:t>Saisir l’article</a:t>
              </a:r>
            </a:p>
            <a:p>
              <a:endParaRPr lang="fr-FR" sz="1200" dirty="0">
                <a:solidFill>
                  <a:srgbClr val="4D4F53"/>
                </a:solidFill>
              </a:endParaRPr>
            </a:p>
            <a:p>
              <a:r>
                <a:rPr lang="fr-FR" sz="1200" dirty="0" smtClean="0">
                  <a:solidFill>
                    <a:srgbClr val="4D4F53"/>
                  </a:solidFill>
                </a:rPr>
                <a:t>Saisir la division et cliquer sur « Entrer »</a:t>
              </a:r>
            </a:p>
            <a:p>
              <a:endParaRPr lang="fr-FR" sz="1200" dirty="0">
                <a:solidFill>
                  <a:srgbClr val="4D4F53"/>
                </a:solidFill>
              </a:endParaRPr>
            </a:p>
            <a:p>
              <a:r>
                <a:rPr lang="fr-FR" sz="1200" dirty="0" smtClean="0">
                  <a:solidFill>
                    <a:srgbClr val="4D4F53"/>
                  </a:solidFill>
                </a:rPr>
                <a:t>Double cliquer sur la demande d’achat à convertir</a:t>
              </a:r>
            </a:p>
            <a:p>
              <a:endParaRPr lang="fr-FR" sz="1200" dirty="0">
                <a:solidFill>
                  <a:srgbClr val="4D4F53"/>
                </a:solidFill>
              </a:endParaRPr>
            </a:p>
            <a:p>
              <a:r>
                <a:rPr lang="fr-FR" sz="1200" dirty="0" smtClean="0">
                  <a:solidFill>
                    <a:srgbClr val="4D4F53"/>
                  </a:solidFill>
                </a:rPr>
                <a:t>Cliquer sur </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14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327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3939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sp>
        <p:nvSpPr>
          <p:cNvPr id="18" name="Ellipse 17"/>
          <p:cNvSpPr/>
          <p:nvPr/>
        </p:nvSpPr>
        <p:spPr>
          <a:xfrm>
            <a:off x="5217779" y="153340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4476025" y="1551869"/>
            <a:ext cx="673132"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5217779" y="168468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4476025" y="1703151"/>
            <a:ext cx="673132"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7841361" y="3372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Rectangle 28"/>
          <p:cNvSpPr/>
          <p:nvPr/>
        </p:nvSpPr>
        <p:spPr>
          <a:xfrm>
            <a:off x="6878082" y="3390619"/>
            <a:ext cx="894657"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2" name="Image 21"/>
          <p:cNvPicPr>
            <a:picLocks noChangeAspect="1"/>
          </p:cNvPicPr>
          <p:nvPr/>
        </p:nvPicPr>
        <p:blipFill>
          <a:blip r:embed="rId5"/>
          <a:stretch>
            <a:fillRect/>
          </a:stretch>
        </p:blipFill>
        <p:spPr>
          <a:xfrm>
            <a:off x="1438200" y="2437588"/>
            <a:ext cx="866775" cy="190500"/>
          </a:xfrm>
          <a:prstGeom prst="rect">
            <a:avLst/>
          </a:prstGeom>
        </p:spPr>
      </p:pic>
      <p:sp>
        <p:nvSpPr>
          <p:cNvPr id="30" name="Ellipse 29"/>
          <p:cNvSpPr/>
          <p:nvPr/>
        </p:nvSpPr>
        <p:spPr>
          <a:xfrm>
            <a:off x="5979319" y="40565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1" name="Rectangle 30"/>
          <p:cNvSpPr/>
          <p:nvPr/>
        </p:nvSpPr>
        <p:spPr>
          <a:xfrm>
            <a:off x="5147512" y="4078608"/>
            <a:ext cx="555512"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9330882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4278429" y="1497549"/>
            <a:ext cx="4473343" cy="1510830"/>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ME21N – Créer la commande de transfert (2/2)</a:t>
            </a:r>
            <a:endParaRPr lang="en-US" dirty="0"/>
          </a:p>
        </p:txBody>
      </p:sp>
      <p:grpSp>
        <p:nvGrpSpPr>
          <p:cNvPr id="5" name="Groupe 4"/>
          <p:cNvGrpSpPr/>
          <p:nvPr/>
        </p:nvGrpSpPr>
        <p:grpSpPr>
          <a:xfrm>
            <a:off x="457200" y="1294062"/>
            <a:ext cx="4105529" cy="2123658"/>
            <a:chOff x="425491" y="1232489"/>
            <a:chExt cx="4105529" cy="2123658"/>
          </a:xfrm>
        </p:grpSpPr>
        <p:sp>
          <p:nvSpPr>
            <p:cNvPr id="6" name="ZoneTexte 5"/>
            <p:cNvSpPr txBox="1"/>
            <p:nvPr/>
          </p:nvSpPr>
          <p:spPr>
            <a:xfrm>
              <a:off x="581025" y="1232489"/>
              <a:ext cx="3949995" cy="2123658"/>
            </a:xfrm>
            <a:prstGeom prst="rect">
              <a:avLst/>
            </a:prstGeom>
            <a:noFill/>
          </p:spPr>
          <p:txBody>
            <a:bodyPr wrap="square" rtlCol="0">
              <a:spAutoFit/>
            </a:bodyPr>
            <a:lstStyle/>
            <a:p>
              <a:r>
                <a:rPr lang="fr-FR" sz="1200" dirty="0" smtClean="0">
                  <a:solidFill>
                    <a:srgbClr val="4D4F53"/>
                  </a:solidFill>
                </a:rPr>
                <a:t>Saisir le type ZSTO « Transfert de stock »</a:t>
              </a:r>
            </a:p>
            <a:p>
              <a:endParaRPr lang="fr-FR" sz="1200" dirty="0">
                <a:solidFill>
                  <a:srgbClr val="4D4F53"/>
                </a:solidFill>
              </a:endParaRPr>
            </a:p>
            <a:p>
              <a:r>
                <a:rPr lang="fr-FR" sz="1200" dirty="0" smtClean="0">
                  <a:solidFill>
                    <a:srgbClr val="4D4F53"/>
                  </a:solidFill>
                </a:rPr>
                <a:t>Glisser la demande d’achat dans le panier</a:t>
              </a:r>
            </a:p>
            <a:p>
              <a:endParaRPr lang="fr-FR" sz="1200" dirty="0">
                <a:solidFill>
                  <a:srgbClr val="4D4F53"/>
                </a:solidFill>
              </a:endParaRPr>
            </a:p>
            <a:p>
              <a:r>
                <a:rPr lang="fr-FR" sz="1200" dirty="0" smtClean="0">
                  <a:solidFill>
                    <a:srgbClr val="4D4F53"/>
                  </a:solidFill>
                </a:rPr>
                <a:t>Saisir l’organisation d’achat GN01</a:t>
              </a:r>
            </a:p>
            <a:p>
              <a:endParaRPr lang="fr-FR" sz="1200" dirty="0">
                <a:solidFill>
                  <a:srgbClr val="4D4F53"/>
                </a:solidFill>
              </a:endParaRPr>
            </a:p>
            <a:p>
              <a:r>
                <a:rPr lang="fr-FR" sz="1200" dirty="0" smtClean="0">
                  <a:solidFill>
                    <a:srgbClr val="4D4F53"/>
                  </a:solidFill>
                </a:rPr>
                <a:t>Saisir la division cédante</a:t>
              </a:r>
            </a:p>
            <a:p>
              <a:endParaRPr lang="fr-FR" sz="1200" dirty="0">
                <a:solidFill>
                  <a:srgbClr val="4D4F53"/>
                </a:solidFill>
              </a:endParaRPr>
            </a:p>
            <a:p>
              <a:r>
                <a:rPr lang="fr-FR" sz="1200" dirty="0" smtClean="0">
                  <a:solidFill>
                    <a:srgbClr val="4D4F53"/>
                  </a:solidFill>
                </a:rPr>
                <a:t>Cliquer sur « contrôler »</a:t>
              </a:r>
            </a:p>
            <a:p>
              <a:endParaRPr lang="fr-FR" sz="1200" dirty="0">
                <a:solidFill>
                  <a:srgbClr val="4D4F53"/>
                </a:solidFill>
              </a:endParaRPr>
            </a:p>
            <a:p>
              <a:r>
                <a:rPr lang="fr-FR" sz="1200" dirty="0" smtClean="0">
                  <a:solidFill>
                    <a:srgbClr val="4D4F53"/>
                  </a:solidFill>
                </a:rPr>
                <a:t>Sauvegarder en cliquant sur </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14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327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3939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25491" y="275901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5" name="Ellipse 34"/>
            <p:cNvSpPr/>
            <p:nvPr/>
          </p:nvSpPr>
          <p:spPr>
            <a:xfrm>
              <a:off x="425491" y="31394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grpSp>
      <p:sp>
        <p:nvSpPr>
          <p:cNvPr id="18" name="Ellipse 17"/>
          <p:cNvSpPr/>
          <p:nvPr/>
        </p:nvSpPr>
        <p:spPr>
          <a:xfrm>
            <a:off x="6498116" y="18451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5624956" y="1863644"/>
            <a:ext cx="873159" cy="1361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5390752" y="283353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4711943" y="2855580"/>
            <a:ext cx="611938"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6722874" y="23394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Rectangle 28"/>
          <p:cNvSpPr/>
          <p:nvPr/>
        </p:nvSpPr>
        <p:spPr>
          <a:xfrm>
            <a:off x="6394959" y="2346269"/>
            <a:ext cx="234655"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Ellipse 25"/>
          <p:cNvSpPr/>
          <p:nvPr/>
        </p:nvSpPr>
        <p:spPr>
          <a:xfrm>
            <a:off x="8720334" y="18807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Rectangle 26"/>
          <p:cNvSpPr/>
          <p:nvPr/>
        </p:nvSpPr>
        <p:spPr>
          <a:xfrm>
            <a:off x="7658101" y="1887578"/>
            <a:ext cx="968974" cy="11217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Ellipse 31"/>
          <p:cNvSpPr/>
          <p:nvPr/>
        </p:nvSpPr>
        <p:spPr>
          <a:xfrm>
            <a:off x="6316891" y="16636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3" name="Rectangle 32"/>
          <p:cNvSpPr/>
          <p:nvPr/>
        </p:nvSpPr>
        <p:spPr>
          <a:xfrm>
            <a:off x="6134100" y="1682145"/>
            <a:ext cx="182790" cy="1361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2" name="Image 11"/>
          <p:cNvPicPr>
            <a:picLocks noChangeAspect="1"/>
          </p:cNvPicPr>
          <p:nvPr/>
        </p:nvPicPr>
        <p:blipFill>
          <a:blip r:embed="rId3"/>
          <a:stretch>
            <a:fillRect/>
          </a:stretch>
        </p:blipFill>
        <p:spPr>
          <a:xfrm>
            <a:off x="2471526" y="3180397"/>
            <a:ext cx="171450" cy="200025"/>
          </a:xfrm>
          <a:prstGeom prst="rect">
            <a:avLst/>
          </a:prstGeom>
        </p:spPr>
      </p:pic>
      <p:pic>
        <p:nvPicPr>
          <p:cNvPr id="23" name="Image 22"/>
          <p:cNvPicPr>
            <a:picLocks noChangeAspect="1"/>
          </p:cNvPicPr>
          <p:nvPr/>
        </p:nvPicPr>
        <p:blipFill>
          <a:blip r:embed="rId4"/>
          <a:stretch>
            <a:fillRect/>
          </a:stretch>
        </p:blipFill>
        <p:spPr>
          <a:xfrm>
            <a:off x="2247792" y="2802629"/>
            <a:ext cx="190500" cy="190500"/>
          </a:xfrm>
          <a:prstGeom prst="rect">
            <a:avLst/>
          </a:prstGeom>
        </p:spPr>
      </p:pic>
    </p:spTree>
    <p:extLst>
      <p:ext uri="{BB962C8B-B14F-4D97-AF65-F5344CB8AC3E}">
        <p14:creationId xmlns:p14="http://schemas.microsoft.com/office/powerpoint/2010/main" val="3865115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3719106" y="717513"/>
            <a:ext cx="2957138" cy="2211939"/>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MD01 – Planification du MRP</a:t>
            </a:r>
            <a:endParaRPr lang="en-US" dirty="0"/>
          </a:p>
        </p:txBody>
      </p:sp>
      <p:grpSp>
        <p:nvGrpSpPr>
          <p:cNvPr id="5" name="Groupe 4"/>
          <p:cNvGrpSpPr/>
          <p:nvPr/>
        </p:nvGrpSpPr>
        <p:grpSpPr>
          <a:xfrm>
            <a:off x="457200" y="1294062"/>
            <a:ext cx="3179197" cy="1754326"/>
            <a:chOff x="425491" y="1232489"/>
            <a:chExt cx="3179197" cy="1754326"/>
          </a:xfrm>
        </p:grpSpPr>
        <p:sp>
          <p:nvSpPr>
            <p:cNvPr id="6" name="ZoneTexte 5"/>
            <p:cNvSpPr txBox="1"/>
            <p:nvPr/>
          </p:nvSpPr>
          <p:spPr>
            <a:xfrm>
              <a:off x="581026" y="1232489"/>
              <a:ext cx="3023662" cy="1754326"/>
            </a:xfrm>
            <a:prstGeom prst="rect">
              <a:avLst/>
            </a:prstGeom>
            <a:noFill/>
          </p:spPr>
          <p:txBody>
            <a:bodyPr wrap="square" rtlCol="0">
              <a:spAutoFit/>
            </a:bodyPr>
            <a:lstStyle/>
            <a:p>
              <a:r>
                <a:rPr lang="fr-FR" sz="1200" dirty="0" smtClean="0">
                  <a:solidFill>
                    <a:srgbClr val="4D4F53"/>
                  </a:solidFill>
                </a:rPr>
                <a:t>Saisir la division cédante</a:t>
              </a:r>
            </a:p>
            <a:p>
              <a:endParaRPr lang="fr-FR" sz="1200" dirty="0">
                <a:solidFill>
                  <a:srgbClr val="4D4F53"/>
                </a:solidFill>
              </a:endParaRPr>
            </a:p>
            <a:p>
              <a:r>
                <a:rPr lang="fr-FR" sz="1200" dirty="0" smtClean="0">
                  <a:solidFill>
                    <a:srgbClr val="4D4F53"/>
                  </a:solidFill>
                </a:rPr>
                <a:t>Cliquer « Entrer » afin de valider le message</a:t>
              </a:r>
            </a:p>
            <a:p>
              <a:endParaRPr lang="fr-FR" sz="1200" dirty="0">
                <a:solidFill>
                  <a:srgbClr val="4D4F53"/>
                </a:solidFill>
              </a:endParaRPr>
            </a:p>
            <a:p>
              <a:r>
                <a:rPr lang="fr-FR" sz="1200" dirty="0" smtClean="0">
                  <a:solidFill>
                    <a:srgbClr val="4D4F53"/>
                  </a:solidFill>
                </a:rPr>
                <a:t>Valider le message d’information</a:t>
              </a:r>
            </a:p>
            <a:p>
              <a:endParaRPr lang="fr-FR" sz="1200" dirty="0">
                <a:solidFill>
                  <a:srgbClr val="4D4F53"/>
                </a:solidFill>
              </a:endParaRPr>
            </a:p>
            <a:p>
              <a:r>
                <a:rPr lang="fr-FR" sz="1200" dirty="0" smtClean="0">
                  <a:solidFill>
                    <a:srgbClr val="4D4F53"/>
                  </a:solidFill>
                </a:rPr>
                <a:t>La planification est </a:t>
              </a:r>
              <a:r>
                <a:rPr lang="fr-FR" sz="1200" dirty="0">
                  <a:solidFill>
                    <a:srgbClr val="4D4F53"/>
                  </a:solidFill>
                </a:rPr>
                <a:t>lancée : </a:t>
              </a:r>
              <a:r>
                <a:rPr lang="fr-FR" sz="1200" dirty="0" smtClean="0">
                  <a:solidFill>
                    <a:srgbClr val="4D4F53"/>
                  </a:solidFill>
                </a:rPr>
                <a:t>vérifier </a:t>
              </a:r>
              <a:r>
                <a:rPr lang="fr-FR" sz="1200" dirty="0">
                  <a:solidFill>
                    <a:srgbClr val="4D4F53"/>
                  </a:solidFill>
                </a:rPr>
                <a:t>qu’une commande d’achat est créée et / modifiée</a:t>
              </a:r>
            </a:p>
            <a:p>
              <a:endParaRPr lang="fr-FR" sz="1200" dirty="0" smtClean="0">
                <a:solidFill>
                  <a:srgbClr val="4D4F53"/>
                </a:solidFill>
              </a:endParaRP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14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327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3939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sp>
        <p:nvSpPr>
          <p:cNvPr id="32" name="Ellipse 31"/>
          <p:cNvSpPr/>
          <p:nvPr/>
        </p:nvSpPr>
        <p:spPr>
          <a:xfrm>
            <a:off x="5078252" y="12536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3" name="Rectangle 32"/>
          <p:cNvSpPr/>
          <p:nvPr/>
        </p:nvSpPr>
        <p:spPr>
          <a:xfrm>
            <a:off x="4808220" y="1272122"/>
            <a:ext cx="270031"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4" name="Image 3"/>
          <p:cNvPicPr>
            <a:picLocks noChangeAspect="1"/>
          </p:cNvPicPr>
          <p:nvPr/>
        </p:nvPicPr>
        <p:blipFill>
          <a:blip r:embed="rId3"/>
          <a:stretch>
            <a:fillRect/>
          </a:stretch>
        </p:blipFill>
        <p:spPr>
          <a:xfrm>
            <a:off x="5288973" y="658543"/>
            <a:ext cx="1924050" cy="257175"/>
          </a:xfrm>
          <a:prstGeom prst="rect">
            <a:avLst/>
          </a:prstGeom>
          <a:ln>
            <a:solidFill>
              <a:schemeClr val="tx1"/>
            </a:solidFill>
          </a:ln>
          <a:effectLst>
            <a:outerShdw blurRad="50800" dist="38100" dir="2700000" algn="tl" rotWithShape="0">
              <a:prstClr val="black">
                <a:alpha val="40000"/>
              </a:prstClr>
            </a:outerShdw>
          </a:effectLst>
        </p:spPr>
      </p:pic>
      <p:cxnSp>
        <p:nvCxnSpPr>
          <p:cNvPr id="14" name="Connecteur en angle 13"/>
          <p:cNvCxnSpPr>
            <a:stCxn id="33" idx="0"/>
            <a:endCxn id="4" idx="1"/>
          </p:cNvCxnSpPr>
          <p:nvPr/>
        </p:nvCxnSpPr>
        <p:spPr>
          <a:xfrm rot="5400000" flipH="1" flipV="1">
            <a:off x="4873609" y="856759"/>
            <a:ext cx="484991" cy="345737"/>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0" name="Ellipse 29"/>
          <p:cNvSpPr/>
          <p:nvPr/>
        </p:nvSpPr>
        <p:spPr>
          <a:xfrm>
            <a:off x="5132837" y="51733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pic>
        <p:nvPicPr>
          <p:cNvPr id="17" name="Image 16"/>
          <p:cNvPicPr>
            <a:picLocks noChangeAspect="1"/>
          </p:cNvPicPr>
          <p:nvPr/>
        </p:nvPicPr>
        <p:blipFill>
          <a:blip r:embed="rId4"/>
          <a:stretch>
            <a:fillRect/>
          </a:stretch>
        </p:blipFill>
        <p:spPr>
          <a:xfrm>
            <a:off x="6167365" y="1136213"/>
            <a:ext cx="2554967" cy="958113"/>
          </a:xfrm>
          <a:prstGeom prst="rect">
            <a:avLst/>
          </a:prstGeom>
          <a:ln>
            <a:solidFill>
              <a:schemeClr val="tx1"/>
            </a:solidFill>
          </a:ln>
          <a:effectLst>
            <a:outerShdw blurRad="50800" dist="38100" dir="2700000" algn="tl" rotWithShape="0">
              <a:prstClr val="black">
                <a:alpha val="40000"/>
              </a:prstClr>
            </a:outerShdw>
          </a:effectLst>
        </p:spPr>
      </p:pic>
      <p:sp>
        <p:nvSpPr>
          <p:cNvPr id="36" name="Ellipse 35"/>
          <p:cNvSpPr/>
          <p:nvPr/>
        </p:nvSpPr>
        <p:spPr>
          <a:xfrm>
            <a:off x="8195063" y="190961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7" name="Rectangle 36"/>
          <p:cNvSpPr/>
          <p:nvPr/>
        </p:nvSpPr>
        <p:spPr>
          <a:xfrm>
            <a:off x="8400045" y="1928084"/>
            <a:ext cx="180838"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0" name="Image 19"/>
          <p:cNvPicPr>
            <a:picLocks noChangeAspect="1"/>
          </p:cNvPicPr>
          <p:nvPr/>
        </p:nvPicPr>
        <p:blipFill>
          <a:blip r:embed="rId5"/>
          <a:stretch>
            <a:fillRect/>
          </a:stretch>
        </p:blipFill>
        <p:spPr>
          <a:xfrm>
            <a:off x="5679909" y="2248901"/>
            <a:ext cx="3269521" cy="2619070"/>
          </a:xfrm>
          <a:prstGeom prst="rect">
            <a:avLst/>
          </a:prstGeom>
          <a:ln>
            <a:solidFill>
              <a:schemeClr val="tx1"/>
            </a:solidFill>
          </a:ln>
          <a:effectLst>
            <a:outerShdw blurRad="50800" dist="38100" dir="2700000" algn="tl" rotWithShape="0">
              <a:prstClr val="black">
                <a:alpha val="40000"/>
              </a:prstClr>
            </a:outerShdw>
          </a:effectLst>
        </p:spPr>
      </p:pic>
      <p:sp>
        <p:nvSpPr>
          <p:cNvPr id="22" name="Rectangle 21"/>
          <p:cNvSpPr/>
          <p:nvPr/>
        </p:nvSpPr>
        <p:spPr>
          <a:xfrm>
            <a:off x="5753482" y="4670969"/>
            <a:ext cx="2662383" cy="1314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Ellipse 37"/>
          <p:cNvSpPr/>
          <p:nvPr/>
        </p:nvSpPr>
        <p:spPr>
          <a:xfrm>
            <a:off x="5508418" y="46661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Tree>
    <p:extLst>
      <p:ext uri="{BB962C8B-B14F-4D97-AF65-F5344CB8AC3E}">
        <p14:creationId xmlns:p14="http://schemas.microsoft.com/office/powerpoint/2010/main" val="30717091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3415371" y="997605"/>
            <a:ext cx="2164624" cy="2294739"/>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ME58 – Commander les demandes d’achat créées (1/2)</a:t>
            </a:r>
            <a:endParaRPr lang="en-US" dirty="0"/>
          </a:p>
        </p:txBody>
      </p:sp>
      <p:grpSp>
        <p:nvGrpSpPr>
          <p:cNvPr id="5" name="Groupe 4"/>
          <p:cNvGrpSpPr/>
          <p:nvPr/>
        </p:nvGrpSpPr>
        <p:grpSpPr>
          <a:xfrm>
            <a:off x="457200" y="1294062"/>
            <a:ext cx="3179197" cy="2631490"/>
            <a:chOff x="425491" y="1232489"/>
            <a:chExt cx="3179197" cy="2631490"/>
          </a:xfrm>
        </p:grpSpPr>
        <p:sp>
          <p:nvSpPr>
            <p:cNvPr id="6" name="ZoneTexte 5"/>
            <p:cNvSpPr txBox="1"/>
            <p:nvPr/>
          </p:nvSpPr>
          <p:spPr>
            <a:xfrm>
              <a:off x="581026" y="1232489"/>
              <a:ext cx="3023662" cy="2631490"/>
            </a:xfrm>
            <a:prstGeom prst="rect">
              <a:avLst/>
            </a:prstGeom>
            <a:noFill/>
          </p:spPr>
          <p:txBody>
            <a:bodyPr wrap="square" rtlCol="0">
              <a:spAutoFit/>
            </a:bodyPr>
            <a:lstStyle/>
            <a:p>
              <a:pPr>
                <a:spcBef>
                  <a:spcPts val="600"/>
                </a:spcBef>
              </a:pPr>
              <a:r>
                <a:rPr lang="fr-FR" sz="1200" dirty="0" smtClean="0">
                  <a:solidFill>
                    <a:srgbClr val="4D4F53"/>
                  </a:solidFill>
                </a:rPr>
                <a:t>Saisir l’organisation d’achats</a:t>
              </a:r>
              <a:endParaRPr lang="fr-FR" sz="1200" dirty="0">
                <a:solidFill>
                  <a:srgbClr val="4D4F53"/>
                </a:solidFill>
              </a:endParaRPr>
            </a:p>
            <a:p>
              <a:pPr>
                <a:spcBef>
                  <a:spcPts val="600"/>
                </a:spcBef>
              </a:pPr>
              <a:r>
                <a:rPr lang="fr-FR" sz="1200" dirty="0" smtClean="0">
                  <a:solidFill>
                    <a:srgbClr val="4D4F53"/>
                  </a:solidFill>
                </a:rPr>
                <a:t>Saisir la division</a:t>
              </a:r>
              <a:endParaRPr lang="fr-FR" sz="1200" dirty="0">
                <a:solidFill>
                  <a:srgbClr val="4D4F53"/>
                </a:solidFill>
              </a:endParaRPr>
            </a:p>
            <a:p>
              <a:pPr>
                <a:spcBef>
                  <a:spcPts val="600"/>
                </a:spcBef>
              </a:pPr>
              <a:r>
                <a:rPr lang="fr-FR" sz="1200" dirty="0" smtClean="0">
                  <a:solidFill>
                    <a:srgbClr val="4D4F53"/>
                  </a:solidFill>
                </a:rPr>
                <a:t>Saisir l’étendue de la liste : « A »</a:t>
              </a:r>
            </a:p>
            <a:p>
              <a:pPr>
                <a:spcBef>
                  <a:spcPts val="600"/>
                </a:spcBef>
              </a:pPr>
              <a:r>
                <a:rPr lang="fr-FR" sz="1200" dirty="0" smtClean="0">
                  <a:solidFill>
                    <a:srgbClr val="4D4F53"/>
                  </a:solidFill>
                </a:rPr>
                <a:t>Garder les cases cochées par défaut</a:t>
              </a:r>
            </a:p>
            <a:p>
              <a:pPr>
                <a:spcBef>
                  <a:spcPts val="600"/>
                </a:spcBef>
              </a:pPr>
              <a:r>
                <a:rPr lang="fr-FR" sz="1200" dirty="0" smtClean="0">
                  <a:solidFill>
                    <a:srgbClr val="4D4F53"/>
                  </a:solidFill>
                </a:rPr>
                <a:t>Cliquer « Exécuter »</a:t>
              </a:r>
            </a:p>
            <a:p>
              <a:pPr>
                <a:spcBef>
                  <a:spcPts val="600"/>
                </a:spcBef>
              </a:pPr>
              <a:r>
                <a:rPr lang="fr-FR" sz="1200" dirty="0" smtClean="0">
                  <a:solidFill>
                    <a:srgbClr val="4D4F53"/>
                  </a:solidFill>
                </a:rPr>
                <a:t>Sélectionner la ligne de la DA</a:t>
              </a:r>
            </a:p>
            <a:p>
              <a:pPr>
                <a:spcBef>
                  <a:spcPts val="600"/>
                </a:spcBef>
              </a:pPr>
              <a:r>
                <a:rPr lang="fr-FR" sz="1200" dirty="0" smtClean="0">
                  <a:solidFill>
                    <a:srgbClr val="4D4F53"/>
                  </a:solidFill>
                </a:rPr>
                <a:t>Cliquer sur « DA à affecter »</a:t>
              </a:r>
            </a:p>
            <a:p>
              <a:pPr>
                <a:spcBef>
                  <a:spcPts val="600"/>
                </a:spcBef>
              </a:pPr>
              <a:r>
                <a:rPr lang="fr-FR" sz="1200" dirty="0" smtClean="0">
                  <a:solidFill>
                    <a:srgbClr val="4D4F53"/>
                  </a:solidFill>
                </a:rPr>
                <a:t>Vérifier la DA</a:t>
              </a:r>
            </a:p>
            <a:p>
              <a:pPr>
                <a:spcBef>
                  <a:spcPts val="600"/>
                </a:spcBef>
              </a:pPr>
              <a:r>
                <a:rPr lang="fr-FR" sz="1200" dirty="0" smtClean="0">
                  <a:solidFill>
                    <a:srgbClr val="4D4F53"/>
                  </a:solidFill>
                </a:rPr>
                <a:t>Cliquer sur </a:t>
              </a:r>
            </a:p>
            <a:p>
              <a:pPr>
                <a:spcBef>
                  <a:spcPts val="600"/>
                </a:spcBef>
              </a:pPr>
              <a:r>
                <a:rPr lang="fr-FR" sz="1200" dirty="0" smtClean="0">
                  <a:solidFill>
                    <a:srgbClr val="4D4F53"/>
                  </a:solidFill>
                </a:rPr>
                <a:t>Sélectionner la ligne et cliquer </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5591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18104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0834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25491" y="232997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5" name="Ellipse 34"/>
            <p:cNvSpPr/>
            <p:nvPr/>
          </p:nvSpPr>
          <p:spPr>
            <a:xfrm>
              <a:off x="425491" y="25924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6" name="Ellipse 45"/>
            <p:cNvSpPr/>
            <p:nvPr/>
          </p:nvSpPr>
          <p:spPr>
            <a:xfrm>
              <a:off x="425491" y="28383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7" name="Ellipse 46"/>
            <p:cNvSpPr/>
            <p:nvPr/>
          </p:nvSpPr>
          <p:spPr>
            <a:xfrm>
              <a:off x="425491" y="30923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8" name="Ellipse 47"/>
            <p:cNvSpPr/>
            <p:nvPr/>
          </p:nvSpPr>
          <p:spPr>
            <a:xfrm>
              <a:off x="425491" y="33726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49" name="Ellipse 48"/>
            <p:cNvSpPr/>
            <p:nvPr/>
          </p:nvSpPr>
          <p:spPr>
            <a:xfrm>
              <a:off x="425491" y="362144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p>
          </p:txBody>
        </p:sp>
      </p:grpSp>
      <p:sp>
        <p:nvSpPr>
          <p:cNvPr id="32" name="Ellipse 31"/>
          <p:cNvSpPr/>
          <p:nvPr/>
        </p:nvSpPr>
        <p:spPr>
          <a:xfrm>
            <a:off x="5079993" y="155166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3" name="Rectangle 32"/>
          <p:cNvSpPr/>
          <p:nvPr/>
        </p:nvSpPr>
        <p:spPr>
          <a:xfrm>
            <a:off x="4822235" y="1570131"/>
            <a:ext cx="245483"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Ellipse 35"/>
          <p:cNvSpPr/>
          <p:nvPr/>
        </p:nvSpPr>
        <p:spPr>
          <a:xfrm>
            <a:off x="4610658" y="219930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7" name="Rectangle 36"/>
          <p:cNvSpPr/>
          <p:nvPr/>
        </p:nvSpPr>
        <p:spPr>
          <a:xfrm>
            <a:off x="4815640" y="2217768"/>
            <a:ext cx="257758"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Ellipse 25"/>
          <p:cNvSpPr/>
          <p:nvPr/>
        </p:nvSpPr>
        <p:spPr>
          <a:xfrm>
            <a:off x="3193844" y="28633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Rectangle 26"/>
          <p:cNvSpPr/>
          <p:nvPr/>
        </p:nvSpPr>
        <p:spPr>
          <a:xfrm>
            <a:off x="3398826" y="2881815"/>
            <a:ext cx="140741" cy="40499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3205255" y="12117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Rectangle 28"/>
          <p:cNvSpPr/>
          <p:nvPr/>
        </p:nvSpPr>
        <p:spPr>
          <a:xfrm>
            <a:off x="3434156" y="1221736"/>
            <a:ext cx="176052"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4610658" y="27169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8" name="Rectangle 37"/>
          <p:cNvSpPr/>
          <p:nvPr/>
        </p:nvSpPr>
        <p:spPr>
          <a:xfrm>
            <a:off x="4815640" y="2735464"/>
            <a:ext cx="257758"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7" name="Image 6"/>
          <p:cNvPicPr>
            <a:picLocks noChangeAspect="1"/>
          </p:cNvPicPr>
          <p:nvPr/>
        </p:nvPicPr>
        <p:blipFill rotWithShape="1">
          <a:blip r:embed="rId3"/>
          <a:srcRect r="10332"/>
          <a:stretch/>
        </p:blipFill>
        <p:spPr>
          <a:xfrm>
            <a:off x="5668582" y="1551666"/>
            <a:ext cx="3293321" cy="1023169"/>
          </a:xfrm>
          <a:prstGeom prst="rect">
            <a:avLst/>
          </a:prstGeom>
          <a:ln>
            <a:solidFill>
              <a:schemeClr val="tx1"/>
            </a:solidFill>
          </a:ln>
          <a:effectLst>
            <a:outerShdw blurRad="50800" dist="38100" dir="2700000" algn="tl" rotWithShape="0">
              <a:prstClr val="black">
                <a:alpha val="40000"/>
              </a:prstClr>
            </a:outerShdw>
          </a:effectLst>
        </p:spPr>
      </p:pic>
      <p:sp>
        <p:nvSpPr>
          <p:cNvPr id="39" name="Ellipse 38"/>
          <p:cNvSpPr/>
          <p:nvPr/>
        </p:nvSpPr>
        <p:spPr>
          <a:xfrm>
            <a:off x="5504272" y="236129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0" name="Rectangle 39"/>
          <p:cNvSpPr/>
          <p:nvPr/>
        </p:nvSpPr>
        <p:spPr>
          <a:xfrm>
            <a:off x="5716238" y="2386022"/>
            <a:ext cx="2662383" cy="1314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1" name="Ellipse 40"/>
          <p:cNvSpPr/>
          <p:nvPr/>
        </p:nvSpPr>
        <p:spPr>
          <a:xfrm>
            <a:off x="7282272" y="17601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2" name="Rectangle 41"/>
          <p:cNvSpPr/>
          <p:nvPr/>
        </p:nvSpPr>
        <p:spPr>
          <a:xfrm>
            <a:off x="7494239" y="1784889"/>
            <a:ext cx="638854" cy="1314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2" name="Image 11"/>
          <p:cNvPicPr>
            <a:picLocks noChangeAspect="1"/>
          </p:cNvPicPr>
          <p:nvPr/>
        </p:nvPicPr>
        <p:blipFill>
          <a:blip r:embed="rId4"/>
          <a:stretch>
            <a:fillRect/>
          </a:stretch>
        </p:blipFill>
        <p:spPr>
          <a:xfrm>
            <a:off x="5612690" y="3054542"/>
            <a:ext cx="3182955" cy="1451686"/>
          </a:xfrm>
          <a:prstGeom prst="rect">
            <a:avLst/>
          </a:prstGeom>
          <a:ln>
            <a:solidFill>
              <a:schemeClr val="tx1"/>
            </a:solidFill>
          </a:ln>
          <a:effectLst>
            <a:outerShdw blurRad="50800" dist="38100" dir="2700000" algn="tl" rotWithShape="0">
              <a:prstClr val="black">
                <a:alpha val="40000"/>
              </a:prstClr>
            </a:outerShdw>
          </a:effectLst>
        </p:spPr>
      </p:pic>
      <p:sp>
        <p:nvSpPr>
          <p:cNvPr id="45" name="Ellipse 44"/>
          <p:cNvSpPr/>
          <p:nvPr/>
        </p:nvSpPr>
        <p:spPr>
          <a:xfrm>
            <a:off x="5445693" y="346936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pic>
        <p:nvPicPr>
          <p:cNvPr id="14" name="Image 13"/>
          <p:cNvPicPr>
            <a:picLocks noChangeAspect="1"/>
          </p:cNvPicPr>
          <p:nvPr/>
        </p:nvPicPr>
        <p:blipFill>
          <a:blip r:embed="rId5"/>
          <a:stretch>
            <a:fillRect/>
          </a:stretch>
        </p:blipFill>
        <p:spPr>
          <a:xfrm>
            <a:off x="1428750" y="3399367"/>
            <a:ext cx="952500" cy="190500"/>
          </a:xfrm>
          <a:prstGeom prst="rect">
            <a:avLst/>
          </a:prstGeom>
        </p:spPr>
      </p:pic>
      <p:pic>
        <p:nvPicPr>
          <p:cNvPr id="15" name="Image 14"/>
          <p:cNvPicPr>
            <a:picLocks noChangeAspect="1"/>
          </p:cNvPicPr>
          <p:nvPr/>
        </p:nvPicPr>
        <p:blipFill>
          <a:blip r:embed="rId6"/>
          <a:stretch>
            <a:fillRect/>
          </a:stretch>
        </p:blipFill>
        <p:spPr>
          <a:xfrm>
            <a:off x="2620905" y="3651267"/>
            <a:ext cx="1076325" cy="190500"/>
          </a:xfrm>
          <a:prstGeom prst="rect">
            <a:avLst/>
          </a:prstGeom>
        </p:spPr>
      </p:pic>
      <p:sp>
        <p:nvSpPr>
          <p:cNvPr id="50" name="Ellipse 49"/>
          <p:cNvSpPr/>
          <p:nvPr/>
        </p:nvSpPr>
        <p:spPr>
          <a:xfrm>
            <a:off x="5512507" y="17601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sp>
        <p:nvSpPr>
          <p:cNvPr id="51" name="Rectangle 50"/>
          <p:cNvSpPr/>
          <p:nvPr/>
        </p:nvSpPr>
        <p:spPr>
          <a:xfrm>
            <a:off x="5724474" y="1784889"/>
            <a:ext cx="638854" cy="1314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7317166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2"/>
          <p:cNvPicPr>
            <a:picLocks noChangeAspect="1"/>
          </p:cNvPicPr>
          <p:nvPr/>
        </p:nvPicPr>
        <p:blipFill>
          <a:blip r:embed="rId2"/>
          <a:stretch>
            <a:fillRect/>
          </a:stretch>
        </p:blipFill>
        <p:spPr>
          <a:xfrm>
            <a:off x="5758046" y="995163"/>
            <a:ext cx="2274415" cy="720799"/>
          </a:xfrm>
          <a:prstGeom prst="rect">
            <a:avLst/>
          </a:prstGeom>
          <a:ln>
            <a:solidFill>
              <a:schemeClr val="tx1"/>
            </a:solidFill>
          </a:ln>
          <a:effectLst>
            <a:outerShdw blurRad="50800" dist="38100" dir="2700000" algn="tl" rotWithShape="0">
              <a:prstClr val="black">
                <a:alpha val="40000"/>
              </a:prstClr>
            </a:outerShdw>
          </a:effectLst>
        </p:spPr>
      </p:pic>
      <p:pic>
        <p:nvPicPr>
          <p:cNvPr id="20" name="Image 19"/>
          <p:cNvPicPr>
            <a:picLocks noChangeAspect="1"/>
          </p:cNvPicPr>
          <p:nvPr/>
        </p:nvPicPr>
        <p:blipFill>
          <a:blip r:embed="rId3"/>
          <a:stretch>
            <a:fillRect/>
          </a:stretch>
        </p:blipFill>
        <p:spPr>
          <a:xfrm>
            <a:off x="3539568" y="2133495"/>
            <a:ext cx="5352175" cy="2365710"/>
          </a:xfrm>
          <a:prstGeom prst="rect">
            <a:avLst/>
          </a:prstGeom>
          <a:ln>
            <a:solidFill>
              <a:schemeClr val="tx1"/>
            </a:solidFill>
          </a:ln>
          <a:effectLst>
            <a:outerShdw blurRad="50800" dist="38100" dir="2700000" algn="tl" rotWithShape="0">
              <a:prstClr val="black">
                <a:alpha val="40000"/>
              </a:prstClr>
            </a:outerShdw>
          </a:effectLst>
        </p:spPr>
      </p:pic>
      <p:pic>
        <p:nvPicPr>
          <p:cNvPr id="19" name="Image 18"/>
          <p:cNvPicPr>
            <a:picLocks noChangeAspect="1"/>
          </p:cNvPicPr>
          <p:nvPr/>
        </p:nvPicPr>
        <p:blipFill>
          <a:blip r:embed="rId4"/>
          <a:stretch>
            <a:fillRect/>
          </a:stretch>
        </p:blipFill>
        <p:spPr>
          <a:xfrm>
            <a:off x="3300789" y="982019"/>
            <a:ext cx="1836290" cy="1629082"/>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ME58 – Commander les demandes d’achat créées (2/2)</a:t>
            </a:r>
            <a:endParaRPr lang="en-US" dirty="0"/>
          </a:p>
        </p:txBody>
      </p:sp>
      <p:grpSp>
        <p:nvGrpSpPr>
          <p:cNvPr id="5" name="Groupe 4"/>
          <p:cNvGrpSpPr/>
          <p:nvPr/>
        </p:nvGrpSpPr>
        <p:grpSpPr>
          <a:xfrm>
            <a:off x="457200" y="1294062"/>
            <a:ext cx="3179197" cy="3077766"/>
            <a:chOff x="425491" y="1232489"/>
            <a:chExt cx="3179197" cy="3077766"/>
          </a:xfrm>
        </p:grpSpPr>
        <p:sp>
          <p:nvSpPr>
            <p:cNvPr id="6" name="ZoneTexte 5"/>
            <p:cNvSpPr txBox="1"/>
            <p:nvPr/>
          </p:nvSpPr>
          <p:spPr>
            <a:xfrm>
              <a:off x="581026" y="1232489"/>
              <a:ext cx="3023662" cy="3077766"/>
            </a:xfrm>
            <a:prstGeom prst="rect">
              <a:avLst/>
            </a:prstGeom>
            <a:noFill/>
          </p:spPr>
          <p:txBody>
            <a:bodyPr wrap="square" rtlCol="0">
              <a:spAutoFit/>
            </a:bodyPr>
            <a:lstStyle/>
            <a:p>
              <a:pPr>
                <a:spcBef>
                  <a:spcPts val="600"/>
                </a:spcBef>
              </a:pPr>
              <a:r>
                <a:rPr lang="fr-FR" sz="1200" dirty="0" smtClean="0">
                  <a:solidFill>
                    <a:srgbClr val="4D4F53"/>
                  </a:solidFill>
                </a:rPr>
                <a:t>Choisir le type de commande « ZSPO »</a:t>
              </a:r>
              <a:endParaRPr lang="fr-FR" sz="1200" dirty="0">
                <a:solidFill>
                  <a:srgbClr val="4D4F53"/>
                </a:solidFill>
              </a:endParaRPr>
            </a:p>
            <a:p>
              <a:pPr>
                <a:spcBef>
                  <a:spcPts val="600"/>
                </a:spcBef>
              </a:pPr>
              <a:r>
                <a:rPr lang="fr-FR" sz="1200" dirty="0" smtClean="0">
                  <a:solidFill>
                    <a:srgbClr val="4D4F53"/>
                  </a:solidFill>
                </a:rPr>
                <a:t>Renseigner la date de commande</a:t>
              </a:r>
              <a:endParaRPr lang="fr-FR" sz="1200" dirty="0">
                <a:solidFill>
                  <a:srgbClr val="4D4F53"/>
                </a:solidFill>
              </a:endParaRPr>
            </a:p>
            <a:p>
              <a:pPr>
                <a:spcBef>
                  <a:spcPts val="600"/>
                </a:spcBef>
              </a:pPr>
              <a:r>
                <a:rPr lang="fr-FR" sz="1200" dirty="0" smtClean="0">
                  <a:solidFill>
                    <a:srgbClr val="4D4F53"/>
                  </a:solidFill>
                </a:rPr>
                <a:t>Saisir le groupe d’acheteurs</a:t>
              </a:r>
            </a:p>
            <a:p>
              <a:pPr>
                <a:spcBef>
                  <a:spcPts val="600"/>
                </a:spcBef>
              </a:pPr>
              <a:r>
                <a:rPr lang="fr-FR" sz="1200" dirty="0" smtClean="0">
                  <a:solidFill>
                    <a:srgbClr val="4D4F53"/>
                  </a:solidFill>
                </a:rPr>
                <a:t>Saisir l’</a:t>
              </a:r>
              <a:r>
                <a:rPr lang="fr-FR" sz="1200" dirty="0" err="1" smtClean="0">
                  <a:solidFill>
                    <a:srgbClr val="4D4F53"/>
                  </a:solidFill>
                </a:rPr>
                <a:t>organsiation</a:t>
              </a:r>
              <a:r>
                <a:rPr lang="fr-FR" sz="1200" dirty="0" smtClean="0">
                  <a:solidFill>
                    <a:srgbClr val="4D4F53"/>
                  </a:solidFill>
                </a:rPr>
                <a:t> d’achats</a:t>
              </a:r>
            </a:p>
            <a:p>
              <a:pPr>
                <a:spcBef>
                  <a:spcPts val="600"/>
                </a:spcBef>
              </a:pPr>
              <a:r>
                <a:rPr lang="fr-FR" sz="1200" dirty="0" smtClean="0">
                  <a:solidFill>
                    <a:srgbClr val="4D4F53"/>
                  </a:solidFill>
                </a:rPr>
                <a:t>Cliquer sur </a:t>
              </a:r>
            </a:p>
            <a:p>
              <a:pPr>
                <a:spcBef>
                  <a:spcPts val="600"/>
                </a:spcBef>
              </a:pPr>
              <a:r>
                <a:rPr lang="fr-FR" sz="1200" dirty="0" smtClean="0">
                  <a:solidFill>
                    <a:srgbClr val="4D4F53"/>
                  </a:solidFill>
                </a:rPr>
                <a:t>Choisir le type de commande ZSPO</a:t>
              </a:r>
            </a:p>
            <a:p>
              <a:pPr>
                <a:spcBef>
                  <a:spcPts val="600"/>
                </a:spcBef>
              </a:pPr>
              <a:r>
                <a:rPr lang="fr-FR" sz="1200" dirty="0">
                  <a:solidFill>
                    <a:srgbClr val="4D4F53"/>
                  </a:solidFill>
                </a:rPr>
                <a:t>Glisser la DA dans le </a:t>
              </a:r>
              <a:r>
                <a:rPr lang="fr-FR" sz="1200" dirty="0" smtClean="0">
                  <a:solidFill>
                    <a:srgbClr val="4D4F53"/>
                  </a:solidFill>
                </a:rPr>
                <a:t>panier</a:t>
              </a:r>
            </a:p>
            <a:p>
              <a:pPr>
                <a:spcBef>
                  <a:spcPts val="600"/>
                </a:spcBef>
              </a:pPr>
              <a:r>
                <a:rPr lang="fr-FR" sz="1200" dirty="0" smtClean="0">
                  <a:solidFill>
                    <a:srgbClr val="4D4F53"/>
                  </a:solidFill>
                </a:rPr>
                <a:t>Cliquer « Contrôler »        et vérifier les messages</a:t>
              </a:r>
            </a:p>
            <a:p>
              <a:pPr>
                <a:spcBef>
                  <a:spcPts val="600"/>
                </a:spcBef>
              </a:pPr>
              <a:r>
                <a:rPr lang="fr-FR" sz="1200" dirty="0" smtClean="0">
                  <a:solidFill>
                    <a:srgbClr val="4D4F53"/>
                  </a:solidFill>
                </a:rPr>
                <a:t>Cliquer sauvegarder</a:t>
              </a:r>
            </a:p>
            <a:p>
              <a:pPr>
                <a:spcBef>
                  <a:spcPts val="600"/>
                </a:spcBef>
              </a:pPr>
              <a:r>
                <a:rPr lang="fr-FR" sz="1200" dirty="0" smtClean="0">
                  <a:solidFill>
                    <a:srgbClr val="4D4F53"/>
                  </a:solidFill>
                </a:rPr>
                <a:t>Confirmer la sauvegarde</a:t>
              </a:r>
            </a:p>
            <a:p>
              <a:pPr>
                <a:spcBef>
                  <a:spcPts val="600"/>
                </a:spcBef>
              </a:pPr>
              <a:r>
                <a:rPr lang="fr-FR" sz="1200" dirty="0" smtClean="0">
                  <a:solidFill>
                    <a:srgbClr val="4D4F53"/>
                  </a:solidFill>
                </a:rPr>
                <a:t>Un message de confirmation apparaît</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5591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18104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0834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25491" y="232997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5" name="Ellipse 34"/>
            <p:cNvSpPr/>
            <p:nvPr/>
          </p:nvSpPr>
          <p:spPr>
            <a:xfrm>
              <a:off x="425491" y="25924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6" name="Ellipse 45"/>
            <p:cNvSpPr/>
            <p:nvPr/>
          </p:nvSpPr>
          <p:spPr>
            <a:xfrm>
              <a:off x="425491" y="28383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2" name="Ellipse 51"/>
            <p:cNvSpPr/>
            <p:nvPr/>
          </p:nvSpPr>
          <p:spPr>
            <a:xfrm>
              <a:off x="425491" y="31107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53" name="Ellipse 52"/>
            <p:cNvSpPr/>
            <p:nvPr/>
          </p:nvSpPr>
          <p:spPr>
            <a:xfrm>
              <a:off x="425491" y="35588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54" name="Ellipse 53"/>
            <p:cNvSpPr/>
            <p:nvPr/>
          </p:nvSpPr>
          <p:spPr>
            <a:xfrm>
              <a:off x="425491" y="38162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sp>
          <p:nvSpPr>
            <p:cNvPr id="57" name="Ellipse 56"/>
            <p:cNvSpPr/>
            <p:nvPr/>
          </p:nvSpPr>
          <p:spPr>
            <a:xfrm>
              <a:off x="425491" y="407337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11</a:t>
              </a:r>
              <a:endParaRPr lang="fr-FR" sz="800" b="1" dirty="0">
                <a:solidFill>
                  <a:schemeClr val="bg1"/>
                </a:solidFill>
              </a:endParaRPr>
            </a:p>
          </p:txBody>
        </p:sp>
      </p:grpSp>
      <p:sp>
        <p:nvSpPr>
          <p:cNvPr id="32" name="Ellipse 31"/>
          <p:cNvSpPr/>
          <p:nvPr/>
        </p:nvSpPr>
        <p:spPr>
          <a:xfrm>
            <a:off x="4705879" y="11927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3" name="Rectangle 32"/>
          <p:cNvSpPr/>
          <p:nvPr/>
        </p:nvSpPr>
        <p:spPr>
          <a:xfrm>
            <a:off x="4365231" y="1211214"/>
            <a:ext cx="328373"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Ellipse 35"/>
          <p:cNvSpPr/>
          <p:nvPr/>
        </p:nvSpPr>
        <p:spPr>
          <a:xfrm>
            <a:off x="4977659" y="1330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7" name="Rectangle 36"/>
          <p:cNvSpPr/>
          <p:nvPr/>
        </p:nvSpPr>
        <p:spPr>
          <a:xfrm>
            <a:off x="4365231" y="1374870"/>
            <a:ext cx="583931" cy="12124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Ellipse 25"/>
          <p:cNvSpPr/>
          <p:nvPr/>
        </p:nvSpPr>
        <p:spPr>
          <a:xfrm>
            <a:off x="4206126" y="16475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7" name="Rectangle 26"/>
          <p:cNvSpPr/>
          <p:nvPr/>
        </p:nvSpPr>
        <p:spPr>
          <a:xfrm>
            <a:off x="4395015" y="1674475"/>
            <a:ext cx="171736" cy="1616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4545088" y="241273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Rectangle 28"/>
          <p:cNvSpPr/>
          <p:nvPr/>
        </p:nvSpPr>
        <p:spPr>
          <a:xfrm>
            <a:off x="4773989" y="2422730"/>
            <a:ext cx="176052"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4686036" y="182463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8" name="Rectangle 37"/>
          <p:cNvSpPr/>
          <p:nvPr/>
        </p:nvSpPr>
        <p:spPr>
          <a:xfrm>
            <a:off x="4365231" y="1835149"/>
            <a:ext cx="257758"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Ellipse 38"/>
          <p:cNvSpPr/>
          <p:nvPr/>
        </p:nvSpPr>
        <p:spPr>
          <a:xfrm>
            <a:off x="3764324" y="337810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0" name="Rectangle 39"/>
          <p:cNvSpPr/>
          <p:nvPr/>
        </p:nvSpPr>
        <p:spPr>
          <a:xfrm>
            <a:off x="3976290" y="3402832"/>
            <a:ext cx="418725" cy="12984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1" name="Ellipse 40"/>
          <p:cNvSpPr/>
          <p:nvPr/>
        </p:nvSpPr>
        <p:spPr>
          <a:xfrm>
            <a:off x="5088493" y="24643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2" name="Rectangle 41"/>
          <p:cNvSpPr/>
          <p:nvPr/>
        </p:nvSpPr>
        <p:spPr>
          <a:xfrm>
            <a:off x="5300460" y="2489084"/>
            <a:ext cx="852860" cy="1314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0" name="Ellipse 49"/>
          <p:cNvSpPr/>
          <p:nvPr/>
        </p:nvSpPr>
        <p:spPr>
          <a:xfrm>
            <a:off x="5601910" y="154172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sp>
        <p:nvSpPr>
          <p:cNvPr id="51" name="Rectangle 50"/>
          <p:cNvSpPr/>
          <p:nvPr/>
        </p:nvSpPr>
        <p:spPr>
          <a:xfrm>
            <a:off x="5813877" y="1566454"/>
            <a:ext cx="638854" cy="1314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8" name="Image 17"/>
          <p:cNvPicPr>
            <a:picLocks noChangeAspect="1"/>
          </p:cNvPicPr>
          <p:nvPr/>
        </p:nvPicPr>
        <p:blipFill>
          <a:blip r:embed="rId5"/>
          <a:stretch>
            <a:fillRect/>
          </a:stretch>
        </p:blipFill>
        <p:spPr>
          <a:xfrm>
            <a:off x="1410982" y="2382817"/>
            <a:ext cx="190500" cy="190500"/>
          </a:xfrm>
          <a:prstGeom prst="rect">
            <a:avLst/>
          </a:prstGeom>
        </p:spPr>
      </p:pic>
      <p:pic>
        <p:nvPicPr>
          <p:cNvPr id="21" name="Image 20"/>
          <p:cNvPicPr>
            <a:picLocks noChangeAspect="1"/>
          </p:cNvPicPr>
          <p:nvPr/>
        </p:nvPicPr>
        <p:blipFill>
          <a:blip r:embed="rId6"/>
          <a:stretch>
            <a:fillRect/>
          </a:stretch>
        </p:blipFill>
        <p:spPr>
          <a:xfrm>
            <a:off x="2029316" y="3140721"/>
            <a:ext cx="190500" cy="190500"/>
          </a:xfrm>
          <a:prstGeom prst="rect">
            <a:avLst/>
          </a:prstGeom>
        </p:spPr>
      </p:pic>
      <p:pic>
        <p:nvPicPr>
          <p:cNvPr id="22" name="Image 21"/>
          <p:cNvPicPr>
            <a:picLocks noChangeAspect="1"/>
          </p:cNvPicPr>
          <p:nvPr/>
        </p:nvPicPr>
        <p:blipFill>
          <a:blip r:embed="rId7"/>
          <a:stretch>
            <a:fillRect/>
          </a:stretch>
        </p:blipFill>
        <p:spPr>
          <a:xfrm>
            <a:off x="1976139" y="3620456"/>
            <a:ext cx="200025" cy="171450"/>
          </a:xfrm>
          <a:prstGeom prst="rect">
            <a:avLst/>
          </a:prstGeom>
        </p:spPr>
      </p:pic>
      <p:pic>
        <p:nvPicPr>
          <p:cNvPr id="55" name="Image 54"/>
          <p:cNvPicPr>
            <a:picLocks noChangeAspect="1"/>
          </p:cNvPicPr>
          <p:nvPr/>
        </p:nvPicPr>
        <p:blipFill>
          <a:blip r:embed="rId8"/>
          <a:stretch>
            <a:fillRect/>
          </a:stretch>
        </p:blipFill>
        <p:spPr>
          <a:xfrm>
            <a:off x="5958043" y="1820353"/>
            <a:ext cx="2933700" cy="247650"/>
          </a:xfrm>
          <a:prstGeom prst="rect">
            <a:avLst/>
          </a:prstGeom>
          <a:ln>
            <a:solidFill>
              <a:schemeClr val="tx1"/>
            </a:solidFill>
          </a:ln>
          <a:effectLst>
            <a:outerShdw blurRad="50800" dist="38100" dir="2700000" algn="tl" rotWithShape="0">
              <a:prstClr val="black">
                <a:alpha val="40000"/>
              </a:prstClr>
            </a:outerShdw>
          </a:effectLst>
        </p:spPr>
      </p:pic>
      <p:sp>
        <p:nvSpPr>
          <p:cNvPr id="56" name="Ellipse 55"/>
          <p:cNvSpPr/>
          <p:nvPr/>
        </p:nvSpPr>
        <p:spPr>
          <a:xfrm>
            <a:off x="5813743" y="186521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11</a:t>
            </a:r>
            <a:endParaRPr lang="fr-FR" sz="800" b="1" dirty="0">
              <a:solidFill>
                <a:schemeClr val="bg1"/>
              </a:solidFill>
            </a:endParaRPr>
          </a:p>
        </p:txBody>
      </p:sp>
    </p:spTree>
    <p:extLst>
      <p:ext uri="{BB962C8B-B14F-4D97-AF65-F5344CB8AC3E}">
        <p14:creationId xmlns:p14="http://schemas.microsoft.com/office/powerpoint/2010/main" val="11001551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74803" y="205978"/>
            <a:ext cx="3557833" cy="523220"/>
          </a:xfrm>
          <a:prstGeom prst="rect">
            <a:avLst/>
          </a:prstGeom>
          <a:noFill/>
        </p:spPr>
        <p:txBody>
          <a:bodyPr wrap="square" rtlCol="0">
            <a:spAutoFit/>
          </a:bodyPr>
          <a:lstStyle/>
          <a:p>
            <a:pPr algn="ctr"/>
            <a:r>
              <a:rPr lang="en-US" sz="2800" b="1" dirty="0" err="1">
                <a:solidFill>
                  <a:srgbClr val="4F81BD"/>
                </a:solidFill>
              </a:rPr>
              <a:t>Exercice</a:t>
            </a:r>
            <a:r>
              <a:rPr lang="en-US" sz="2800" b="1" dirty="0">
                <a:solidFill>
                  <a:srgbClr val="4F81BD"/>
                </a:solidFill>
              </a:rPr>
              <a:t> </a:t>
            </a:r>
            <a:r>
              <a:rPr lang="en-US" sz="2800" b="1" dirty="0" err="1" smtClean="0">
                <a:solidFill>
                  <a:srgbClr val="4F81BD"/>
                </a:solidFill>
              </a:rPr>
              <a:t>en</a:t>
            </a:r>
            <a:r>
              <a:rPr lang="en-US" sz="2800" b="1" dirty="0" smtClean="0">
                <a:solidFill>
                  <a:srgbClr val="4F81BD"/>
                </a:solidFill>
              </a:rPr>
              <a:t> </a:t>
            </a:r>
            <a:r>
              <a:rPr lang="en-US" sz="2800" b="1" dirty="0" err="1" smtClean="0">
                <a:solidFill>
                  <a:srgbClr val="4F81BD"/>
                </a:solidFill>
              </a:rPr>
              <a:t>autonomie</a:t>
            </a:r>
            <a:endParaRPr lang="en-US" sz="2800" b="1" dirty="0">
              <a:solidFill>
                <a:srgbClr val="4F81BD"/>
              </a:solidFill>
            </a:endParaRPr>
          </a:p>
        </p:txBody>
      </p:sp>
      <p:pic>
        <p:nvPicPr>
          <p:cNvPr id="35841" name="Image 358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92083" y="2749116"/>
            <a:ext cx="1719245" cy="1719245"/>
          </a:xfrm>
          <a:prstGeom prst="rect">
            <a:avLst/>
          </a:prstGeom>
        </p:spPr>
      </p:pic>
      <p:grpSp>
        <p:nvGrpSpPr>
          <p:cNvPr id="35844" name="Groupe 35843"/>
          <p:cNvGrpSpPr/>
          <p:nvPr/>
        </p:nvGrpSpPr>
        <p:grpSpPr>
          <a:xfrm>
            <a:off x="5174456" y="205978"/>
            <a:ext cx="3680275" cy="4299347"/>
            <a:chOff x="5174456" y="205978"/>
            <a:chExt cx="3680275" cy="4299347"/>
          </a:xfrm>
        </p:grpSpPr>
        <p:grpSp>
          <p:nvGrpSpPr>
            <p:cNvPr id="2" name="Groupe 1"/>
            <p:cNvGrpSpPr/>
            <p:nvPr/>
          </p:nvGrpSpPr>
          <p:grpSpPr>
            <a:xfrm>
              <a:off x="5174456" y="205978"/>
              <a:ext cx="3680275" cy="4299347"/>
              <a:chOff x="3707606" y="205978"/>
              <a:chExt cx="4105275" cy="4795838"/>
            </a:xfrm>
          </p:grpSpPr>
          <p:sp>
            <p:nvSpPr>
              <p:cNvPr id="6" name="Rectangle 5"/>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8" name="Connecteur droit 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Connecteur droit 1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Connecteur droit 2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necteur droit 2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Connecteur droit 31"/>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Connecteur droit 32"/>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46" name="Image 45"/>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4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
        <p:nvSpPr>
          <p:cNvPr id="31" name="Text Box 3"/>
          <p:cNvSpPr txBox="1">
            <a:spLocks noChangeArrowheads="1"/>
          </p:cNvSpPr>
          <p:nvPr/>
        </p:nvSpPr>
        <p:spPr bwMode="auto">
          <a:xfrm>
            <a:off x="954960" y="1043860"/>
            <a:ext cx="3197518" cy="527934"/>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commande de transfert ainsi qu’une commande d’achat outre mer</a:t>
            </a:r>
          </a:p>
        </p:txBody>
      </p:sp>
    </p:spTree>
    <p:extLst>
      <p:ext uri="{BB962C8B-B14F-4D97-AF65-F5344CB8AC3E}">
        <p14:creationId xmlns:p14="http://schemas.microsoft.com/office/powerpoint/2010/main" val="1563309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gestion des commandes d’achats outre mer s’inscrit </a:t>
            </a:r>
            <a:r>
              <a:rPr lang="fr-FR" sz="1400" dirty="0">
                <a:latin typeface="Arial" panose="020B0604020202020204" pitchFamily="34" charset="0"/>
                <a:ea typeface="ＭＳ Ｐゴシック" panose="020B0600070205080204" pitchFamily="34" charset="-128"/>
                <a:cs typeface="Arial" panose="020B0604020202020204" pitchFamily="34" charset="0"/>
              </a:rPr>
              <a:t>dans le processus d’Achats Indirects</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 achat outre mer se traduit dans le système en deux commandes :</a:t>
            </a:r>
          </a:p>
          <a:p>
            <a:pPr marL="479904" lvl="2" indent="-171450">
              <a:buClr>
                <a:srgbClr val="0070C0"/>
              </a:buClr>
              <a:buSzPct val="100000"/>
            </a:pPr>
            <a:r>
              <a:rPr lang="fr-FR" altLang="en-US" sz="1400" dirty="0">
                <a:latin typeface="Arial" panose="020B0604020202020204" pitchFamily="34" charset="0"/>
                <a:ea typeface="ＭＳ Ｐゴシック" panose="020B0600070205080204" pitchFamily="34" charset="-128"/>
                <a:cs typeface="Arial" panose="020B0604020202020204" pitchFamily="34" charset="0"/>
              </a:rPr>
              <a:t>Une commande d’achat Outre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mer</a:t>
            </a:r>
          </a:p>
          <a:p>
            <a:pPr marL="479904" lvl="2" indent="-171450">
              <a:buClr>
                <a:srgbClr val="0070C0"/>
              </a:buClr>
              <a:buSzPct val="100000"/>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Une commande de transfert de l’outre mer vers la Guinée</a:t>
            </a: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VHEKTECQ7ECW-1532981086-4393</_dlc_DocId>
    <_dlc_DocIdUrl xmlns="f36dd47d-0b23-43fd-9b2d-c5346ffa1660">
      <Url>http://extranet.cbg-guinee.com/erp/_layouts/15/DocIdRedir.aspx?ID=VHEKTECQ7ECW-1532981086-4393</Url>
      <Description>VHEKTECQ7ECW-1532981086-4393</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CB8039-DC61-48C7-8F95-44C423F8656D}"/>
</file>

<file path=customXml/itemProps2.xml><?xml version="1.0" encoding="utf-8"?>
<ds:datastoreItem xmlns:ds="http://schemas.openxmlformats.org/officeDocument/2006/customXml" ds:itemID="{A6860AD1-B248-4033-A966-C235382C5EC3}"/>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773</Words>
  <Application>Microsoft Office PowerPoint</Application>
  <PresentationFormat>Affichage à l'écran (16:9)</PresentationFormat>
  <Paragraphs>249</Paragraphs>
  <Slides>22</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des Commandes d’Achat</vt:lpstr>
      <vt:lpstr>Description du processus métier Un sous processus de la gestion des commandes d’achat outre-mer</vt:lpstr>
      <vt:lpstr>Le processus d’achats indirects Outre-Mer</vt:lpstr>
      <vt:lpstr>Présentation PowerPoint</vt:lpstr>
      <vt:lpstr>Description des objets SAP</vt:lpstr>
      <vt:lpstr>Description des objets SAP</vt:lpstr>
      <vt:lpstr>Mode opératoire Présentation du mode opératoire dans SAP</vt:lpstr>
      <vt:lpstr>Mode opératoire ME5A – Afficher les demande d’achats non affectées</vt:lpstr>
      <vt:lpstr>Mode opératoire MD04 – Créer la commande de transfert (1/2)</vt:lpstr>
      <vt:lpstr>Mode opératoire ME21N – Créer la commande de transfert (2/2)</vt:lpstr>
      <vt:lpstr>Mode opératoire MD01 – Planification du MRP</vt:lpstr>
      <vt:lpstr>Mode opératoire ME58 – Commander les demandes d’achat créées (1/2)</vt:lpstr>
      <vt:lpstr>Mode opératoire ME58 – Commander les demandes d’achat créées (2/2)</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3736</cp:revision>
  <cp:lastPrinted>2015-12-10T15:22:06Z</cp:lastPrinted>
  <dcterms:created xsi:type="dcterms:W3CDTF">2012-05-17T14:14:37Z</dcterms:created>
  <dcterms:modified xsi:type="dcterms:W3CDTF">2015-12-21T14:15:35Z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a6dbd2d6-c3d3-4dc3-98d7-adac043e6969</vt:lpwstr>
  </property>
</Properties>
</file>