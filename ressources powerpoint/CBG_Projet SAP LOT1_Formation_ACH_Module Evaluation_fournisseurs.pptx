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1.xml" ContentType="application/vnd.openxmlformats-officedocument.customXml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4"/>
  </p:notesMasterIdLst>
  <p:handoutMasterIdLst>
    <p:handoutMasterId r:id="rId25"/>
  </p:handoutMasterIdLst>
  <p:sldIdLst>
    <p:sldId id="685" r:id="rId5"/>
    <p:sldId id="686" r:id="rId6"/>
    <p:sldId id="687" r:id="rId7"/>
    <p:sldId id="723" r:id="rId8"/>
    <p:sldId id="691" r:id="rId9"/>
    <p:sldId id="692" r:id="rId10"/>
    <p:sldId id="786" r:id="rId11"/>
    <p:sldId id="694" r:id="rId12"/>
    <p:sldId id="724" r:id="rId13"/>
    <p:sldId id="783" r:id="rId14"/>
    <p:sldId id="696" r:id="rId15"/>
    <p:sldId id="774" r:id="rId16"/>
    <p:sldId id="751" r:id="rId17"/>
    <p:sldId id="784" r:id="rId18"/>
    <p:sldId id="785" r:id="rId19"/>
    <p:sldId id="745" r:id="rId20"/>
    <p:sldId id="725" r:id="rId21"/>
    <p:sldId id="710" r:id="rId22"/>
    <p:sldId id="728" r:id="rId23"/>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87411" autoAdjust="0"/>
  </p:normalViewPr>
  <p:slideViewPr>
    <p:cSldViewPr snapToGrid="0" snapToObjects="1">
      <p:cViewPr varScale="1">
        <p:scale>
          <a:sx n="119" d="100"/>
          <a:sy n="119" d="100"/>
        </p:scale>
        <p:origin x="516" y="96"/>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8</a:t>
            </a:fld>
            <a:endParaRPr lang="de-DE" dirty="0"/>
          </a:p>
        </p:txBody>
      </p:sp>
    </p:spTree>
    <p:extLst>
      <p:ext uri="{BB962C8B-B14F-4D97-AF65-F5344CB8AC3E}">
        <p14:creationId xmlns:p14="http://schemas.microsoft.com/office/powerpoint/2010/main" val="9958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13</a:t>
            </a:fld>
            <a:endParaRPr lang="de-DE" dirty="0"/>
          </a:p>
        </p:txBody>
      </p:sp>
    </p:spTree>
    <p:extLst>
      <p:ext uri="{BB962C8B-B14F-4D97-AF65-F5344CB8AC3E}">
        <p14:creationId xmlns:p14="http://schemas.microsoft.com/office/powerpoint/2010/main" val="1832093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16</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01877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17</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 Evaluation </a:t>
            </a:r>
            <a:r>
              <a:rPr lang="fr-FR" sz="2000" b="1" dirty="0" smtClean="0">
                <a:solidFill>
                  <a:srgbClr val="0070C0"/>
                </a:solidFill>
                <a:latin typeface="Arial" charset="0"/>
                <a:cs typeface="Arial" charset="0"/>
              </a:rPr>
              <a:t>des fournisseurs</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évaluer des fournisseurs manuellement</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Evaluer un fournisseur manuellement</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les liste des fournisseurs non évalués selon une sélections préalable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 palmarès des fournisseurs</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 </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a:t>L’évaluation des fournisseurs dans SAP </a:t>
            </a:r>
            <a:r>
              <a:rPr lang="fr-FR" dirty="0" smtClean="0"/>
              <a:t>offre la possibilité aux </a:t>
            </a:r>
            <a:r>
              <a:rPr lang="fr-FR" dirty="0"/>
              <a:t>acheteurs </a:t>
            </a:r>
            <a:r>
              <a:rPr lang="fr-FR" dirty="0" smtClean="0"/>
              <a:t>CBG </a:t>
            </a:r>
            <a:r>
              <a:rPr lang="fr-FR" dirty="0"/>
              <a:t>de suivre la qualité des fournisseurs.</a:t>
            </a:r>
            <a:endParaRPr lang="en-US" dirty="0"/>
          </a:p>
          <a:p>
            <a:r>
              <a:rPr lang="fr-FR" dirty="0" smtClean="0"/>
              <a:t>Les </a:t>
            </a:r>
            <a:r>
              <a:rPr lang="fr-FR" dirty="0"/>
              <a:t>évaluations fournisseurs sont dépendantes des organisations d’achats</a:t>
            </a:r>
            <a:r>
              <a:rPr lang="fr-FR" dirty="0" smtClean="0"/>
              <a:t>. </a:t>
            </a:r>
            <a:r>
              <a:rPr lang="fr-FR" dirty="0"/>
              <a:t>Différents fournisseurs peuvent être évalués par plusieurs organisations d'achats. Les options standard doivent être identiques si vous voulez pouvoir comparer ces évaluations. Il ne doit pas exister différentes échelles de notes, par exemple.</a:t>
            </a:r>
            <a:endParaRPr lang="en-US" dirty="0"/>
          </a:p>
          <a:p>
            <a:r>
              <a:rPr lang="fr-FR" dirty="0"/>
              <a:t>Les critères principaux choisis par la CBG sont les suivants </a:t>
            </a:r>
            <a:r>
              <a:rPr lang="fr-FR" dirty="0" smtClean="0"/>
              <a:t>:</a:t>
            </a:r>
            <a:r>
              <a:rPr lang="en-US" dirty="0" smtClean="0"/>
              <a:t> </a:t>
            </a:r>
            <a:r>
              <a:rPr lang="fr-FR" dirty="0" smtClean="0"/>
              <a:t>prix, qualité</a:t>
            </a:r>
            <a:r>
              <a:rPr lang="en-US" dirty="0" smtClean="0"/>
              <a:t>, </a:t>
            </a:r>
            <a:r>
              <a:rPr lang="en-US" dirty="0" err="1" smtClean="0"/>
              <a:t>délai</a:t>
            </a:r>
            <a:r>
              <a:rPr lang="en-US" dirty="0" smtClean="0"/>
              <a:t> de l</a:t>
            </a:r>
            <a:r>
              <a:rPr lang="fr-FR" dirty="0" err="1" smtClean="0"/>
              <a:t>ivraison</a:t>
            </a:r>
            <a:r>
              <a:rPr lang="en-US" dirty="0" smtClean="0"/>
              <a:t>, s</a:t>
            </a:r>
            <a:r>
              <a:rPr lang="fr-FR" dirty="0" err="1" smtClean="0"/>
              <a:t>ervice</a:t>
            </a:r>
            <a:r>
              <a:rPr lang="fr-FR" dirty="0" smtClean="0"/>
              <a:t> après-vente</a:t>
            </a:r>
            <a:r>
              <a:rPr lang="en-US" dirty="0" smtClean="0"/>
              <a:t>, c</a:t>
            </a:r>
            <a:r>
              <a:rPr lang="fr-FR" dirty="0" err="1" smtClean="0"/>
              <a:t>onditions</a:t>
            </a:r>
            <a:r>
              <a:rPr lang="fr-FR" dirty="0" smtClean="0"/>
              <a:t> </a:t>
            </a:r>
            <a:r>
              <a:rPr lang="fr-FR" dirty="0"/>
              <a:t>de paiement</a:t>
            </a:r>
            <a:endParaRPr lang="en-US" dirty="0"/>
          </a:p>
          <a:p>
            <a:r>
              <a:rPr lang="fr-FR" dirty="0"/>
              <a:t>Les évaluations fournisseurs donnent la possibilité de classer les fournisseurs pour effectuer le palmarès des fournisseurs</a:t>
            </a:r>
            <a:r>
              <a:rPr lang="fr-FR" dirty="0" smtClean="0"/>
              <a:t>. </a:t>
            </a:r>
            <a:r>
              <a:rPr lang="fr-FR" dirty="0"/>
              <a:t>Cela pourra notamment amener un fournisseur à être </a:t>
            </a:r>
            <a:r>
              <a:rPr lang="fr-FR" dirty="0" smtClean="0"/>
              <a:t>mis sur « liste noire » par </a:t>
            </a:r>
            <a:r>
              <a:rPr lang="fr-FR" dirty="0"/>
              <a:t>la CBG</a:t>
            </a:r>
            <a:r>
              <a:rPr lang="fr-FR" dirty="0" smtClean="0"/>
              <a:t>.</a:t>
            </a:r>
            <a:endParaRPr lang="en-US" dirty="0"/>
          </a:p>
          <a:p>
            <a:r>
              <a:rPr lang="fr-FR" dirty="0"/>
              <a:t> </a:t>
            </a:r>
            <a:r>
              <a:rPr lang="fr-FR" dirty="0" smtClean="0"/>
              <a:t>La </a:t>
            </a:r>
            <a:r>
              <a:rPr lang="fr-FR" dirty="0"/>
              <a:t>gestion des évaluations fournisseurs </a:t>
            </a:r>
            <a:r>
              <a:rPr lang="fr-FR" dirty="0" smtClean="0"/>
              <a:t>relève de la </a:t>
            </a:r>
            <a:r>
              <a:rPr lang="fr-FR" dirty="0"/>
              <a:t>responsabilité des acheteurs.</a:t>
            </a:r>
            <a:endParaRPr lang="en-US" dirty="0"/>
          </a:p>
          <a:p>
            <a:r>
              <a:rPr lang="fr-FR" dirty="0"/>
              <a:t> </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Evaluation fournisseur</a:t>
            </a:r>
            <a:endParaRPr lang="en-US" altLang="en-US" dirty="0" smtClean="0"/>
          </a:p>
        </p:txBody>
      </p:sp>
      <p:sp>
        <p:nvSpPr>
          <p:cNvPr id="28678" name="AutoShape 6"/>
          <p:cNvSpPr>
            <a:spLocks noChangeArrowheads="1"/>
          </p:cNvSpPr>
          <p:nvPr/>
        </p:nvSpPr>
        <p:spPr bwMode="auto">
          <a:xfrm>
            <a:off x="1613861" y="1314467"/>
            <a:ext cx="1570434" cy="656973"/>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effectuer une évaluation des fournisseurs?</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smtClean="0">
                <a:solidFill>
                  <a:schemeClr val="bg1"/>
                </a:solidFill>
                <a:cs typeface="Arial" panose="020B0604020202020204" pitchFamily="34" charset="0"/>
              </a:rPr>
              <a:t>Que trouve t-on dans le processus d’évaluation fournisseur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487546"/>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a:t>
            </a:r>
          </a:p>
        </p:txBody>
      </p:sp>
      <p:sp>
        <p:nvSpPr>
          <p:cNvPr id="28681" name="AutoShape 12"/>
          <p:cNvSpPr>
            <a:spLocks noChangeArrowheads="1"/>
          </p:cNvSpPr>
          <p:nvPr/>
        </p:nvSpPr>
        <p:spPr bwMode="auto">
          <a:xfrm>
            <a:off x="5011609" y="1394480"/>
            <a:ext cx="2701669" cy="478201"/>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Tous les ans pour les 20 premiers fournisseurs de chaque bureau</a:t>
            </a:r>
            <a:endParaRPr lang="fr-FR" altLang="en-US" sz="1050" dirty="0"/>
          </a:p>
        </p:txBody>
      </p:sp>
      <p:sp>
        <p:nvSpPr>
          <p:cNvPr id="28682" name="AutoShape 6"/>
          <p:cNvSpPr>
            <a:spLocks noChangeArrowheads="1"/>
          </p:cNvSpPr>
          <p:nvPr/>
        </p:nvSpPr>
        <p:spPr bwMode="auto">
          <a:xfrm>
            <a:off x="1231921" y="2293505"/>
            <a:ext cx="1666915" cy="656973"/>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effectuer les évaluation des fournisseurs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3267265"/>
            <a:ext cx="3281294" cy="892499"/>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Les critères d’évaluation des fournisseurs</a:t>
            </a:r>
          </a:p>
          <a:p>
            <a:pPr eaLnBrk="1" hangingPunct="1">
              <a:spcBef>
                <a:spcPts val="225"/>
              </a:spcBef>
              <a:buFont typeface="Arial" panose="020B0604020202020204" pitchFamily="34" charset="0"/>
              <a:buChar char="•"/>
            </a:pPr>
            <a:r>
              <a:rPr lang="fr-FR" altLang="en-US" sz="1050" dirty="0" smtClean="0">
                <a:solidFill>
                  <a:schemeClr val="bg1"/>
                </a:solidFill>
              </a:rPr>
              <a:t>Les notes obtenues par le fournisseur, pour l’organisation d’achats, sur ces critères</a:t>
            </a:r>
          </a:p>
          <a:p>
            <a:pPr eaLnBrk="1" hangingPunct="1">
              <a:spcBef>
                <a:spcPts val="225"/>
              </a:spcBef>
              <a:buFont typeface="Arial" panose="020B0604020202020204" pitchFamily="34" charset="0"/>
              <a:buChar char="•"/>
            </a:pPr>
            <a:r>
              <a:rPr lang="fr-FR" altLang="en-US" sz="1050" dirty="0">
                <a:solidFill>
                  <a:schemeClr val="bg1"/>
                </a:solidFill>
              </a:rPr>
              <a:t>L</a:t>
            </a:r>
            <a:r>
              <a:rPr lang="fr-FR" altLang="en-US" sz="1050" dirty="0" smtClean="0">
                <a:solidFill>
                  <a:schemeClr val="bg1"/>
                </a:solidFill>
              </a:rPr>
              <a:t>e palmarès des fournisseurs évalués</a:t>
            </a: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 la relation fournisseur</a:t>
            </a: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smtClean="0">
                <a:solidFill>
                  <a:schemeClr val="bg1"/>
                </a:solidFill>
                <a:latin typeface="Arial" panose="020B0604020202020204" pitchFamily="34" charset="0"/>
                <a:ea typeface="ＭＳ Ｐゴシック" panose="020B0600070205080204" pitchFamily="34" charset="-128"/>
              </a:rPr>
              <a:t>L’évaluation fournisseur s’inscrit dans une logique de gestion de la relation fournisseur et de gestion du panel</a:t>
            </a:r>
          </a:p>
        </p:txBody>
      </p:sp>
      <p:sp>
        <p:nvSpPr>
          <p:cNvPr id="29701" name="AutoShape 17"/>
          <p:cNvSpPr>
            <a:spLocks noChangeArrowheads="1"/>
          </p:cNvSpPr>
          <p:nvPr/>
        </p:nvSpPr>
        <p:spPr bwMode="auto">
          <a:xfrm>
            <a:off x="2119979" y="3718115"/>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Définition de la pondération</a:t>
            </a:r>
            <a:endParaRPr lang="fr-FR" altLang="ko-KR" sz="800" b="1" dirty="0">
              <a:solidFill>
                <a:srgbClr val="FFFFFF"/>
              </a:solidFill>
              <a:latin typeface="Verdana" pitchFamily="34" charset="0"/>
              <a:ea typeface="ＭＳ Ｐゴシック"/>
              <a:cs typeface="Arial" pitchFamily="34" charset="0"/>
            </a:endParaRPr>
          </a:p>
        </p:txBody>
      </p:sp>
      <p:sp>
        <p:nvSpPr>
          <p:cNvPr id="29702" name="AutoShape 18"/>
          <p:cNvSpPr>
            <a:spLocks noChangeArrowheads="1"/>
          </p:cNvSpPr>
          <p:nvPr/>
        </p:nvSpPr>
        <p:spPr bwMode="auto">
          <a:xfrm>
            <a:off x="3345298" y="3718115"/>
            <a:ext cx="1235869"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Evaluer un fournisseur</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3" name="AutoShape 19"/>
          <p:cNvSpPr>
            <a:spLocks noChangeArrowheads="1"/>
          </p:cNvSpPr>
          <p:nvPr/>
        </p:nvSpPr>
        <p:spPr bwMode="auto">
          <a:xfrm>
            <a:off x="4569426" y="3718115"/>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Réévaluer un fournisseur</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2" name="AutoShape 19"/>
          <p:cNvSpPr>
            <a:spLocks noChangeArrowheads="1"/>
          </p:cNvSpPr>
          <p:nvPr/>
        </p:nvSpPr>
        <p:spPr bwMode="auto">
          <a:xfrm>
            <a:off x="5794745" y="3718115"/>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Comparer les évaluations</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3" name="AutoShape 19"/>
          <p:cNvSpPr>
            <a:spLocks noChangeArrowheads="1"/>
          </p:cNvSpPr>
          <p:nvPr/>
        </p:nvSpPr>
        <p:spPr bwMode="auto">
          <a:xfrm>
            <a:off x="7151797" y="397383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Afficher les fournisseurs non évalués</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4" name="AutoShape 19"/>
          <p:cNvSpPr>
            <a:spLocks noChangeArrowheads="1"/>
          </p:cNvSpPr>
          <p:nvPr/>
        </p:nvSpPr>
        <p:spPr bwMode="auto">
          <a:xfrm>
            <a:off x="7151797" y="3459098"/>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p>
            <a:pPr marL="93663" algn="ctr" eaLnBrk="0" hangingPunct="0"/>
            <a:r>
              <a:rPr lang="fr-FR" altLang="ko-KR" sz="800" b="1" dirty="0">
                <a:solidFill>
                  <a:schemeClr val="bg1"/>
                </a:solidFill>
                <a:latin typeface="Verdana" panose="020B0604030504040204" pitchFamily="34" charset="0"/>
                <a:ea typeface="ＭＳ Ｐゴシック" panose="020B0600070205080204" pitchFamily="34" charset="-128"/>
                <a:cs typeface="Arial" panose="020B0604020202020204" pitchFamily="34" charset="0"/>
              </a:rPr>
              <a:t>Afficher le palmarès</a:t>
            </a:r>
          </a:p>
        </p:txBody>
      </p:sp>
      <p:sp>
        <p:nvSpPr>
          <p:cNvPr id="13" name="AutoShape 16"/>
          <p:cNvSpPr>
            <a:spLocks noChangeArrowheads="1"/>
          </p:cNvSpPr>
          <p:nvPr/>
        </p:nvSpPr>
        <p:spPr bwMode="auto">
          <a:xfrm>
            <a:off x="894660" y="3718115"/>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Définition des critères de notation</a:t>
            </a:r>
            <a:endParaRPr lang="fr-FR" altLang="ko-KR" sz="800" b="1" dirty="0">
              <a:solidFill>
                <a:srgbClr val="FFFFFF"/>
              </a:solidFill>
              <a:latin typeface="Verdana" pitchFamily="34" charset="0"/>
              <a:ea typeface="ＭＳ Ｐゴシック"/>
              <a:cs typeface="Arial" pitchFamily="34" charset="0"/>
            </a:endParaRPr>
          </a:p>
        </p:txBody>
      </p:sp>
    </p:spTree>
    <p:extLst>
      <p:ext uri="{BB962C8B-B14F-4D97-AF65-F5344CB8AC3E}">
        <p14:creationId xmlns:p14="http://schemas.microsoft.com/office/powerpoint/2010/main" val="1227594578"/>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altLang="en-US" sz="2400" dirty="0"/>
              <a:t>Description du processus métier</a:t>
            </a:r>
            <a:br>
              <a:rPr lang="fr-FR" altLang="en-US" sz="2400" dirty="0"/>
            </a:br>
            <a:r>
              <a:rPr lang="fr-FR" altLang="en-US" sz="2000" dirty="0" smtClean="0"/>
              <a:t>Critères de notation et pondération définis pour la CBG</a:t>
            </a:r>
            <a:endParaRPr lang="en-US" sz="2000" dirty="0"/>
          </a:p>
        </p:txBody>
      </p:sp>
      <p:sp>
        <p:nvSpPr>
          <p:cNvPr id="5" name="Titre 4"/>
          <p:cNvSpPr txBox="1">
            <a:spLocks/>
          </p:cNvSpPr>
          <p:nvPr/>
        </p:nvSpPr>
        <p:spPr>
          <a:xfrm>
            <a:off x="609600" y="358775"/>
            <a:ext cx="8229600" cy="857250"/>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endParaRPr lang="fr-FR" altLang="en-US" dirty="0"/>
          </a:p>
        </p:txBody>
      </p:sp>
      <p:pic>
        <p:nvPicPr>
          <p:cNvPr id="3" name="Image 2"/>
          <p:cNvPicPr>
            <a:picLocks noChangeAspect="1"/>
          </p:cNvPicPr>
          <p:nvPr/>
        </p:nvPicPr>
        <p:blipFill>
          <a:blip r:embed="rId3"/>
          <a:stretch>
            <a:fillRect/>
          </a:stretch>
        </p:blipFill>
        <p:spPr>
          <a:xfrm>
            <a:off x="457200" y="1342369"/>
            <a:ext cx="3964082" cy="1447332"/>
          </a:xfrm>
          <a:prstGeom prst="rect">
            <a:avLst/>
          </a:prstGeom>
        </p:spPr>
      </p:pic>
      <p:pic>
        <p:nvPicPr>
          <p:cNvPr id="4" name="Image 3"/>
          <p:cNvPicPr>
            <a:picLocks noChangeAspect="1"/>
          </p:cNvPicPr>
          <p:nvPr/>
        </p:nvPicPr>
        <p:blipFill>
          <a:blip r:embed="rId4"/>
          <a:stretch>
            <a:fillRect/>
          </a:stretch>
        </p:blipFill>
        <p:spPr>
          <a:xfrm>
            <a:off x="4724400" y="1368425"/>
            <a:ext cx="4002444" cy="1421276"/>
          </a:xfrm>
          <a:prstGeom prst="rect">
            <a:avLst/>
          </a:prstGeom>
        </p:spPr>
      </p:pic>
      <p:pic>
        <p:nvPicPr>
          <p:cNvPr id="6" name="Image 5"/>
          <p:cNvPicPr>
            <a:picLocks noChangeAspect="1"/>
          </p:cNvPicPr>
          <p:nvPr/>
        </p:nvPicPr>
        <p:blipFill>
          <a:blip r:embed="rId5"/>
          <a:stretch>
            <a:fillRect/>
          </a:stretch>
        </p:blipFill>
        <p:spPr>
          <a:xfrm>
            <a:off x="457200" y="3479587"/>
            <a:ext cx="4213412" cy="675872"/>
          </a:xfrm>
          <a:prstGeom prst="rect">
            <a:avLst/>
          </a:prstGeom>
        </p:spPr>
      </p:pic>
      <p:sp>
        <p:nvSpPr>
          <p:cNvPr id="7" name="ZoneTexte 6"/>
          <p:cNvSpPr txBox="1"/>
          <p:nvPr/>
        </p:nvSpPr>
        <p:spPr>
          <a:xfrm>
            <a:off x="390922" y="3172807"/>
            <a:ext cx="3159098" cy="261610"/>
          </a:xfrm>
          <a:prstGeom prst="rect">
            <a:avLst/>
          </a:prstGeom>
          <a:noFill/>
        </p:spPr>
        <p:txBody>
          <a:bodyPr wrap="square" rtlCol="0">
            <a:spAutoFit/>
          </a:bodyPr>
          <a:lstStyle/>
          <a:p>
            <a:pPr>
              <a:spcBef>
                <a:spcPts val="300"/>
              </a:spcBef>
              <a:spcAft>
                <a:spcPts val="300"/>
              </a:spcAft>
            </a:pPr>
            <a:r>
              <a:rPr lang="fr-FR" sz="1100" b="1" u="sng" dirty="0" smtClean="0">
                <a:solidFill>
                  <a:srgbClr val="4D4F53"/>
                </a:solidFill>
              </a:rPr>
              <a:t>Responsabilités :</a:t>
            </a:r>
          </a:p>
        </p:txBody>
      </p:sp>
      <p:sp>
        <p:nvSpPr>
          <p:cNvPr id="8" name="Rectangle 7"/>
          <p:cNvSpPr/>
          <p:nvPr/>
        </p:nvSpPr>
        <p:spPr>
          <a:xfrm>
            <a:off x="954505" y="2483351"/>
            <a:ext cx="689811" cy="1263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
        <p:nvSpPr>
          <p:cNvPr id="9" name="Rectangle 8"/>
          <p:cNvSpPr/>
          <p:nvPr/>
        </p:nvSpPr>
        <p:spPr>
          <a:xfrm>
            <a:off x="5192142" y="2448091"/>
            <a:ext cx="689811" cy="1263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menu de transaction SAP pour les évaluations fournisseurs</a:t>
            </a:r>
            <a:endParaRPr lang="en-US" altLang="en-US" dirty="0" smtClean="0"/>
          </a:p>
        </p:txBody>
      </p:sp>
      <p:pic>
        <p:nvPicPr>
          <p:cNvPr id="65" name="Image 64"/>
          <p:cNvPicPr/>
          <p:nvPr/>
        </p:nvPicPr>
        <p:blipFill>
          <a:blip r:embed="rId2"/>
          <a:stretch>
            <a:fillRect/>
          </a:stretch>
        </p:blipFill>
        <p:spPr>
          <a:xfrm>
            <a:off x="2888915" y="1063625"/>
            <a:ext cx="2581986" cy="3466758"/>
          </a:xfrm>
          <a:prstGeom prst="rect">
            <a:avLst/>
          </a:prstGeom>
          <a:ln>
            <a:solidFill>
              <a:schemeClr val="tx1"/>
            </a:solidFill>
          </a:ln>
          <a:effectLst>
            <a:outerShdw blurRad="50800" dist="38100" dir="2700000" algn="tl" rotWithShape="0">
              <a:prstClr val="black">
                <a:alpha val="40000"/>
              </a:prstClr>
            </a:outerShdw>
          </a:effectLst>
        </p:spPr>
      </p:pic>
      <p:sp>
        <p:nvSpPr>
          <p:cNvPr id="56" name="Rectangle 55"/>
          <p:cNvSpPr/>
          <p:nvPr/>
        </p:nvSpPr>
        <p:spPr>
          <a:xfrm>
            <a:off x="3511943" y="3188262"/>
            <a:ext cx="1669872" cy="134212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7744828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 	</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9" name="Groupe 8"/>
          <p:cNvGrpSpPr/>
          <p:nvPr/>
        </p:nvGrpSpPr>
        <p:grpSpPr>
          <a:xfrm>
            <a:off x="3127764" y="1739114"/>
            <a:ext cx="2888473" cy="1827239"/>
            <a:chOff x="3127765" y="1739114"/>
            <a:chExt cx="2888473" cy="1827239"/>
          </a:xfrm>
        </p:grpSpPr>
        <p:sp>
          <p:nvSpPr>
            <p:cNvPr id="57" name="Rectangle 56"/>
            <p:cNvSpPr/>
            <p:nvPr/>
          </p:nvSpPr>
          <p:spPr bwMode="auto">
            <a:xfrm>
              <a:off x="3127765" y="2266977"/>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Gérer les évaluations fournisseurs</a:t>
              </a:r>
              <a:endParaRPr lang="en-US" sz="800" dirty="0">
                <a:solidFill>
                  <a:schemeClr val="bg1"/>
                </a:solidFill>
                <a:latin typeface="Arial" pitchFamily="34" charset="0"/>
                <a:cs typeface="Arial" pitchFamily="34" charset="0"/>
              </a:endParaRPr>
            </a:p>
          </p:txBody>
        </p:sp>
        <p:sp>
          <p:nvSpPr>
            <p:cNvPr id="61" name="Rectangle 60"/>
            <p:cNvSpPr/>
            <p:nvPr/>
          </p:nvSpPr>
          <p:spPr bwMode="auto">
            <a:xfrm>
              <a:off x="3127765" y="2625390"/>
              <a:ext cx="1260475" cy="216000"/>
            </a:xfrm>
            <a:prstGeom prst="rect">
              <a:avLst/>
            </a:prstGeom>
            <a:solidFill>
              <a:srgbClr val="4F81BD"/>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ME61</a:t>
              </a:r>
              <a:endParaRPr lang="en-US" sz="800" b="1" dirty="0">
                <a:solidFill>
                  <a:schemeClr val="bg1"/>
                </a:solidFill>
                <a:latin typeface="Arial" panose="020B0604020202020204" pitchFamily="34" charset="0"/>
                <a:cs typeface="Arial" panose="020B0604020202020204" pitchFamily="34" charset="0"/>
              </a:endParaRPr>
            </a:p>
          </p:txBody>
        </p:sp>
        <p:sp>
          <p:nvSpPr>
            <p:cNvPr id="67" name="Rectangle 66"/>
            <p:cNvSpPr/>
            <p:nvPr/>
          </p:nvSpPr>
          <p:spPr bwMode="auto">
            <a:xfrm>
              <a:off x="3127765" y="2842727"/>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96" name="Rectangle 95"/>
            <p:cNvSpPr/>
            <p:nvPr/>
          </p:nvSpPr>
          <p:spPr bwMode="auto">
            <a:xfrm>
              <a:off x="4755763" y="1739114"/>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Afficher le palmarès</a:t>
              </a:r>
              <a:endParaRPr lang="en-US" sz="800" dirty="0">
                <a:solidFill>
                  <a:schemeClr val="bg1"/>
                </a:solidFill>
                <a:latin typeface="Arial" pitchFamily="34" charset="0"/>
                <a:cs typeface="Arial" pitchFamily="34" charset="0"/>
              </a:endParaRPr>
            </a:p>
          </p:txBody>
        </p:sp>
        <p:sp>
          <p:nvSpPr>
            <p:cNvPr id="97" name="Rectangle 96"/>
            <p:cNvSpPr/>
            <p:nvPr/>
          </p:nvSpPr>
          <p:spPr bwMode="auto">
            <a:xfrm>
              <a:off x="4755763" y="2107596"/>
              <a:ext cx="1260475" cy="216000"/>
            </a:xfrm>
            <a:prstGeom prst="rect">
              <a:avLst/>
            </a:prstGeom>
            <a:solidFill>
              <a:srgbClr val="4F81BD"/>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ME65</a:t>
              </a:r>
              <a:endParaRPr lang="en-US" sz="800" b="1" dirty="0">
                <a:solidFill>
                  <a:schemeClr val="bg1"/>
                </a:solidFill>
                <a:latin typeface="Arial" panose="020B0604020202020204" pitchFamily="34" charset="0"/>
                <a:cs typeface="Arial" panose="020B0604020202020204" pitchFamily="34" charset="0"/>
              </a:endParaRPr>
            </a:p>
          </p:txBody>
        </p:sp>
        <p:sp>
          <p:nvSpPr>
            <p:cNvPr id="98" name="Rectangle 97"/>
            <p:cNvSpPr/>
            <p:nvPr/>
          </p:nvSpPr>
          <p:spPr bwMode="auto">
            <a:xfrm>
              <a:off x="4755763" y="2331707"/>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36" name="Rectangle 35"/>
            <p:cNvSpPr/>
            <p:nvPr/>
          </p:nvSpPr>
          <p:spPr bwMode="auto">
            <a:xfrm>
              <a:off x="4755763" y="2774603"/>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Fournisseurs non évalués</a:t>
              </a:r>
            </a:p>
          </p:txBody>
        </p:sp>
        <p:sp>
          <p:nvSpPr>
            <p:cNvPr id="37" name="Rectangle 36"/>
            <p:cNvSpPr/>
            <p:nvPr/>
          </p:nvSpPr>
          <p:spPr bwMode="auto">
            <a:xfrm>
              <a:off x="4755763" y="3133016"/>
              <a:ext cx="1260475" cy="216000"/>
            </a:xfrm>
            <a:prstGeom prst="rect">
              <a:avLst/>
            </a:prstGeom>
            <a:solidFill>
              <a:srgbClr val="4F81BD"/>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ME6C</a:t>
              </a:r>
              <a:endParaRPr lang="en-US" sz="800" b="1" dirty="0">
                <a:solidFill>
                  <a:schemeClr val="bg1"/>
                </a:solidFill>
                <a:latin typeface="Arial" panose="020B0604020202020204" pitchFamily="34" charset="0"/>
                <a:cs typeface="Arial" panose="020B0604020202020204" pitchFamily="34" charset="0"/>
              </a:endParaRPr>
            </a:p>
          </p:txBody>
        </p:sp>
        <p:sp>
          <p:nvSpPr>
            <p:cNvPr id="38" name="Rectangle 37"/>
            <p:cNvSpPr/>
            <p:nvPr/>
          </p:nvSpPr>
          <p:spPr bwMode="auto">
            <a:xfrm>
              <a:off x="4755763" y="3350353"/>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cxnSp>
          <p:nvCxnSpPr>
            <p:cNvPr id="4" name="Connecteur en angle 3"/>
            <p:cNvCxnSpPr>
              <a:stCxn id="57" idx="3"/>
              <a:endCxn id="96" idx="1"/>
            </p:cNvCxnSpPr>
            <p:nvPr/>
          </p:nvCxnSpPr>
          <p:spPr>
            <a:xfrm flipV="1">
              <a:off x="4388240" y="1919114"/>
              <a:ext cx="367523" cy="527863"/>
            </a:xfrm>
            <a:prstGeom prst="bentConnector3">
              <a:avLst/>
            </a:prstGeom>
            <a:ln w="12700">
              <a:solidFill>
                <a:srgbClr val="0070C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Connecteur en angle 5"/>
            <p:cNvCxnSpPr>
              <a:stCxn id="57" idx="3"/>
              <a:endCxn id="36" idx="1"/>
            </p:cNvCxnSpPr>
            <p:nvPr/>
          </p:nvCxnSpPr>
          <p:spPr>
            <a:xfrm>
              <a:off x="4388240" y="2446977"/>
              <a:ext cx="367523" cy="507626"/>
            </a:xfrm>
            <a:prstGeom prst="bentConnector3">
              <a:avLst/>
            </a:prstGeom>
            <a:ln w="12700">
              <a:solidFill>
                <a:srgbClr val="0070C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44945" y="1985487"/>
            <a:ext cx="6175055" cy="2642292"/>
          </a:xfrm>
        </p:spPr>
        <p:txBody>
          <a:bodyPr/>
          <a:lstStyle/>
          <a:p>
            <a:r>
              <a:rPr lang="fr-FR" sz="1400" u="sng" dirty="0" smtClean="0"/>
              <a:t>Une </a:t>
            </a:r>
            <a:r>
              <a:rPr lang="fr-FR" sz="1400" u="sng" dirty="0"/>
              <a:t>clé de pondération</a:t>
            </a:r>
            <a:r>
              <a:rPr lang="fr-FR" sz="1400" dirty="0"/>
              <a:t> est un code permettant le regroupement et la sauvegarde de coefficients de pondération affectés à plusieurs critères principaux.</a:t>
            </a:r>
            <a:endParaRPr lang="en-US" sz="1400" dirty="0"/>
          </a:p>
          <a:p>
            <a:r>
              <a:rPr lang="fr-FR" sz="1400" dirty="0"/>
              <a:t>A l'aide des </a:t>
            </a:r>
            <a:r>
              <a:rPr lang="fr-FR" sz="1400" u="sng" dirty="0"/>
              <a:t>coefficients de pondération</a:t>
            </a:r>
            <a:r>
              <a:rPr lang="fr-FR" sz="1400" dirty="0"/>
              <a:t>, vous pouvez accroître ou réduire l'importance de certains critères lors du calcul de la note.</a:t>
            </a:r>
            <a:endParaRPr lang="en-US" sz="1400" dirty="0"/>
          </a:p>
          <a:p>
            <a:r>
              <a:rPr lang="fr-FR" sz="1400" dirty="0"/>
              <a:t>L'analyse des résultats d'un fournisseur est basée sur </a:t>
            </a:r>
            <a:r>
              <a:rPr lang="fr-FR" sz="1400" u="sng" dirty="0"/>
              <a:t>les critères principaux</a:t>
            </a:r>
            <a:r>
              <a:rPr lang="fr-FR" sz="1400" dirty="0"/>
              <a:t>. Le système calcule la note globale du fournisseur à partir des notes obtenues pour les critères principaux.</a:t>
            </a:r>
            <a:endParaRPr lang="en-US" sz="1400" dirty="0"/>
          </a:p>
          <a:p>
            <a:r>
              <a:rPr lang="fr-FR" sz="1400" dirty="0"/>
              <a:t>La </a:t>
            </a:r>
            <a:r>
              <a:rPr lang="fr-FR" sz="1400" u="sng" dirty="0"/>
              <a:t>note globale</a:t>
            </a:r>
            <a:r>
              <a:rPr lang="fr-FR" sz="1400" dirty="0"/>
              <a:t> représente l'évaluation générale d'un fournisseur. Il s'agit d'une combinaison des notes attribuées à un fournisseur pour tous les critères principaux.</a:t>
            </a:r>
            <a:endParaRPr lang="en-US" sz="1400" dirty="0"/>
          </a:p>
          <a:p>
            <a:endParaRPr lang="en-US"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Pondération et critères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7525794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a:xfrm>
            <a:off x="341870" y="158265"/>
            <a:ext cx="8229600" cy="857250"/>
          </a:xfrm>
        </p:spPr>
        <p:txBody>
          <a:bodyPr/>
          <a:lstStyle/>
          <a:p>
            <a:r>
              <a:rPr lang="fr-FR" altLang="en-US" sz="2400" dirty="0" smtClean="0"/>
              <a:t>Mode opératoire</a:t>
            </a:r>
            <a:br>
              <a:rPr lang="fr-FR" altLang="en-US" sz="2400" dirty="0" smtClean="0"/>
            </a:br>
            <a:r>
              <a:rPr lang="fr-FR" altLang="en-US" dirty="0" smtClean="0"/>
              <a:t>ME61 – Gérer les évaluations fournisseurs</a:t>
            </a:r>
            <a:endParaRPr lang="en-US" altLang="en-US" dirty="0" smtClean="0"/>
          </a:p>
        </p:txBody>
      </p:sp>
      <p:sp>
        <p:nvSpPr>
          <p:cNvPr id="8" name="ZoneTexte 7"/>
          <p:cNvSpPr txBox="1"/>
          <p:nvPr/>
        </p:nvSpPr>
        <p:spPr>
          <a:xfrm>
            <a:off x="5412372" y="779612"/>
            <a:ext cx="3159098" cy="2739211"/>
          </a:xfrm>
          <a:prstGeom prst="rect">
            <a:avLst/>
          </a:prstGeom>
          <a:noFill/>
        </p:spPr>
        <p:txBody>
          <a:bodyPr wrap="square" rtlCol="0">
            <a:spAutoFit/>
          </a:bodyPr>
          <a:lstStyle/>
          <a:p>
            <a:pPr>
              <a:spcBef>
                <a:spcPts val="300"/>
              </a:spcBef>
              <a:spcAft>
                <a:spcPts val="300"/>
              </a:spcAft>
            </a:pPr>
            <a:r>
              <a:rPr lang="fr-FR" sz="1100" dirty="0" smtClean="0">
                <a:solidFill>
                  <a:srgbClr val="4D4F53"/>
                </a:solidFill>
              </a:rPr>
              <a:t>Saisir une organisation d’achats</a:t>
            </a:r>
            <a:endParaRPr lang="fr-FR" sz="1100" dirty="0">
              <a:solidFill>
                <a:srgbClr val="4D4F53"/>
              </a:solidFill>
            </a:endParaRPr>
          </a:p>
          <a:p>
            <a:pPr>
              <a:spcBef>
                <a:spcPts val="300"/>
              </a:spcBef>
              <a:spcAft>
                <a:spcPts val="300"/>
              </a:spcAft>
            </a:pPr>
            <a:r>
              <a:rPr lang="fr-FR" sz="1100" dirty="0" smtClean="0">
                <a:solidFill>
                  <a:srgbClr val="4D4F53"/>
                </a:solidFill>
              </a:rPr>
              <a:t>Saisir un fournisseur à évaluer</a:t>
            </a:r>
          </a:p>
          <a:p>
            <a:pPr>
              <a:spcBef>
                <a:spcPts val="300"/>
              </a:spcBef>
              <a:spcAft>
                <a:spcPts val="300"/>
              </a:spcAft>
            </a:pPr>
            <a:r>
              <a:rPr lang="fr-FR" sz="1100" dirty="0" smtClean="0">
                <a:solidFill>
                  <a:srgbClr val="4D4F53"/>
                </a:solidFill>
              </a:rPr>
              <a:t>Appuyer sur Entrer</a:t>
            </a:r>
            <a:endParaRPr lang="fr-FR" sz="1100" dirty="0">
              <a:solidFill>
                <a:srgbClr val="4D4F53"/>
              </a:solidFill>
            </a:endParaRPr>
          </a:p>
          <a:p>
            <a:pPr>
              <a:spcBef>
                <a:spcPts val="300"/>
              </a:spcBef>
              <a:spcAft>
                <a:spcPts val="300"/>
              </a:spcAft>
            </a:pPr>
            <a:r>
              <a:rPr lang="fr-FR" sz="1100" dirty="0" smtClean="0">
                <a:solidFill>
                  <a:srgbClr val="4D4F53"/>
                </a:solidFill>
              </a:rPr>
              <a:t>Choisir une clé de pondération : soit les critères ont tous les même poids, soit les poids sont différents.</a:t>
            </a:r>
            <a:br>
              <a:rPr lang="fr-FR" sz="1100" dirty="0" smtClean="0">
                <a:solidFill>
                  <a:srgbClr val="4D4F53"/>
                </a:solidFill>
              </a:rPr>
            </a:br>
            <a:r>
              <a:rPr lang="fr-FR" sz="1100" dirty="0" smtClean="0">
                <a:solidFill>
                  <a:srgbClr val="4D4F53"/>
                </a:solidFill>
              </a:rPr>
              <a:t>Choisir 02 pour la CBG</a:t>
            </a:r>
            <a:endParaRPr lang="fr-FR" sz="1100" dirty="0">
              <a:solidFill>
                <a:srgbClr val="4D4F53"/>
              </a:solidFill>
            </a:endParaRPr>
          </a:p>
          <a:p>
            <a:pPr>
              <a:spcBef>
                <a:spcPts val="300"/>
              </a:spcBef>
              <a:spcAft>
                <a:spcPts val="300"/>
              </a:spcAft>
            </a:pPr>
            <a:r>
              <a:rPr lang="fr-FR" sz="1100" dirty="0" smtClean="0">
                <a:solidFill>
                  <a:srgbClr val="4D4F53"/>
                </a:solidFill>
              </a:rPr>
              <a:t>Noter de 1 à 100 les différents critères</a:t>
            </a:r>
          </a:p>
          <a:p>
            <a:pPr>
              <a:spcBef>
                <a:spcPts val="300"/>
              </a:spcBef>
              <a:spcAft>
                <a:spcPts val="300"/>
              </a:spcAft>
            </a:pPr>
            <a:r>
              <a:rPr lang="fr-FR" sz="1100" dirty="0" smtClean="0">
                <a:solidFill>
                  <a:srgbClr val="4D4F53"/>
                </a:solidFill>
              </a:rPr>
              <a:t>Appuyer sur « Entrée »</a:t>
            </a:r>
          </a:p>
          <a:p>
            <a:pPr>
              <a:spcBef>
                <a:spcPts val="300"/>
              </a:spcBef>
              <a:spcAft>
                <a:spcPts val="300"/>
              </a:spcAft>
            </a:pPr>
            <a:r>
              <a:rPr lang="fr-FR" sz="1100" dirty="0" smtClean="0">
                <a:solidFill>
                  <a:srgbClr val="4D4F53"/>
                </a:solidFill>
              </a:rPr>
              <a:t>La note totale est calculée en fonction des notes et des coefficients de pondération</a:t>
            </a:r>
          </a:p>
          <a:p>
            <a:pPr>
              <a:spcBef>
                <a:spcPts val="300"/>
              </a:spcBef>
              <a:spcAft>
                <a:spcPts val="300"/>
              </a:spcAft>
            </a:pPr>
            <a:r>
              <a:rPr lang="fr-FR" sz="1100" dirty="0" smtClean="0">
                <a:solidFill>
                  <a:srgbClr val="4D4F53"/>
                </a:solidFill>
              </a:rPr>
              <a:t>Sauvegarder avec l’icône </a:t>
            </a:r>
          </a:p>
          <a:p>
            <a:pPr>
              <a:spcBef>
                <a:spcPts val="300"/>
              </a:spcBef>
              <a:spcAft>
                <a:spcPts val="300"/>
              </a:spcAft>
            </a:pPr>
            <a:endParaRPr lang="fr-FR" sz="1100" dirty="0" smtClean="0">
              <a:solidFill>
                <a:srgbClr val="4D4F53"/>
              </a:solidFill>
            </a:endParaRPr>
          </a:p>
        </p:txBody>
      </p:sp>
      <p:sp>
        <p:nvSpPr>
          <p:cNvPr id="36" name="Ellipse 35"/>
          <p:cNvSpPr/>
          <p:nvPr/>
        </p:nvSpPr>
        <p:spPr>
          <a:xfrm>
            <a:off x="5256236" y="8342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5256236" y="108039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5256236" y="132697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5256236" y="15662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2" name="Ellipse 31"/>
          <p:cNvSpPr/>
          <p:nvPr/>
        </p:nvSpPr>
        <p:spPr>
          <a:xfrm>
            <a:off x="5256236" y="23862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60" name="Ellipse 59"/>
          <p:cNvSpPr/>
          <p:nvPr/>
        </p:nvSpPr>
        <p:spPr>
          <a:xfrm>
            <a:off x="5256236" y="21359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8" name="Ellipse 67"/>
          <p:cNvSpPr/>
          <p:nvPr/>
        </p:nvSpPr>
        <p:spPr>
          <a:xfrm>
            <a:off x="5256236" y="26515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4" name="Ellipse 43"/>
          <p:cNvSpPr/>
          <p:nvPr/>
        </p:nvSpPr>
        <p:spPr>
          <a:xfrm>
            <a:off x="5256236" y="303214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pic>
        <p:nvPicPr>
          <p:cNvPr id="3" name="Image 2"/>
          <p:cNvPicPr>
            <a:picLocks noChangeAspect="1"/>
          </p:cNvPicPr>
          <p:nvPr/>
        </p:nvPicPr>
        <p:blipFill>
          <a:blip r:embed="rId3"/>
          <a:stretch>
            <a:fillRect/>
          </a:stretch>
        </p:blipFill>
        <p:spPr>
          <a:xfrm>
            <a:off x="341870" y="978953"/>
            <a:ext cx="2382188" cy="1029640"/>
          </a:xfrm>
          <a:prstGeom prst="rect">
            <a:avLst/>
          </a:prstGeom>
          <a:ln>
            <a:solidFill>
              <a:schemeClr val="tx1"/>
            </a:solidFill>
          </a:ln>
          <a:effectLst>
            <a:outerShdw blurRad="50800" dist="38100" dir="2700000" algn="tl" rotWithShape="0">
              <a:prstClr val="black">
                <a:alpha val="40000"/>
              </a:prstClr>
            </a:outerShdw>
          </a:effectLst>
        </p:spPr>
      </p:pic>
      <p:pic>
        <p:nvPicPr>
          <p:cNvPr id="2" name="Image 1"/>
          <p:cNvPicPr>
            <a:picLocks noChangeAspect="1"/>
          </p:cNvPicPr>
          <p:nvPr/>
        </p:nvPicPr>
        <p:blipFill>
          <a:blip r:embed="rId4"/>
          <a:stretch>
            <a:fillRect/>
          </a:stretch>
        </p:blipFill>
        <p:spPr>
          <a:xfrm>
            <a:off x="2204570" y="1184240"/>
            <a:ext cx="1038976" cy="739506"/>
          </a:xfrm>
          <a:prstGeom prst="rect">
            <a:avLst/>
          </a:prstGeom>
          <a:ln>
            <a:solidFill>
              <a:schemeClr val="tx1"/>
            </a:solidFill>
          </a:ln>
          <a:effectLst>
            <a:outerShdw blurRad="50800" dist="38100" dir="2700000" algn="tl" rotWithShape="0">
              <a:prstClr val="black">
                <a:alpha val="40000"/>
              </a:prstClr>
            </a:outerShdw>
          </a:effectLst>
        </p:spPr>
      </p:pic>
      <p:pic>
        <p:nvPicPr>
          <p:cNvPr id="10" name="Image 9"/>
          <p:cNvPicPr>
            <a:picLocks noChangeAspect="1"/>
          </p:cNvPicPr>
          <p:nvPr/>
        </p:nvPicPr>
        <p:blipFill>
          <a:blip r:embed="rId5"/>
          <a:stretch>
            <a:fillRect/>
          </a:stretch>
        </p:blipFill>
        <p:spPr>
          <a:xfrm>
            <a:off x="341870" y="2082412"/>
            <a:ext cx="3334870" cy="2486102"/>
          </a:xfrm>
          <a:prstGeom prst="rect">
            <a:avLst/>
          </a:prstGeom>
          <a:ln>
            <a:solidFill>
              <a:schemeClr val="tx1"/>
            </a:solidFill>
          </a:ln>
          <a:effectLst>
            <a:outerShdw blurRad="50800" dist="38100" dir="2700000" algn="tl" rotWithShape="0">
              <a:prstClr val="black">
                <a:alpha val="40000"/>
              </a:prstClr>
            </a:outerShdw>
          </a:effectLst>
        </p:spPr>
      </p:pic>
      <p:pic>
        <p:nvPicPr>
          <p:cNvPr id="4" name="Image 3"/>
          <p:cNvPicPr>
            <a:picLocks noChangeAspect="1"/>
          </p:cNvPicPr>
          <p:nvPr/>
        </p:nvPicPr>
        <p:blipFill>
          <a:blip r:embed="rId6"/>
          <a:stretch>
            <a:fillRect/>
          </a:stretch>
        </p:blipFill>
        <p:spPr>
          <a:xfrm>
            <a:off x="2724058" y="2544882"/>
            <a:ext cx="2166818" cy="420320"/>
          </a:xfrm>
          <a:prstGeom prst="rect">
            <a:avLst/>
          </a:prstGeom>
          <a:ln>
            <a:solidFill>
              <a:schemeClr val="tx1"/>
            </a:solidFill>
          </a:ln>
          <a:effectLst>
            <a:outerShdw blurRad="50800" dist="38100" dir="2700000" algn="tl" rotWithShape="0">
              <a:prstClr val="black">
                <a:alpha val="40000"/>
              </a:prstClr>
            </a:outerShdw>
          </a:effectLst>
        </p:spPr>
      </p:pic>
      <p:pic>
        <p:nvPicPr>
          <p:cNvPr id="11" name="Image 10"/>
          <p:cNvPicPr>
            <a:picLocks noChangeAspect="1"/>
          </p:cNvPicPr>
          <p:nvPr/>
        </p:nvPicPr>
        <p:blipFill>
          <a:blip r:embed="rId7"/>
          <a:stretch>
            <a:fillRect/>
          </a:stretch>
        </p:blipFill>
        <p:spPr>
          <a:xfrm>
            <a:off x="5479982" y="3262517"/>
            <a:ext cx="2419350" cy="200025"/>
          </a:xfrm>
          <a:prstGeom prst="rect">
            <a:avLst/>
          </a:prstGeom>
          <a:ln>
            <a:solidFill>
              <a:schemeClr val="tx1"/>
            </a:solidFill>
          </a:ln>
          <a:effectLst>
            <a:outerShdw blurRad="50800" dist="38100" dir="2700000" algn="tl" rotWithShape="0">
              <a:prstClr val="black">
                <a:alpha val="40000"/>
              </a:prstClr>
            </a:outerShdw>
          </a:effectLst>
        </p:spPr>
      </p:pic>
      <p:sp>
        <p:nvSpPr>
          <p:cNvPr id="49" name="Rectangle 48"/>
          <p:cNvSpPr/>
          <p:nvPr/>
        </p:nvSpPr>
        <p:spPr>
          <a:xfrm>
            <a:off x="1222549" y="1651111"/>
            <a:ext cx="274558" cy="15262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0" name="Rectangle 49"/>
          <p:cNvSpPr/>
          <p:nvPr/>
        </p:nvSpPr>
        <p:spPr>
          <a:xfrm>
            <a:off x="1222549" y="1812087"/>
            <a:ext cx="543498" cy="1503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1" name="Rectangle 50"/>
          <p:cNvSpPr/>
          <p:nvPr/>
        </p:nvSpPr>
        <p:spPr>
          <a:xfrm>
            <a:off x="1103200" y="3021745"/>
            <a:ext cx="205647" cy="1503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2" name="Rectangle 51"/>
          <p:cNvSpPr/>
          <p:nvPr/>
        </p:nvSpPr>
        <p:spPr>
          <a:xfrm>
            <a:off x="1836709" y="3790490"/>
            <a:ext cx="216209" cy="70979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5" name="Connecteur droit avec flèche 14"/>
          <p:cNvCxnSpPr/>
          <p:nvPr/>
        </p:nvCxnSpPr>
        <p:spPr>
          <a:xfrm flipV="1">
            <a:off x="1497107" y="1559860"/>
            <a:ext cx="707463" cy="16738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eur droit avec flèche 54"/>
          <p:cNvCxnSpPr/>
          <p:nvPr/>
        </p:nvCxnSpPr>
        <p:spPr>
          <a:xfrm flipV="1">
            <a:off x="1362714" y="2755042"/>
            <a:ext cx="1361344" cy="265099"/>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71" name="Ellipse 70"/>
          <p:cNvSpPr/>
          <p:nvPr/>
        </p:nvSpPr>
        <p:spPr>
          <a:xfrm>
            <a:off x="1064058" y="15510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2" name="Ellipse 71"/>
          <p:cNvSpPr/>
          <p:nvPr/>
        </p:nvSpPr>
        <p:spPr>
          <a:xfrm>
            <a:off x="1829172" y="18567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0" name="Ellipse 79"/>
          <p:cNvSpPr/>
          <p:nvPr/>
        </p:nvSpPr>
        <p:spPr>
          <a:xfrm>
            <a:off x="947064" y="29982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89" name="Ellipse 88"/>
          <p:cNvSpPr/>
          <p:nvPr/>
        </p:nvSpPr>
        <p:spPr>
          <a:xfrm>
            <a:off x="1664386" y="37971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104" name="Ellipse 103"/>
          <p:cNvSpPr/>
          <p:nvPr/>
        </p:nvSpPr>
        <p:spPr>
          <a:xfrm>
            <a:off x="1359828" y="31837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106" name="Rectangle 105"/>
          <p:cNvSpPr/>
          <p:nvPr/>
        </p:nvSpPr>
        <p:spPr>
          <a:xfrm>
            <a:off x="1121129" y="3174145"/>
            <a:ext cx="205647" cy="1503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3" name="Image 32"/>
          <p:cNvPicPr>
            <a:picLocks noChangeAspect="1"/>
          </p:cNvPicPr>
          <p:nvPr/>
        </p:nvPicPr>
        <p:blipFill rotWithShape="1">
          <a:blip r:embed="rId8">
            <a:extLst>
              <a:ext uri="{28A0092B-C50C-407E-A947-70E740481C1C}">
                <a14:useLocalDpi xmlns:a14="http://schemas.microsoft.com/office/drawing/2010/main" val="0"/>
              </a:ext>
            </a:extLst>
          </a:blip>
          <a:srcRect/>
          <a:stretch/>
        </p:blipFill>
        <p:spPr>
          <a:xfrm>
            <a:off x="6958547" y="3043841"/>
            <a:ext cx="145257" cy="142875"/>
          </a:xfrm>
          <a:prstGeom prst="rect">
            <a:avLst/>
          </a:prstGeom>
        </p:spPr>
      </p:pic>
    </p:spTree>
    <p:extLst>
      <p:ext uri="{BB962C8B-B14F-4D97-AF65-F5344CB8AC3E}">
        <p14:creationId xmlns:p14="http://schemas.microsoft.com/office/powerpoint/2010/main" val="2814268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a:t>
            </a:r>
            <a:r>
              <a:rPr lang="fr-FR" altLang="en-US" sz="2400" dirty="0" smtClean="0"/>
              <a:t>opératoire</a:t>
            </a:r>
            <a:br>
              <a:rPr lang="fr-FR" altLang="en-US" sz="2400" dirty="0" smtClean="0"/>
            </a:br>
            <a:r>
              <a:rPr lang="fr-FR" altLang="en-US" dirty="0" smtClean="0"/>
              <a:t>ME65 </a:t>
            </a:r>
            <a:r>
              <a:rPr lang="fr-FR" altLang="en-US" dirty="0"/>
              <a:t>– </a:t>
            </a:r>
            <a:r>
              <a:rPr lang="fr-FR" altLang="en-US" dirty="0" smtClean="0"/>
              <a:t>Afficher le Palmarès Fournisseurs</a:t>
            </a:r>
            <a:endParaRPr lang="en-US" dirty="0"/>
          </a:p>
        </p:txBody>
      </p:sp>
      <p:sp>
        <p:nvSpPr>
          <p:cNvPr id="4" name="ZoneTexte 3"/>
          <p:cNvSpPr txBox="1"/>
          <p:nvPr/>
        </p:nvSpPr>
        <p:spPr>
          <a:xfrm>
            <a:off x="5501899" y="880397"/>
            <a:ext cx="3560566" cy="1615827"/>
          </a:xfrm>
          <a:prstGeom prst="rect">
            <a:avLst/>
          </a:prstGeom>
          <a:noFill/>
        </p:spPr>
        <p:txBody>
          <a:bodyPr wrap="square" rtlCol="0">
            <a:spAutoFit/>
          </a:bodyPr>
          <a:lstStyle/>
          <a:p>
            <a:r>
              <a:rPr lang="fr-FR" sz="1100" dirty="0" smtClean="0">
                <a:solidFill>
                  <a:srgbClr val="4D4F53"/>
                </a:solidFill>
              </a:rPr>
              <a:t>Saisir l’Organisation d’Achats</a:t>
            </a:r>
          </a:p>
          <a:p>
            <a:endParaRPr lang="fr-FR" sz="1100" dirty="0">
              <a:solidFill>
                <a:srgbClr val="4D4F53"/>
              </a:solidFill>
            </a:endParaRPr>
          </a:p>
          <a:p>
            <a:r>
              <a:rPr lang="fr-FR" sz="1100" dirty="0" smtClean="0">
                <a:solidFill>
                  <a:srgbClr val="4D4F53"/>
                </a:solidFill>
              </a:rPr>
              <a:t>Saisir les fournisseurs à comparer.</a:t>
            </a:r>
            <a:br>
              <a:rPr lang="fr-FR" sz="1100" dirty="0" smtClean="0">
                <a:solidFill>
                  <a:srgbClr val="4D4F53"/>
                </a:solidFill>
              </a:rPr>
            </a:br>
            <a:r>
              <a:rPr lang="fr-FR" sz="1100" dirty="0" smtClean="0">
                <a:solidFill>
                  <a:srgbClr val="4D4F53"/>
                </a:solidFill>
              </a:rPr>
              <a:t>Si l’on veut comparer tous les fournisseurs pour l’Organisation d’Achats, saisir la valeur *</a:t>
            </a:r>
          </a:p>
          <a:p>
            <a:endParaRPr lang="fr-FR" sz="1100" dirty="0">
              <a:solidFill>
                <a:srgbClr val="4D4F53"/>
              </a:solidFill>
            </a:endParaRPr>
          </a:p>
          <a:p>
            <a:r>
              <a:rPr lang="fr-FR" sz="1100" dirty="0" smtClean="0">
                <a:solidFill>
                  <a:srgbClr val="4D4F53"/>
                </a:solidFill>
              </a:rPr>
              <a:t>Exécuter</a:t>
            </a:r>
          </a:p>
          <a:p>
            <a:endParaRPr lang="fr-FR" sz="1100" dirty="0" smtClean="0">
              <a:solidFill>
                <a:srgbClr val="4D4F53"/>
              </a:solidFill>
            </a:endParaRPr>
          </a:p>
          <a:p>
            <a:r>
              <a:rPr lang="fr-FR" sz="1100" dirty="0" smtClean="0">
                <a:solidFill>
                  <a:srgbClr val="4D4F53"/>
                </a:solidFill>
              </a:rPr>
              <a:t>La liste des fournisseurs classés selon leur note apparait</a:t>
            </a:r>
            <a:endParaRPr lang="fr-FR" sz="1100" dirty="0">
              <a:solidFill>
                <a:srgbClr val="4D4F53"/>
              </a:solidFill>
            </a:endParaRPr>
          </a:p>
        </p:txBody>
      </p:sp>
      <p:sp>
        <p:nvSpPr>
          <p:cNvPr id="5" name="Ellipse 4"/>
          <p:cNvSpPr/>
          <p:nvPr/>
        </p:nvSpPr>
        <p:spPr>
          <a:xfrm>
            <a:off x="5364516" y="9350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5364516" y="12728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5351936" y="19257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39" name="Image 38"/>
          <p:cNvPicPr>
            <a:picLocks noChangeAspect="1"/>
          </p:cNvPicPr>
          <p:nvPr/>
        </p:nvPicPr>
        <p:blipFill rotWithShape="1">
          <a:blip r:embed="rId2">
            <a:clrChange>
              <a:clrFrom>
                <a:srgbClr val="DDE8CE"/>
              </a:clrFrom>
              <a:clrTo>
                <a:srgbClr val="DDE8CE">
                  <a:alpha val="0"/>
                </a:srgbClr>
              </a:clrTo>
            </a:clrChange>
          </a:blip>
          <a:srcRect l="22306" t="14850" b="1"/>
          <a:stretch/>
        </p:blipFill>
        <p:spPr>
          <a:xfrm>
            <a:off x="6140449" y="1941153"/>
            <a:ext cx="161461" cy="169581"/>
          </a:xfrm>
          <a:prstGeom prst="rect">
            <a:avLst/>
          </a:prstGeom>
        </p:spPr>
      </p:pic>
      <p:pic>
        <p:nvPicPr>
          <p:cNvPr id="9" name="Image 8"/>
          <p:cNvPicPr>
            <a:picLocks noChangeAspect="1"/>
          </p:cNvPicPr>
          <p:nvPr/>
        </p:nvPicPr>
        <p:blipFill>
          <a:blip r:embed="rId3"/>
          <a:stretch>
            <a:fillRect/>
          </a:stretch>
        </p:blipFill>
        <p:spPr>
          <a:xfrm>
            <a:off x="589058" y="994686"/>
            <a:ext cx="3676938" cy="2484928"/>
          </a:xfrm>
          <a:prstGeom prst="rect">
            <a:avLst/>
          </a:prstGeom>
          <a:ln>
            <a:solidFill>
              <a:schemeClr val="tx1"/>
            </a:solidFill>
          </a:ln>
          <a:effectLst>
            <a:outerShdw blurRad="50800" dist="38100" dir="2700000" algn="tl" rotWithShape="0">
              <a:prstClr val="black">
                <a:alpha val="40000"/>
              </a:prstClr>
            </a:outerShdw>
          </a:effectLst>
        </p:spPr>
      </p:pic>
      <p:sp>
        <p:nvSpPr>
          <p:cNvPr id="13" name="Rectangle 12"/>
          <p:cNvSpPr/>
          <p:nvPr/>
        </p:nvSpPr>
        <p:spPr>
          <a:xfrm>
            <a:off x="615831" y="1210235"/>
            <a:ext cx="173063" cy="1704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2051529" y="1618531"/>
            <a:ext cx="279295"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2064281" y="1750709"/>
            <a:ext cx="1763648"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351936" y="22898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2" name="Ellipse 21"/>
          <p:cNvSpPr/>
          <p:nvPr/>
        </p:nvSpPr>
        <p:spPr>
          <a:xfrm>
            <a:off x="3844455" y="172469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3" name="Ellipse 22"/>
          <p:cNvSpPr/>
          <p:nvPr/>
        </p:nvSpPr>
        <p:spPr>
          <a:xfrm>
            <a:off x="2420594" y="158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4" name="Ellipse 23"/>
          <p:cNvSpPr/>
          <p:nvPr/>
        </p:nvSpPr>
        <p:spPr>
          <a:xfrm>
            <a:off x="860734" y="12284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25" name="Connecteur en angle 24"/>
          <p:cNvCxnSpPr>
            <a:stCxn id="13" idx="1"/>
          </p:cNvCxnSpPr>
          <p:nvPr/>
        </p:nvCxnSpPr>
        <p:spPr>
          <a:xfrm rot="10800000" flipH="1" flipV="1">
            <a:off x="615831" y="1295455"/>
            <a:ext cx="2064616" cy="2341136"/>
          </a:xfrm>
          <a:prstGeom prst="bentConnector3">
            <a:avLst>
              <a:gd name="adj1" fmla="val -1107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8" name="Image 7"/>
          <p:cNvPicPr>
            <a:picLocks noChangeAspect="1"/>
          </p:cNvPicPr>
          <p:nvPr/>
        </p:nvPicPr>
        <p:blipFill>
          <a:blip r:embed="rId4"/>
          <a:stretch>
            <a:fillRect/>
          </a:stretch>
        </p:blipFill>
        <p:spPr>
          <a:xfrm>
            <a:off x="2680447" y="2630668"/>
            <a:ext cx="3096578" cy="1819762"/>
          </a:xfrm>
          <a:prstGeom prst="rect">
            <a:avLst/>
          </a:prstGeom>
          <a:ln>
            <a:solidFill>
              <a:schemeClr val="tx1"/>
            </a:solidFill>
          </a:ln>
          <a:effectLst>
            <a:outerShdw blurRad="50800" dist="38100" dir="2700000" algn="tl" rotWithShape="0">
              <a:prstClr val="black">
                <a:alpha val="40000"/>
              </a:prstClr>
            </a:outerShdw>
          </a:effectLst>
        </p:spPr>
      </p:pic>
      <p:sp>
        <p:nvSpPr>
          <p:cNvPr id="21" name="Ellipse 20"/>
          <p:cNvSpPr/>
          <p:nvPr/>
        </p:nvSpPr>
        <p:spPr>
          <a:xfrm>
            <a:off x="4805879" y="31029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3" name="Rectangle 2"/>
          <p:cNvSpPr/>
          <p:nvPr/>
        </p:nvSpPr>
        <p:spPr>
          <a:xfrm>
            <a:off x="5364516" y="3561347"/>
            <a:ext cx="354495" cy="601579"/>
          </a:xfrm>
          <a:prstGeom prst="rect">
            <a:avLst/>
          </a:prstGeom>
          <a:no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cxnSp>
        <p:nvCxnSpPr>
          <p:cNvPr id="11" name="Connecteur droit avec flèche 10"/>
          <p:cNvCxnSpPr/>
          <p:nvPr/>
        </p:nvCxnSpPr>
        <p:spPr>
          <a:xfrm>
            <a:off x="5719011" y="3866147"/>
            <a:ext cx="421438" cy="0"/>
          </a:xfrm>
          <a:prstGeom prst="straightConnector1">
            <a:avLst/>
          </a:prstGeom>
          <a:ln w="12700">
            <a:solidFill>
              <a:srgbClr val="0070C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6" name="ZoneTexte 25"/>
          <p:cNvSpPr txBox="1"/>
          <p:nvPr/>
        </p:nvSpPr>
        <p:spPr>
          <a:xfrm>
            <a:off x="6131520" y="3344722"/>
            <a:ext cx="2165926" cy="964891"/>
          </a:xfrm>
          <a:prstGeom prst="rect">
            <a:avLst/>
          </a:prstGeom>
          <a:noFill/>
        </p:spPr>
        <p:txBody>
          <a:bodyPr wrap="square" rtlCol="0">
            <a:spAutoFit/>
          </a:bodyPr>
          <a:lstStyle/>
          <a:p>
            <a:r>
              <a:rPr lang="fr-FR" sz="1100" dirty="0" smtClean="0">
                <a:solidFill>
                  <a:srgbClr val="4D4F53"/>
                </a:solidFill>
              </a:rPr>
              <a:t>Ce champ correspond au pourcentage de différence entre la note obtenue par le fournisseur et la note moyenne pour le panel interrogé</a:t>
            </a:r>
            <a:endParaRPr lang="fr-FR" sz="1100" dirty="0">
              <a:solidFill>
                <a:srgbClr val="4D4F53"/>
              </a:solidFill>
            </a:endParaRPr>
          </a:p>
        </p:txBody>
      </p:sp>
    </p:spTree>
    <p:extLst>
      <p:ext uri="{BB962C8B-B14F-4D97-AF65-F5344CB8AC3E}">
        <p14:creationId xmlns:p14="http://schemas.microsoft.com/office/powerpoint/2010/main" val="2226117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a:t>
            </a:r>
            <a:r>
              <a:rPr lang="fr-FR" altLang="en-US" sz="2400" dirty="0" smtClean="0"/>
              <a:t>opératoire</a:t>
            </a:r>
            <a:br>
              <a:rPr lang="fr-FR" altLang="en-US" sz="2400" dirty="0" smtClean="0"/>
            </a:br>
            <a:r>
              <a:rPr lang="fr-FR" altLang="en-US" dirty="0" smtClean="0"/>
              <a:t>ME6C </a:t>
            </a:r>
            <a:r>
              <a:rPr lang="fr-FR" altLang="en-US" dirty="0"/>
              <a:t>– </a:t>
            </a:r>
            <a:r>
              <a:rPr lang="fr-FR" altLang="en-US" dirty="0" smtClean="0"/>
              <a:t>Lister les Fournisseurs non évalués</a:t>
            </a:r>
            <a:endParaRPr lang="en-US" dirty="0"/>
          </a:p>
        </p:txBody>
      </p:sp>
      <p:pic>
        <p:nvPicPr>
          <p:cNvPr id="8" name="Image 7"/>
          <p:cNvPicPr>
            <a:picLocks noChangeAspect="1"/>
          </p:cNvPicPr>
          <p:nvPr/>
        </p:nvPicPr>
        <p:blipFill>
          <a:blip r:embed="rId2"/>
          <a:stretch>
            <a:fillRect/>
          </a:stretch>
        </p:blipFill>
        <p:spPr>
          <a:xfrm>
            <a:off x="633761" y="1089593"/>
            <a:ext cx="3376196" cy="1175332"/>
          </a:xfrm>
          <a:prstGeom prst="rect">
            <a:avLst/>
          </a:prstGeom>
          <a:ln>
            <a:solidFill>
              <a:schemeClr val="tx1"/>
            </a:solidFill>
          </a:ln>
          <a:effectLst>
            <a:outerShdw blurRad="50800" dist="38100" dir="2700000" algn="tl" rotWithShape="0">
              <a:prstClr val="black">
                <a:alpha val="40000"/>
              </a:prstClr>
            </a:outerShdw>
          </a:effectLst>
        </p:spPr>
      </p:pic>
      <p:pic>
        <p:nvPicPr>
          <p:cNvPr id="11" name="Image 10"/>
          <p:cNvPicPr>
            <a:picLocks noChangeAspect="1"/>
          </p:cNvPicPr>
          <p:nvPr/>
        </p:nvPicPr>
        <p:blipFill>
          <a:blip r:embed="rId3"/>
          <a:stretch>
            <a:fillRect/>
          </a:stretch>
        </p:blipFill>
        <p:spPr>
          <a:xfrm>
            <a:off x="1027579" y="2524074"/>
            <a:ext cx="3678892" cy="1475918"/>
          </a:xfrm>
          <a:prstGeom prst="rect">
            <a:avLst/>
          </a:prstGeom>
          <a:ln>
            <a:solidFill>
              <a:schemeClr val="tx1"/>
            </a:solidFill>
          </a:ln>
          <a:effectLst>
            <a:outerShdw blurRad="50800" dist="38100" dir="2700000" algn="tl" rotWithShape="0">
              <a:prstClr val="black">
                <a:alpha val="40000"/>
              </a:prstClr>
            </a:outerShdw>
          </a:effectLst>
        </p:spPr>
      </p:pic>
      <p:sp>
        <p:nvSpPr>
          <p:cNvPr id="14" name="Rectangle 13"/>
          <p:cNvSpPr/>
          <p:nvPr/>
        </p:nvSpPr>
        <p:spPr>
          <a:xfrm>
            <a:off x="1961881" y="1634943"/>
            <a:ext cx="1606072"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1979811" y="1762138"/>
            <a:ext cx="252401" cy="1012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Rectangle 15"/>
          <p:cNvSpPr/>
          <p:nvPr/>
        </p:nvSpPr>
        <p:spPr>
          <a:xfrm>
            <a:off x="642726" y="1272990"/>
            <a:ext cx="173063" cy="1704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7" name="Ellipse 16"/>
          <p:cNvSpPr/>
          <p:nvPr/>
        </p:nvSpPr>
        <p:spPr>
          <a:xfrm>
            <a:off x="1703147" y="15652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8" name="Ellipse 17"/>
          <p:cNvSpPr/>
          <p:nvPr/>
        </p:nvSpPr>
        <p:spPr>
          <a:xfrm>
            <a:off x="1703147" y="17570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9" name="Ellipse 18"/>
          <p:cNvSpPr/>
          <p:nvPr/>
        </p:nvSpPr>
        <p:spPr>
          <a:xfrm>
            <a:off x="871443" y="12438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 name="ZoneTexte 3"/>
          <p:cNvSpPr txBox="1"/>
          <p:nvPr/>
        </p:nvSpPr>
        <p:spPr>
          <a:xfrm>
            <a:off x="5100394" y="1111896"/>
            <a:ext cx="3815006" cy="2123658"/>
          </a:xfrm>
          <a:prstGeom prst="rect">
            <a:avLst/>
          </a:prstGeom>
          <a:noFill/>
        </p:spPr>
        <p:txBody>
          <a:bodyPr wrap="square" rtlCol="0">
            <a:spAutoFit/>
          </a:bodyPr>
          <a:lstStyle/>
          <a:p>
            <a:r>
              <a:rPr lang="fr-FR" sz="1100" dirty="0" smtClean="0">
                <a:solidFill>
                  <a:srgbClr val="4D4F53"/>
                </a:solidFill>
              </a:rPr>
              <a:t>Saisir les fournisseurs que l’on souhaite </a:t>
            </a:r>
            <a:r>
              <a:rPr lang="fr-FR" sz="1100" dirty="0">
                <a:solidFill>
                  <a:srgbClr val="4D4F53"/>
                </a:solidFill>
              </a:rPr>
              <a:t>inspecter.</a:t>
            </a:r>
            <a:br>
              <a:rPr lang="fr-FR" sz="1100" dirty="0">
                <a:solidFill>
                  <a:srgbClr val="4D4F53"/>
                </a:solidFill>
              </a:rPr>
            </a:br>
            <a:r>
              <a:rPr lang="fr-FR" sz="1100" dirty="0">
                <a:solidFill>
                  <a:srgbClr val="4D4F53"/>
                </a:solidFill>
              </a:rPr>
              <a:t>Si l’on veut comparer tous les fournisseurs pour l’Organisation d’Achats, saisir la valeur </a:t>
            </a:r>
            <a:r>
              <a:rPr lang="fr-FR" sz="1100" dirty="0" smtClean="0">
                <a:solidFill>
                  <a:srgbClr val="4D4F53"/>
                </a:solidFill>
              </a:rPr>
              <a:t>*</a:t>
            </a:r>
          </a:p>
          <a:p>
            <a:endParaRPr lang="fr-FR" sz="1100" dirty="0">
              <a:solidFill>
                <a:srgbClr val="4D4F53"/>
              </a:solidFill>
            </a:endParaRPr>
          </a:p>
          <a:p>
            <a:r>
              <a:rPr lang="fr-FR" sz="1100" dirty="0">
                <a:solidFill>
                  <a:srgbClr val="4D4F53"/>
                </a:solidFill>
              </a:rPr>
              <a:t>Saisir l’organisation </a:t>
            </a:r>
            <a:r>
              <a:rPr lang="fr-FR" sz="1100" dirty="0" smtClean="0">
                <a:solidFill>
                  <a:srgbClr val="4D4F53"/>
                </a:solidFill>
              </a:rPr>
              <a:t>d’achats</a:t>
            </a:r>
          </a:p>
          <a:p>
            <a:endParaRPr lang="fr-FR" sz="1100" dirty="0">
              <a:solidFill>
                <a:srgbClr val="4D4F53"/>
              </a:solidFill>
            </a:endParaRPr>
          </a:p>
          <a:p>
            <a:r>
              <a:rPr lang="fr-FR" sz="1100" dirty="0" smtClean="0">
                <a:solidFill>
                  <a:srgbClr val="4D4F53"/>
                </a:solidFill>
              </a:rPr>
              <a:t>Exécuter</a:t>
            </a:r>
          </a:p>
          <a:p>
            <a:endParaRPr lang="fr-FR" sz="1100" dirty="0" smtClean="0">
              <a:solidFill>
                <a:srgbClr val="4D4F53"/>
              </a:solidFill>
            </a:endParaRPr>
          </a:p>
          <a:p>
            <a:r>
              <a:rPr lang="fr-FR" sz="1100" dirty="0" smtClean="0">
                <a:solidFill>
                  <a:srgbClr val="4D4F53"/>
                </a:solidFill>
              </a:rPr>
              <a:t>La liste des fournisseurs non évalués parmi la sélection choisie précédemment apparaît.</a:t>
            </a:r>
          </a:p>
          <a:p>
            <a:r>
              <a:rPr lang="fr-FR" sz="1100" dirty="0" smtClean="0">
                <a:solidFill>
                  <a:srgbClr val="4D4F53"/>
                </a:solidFill>
              </a:rPr>
              <a:t>Il est possible de cliquer sur « Evaluer fournisseur » pour passer à l’évaluation</a:t>
            </a:r>
            <a:endParaRPr lang="fr-FR" sz="1100" dirty="0">
              <a:solidFill>
                <a:srgbClr val="4D4F53"/>
              </a:solidFill>
            </a:endParaRPr>
          </a:p>
        </p:txBody>
      </p:sp>
      <p:sp>
        <p:nvSpPr>
          <p:cNvPr id="5" name="Ellipse 4"/>
          <p:cNvSpPr/>
          <p:nvPr/>
        </p:nvSpPr>
        <p:spPr>
          <a:xfrm>
            <a:off x="4944259" y="11665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4944259" y="18411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4946637" y="21597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0" name="Ellipse 19"/>
          <p:cNvSpPr/>
          <p:nvPr/>
        </p:nvSpPr>
        <p:spPr>
          <a:xfrm>
            <a:off x="4942901" y="249567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cxnSp>
        <p:nvCxnSpPr>
          <p:cNvPr id="22" name="Connecteur en angle 21"/>
          <p:cNvCxnSpPr>
            <a:stCxn id="16" idx="1"/>
            <a:endCxn id="11" idx="1"/>
          </p:cNvCxnSpPr>
          <p:nvPr/>
        </p:nvCxnSpPr>
        <p:spPr>
          <a:xfrm rot="10800000" flipH="1" flipV="1">
            <a:off x="642725" y="1358209"/>
            <a:ext cx="384853" cy="1903823"/>
          </a:xfrm>
          <a:prstGeom prst="bentConnector3">
            <a:avLst>
              <a:gd name="adj1" fmla="val -59399"/>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1" name="Image 20"/>
          <p:cNvPicPr>
            <a:picLocks noChangeAspect="1"/>
          </p:cNvPicPr>
          <p:nvPr/>
        </p:nvPicPr>
        <p:blipFill rotWithShape="1">
          <a:blip r:embed="rId4">
            <a:clrChange>
              <a:clrFrom>
                <a:srgbClr val="DDE8CE"/>
              </a:clrFrom>
              <a:clrTo>
                <a:srgbClr val="DDE8CE">
                  <a:alpha val="0"/>
                </a:srgbClr>
              </a:clrTo>
            </a:clrChange>
          </a:blip>
          <a:srcRect l="22306" t="14850" b="1"/>
          <a:stretch/>
        </p:blipFill>
        <p:spPr>
          <a:xfrm>
            <a:off x="5725426" y="2180663"/>
            <a:ext cx="161461" cy="169581"/>
          </a:xfrm>
          <a:prstGeom prst="rect">
            <a:avLst/>
          </a:prstGeom>
        </p:spPr>
      </p:pic>
      <p:sp>
        <p:nvSpPr>
          <p:cNvPr id="23" name="Ellipse 22"/>
          <p:cNvSpPr/>
          <p:nvPr/>
        </p:nvSpPr>
        <p:spPr>
          <a:xfrm>
            <a:off x="2027943" y="27710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4" name="Rectangle 23"/>
          <p:cNvSpPr/>
          <p:nvPr/>
        </p:nvSpPr>
        <p:spPr>
          <a:xfrm>
            <a:off x="1274153" y="2784331"/>
            <a:ext cx="710588" cy="15476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6179504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927004" y="1103018"/>
            <a:ext cx="2201466" cy="527934"/>
          </a:xfrm>
          <a:prstGeom prst="rect">
            <a:avLst/>
          </a:prstGeom>
          <a:noFill/>
          <a:ln w="12700" algn="ctr">
            <a:noFill/>
            <a:miter lim="800000"/>
            <a:headEnd/>
            <a:tailEnd/>
          </a:ln>
        </p:spPr>
        <p:txBody>
          <a:bodyPr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Effectuer les étapes de l’évaluation fournisseur</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597956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447219"/>
          </a:xfrm>
        </p:spPr>
        <p:txBody>
          <a:bodyPr/>
          <a:lstStyle/>
          <a:p>
            <a:pPr lvl="0"/>
            <a:endParaRPr lang="fr-FR" dirty="0"/>
          </a:p>
          <a:p>
            <a:pPr>
              <a:buFont typeface="Arial" charset="0"/>
              <a:buChar char="•"/>
              <a:defRPr/>
            </a:pPr>
            <a:r>
              <a:rPr lang="fr-FR" dirty="0" smtClean="0">
                <a:ea typeface="ＭＳ Ｐゴシック" pitchFamily="-65" charset="-128"/>
              </a:rPr>
              <a:t>Les évaluations fournisseurs sont effectuées par les acheteurs et sont dépendantes des organisations d’achats.</a:t>
            </a:r>
          </a:p>
          <a:p>
            <a:pPr>
              <a:buFont typeface="Arial" charset="0"/>
              <a:buChar char="•"/>
              <a:defRPr/>
            </a:pPr>
            <a:r>
              <a:rPr lang="fr-FR" dirty="0" smtClean="0">
                <a:ea typeface="ＭＳ Ｐゴシック" pitchFamily="-65" charset="-128"/>
              </a:rPr>
              <a:t>Cinq critères principaux sont utilisés par la CBG pour effectuer l’évaluation des fournisseurs.</a:t>
            </a:r>
          </a:p>
          <a:p>
            <a:pPr>
              <a:buFont typeface="Arial" charset="0"/>
              <a:buChar char="•"/>
              <a:defRPr/>
            </a:pPr>
            <a:r>
              <a:rPr lang="fr-FR" dirty="0"/>
              <a:t>Les évaluations fournisseurs donnent la possibilité de classer les fournisseurs pour effectuer le palmarès des fournisseurs</a:t>
            </a:r>
            <a:r>
              <a:rPr lang="fr-FR" dirty="0" smtClean="0"/>
              <a:t>. Les fournisseurs ayant des évaluations trop basses peuvent être </a:t>
            </a:r>
            <a:r>
              <a:rPr lang="fr-FR" dirty="0" err="1" smtClean="0"/>
              <a:t>blacklistés</a:t>
            </a:r>
            <a:r>
              <a:rPr lang="fr-FR" dirty="0" smtClean="0"/>
              <a:t> (bloqués).</a:t>
            </a:r>
          </a:p>
          <a:p>
            <a:pPr>
              <a:buFont typeface="Arial" charset="0"/>
              <a:buChar char="•"/>
              <a:defRPr/>
            </a:pPr>
            <a:r>
              <a:rPr lang="fr-FR" dirty="0" smtClean="0"/>
              <a:t>Une évaluation régulière des fournisseurs doit être effectuée.</a:t>
            </a:r>
            <a:endParaRPr lang="en-US" dirty="0"/>
          </a:p>
          <a:p>
            <a:pPr>
              <a:buFont typeface="Arial" charset="0"/>
              <a:buChar char="•"/>
              <a:defRPr/>
            </a:pPr>
            <a:endParaRPr lang="fr-FR" dirty="0" smtClean="0">
              <a:ea typeface="ＭＳ Ｐゴシック" pitchFamily="-65" charset="-128"/>
            </a:endParaRPr>
          </a:p>
          <a:p>
            <a:pPr>
              <a:buFont typeface="Arial" charset="0"/>
              <a:buChar char="•"/>
              <a:defRPr/>
            </a:pPr>
            <a:endParaRPr lang="fr-FR" dirty="0">
              <a:ea typeface="ＭＳ Ｐゴシック" pitchFamily="-65" charset="-128"/>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0070C0"/>
          </a:solidFill>
          <a:headEnd type="none" w="med" len="med"/>
          <a:tailEnd type="triangl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VHEKTECQ7ECW-1532981086-4383</_dlc_DocId>
    <_dlc_DocIdUrl xmlns="f36dd47d-0b23-43fd-9b2d-c5346ffa1660">
      <Url>http://extranet.cbg-guinee.com/erp/_layouts/15/DocIdRedir.aspx?ID=VHEKTECQ7ECW-1532981086-4383</Url>
      <Description>VHEKTECQ7ECW-1532981086-4383</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1B1AE0-5505-4FBE-8CDB-C7AE2F93457F}"/>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A4D001E5-C44D-4E30-B38F-BA9DD177AEF8}"/>
</file>

<file path=docProps/app.xml><?xml version="1.0" encoding="utf-8"?>
<Properties xmlns="http://schemas.openxmlformats.org/officeDocument/2006/extended-properties" xmlns:vt="http://schemas.openxmlformats.org/officeDocument/2006/docPropsVTypes">
  <Template/>
  <TotalTime>0</TotalTime>
  <Words>707</Words>
  <Application>Microsoft Office PowerPoint</Application>
  <PresentationFormat>Affichage à l'écran (16:9)</PresentationFormat>
  <Paragraphs>160</Paragraphs>
  <Slides>19</Slides>
  <Notes>9</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Evaluation fournisseur</vt:lpstr>
      <vt:lpstr>Description du processus métier Un sous processus de la gestion de la relation fournisseur</vt:lpstr>
      <vt:lpstr>Description du processus métier Critères de notation et pondération définis pour la CBG</vt:lpstr>
      <vt:lpstr>Présentation PowerPoint</vt:lpstr>
      <vt:lpstr>Mode opératoire Présentation du menu de transaction SAP pour les évaluations fournisseurs</vt:lpstr>
      <vt:lpstr>Mode opératoire Présentation du mode opératoire dans SAP  </vt:lpstr>
      <vt:lpstr>Description des objets SAP</vt:lpstr>
      <vt:lpstr>Mode opératoire ME61 – Gérer les évaluations fournisseurs</vt:lpstr>
      <vt:lpstr>Mode opératoire ME65 – Afficher le Palmarès Fournisseurs</vt:lpstr>
      <vt:lpstr>Mode opératoire ME6C – Lister les Fournisseurs non évalués</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3947</cp:revision>
  <cp:lastPrinted>2015-04-23T03:57:16Z</cp:lastPrinted>
  <dcterms:created xsi:type="dcterms:W3CDTF">2012-05-17T14:14:37Z</dcterms:created>
  <dcterms:modified xsi:type="dcterms:W3CDTF">2015-12-21T15:12:52Z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6f523c33-44ca-4b70-a52a-54753b5687fe</vt:lpwstr>
  </property>
</Properties>
</file>