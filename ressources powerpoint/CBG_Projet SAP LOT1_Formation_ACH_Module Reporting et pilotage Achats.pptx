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s/slide2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3.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7"/>
  </p:notesMasterIdLst>
  <p:handoutMasterIdLst>
    <p:handoutMasterId r:id="rId28"/>
  </p:handoutMasterIdLst>
  <p:sldIdLst>
    <p:sldId id="685" r:id="rId5"/>
    <p:sldId id="686" r:id="rId6"/>
    <p:sldId id="687" r:id="rId7"/>
    <p:sldId id="723" r:id="rId8"/>
    <p:sldId id="691" r:id="rId9"/>
    <p:sldId id="692" r:id="rId10"/>
    <p:sldId id="724" r:id="rId11"/>
    <p:sldId id="783" r:id="rId12"/>
    <p:sldId id="696" r:id="rId13"/>
    <p:sldId id="795" r:id="rId14"/>
    <p:sldId id="784" r:id="rId15"/>
    <p:sldId id="785" r:id="rId16"/>
    <p:sldId id="786" r:id="rId17"/>
    <p:sldId id="791" r:id="rId18"/>
    <p:sldId id="792" r:id="rId19"/>
    <p:sldId id="787" r:id="rId20"/>
    <p:sldId id="788" r:id="rId21"/>
    <p:sldId id="790" r:id="rId22"/>
    <p:sldId id="794" r:id="rId23"/>
    <p:sldId id="725" r:id="rId24"/>
    <p:sldId id="710" r:id="rId25"/>
    <p:sldId id="728" r:id="rId26"/>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CCECFF"/>
    <a:srgbClr val="D3D5FF"/>
    <a:srgbClr val="A7ABFF"/>
    <a:srgbClr val="C5C8FF"/>
    <a:srgbClr val="004376"/>
    <a:srgbClr val="F3F4FF"/>
    <a:srgbClr val="E7E8FF"/>
    <a:srgbClr val="4C9BD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87411" autoAdjust="0"/>
  </p:normalViewPr>
  <p:slideViewPr>
    <p:cSldViewPr snapToGrid="0" snapToObjects="1">
      <p:cViewPr varScale="1">
        <p:scale>
          <a:sx n="119" d="100"/>
          <a:sy n="119" d="100"/>
        </p:scale>
        <p:origin x="516" y="96"/>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7</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20</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 Reporting </a:t>
            </a:r>
            <a:r>
              <a:rPr lang="fr-FR" sz="2000" b="1" dirty="0" smtClean="0">
                <a:solidFill>
                  <a:srgbClr val="0070C0"/>
                </a:solidFill>
                <a:latin typeface="Arial" charset="0"/>
                <a:cs typeface="Arial" charset="0"/>
              </a:rPr>
              <a:t>et pilotage Achats</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utiliser les principales transactions de reporting pour objets liés aux processus Achats (Fournisseurs, RFQ, Demandes d’Achats, Commandes d’Achats, Contrats, Evaluations Fournisseurs, Stocks, Lots)</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Transactions de reporting sur les Fournisseurs</a:t>
            </a: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RFQ</a:t>
            </a:r>
            <a:endParaRPr lang="fr-FR"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Demandes d’Achats</a:t>
            </a:r>
            <a:endParaRPr lang="fr-FR"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Commandes d’Achats</a:t>
            </a:r>
            <a:endParaRPr lang="fr-FR"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Contrats</a:t>
            </a:r>
            <a:endParaRPr lang="fr-FR"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Evaluations Fournisseurs</a:t>
            </a:r>
            <a:endParaRPr lang="fr-FR"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Transactions de reporting sur les </a:t>
            </a:r>
            <a:r>
              <a:rPr lang="fr-FR" sz="900" dirty="0" smtClean="0">
                <a:solidFill>
                  <a:schemeClr val="tx1"/>
                </a:solidFill>
                <a:latin typeface="Arial" pitchFamily="34" charset="0"/>
                <a:cs typeface="Arial" pitchFamily="34" charset="0"/>
              </a:rPr>
              <a:t>Stocks et Lots</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Heures</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Demandeurs</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SAP offre de nombreuses possibilités afin de réaliser le suivi des principaux objets liés aux processus d’Achats :</a:t>
            </a:r>
          </a:p>
          <a:p>
            <a:pPr marL="322971" lvl="1" indent="-171450">
              <a:buClr>
                <a:srgbClr val="0070C0"/>
              </a:buClr>
              <a:buSzPct val="100000"/>
              <a:buFont typeface="Wingdings" panose="05000000000000000000" pitchFamily="2" charset="2"/>
              <a:buChar char="§"/>
            </a:pPr>
            <a:r>
              <a:rPr lang="fr-FR" dirty="0" smtClean="0"/>
              <a:t>Demandes d’Offres</a:t>
            </a:r>
          </a:p>
          <a:p>
            <a:pPr marL="322971" lvl="1" indent="-171450">
              <a:buClr>
                <a:srgbClr val="0070C0"/>
              </a:buClr>
              <a:buSzPct val="100000"/>
              <a:buFont typeface="Wingdings" panose="05000000000000000000" pitchFamily="2" charset="2"/>
              <a:buChar char="§"/>
            </a:pPr>
            <a:r>
              <a:rPr lang="fr-FR" dirty="0" smtClean="0"/>
              <a:t>Demandes d’Achats</a:t>
            </a:r>
          </a:p>
          <a:p>
            <a:pPr marL="322971" lvl="1" indent="-171450">
              <a:buClr>
                <a:srgbClr val="0070C0"/>
              </a:buClr>
              <a:buSzPct val="100000"/>
              <a:buFont typeface="Wingdings" panose="05000000000000000000" pitchFamily="2" charset="2"/>
              <a:buChar char="§"/>
            </a:pPr>
            <a:r>
              <a:rPr lang="fr-FR" dirty="0" smtClean="0"/>
              <a:t>Commandes d’Achats</a:t>
            </a:r>
          </a:p>
          <a:p>
            <a:pPr marL="322971" lvl="1" indent="-171450">
              <a:buClr>
                <a:srgbClr val="0070C0"/>
              </a:buClr>
              <a:buSzPct val="100000"/>
              <a:buFont typeface="Wingdings" panose="05000000000000000000" pitchFamily="2" charset="2"/>
              <a:buChar char="§"/>
            </a:pPr>
            <a:r>
              <a:rPr lang="fr-FR" dirty="0" smtClean="0"/>
              <a:t>Contrats</a:t>
            </a:r>
          </a:p>
          <a:p>
            <a:pPr marL="322971" lvl="1" indent="-171450">
              <a:buClr>
                <a:srgbClr val="0070C0"/>
              </a:buClr>
              <a:buSzPct val="100000"/>
              <a:buFont typeface="Wingdings" panose="05000000000000000000" pitchFamily="2" charset="2"/>
              <a:buChar char="§"/>
            </a:pPr>
            <a:r>
              <a:rPr lang="fr-FR" dirty="0" smtClean="0"/>
              <a:t>Evaluations fournisseurs</a:t>
            </a:r>
          </a:p>
          <a:p>
            <a:r>
              <a:rPr lang="fr-FR" dirty="0" smtClean="0"/>
              <a:t>Ces transactions sont également étendues aux autres modules. Parmi celles-ci, les Achats pourront utiliser :</a:t>
            </a:r>
          </a:p>
          <a:p>
            <a:pPr marL="322971" lvl="1" indent="-171450">
              <a:buClr>
                <a:srgbClr val="0070C0"/>
              </a:buClr>
              <a:buSzPct val="100000"/>
              <a:buFont typeface="Wingdings" panose="05000000000000000000" pitchFamily="2" charset="2"/>
              <a:buChar char="§"/>
            </a:pPr>
            <a:r>
              <a:rPr lang="fr-FR" dirty="0"/>
              <a:t>Suivi des Stocks</a:t>
            </a:r>
          </a:p>
          <a:p>
            <a:pPr marL="322971" lvl="1" indent="-171450">
              <a:buClr>
                <a:srgbClr val="0070C0"/>
              </a:buClr>
              <a:buSzPct val="100000"/>
              <a:buFont typeface="Wingdings" panose="05000000000000000000" pitchFamily="2" charset="2"/>
              <a:buChar char="§"/>
            </a:pPr>
            <a:r>
              <a:rPr lang="fr-FR" dirty="0"/>
              <a:t>Suivi des Lots</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Evaluation fournisseur</a:t>
            </a:r>
            <a:endParaRPr lang="en-US" altLang="en-US" dirty="0" smtClean="0"/>
          </a:p>
        </p:txBody>
      </p:sp>
      <p:sp>
        <p:nvSpPr>
          <p:cNvPr id="28678" name="AutoShape 6"/>
          <p:cNvSpPr>
            <a:spLocks noChangeArrowheads="1"/>
          </p:cNvSpPr>
          <p:nvPr/>
        </p:nvSpPr>
        <p:spPr bwMode="auto">
          <a:xfrm>
            <a:off x="1613861" y="1314467"/>
            <a:ext cx="1570434" cy="656973"/>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utiliser une transaction de reporting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smtClean="0">
                <a:solidFill>
                  <a:schemeClr val="bg1"/>
                </a:solidFill>
                <a:cs typeface="Arial" panose="020B0604020202020204" pitchFamily="34" charset="0"/>
              </a:rPr>
              <a:t>Que trouve t-on dans ces transactions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219388"/>
            <a:ext cx="2166938" cy="835746"/>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Toute personne y étant autorisée et ayant besoin de retrouver / analyser un objet de processus Achats</a:t>
            </a:r>
          </a:p>
        </p:txBody>
      </p:sp>
      <p:sp>
        <p:nvSpPr>
          <p:cNvPr id="28681" name="AutoShape 12"/>
          <p:cNvSpPr>
            <a:spLocks noChangeArrowheads="1"/>
          </p:cNvSpPr>
          <p:nvPr/>
        </p:nvSpPr>
        <p:spPr bwMode="auto">
          <a:xfrm>
            <a:off x="5011609" y="1394480"/>
            <a:ext cx="2701669" cy="478201"/>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fois que je souhaite interroger le système pour retrouver un objet</a:t>
            </a:r>
            <a:endParaRPr lang="fr-FR" altLang="en-US" sz="1050" dirty="0"/>
          </a:p>
        </p:txBody>
      </p:sp>
      <p:sp>
        <p:nvSpPr>
          <p:cNvPr id="28682" name="AutoShape 6"/>
          <p:cNvSpPr>
            <a:spLocks noChangeArrowheads="1"/>
          </p:cNvSpPr>
          <p:nvPr/>
        </p:nvSpPr>
        <p:spPr bwMode="auto">
          <a:xfrm>
            <a:off x="1231921" y="2382891"/>
            <a:ext cx="1666915" cy="478201"/>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a:t>
            </a:r>
            <a:r>
              <a:rPr lang="fr-FR" altLang="en-US" sz="1050" dirty="0" smtClean="0">
                <a:solidFill>
                  <a:schemeClr val="bg1"/>
                </a:solidFill>
                <a:cs typeface="Arial" panose="020B0604020202020204" pitchFamily="34" charset="0"/>
              </a:rPr>
              <a:t>utilise ces transactions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3460226"/>
            <a:ext cx="3281294" cy="506578"/>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Une liste des objets correspondant à la requête</a:t>
            </a:r>
          </a:p>
          <a:p>
            <a:pPr eaLnBrk="1" hangingPunct="1">
              <a:spcBef>
                <a:spcPts val="225"/>
              </a:spcBef>
              <a:buFont typeface="Arial" panose="020B0604020202020204" pitchFamily="34" charset="0"/>
              <a:buChar char="•"/>
            </a:pPr>
            <a:r>
              <a:rPr lang="fr-FR" altLang="en-US" sz="1050" dirty="0" smtClean="0">
                <a:solidFill>
                  <a:schemeClr val="bg1"/>
                </a:solidFill>
              </a:rPr>
              <a:t>Les principaux détails de ces objets</a:t>
            </a: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Transaction d’accès à l’ensemble du reporting SAP</a:t>
            </a:r>
            <a:endParaRPr lang="en-US" altLang="en-US" dirty="0" smtClean="0"/>
          </a:p>
        </p:txBody>
      </p:sp>
      <p:pic>
        <p:nvPicPr>
          <p:cNvPr id="2" name="Image 1"/>
          <p:cNvPicPr>
            <a:picLocks noChangeAspect="1"/>
          </p:cNvPicPr>
          <p:nvPr/>
        </p:nvPicPr>
        <p:blipFill>
          <a:blip r:embed="rId2"/>
          <a:stretch>
            <a:fillRect/>
          </a:stretch>
        </p:blipFill>
        <p:spPr>
          <a:xfrm>
            <a:off x="5156576" y="1239865"/>
            <a:ext cx="3238038" cy="3022168"/>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1075599" y="2211060"/>
            <a:ext cx="2574254" cy="1079778"/>
          </a:xfrm>
          <a:prstGeom prst="rect">
            <a:avLst/>
          </a:prstGeom>
          <a:ln>
            <a:solidFill>
              <a:schemeClr val="tx1"/>
            </a:solidFill>
          </a:ln>
          <a:effectLst>
            <a:outerShdw blurRad="50800" dist="38100" dir="2700000" algn="tl" rotWithShape="0">
              <a:prstClr val="black">
                <a:alpha val="40000"/>
              </a:prstClr>
            </a:outerShdw>
          </a:effectLst>
        </p:spPr>
      </p:pic>
      <p:sp>
        <p:nvSpPr>
          <p:cNvPr id="5" name="Rectangle 4"/>
          <p:cNvSpPr/>
          <p:nvPr/>
        </p:nvSpPr>
        <p:spPr>
          <a:xfrm>
            <a:off x="1464590" y="2451284"/>
            <a:ext cx="1131376" cy="209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
        <p:nvSpPr>
          <p:cNvPr id="9" name="ZoneTexte 8"/>
          <p:cNvSpPr txBox="1"/>
          <p:nvPr/>
        </p:nvSpPr>
        <p:spPr>
          <a:xfrm>
            <a:off x="457200" y="1247870"/>
            <a:ext cx="4897464" cy="646331"/>
          </a:xfrm>
          <a:prstGeom prst="rect">
            <a:avLst/>
          </a:prstGeom>
          <a:noFill/>
        </p:spPr>
        <p:txBody>
          <a:bodyPr wrap="square" rtlCol="0">
            <a:spAutoFit/>
          </a:bodyPr>
          <a:lstStyle/>
          <a:p>
            <a:pPr>
              <a:spcBef>
                <a:spcPts val="300"/>
              </a:spcBef>
              <a:spcAft>
                <a:spcPts val="300"/>
              </a:spcAft>
            </a:pPr>
            <a:r>
              <a:rPr lang="fr-FR" sz="1200" dirty="0" smtClean="0">
                <a:solidFill>
                  <a:srgbClr val="4D4F53"/>
                </a:solidFill>
              </a:rPr>
              <a:t>A partir du Menu SAP, la transaction SAP1 permet d’afficher une arborescence de transactions alternative, qui ne considère que les transactions de reporting ou dite de « Sélection d’états »</a:t>
            </a:r>
          </a:p>
        </p:txBody>
      </p:sp>
      <p:cxnSp>
        <p:nvCxnSpPr>
          <p:cNvPr id="7" name="Connecteur droit avec flèche 6"/>
          <p:cNvCxnSpPr>
            <a:stCxn id="3" idx="3"/>
            <a:endCxn id="2" idx="1"/>
          </p:cNvCxnSpPr>
          <p:nvPr/>
        </p:nvCxnSpPr>
        <p:spPr>
          <a:xfrm>
            <a:off x="3649853" y="2750949"/>
            <a:ext cx="1506723" cy="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44828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Liste de transactions utiles par objet</a:t>
            </a:r>
            <a:endParaRPr lang="en-US" altLang="en-US" dirty="0" smtClean="0"/>
          </a:p>
        </p:txBody>
      </p:sp>
      <p:graphicFrame>
        <p:nvGraphicFramePr>
          <p:cNvPr id="4" name="Tableau 3"/>
          <p:cNvGraphicFramePr>
            <a:graphicFrameLocks noGrp="1"/>
          </p:cNvGraphicFramePr>
          <p:nvPr>
            <p:extLst>
              <p:ext uri="{D42A27DB-BD31-4B8C-83A1-F6EECF244321}">
                <p14:modId xmlns:p14="http://schemas.microsoft.com/office/powerpoint/2010/main" val="1275649558"/>
              </p:ext>
            </p:extLst>
          </p:nvPr>
        </p:nvGraphicFramePr>
        <p:xfrm>
          <a:off x="457200" y="1203422"/>
          <a:ext cx="8121111" cy="3276600"/>
        </p:xfrm>
        <a:graphic>
          <a:graphicData uri="http://schemas.openxmlformats.org/drawingml/2006/table">
            <a:tbl>
              <a:tblPr firstRow="1" bandRow="1">
                <a:tableStyleId>{5940675A-B579-460E-94D1-54222C63F5DA}</a:tableStyleId>
              </a:tblPr>
              <a:tblGrid>
                <a:gridCol w="1828800"/>
                <a:gridCol w="1867546"/>
                <a:gridCol w="4424765"/>
              </a:tblGrid>
              <a:tr h="227416">
                <a:tc>
                  <a:txBody>
                    <a:bodyPr/>
                    <a:lstStyle/>
                    <a:p>
                      <a:pPr algn="ctr"/>
                      <a:r>
                        <a:rPr lang="fr-FR" sz="1100" b="1" dirty="0" smtClean="0">
                          <a:solidFill>
                            <a:schemeClr val="bg1"/>
                          </a:solidFill>
                        </a:rPr>
                        <a:t>Objet</a:t>
                      </a:r>
                      <a:endParaRPr lang="fr-FR" sz="1100" b="1" dirty="0">
                        <a:solidFill>
                          <a:schemeClr val="bg1"/>
                        </a:solidFill>
                      </a:endParaRPr>
                    </a:p>
                  </a:txBody>
                  <a:tcPr>
                    <a:solidFill>
                      <a:srgbClr val="4F81BD"/>
                    </a:solidFill>
                  </a:tcPr>
                </a:tc>
                <a:tc>
                  <a:txBody>
                    <a:bodyPr/>
                    <a:lstStyle/>
                    <a:p>
                      <a:pPr algn="ctr"/>
                      <a:r>
                        <a:rPr lang="fr-FR" sz="1100" b="1" dirty="0" smtClean="0">
                          <a:solidFill>
                            <a:schemeClr val="bg1"/>
                          </a:solidFill>
                        </a:rPr>
                        <a:t>Transaction</a:t>
                      </a:r>
                      <a:endParaRPr lang="fr-FR" sz="1100" b="1" dirty="0">
                        <a:solidFill>
                          <a:schemeClr val="bg1"/>
                        </a:solidFill>
                      </a:endParaRPr>
                    </a:p>
                  </a:txBody>
                  <a:tcPr>
                    <a:solidFill>
                      <a:srgbClr val="4F81BD"/>
                    </a:solidFill>
                  </a:tcPr>
                </a:tc>
                <a:tc>
                  <a:txBody>
                    <a:bodyPr/>
                    <a:lstStyle/>
                    <a:p>
                      <a:pPr algn="ctr"/>
                      <a:r>
                        <a:rPr lang="fr-FR" sz="1100" b="1" dirty="0" smtClean="0">
                          <a:solidFill>
                            <a:schemeClr val="bg1"/>
                          </a:solidFill>
                        </a:rPr>
                        <a:t>Description</a:t>
                      </a:r>
                      <a:endParaRPr lang="fr-FR" sz="1100" b="1" dirty="0">
                        <a:solidFill>
                          <a:schemeClr val="bg1"/>
                        </a:solidFill>
                      </a:endParaRPr>
                    </a:p>
                  </a:txBody>
                  <a:tcPr>
                    <a:solidFill>
                      <a:srgbClr val="4F81BD"/>
                    </a:solidFill>
                  </a:tcPr>
                </a:tc>
              </a:tr>
              <a:tr h="129540">
                <a:tc>
                  <a:txBody>
                    <a:bodyPr/>
                    <a:lstStyle/>
                    <a:p>
                      <a:pPr algn="ctr"/>
                      <a:r>
                        <a:rPr lang="fr-FR" sz="1050" dirty="0" smtClean="0"/>
                        <a:t>Fournisseurs</a:t>
                      </a:r>
                      <a:endParaRPr lang="fr-FR" sz="1050" dirty="0"/>
                    </a:p>
                  </a:txBody>
                  <a:tcPr anchor="ctr"/>
                </a:tc>
                <a:tc>
                  <a:txBody>
                    <a:bodyPr/>
                    <a:lstStyle/>
                    <a:p>
                      <a:pPr algn="ctr"/>
                      <a:r>
                        <a:rPr lang="fr-FR" sz="1050" dirty="0" smtClean="0"/>
                        <a:t>ME65</a:t>
                      </a:r>
                      <a:endParaRPr lang="fr-FR" sz="1050" dirty="0"/>
                    </a:p>
                  </a:txBody>
                  <a:tcPr/>
                </a:tc>
                <a:tc>
                  <a:txBody>
                    <a:bodyPr/>
                    <a:lstStyle/>
                    <a:p>
                      <a:pPr algn="ctr"/>
                      <a:r>
                        <a:rPr lang="fr-FR" altLang="en-US" sz="1050" dirty="0" smtClean="0"/>
                        <a:t>Afficher le Palmarès Fournisseurs</a:t>
                      </a:r>
                      <a:endParaRPr lang="fr-FR" sz="1050" dirty="0"/>
                    </a:p>
                  </a:txBody>
                  <a:tcPr/>
                </a:tc>
              </a:tr>
              <a:tr h="129540">
                <a:tc rowSpan="4">
                  <a:txBody>
                    <a:bodyPr/>
                    <a:lstStyle/>
                    <a:p>
                      <a:pPr algn="ctr"/>
                      <a:r>
                        <a:rPr lang="fr-FR" sz="1050" dirty="0" smtClean="0"/>
                        <a:t>RFQ</a:t>
                      </a:r>
                      <a:endParaRPr lang="fr-FR" sz="1050" dirty="0"/>
                    </a:p>
                  </a:txBody>
                  <a:tcPr anchor="ctr">
                    <a:solidFill>
                      <a:schemeClr val="accent6">
                        <a:lumMod val="20000"/>
                        <a:lumOff val="80000"/>
                      </a:schemeClr>
                    </a:solidFill>
                  </a:tcPr>
                </a:tc>
                <a:tc>
                  <a:txBody>
                    <a:bodyPr/>
                    <a:lstStyle/>
                    <a:p>
                      <a:pPr algn="ctr"/>
                      <a:r>
                        <a:rPr lang="fr-FR" sz="1050" dirty="0" smtClean="0"/>
                        <a:t>ME4S</a:t>
                      </a:r>
                      <a:endParaRPr lang="fr-FR" sz="1050" dirty="0"/>
                    </a:p>
                  </a:txBody>
                  <a:tcPr>
                    <a:solidFill>
                      <a:schemeClr val="accent6">
                        <a:lumMod val="20000"/>
                        <a:lumOff val="80000"/>
                      </a:schemeClr>
                    </a:solidFill>
                  </a:tcPr>
                </a:tc>
                <a:tc>
                  <a:txBody>
                    <a:bodyPr/>
                    <a:lstStyle/>
                    <a:p>
                      <a:pPr algn="ctr"/>
                      <a:r>
                        <a:rPr lang="fr-FR" altLang="en-US" sz="1050" dirty="0" smtClean="0"/>
                        <a:t>Afficher a liste des RFQ pour un numéro de soumission</a:t>
                      </a:r>
                      <a:endParaRPr lang="fr-FR" sz="1050" dirty="0"/>
                    </a:p>
                  </a:txBody>
                  <a:tcPr>
                    <a:solidFill>
                      <a:schemeClr val="accent6">
                        <a:lumMod val="20000"/>
                        <a:lumOff val="80000"/>
                      </a:schemeClr>
                    </a:solidFill>
                  </a:tcPr>
                </a:tc>
              </a:tr>
              <a:tr h="0">
                <a:tc vMerge="1">
                  <a:txBody>
                    <a:bodyPr/>
                    <a:lstStyle/>
                    <a:p>
                      <a:endParaRPr lang="fr-FR"/>
                    </a:p>
                  </a:txBody>
                  <a:tcPr/>
                </a:tc>
                <a:tc>
                  <a:txBody>
                    <a:bodyPr/>
                    <a:lstStyle/>
                    <a:p>
                      <a:pPr algn="ctr"/>
                      <a:r>
                        <a:rPr lang="fr-FR" sz="1050" dirty="0" smtClean="0"/>
                        <a:t>ME49</a:t>
                      </a:r>
                      <a:endParaRPr lang="fr-FR" sz="1050" dirty="0"/>
                    </a:p>
                  </a:txBody>
                  <a:tcPr>
                    <a:solidFill>
                      <a:schemeClr val="accent6">
                        <a:lumMod val="20000"/>
                        <a:lumOff val="80000"/>
                      </a:schemeClr>
                    </a:solidFill>
                  </a:tcPr>
                </a:tc>
                <a:tc>
                  <a:txBody>
                    <a:bodyPr/>
                    <a:lstStyle/>
                    <a:p>
                      <a:pPr algn="ctr"/>
                      <a:r>
                        <a:rPr lang="fr-FR" altLang="en-US" sz="1050" dirty="0" smtClean="0"/>
                        <a:t>Comparer les Offres fournisseur pour un numéro de soumission</a:t>
                      </a:r>
                      <a:endParaRPr lang="fr-FR" sz="1050" dirty="0"/>
                    </a:p>
                  </a:txBody>
                  <a:tcPr>
                    <a:solidFill>
                      <a:schemeClr val="accent6">
                        <a:lumMod val="20000"/>
                        <a:lumOff val="80000"/>
                      </a:schemeClr>
                    </a:solidFill>
                  </a:tcPr>
                </a:tc>
              </a:tr>
              <a:tr h="167640">
                <a:tc vMerge="1">
                  <a:txBody>
                    <a:bodyPr/>
                    <a:lstStyle/>
                    <a:p>
                      <a:endParaRPr lang="fr-FR"/>
                    </a:p>
                  </a:txBody>
                  <a:tcPr/>
                </a:tc>
                <a:tc>
                  <a:txBody>
                    <a:bodyPr/>
                    <a:lstStyle/>
                    <a:p>
                      <a:pPr algn="ctr"/>
                      <a:r>
                        <a:rPr lang="fr-FR" sz="1050" dirty="0" smtClean="0"/>
                        <a:t>ME4M</a:t>
                      </a:r>
                      <a:endParaRPr lang="fr-FR" sz="1050" dirty="0"/>
                    </a:p>
                  </a:txBody>
                  <a:tcPr>
                    <a:solidFill>
                      <a:schemeClr val="accent6">
                        <a:lumMod val="20000"/>
                        <a:lumOff val="80000"/>
                      </a:schemeClr>
                    </a:solidFill>
                  </a:tcPr>
                </a:tc>
                <a:tc>
                  <a:txBody>
                    <a:bodyPr/>
                    <a:lstStyle/>
                    <a:p>
                      <a:pPr algn="ctr"/>
                      <a:r>
                        <a:rPr lang="fr-FR" sz="1050" dirty="0" smtClean="0"/>
                        <a:t>Demandes d’Offre pour un code</a:t>
                      </a:r>
                      <a:r>
                        <a:rPr lang="fr-FR" sz="1050" baseline="0" dirty="0" smtClean="0"/>
                        <a:t> article</a:t>
                      </a:r>
                      <a:endParaRPr lang="fr-FR" sz="1050" dirty="0"/>
                    </a:p>
                  </a:txBody>
                  <a:tcPr>
                    <a:solidFill>
                      <a:schemeClr val="accent6">
                        <a:lumMod val="20000"/>
                        <a:lumOff val="80000"/>
                      </a:schemeClr>
                    </a:solidFill>
                  </a:tcPr>
                </a:tc>
              </a:tr>
              <a:tr h="0">
                <a:tc vMerge="1">
                  <a:txBody>
                    <a:bodyPr/>
                    <a:lstStyle/>
                    <a:p>
                      <a:endParaRPr lang="fr-FR"/>
                    </a:p>
                  </a:txBody>
                  <a:tcPr/>
                </a:tc>
                <a:tc>
                  <a:txBody>
                    <a:bodyPr/>
                    <a:lstStyle/>
                    <a:p>
                      <a:pPr algn="ctr"/>
                      <a:r>
                        <a:rPr lang="fr-FR" sz="1050" dirty="0" smtClean="0"/>
                        <a:t>ME4L</a:t>
                      </a:r>
                      <a:endParaRPr lang="fr-FR" sz="1050" dirty="0"/>
                    </a:p>
                  </a:txBody>
                  <a:tcPr>
                    <a:solidFill>
                      <a:schemeClr val="accent6">
                        <a:lumMod val="20000"/>
                        <a:lumOff val="80000"/>
                      </a:schemeClr>
                    </a:solidFill>
                  </a:tcPr>
                </a:tc>
                <a:tc>
                  <a:txBody>
                    <a:bodyPr/>
                    <a:lstStyle/>
                    <a:p>
                      <a:pPr algn="ctr"/>
                      <a:r>
                        <a:rPr lang="fr-FR" sz="1050" dirty="0" smtClean="0"/>
                        <a:t>Demandes</a:t>
                      </a:r>
                      <a:r>
                        <a:rPr lang="fr-FR" sz="1050" baseline="0" dirty="0" smtClean="0"/>
                        <a:t> d’Offre par fournisseur</a:t>
                      </a:r>
                      <a:endParaRPr lang="fr-FR" sz="1050" dirty="0"/>
                    </a:p>
                  </a:txBody>
                  <a:tcPr>
                    <a:solidFill>
                      <a:schemeClr val="accent6">
                        <a:lumMod val="20000"/>
                        <a:lumOff val="80000"/>
                      </a:schemeClr>
                    </a:solidFill>
                  </a:tcPr>
                </a:tc>
              </a:tr>
              <a:tr h="125730">
                <a:tc rowSpan="3">
                  <a:txBody>
                    <a:bodyPr/>
                    <a:lstStyle/>
                    <a:p>
                      <a:pPr algn="ctr"/>
                      <a:r>
                        <a:rPr lang="fr-FR" sz="1050" dirty="0" smtClean="0"/>
                        <a:t>Demandes d’Achat</a:t>
                      </a:r>
                      <a:endParaRPr lang="fr-FR" sz="1050" dirty="0"/>
                    </a:p>
                  </a:txBody>
                  <a:tcPr anchor="ctr"/>
                </a:tc>
                <a:tc>
                  <a:txBody>
                    <a:bodyPr/>
                    <a:lstStyle/>
                    <a:p>
                      <a:pPr algn="ctr"/>
                      <a:r>
                        <a:rPr lang="fr-FR" sz="1050" dirty="0" smtClean="0"/>
                        <a:t>ME57</a:t>
                      </a:r>
                      <a:endParaRPr lang="fr-FR" sz="1050" dirty="0"/>
                    </a:p>
                  </a:txBody>
                  <a:tcPr/>
                </a:tc>
                <a:tc>
                  <a:txBody>
                    <a:bodyPr/>
                    <a:lstStyle/>
                    <a:p>
                      <a:pPr algn="ctr"/>
                      <a:r>
                        <a:rPr lang="fr-FR" sz="1050" dirty="0" smtClean="0"/>
                        <a:t>Affecter</a:t>
                      </a:r>
                      <a:r>
                        <a:rPr lang="fr-FR" sz="1050" baseline="0" dirty="0" smtClean="0"/>
                        <a:t> et traiter Demandes d’Achat</a:t>
                      </a:r>
                      <a:endParaRPr lang="fr-FR" sz="1050" dirty="0"/>
                    </a:p>
                  </a:txBody>
                  <a:tcPr/>
                </a:tc>
              </a:tr>
              <a:tr h="125730">
                <a:tc vMerge="1">
                  <a:txBody>
                    <a:bodyPr/>
                    <a:lstStyle/>
                    <a:p>
                      <a:endParaRPr lang="fr-FR"/>
                    </a:p>
                  </a:txBody>
                  <a:tcPr/>
                </a:tc>
                <a:tc>
                  <a:txBody>
                    <a:bodyPr/>
                    <a:lstStyle/>
                    <a:p>
                      <a:pPr algn="ctr"/>
                      <a:r>
                        <a:rPr lang="fr-FR" sz="1050" dirty="0" smtClean="0"/>
                        <a:t>ME5A</a:t>
                      </a:r>
                      <a:endParaRPr lang="fr-FR" sz="1050" dirty="0"/>
                    </a:p>
                  </a:txBody>
                  <a:tcPr/>
                </a:tc>
                <a:tc>
                  <a:txBody>
                    <a:bodyPr/>
                    <a:lstStyle/>
                    <a:p>
                      <a:pPr algn="ctr"/>
                      <a:r>
                        <a:rPr lang="fr-FR" sz="1050" dirty="0" smtClean="0"/>
                        <a:t>Affichage des liste de Demandes d’Achat</a:t>
                      </a:r>
                      <a:endParaRPr lang="fr-FR" sz="1050" dirty="0"/>
                    </a:p>
                  </a:txBody>
                  <a:tcPr/>
                </a:tc>
              </a:tr>
              <a:tr h="125730">
                <a:tc vMerge="1">
                  <a:txBody>
                    <a:bodyPr/>
                    <a:lstStyle/>
                    <a:p>
                      <a:endParaRPr lang="fr-FR"/>
                    </a:p>
                  </a:txBody>
                  <a:tcPr/>
                </a:tc>
                <a:tc>
                  <a:txBody>
                    <a:bodyPr/>
                    <a:lstStyle/>
                    <a:p>
                      <a:pPr algn="ctr"/>
                      <a:r>
                        <a:rPr lang="fr-FR" sz="1050" dirty="0" smtClean="0"/>
                        <a:t>ME5K</a:t>
                      </a:r>
                      <a:endParaRPr lang="fr-FR" sz="1050" dirty="0"/>
                    </a:p>
                  </a:txBody>
                  <a:tcPr/>
                </a:tc>
                <a:tc>
                  <a:txBody>
                    <a:bodyPr/>
                    <a:lstStyle/>
                    <a:p>
                      <a:pPr algn="ctr"/>
                      <a:r>
                        <a:rPr lang="fr-FR" sz="1050" dirty="0" smtClean="0"/>
                        <a:t>Demandes d’Achat par objet d’imputation</a:t>
                      </a:r>
                      <a:endParaRPr lang="fr-FR" sz="1050" dirty="0"/>
                    </a:p>
                  </a:txBody>
                  <a:tcPr/>
                </a:tc>
              </a:tr>
              <a:tr h="0">
                <a:tc rowSpan="4">
                  <a:txBody>
                    <a:bodyPr/>
                    <a:lstStyle/>
                    <a:p>
                      <a:pPr algn="ctr"/>
                      <a:r>
                        <a:rPr lang="fr-FR" sz="1050" dirty="0" smtClean="0"/>
                        <a:t>Commandes d’Achat</a:t>
                      </a:r>
                      <a:endParaRPr lang="fr-FR" sz="1050" dirty="0"/>
                    </a:p>
                  </a:txBody>
                  <a:tcPr anchor="ctr">
                    <a:solidFill>
                      <a:schemeClr val="accent6">
                        <a:lumMod val="20000"/>
                        <a:lumOff val="80000"/>
                      </a:schemeClr>
                    </a:solidFill>
                  </a:tcPr>
                </a:tc>
                <a:tc>
                  <a:txBody>
                    <a:bodyPr/>
                    <a:lstStyle/>
                    <a:p>
                      <a:pPr algn="ctr"/>
                      <a:r>
                        <a:rPr lang="fr-FR" sz="1050" dirty="0" smtClean="0"/>
                        <a:t>ME2N</a:t>
                      </a:r>
                      <a:endParaRPr lang="fr-FR" sz="1050" dirty="0"/>
                    </a:p>
                  </a:txBody>
                  <a:tcPr>
                    <a:solidFill>
                      <a:schemeClr val="accent6">
                        <a:lumMod val="20000"/>
                        <a:lumOff val="80000"/>
                      </a:schemeClr>
                    </a:solidFill>
                  </a:tcPr>
                </a:tc>
                <a:tc>
                  <a:txBody>
                    <a:bodyPr/>
                    <a:lstStyle/>
                    <a:p>
                      <a:pPr algn="ctr"/>
                      <a:r>
                        <a:rPr lang="fr-FR" sz="1050" dirty="0" smtClean="0"/>
                        <a:t>Liste des Documents</a:t>
                      </a:r>
                      <a:r>
                        <a:rPr lang="fr-FR" sz="1050" baseline="0" dirty="0" smtClean="0"/>
                        <a:t> d’Achat par numéro</a:t>
                      </a:r>
                      <a:endParaRPr lang="fr-FR" sz="1050" dirty="0"/>
                    </a:p>
                  </a:txBody>
                  <a:tcPr>
                    <a:solidFill>
                      <a:schemeClr val="accent6">
                        <a:lumMod val="20000"/>
                        <a:lumOff val="80000"/>
                      </a:schemeClr>
                    </a:solidFill>
                  </a:tcPr>
                </a:tc>
              </a:tr>
              <a:tr h="188595">
                <a:tc vMerge="1">
                  <a:txBody>
                    <a:bodyPr/>
                    <a:lstStyle/>
                    <a:p>
                      <a:endParaRPr lang="fr-FR"/>
                    </a:p>
                  </a:txBody>
                  <a:tcPr/>
                </a:tc>
                <a:tc>
                  <a:txBody>
                    <a:bodyPr/>
                    <a:lstStyle/>
                    <a:p>
                      <a:pPr algn="ctr"/>
                      <a:r>
                        <a:rPr lang="fr-FR" sz="1050" dirty="0" smtClean="0"/>
                        <a:t>ME2M</a:t>
                      </a:r>
                    </a:p>
                  </a:txBody>
                  <a:tcPr>
                    <a:solidFill>
                      <a:schemeClr val="accent6">
                        <a:lumMod val="20000"/>
                        <a:lumOff val="80000"/>
                      </a:schemeClr>
                    </a:solidFill>
                  </a:tcPr>
                </a:tc>
                <a:tc>
                  <a:txBody>
                    <a:bodyPr/>
                    <a:lstStyle/>
                    <a:p>
                      <a:pPr marL="0" marR="0" indent="0" algn="ctr" defTabSz="389626" rtl="0" eaLnBrk="1" fontAlgn="auto" latinLnBrk="0" hangingPunct="1">
                        <a:lnSpc>
                          <a:spcPct val="100000"/>
                        </a:lnSpc>
                        <a:spcBef>
                          <a:spcPts val="0"/>
                        </a:spcBef>
                        <a:spcAft>
                          <a:spcPts val="0"/>
                        </a:spcAft>
                        <a:buClrTx/>
                        <a:buSzTx/>
                        <a:buFontTx/>
                        <a:buNone/>
                        <a:tabLst/>
                        <a:defRPr/>
                      </a:pPr>
                      <a:r>
                        <a:rPr lang="fr-FR" sz="1050" dirty="0" smtClean="0"/>
                        <a:t>Liste des Documents</a:t>
                      </a:r>
                      <a:r>
                        <a:rPr lang="fr-FR" sz="1050" baseline="0" dirty="0" smtClean="0"/>
                        <a:t> d’Achat par code article</a:t>
                      </a:r>
                      <a:endParaRPr lang="fr-FR" sz="1050" dirty="0" smtClean="0"/>
                    </a:p>
                  </a:txBody>
                  <a:tcPr>
                    <a:solidFill>
                      <a:schemeClr val="accent6">
                        <a:lumMod val="20000"/>
                        <a:lumOff val="80000"/>
                      </a:schemeClr>
                    </a:solidFill>
                  </a:tcPr>
                </a:tc>
              </a:tr>
              <a:tr h="125730">
                <a:tc vMerge="1">
                  <a:txBody>
                    <a:bodyPr/>
                    <a:lstStyle/>
                    <a:p>
                      <a:endParaRPr lang="fr-FR"/>
                    </a:p>
                  </a:txBody>
                  <a:tcPr/>
                </a:tc>
                <a:tc>
                  <a:txBody>
                    <a:bodyPr/>
                    <a:lstStyle/>
                    <a:p>
                      <a:pPr algn="ctr"/>
                      <a:r>
                        <a:rPr lang="fr-FR" sz="1050" dirty="0" smtClean="0"/>
                        <a:t>ME2L</a:t>
                      </a:r>
                      <a:endParaRPr lang="fr-FR" sz="1050" dirty="0"/>
                    </a:p>
                  </a:txBody>
                  <a:tcPr>
                    <a:solidFill>
                      <a:schemeClr val="accent6">
                        <a:lumMod val="20000"/>
                        <a:lumOff val="80000"/>
                      </a:schemeClr>
                    </a:solidFill>
                  </a:tcPr>
                </a:tc>
                <a:tc>
                  <a:txBody>
                    <a:bodyPr/>
                    <a:lstStyle/>
                    <a:p>
                      <a:pPr marL="0" marR="0" indent="0" algn="ctr" defTabSz="389626" rtl="0" eaLnBrk="1" fontAlgn="auto" latinLnBrk="0" hangingPunct="1">
                        <a:lnSpc>
                          <a:spcPct val="100000"/>
                        </a:lnSpc>
                        <a:spcBef>
                          <a:spcPts val="0"/>
                        </a:spcBef>
                        <a:spcAft>
                          <a:spcPts val="0"/>
                        </a:spcAft>
                        <a:buClrTx/>
                        <a:buSzTx/>
                        <a:buFontTx/>
                        <a:buNone/>
                        <a:tabLst/>
                        <a:defRPr/>
                      </a:pPr>
                      <a:r>
                        <a:rPr lang="fr-FR" sz="1050" dirty="0" smtClean="0"/>
                        <a:t>Liste des Documents</a:t>
                      </a:r>
                      <a:r>
                        <a:rPr lang="fr-FR" sz="1050" baseline="0" dirty="0" smtClean="0"/>
                        <a:t> d’Achat par fournisseur</a:t>
                      </a:r>
                      <a:endParaRPr lang="fr-FR" sz="1050" dirty="0"/>
                    </a:p>
                  </a:txBody>
                  <a:tcPr>
                    <a:solidFill>
                      <a:schemeClr val="accent6">
                        <a:lumMod val="20000"/>
                        <a:lumOff val="80000"/>
                      </a:schemeClr>
                    </a:solidFill>
                  </a:tcPr>
                </a:tc>
              </a:tr>
              <a:tr h="0">
                <a:tc vMerge="1">
                  <a:txBody>
                    <a:bodyPr/>
                    <a:lstStyle/>
                    <a:p>
                      <a:endParaRPr lang="fr-FR"/>
                    </a:p>
                  </a:txBody>
                  <a:tcPr/>
                </a:tc>
                <a:tc>
                  <a:txBody>
                    <a:bodyPr/>
                    <a:lstStyle/>
                    <a:p>
                      <a:pPr algn="ctr"/>
                      <a:r>
                        <a:rPr lang="fr-FR" sz="1050" dirty="0" smtClean="0"/>
                        <a:t>ME2K</a:t>
                      </a:r>
                      <a:endParaRPr lang="fr-FR" sz="1050" dirty="0"/>
                    </a:p>
                  </a:txBody>
                  <a:tcPr>
                    <a:solidFill>
                      <a:schemeClr val="accent6">
                        <a:lumMod val="20000"/>
                        <a:lumOff val="80000"/>
                      </a:schemeClr>
                    </a:solidFill>
                  </a:tcPr>
                </a:tc>
                <a:tc>
                  <a:txBody>
                    <a:bodyPr/>
                    <a:lstStyle/>
                    <a:p>
                      <a:pPr marL="0" marR="0" indent="0" algn="ctr" defTabSz="389626" rtl="0" eaLnBrk="1" fontAlgn="auto" latinLnBrk="0" hangingPunct="1">
                        <a:lnSpc>
                          <a:spcPct val="100000"/>
                        </a:lnSpc>
                        <a:spcBef>
                          <a:spcPts val="0"/>
                        </a:spcBef>
                        <a:spcAft>
                          <a:spcPts val="0"/>
                        </a:spcAft>
                        <a:buClrTx/>
                        <a:buSzTx/>
                        <a:buFontTx/>
                        <a:buNone/>
                        <a:tabLst/>
                        <a:defRPr/>
                      </a:pPr>
                      <a:r>
                        <a:rPr lang="fr-FR" sz="1050" dirty="0" smtClean="0"/>
                        <a:t>Liste des Documents</a:t>
                      </a:r>
                      <a:r>
                        <a:rPr lang="fr-FR" sz="1050" baseline="0" dirty="0" smtClean="0"/>
                        <a:t> d’Achat par Imputation</a:t>
                      </a:r>
                      <a:endParaRPr lang="fr-FR" sz="1050" dirty="0" smtClean="0"/>
                    </a:p>
                  </a:txBody>
                  <a:tcPr>
                    <a:solidFill>
                      <a:schemeClr val="accent6">
                        <a:lumMod val="20000"/>
                        <a:lumOff val="80000"/>
                      </a:schemeClr>
                    </a:solidFill>
                  </a:tcPr>
                </a:tc>
              </a:tr>
            </a:tbl>
          </a:graphicData>
        </a:graphic>
      </p:graphicFrame>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Liste de transactions utiles par objet</a:t>
            </a:r>
            <a:endParaRPr lang="en-US" altLang="en-US" dirty="0" smtClean="0"/>
          </a:p>
        </p:txBody>
      </p:sp>
      <p:graphicFrame>
        <p:nvGraphicFramePr>
          <p:cNvPr id="4" name="Tableau 3"/>
          <p:cNvGraphicFramePr>
            <a:graphicFrameLocks noGrp="1"/>
          </p:cNvGraphicFramePr>
          <p:nvPr>
            <p:extLst>
              <p:ext uri="{D42A27DB-BD31-4B8C-83A1-F6EECF244321}">
                <p14:modId xmlns:p14="http://schemas.microsoft.com/office/powerpoint/2010/main" val="3893716127"/>
              </p:ext>
            </p:extLst>
          </p:nvPr>
        </p:nvGraphicFramePr>
        <p:xfrm>
          <a:off x="457200" y="1203422"/>
          <a:ext cx="8121111" cy="1264920"/>
        </p:xfrm>
        <a:graphic>
          <a:graphicData uri="http://schemas.openxmlformats.org/drawingml/2006/table">
            <a:tbl>
              <a:tblPr firstRow="1" bandRow="1">
                <a:tableStyleId>{5940675A-B579-460E-94D1-54222C63F5DA}</a:tableStyleId>
              </a:tblPr>
              <a:tblGrid>
                <a:gridCol w="1828800"/>
                <a:gridCol w="1867546"/>
                <a:gridCol w="4424765"/>
              </a:tblGrid>
              <a:tr h="227416">
                <a:tc>
                  <a:txBody>
                    <a:bodyPr/>
                    <a:lstStyle/>
                    <a:p>
                      <a:pPr algn="ctr"/>
                      <a:r>
                        <a:rPr lang="fr-FR" sz="1100" b="1" dirty="0" smtClean="0">
                          <a:solidFill>
                            <a:schemeClr val="bg1"/>
                          </a:solidFill>
                        </a:rPr>
                        <a:t>Objet</a:t>
                      </a:r>
                      <a:endParaRPr lang="fr-FR" sz="1100" b="1" dirty="0">
                        <a:solidFill>
                          <a:schemeClr val="bg1"/>
                        </a:solidFill>
                      </a:endParaRPr>
                    </a:p>
                  </a:txBody>
                  <a:tcPr>
                    <a:solidFill>
                      <a:srgbClr val="4F81BD"/>
                    </a:solidFill>
                  </a:tcPr>
                </a:tc>
                <a:tc>
                  <a:txBody>
                    <a:bodyPr/>
                    <a:lstStyle/>
                    <a:p>
                      <a:pPr algn="ctr"/>
                      <a:r>
                        <a:rPr lang="fr-FR" sz="1100" b="1" dirty="0" smtClean="0">
                          <a:solidFill>
                            <a:schemeClr val="bg1"/>
                          </a:solidFill>
                        </a:rPr>
                        <a:t>Transaction</a:t>
                      </a:r>
                      <a:endParaRPr lang="fr-FR" sz="1100" b="1" dirty="0">
                        <a:solidFill>
                          <a:schemeClr val="bg1"/>
                        </a:solidFill>
                      </a:endParaRPr>
                    </a:p>
                  </a:txBody>
                  <a:tcPr>
                    <a:solidFill>
                      <a:srgbClr val="4F81BD"/>
                    </a:solidFill>
                  </a:tcPr>
                </a:tc>
                <a:tc>
                  <a:txBody>
                    <a:bodyPr/>
                    <a:lstStyle/>
                    <a:p>
                      <a:pPr algn="ctr"/>
                      <a:r>
                        <a:rPr lang="fr-FR" sz="1100" b="1" dirty="0" smtClean="0">
                          <a:solidFill>
                            <a:schemeClr val="bg1"/>
                          </a:solidFill>
                        </a:rPr>
                        <a:t>Description</a:t>
                      </a:r>
                      <a:endParaRPr lang="fr-FR" sz="1100" b="1" dirty="0">
                        <a:solidFill>
                          <a:schemeClr val="bg1"/>
                        </a:solidFill>
                      </a:endParaRPr>
                    </a:p>
                  </a:txBody>
                  <a:tcPr>
                    <a:solidFill>
                      <a:srgbClr val="4F81BD"/>
                    </a:solidFill>
                  </a:tcPr>
                </a:tc>
              </a:tr>
              <a:tr h="125730">
                <a:tc rowSpan="2">
                  <a:txBody>
                    <a:bodyPr/>
                    <a:lstStyle/>
                    <a:p>
                      <a:pPr algn="ctr"/>
                      <a:r>
                        <a:rPr lang="fr-FR" sz="1050" dirty="0" smtClean="0"/>
                        <a:t>Contrats</a:t>
                      </a:r>
                      <a:endParaRPr lang="fr-FR" sz="1050" dirty="0"/>
                    </a:p>
                  </a:txBody>
                  <a:tcPr anchor="ctr"/>
                </a:tc>
                <a:tc>
                  <a:txBody>
                    <a:bodyPr/>
                    <a:lstStyle/>
                    <a:p>
                      <a:pPr algn="ctr"/>
                      <a:r>
                        <a:rPr lang="fr-FR" sz="1050" dirty="0" smtClean="0"/>
                        <a:t>ME3L</a:t>
                      </a:r>
                      <a:endParaRPr lang="fr-FR" sz="1050" dirty="0"/>
                    </a:p>
                  </a:txBody>
                  <a:tcPr/>
                </a:tc>
                <a:tc>
                  <a:txBody>
                    <a:bodyPr/>
                    <a:lstStyle/>
                    <a:p>
                      <a:pPr algn="ctr"/>
                      <a:r>
                        <a:rPr lang="fr-FR" sz="1050" dirty="0" smtClean="0"/>
                        <a:t>Liste des contrats par Fournisseur</a:t>
                      </a:r>
                      <a:endParaRPr lang="fr-FR" sz="1050" dirty="0"/>
                    </a:p>
                  </a:txBody>
                  <a:tcPr/>
                </a:tc>
              </a:tr>
              <a:tr h="125730">
                <a:tc vMerge="1">
                  <a:txBody>
                    <a:bodyPr/>
                    <a:lstStyle/>
                    <a:p>
                      <a:endParaRPr lang="fr-FR"/>
                    </a:p>
                  </a:txBody>
                  <a:tcPr/>
                </a:tc>
                <a:tc>
                  <a:txBody>
                    <a:bodyPr/>
                    <a:lstStyle/>
                    <a:p>
                      <a:pPr algn="ctr"/>
                      <a:r>
                        <a:rPr lang="fr-FR" sz="1050" dirty="0" smtClean="0"/>
                        <a:t>ME3M</a:t>
                      </a:r>
                      <a:endParaRPr lang="fr-FR" sz="1050" dirty="0"/>
                    </a:p>
                  </a:txBody>
                  <a:tcPr/>
                </a:tc>
                <a:tc>
                  <a:txBody>
                    <a:bodyPr/>
                    <a:lstStyle/>
                    <a:p>
                      <a:pPr marL="0" marR="0" indent="0" algn="ctr" defTabSz="389626" rtl="0" eaLnBrk="1" fontAlgn="auto" latinLnBrk="0" hangingPunct="1">
                        <a:lnSpc>
                          <a:spcPct val="100000"/>
                        </a:lnSpc>
                        <a:spcBef>
                          <a:spcPts val="0"/>
                        </a:spcBef>
                        <a:spcAft>
                          <a:spcPts val="0"/>
                        </a:spcAft>
                        <a:buClrTx/>
                        <a:buSzTx/>
                        <a:buFontTx/>
                        <a:buNone/>
                        <a:tabLst/>
                        <a:defRPr/>
                      </a:pPr>
                      <a:r>
                        <a:rPr lang="fr-FR" sz="1050" dirty="0" smtClean="0"/>
                        <a:t>Liste des contrats par Article</a:t>
                      </a:r>
                    </a:p>
                  </a:txBody>
                  <a:tcPr/>
                </a:tc>
              </a:tr>
              <a:tr h="0">
                <a:tc>
                  <a:txBody>
                    <a:bodyPr/>
                    <a:lstStyle/>
                    <a:p>
                      <a:pPr algn="ctr"/>
                      <a:r>
                        <a:rPr lang="fr-FR" sz="1050" dirty="0" smtClean="0"/>
                        <a:t>Stocks</a:t>
                      </a:r>
                      <a:endParaRPr lang="fr-FR" sz="1050" dirty="0"/>
                    </a:p>
                  </a:txBody>
                  <a:tcPr anchor="ctr">
                    <a:solidFill>
                      <a:schemeClr val="accent2">
                        <a:lumMod val="20000"/>
                        <a:lumOff val="80000"/>
                      </a:schemeClr>
                    </a:solidFill>
                  </a:tcPr>
                </a:tc>
                <a:tc>
                  <a:txBody>
                    <a:bodyPr/>
                    <a:lstStyle/>
                    <a:p>
                      <a:pPr algn="ctr"/>
                      <a:r>
                        <a:rPr lang="fr-FR" sz="1050" dirty="0" smtClean="0"/>
                        <a:t>MMBE</a:t>
                      </a:r>
                      <a:endParaRPr lang="fr-FR" sz="1050" dirty="0"/>
                    </a:p>
                  </a:txBody>
                  <a:tcPr>
                    <a:solidFill>
                      <a:schemeClr val="accent2">
                        <a:lumMod val="20000"/>
                        <a:lumOff val="80000"/>
                      </a:schemeClr>
                    </a:solidFill>
                  </a:tcPr>
                </a:tc>
                <a:tc>
                  <a:txBody>
                    <a:bodyPr/>
                    <a:lstStyle/>
                    <a:p>
                      <a:pPr algn="ctr"/>
                      <a:r>
                        <a:rPr lang="fr-FR" sz="1050" dirty="0" smtClean="0"/>
                        <a:t>Etat de</a:t>
                      </a:r>
                      <a:r>
                        <a:rPr lang="fr-FR" sz="1050" baseline="0" dirty="0" smtClean="0"/>
                        <a:t>s stocks</a:t>
                      </a:r>
                      <a:endParaRPr lang="fr-FR" sz="1050" dirty="0"/>
                    </a:p>
                  </a:txBody>
                  <a:tcPr>
                    <a:solidFill>
                      <a:schemeClr val="accent2">
                        <a:lumMod val="20000"/>
                        <a:lumOff val="80000"/>
                      </a:schemeClr>
                    </a:solidFill>
                  </a:tcPr>
                </a:tc>
              </a:tr>
              <a:tr h="0">
                <a:tc>
                  <a:txBody>
                    <a:bodyPr/>
                    <a:lstStyle/>
                    <a:p>
                      <a:pPr algn="ctr"/>
                      <a:r>
                        <a:rPr lang="fr-FR" sz="1050" dirty="0" smtClean="0"/>
                        <a:t>Lots</a:t>
                      </a:r>
                      <a:endParaRPr lang="fr-FR" sz="1050" dirty="0"/>
                    </a:p>
                  </a:txBody>
                  <a:tcPr anchor="ctr"/>
                </a:tc>
                <a:tc>
                  <a:txBody>
                    <a:bodyPr/>
                    <a:lstStyle/>
                    <a:p>
                      <a:pPr algn="ctr"/>
                      <a:r>
                        <a:rPr lang="fr-FR" sz="1050" dirty="0" smtClean="0"/>
                        <a:t>MB56</a:t>
                      </a:r>
                      <a:endParaRPr lang="fr-FR" sz="1050" dirty="0"/>
                    </a:p>
                  </a:txBody>
                  <a:tcPr/>
                </a:tc>
                <a:tc>
                  <a:txBody>
                    <a:bodyPr/>
                    <a:lstStyle/>
                    <a:p>
                      <a:pPr algn="ctr"/>
                      <a:r>
                        <a:rPr lang="fr-FR" sz="1050" dirty="0" smtClean="0"/>
                        <a:t>Analyse des Lots</a:t>
                      </a:r>
                      <a:endParaRPr lang="fr-FR" sz="1050" dirty="0"/>
                    </a:p>
                  </a:txBody>
                  <a:tcPr/>
                </a:tc>
              </a:tr>
            </a:tbl>
          </a:graphicData>
        </a:graphic>
      </p:graphicFrame>
    </p:spTree>
    <p:extLst>
      <p:ext uri="{BB962C8B-B14F-4D97-AF65-F5344CB8AC3E}">
        <p14:creationId xmlns:p14="http://schemas.microsoft.com/office/powerpoint/2010/main" val="31470166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smtClean="0"/>
              <a:t>Reporting Fournisseurs</a:t>
            </a:r>
            <a:br>
              <a:rPr lang="fr-FR" altLang="en-US" sz="2400" dirty="0" smtClean="0"/>
            </a:br>
            <a:r>
              <a:rPr lang="fr-FR" altLang="en-US" dirty="0" smtClean="0"/>
              <a:t>ME65 </a:t>
            </a:r>
            <a:r>
              <a:rPr lang="fr-FR" altLang="en-US" dirty="0"/>
              <a:t>– </a:t>
            </a:r>
            <a:r>
              <a:rPr lang="fr-FR" altLang="en-US" dirty="0" smtClean="0"/>
              <a:t>Afficher le Palmarès Fournisseurs</a:t>
            </a:r>
            <a:endParaRPr lang="en-US" dirty="0"/>
          </a:p>
        </p:txBody>
      </p:sp>
      <p:sp>
        <p:nvSpPr>
          <p:cNvPr id="4" name="ZoneTexte 3"/>
          <p:cNvSpPr txBox="1"/>
          <p:nvPr/>
        </p:nvSpPr>
        <p:spPr>
          <a:xfrm>
            <a:off x="5501899" y="880397"/>
            <a:ext cx="3560566" cy="1615827"/>
          </a:xfrm>
          <a:prstGeom prst="rect">
            <a:avLst/>
          </a:prstGeom>
          <a:noFill/>
        </p:spPr>
        <p:txBody>
          <a:bodyPr wrap="square" rtlCol="0">
            <a:spAutoFit/>
          </a:bodyPr>
          <a:lstStyle/>
          <a:p>
            <a:r>
              <a:rPr lang="fr-FR" sz="1100" dirty="0" smtClean="0">
                <a:solidFill>
                  <a:srgbClr val="4D4F53"/>
                </a:solidFill>
              </a:rPr>
              <a:t>Saisir l’Organisation d’Achats</a:t>
            </a:r>
          </a:p>
          <a:p>
            <a:endParaRPr lang="fr-FR" sz="1100" dirty="0">
              <a:solidFill>
                <a:srgbClr val="4D4F53"/>
              </a:solidFill>
            </a:endParaRPr>
          </a:p>
          <a:p>
            <a:r>
              <a:rPr lang="fr-FR" sz="1100" dirty="0" smtClean="0">
                <a:solidFill>
                  <a:srgbClr val="4D4F53"/>
                </a:solidFill>
              </a:rPr>
              <a:t>Saisir les fournisseurs à comparer.</a:t>
            </a:r>
            <a:br>
              <a:rPr lang="fr-FR" sz="1100" dirty="0" smtClean="0">
                <a:solidFill>
                  <a:srgbClr val="4D4F53"/>
                </a:solidFill>
              </a:rPr>
            </a:br>
            <a:r>
              <a:rPr lang="fr-FR" sz="1100" dirty="0" smtClean="0">
                <a:solidFill>
                  <a:srgbClr val="4D4F53"/>
                </a:solidFill>
              </a:rPr>
              <a:t>Si l’on veut comparer tous les fournisseurs pour l’Organisation d’Achats, saisir la valeur *</a:t>
            </a:r>
          </a:p>
          <a:p>
            <a:endParaRPr lang="fr-FR" sz="1100" dirty="0">
              <a:solidFill>
                <a:srgbClr val="4D4F53"/>
              </a:solidFill>
            </a:endParaRPr>
          </a:p>
          <a:p>
            <a:r>
              <a:rPr lang="fr-FR" sz="1100" dirty="0" smtClean="0">
                <a:solidFill>
                  <a:srgbClr val="4D4F53"/>
                </a:solidFill>
              </a:rPr>
              <a:t>Exécuter</a:t>
            </a:r>
          </a:p>
          <a:p>
            <a:endParaRPr lang="fr-FR" sz="1100" dirty="0" smtClean="0">
              <a:solidFill>
                <a:srgbClr val="4D4F53"/>
              </a:solidFill>
            </a:endParaRPr>
          </a:p>
          <a:p>
            <a:r>
              <a:rPr lang="fr-FR" sz="1100" dirty="0" smtClean="0">
                <a:solidFill>
                  <a:srgbClr val="4D4F53"/>
                </a:solidFill>
              </a:rPr>
              <a:t>La liste des fournisseurs classés selon leur note apparait</a:t>
            </a:r>
            <a:endParaRPr lang="fr-FR" sz="1100" dirty="0">
              <a:solidFill>
                <a:srgbClr val="4D4F53"/>
              </a:solidFill>
            </a:endParaRPr>
          </a:p>
        </p:txBody>
      </p:sp>
      <p:sp>
        <p:nvSpPr>
          <p:cNvPr id="5" name="Ellipse 4"/>
          <p:cNvSpPr/>
          <p:nvPr/>
        </p:nvSpPr>
        <p:spPr>
          <a:xfrm>
            <a:off x="5364516" y="9350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5364516" y="12728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5351936" y="19257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39" name="Image 38"/>
          <p:cNvPicPr>
            <a:picLocks noChangeAspect="1"/>
          </p:cNvPicPr>
          <p:nvPr/>
        </p:nvPicPr>
        <p:blipFill rotWithShape="1">
          <a:blip r:embed="rId2">
            <a:clrChange>
              <a:clrFrom>
                <a:srgbClr val="DDE8CE"/>
              </a:clrFrom>
              <a:clrTo>
                <a:srgbClr val="DDE8CE">
                  <a:alpha val="0"/>
                </a:srgbClr>
              </a:clrTo>
            </a:clrChange>
          </a:blip>
          <a:srcRect l="22306" t="14850" b="1"/>
          <a:stretch/>
        </p:blipFill>
        <p:spPr>
          <a:xfrm>
            <a:off x="6140449" y="1941153"/>
            <a:ext cx="161461" cy="169581"/>
          </a:xfrm>
          <a:prstGeom prst="rect">
            <a:avLst/>
          </a:prstGeom>
        </p:spPr>
      </p:pic>
      <p:pic>
        <p:nvPicPr>
          <p:cNvPr id="9" name="Image 8"/>
          <p:cNvPicPr>
            <a:picLocks noChangeAspect="1"/>
          </p:cNvPicPr>
          <p:nvPr/>
        </p:nvPicPr>
        <p:blipFill>
          <a:blip r:embed="rId3"/>
          <a:stretch>
            <a:fillRect/>
          </a:stretch>
        </p:blipFill>
        <p:spPr>
          <a:xfrm>
            <a:off x="589058" y="994686"/>
            <a:ext cx="3676938" cy="2484928"/>
          </a:xfrm>
          <a:prstGeom prst="rect">
            <a:avLst/>
          </a:prstGeom>
          <a:ln>
            <a:solidFill>
              <a:schemeClr val="tx1"/>
            </a:solidFill>
          </a:ln>
          <a:effectLst>
            <a:outerShdw blurRad="50800" dist="38100" dir="2700000" algn="tl" rotWithShape="0">
              <a:prstClr val="black">
                <a:alpha val="40000"/>
              </a:prstClr>
            </a:outerShdw>
          </a:effectLst>
        </p:spPr>
      </p:pic>
      <p:sp>
        <p:nvSpPr>
          <p:cNvPr id="13" name="Rectangle 12"/>
          <p:cNvSpPr/>
          <p:nvPr/>
        </p:nvSpPr>
        <p:spPr>
          <a:xfrm>
            <a:off x="615831" y="1210235"/>
            <a:ext cx="173063" cy="1704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2051529" y="1618531"/>
            <a:ext cx="279295"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2064281" y="1750709"/>
            <a:ext cx="1763648"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351936" y="22898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2" name="Ellipse 21"/>
          <p:cNvSpPr/>
          <p:nvPr/>
        </p:nvSpPr>
        <p:spPr>
          <a:xfrm>
            <a:off x="3844455" y="172469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3" name="Ellipse 22"/>
          <p:cNvSpPr/>
          <p:nvPr/>
        </p:nvSpPr>
        <p:spPr>
          <a:xfrm>
            <a:off x="2420594" y="158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4" name="Ellipse 23"/>
          <p:cNvSpPr/>
          <p:nvPr/>
        </p:nvSpPr>
        <p:spPr>
          <a:xfrm>
            <a:off x="860734" y="12284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25" name="Connecteur en angle 24"/>
          <p:cNvCxnSpPr>
            <a:stCxn id="13" idx="1"/>
          </p:cNvCxnSpPr>
          <p:nvPr/>
        </p:nvCxnSpPr>
        <p:spPr>
          <a:xfrm rot="10800000" flipH="1" flipV="1">
            <a:off x="615831" y="1295455"/>
            <a:ext cx="2064616" cy="2341136"/>
          </a:xfrm>
          <a:prstGeom prst="bentConnector3">
            <a:avLst>
              <a:gd name="adj1" fmla="val -1107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8" name="Image 7"/>
          <p:cNvPicPr>
            <a:picLocks noChangeAspect="1"/>
          </p:cNvPicPr>
          <p:nvPr/>
        </p:nvPicPr>
        <p:blipFill>
          <a:blip r:embed="rId4"/>
          <a:stretch>
            <a:fillRect/>
          </a:stretch>
        </p:blipFill>
        <p:spPr>
          <a:xfrm>
            <a:off x="2680447" y="2630668"/>
            <a:ext cx="3096578" cy="1819762"/>
          </a:xfrm>
          <a:prstGeom prst="rect">
            <a:avLst/>
          </a:prstGeom>
          <a:ln>
            <a:solidFill>
              <a:schemeClr val="tx1"/>
            </a:solidFill>
          </a:ln>
          <a:effectLst>
            <a:outerShdw blurRad="50800" dist="38100" dir="2700000" algn="tl" rotWithShape="0">
              <a:prstClr val="black">
                <a:alpha val="40000"/>
              </a:prstClr>
            </a:outerShdw>
          </a:effectLst>
        </p:spPr>
      </p:pic>
      <p:sp>
        <p:nvSpPr>
          <p:cNvPr id="21" name="Ellipse 20"/>
          <p:cNvSpPr/>
          <p:nvPr/>
        </p:nvSpPr>
        <p:spPr>
          <a:xfrm>
            <a:off x="4805879" y="31029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Tree>
    <p:extLst>
      <p:ext uri="{BB962C8B-B14F-4D97-AF65-F5344CB8AC3E}">
        <p14:creationId xmlns:p14="http://schemas.microsoft.com/office/powerpoint/2010/main" val="22261176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3"/>
          <p:cNvSpPr>
            <a:spLocks noGrp="1"/>
          </p:cNvSpPr>
          <p:nvPr>
            <p:ph type="title"/>
          </p:nvPr>
        </p:nvSpPr>
        <p:spPr>
          <a:xfrm>
            <a:off x="457200" y="206375"/>
            <a:ext cx="8229600" cy="857250"/>
          </a:xfrm>
        </p:spPr>
        <p:txBody>
          <a:bodyPr>
            <a:normAutofit/>
          </a:bodyPr>
          <a:lstStyle/>
          <a:p>
            <a:r>
              <a:rPr lang="fr-FR" altLang="en-US" sz="2400" dirty="0" smtClean="0"/>
              <a:t>Reporting RFQ</a:t>
            </a:r>
            <a:br>
              <a:rPr lang="fr-FR" altLang="en-US" sz="2400" dirty="0" smtClean="0"/>
            </a:br>
            <a:r>
              <a:rPr lang="fr-FR" altLang="en-US" dirty="0" smtClean="0"/>
              <a:t>ME4S – Afficher a liste des RFQ pour un numéro de soumission</a:t>
            </a:r>
            <a:endParaRPr lang="en-US" altLang="en-US" dirty="0" smtClean="0"/>
          </a:p>
        </p:txBody>
      </p:sp>
      <p:pic>
        <p:nvPicPr>
          <p:cNvPr id="6" name="Image 5"/>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529390" y="1132550"/>
            <a:ext cx="3489158" cy="1434687"/>
          </a:xfrm>
          <a:prstGeom prst="rect">
            <a:avLst/>
          </a:prstGeom>
          <a:ln>
            <a:solidFill>
              <a:schemeClr val="tx1"/>
            </a:solidFill>
          </a:ln>
          <a:effectLst>
            <a:outerShdw blurRad="50800" dist="38100" dir="2700000" algn="tl" rotWithShape="0">
              <a:prstClr val="black">
                <a:alpha val="40000"/>
              </a:prstClr>
            </a:outerShdw>
          </a:effectLst>
        </p:spPr>
      </p:pic>
      <p:pic>
        <p:nvPicPr>
          <p:cNvPr id="10" name="Image 9"/>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159793" y="2481659"/>
            <a:ext cx="3207169" cy="1871266"/>
          </a:xfrm>
          <a:prstGeom prst="rect">
            <a:avLst/>
          </a:prstGeom>
          <a:ln>
            <a:solidFill>
              <a:schemeClr val="tx1"/>
            </a:solidFill>
          </a:ln>
          <a:effectLst>
            <a:outerShdw blurRad="50800" dist="38100" dir="2700000" algn="tl" rotWithShape="0">
              <a:prstClr val="black">
                <a:alpha val="40000"/>
              </a:prstClr>
            </a:outerShdw>
          </a:effectLst>
        </p:spPr>
      </p:pic>
      <p:sp>
        <p:nvSpPr>
          <p:cNvPr id="13" name="Rectangle 12"/>
          <p:cNvSpPr/>
          <p:nvPr/>
        </p:nvSpPr>
        <p:spPr>
          <a:xfrm>
            <a:off x="2131457" y="1617582"/>
            <a:ext cx="492681"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1914711" y="16206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Rectangle 14"/>
          <p:cNvSpPr/>
          <p:nvPr/>
        </p:nvSpPr>
        <p:spPr>
          <a:xfrm>
            <a:off x="599521" y="1384694"/>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Ellipse 15"/>
          <p:cNvSpPr/>
          <p:nvPr/>
        </p:nvSpPr>
        <p:spPr>
          <a:xfrm>
            <a:off x="785263" y="13846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cxnSp>
        <p:nvCxnSpPr>
          <p:cNvPr id="12" name="Connecteur en angle 11"/>
          <p:cNvCxnSpPr>
            <a:stCxn id="15" idx="2"/>
            <a:endCxn id="10" idx="1"/>
          </p:cNvCxnSpPr>
          <p:nvPr/>
        </p:nvCxnSpPr>
        <p:spPr>
          <a:xfrm rot="16200000" flipH="1">
            <a:off x="-28642" y="2228857"/>
            <a:ext cx="1888598" cy="488272"/>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ZoneTexte 19"/>
          <p:cNvSpPr txBox="1"/>
          <p:nvPr/>
        </p:nvSpPr>
        <p:spPr>
          <a:xfrm>
            <a:off x="5145746" y="1528694"/>
            <a:ext cx="3038475" cy="646331"/>
          </a:xfrm>
          <a:prstGeom prst="rect">
            <a:avLst/>
          </a:prstGeom>
          <a:noFill/>
        </p:spPr>
        <p:txBody>
          <a:bodyPr wrap="square" rtlCol="0">
            <a:spAutoFit/>
          </a:bodyPr>
          <a:lstStyle/>
          <a:p>
            <a:r>
              <a:rPr lang="fr-FR" sz="1200" dirty="0" smtClean="0">
                <a:solidFill>
                  <a:srgbClr val="4D4F53"/>
                </a:solidFill>
              </a:rPr>
              <a:t>Indiquer le numéro de soumission</a:t>
            </a:r>
          </a:p>
          <a:p>
            <a:endParaRPr lang="fr-FR" sz="1200" dirty="0">
              <a:solidFill>
                <a:srgbClr val="4D4F53"/>
              </a:solidFill>
            </a:endParaRPr>
          </a:p>
          <a:p>
            <a:r>
              <a:rPr lang="fr-FR" sz="1200" dirty="0" smtClean="0">
                <a:solidFill>
                  <a:srgbClr val="4D4F53"/>
                </a:solidFill>
              </a:rPr>
              <a:t>Exécuter la transaction</a:t>
            </a:r>
          </a:p>
        </p:txBody>
      </p:sp>
      <p:sp>
        <p:nvSpPr>
          <p:cNvPr id="21" name="Ellipse 20"/>
          <p:cNvSpPr/>
          <p:nvPr/>
        </p:nvSpPr>
        <p:spPr>
          <a:xfrm>
            <a:off x="4990212"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4990212" y="19619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7" name="ZoneTexte 26"/>
          <p:cNvSpPr txBox="1"/>
          <p:nvPr/>
        </p:nvSpPr>
        <p:spPr>
          <a:xfrm>
            <a:off x="4919404" y="2315279"/>
            <a:ext cx="3936340" cy="1200329"/>
          </a:xfrm>
          <a:prstGeom prst="rect">
            <a:avLst/>
          </a:prstGeom>
          <a:noFill/>
        </p:spPr>
        <p:txBody>
          <a:bodyPr wrap="square" rtlCol="0">
            <a:spAutoFit/>
          </a:bodyPr>
          <a:lstStyle/>
          <a:p>
            <a:r>
              <a:rPr lang="fr-FR" sz="1200" dirty="0" smtClean="0">
                <a:solidFill>
                  <a:srgbClr val="4D4F53"/>
                </a:solidFill>
              </a:rPr>
              <a:t>La liste des demandes d’offres correspondant au numéro de soumission apparaît.</a:t>
            </a:r>
          </a:p>
          <a:p>
            <a:r>
              <a:rPr lang="fr-FR" sz="1200" dirty="0" smtClean="0">
                <a:solidFill>
                  <a:srgbClr val="4D4F53"/>
                </a:solidFill>
              </a:rPr>
              <a:t>Parmi les informations, on trouve le prix proposé par le fournisseur (s’il a répondu).</a:t>
            </a:r>
          </a:p>
          <a:p>
            <a:endParaRPr lang="fr-FR" sz="1200" dirty="0">
              <a:solidFill>
                <a:srgbClr val="4D4F53"/>
              </a:solidFill>
            </a:endParaRPr>
          </a:p>
          <a:p>
            <a:r>
              <a:rPr lang="fr-FR" sz="1200" dirty="0" smtClean="0">
                <a:solidFill>
                  <a:srgbClr val="4D4F53"/>
                </a:solidFill>
              </a:rPr>
              <a:t>Il est possible d’ouvrir un RFQ en double cliquant sur la ligne</a:t>
            </a:r>
          </a:p>
        </p:txBody>
      </p:sp>
    </p:spTree>
    <p:extLst>
      <p:ext uri="{BB962C8B-B14F-4D97-AF65-F5344CB8AC3E}">
        <p14:creationId xmlns:p14="http://schemas.microsoft.com/office/powerpoint/2010/main" val="1611957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5037223" y="1175920"/>
            <a:ext cx="3793456" cy="2289175"/>
          </a:xfrm>
          <a:prstGeom prst="rect">
            <a:avLst/>
          </a:prstGeom>
          <a:ln>
            <a:solidFill>
              <a:schemeClr val="tx1"/>
            </a:solidFill>
          </a:ln>
          <a:effectLst>
            <a:outerShdw blurRad="50800" dist="38100" dir="2700000" algn="tl" rotWithShape="0">
              <a:prstClr val="black">
                <a:alpha val="40000"/>
              </a:prstClr>
            </a:outerShdw>
          </a:effectLst>
        </p:spPr>
      </p:pic>
      <p:sp>
        <p:nvSpPr>
          <p:cNvPr id="7" name="Titre 3"/>
          <p:cNvSpPr>
            <a:spLocks noGrp="1"/>
          </p:cNvSpPr>
          <p:nvPr>
            <p:ph type="title"/>
          </p:nvPr>
        </p:nvSpPr>
        <p:spPr>
          <a:xfrm>
            <a:off x="457200" y="206375"/>
            <a:ext cx="8229600" cy="857250"/>
          </a:xfrm>
        </p:spPr>
        <p:txBody>
          <a:bodyPr>
            <a:normAutofit/>
          </a:bodyPr>
          <a:lstStyle/>
          <a:p>
            <a:r>
              <a:rPr lang="fr-FR" altLang="en-US" sz="2400" dirty="0" smtClean="0"/>
              <a:t>Reporting RFQ</a:t>
            </a:r>
            <a:br>
              <a:rPr lang="fr-FR" altLang="en-US" sz="2400" dirty="0" smtClean="0"/>
            </a:br>
            <a:r>
              <a:rPr lang="fr-FR" altLang="en-US" dirty="0" smtClean="0"/>
              <a:t>ME49 – Comparer les Offres fournisseur pour un numéro de soumission</a:t>
            </a:r>
            <a:endParaRPr lang="en-US" altLang="en-US" dirty="0" smtClean="0"/>
          </a:p>
        </p:txBody>
      </p:sp>
      <p:sp>
        <p:nvSpPr>
          <p:cNvPr id="9" name="Rectangle 8"/>
          <p:cNvSpPr/>
          <p:nvPr/>
        </p:nvSpPr>
        <p:spPr>
          <a:xfrm>
            <a:off x="6609210" y="1948952"/>
            <a:ext cx="492681"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0" name="Ellipse 9"/>
          <p:cNvSpPr/>
          <p:nvPr/>
        </p:nvSpPr>
        <p:spPr>
          <a:xfrm>
            <a:off x="6392464" y="19520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1" name="Rectangle 10"/>
          <p:cNvSpPr/>
          <p:nvPr/>
        </p:nvSpPr>
        <p:spPr>
          <a:xfrm>
            <a:off x="5143949" y="1439839"/>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2" name="Ellipse 11"/>
          <p:cNvSpPr/>
          <p:nvPr/>
        </p:nvSpPr>
        <p:spPr>
          <a:xfrm>
            <a:off x="5329691" y="14398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13" name="Connecteur en angle 12"/>
          <p:cNvCxnSpPr>
            <a:stCxn id="11" idx="1"/>
          </p:cNvCxnSpPr>
          <p:nvPr/>
        </p:nvCxnSpPr>
        <p:spPr>
          <a:xfrm rot="10800000" flipV="1">
            <a:off x="5101391" y="1511839"/>
            <a:ext cx="42559" cy="2117688"/>
          </a:xfrm>
          <a:prstGeom prst="bentConnector3">
            <a:avLst>
              <a:gd name="adj1" fmla="val 637137"/>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 name="Groupe 3"/>
          <p:cNvGrpSpPr/>
          <p:nvPr/>
        </p:nvGrpSpPr>
        <p:grpSpPr>
          <a:xfrm>
            <a:off x="527241" y="1368677"/>
            <a:ext cx="3194009" cy="1015663"/>
            <a:chOff x="4990212" y="1528694"/>
            <a:chExt cx="3194009" cy="1015663"/>
          </a:xfrm>
        </p:grpSpPr>
        <p:sp>
          <p:nvSpPr>
            <p:cNvPr id="14" name="ZoneTexte 13"/>
            <p:cNvSpPr txBox="1"/>
            <p:nvPr/>
          </p:nvSpPr>
          <p:spPr>
            <a:xfrm>
              <a:off x="5145746" y="1528694"/>
              <a:ext cx="3038475" cy="1015663"/>
            </a:xfrm>
            <a:prstGeom prst="rect">
              <a:avLst/>
            </a:prstGeom>
            <a:noFill/>
          </p:spPr>
          <p:txBody>
            <a:bodyPr wrap="square" rtlCol="0">
              <a:spAutoFit/>
            </a:bodyPr>
            <a:lstStyle/>
            <a:p>
              <a:r>
                <a:rPr lang="fr-FR" sz="1200" dirty="0" smtClean="0">
                  <a:solidFill>
                    <a:srgbClr val="4D4F53"/>
                  </a:solidFill>
                </a:rPr>
                <a:t>Saisir l’Organisation d’Achats en charge</a:t>
              </a:r>
            </a:p>
            <a:p>
              <a:endParaRPr lang="fr-FR" sz="1200" dirty="0">
                <a:solidFill>
                  <a:srgbClr val="4D4F53"/>
                </a:solidFill>
              </a:endParaRPr>
            </a:p>
            <a:p>
              <a:r>
                <a:rPr lang="fr-FR" sz="1200" dirty="0" smtClean="0">
                  <a:solidFill>
                    <a:srgbClr val="4D4F53"/>
                  </a:solidFill>
                </a:rPr>
                <a:t>Indiquer le numéro de soumission</a:t>
              </a:r>
            </a:p>
            <a:p>
              <a:endParaRPr lang="fr-FR" sz="1200" dirty="0">
                <a:solidFill>
                  <a:srgbClr val="4D4F53"/>
                </a:solidFill>
              </a:endParaRPr>
            </a:p>
            <a:p>
              <a:r>
                <a:rPr lang="fr-FR" sz="1200" dirty="0" smtClean="0">
                  <a:solidFill>
                    <a:srgbClr val="4D4F53"/>
                  </a:solidFill>
                </a:rPr>
                <a:t>Exécuter la transaction</a:t>
              </a:r>
            </a:p>
          </p:txBody>
        </p:sp>
        <p:sp>
          <p:nvSpPr>
            <p:cNvPr id="15" name="Ellipse 14"/>
            <p:cNvSpPr/>
            <p:nvPr/>
          </p:nvSpPr>
          <p:spPr>
            <a:xfrm>
              <a:off x="4990212"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6" name="Ellipse 15"/>
            <p:cNvSpPr/>
            <p:nvPr/>
          </p:nvSpPr>
          <p:spPr>
            <a:xfrm>
              <a:off x="4990212" y="19538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1" name="Ellipse 20"/>
            <p:cNvSpPr/>
            <p:nvPr/>
          </p:nvSpPr>
          <p:spPr>
            <a:xfrm>
              <a:off x="4990212" y="231691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18" name="ZoneTexte 17"/>
          <p:cNvSpPr txBox="1"/>
          <p:nvPr/>
        </p:nvSpPr>
        <p:spPr>
          <a:xfrm>
            <a:off x="457200" y="2600333"/>
            <a:ext cx="3936340" cy="1384995"/>
          </a:xfrm>
          <a:prstGeom prst="rect">
            <a:avLst/>
          </a:prstGeom>
          <a:noFill/>
        </p:spPr>
        <p:txBody>
          <a:bodyPr wrap="square" rtlCol="0">
            <a:spAutoFit/>
          </a:bodyPr>
          <a:lstStyle/>
          <a:p>
            <a:r>
              <a:rPr lang="fr-FR" sz="1200" dirty="0" smtClean="0">
                <a:solidFill>
                  <a:srgbClr val="4D4F53"/>
                </a:solidFill>
              </a:rPr>
              <a:t>La liste des Offres correspondant au numéro de soumission apparaît.</a:t>
            </a:r>
          </a:p>
          <a:p>
            <a:r>
              <a:rPr lang="fr-FR" sz="1200" dirty="0" smtClean="0">
                <a:solidFill>
                  <a:srgbClr val="4D4F53"/>
                </a:solidFill>
              </a:rPr>
              <a:t>Parmi les informations, on trouve le prix proposé par le fournisseur (s’il a répondu).</a:t>
            </a:r>
          </a:p>
          <a:p>
            <a:r>
              <a:rPr lang="fr-FR" sz="1200" dirty="0" smtClean="0">
                <a:solidFill>
                  <a:srgbClr val="4D4F53"/>
                </a:solidFill>
              </a:rPr>
              <a:t>SAP propose un rang en se basant uniquement sur le critère prix. Il est important d’apporter de l’intelligence métier (conditions, etc.) avant de prendre la décision de la source.</a:t>
            </a:r>
          </a:p>
        </p:txBody>
      </p:sp>
      <p:sp>
        <p:nvSpPr>
          <p:cNvPr id="19" name="Ellipse 18"/>
          <p:cNvSpPr/>
          <p:nvPr/>
        </p:nvSpPr>
        <p:spPr>
          <a:xfrm>
            <a:off x="6392464" y="16417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0" name="Rectangle 19"/>
          <p:cNvSpPr/>
          <p:nvPr/>
        </p:nvSpPr>
        <p:spPr>
          <a:xfrm>
            <a:off x="6612295" y="1669775"/>
            <a:ext cx="229839"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1391" y="3196310"/>
            <a:ext cx="3555776" cy="1160566"/>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872515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09583" y="1084369"/>
            <a:ext cx="3857380" cy="2064220"/>
          </a:xfrm>
          <a:prstGeom prst="rect">
            <a:avLst/>
          </a:prstGeom>
          <a:ln>
            <a:solidFill>
              <a:schemeClr val="tx1"/>
            </a:solidFill>
          </a:ln>
          <a:effectLst>
            <a:outerShdw blurRad="50800" dist="38100" dir="2700000" algn="tl" rotWithShape="0">
              <a:prstClr val="black">
                <a:alpha val="40000"/>
              </a:prstClr>
            </a:outerShdw>
          </a:effectLst>
        </p:spPr>
      </p:pic>
      <p:sp>
        <p:nvSpPr>
          <p:cNvPr id="9" name="Titre 3"/>
          <p:cNvSpPr>
            <a:spLocks noGrp="1"/>
          </p:cNvSpPr>
          <p:nvPr>
            <p:ph type="title"/>
          </p:nvPr>
        </p:nvSpPr>
        <p:spPr>
          <a:xfrm>
            <a:off x="457200" y="206375"/>
            <a:ext cx="8229600" cy="857250"/>
          </a:xfrm>
        </p:spPr>
        <p:txBody>
          <a:bodyPr>
            <a:normAutofit/>
          </a:bodyPr>
          <a:lstStyle/>
          <a:p>
            <a:r>
              <a:rPr lang="fr-FR" altLang="en-US" sz="2400" dirty="0" smtClean="0"/>
              <a:t>Reporting RFQ</a:t>
            </a:r>
            <a:br>
              <a:rPr lang="fr-FR" altLang="en-US" sz="2400" dirty="0" smtClean="0"/>
            </a:br>
            <a:r>
              <a:rPr lang="fr-FR" altLang="en-US" dirty="0" smtClean="0"/>
              <a:t>ME4M – Afficher a liste des RFQ pour un code article</a:t>
            </a:r>
            <a:endParaRPr lang="en-US" altLang="en-US" dirty="0" smtClean="0"/>
          </a:p>
        </p:txBody>
      </p:sp>
      <p:sp>
        <p:nvSpPr>
          <p:cNvPr id="13" name="Rectangle 12"/>
          <p:cNvSpPr/>
          <p:nvPr/>
        </p:nvSpPr>
        <p:spPr>
          <a:xfrm>
            <a:off x="2224445" y="1620686"/>
            <a:ext cx="906213" cy="12900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2007699" y="16206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Rectangle 14"/>
          <p:cNvSpPr/>
          <p:nvPr/>
        </p:nvSpPr>
        <p:spPr>
          <a:xfrm>
            <a:off x="599521" y="1361447"/>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Ellipse 15"/>
          <p:cNvSpPr/>
          <p:nvPr/>
        </p:nvSpPr>
        <p:spPr>
          <a:xfrm>
            <a:off x="2521415" y="17378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cxnSp>
        <p:nvCxnSpPr>
          <p:cNvPr id="12" name="Connecteur en angle 11"/>
          <p:cNvCxnSpPr>
            <a:stCxn id="15" idx="2"/>
            <a:endCxn id="3" idx="1"/>
          </p:cNvCxnSpPr>
          <p:nvPr/>
        </p:nvCxnSpPr>
        <p:spPr>
          <a:xfrm rot="16200000" flipH="1">
            <a:off x="16726" y="2160241"/>
            <a:ext cx="1979236" cy="669647"/>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ZoneTexte 19"/>
          <p:cNvSpPr txBox="1"/>
          <p:nvPr/>
        </p:nvSpPr>
        <p:spPr>
          <a:xfrm>
            <a:off x="5145746" y="1528694"/>
            <a:ext cx="3665040" cy="3046988"/>
          </a:xfrm>
          <a:prstGeom prst="rect">
            <a:avLst/>
          </a:prstGeom>
          <a:noFill/>
        </p:spPr>
        <p:txBody>
          <a:bodyPr wrap="square" rtlCol="0">
            <a:spAutoFit/>
          </a:bodyPr>
          <a:lstStyle/>
          <a:p>
            <a:r>
              <a:rPr lang="fr-FR" sz="1200" dirty="0" smtClean="0">
                <a:solidFill>
                  <a:srgbClr val="4D4F53"/>
                </a:solidFill>
              </a:rPr>
              <a:t>Indiquer le numéro de soumission</a:t>
            </a:r>
          </a:p>
          <a:p>
            <a:endParaRPr lang="fr-FR" sz="1200" dirty="0">
              <a:solidFill>
                <a:srgbClr val="4D4F53"/>
              </a:solidFill>
            </a:endParaRPr>
          </a:p>
          <a:p>
            <a:r>
              <a:rPr lang="fr-FR" sz="1200" dirty="0">
                <a:solidFill>
                  <a:srgbClr val="4D4F53"/>
                </a:solidFill>
              </a:rPr>
              <a:t>Saisir la division</a:t>
            </a:r>
          </a:p>
          <a:p>
            <a:endParaRPr lang="fr-FR" sz="1200" dirty="0">
              <a:solidFill>
                <a:srgbClr val="4D4F53"/>
              </a:solidFill>
            </a:endParaRPr>
          </a:p>
          <a:p>
            <a:r>
              <a:rPr lang="fr-FR" sz="1200" dirty="0">
                <a:solidFill>
                  <a:srgbClr val="4D4F53"/>
                </a:solidFill>
              </a:rPr>
              <a:t>Saisir </a:t>
            </a:r>
            <a:r>
              <a:rPr lang="fr-FR" sz="1200" dirty="0" smtClean="0">
                <a:solidFill>
                  <a:srgbClr val="4D4F53"/>
                </a:solidFill>
              </a:rPr>
              <a:t>l’Organisation d’Achats</a:t>
            </a:r>
            <a:endParaRPr lang="fr-FR" sz="1200" dirty="0">
              <a:solidFill>
                <a:srgbClr val="4D4F53"/>
              </a:solidFill>
            </a:endParaRPr>
          </a:p>
          <a:p>
            <a:endParaRPr lang="fr-FR" sz="1200" dirty="0">
              <a:solidFill>
                <a:srgbClr val="4D4F53"/>
              </a:solidFill>
            </a:endParaRPr>
          </a:p>
          <a:p>
            <a:r>
              <a:rPr lang="fr-FR" sz="1200" dirty="0" smtClean="0">
                <a:solidFill>
                  <a:srgbClr val="4D4F53"/>
                </a:solidFill>
              </a:rPr>
              <a:t>Exécuter la transaction</a:t>
            </a:r>
          </a:p>
          <a:p>
            <a:endParaRPr lang="fr-FR" sz="1200" dirty="0" smtClean="0">
              <a:solidFill>
                <a:srgbClr val="4D4F53"/>
              </a:solidFill>
            </a:endParaRPr>
          </a:p>
          <a:p>
            <a:r>
              <a:rPr lang="fr-FR" sz="1200" dirty="0" smtClean="0">
                <a:solidFill>
                  <a:srgbClr val="4D4F53"/>
                </a:solidFill>
              </a:rPr>
              <a:t>La </a:t>
            </a:r>
            <a:r>
              <a:rPr lang="fr-FR" sz="1200" dirty="0">
                <a:solidFill>
                  <a:srgbClr val="4D4F53"/>
                </a:solidFill>
              </a:rPr>
              <a:t>liste des demandes d’offres correspondant au numéro article apparaît.</a:t>
            </a:r>
          </a:p>
          <a:p>
            <a:r>
              <a:rPr lang="fr-FR" sz="1200" dirty="0">
                <a:solidFill>
                  <a:srgbClr val="4D4F53"/>
                </a:solidFill>
              </a:rPr>
              <a:t>Parmi les informations, on trouve le prix proposé par le fournisseur (s’il a répondu).</a:t>
            </a:r>
          </a:p>
          <a:p>
            <a:endParaRPr lang="fr-FR" sz="1200" dirty="0">
              <a:solidFill>
                <a:srgbClr val="4D4F53"/>
              </a:solidFill>
            </a:endParaRPr>
          </a:p>
          <a:p>
            <a:r>
              <a:rPr lang="fr-FR" sz="1200" dirty="0">
                <a:solidFill>
                  <a:srgbClr val="4D4F53"/>
                </a:solidFill>
              </a:rPr>
              <a:t>Il est possible d’ouvrir un RFQ en double cliquant sur la ligne</a:t>
            </a:r>
          </a:p>
          <a:p>
            <a:endParaRPr lang="fr-FR" sz="1200" dirty="0" smtClean="0">
              <a:solidFill>
                <a:srgbClr val="4D4F53"/>
              </a:solidFill>
            </a:endParaRPr>
          </a:p>
        </p:txBody>
      </p:sp>
      <p:sp>
        <p:nvSpPr>
          <p:cNvPr id="21" name="Ellipse 20"/>
          <p:cNvSpPr/>
          <p:nvPr/>
        </p:nvSpPr>
        <p:spPr>
          <a:xfrm>
            <a:off x="4990212"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4990212" y="19619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7" name="Ellipse 16"/>
          <p:cNvSpPr/>
          <p:nvPr/>
        </p:nvSpPr>
        <p:spPr>
          <a:xfrm>
            <a:off x="2007699" y="19100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8" name="Ellipse 17"/>
          <p:cNvSpPr/>
          <p:nvPr/>
        </p:nvSpPr>
        <p:spPr>
          <a:xfrm>
            <a:off x="379132" y="13444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9" name="Ellipse 18"/>
          <p:cNvSpPr/>
          <p:nvPr/>
        </p:nvSpPr>
        <p:spPr>
          <a:xfrm>
            <a:off x="1107265" y="375118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3" name="Image 2"/>
          <p:cNvPicPr>
            <a:picLocks noChangeAspect="1"/>
          </p:cNvPicPr>
          <p:nvPr/>
        </p:nvPicPr>
        <p:blipFill>
          <a:blip r:embed="rId3"/>
          <a:stretch>
            <a:fillRect/>
          </a:stretch>
        </p:blipFill>
        <p:spPr>
          <a:xfrm>
            <a:off x="1341168" y="2579371"/>
            <a:ext cx="3230832" cy="1810624"/>
          </a:xfrm>
          <a:prstGeom prst="rect">
            <a:avLst/>
          </a:prstGeom>
          <a:ln>
            <a:solidFill>
              <a:schemeClr val="tx1"/>
            </a:solidFill>
          </a:ln>
          <a:effectLst>
            <a:outerShdw blurRad="50800" dist="38100" dir="2700000" algn="tl" rotWithShape="0">
              <a:prstClr val="black">
                <a:alpha val="40000"/>
              </a:prstClr>
            </a:outerShdw>
          </a:effectLst>
        </p:spPr>
      </p:pic>
      <p:sp>
        <p:nvSpPr>
          <p:cNvPr id="4" name="Rectangle 3"/>
          <p:cNvSpPr/>
          <p:nvPr/>
        </p:nvSpPr>
        <p:spPr>
          <a:xfrm>
            <a:off x="2224445" y="1769401"/>
            <a:ext cx="247293" cy="12892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
        <p:nvSpPr>
          <p:cNvPr id="23" name="Rectangle 22"/>
          <p:cNvSpPr/>
          <p:nvPr/>
        </p:nvSpPr>
        <p:spPr>
          <a:xfrm>
            <a:off x="2224445" y="1925645"/>
            <a:ext cx="247293" cy="12892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
        <p:nvSpPr>
          <p:cNvPr id="24" name="Ellipse 23"/>
          <p:cNvSpPr/>
          <p:nvPr/>
        </p:nvSpPr>
        <p:spPr>
          <a:xfrm>
            <a:off x="4990212" y="23172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5" name="Ellipse 24"/>
          <p:cNvSpPr/>
          <p:nvPr/>
        </p:nvSpPr>
        <p:spPr>
          <a:xfrm>
            <a:off x="4990212" y="26725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26" name="Image 25"/>
          <p:cNvPicPr>
            <a:picLocks noChangeAspect="1"/>
          </p:cNvPicPr>
          <p:nvPr/>
        </p:nvPicPr>
        <p:blipFill>
          <a:blip r:embed="rId4"/>
          <a:stretch>
            <a:fillRect/>
          </a:stretch>
        </p:blipFill>
        <p:spPr>
          <a:xfrm>
            <a:off x="6725774" y="2654617"/>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28" name="Ellipse 27"/>
          <p:cNvSpPr/>
          <p:nvPr/>
        </p:nvSpPr>
        <p:spPr>
          <a:xfrm>
            <a:off x="4990212" y="30521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Tree>
    <p:extLst>
      <p:ext uri="{BB962C8B-B14F-4D97-AF65-F5344CB8AC3E}">
        <p14:creationId xmlns:p14="http://schemas.microsoft.com/office/powerpoint/2010/main" val="21389321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27035" y="1137694"/>
            <a:ext cx="3239840" cy="1496312"/>
          </a:xfrm>
          <a:prstGeom prst="rect">
            <a:avLst/>
          </a:prstGeom>
          <a:ln>
            <a:solidFill>
              <a:schemeClr val="tx1"/>
            </a:solidFill>
          </a:ln>
          <a:effectLst>
            <a:outerShdw blurRad="50800" dist="38100" dir="2700000" algn="tl" rotWithShape="0">
              <a:prstClr val="black">
                <a:alpha val="40000"/>
              </a:prstClr>
            </a:outerShdw>
          </a:effectLst>
        </p:spPr>
      </p:pic>
      <p:sp>
        <p:nvSpPr>
          <p:cNvPr id="9" name="Titre 3"/>
          <p:cNvSpPr>
            <a:spLocks noGrp="1"/>
          </p:cNvSpPr>
          <p:nvPr>
            <p:ph type="title"/>
          </p:nvPr>
        </p:nvSpPr>
        <p:spPr>
          <a:xfrm>
            <a:off x="457200" y="206375"/>
            <a:ext cx="8229600" cy="857250"/>
          </a:xfrm>
        </p:spPr>
        <p:txBody>
          <a:bodyPr>
            <a:normAutofit/>
          </a:bodyPr>
          <a:lstStyle/>
          <a:p>
            <a:r>
              <a:rPr lang="fr-FR" altLang="en-US" sz="2400" dirty="0" smtClean="0"/>
              <a:t>Reporting RFQ</a:t>
            </a:r>
            <a:br>
              <a:rPr lang="fr-FR" altLang="en-US" sz="2400" dirty="0" smtClean="0"/>
            </a:br>
            <a:r>
              <a:rPr lang="fr-FR" altLang="en-US" dirty="0" smtClean="0"/>
              <a:t>ME4L – Afficher a liste des RFQ pour un fournisseur</a:t>
            </a:r>
            <a:endParaRPr lang="en-US" altLang="en-US" dirty="0" smtClean="0"/>
          </a:p>
        </p:txBody>
      </p:sp>
      <p:sp>
        <p:nvSpPr>
          <p:cNvPr id="13" name="Rectangle 12"/>
          <p:cNvSpPr/>
          <p:nvPr/>
        </p:nvSpPr>
        <p:spPr>
          <a:xfrm>
            <a:off x="2115959" y="1617582"/>
            <a:ext cx="492681"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1899213" y="16206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Rectangle 14"/>
          <p:cNvSpPr/>
          <p:nvPr/>
        </p:nvSpPr>
        <p:spPr>
          <a:xfrm>
            <a:off x="599521" y="1384694"/>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Ellipse 15"/>
          <p:cNvSpPr/>
          <p:nvPr/>
        </p:nvSpPr>
        <p:spPr>
          <a:xfrm>
            <a:off x="785263" y="13846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12" name="Connecteur en angle 11"/>
          <p:cNvCxnSpPr>
            <a:stCxn id="15" idx="2"/>
          </p:cNvCxnSpPr>
          <p:nvPr/>
        </p:nvCxnSpPr>
        <p:spPr>
          <a:xfrm rot="16200000" flipH="1">
            <a:off x="-28642" y="2228857"/>
            <a:ext cx="1888598" cy="488272"/>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ZoneTexte 19"/>
          <p:cNvSpPr txBox="1"/>
          <p:nvPr/>
        </p:nvSpPr>
        <p:spPr>
          <a:xfrm>
            <a:off x="5355972" y="1528694"/>
            <a:ext cx="3038475" cy="1015663"/>
          </a:xfrm>
          <a:prstGeom prst="rect">
            <a:avLst/>
          </a:prstGeom>
          <a:noFill/>
        </p:spPr>
        <p:txBody>
          <a:bodyPr wrap="square" rtlCol="0">
            <a:spAutoFit/>
          </a:bodyPr>
          <a:lstStyle/>
          <a:p>
            <a:r>
              <a:rPr lang="fr-FR" sz="1200" dirty="0" smtClean="0">
                <a:solidFill>
                  <a:srgbClr val="4D4F53"/>
                </a:solidFill>
              </a:rPr>
              <a:t>Indiquer le Code Fournisseur</a:t>
            </a:r>
          </a:p>
          <a:p>
            <a:endParaRPr lang="fr-FR" sz="1200" dirty="0">
              <a:solidFill>
                <a:srgbClr val="4D4F53"/>
              </a:solidFill>
            </a:endParaRPr>
          </a:p>
          <a:p>
            <a:r>
              <a:rPr lang="fr-FR" sz="1200" dirty="0" smtClean="0">
                <a:solidFill>
                  <a:srgbClr val="4D4F53"/>
                </a:solidFill>
              </a:rPr>
              <a:t>Indiquer une Organisation d’Achats</a:t>
            </a:r>
          </a:p>
          <a:p>
            <a:endParaRPr lang="fr-FR" sz="1200" dirty="0">
              <a:solidFill>
                <a:srgbClr val="4D4F53"/>
              </a:solidFill>
            </a:endParaRPr>
          </a:p>
          <a:p>
            <a:r>
              <a:rPr lang="fr-FR" sz="1200" dirty="0" smtClean="0">
                <a:solidFill>
                  <a:srgbClr val="4D4F53"/>
                </a:solidFill>
              </a:rPr>
              <a:t>Exécuter la transaction </a:t>
            </a:r>
          </a:p>
        </p:txBody>
      </p:sp>
      <p:sp>
        <p:nvSpPr>
          <p:cNvPr id="21" name="Ellipse 20"/>
          <p:cNvSpPr/>
          <p:nvPr/>
        </p:nvSpPr>
        <p:spPr>
          <a:xfrm>
            <a:off x="5200438"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200438" y="19619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7" name="ZoneTexte 26"/>
          <p:cNvSpPr txBox="1"/>
          <p:nvPr/>
        </p:nvSpPr>
        <p:spPr>
          <a:xfrm>
            <a:off x="5355972" y="2623872"/>
            <a:ext cx="3483228" cy="1384995"/>
          </a:xfrm>
          <a:prstGeom prst="rect">
            <a:avLst/>
          </a:prstGeom>
          <a:noFill/>
        </p:spPr>
        <p:txBody>
          <a:bodyPr wrap="square" rtlCol="0">
            <a:spAutoFit/>
          </a:bodyPr>
          <a:lstStyle/>
          <a:p>
            <a:r>
              <a:rPr lang="fr-FR" sz="1200" dirty="0" smtClean="0">
                <a:solidFill>
                  <a:srgbClr val="4D4F53"/>
                </a:solidFill>
              </a:rPr>
              <a:t>La liste des demandes d’offres soumises au fournisseur, pour l’organisation d’achats, apparaît.</a:t>
            </a:r>
          </a:p>
          <a:p>
            <a:r>
              <a:rPr lang="fr-FR" sz="1200" dirty="0" smtClean="0">
                <a:solidFill>
                  <a:srgbClr val="4D4F53"/>
                </a:solidFill>
              </a:rPr>
              <a:t>Parmi les informations, on trouve le prix proposé par le fournisseur (s’il a répondu).</a:t>
            </a:r>
          </a:p>
          <a:p>
            <a:endParaRPr lang="fr-FR" sz="1200" dirty="0">
              <a:solidFill>
                <a:srgbClr val="4D4F53"/>
              </a:solidFill>
            </a:endParaRPr>
          </a:p>
          <a:p>
            <a:r>
              <a:rPr lang="fr-FR" sz="1200" dirty="0" smtClean="0">
                <a:solidFill>
                  <a:srgbClr val="4D4F53"/>
                </a:solidFill>
              </a:rPr>
              <a:t>Il est possible d’ouvrir un RFQ en double cliquant sur la ligne</a:t>
            </a:r>
          </a:p>
        </p:txBody>
      </p:sp>
      <p:sp>
        <p:nvSpPr>
          <p:cNvPr id="17" name="Rectangle 16"/>
          <p:cNvSpPr/>
          <p:nvPr/>
        </p:nvSpPr>
        <p:spPr>
          <a:xfrm>
            <a:off x="2115960" y="1775261"/>
            <a:ext cx="212904"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8" name="Ellipse 17"/>
          <p:cNvSpPr/>
          <p:nvPr/>
        </p:nvSpPr>
        <p:spPr>
          <a:xfrm>
            <a:off x="2362299" y="1764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pic>
        <p:nvPicPr>
          <p:cNvPr id="19" name="Image 18"/>
          <p:cNvPicPr>
            <a:picLocks noChangeAspect="1"/>
          </p:cNvPicPr>
          <p:nvPr/>
        </p:nvPicPr>
        <p:blipFill>
          <a:blip r:embed="rId3"/>
          <a:stretch>
            <a:fillRect/>
          </a:stretch>
        </p:blipFill>
        <p:spPr>
          <a:xfrm>
            <a:off x="6936000" y="2315279"/>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23" name="Ellipse 22"/>
          <p:cNvSpPr/>
          <p:nvPr/>
        </p:nvSpPr>
        <p:spPr>
          <a:xfrm>
            <a:off x="5200438" y="23184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4" name="Ellipse 23"/>
          <p:cNvSpPr/>
          <p:nvPr/>
        </p:nvSpPr>
        <p:spPr>
          <a:xfrm>
            <a:off x="5200438" y="26749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3" name="Image 2"/>
          <p:cNvPicPr>
            <a:picLocks noChangeAspect="1"/>
          </p:cNvPicPr>
          <p:nvPr/>
        </p:nvPicPr>
        <p:blipFill>
          <a:blip r:embed="rId4"/>
          <a:stretch>
            <a:fillRect/>
          </a:stretch>
        </p:blipFill>
        <p:spPr>
          <a:xfrm>
            <a:off x="1159793" y="2472993"/>
            <a:ext cx="3375765" cy="1767416"/>
          </a:xfrm>
          <a:prstGeom prst="rect">
            <a:avLst/>
          </a:prstGeom>
          <a:ln>
            <a:solidFill>
              <a:schemeClr val="tx1"/>
            </a:solidFill>
          </a:ln>
          <a:effectLst>
            <a:outerShdw blurRad="50800" dist="38100" dir="2700000" algn="tl" rotWithShape="0">
              <a:prstClr val="black">
                <a:alpha val="40000"/>
              </a:prstClr>
            </a:outerShdw>
          </a:effectLst>
        </p:spPr>
      </p:pic>
      <p:sp>
        <p:nvSpPr>
          <p:cNvPr id="25" name="Ellipse 24"/>
          <p:cNvSpPr/>
          <p:nvPr/>
        </p:nvSpPr>
        <p:spPr>
          <a:xfrm>
            <a:off x="3143038" y="341642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Tree>
    <p:extLst>
      <p:ext uri="{BB962C8B-B14F-4D97-AF65-F5344CB8AC3E}">
        <p14:creationId xmlns:p14="http://schemas.microsoft.com/office/powerpoint/2010/main" val="21702060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p:cNvGrpSpPr/>
          <p:nvPr/>
        </p:nvGrpSpPr>
        <p:grpSpPr>
          <a:xfrm>
            <a:off x="457200" y="1135703"/>
            <a:ext cx="4105529" cy="3046988"/>
            <a:chOff x="425491" y="1232489"/>
            <a:chExt cx="4105529" cy="3046988"/>
          </a:xfrm>
        </p:grpSpPr>
        <p:sp>
          <p:nvSpPr>
            <p:cNvPr id="6" name="ZoneTexte 5"/>
            <p:cNvSpPr txBox="1"/>
            <p:nvPr/>
          </p:nvSpPr>
          <p:spPr>
            <a:xfrm>
              <a:off x="581025" y="1232489"/>
              <a:ext cx="3949995" cy="3046988"/>
            </a:xfrm>
            <a:prstGeom prst="rect">
              <a:avLst/>
            </a:prstGeom>
            <a:noFill/>
          </p:spPr>
          <p:txBody>
            <a:bodyPr wrap="square" rtlCol="0">
              <a:spAutoFit/>
            </a:bodyPr>
            <a:lstStyle/>
            <a:p>
              <a:r>
                <a:rPr lang="fr-FR" sz="1200" dirty="0" smtClean="0">
                  <a:solidFill>
                    <a:srgbClr val="4D4F53"/>
                  </a:solidFill>
                </a:rPr>
                <a:t>Saisir groupe d’acheteurs</a:t>
              </a:r>
            </a:p>
            <a:p>
              <a:endParaRPr lang="fr-FR" sz="1200" dirty="0">
                <a:solidFill>
                  <a:srgbClr val="4D4F53"/>
                </a:solidFill>
              </a:endParaRPr>
            </a:p>
            <a:p>
              <a:r>
                <a:rPr lang="fr-FR" sz="1200" dirty="0" smtClean="0">
                  <a:solidFill>
                    <a:srgbClr val="4D4F53"/>
                  </a:solidFill>
                </a:rPr>
                <a:t>Saisir l’étendu de liste = A</a:t>
              </a:r>
            </a:p>
            <a:p>
              <a:endParaRPr lang="fr-FR" sz="1200" dirty="0">
                <a:solidFill>
                  <a:srgbClr val="4D4F53"/>
                </a:solidFill>
              </a:endParaRPr>
            </a:p>
            <a:p>
              <a:r>
                <a:rPr lang="fr-FR" sz="1200" dirty="0" smtClean="0">
                  <a:solidFill>
                    <a:srgbClr val="4D4F53"/>
                  </a:solidFill>
                </a:rPr>
                <a:t>Saisir la division</a:t>
              </a:r>
            </a:p>
            <a:p>
              <a:endParaRPr lang="fr-FR" sz="1200" dirty="0">
                <a:solidFill>
                  <a:srgbClr val="4D4F53"/>
                </a:solidFill>
              </a:endParaRPr>
            </a:p>
            <a:p>
              <a:r>
                <a:rPr lang="fr-FR" sz="1200" dirty="0" smtClean="0">
                  <a:solidFill>
                    <a:srgbClr val="4D4F53"/>
                  </a:solidFill>
                </a:rPr>
                <a:t>Saisir le type de poste</a:t>
              </a:r>
            </a:p>
            <a:p>
              <a:endParaRPr lang="fr-FR" sz="1200" dirty="0">
                <a:solidFill>
                  <a:srgbClr val="4D4F53"/>
                </a:solidFill>
              </a:endParaRPr>
            </a:p>
            <a:p>
              <a:r>
                <a:rPr lang="fr-FR" sz="1200" dirty="0" smtClean="0">
                  <a:solidFill>
                    <a:srgbClr val="4D4F53"/>
                  </a:solidFill>
                </a:rPr>
                <a:t>Saisir le type d’imputation</a:t>
              </a:r>
            </a:p>
            <a:p>
              <a:endParaRPr lang="fr-FR" sz="1200" dirty="0" smtClean="0">
                <a:solidFill>
                  <a:srgbClr val="4D4F53"/>
                </a:solidFill>
              </a:endParaRPr>
            </a:p>
            <a:p>
              <a:r>
                <a:rPr lang="fr-FR" sz="1200" dirty="0" smtClean="0">
                  <a:solidFill>
                    <a:srgbClr val="4D4F53"/>
                  </a:solidFill>
                </a:rPr>
                <a:t>Décocher</a:t>
              </a:r>
            </a:p>
            <a:p>
              <a:endParaRPr lang="fr-FR" sz="1200" dirty="0">
                <a:solidFill>
                  <a:srgbClr val="4D4F53"/>
                </a:solidFill>
              </a:endParaRPr>
            </a:p>
            <a:p>
              <a:r>
                <a:rPr lang="fr-FR" sz="1200" dirty="0" smtClean="0">
                  <a:solidFill>
                    <a:srgbClr val="4D4F53"/>
                  </a:solidFill>
                </a:rPr>
                <a:t>Exécuter la transaction en appuyant sur</a:t>
              </a:r>
            </a:p>
            <a:p>
              <a:endParaRPr lang="fr-FR" sz="1200" dirty="0">
                <a:solidFill>
                  <a:srgbClr val="4D4F53"/>
                </a:solidFill>
              </a:endParaRPr>
            </a:p>
            <a:p>
              <a:r>
                <a:rPr lang="fr-FR" sz="1200" dirty="0" smtClean="0">
                  <a:solidFill>
                    <a:srgbClr val="4D4F53"/>
                  </a:solidFill>
                </a:rPr>
                <a:t>La liste des Demandes d’Achats non affectées, correspondant aux critères de sélection, apparaît</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9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4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4015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5491" y="276487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2" name="Ellipse 31"/>
            <p:cNvSpPr/>
            <p:nvPr/>
          </p:nvSpPr>
          <p:spPr>
            <a:xfrm>
              <a:off x="425491" y="31239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3" name="Ellipse 32"/>
            <p:cNvSpPr/>
            <p:nvPr/>
          </p:nvSpPr>
          <p:spPr>
            <a:xfrm>
              <a:off x="425491" y="34963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6" name="Ellipse 35"/>
            <p:cNvSpPr/>
            <p:nvPr/>
          </p:nvSpPr>
          <p:spPr>
            <a:xfrm>
              <a:off x="425491" y="38519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grpSp>
      <p:pic>
        <p:nvPicPr>
          <p:cNvPr id="4" name="Image 3"/>
          <p:cNvPicPr>
            <a:picLocks noChangeAspect="1"/>
          </p:cNvPicPr>
          <p:nvPr/>
        </p:nvPicPr>
        <p:blipFill>
          <a:blip r:embed="rId2"/>
          <a:stretch>
            <a:fillRect/>
          </a:stretch>
        </p:blipFill>
        <p:spPr>
          <a:xfrm>
            <a:off x="5407710" y="2060931"/>
            <a:ext cx="3558128" cy="2193779"/>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3190497" y="1135703"/>
            <a:ext cx="2069995" cy="1821596"/>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smtClean="0"/>
              <a:t>Reporting Demandes d’Achats</a:t>
            </a:r>
            <a:br>
              <a:rPr lang="fr-FR" altLang="en-US" sz="2400" dirty="0" smtClean="0"/>
            </a:br>
            <a:r>
              <a:rPr lang="fr-FR" altLang="en-US" dirty="0" smtClean="0"/>
              <a:t>ME57 – Afficher les demande d’Achat non affectées</a:t>
            </a:r>
            <a:endParaRPr lang="en-US" dirty="0"/>
          </a:p>
        </p:txBody>
      </p:sp>
      <p:pic>
        <p:nvPicPr>
          <p:cNvPr id="7" name="Image 6"/>
          <p:cNvPicPr>
            <a:picLocks noChangeAspect="1"/>
          </p:cNvPicPr>
          <p:nvPr/>
        </p:nvPicPr>
        <p:blipFill>
          <a:blip r:embed="rId4"/>
          <a:stretch>
            <a:fillRect/>
          </a:stretch>
        </p:blipFill>
        <p:spPr>
          <a:xfrm>
            <a:off x="3237381" y="3381629"/>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18" name="Ellipse 17"/>
          <p:cNvSpPr/>
          <p:nvPr/>
        </p:nvSpPr>
        <p:spPr>
          <a:xfrm>
            <a:off x="4890521" y="16981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4591925" y="1716617"/>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4890521" y="22140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4591925" y="2232516"/>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5"/>
          <a:stretch>
            <a:fillRect/>
          </a:stretch>
        </p:blipFill>
        <p:spPr>
          <a:xfrm>
            <a:off x="1374530" y="3004429"/>
            <a:ext cx="1771650" cy="200025"/>
          </a:xfrm>
          <a:prstGeom prst="rect">
            <a:avLst/>
          </a:prstGeom>
          <a:ln>
            <a:solidFill>
              <a:schemeClr val="tx1"/>
            </a:solidFill>
          </a:ln>
          <a:effectLst>
            <a:outerShdw blurRad="50800" dist="38100" dir="2700000" algn="tl" rotWithShape="0">
              <a:prstClr val="black">
                <a:alpha val="40000"/>
              </a:prstClr>
            </a:outerShdw>
          </a:effectLst>
        </p:spPr>
      </p:pic>
      <p:sp>
        <p:nvSpPr>
          <p:cNvPr id="22" name="Ellipse 21"/>
          <p:cNvSpPr/>
          <p:nvPr/>
        </p:nvSpPr>
        <p:spPr>
          <a:xfrm>
            <a:off x="4890521" y="23501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3" name="Rectangle 22"/>
          <p:cNvSpPr/>
          <p:nvPr/>
        </p:nvSpPr>
        <p:spPr>
          <a:xfrm>
            <a:off x="4591925" y="2368599"/>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4890521" y="26099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Rectangle 28"/>
          <p:cNvSpPr/>
          <p:nvPr/>
        </p:nvSpPr>
        <p:spPr>
          <a:xfrm>
            <a:off x="4591925" y="2628408"/>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890521" y="27299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1" name="Rectangle 30"/>
          <p:cNvSpPr/>
          <p:nvPr/>
        </p:nvSpPr>
        <p:spPr>
          <a:xfrm>
            <a:off x="4591925" y="2748415"/>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Ellipse 33"/>
          <p:cNvSpPr/>
          <p:nvPr/>
        </p:nvSpPr>
        <p:spPr>
          <a:xfrm>
            <a:off x="2973223" y="135592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5" name="Rectangle 34"/>
          <p:cNvSpPr/>
          <p:nvPr/>
        </p:nvSpPr>
        <p:spPr>
          <a:xfrm>
            <a:off x="3219360" y="1374394"/>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5" name="Connecteur en angle 14"/>
          <p:cNvCxnSpPr>
            <a:stCxn id="3" idx="2"/>
            <a:endCxn id="4" idx="1"/>
          </p:cNvCxnSpPr>
          <p:nvPr/>
        </p:nvCxnSpPr>
        <p:spPr>
          <a:xfrm rot="16200000" flipH="1">
            <a:off x="4716341" y="2466452"/>
            <a:ext cx="200522" cy="1182215"/>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7" name="Ellipse 36"/>
          <p:cNvSpPr/>
          <p:nvPr/>
        </p:nvSpPr>
        <p:spPr>
          <a:xfrm>
            <a:off x="7537342" y="23517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Tree>
    <p:extLst>
      <p:ext uri="{BB962C8B-B14F-4D97-AF65-F5344CB8AC3E}">
        <p14:creationId xmlns:p14="http://schemas.microsoft.com/office/powerpoint/2010/main" val="31040011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a:blip r:embed="rId2"/>
          <a:stretch>
            <a:fillRect/>
          </a:stretch>
        </p:blipFill>
        <p:spPr>
          <a:xfrm>
            <a:off x="3182724" y="993783"/>
            <a:ext cx="3216290" cy="1843696"/>
          </a:xfrm>
          <a:prstGeom prst="rect">
            <a:avLst/>
          </a:prstGeom>
          <a:ln>
            <a:solidFill>
              <a:schemeClr val="tx1"/>
            </a:solidFill>
          </a:ln>
          <a:effectLst>
            <a:outerShdw blurRad="50800" dist="38100" dir="2700000" algn="tl" rotWithShape="0">
              <a:prstClr val="black">
                <a:alpha val="40000"/>
              </a:prstClr>
            </a:outerShdw>
          </a:effectLst>
        </p:spPr>
      </p:pic>
      <p:pic>
        <p:nvPicPr>
          <p:cNvPr id="4" name="Image 3"/>
          <p:cNvPicPr>
            <a:picLocks noChangeAspect="1"/>
          </p:cNvPicPr>
          <p:nvPr/>
        </p:nvPicPr>
        <p:blipFill>
          <a:blip r:embed="rId3"/>
          <a:stretch>
            <a:fillRect/>
          </a:stretch>
        </p:blipFill>
        <p:spPr>
          <a:xfrm>
            <a:off x="5407710" y="1907539"/>
            <a:ext cx="3558128" cy="2193779"/>
          </a:xfrm>
          <a:prstGeom prst="rect">
            <a:avLst/>
          </a:prstGeom>
          <a:ln>
            <a:solidFill>
              <a:schemeClr val="tx1"/>
            </a:solidFill>
          </a:ln>
          <a:effectLst>
            <a:outerShdw blurRad="50800" dist="38100" dir="2700000" algn="tl" rotWithShape="0">
              <a:prstClr val="black">
                <a:alpha val="40000"/>
              </a:prstClr>
            </a:outerShdw>
          </a:effectLst>
        </p:spPr>
      </p:pic>
      <p:sp>
        <p:nvSpPr>
          <p:cNvPr id="39" name="ZoneTexte 38"/>
          <p:cNvSpPr txBox="1"/>
          <p:nvPr/>
        </p:nvSpPr>
        <p:spPr>
          <a:xfrm>
            <a:off x="612734" y="1135703"/>
            <a:ext cx="3949995" cy="3416320"/>
          </a:xfrm>
          <a:prstGeom prst="rect">
            <a:avLst/>
          </a:prstGeom>
          <a:noFill/>
        </p:spPr>
        <p:txBody>
          <a:bodyPr wrap="square" rtlCol="0">
            <a:spAutoFit/>
          </a:bodyPr>
          <a:lstStyle/>
          <a:p>
            <a:r>
              <a:rPr lang="fr-FR" sz="1200" dirty="0" smtClean="0">
                <a:solidFill>
                  <a:srgbClr val="4D4F53"/>
                </a:solidFill>
              </a:rPr>
              <a:t>Saisir groupe d’acheteurs</a:t>
            </a:r>
          </a:p>
          <a:p>
            <a:endParaRPr lang="fr-FR" sz="1200" dirty="0">
              <a:solidFill>
                <a:srgbClr val="4D4F53"/>
              </a:solidFill>
            </a:endParaRPr>
          </a:p>
          <a:p>
            <a:r>
              <a:rPr lang="fr-FR" sz="1200" dirty="0" smtClean="0">
                <a:solidFill>
                  <a:srgbClr val="4D4F53"/>
                </a:solidFill>
              </a:rPr>
              <a:t>Saisir l’étendu de liste = A</a:t>
            </a:r>
          </a:p>
          <a:p>
            <a:endParaRPr lang="fr-FR" sz="1200" dirty="0">
              <a:solidFill>
                <a:srgbClr val="4D4F53"/>
              </a:solidFill>
            </a:endParaRPr>
          </a:p>
          <a:p>
            <a:r>
              <a:rPr lang="fr-FR" sz="1200" dirty="0" smtClean="0">
                <a:solidFill>
                  <a:srgbClr val="4D4F53"/>
                </a:solidFill>
              </a:rPr>
              <a:t>Saisir la division</a:t>
            </a:r>
          </a:p>
          <a:p>
            <a:endParaRPr lang="fr-FR" sz="1200" dirty="0">
              <a:solidFill>
                <a:srgbClr val="4D4F53"/>
              </a:solidFill>
            </a:endParaRPr>
          </a:p>
          <a:p>
            <a:r>
              <a:rPr lang="fr-FR" sz="1200" dirty="0" smtClean="0">
                <a:solidFill>
                  <a:srgbClr val="4D4F53"/>
                </a:solidFill>
              </a:rPr>
              <a:t>Saisir le type de document</a:t>
            </a:r>
          </a:p>
          <a:p>
            <a:endParaRPr lang="fr-FR" sz="1200" dirty="0" smtClean="0">
              <a:solidFill>
                <a:srgbClr val="4D4F53"/>
              </a:solidFill>
            </a:endParaRPr>
          </a:p>
          <a:p>
            <a:r>
              <a:rPr lang="fr-FR" sz="1200" dirty="0" smtClean="0">
                <a:solidFill>
                  <a:srgbClr val="4D4F53"/>
                </a:solidFill>
              </a:rPr>
              <a:t>Saisir le type de poste</a:t>
            </a:r>
          </a:p>
          <a:p>
            <a:endParaRPr lang="fr-FR" sz="1200" dirty="0">
              <a:solidFill>
                <a:srgbClr val="4D4F53"/>
              </a:solidFill>
            </a:endParaRPr>
          </a:p>
          <a:p>
            <a:r>
              <a:rPr lang="fr-FR" sz="1200" dirty="0" smtClean="0">
                <a:solidFill>
                  <a:srgbClr val="4D4F53"/>
                </a:solidFill>
              </a:rPr>
              <a:t>Saisir le type d’imputation</a:t>
            </a:r>
          </a:p>
          <a:p>
            <a:endParaRPr lang="fr-FR" sz="1200" dirty="0" smtClean="0">
              <a:solidFill>
                <a:srgbClr val="4D4F53"/>
              </a:solidFill>
            </a:endParaRPr>
          </a:p>
          <a:p>
            <a:r>
              <a:rPr lang="fr-FR" sz="1200" dirty="0" smtClean="0">
                <a:solidFill>
                  <a:srgbClr val="4D4F53"/>
                </a:solidFill>
              </a:rPr>
              <a:t>Décocher</a:t>
            </a:r>
          </a:p>
          <a:p>
            <a:endParaRPr lang="fr-FR" sz="1200" dirty="0">
              <a:solidFill>
                <a:srgbClr val="4D4F53"/>
              </a:solidFill>
            </a:endParaRPr>
          </a:p>
          <a:p>
            <a:r>
              <a:rPr lang="fr-FR" sz="1200" dirty="0" smtClean="0">
                <a:solidFill>
                  <a:srgbClr val="4D4F53"/>
                </a:solidFill>
              </a:rPr>
              <a:t>Exécuter la transaction en appuyant sur</a:t>
            </a:r>
          </a:p>
          <a:p>
            <a:endParaRPr lang="fr-FR" sz="1200" dirty="0">
              <a:solidFill>
                <a:srgbClr val="4D4F53"/>
              </a:solidFill>
            </a:endParaRPr>
          </a:p>
          <a:p>
            <a:r>
              <a:rPr lang="fr-FR" sz="1200" dirty="0" smtClean="0">
                <a:solidFill>
                  <a:srgbClr val="4D4F53"/>
                </a:solidFill>
              </a:rPr>
              <a:t>La liste des Demandes d’Achats correspondant aux critères de sélection apparaît</a:t>
            </a:r>
          </a:p>
        </p:txBody>
      </p:sp>
      <p:sp>
        <p:nvSpPr>
          <p:cNvPr id="40" name="Ellipse 39"/>
          <p:cNvSpPr/>
          <p:nvPr/>
        </p:nvSpPr>
        <p:spPr>
          <a:xfrm>
            <a:off x="457200" y="11903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1" name="Ellipse 40"/>
          <p:cNvSpPr/>
          <p:nvPr/>
        </p:nvSpPr>
        <p:spPr>
          <a:xfrm>
            <a:off x="457200" y="15822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2" name="Ellipse 41"/>
          <p:cNvSpPr/>
          <p:nvPr/>
        </p:nvSpPr>
        <p:spPr>
          <a:xfrm>
            <a:off x="457200" y="19435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3" name="Ellipse 42"/>
          <p:cNvSpPr/>
          <p:nvPr/>
        </p:nvSpPr>
        <p:spPr>
          <a:xfrm>
            <a:off x="457200" y="230481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4" name="Ellipse 43"/>
          <p:cNvSpPr/>
          <p:nvPr/>
        </p:nvSpPr>
        <p:spPr>
          <a:xfrm>
            <a:off x="457200" y="266808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45" name="Ellipse 44"/>
          <p:cNvSpPr/>
          <p:nvPr/>
        </p:nvSpPr>
        <p:spPr>
          <a:xfrm>
            <a:off x="457200" y="3027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6" name="Ellipse 45"/>
          <p:cNvSpPr/>
          <p:nvPr/>
        </p:nvSpPr>
        <p:spPr>
          <a:xfrm>
            <a:off x="457200" y="339959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7" name="Ellipse 46"/>
          <p:cNvSpPr/>
          <p:nvPr/>
        </p:nvSpPr>
        <p:spPr>
          <a:xfrm>
            <a:off x="457200" y="375519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51" name="Ellipse 50"/>
          <p:cNvSpPr/>
          <p:nvPr/>
        </p:nvSpPr>
        <p:spPr>
          <a:xfrm>
            <a:off x="457200" y="42058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2" name="Titre 1"/>
          <p:cNvSpPr>
            <a:spLocks noGrp="1"/>
          </p:cNvSpPr>
          <p:nvPr>
            <p:ph type="title"/>
          </p:nvPr>
        </p:nvSpPr>
        <p:spPr/>
        <p:txBody>
          <a:bodyPr>
            <a:normAutofit/>
          </a:bodyPr>
          <a:lstStyle/>
          <a:p>
            <a:r>
              <a:rPr lang="fr-FR" altLang="en-US" sz="2400" dirty="0"/>
              <a:t>Reporting Demandes d’Achats</a:t>
            </a:r>
            <a:br>
              <a:rPr lang="fr-FR" altLang="en-US" sz="2400" dirty="0"/>
            </a:br>
            <a:r>
              <a:rPr lang="fr-FR" altLang="en-US" dirty="0" smtClean="0"/>
              <a:t>ME5A – Afficher les demande d’Achat non affectées</a:t>
            </a:r>
            <a:endParaRPr lang="en-US" dirty="0"/>
          </a:p>
        </p:txBody>
      </p:sp>
      <p:pic>
        <p:nvPicPr>
          <p:cNvPr id="7" name="Image 6"/>
          <p:cNvPicPr>
            <a:picLocks noChangeAspect="1"/>
          </p:cNvPicPr>
          <p:nvPr/>
        </p:nvPicPr>
        <p:blipFill>
          <a:blip r:embed="rId4"/>
          <a:stretch>
            <a:fillRect/>
          </a:stretch>
        </p:blipFill>
        <p:spPr>
          <a:xfrm>
            <a:off x="3237381" y="3719266"/>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18" name="Ellipse 17"/>
          <p:cNvSpPr/>
          <p:nvPr/>
        </p:nvSpPr>
        <p:spPr>
          <a:xfrm>
            <a:off x="4890521" y="154475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4591925" y="1563225"/>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4890521" y="206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4591925" y="2079124"/>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2" name="Image 11"/>
          <p:cNvPicPr>
            <a:picLocks noChangeAspect="1"/>
          </p:cNvPicPr>
          <p:nvPr/>
        </p:nvPicPr>
        <p:blipFill>
          <a:blip r:embed="rId5"/>
          <a:stretch>
            <a:fillRect/>
          </a:stretch>
        </p:blipFill>
        <p:spPr>
          <a:xfrm>
            <a:off x="1374530" y="3372104"/>
            <a:ext cx="1771650" cy="200025"/>
          </a:xfrm>
          <a:prstGeom prst="rect">
            <a:avLst/>
          </a:prstGeom>
          <a:ln>
            <a:solidFill>
              <a:schemeClr val="tx1"/>
            </a:solidFill>
          </a:ln>
          <a:effectLst>
            <a:outerShdw blurRad="50800" dist="38100" dir="2700000" algn="tl" rotWithShape="0">
              <a:prstClr val="black">
                <a:alpha val="40000"/>
              </a:prstClr>
            </a:outerShdw>
          </a:effectLst>
        </p:spPr>
      </p:pic>
      <p:sp>
        <p:nvSpPr>
          <p:cNvPr id="22" name="Ellipse 21"/>
          <p:cNvSpPr/>
          <p:nvPr/>
        </p:nvSpPr>
        <p:spPr>
          <a:xfrm>
            <a:off x="4401478" y="219674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3" name="Rectangle 22"/>
          <p:cNvSpPr/>
          <p:nvPr/>
        </p:nvSpPr>
        <p:spPr>
          <a:xfrm>
            <a:off x="4591925" y="2207458"/>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4890521" y="23008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Rectangle 28"/>
          <p:cNvSpPr/>
          <p:nvPr/>
        </p:nvSpPr>
        <p:spPr>
          <a:xfrm>
            <a:off x="4591925" y="2327098"/>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401478" y="24208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1" name="Rectangle 30"/>
          <p:cNvSpPr/>
          <p:nvPr/>
        </p:nvSpPr>
        <p:spPr>
          <a:xfrm>
            <a:off x="4591925" y="2454854"/>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Ellipse 33"/>
          <p:cNvSpPr/>
          <p:nvPr/>
        </p:nvSpPr>
        <p:spPr>
          <a:xfrm>
            <a:off x="2973223" y="120253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35" name="Rectangle 34"/>
          <p:cNvSpPr/>
          <p:nvPr/>
        </p:nvSpPr>
        <p:spPr>
          <a:xfrm>
            <a:off x="3219360" y="1221002"/>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8" name="Ellipse 47"/>
          <p:cNvSpPr/>
          <p:nvPr/>
        </p:nvSpPr>
        <p:spPr>
          <a:xfrm>
            <a:off x="4890521" y="25593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50" name="Rectangle 49"/>
          <p:cNvSpPr/>
          <p:nvPr/>
        </p:nvSpPr>
        <p:spPr>
          <a:xfrm>
            <a:off x="4591925" y="2577829"/>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2" name="Ellipse 51"/>
          <p:cNvSpPr/>
          <p:nvPr/>
        </p:nvSpPr>
        <p:spPr>
          <a:xfrm>
            <a:off x="7888637" y="215884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Tree>
    <p:extLst>
      <p:ext uri="{BB962C8B-B14F-4D97-AF65-F5344CB8AC3E}">
        <p14:creationId xmlns:p14="http://schemas.microsoft.com/office/powerpoint/2010/main" val="13120687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ZoneTexte 38"/>
          <p:cNvSpPr txBox="1"/>
          <p:nvPr/>
        </p:nvSpPr>
        <p:spPr>
          <a:xfrm>
            <a:off x="612734" y="1768719"/>
            <a:ext cx="3949995" cy="1754326"/>
          </a:xfrm>
          <a:prstGeom prst="rect">
            <a:avLst/>
          </a:prstGeom>
          <a:noFill/>
        </p:spPr>
        <p:txBody>
          <a:bodyPr wrap="square" rtlCol="0">
            <a:spAutoFit/>
          </a:bodyPr>
          <a:lstStyle/>
          <a:p>
            <a:r>
              <a:rPr lang="fr-FR" sz="1200" dirty="0" smtClean="0">
                <a:solidFill>
                  <a:srgbClr val="4D4F53"/>
                </a:solidFill>
              </a:rPr>
              <a:t>Saisir l’Objet d’Imputation :</a:t>
            </a:r>
          </a:p>
          <a:p>
            <a:pPr marL="171450" indent="-171450">
              <a:buFontTx/>
              <a:buChar char="-"/>
            </a:pPr>
            <a:r>
              <a:rPr lang="fr-FR" sz="1200" dirty="0" smtClean="0">
                <a:solidFill>
                  <a:srgbClr val="4D4F53"/>
                </a:solidFill>
              </a:rPr>
              <a:t>Centre de Coûts</a:t>
            </a:r>
          </a:p>
          <a:p>
            <a:r>
              <a:rPr lang="fr-FR" sz="1200" dirty="0" smtClean="0">
                <a:solidFill>
                  <a:srgbClr val="4D4F53"/>
                </a:solidFill>
              </a:rPr>
              <a:t>OU</a:t>
            </a:r>
          </a:p>
          <a:p>
            <a:r>
              <a:rPr lang="fr-FR" sz="1200" dirty="0" smtClean="0">
                <a:solidFill>
                  <a:srgbClr val="4D4F53"/>
                </a:solidFill>
              </a:rPr>
              <a:t>- Elément d’OTP / Projet</a:t>
            </a:r>
          </a:p>
          <a:p>
            <a:endParaRPr lang="fr-FR" sz="1200" dirty="0">
              <a:solidFill>
                <a:srgbClr val="4D4F53"/>
              </a:solidFill>
            </a:endParaRPr>
          </a:p>
          <a:p>
            <a:r>
              <a:rPr lang="fr-FR" sz="1200" dirty="0" smtClean="0">
                <a:solidFill>
                  <a:srgbClr val="4D4F53"/>
                </a:solidFill>
              </a:rPr>
              <a:t>Exécuter la transaction en appuyant sur</a:t>
            </a:r>
          </a:p>
          <a:p>
            <a:endParaRPr lang="fr-FR" sz="1200" dirty="0">
              <a:solidFill>
                <a:srgbClr val="4D4F53"/>
              </a:solidFill>
            </a:endParaRPr>
          </a:p>
          <a:p>
            <a:r>
              <a:rPr lang="fr-FR" sz="1200" dirty="0" smtClean="0">
                <a:solidFill>
                  <a:srgbClr val="4D4F53"/>
                </a:solidFill>
              </a:rPr>
              <a:t>La liste des Demandes d’Achats correspondant aux critères de sélection apparaît</a:t>
            </a:r>
          </a:p>
        </p:txBody>
      </p:sp>
      <p:pic>
        <p:nvPicPr>
          <p:cNvPr id="32" name="Image 31"/>
          <p:cNvPicPr>
            <a:picLocks noChangeAspect="1"/>
          </p:cNvPicPr>
          <p:nvPr/>
        </p:nvPicPr>
        <p:blipFill>
          <a:blip r:embed="rId2"/>
          <a:stretch>
            <a:fillRect/>
          </a:stretch>
        </p:blipFill>
        <p:spPr>
          <a:xfrm>
            <a:off x="4871817" y="1135703"/>
            <a:ext cx="3402847" cy="1510179"/>
          </a:xfrm>
          <a:prstGeom prst="rect">
            <a:avLst/>
          </a:prstGeom>
          <a:ln>
            <a:solidFill>
              <a:schemeClr val="tx1"/>
            </a:solidFill>
          </a:ln>
          <a:effectLst>
            <a:outerShdw blurRad="50800" dist="38100" dir="2700000" algn="tl" rotWithShape="0">
              <a:prstClr val="black">
                <a:alpha val="40000"/>
              </a:prstClr>
            </a:outerShdw>
          </a:effectLst>
        </p:spPr>
      </p:pic>
      <p:sp>
        <p:nvSpPr>
          <p:cNvPr id="40" name="Ellipse 39"/>
          <p:cNvSpPr/>
          <p:nvPr/>
        </p:nvSpPr>
        <p:spPr>
          <a:xfrm>
            <a:off x="457200" y="18233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1" name="Ellipse 40"/>
          <p:cNvSpPr/>
          <p:nvPr/>
        </p:nvSpPr>
        <p:spPr>
          <a:xfrm>
            <a:off x="457200" y="27196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2" name="Ellipse 41"/>
          <p:cNvSpPr/>
          <p:nvPr/>
        </p:nvSpPr>
        <p:spPr>
          <a:xfrm>
            <a:off x="457200" y="310922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 name="Titre 1"/>
          <p:cNvSpPr>
            <a:spLocks noGrp="1"/>
          </p:cNvSpPr>
          <p:nvPr>
            <p:ph type="title"/>
          </p:nvPr>
        </p:nvSpPr>
        <p:spPr/>
        <p:txBody>
          <a:bodyPr>
            <a:normAutofit/>
          </a:bodyPr>
          <a:lstStyle/>
          <a:p>
            <a:r>
              <a:rPr lang="fr-FR" altLang="en-US" sz="2400" dirty="0"/>
              <a:t>Reporting Demandes d’Achats</a:t>
            </a:r>
            <a:br>
              <a:rPr lang="fr-FR" altLang="en-US" sz="2400" dirty="0"/>
            </a:br>
            <a:r>
              <a:rPr lang="fr-FR" altLang="en-US" dirty="0" smtClean="0"/>
              <a:t>ME5K – Afficher les demandes d’Achat par Objet d’Imputation</a:t>
            </a:r>
            <a:endParaRPr lang="en-US" dirty="0"/>
          </a:p>
        </p:txBody>
      </p:sp>
      <p:pic>
        <p:nvPicPr>
          <p:cNvPr id="7" name="Image 6"/>
          <p:cNvPicPr>
            <a:picLocks noChangeAspect="1"/>
          </p:cNvPicPr>
          <p:nvPr/>
        </p:nvPicPr>
        <p:blipFill>
          <a:blip r:embed="rId3"/>
          <a:stretch>
            <a:fillRect/>
          </a:stretch>
        </p:blipFill>
        <p:spPr>
          <a:xfrm>
            <a:off x="3237381" y="2719662"/>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18" name="Ellipse 17"/>
          <p:cNvSpPr/>
          <p:nvPr/>
        </p:nvSpPr>
        <p:spPr>
          <a:xfrm>
            <a:off x="6242957" y="16943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6476860" y="1635301"/>
            <a:ext cx="1666067" cy="2655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Ellipse 33"/>
          <p:cNvSpPr/>
          <p:nvPr/>
        </p:nvSpPr>
        <p:spPr>
          <a:xfrm>
            <a:off x="4901515" y="121579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5" name="Rectangle 34"/>
          <p:cNvSpPr/>
          <p:nvPr/>
        </p:nvSpPr>
        <p:spPr>
          <a:xfrm>
            <a:off x="4922766" y="1376127"/>
            <a:ext cx="208521" cy="1815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 name="Image 2"/>
          <p:cNvPicPr>
            <a:picLocks noChangeAspect="1"/>
          </p:cNvPicPr>
          <p:nvPr/>
        </p:nvPicPr>
        <p:blipFill rotWithShape="1">
          <a:blip r:embed="rId4"/>
          <a:srcRect l="1702" t="1326"/>
          <a:stretch/>
        </p:blipFill>
        <p:spPr>
          <a:xfrm>
            <a:off x="5408908" y="2479729"/>
            <a:ext cx="3370882" cy="1654287"/>
          </a:xfrm>
          <a:prstGeom prst="rect">
            <a:avLst/>
          </a:prstGeom>
          <a:ln>
            <a:solidFill>
              <a:schemeClr val="tx1"/>
            </a:solidFill>
          </a:ln>
          <a:effectLst>
            <a:outerShdw blurRad="50800" dist="38100" dir="2700000" algn="tl" rotWithShape="0">
              <a:prstClr val="black">
                <a:alpha val="40000"/>
              </a:prstClr>
            </a:outerShdw>
          </a:effectLst>
        </p:spPr>
      </p:pic>
      <p:cxnSp>
        <p:nvCxnSpPr>
          <p:cNvPr id="6" name="Connecteur en angle 5"/>
          <p:cNvCxnSpPr>
            <a:stCxn id="35" idx="1"/>
            <a:endCxn id="3" idx="1"/>
          </p:cNvCxnSpPr>
          <p:nvPr/>
        </p:nvCxnSpPr>
        <p:spPr>
          <a:xfrm rot="10800000" flipH="1" flipV="1">
            <a:off x="4922766" y="1466925"/>
            <a:ext cx="486142" cy="1839948"/>
          </a:xfrm>
          <a:prstGeom prst="bentConnector3">
            <a:avLst>
              <a:gd name="adj1" fmla="val -4702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6" name="Ellipse 35"/>
          <p:cNvSpPr/>
          <p:nvPr/>
        </p:nvSpPr>
        <p:spPr>
          <a:xfrm>
            <a:off x="6938213" y="2890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323445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altLang="en-US" sz="2400" dirty="0"/>
              <a:t>Reporting </a:t>
            </a:r>
            <a:r>
              <a:rPr lang="fr-FR" altLang="en-US" sz="2400" dirty="0" smtClean="0"/>
              <a:t>Commandes d’Achats</a:t>
            </a:r>
            <a:r>
              <a:rPr lang="fr-FR" altLang="en-US" sz="2400" dirty="0"/>
              <a:t/>
            </a:r>
            <a:br>
              <a:rPr lang="fr-FR" altLang="en-US" sz="2400" dirty="0"/>
            </a:br>
            <a:r>
              <a:rPr lang="fr-FR" altLang="en-US" dirty="0" smtClean="0"/>
              <a:t>ME2N – Documents d’Achat par numéro de document</a:t>
            </a:r>
            <a:endParaRPr lang="en-US" dirty="0"/>
          </a:p>
        </p:txBody>
      </p:sp>
      <p:pic>
        <p:nvPicPr>
          <p:cNvPr id="4" name="Image 3"/>
          <p:cNvPicPr>
            <a:picLocks noChangeAspect="1"/>
          </p:cNvPicPr>
          <p:nvPr/>
        </p:nvPicPr>
        <p:blipFill>
          <a:blip r:embed="rId2"/>
          <a:stretch>
            <a:fillRect/>
          </a:stretch>
        </p:blipFill>
        <p:spPr>
          <a:xfrm>
            <a:off x="457200" y="1147445"/>
            <a:ext cx="3112906" cy="1687195"/>
          </a:xfrm>
          <a:prstGeom prst="rect">
            <a:avLst/>
          </a:prstGeom>
          <a:ln>
            <a:solidFill>
              <a:schemeClr val="tx1"/>
            </a:solidFill>
          </a:ln>
          <a:effectLst>
            <a:outerShdw blurRad="50800" dist="38100" dir="2700000" algn="tl" rotWithShape="0">
              <a:prstClr val="black">
                <a:alpha val="40000"/>
              </a:prstClr>
            </a:outerShdw>
          </a:effectLst>
        </p:spPr>
      </p:pic>
      <p:sp>
        <p:nvSpPr>
          <p:cNvPr id="17" name="Ellipse 16"/>
          <p:cNvSpPr/>
          <p:nvPr/>
        </p:nvSpPr>
        <p:spPr>
          <a:xfrm>
            <a:off x="2269241" y="17232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0" name="Rectangle 19"/>
          <p:cNvSpPr/>
          <p:nvPr/>
        </p:nvSpPr>
        <p:spPr>
          <a:xfrm>
            <a:off x="1970645" y="1741676"/>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Ellipse 20"/>
          <p:cNvSpPr/>
          <p:nvPr/>
        </p:nvSpPr>
        <p:spPr>
          <a:xfrm>
            <a:off x="2269241" y="22679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2" name="Rectangle 21"/>
          <p:cNvSpPr/>
          <p:nvPr/>
        </p:nvSpPr>
        <p:spPr>
          <a:xfrm>
            <a:off x="1970645" y="2286392"/>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Ellipse 22"/>
          <p:cNvSpPr/>
          <p:nvPr/>
        </p:nvSpPr>
        <p:spPr>
          <a:xfrm>
            <a:off x="1789816" y="24092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24" name="Rectangle 23"/>
          <p:cNvSpPr/>
          <p:nvPr/>
        </p:nvSpPr>
        <p:spPr>
          <a:xfrm>
            <a:off x="1970645" y="2427703"/>
            <a:ext cx="229973"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Ellipse 24"/>
          <p:cNvSpPr/>
          <p:nvPr/>
        </p:nvSpPr>
        <p:spPr>
          <a:xfrm>
            <a:off x="717551" y="13628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6" name="Rectangle 25"/>
          <p:cNvSpPr/>
          <p:nvPr/>
        </p:nvSpPr>
        <p:spPr>
          <a:xfrm>
            <a:off x="518401" y="1355250"/>
            <a:ext cx="167400" cy="15922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ZoneTexte 26"/>
          <p:cNvSpPr txBox="1"/>
          <p:nvPr/>
        </p:nvSpPr>
        <p:spPr>
          <a:xfrm>
            <a:off x="5239085" y="1215378"/>
            <a:ext cx="3554395" cy="2492990"/>
          </a:xfrm>
          <a:prstGeom prst="rect">
            <a:avLst/>
          </a:prstGeom>
          <a:noFill/>
        </p:spPr>
        <p:txBody>
          <a:bodyPr wrap="square" rtlCol="0">
            <a:spAutoFit/>
          </a:bodyPr>
          <a:lstStyle/>
          <a:p>
            <a:r>
              <a:rPr lang="fr-FR" sz="1200" dirty="0" smtClean="0">
                <a:solidFill>
                  <a:srgbClr val="4D4F53"/>
                </a:solidFill>
              </a:rPr>
              <a:t>Indiquer une Organisation d’Achats</a:t>
            </a:r>
          </a:p>
          <a:p>
            <a:endParaRPr lang="fr-FR" sz="1200" dirty="0">
              <a:solidFill>
                <a:srgbClr val="4D4F53"/>
              </a:solidFill>
            </a:endParaRPr>
          </a:p>
          <a:p>
            <a:r>
              <a:rPr lang="fr-FR" sz="1200" dirty="0" smtClean="0">
                <a:solidFill>
                  <a:srgbClr val="4D4F53"/>
                </a:solidFill>
              </a:rPr>
              <a:t>Indiquer un Groupe d’Acheteurs</a:t>
            </a:r>
          </a:p>
          <a:p>
            <a:endParaRPr lang="fr-FR" sz="1200" dirty="0">
              <a:solidFill>
                <a:srgbClr val="4D4F53"/>
              </a:solidFill>
            </a:endParaRPr>
          </a:p>
          <a:p>
            <a:r>
              <a:rPr lang="fr-FR" sz="1200" dirty="0" smtClean="0">
                <a:solidFill>
                  <a:srgbClr val="4D4F53"/>
                </a:solidFill>
              </a:rPr>
              <a:t>Indiquer une Division</a:t>
            </a:r>
          </a:p>
          <a:p>
            <a:endParaRPr lang="fr-FR" sz="1200" dirty="0">
              <a:solidFill>
                <a:srgbClr val="4D4F53"/>
              </a:solidFill>
            </a:endParaRPr>
          </a:p>
          <a:p>
            <a:r>
              <a:rPr lang="fr-FR" sz="1200" dirty="0" smtClean="0">
                <a:solidFill>
                  <a:srgbClr val="4D4F53"/>
                </a:solidFill>
              </a:rPr>
              <a:t>Exécuter la transaction</a:t>
            </a:r>
          </a:p>
          <a:p>
            <a:endParaRPr lang="fr-FR" sz="1200" dirty="0">
              <a:solidFill>
                <a:srgbClr val="4D4F53"/>
              </a:solidFill>
            </a:endParaRPr>
          </a:p>
          <a:p>
            <a:r>
              <a:rPr lang="fr-FR" sz="1200" dirty="0" smtClean="0">
                <a:solidFill>
                  <a:srgbClr val="4D4F53"/>
                </a:solidFill>
              </a:rPr>
              <a:t>La liste des Commandes d’Achat correspondant aux critères apparaît. </a:t>
            </a:r>
            <a:br>
              <a:rPr lang="fr-FR" sz="1200" dirty="0" smtClean="0">
                <a:solidFill>
                  <a:srgbClr val="4D4F53"/>
                </a:solidFill>
              </a:rPr>
            </a:br>
            <a:r>
              <a:rPr lang="fr-FR" sz="1200" dirty="0" smtClean="0">
                <a:solidFill>
                  <a:srgbClr val="4D4F53"/>
                </a:solidFill>
              </a:rPr>
              <a:t>Parmi les informations, on trouve notamment la quantité ouverte (reste à livrer) et le montant restant à facturer</a:t>
            </a:r>
          </a:p>
        </p:txBody>
      </p:sp>
      <p:sp>
        <p:nvSpPr>
          <p:cNvPr id="28" name="Ellipse 27"/>
          <p:cNvSpPr/>
          <p:nvPr/>
        </p:nvSpPr>
        <p:spPr>
          <a:xfrm>
            <a:off x="5083551" y="12699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9" name="Ellipse 28"/>
          <p:cNvSpPr/>
          <p:nvPr/>
        </p:nvSpPr>
        <p:spPr>
          <a:xfrm>
            <a:off x="5083551" y="16485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30" name="Image 29"/>
          <p:cNvPicPr>
            <a:picLocks noChangeAspect="1"/>
          </p:cNvPicPr>
          <p:nvPr/>
        </p:nvPicPr>
        <p:blipFill>
          <a:blip r:embed="rId3"/>
          <a:stretch>
            <a:fillRect/>
          </a:stretch>
        </p:blipFill>
        <p:spPr>
          <a:xfrm>
            <a:off x="6819113" y="2348253"/>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31" name="Ellipse 30"/>
          <p:cNvSpPr/>
          <p:nvPr/>
        </p:nvSpPr>
        <p:spPr>
          <a:xfrm>
            <a:off x="5083551" y="20051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3" name="Ellipse 32"/>
          <p:cNvSpPr/>
          <p:nvPr/>
        </p:nvSpPr>
        <p:spPr>
          <a:xfrm>
            <a:off x="5083551" y="238105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5" name="Image 4"/>
          <p:cNvPicPr>
            <a:picLocks noChangeAspect="1"/>
          </p:cNvPicPr>
          <p:nvPr/>
        </p:nvPicPr>
        <p:blipFill rotWithShape="1">
          <a:blip r:embed="rId4"/>
          <a:srcRect b="32025"/>
          <a:stretch/>
        </p:blipFill>
        <p:spPr>
          <a:xfrm>
            <a:off x="1430838" y="2678113"/>
            <a:ext cx="2973758" cy="1726102"/>
          </a:xfrm>
          <a:prstGeom prst="rect">
            <a:avLst/>
          </a:prstGeom>
          <a:ln>
            <a:solidFill>
              <a:schemeClr val="tx1"/>
            </a:solidFill>
          </a:ln>
          <a:effectLst>
            <a:outerShdw blurRad="50800" dist="38100" dir="2700000" algn="tl" rotWithShape="0">
              <a:prstClr val="black">
                <a:alpha val="40000"/>
              </a:prstClr>
            </a:outerShdw>
          </a:effectLst>
        </p:spPr>
      </p:pic>
      <p:sp>
        <p:nvSpPr>
          <p:cNvPr id="37" name="Ellipse 36"/>
          <p:cNvSpPr/>
          <p:nvPr/>
        </p:nvSpPr>
        <p:spPr>
          <a:xfrm>
            <a:off x="5083551" y="27430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8" name="Ellipse 37"/>
          <p:cNvSpPr/>
          <p:nvPr/>
        </p:nvSpPr>
        <p:spPr>
          <a:xfrm>
            <a:off x="3432089" y="33865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cxnSp>
        <p:nvCxnSpPr>
          <p:cNvPr id="9" name="Connecteur en angle 8"/>
          <p:cNvCxnSpPr>
            <a:stCxn id="26" idx="2"/>
            <a:endCxn id="5" idx="1"/>
          </p:cNvCxnSpPr>
          <p:nvPr/>
        </p:nvCxnSpPr>
        <p:spPr>
          <a:xfrm rot="16200000" flipH="1">
            <a:off x="3125" y="2113450"/>
            <a:ext cx="2026689" cy="828737"/>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68535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447219"/>
          </a:xfrm>
        </p:spPr>
        <p:txBody>
          <a:bodyPr/>
          <a:lstStyle/>
          <a:p>
            <a:pPr lvl="0"/>
            <a:endParaRPr lang="fr-FR" dirty="0"/>
          </a:p>
          <a:p>
            <a:pPr>
              <a:buFont typeface="Arial" charset="0"/>
              <a:buChar char="•"/>
              <a:defRPr/>
            </a:pPr>
            <a:r>
              <a:rPr lang="fr-FR" dirty="0" smtClean="0">
                <a:ea typeface="ＭＳ Ｐゴシック" pitchFamily="-65" charset="-128"/>
              </a:rPr>
              <a:t>SAP offre un nombre important de transactions permettant le suivi / l’analyse des transactions réalisées dans le système.</a:t>
            </a:r>
          </a:p>
          <a:p>
            <a:pPr>
              <a:buFont typeface="Arial" charset="0"/>
              <a:buChar char="•"/>
              <a:defRPr/>
            </a:pPr>
            <a:r>
              <a:rPr lang="fr-FR" dirty="0" smtClean="0">
                <a:ea typeface="ＭＳ Ｐゴシック" pitchFamily="-65" charset="-128"/>
              </a:rPr>
              <a:t>Ces transactions de reporting sont catégorisées dans ce que l’on nomme couramment « Reporting transactionnel », et permettent de prendre des décisions opérationnelles sur la base de l’analyse des résultats.</a:t>
            </a:r>
          </a:p>
          <a:p>
            <a:pPr>
              <a:buFont typeface="Arial" charset="0"/>
              <a:buChar char="•"/>
              <a:defRPr/>
            </a:pPr>
            <a:r>
              <a:rPr lang="fr-FR" dirty="0" smtClean="0">
                <a:ea typeface="ＭＳ Ｐゴシック" pitchFamily="-65" charset="-128"/>
              </a:rPr>
              <a:t>Le reporting pour la CBG sera complété par des rapports dits de « reporting décisionnel » qui auront vocation à être utilisés par le management pour la prise de décisions stratégiques. Ces rapports complémentaires ne seront pas directement disponibles dans SAP mais dans la BI (Business Intelligence) qui n’est pas présente à l’agenda du Lot 1.</a:t>
            </a:r>
          </a:p>
          <a:p>
            <a:pPr>
              <a:buFont typeface="Arial" charset="0"/>
              <a:buChar char="•"/>
              <a:defRPr/>
            </a:pPr>
            <a:r>
              <a:rPr lang="fr-FR" dirty="0" smtClean="0">
                <a:ea typeface="ＭＳ Ｐゴシック" pitchFamily="-65" charset="-128"/>
              </a:rPr>
              <a:t>Les exemples de transactions de reporting présentées montrent une manière de les utiliser, néanmoins les utilisateurs auront à loisir de définir le critères et axes d’analyse propres à leur objectif </a:t>
            </a:r>
            <a:r>
              <a:rPr lang="fr-FR" smtClean="0">
                <a:ea typeface="ＭＳ Ｐゴシック" pitchFamily="-65" charset="-128"/>
              </a:rPr>
              <a:t>de recherche.</a:t>
            </a:r>
            <a:endParaRPr lang="en-US" dirty="0"/>
          </a:p>
          <a:p>
            <a:pPr>
              <a:buFont typeface="Arial" charset="0"/>
              <a:buChar char="•"/>
              <a:defRPr/>
            </a:pPr>
            <a:endParaRPr lang="fr-FR" dirty="0" smtClean="0">
              <a:ea typeface="ＭＳ Ｐゴシック" pitchFamily="-65" charset="-128"/>
            </a:endParaRPr>
          </a:p>
          <a:p>
            <a:pPr>
              <a:buFont typeface="Arial" charset="0"/>
              <a:buChar char="•"/>
              <a:defRPr/>
            </a:pPr>
            <a:endParaRPr lang="fr-FR" dirty="0">
              <a:ea typeface="ＭＳ Ｐゴシック" pitchFamily="-65" charset="-128"/>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FF0000"/>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VHEKTECQ7ECW-1532981086-4390</_dlc_DocId>
    <_dlc_DocIdUrl xmlns="f36dd47d-0b23-43fd-9b2d-c5346ffa1660">
      <Url>http://projets.cbg-guinee.com/erp/_layouts/15/DocIdRedir.aspx?ID=VHEKTECQ7ECW-1532981086-4390</Url>
      <Description>VHEKTECQ7ECW-1532981086-4390</Description>
    </_dlc_DocIdUrl>
  </documentManagement>
</p:properties>
</file>

<file path=customXml/itemProps1.xml><?xml version="1.0" encoding="utf-8"?>
<ds:datastoreItem xmlns:ds="http://schemas.openxmlformats.org/officeDocument/2006/customXml" ds:itemID="{A454D13C-8CDA-4877-A109-2625B4B9E92F}"/>
</file>

<file path=customXml/itemProps2.xml><?xml version="1.0" encoding="utf-8"?>
<ds:datastoreItem xmlns:ds="http://schemas.openxmlformats.org/officeDocument/2006/customXml" ds:itemID="{E166F2A5-8C20-4BBF-A55F-96140CB78D76}"/>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6B08D313-DD74-49B0-B6A4-96BD802D9198}"/>
</file>

<file path=docProps/app.xml><?xml version="1.0" encoding="utf-8"?>
<Properties xmlns="http://schemas.openxmlformats.org/officeDocument/2006/extended-properties" xmlns:vt="http://schemas.openxmlformats.org/officeDocument/2006/docPropsVTypes">
  <Template/>
  <TotalTime>0</TotalTime>
  <Words>982</Words>
  <Application>Microsoft Office PowerPoint</Application>
  <PresentationFormat>Affichage à l'écran (16:9)</PresentationFormat>
  <Paragraphs>303</Paragraphs>
  <Slides>22</Slides>
  <Notes>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22</vt:i4>
      </vt:variant>
    </vt:vector>
  </HeadingPairs>
  <TitlesOfParts>
    <vt:vector size="29" baseType="lpstr">
      <vt:lpstr>ＭＳ Ｐゴシック</vt:lpstr>
      <vt:lpstr>Arial</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Evaluation fournisseur</vt:lpstr>
      <vt:lpstr>Présentation PowerPoint</vt:lpstr>
      <vt:lpstr>Mode opératoire Transaction d’accès à l’ensemble du reporting SAP</vt:lpstr>
      <vt:lpstr>Mode opératoire Liste de transactions utiles par objet</vt:lpstr>
      <vt:lpstr>Mode opératoire Liste de transactions utiles par objet</vt:lpstr>
      <vt:lpstr>Reporting Fournisseurs ME65 – Afficher le Palmarès Fournisseurs</vt:lpstr>
      <vt:lpstr>Reporting RFQ ME4S – Afficher a liste des RFQ pour un numéro de soumission</vt:lpstr>
      <vt:lpstr>Reporting RFQ ME49 – Comparer les Offres fournisseur pour un numéro de soumission</vt:lpstr>
      <vt:lpstr>Reporting RFQ ME4M – Afficher a liste des RFQ pour un code article</vt:lpstr>
      <vt:lpstr>Reporting RFQ ME4L – Afficher a liste des RFQ pour un fournisseur</vt:lpstr>
      <vt:lpstr>Reporting Demandes d’Achats ME57 – Afficher les demande d’Achat non affectées</vt:lpstr>
      <vt:lpstr>Reporting Demandes d’Achats ME5A – Afficher les demande d’Achat non affectées</vt:lpstr>
      <vt:lpstr>Reporting Demandes d’Achats ME5K – Afficher les demandes d’Achat par Objet d’Imputation</vt:lpstr>
      <vt:lpstr>Reporting Commandes d’Achats ME2N – Documents d’Achat par numéro de document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3993</cp:revision>
  <cp:lastPrinted>2015-04-23T03:57:16Z</cp:lastPrinted>
  <dcterms:created xsi:type="dcterms:W3CDTF">2012-05-17T14:14:37Z</dcterms:created>
  <dcterms:modified xsi:type="dcterms:W3CDTF">2015-12-21T15:18:46Z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9c53cfa9-4219-4677-9fee-8af944a27038</vt:lpwstr>
  </property>
</Properties>
</file>