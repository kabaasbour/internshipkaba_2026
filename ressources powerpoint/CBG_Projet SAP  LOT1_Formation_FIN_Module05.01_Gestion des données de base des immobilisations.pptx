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22.xml" ContentType="application/vnd.openxmlformats-officedocument.presentationml.slide+xml"/>
  <Override PartName="/ppt/slides/slide23.xml" ContentType="application/vnd.openxmlformats-officedocument.presentationml.slide+xml"/>
  <Override PartName="/ppt/presentation.xml" ContentType="application/vnd.openxmlformats-officedocument.presentationml.presentation.main+xml"/>
  <Override PartName="/ppt/slides/slide21.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2.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20.xml" ContentType="application/vnd.openxmlformats-officedocument.presentationml.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customXml/itemProps3.xml" ContentType="application/vnd.openxmlformats-officedocument.customXmlProperti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docProps/custom.xml" ContentType="application/vnd.openxmlformats-officedocument.custom-properties+xml"/>
  <Override PartName="/customXml/itemProps1.xml" ContentType="application/vnd.openxmlformats-officedocument.customXml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28"/>
  </p:notesMasterIdLst>
  <p:handoutMasterIdLst>
    <p:handoutMasterId r:id="rId29"/>
  </p:handoutMasterIdLst>
  <p:sldIdLst>
    <p:sldId id="685" r:id="rId5"/>
    <p:sldId id="686" r:id="rId6"/>
    <p:sldId id="687" r:id="rId7"/>
    <p:sldId id="688" r:id="rId8"/>
    <p:sldId id="723" r:id="rId9"/>
    <p:sldId id="691" r:id="rId10"/>
    <p:sldId id="800" r:id="rId11"/>
    <p:sldId id="801" r:id="rId12"/>
    <p:sldId id="802" r:id="rId13"/>
    <p:sldId id="803" r:id="rId14"/>
    <p:sldId id="804" r:id="rId15"/>
    <p:sldId id="822" r:id="rId16"/>
    <p:sldId id="806" r:id="rId17"/>
    <p:sldId id="823" r:id="rId18"/>
    <p:sldId id="724" r:id="rId19"/>
    <p:sldId id="824" r:id="rId20"/>
    <p:sldId id="765" r:id="rId21"/>
    <p:sldId id="825" r:id="rId22"/>
    <p:sldId id="819" r:id="rId23"/>
    <p:sldId id="699" r:id="rId24"/>
    <p:sldId id="725" r:id="rId25"/>
    <p:sldId id="710" r:id="rId26"/>
    <p:sldId id="728" r:id="rId27"/>
  </p:sldIdLst>
  <p:sldSz cx="9144000" cy="5143500" type="screen16x9"/>
  <p:notesSz cx="7086600" cy="93726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49">
          <p15:clr>
            <a:srgbClr val="A4A3A4"/>
          </p15:clr>
        </p15:guide>
        <p15:guide id="2" orient="horz" pos="1880">
          <p15:clr>
            <a:srgbClr val="A4A3A4"/>
          </p15:clr>
        </p15:guide>
        <p15:guide id="3" orient="horz" pos="89">
          <p15:clr>
            <a:srgbClr val="A4A3A4"/>
          </p15:clr>
        </p15:guide>
        <p15:guide id="4" orient="horz" pos="480">
          <p15:clr>
            <a:srgbClr val="A4A3A4"/>
          </p15:clr>
        </p15:guide>
        <p15:guide id="5" orient="horz" pos="719">
          <p15:clr>
            <a:srgbClr val="A4A3A4"/>
          </p15:clr>
        </p15:guide>
        <p15:guide id="6" pos="178">
          <p15:clr>
            <a:srgbClr val="A4A3A4"/>
          </p15:clr>
        </p15:guide>
        <p15:guide id="7" pos="2881">
          <p15:clr>
            <a:srgbClr val="A4A3A4"/>
          </p15:clr>
        </p15:guide>
        <p15:guide id="8" pos="5575">
          <p15:clr>
            <a:srgbClr val="A4A3A4"/>
          </p15:clr>
        </p15:guide>
        <p15:guide id="9" orient="horz" pos="16">
          <p15:clr>
            <a:srgbClr val="A4A3A4"/>
          </p15:clr>
        </p15:guide>
        <p15:guide id="10" orient="horz" pos="671">
          <p15:clr>
            <a:srgbClr val="A4A3A4"/>
          </p15:clr>
        </p15:guide>
      </p15:sldGuideLst>
    </p:ext>
    <p:ext uri="{2D200454-40CA-4A62-9FC3-DE9A4176ACB9}">
      <p15:notesGuideLst xmlns:p15="http://schemas.microsoft.com/office/powerpoint/2012/main">
        <p15:guide id="1" orient="horz" pos="2952" userDrawn="1">
          <p15:clr>
            <a:srgbClr val="A4A3A4"/>
          </p15:clr>
        </p15:guide>
        <p15:guide id="2" pos="2214" userDrawn="1">
          <p15:clr>
            <a:srgbClr val="A4A3A4"/>
          </p15:clr>
        </p15:guide>
        <p15:guide id="3" pos="2233"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9BD3"/>
    <a:srgbClr val="D3D5FF"/>
    <a:srgbClr val="A7ABFF"/>
    <a:srgbClr val="C5C8FF"/>
    <a:srgbClr val="004376"/>
    <a:srgbClr val="4F81BD"/>
    <a:srgbClr val="F3F4FF"/>
    <a:srgbClr val="E7E8FF"/>
    <a:srgbClr val="FF0000"/>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32" autoAdjust="0"/>
    <p:restoredTop sz="95565" autoAdjust="0"/>
  </p:normalViewPr>
  <p:slideViewPr>
    <p:cSldViewPr snapToGrid="0" snapToObjects="1">
      <p:cViewPr varScale="1">
        <p:scale>
          <a:sx n="123" d="100"/>
          <a:sy n="123" d="100"/>
        </p:scale>
        <p:origin x="360" y="108"/>
      </p:cViewPr>
      <p:guideLst>
        <p:guide orient="horz" pos="3049"/>
        <p:guide orient="horz" pos="1880"/>
        <p:guide orient="horz" pos="89"/>
        <p:guide orient="horz" pos="480"/>
        <p:guide orient="horz" pos="719"/>
        <p:guide pos="178"/>
        <p:guide pos="2881"/>
        <p:guide pos="5575"/>
        <p:guide orient="horz" pos="16"/>
        <p:guide orient="horz" pos="6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10746"/>
    </p:cViewPr>
  </p:sorterViewPr>
  <p:notesViewPr>
    <p:cSldViewPr snapToGrid="0" snapToObjects="1" showGuides="1">
      <p:cViewPr varScale="1">
        <p:scale>
          <a:sx n="50" d="100"/>
          <a:sy n="50" d="100"/>
        </p:scale>
        <p:origin x="-2952" y="-96"/>
      </p:cViewPr>
      <p:guideLst>
        <p:guide orient="horz" pos="2952"/>
        <p:guide pos="2214"/>
        <p:guide pos="2233"/>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customXml" Target="../customXml/item4.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3070860" cy="468630"/>
          </a:xfrm>
          <a:prstGeom prst="rect">
            <a:avLst/>
          </a:prstGeom>
        </p:spPr>
        <p:txBody>
          <a:bodyPr vert="horz" lIns="91427" tIns="45714" rIns="91427" bIns="45714" rtlCol="0"/>
          <a:lstStyle>
            <a:lvl1pPr algn="l">
              <a:defRPr sz="1200"/>
            </a:lvl1pPr>
          </a:lstStyle>
          <a:p>
            <a:endParaRPr lang="en-US" dirty="0"/>
          </a:p>
        </p:txBody>
      </p:sp>
      <p:sp>
        <p:nvSpPr>
          <p:cNvPr id="3" name="Date Placeholder 2"/>
          <p:cNvSpPr>
            <a:spLocks noGrp="1"/>
          </p:cNvSpPr>
          <p:nvPr>
            <p:ph type="dt" sz="quarter" idx="1"/>
          </p:nvPr>
        </p:nvSpPr>
        <p:spPr>
          <a:xfrm>
            <a:off x="4014102" y="2"/>
            <a:ext cx="3070860" cy="468630"/>
          </a:xfrm>
          <a:prstGeom prst="rect">
            <a:avLst/>
          </a:prstGeom>
        </p:spPr>
        <p:txBody>
          <a:bodyPr vert="horz" lIns="91427" tIns="45714" rIns="91427" bIns="45714" rtlCol="0"/>
          <a:lstStyle>
            <a:lvl1pPr algn="r">
              <a:defRPr sz="1200"/>
            </a:lvl1pPr>
          </a:lstStyle>
          <a:p>
            <a:fld id="{4FCF4903-D1A4-F14A-B207-A0D2CC9D4B8B}" type="datetimeFigureOut">
              <a:rPr lang="en-US" smtClean="0"/>
              <a:t>1/14/2016</a:t>
            </a:fld>
            <a:endParaRPr lang="en-US" dirty="0"/>
          </a:p>
        </p:txBody>
      </p:sp>
      <p:sp>
        <p:nvSpPr>
          <p:cNvPr id="4" name="Footer Placeholder 3"/>
          <p:cNvSpPr>
            <a:spLocks noGrp="1"/>
          </p:cNvSpPr>
          <p:nvPr>
            <p:ph type="ftr" sz="quarter" idx="2"/>
          </p:nvPr>
        </p:nvSpPr>
        <p:spPr>
          <a:xfrm>
            <a:off x="1" y="8902345"/>
            <a:ext cx="3070860" cy="468630"/>
          </a:xfrm>
          <a:prstGeom prst="rect">
            <a:avLst/>
          </a:prstGeom>
        </p:spPr>
        <p:txBody>
          <a:bodyPr vert="horz" lIns="91427" tIns="45714" rIns="91427" bIns="45714" rtlCol="0" anchor="b"/>
          <a:lstStyle>
            <a:lvl1pPr algn="l">
              <a:defRPr sz="1200"/>
            </a:lvl1pPr>
          </a:lstStyle>
          <a:p>
            <a:endParaRPr lang="en-US" dirty="0"/>
          </a:p>
        </p:txBody>
      </p:sp>
      <p:sp>
        <p:nvSpPr>
          <p:cNvPr id="5" name="Slide Number Placeholder 4"/>
          <p:cNvSpPr>
            <a:spLocks noGrp="1"/>
          </p:cNvSpPr>
          <p:nvPr>
            <p:ph type="sldNum" sz="quarter" idx="3"/>
          </p:nvPr>
        </p:nvSpPr>
        <p:spPr>
          <a:xfrm>
            <a:off x="4014102" y="8902345"/>
            <a:ext cx="3070860" cy="468630"/>
          </a:xfrm>
          <a:prstGeom prst="rect">
            <a:avLst/>
          </a:prstGeom>
        </p:spPr>
        <p:txBody>
          <a:bodyPr vert="horz" lIns="91427" tIns="45714" rIns="91427" bIns="45714" rtlCol="0" anchor="b"/>
          <a:lstStyle>
            <a:lvl1pPr algn="r">
              <a:defRPr sz="1200"/>
            </a:lvl1pPr>
          </a:lstStyle>
          <a:p>
            <a:fld id="{B5DD393E-432A-C040-A9FC-9C0644B7F7DE}" type="slidenum">
              <a:rPr lang="en-US" smtClean="0"/>
              <a:t>‹N°›</a:t>
            </a:fld>
            <a:endParaRPr lang="en-US" dirty="0"/>
          </a:p>
        </p:txBody>
      </p:sp>
    </p:spTree>
    <p:extLst>
      <p:ext uri="{BB962C8B-B14F-4D97-AF65-F5344CB8AC3E}">
        <p14:creationId xmlns:p14="http://schemas.microsoft.com/office/powerpoint/2010/main" val="1317295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2"/>
            <a:ext cx="3070860" cy="468630"/>
          </a:xfrm>
          <a:prstGeom prst="rect">
            <a:avLst/>
          </a:prstGeom>
        </p:spPr>
        <p:txBody>
          <a:bodyPr vert="horz" lIns="91427" tIns="45714" rIns="91427" bIns="45714" rtlCol="0"/>
          <a:lstStyle>
            <a:lvl1pPr algn="l">
              <a:defRPr sz="1200"/>
            </a:lvl1pPr>
          </a:lstStyle>
          <a:p>
            <a:endParaRPr lang="de-DE" dirty="0"/>
          </a:p>
        </p:txBody>
      </p:sp>
      <p:sp>
        <p:nvSpPr>
          <p:cNvPr id="3" name="Datumsplatzhalter 2"/>
          <p:cNvSpPr>
            <a:spLocks noGrp="1"/>
          </p:cNvSpPr>
          <p:nvPr>
            <p:ph type="dt" idx="1"/>
          </p:nvPr>
        </p:nvSpPr>
        <p:spPr>
          <a:xfrm>
            <a:off x="4014102" y="2"/>
            <a:ext cx="3070860" cy="468630"/>
          </a:xfrm>
          <a:prstGeom prst="rect">
            <a:avLst/>
          </a:prstGeom>
        </p:spPr>
        <p:txBody>
          <a:bodyPr vert="horz" lIns="91427" tIns="45714" rIns="91427" bIns="45714" rtlCol="0"/>
          <a:lstStyle>
            <a:lvl1pPr algn="r">
              <a:defRPr sz="1200"/>
            </a:lvl1pPr>
          </a:lstStyle>
          <a:p>
            <a:fld id="{BC5B4241-C98F-4766-9E25-5F8403374385}" type="datetimeFigureOut">
              <a:rPr lang="de-DE" smtClean="0"/>
              <a:t>14.01.2016</a:t>
            </a:fld>
            <a:endParaRPr lang="de-DE" dirty="0"/>
          </a:p>
        </p:txBody>
      </p:sp>
      <p:sp>
        <p:nvSpPr>
          <p:cNvPr id="4" name="Folienbildplatzhalter 3"/>
          <p:cNvSpPr>
            <a:spLocks noGrp="1" noRot="1" noChangeAspect="1"/>
          </p:cNvSpPr>
          <p:nvPr>
            <p:ph type="sldImg" idx="2"/>
          </p:nvPr>
        </p:nvSpPr>
        <p:spPr>
          <a:xfrm>
            <a:off x="417513" y="701675"/>
            <a:ext cx="6251575" cy="3516313"/>
          </a:xfrm>
          <a:prstGeom prst="rect">
            <a:avLst/>
          </a:prstGeom>
          <a:noFill/>
          <a:ln w="12700">
            <a:solidFill>
              <a:prstClr val="black"/>
            </a:solidFill>
          </a:ln>
        </p:spPr>
        <p:txBody>
          <a:bodyPr vert="horz" lIns="91427" tIns="45714" rIns="91427" bIns="45714" rtlCol="0" anchor="ctr"/>
          <a:lstStyle/>
          <a:p>
            <a:endParaRPr lang="de-DE" dirty="0"/>
          </a:p>
        </p:txBody>
      </p:sp>
      <p:sp>
        <p:nvSpPr>
          <p:cNvPr id="5" name="Notizenplatzhalter 4"/>
          <p:cNvSpPr>
            <a:spLocks noGrp="1"/>
          </p:cNvSpPr>
          <p:nvPr>
            <p:ph type="body" sz="quarter" idx="3"/>
          </p:nvPr>
        </p:nvSpPr>
        <p:spPr>
          <a:xfrm>
            <a:off x="708661" y="4451985"/>
            <a:ext cx="5669280" cy="4217670"/>
          </a:xfrm>
          <a:prstGeom prst="rect">
            <a:avLst/>
          </a:prstGeom>
        </p:spPr>
        <p:txBody>
          <a:bodyPr vert="horz" lIns="91427" tIns="45714" rIns="91427" bIns="45714"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1" y="8902345"/>
            <a:ext cx="3070860" cy="468630"/>
          </a:xfrm>
          <a:prstGeom prst="rect">
            <a:avLst/>
          </a:prstGeom>
        </p:spPr>
        <p:txBody>
          <a:bodyPr vert="horz" lIns="91427" tIns="45714" rIns="91427" bIns="45714" rtlCol="0" anchor="b"/>
          <a:lstStyle>
            <a:lvl1pPr algn="l">
              <a:defRPr sz="1200"/>
            </a:lvl1pPr>
          </a:lstStyle>
          <a:p>
            <a:endParaRPr lang="de-DE" dirty="0"/>
          </a:p>
        </p:txBody>
      </p:sp>
      <p:sp>
        <p:nvSpPr>
          <p:cNvPr id="7" name="Foliennummernplatzhalter 6"/>
          <p:cNvSpPr>
            <a:spLocks noGrp="1"/>
          </p:cNvSpPr>
          <p:nvPr>
            <p:ph type="sldNum" sz="quarter" idx="5"/>
          </p:nvPr>
        </p:nvSpPr>
        <p:spPr>
          <a:xfrm>
            <a:off x="4014102" y="8902345"/>
            <a:ext cx="3070860" cy="468630"/>
          </a:xfrm>
          <a:prstGeom prst="rect">
            <a:avLst/>
          </a:prstGeom>
        </p:spPr>
        <p:txBody>
          <a:bodyPr vert="horz" lIns="91427" tIns="45714" rIns="91427" bIns="45714" rtlCol="0" anchor="b"/>
          <a:lstStyle>
            <a:lvl1pPr algn="r">
              <a:defRPr sz="1200"/>
            </a:lvl1pPr>
          </a:lstStyle>
          <a:p>
            <a:fld id="{3C26ED65-54EF-4DE1-A434-72CD553BB447}" type="slidenum">
              <a:rPr lang="de-DE" smtClean="0"/>
              <a:t>‹N°›</a:t>
            </a:fld>
            <a:endParaRPr lang="de-DE" dirty="0"/>
          </a:p>
        </p:txBody>
      </p:sp>
    </p:spTree>
    <p:extLst>
      <p:ext uri="{BB962C8B-B14F-4D97-AF65-F5344CB8AC3E}">
        <p14:creationId xmlns:p14="http://schemas.microsoft.com/office/powerpoint/2010/main" val="3562187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DC2D5F1-E8F7-4A35-8262-7AB551301205}" type="slidenum">
              <a:rPr lang="en-US" altLang="en-US" sz="1200"/>
              <a:pPr/>
              <a:t>1</a:t>
            </a:fld>
            <a:endParaRPr lang="en-US" altLang="en-US" sz="1200"/>
          </a:p>
        </p:txBody>
      </p:sp>
    </p:spTree>
    <p:extLst>
      <p:ext uri="{BB962C8B-B14F-4D97-AF65-F5344CB8AC3E}">
        <p14:creationId xmlns:p14="http://schemas.microsoft.com/office/powerpoint/2010/main" val="1266647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a:t>
            </a:fld>
            <a:endParaRPr lang="en-US" altLang="en-US" sz="1200"/>
          </a:p>
        </p:txBody>
      </p:sp>
    </p:spTree>
    <p:extLst>
      <p:ext uri="{BB962C8B-B14F-4D97-AF65-F5344CB8AC3E}">
        <p14:creationId xmlns:p14="http://schemas.microsoft.com/office/powerpoint/2010/main" val="388551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01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9D49712-5491-4315-B1C4-B0196B1BBCDF}" type="slidenum">
              <a:rPr lang="en-US" altLang="en-US" sz="1200"/>
              <a:pPr/>
              <a:t>3</a:t>
            </a:fld>
            <a:endParaRPr lang="en-US" altLang="en-US" sz="1200"/>
          </a:p>
        </p:txBody>
      </p:sp>
    </p:spTree>
    <p:extLst>
      <p:ext uri="{BB962C8B-B14F-4D97-AF65-F5344CB8AC3E}">
        <p14:creationId xmlns:p14="http://schemas.microsoft.com/office/powerpoint/2010/main" val="211270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5</a:t>
            </a:fld>
            <a:endParaRPr lang="en-US" altLang="en-US" sz="1200"/>
          </a:p>
        </p:txBody>
      </p:sp>
    </p:spTree>
    <p:extLst>
      <p:ext uri="{BB962C8B-B14F-4D97-AF65-F5344CB8AC3E}">
        <p14:creationId xmlns:p14="http://schemas.microsoft.com/office/powerpoint/2010/main" val="2207490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15</a:t>
            </a:fld>
            <a:endParaRPr lang="en-US" altLang="en-US" sz="1200"/>
          </a:p>
        </p:txBody>
      </p:sp>
    </p:spTree>
    <p:extLst>
      <p:ext uri="{BB962C8B-B14F-4D97-AF65-F5344CB8AC3E}">
        <p14:creationId xmlns:p14="http://schemas.microsoft.com/office/powerpoint/2010/main" val="2087611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20</a:t>
            </a:fld>
            <a:endParaRPr lang="fr-FR" altLang="en-US" sz="1200"/>
          </a:p>
        </p:txBody>
      </p:sp>
      <p:sp>
        <p:nvSpPr>
          <p:cNvPr id="51203" name="Rectangle 2"/>
          <p:cNvSpPr>
            <a:spLocks noGrp="1" noRot="1" noChangeAspect="1" noChangeArrowheads="1" noTextEdit="1"/>
          </p:cNvSpPr>
          <p:nvPr>
            <p:ph type="sldImg"/>
          </p:nvPr>
        </p:nvSpPr>
        <p:spPr bwMode="auto">
          <a:xfrm>
            <a:off x="-303213" y="225425"/>
            <a:ext cx="7681913" cy="432276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smtClean="0"/>
          </a:p>
        </p:txBody>
      </p:sp>
      <p:sp>
        <p:nvSpPr>
          <p:cNvPr id="3575812" name="Text Box 4"/>
          <p:cNvSpPr txBox="1">
            <a:spLocks noChangeArrowheads="1"/>
          </p:cNvSpPr>
          <p:nvPr/>
        </p:nvSpPr>
        <p:spPr bwMode="auto">
          <a:xfrm>
            <a:off x="681038" y="8099425"/>
            <a:ext cx="5718175" cy="1084263"/>
          </a:xfrm>
          <a:prstGeom prst="rect">
            <a:avLst/>
          </a:prstGeom>
          <a:noFill/>
          <a:ln w="6350" algn="ctr">
            <a:solidFill>
              <a:srgbClr val="0000FF"/>
            </a:solidFill>
            <a:miter lim="800000"/>
            <a:headEnd/>
            <a:tailEnd/>
          </a:ln>
          <a:effectLst/>
        </p:spPr>
        <p:txBody>
          <a:bodyPr lIns="93470" tIns="46734" rIns="93470" bIns="46734"/>
          <a:lstStyle/>
          <a:p>
            <a:pPr defTabSz="93432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r>
              <a:rPr lang="fr-FR" sz="1000" dirty="0">
                <a:ea typeface="ＭＳ Ｐゴシック"/>
                <a:cs typeface="ＭＳ Ｐゴシック"/>
              </a:rPr>
              <a:t> </a:t>
            </a:r>
          </a:p>
          <a:p>
            <a:pPr defTabSz="93432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35996753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21</a:t>
            </a:fld>
            <a:endParaRPr lang="en-US" altLang="en-US" sz="1200"/>
          </a:p>
        </p:txBody>
      </p:sp>
    </p:spTree>
    <p:extLst>
      <p:ext uri="{BB962C8B-B14F-4D97-AF65-F5344CB8AC3E}">
        <p14:creationId xmlns:p14="http://schemas.microsoft.com/office/powerpoint/2010/main" val="23828853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Titre 1"/>
          <p:cNvSpPr txBox="1">
            <a:spLocks/>
          </p:cNvSpPr>
          <p:nvPr userDrawn="1"/>
        </p:nvSpPr>
        <p:spPr>
          <a:xfrm>
            <a:off x="2635172" y="1556792"/>
            <a:ext cx="6294515" cy="1899915"/>
          </a:xfrm>
          <a:prstGeom prst="rect">
            <a:avLst/>
          </a:prstGeom>
        </p:spPr>
        <p:txBody>
          <a:bodyPr vert="horz" lIns="91440" tIns="45720" rIns="91440" bIns="4572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pPr algn="ctr"/>
            <a:endParaRPr lang="en-US" sz="3200" b="1" dirty="0">
              <a:solidFill>
                <a:srgbClr val="0070C0"/>
              </a:solidFill>
              <a:latin typeface="Arial" charset="0"/>
              <a:cs typeface="Arial" charset="0"/>
            </a:endParaRPr>
          </a:p>
        </p:txBody>
      </p:sp>
      <p:sp>
        <p:nvSpPr>
          <p:cNvPr id="6" name="Rectangle 5"/>
          <p:cNvSpPr/>
          <p:nvPr userDrawn="1"/>
        </p:nvSpPr>
        <p:spPr>
          <a:xfrm>
            <a:off x="285750" y="214313"/>
            <a:ext cx="8643938" cy="214312"/>
          </a:xfrm>
          <a:prstGeom prst="rect">
            <a:avLst/>
          </a:prstGeom>
          <a:solidFill>
            <a:srgbClr val="4F81BD"/>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ndParaRP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5750" y="579967"/>
            <a:ext cx="1201016" cy="1207113"/>
          </a:xfrm>
          <a:prstGeom prst="rect">
            <a:avLst/>
          </a:prstGeom>
        </p:spPr>
      </p:pic>
    </p:spTree>
    <p:extLst>
      <p:ext uri="{BB962C8B-B14F-4D97-AF65-F5344CB8AC3E}">
        <p14:creationId xmlns:p14="http://schemas.microsoft.com/office/powerpoint/2010/main" val="39396161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TextBox 4"/>
          <p:cNvSpPr txBox="1"/>
          <p:nvPr/>
        </p:nvSpPr>
        <p:spPr>
          <a:xfrm>
            <a:off x="2027237" y="449794"/>
            <a:ext cx="6792912" cy="486965"/>
          </a:xfrm>
          <a:prstGeom prst="rect">
            <a:avLst/>
          </a:prstGeom>
          <a:noFill/>
        </p:spPr>
        <p:txBody>
          <a:bodyPr vert="horz" wrap="square" lIns="0" tIns="0" rIns="0" bIns="0" rtlCol="0" anchor="b" anchorCtr="0">
            <a:noAutofit/>
          </a:bodyPr>
          <a:lstStyle/>
          <a:p>
            <a:pPr defTabSz="389626"/>
            <a:r>
              <a:rPr lang="fr-FR" b="1" kern="1200" dirty="0" smtClean="0">
                <a:solidFill>
                  <a:srgbClr val="0070C0"/>
                </a:solidFill>
                <a:latin typeface="Calibri" pitchFamily="34" charset="0"/>
                <a:ea typeface="+mn-ea"/>
                <a:cs typeface="+mn-cs"/>
              </a:rPr>
              <a:t>Agenda de la réunion</a:t>
            </a:r>
            <a:endParaRPr lang="fr-FR" b="1" kern="1200" dirty="0">
              <a:solidFill>
                <a:srgbClr val="0070C0"/>
              </a:solidFill>
              <a:latin typeface="Calibri" pitchFamily="34" charset="0"/>
              <a:ea typeface="+mn-ea"/>
              <a:cs typeface="+mn-cs"/>
            </a:endParaRPr>
          </a:p>
        </p:txBody>
      </p:sp>
      <p:sp>
        <p:nvSpPr>
          <p:cNvPr id="7" name="Text Placeholder 7"/>
          <p:cNvSpPr>
            <a:spLocks noGrp="1"/>
          </p:cNvSpPr>
          <p:nvPr>
            <p:ph type="body" sz="quarter" idx="11"/>
          </p:nvPr>
        </p:nvSpPr>
        <p:spPr>
          <a:xfrm>
            <a:off x="2027238" y="1148415"/>
            <a:ext cx="6792913" cy="3334133"/>
          </a:xfrm>
        </p:spPr>
        <p:txBody>
          <a:bodyPr/>
          <a:lstStyle>
            <a:lvl1pPr marL="0" marR="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sz="1400"/>
            </a:lvl1pPr>
            <a:lvl2pPr marL="151521" marR="0"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sz="1400"/>
            </a:lvl2pPr>
            <a:lvl3pPr marL="308454" marR="0"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lang="en-US" sz="1400" kern="1200" noProof="0" dirty="0" smtClean="0">
                <a:solidFill>
                  <a:srgbClr val="4D4F53"/>
                </a:solidFill>
                <a:latin typeface="+mn-lt"/>
                <a:ea typeface="+mn-ea"/>
                <a:cs typeface="+mn-cs"/>
              </a:defRPr>
            </a:lvl3pPr>
            <a:lvl4pPr marL="457269" marR="0"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lang="en-US" sz="1400" kern="1200" noProof="0" dirty="0" smtClean="0">
                <a:solidFill>
                  <a:srgbClr val="4D4F53"/>
                </a:solidFill>
                <a:latin typeface="+mn-lt"/>
                <a:ea typeface="+mn-ea"/>
                <a:cs typeface="+mn-cs"/>
              </a:defRPr>
            </a:lvl4pPr>
          </a:lstStyle>
          <a:p>
            <a:pPr marL="0" marR="0" lvl="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a:pPr>
            <a:r>
              <a:rPr kumimoji="0" lang="fr-FR" sz="1200" b="0" i="0" u="none" strike="noStrike" kern="1200" cap="none" spc="0" normalizeH="0" baseline="0" noProof="0" dirty="0" smtClean="0">
                <a:ln>
                  <a:noFill/>
                </a:ln>
                <a:solidFill>
                  <a:srgbClr val="4D4F53"/>
                </a:solidFill>
                <a:effectLst/>
                <a:uLnTx/>
                <a:uFillTx/>
                <a:latin typeface="+mn-lt"/>
              </a:rPr>
              <a:t>Modifiez les styles du texte du masque</a:t>
            </a:r>
          </a:p>
          <a:p>
            <a:pPr marL="151521" marR="0" lvl="1"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Deuxième niveau</a:t>
            </a:r>
          </a:p>
          <a:p>
            <a:pPr marL="308454" marR="0" lvl="2"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Troisième niveau</a:t>
            </a:r>
          </a:p>
          <a:p>
            <a:pPr marL="457269" marR="0" lvl="3"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a:pPr>
            <a:r>
              <a:rPr kumimoji="0" lang="fr-FR" sz="1200" b="0" i="0" u="none" strike="noStrike" kern="1200" cap="none" spc="0" normalizeH="0" baseline="0" noProof="0" dirty="0" smtClean="0">
                <a:ln>
                  <a:noFill/>
                </a:ln>
                <a:solidFill>
                  <a:srgbClr val="4D4F53"/>
                </a:solidFill>
                <a:effectLst/>
                <a:uLnTx/>
                <a:uFillTx/>
                <a:latin typeface="+mn-lt"/>
              </a:rPr>
              <a:t>Quatrième niveau</a:t>
            </a: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7266" y="693276"/>
            <a:ext cx="1201016" cy="1207113"/>
          </a:xfrm>
          <a:prstGeom prst="rect">
            <a:avLst/>
          </a:prstGeom>
        </p:spPr>
      </p:pic>
    </p:spTree>
    <p:extLst>
      <p:ext uri="{BB962C8B-B14F-4D97-AF65-F5344CB8AC3E}">
        <p14:creationId xmlns:p14="http://schemas.microsoft.com/office/powerpoint/2010/main" val="20618786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a:xfrm>
            <a:off x="685800" y="4767263"/>
            <a:ext cx="1905000" cy="273844"/>
          </a:xfrm>
          <a:prstGeom prst="rect">
            <a:avLst/>
          </a:prstGeom>
        </p:spPr>
        <p:txBody>
          <a:bodyPr/>
          <a:lstStyle>
            <a:lvl1pPr>
              <a:defRPr>
                <a:ea typeface="ＭＳ Ｐゴシック"/>
                <a:cs typeface="ＭＳ Ｐゴシック"/>
              </a:defRPr>
            </a:lvl1pPr>
          </a:lstStyle>
          <a:p>
            <a:pPr>
              <a:defRPr/>
            </a:pPr>
            <a:fld id="{9AC7AD67-5214-4830-816B-BB68E584FB4D}" type="datetime1">
              <a:rPr lang="fr-FR"/>
              <a:pPr>
                <a:defRPr/>
              </a:pPr>
              <a:t>14/01/2016</a:t>
            </a:fld>
            <a:endParaRPr lang="fr-FR"/>
          </a:p>
        </p:txBody>
      </p:sp>
      <p:sp>
        <p:nvSpPr>
          <p:cNvPr id="5" name="Espace réservé du numéro de diapositive 5"/>
          <p:cNvSpPr>
            <a:spLocks noGrp="1"/>
          </p:cNvSpPr>
          <p:nvPr>
            <p:ph type="sldNum" sz="quarter" idx="11"/>
          </p:nvPr>
        </p:nvSpPr>
        <p:spPr>
          <a:xfrm>
            <a:off x="6553200" y="4767263"/>
            <a:ext cx="2133600" cy="273844"/>
          </a:xfrm>
          <a:prstGeom prst="rect">
            <a:avLst/>
          </a:prstGeom>
        </p:spPr>
        <p:txBody>
          <a:bodyPr/>
          <a:lstStyle>
            <a:lvl1pPr>
              <a:defRPr/>
            </a:lvl1pPr>
          </a:lstStyle>
          <a:p>
            <a:fld id="{4DF23832-6337-4957-A1E3-16FD0348C189}" type="slidenum">
              <a:rPr lang="fr-FR" altLang="en-US"/>
              <a:pPr/>
              <a:t>‹N°›</a:t>
            </a:fld>
            <a:endParaRPr lang="fr-FR" altLang="en-US"/>
          </a:p>
        </p:txBody>
      </p:sp>
      <p:sp>
        <p:nvSpPr>
          <p:cNvPr id="6" name="Espace réservé du pied de page 8"/>
          <p:cNvSpPr>
            <a:spLocks noGrp="1"/>
          </p:cNvSpPr>
          <p:nvPr>
            <p:ph type="ftr" sz="quarter" idx="12"/>
          </p:nvPr>
        </p:nvSpPr>
        <p:spPr>
          <a:xfrm>
            <a:off x="3124200" y="4767263"/>
            <a:ext cx="2895600" cy="273844"/>
          </a:xfrm>
          <a:prstGeom prst="rect">
            <a:avLst/>
          </a:prstGeom>
        </p:spPr>
        <p:txBody>
          <a:bodyPr/>
          <a:lstStyle>
            <a:lvl1pPr>
              <a:defRPr>
                <a:ea typeface="ＭＳ Ｐゴシック"/>
                <a:cs typeface="ＭＳ Ｐゴシック"/>
              </a:defRPr>
            </a:lvl1pPr>
          </a:lstStyle>
          <a:p>
            <a:pPr>
              <a:defRPr/>
            </a:pPr>
            <a:endParaRPr lang="en-US"/>
          </a:p>
        </p:txBody>
      </p:sp>
    </p:spTree>
    <p:extLst>
      <p:ext uri="{BB962C8B-B14F-4D97-AF65-F5344CB8AC3E}">
        <p14:creationId xmlns:p14="http://schemas.microsoft.com/office/powerpoint/2010/main" val="52422431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5173570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30267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136912" y="1152525"/>
            <a:ext cx="6683237" cy="3240571"/>
          </a:xfrm>
          <a:prstGeom prst="rect">
            <a:avLst/>
          </a:prstGeom>
        </p:spPr>
        <p:txBody>
          <a:bodyPr vert="horz" lIns="0" tIns="0" rIns="0" bIns="0" rtlCol="0">
            <a:noAutofit/>
          </a:bodyPr>
          <a:lstStyle/>
          <a:p>
            <a:pPr lvl="0"/>
            <a:r>
              <a:rPr lang="fr-FR" noProof="0" dirty="0" smtClean="0"/>
              <a:t>Modifiez les styles du texte du masque</a:t>
            </a:r>
          </a:p>
          <a:p>
            <a:pPr lvl="1"/>
            <a:r>
              <a:rPr lang="fr-FR" noProof="0" dirty="0" smtClean="0"/>
              <a:t>Deuxième niveau</a:t>
            </a:r>
          </a:p>
          <a:p>
            <a:pPr lvl="2"/>
            <a:r>
              <a:rPr lang="fr-FR" noProof="0" dirty="0" smtClean="0"/>
              <a:t>Troisième niveau</a:t>
            </a:r>
          </a:p>
          <a:p>
            <a:pPr lvl="3"/>
            <a:r>
              <a:rPr lang="fr-FR" noProof="0" dirty="0" smtClean="0"/>
              <a:t>Quatrième niveau</a:t>
            </a:r>
          </a:p>
        </p:txBody>
      </p:sp>
      <p:sp>
        <p:nvSpPr>
          <p:cNvPr id="16" name="Text Placeholder 2"/>
          <p:cNvSpPr txBox="1">
            <a:spLocks/>
          </p:cNvSpPr>
          <p:nvPr/>
        </p:nvSpPr>
        <p:spPr>
          <a:xfrm>
            <a:off x="3108962" y="4873759"/>
            <a:ext cx="2926078" cy="158395"/>
          </a:xfrm>
          <a:prstGeom prst="rect">
            <a:avLst/>
          </a:prstGeom>
          <a:ln>
            <a:noFill/>
          </a:ln>
        </p:spPr>
        <p:txBody>
          <a:bodyPr vert="horz" lIns="0" tIns="0" rIns="0" bIns="0" anchor="b"/>
          <a:lstStyle>
            <a:lvl1pPr marL="0" marR="0" indent="0" algn="l" defTabSz="457200" rtl="0" eaLnBrk="1" fontAlgn="auto" latinLnBrk="0" hangingPunct="1">
              <a:lnSpc>
                <a:spcPct val="100000"/>
              </a:lnSpc>
              <a:spcBef>
                <a:spcPts val="0"/>
              </a:spcBef>
              <a:spcAft>
                <a:spcPts val="0"/>
              </a:spcAft>
              <a:buClrTx/>
              <a:buSzTx/>
              <a:buFontTx/>
              <a:buNone/>
              <a:tabLst/>
              <a:defRPr sz="800" kern="1200" baseline="0">
                <a:solidFill>
                  <a:schemeClr val="tx1">
                    <a:lumMod val="50000"/>
                    <a:lumOff val="50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fr-FR" dirty="0" smtClean="0">
                <a:solidFill>
                  <a:srgbClr val="8D817B"/>
                </a:solidFill>
              </a:rPr>
              <a:t>Confidentiel. © 2015 CBG | </a:t>
            </a:r>
            <a:fld id="{2E997FAD-17BD-C54D-93FE-DA7D4A487AFB}" type="slidenum">
              <a:rPr lang="fr-FR" smtClean="0">
                <a:solidFill>
                  <a:srgbClr val="8D817B"/>
                </a:solidFill>
              </a:rPr>
              <a:pPr algn="ctr"/>
              <a:t>‹N°›</a:t>
            </a:fld>
            <a:endParaRPr lang="fr-FR" dirty="0" smtClean="0">
              <a:solidFill>
                <a:srgbClr val="8D817B"/>
              </a:solidFill>
            </a:endParaRPr>
          </a:p>
        </p:txBody>
      </p:sp>
      <p:sp>
        <p:nvSpPr>
          <p:cNvPr id="19" name="Espace réservé du pied de page 8"/>
          <p:cNvSpPr txBox="1">
            <a:spLocks/>
          </p:cNvSpPr>
          <p:nvPr userDrawn="1"/>
        </p:nvSpPr>
        <p:spPr bwMode="auto">
          <a:xfrm>
            <a:off x="285750" y="4621127"/>
            <a:ext cx="4071938" cy="2206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fr-FR"/>
            </a:defPPr>
            <a:lvl1pPr algn="ctr" rtl="0" eaLnBrk="0" fontAlgn="base" hangingPunct="0">
              <a:spcBef>
                <a:spcPct val="0"/>
              </a:spcBef>
              <a:spcAft>
                <a:spcPct val="0"/>
              </a:spcAft>
              <a:defRPr sz="1200" kern="1200">
                <a:solidFill>
                  <a:schemeClr val="tx1"/>
                </a:solidFill>
                <a:latin typeface="Calibri"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9pPr>
          </a:lstStyle>
          <a:p>
            <a:pPr defTabSz="914400" eaLnBrk="1" hangingPunct="1"/>
            <a:r>
              <a:rPr lang="fr-FR" sz="900" dirty="0" smtClean="0">
                <a:solidFill>
                  <a:srgbClr val="0070C0"/>
                </a:solidFill>
                <a:latin typeface="Arial" charset="0"/>
                <a:cs typeface="Arial" charset="0"/>
              </a:rPr>
              <a:t>Ce document est la propriété de la CBG - This document is property of CBG</a:t>
            </a:r>
            <a:endParaRPr lang="en-US" sz="900" dirty="0">
              <a:solidFill>
                <a:srgbClr val="0070C0"/>
              </a:solidFill>
              <a:latin typeface="Arial" charset="0"/>
              <a:cs typeface="Arial" charset="0"/>
            </a:endParaRPr>
          </a:p>
        </p:txBody>
      </p:sp>
      <p:sp>
        <p:nvSpPr>
          <p:cNvPr id="2" name="Espace réservé du titre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fr-FR" smtClean="0"/>
              <a:t>Modifiez le style du titre</a:t>
            </a:r>
            <a:endParaRPr lang="en-US"/>
          </a:p>
        </p:txBody>
      </p:sp>
      <p:pic>
        <p:nvPicPr>
          <p:cNvPr id="3" name="Image 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49561" y="4556923"/>
            <a:ext cx="8644877" cy="48772"/>
          </a:xfrm>
          <a:prstGeom prst="rect">
            <a:avLst/>
          </a:prstGeom>
        </p:spPr>
      </p:pic>
    </p:spTree>
    <p:extLst>
      <p:ext uri="{BB962C8B-B14F-4D97-AF65-F5344CB8AC3E}">
        <p14:creationId xmlns:p14="http://schemas.microsoft.com/office/powerpoint/2010/main" val="3195152109"/>
      </p:ext>
    </p:extLst>
  </p:cSld>
  <p:clrMap bg1="lt1" tx1="dk1" bg2="lt2" tx2="dk2" accent1="accent1" accent2="accent2" accent3="accent3" accent4="accent4" accent5="accent5" accent6="accent6" hlink="hlink" folHlink="folHlink"/>
  <p:sldLayoutIdLst>
    <p:sldLayoutId id="2147484153" r:id="rId1"/>
    <p:sldLayoutId id="2147484122" r:id="rId2"/>
    <p:sldLayoutId id="2147484155" r:id="rId3"/>
    <p:sldLayoutId id="2147484156" r:id="rId4"/>
    <p:sldLayoutId id="2147484157" r:id="rId5"/>
  </p:sldLayoutIdLst>
  <p:timing>
    <p:tnLst>
      <p:par>
        <p:cTn id="1" dur="indefinite" restart="never" nodeType="tmRoot"/>
      </p:par>
    </p:tnLst>
  </p:timing>
  <p:txStyles>
    <p:title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p:titleStyle>
    <p:bodyStyle>
      <a:lvl1pPr marL="0" indent="0" algn="l" defTabSz="389626" rtl="0" eaLnBrk="1" latinLnBrk="0" hangingPunct="1">
        <a:spcBef>
          <a:spcPts val="1023"/>
        </a:spcBef>
        <a:spcAft>
          <a:spcPts val="256"/>
        </a:spcAft>
        <a:buClr>
          <a:schemeClr val="bg1"/>
        </a:buClr>
        <a:buSzPct val="25000"/>
        <a:buFont typeface="Verdana" pitchFamily="34" charset="0"/>
        <a:buNone/>
        <a:defRPr lang="en-GB" sz="1200" b="0" kern="1200" noProof="0" smtClean="0">
          <a:solidFill>
            <a:srgbClr val="4D4F53"/>
          </a:solidFill>
          <a:latin typeface="+mn-lt"/>
          <a:ea typeface="+mn-ea"/>
          <a:cs typeface="+mn-cs"/>
        </a:defRPr>
      </a:lvl1pPr>
      <a:lvl2pPr marL="151521" indent="-151521" algn="l" defTabSz="389626" rtl="0" eaLnBrk="1" latinLnBrk="0" hangingPunct="1">
        <a:spcBef>
          <a:spcPts val="256"/>
        </a:spcBef>
        <a:spcAft>
          <a:spcPts val="256"/>
        </a:spcAft>
        <a:buClr>
          <a:schemeClr val="bg2"/>
        </a:buClr>
        <a:buFont typeface="Arial" pitchFamily="34" charset="0"/>
        <a:buChar char="•"/>
        <a:defRPr lang="en-GB" sz="1200" kern="1200" noProof="0" smtClean="0">
          <a:solidFill>
            <a:srgbClr val="4D4F53"/>
          </a:solidFill>
          <a:latin typeface="+mn-lt"/>
          <a:ea typeface="+mn-ea"/>
          <a:cs typeface="+mn-cs"/>
        </a:defRPr>
      </a:lvl2pPr>
      <a:lvl3pPr marL="308454" indent="-154227" algn="l" defTabSz="438329" rtl="0" eaLnBrk="1" latinLnBrk="0" hangingPunct="1">
        <a:spcBef>
          <a:spcPts val="256"/>
        </a:spcBef>
        <a:spcAft>
          <a:spcPts val="256"/>
        </a:spcAft>
        <a:buClr>
          <a:schemeClr val="bg2"/>
        </a:buClr>
        <a:buFont typeface="Calibri" pitchFamily="34" charset="0"/>
        <a:buChar char="−"/>
        <a:defRPr lang="en-GB" sz="1200" kern="1200" noProof="0" smtClean="0">
          <a:solidFill>
            <a:srgbClr val="4D4F53"/>
          </a:solidFill>
          <a:latin typeface="+mn-lt"/>
          <a:ea typeface="+mn-ea"/>
          <a:cs typeface="+mn-cs"/>
        </a:defRPr>
      </a:lvl3pPr>
      <a:lvl4pPr marL="457269" indent="-137992" algn="l" defTabSz="389626" rtl="0" eaLnBrk="1" latinLnBrk="0" hangingPunct="1">
        <a:spcBef>
          <a:spcPts val="256"/>
        </a:spcBef>
        <a:spcAft>
          <a:spcPts val="256"/>
        </a:spcAft>
        <a:buClr>
          <a:schemeClr val="bg2"/>
        </a:buClr>
        <a:buFont typeface="Courier New" pitchFamily="49" charset="0"/>
        <a:buChar char="o"/>
        <a:tabLst/>
        <a:defRPr lang="en-GB" sz="1200" kern="1200" noProof="0" smtClean="0">
          <a:solidFill>
            <a:srgbClr val="4D4F53"/>
          </a:solidFill>
          <a:latin typeface="+mn-lt"/>
          <a:ea typeface="+mn-ea"/>
          <a:cs typeface="+mn-cs"/>
        </a:defRPr>
      </a:lvl4pPr>
      <a:lvl5pPr marL="692668" indent="-140698" algn="l" defTabSz="389626" rtl="0" eaLnBrk="1" latinLnBrk="0" hangingPunct="1">
        <a:spcBef>
          <a:spcPts val="0"/>
        </a:spcBef>
        <a:buClr>
          <a:srgbClr val="D52B1E"/>
        </a:buClr>
        <a:buFont typeface="Calibri" pitchFamily="34" charset="0"/>
        <a:buChar char="-"/>
        <a:tabLst/>
        <a:defRPr lang="en-GB" sz="900" kern="1200" noProof="0">
          <a:solidFill>
            <a:srgbClr val="4D4F53"/>
          </a:solidFill>
          <a:latin typeface="+mn-lt"/>
          <a:ea typeface="+mn-ea"/>
          <a:cs typeface="+mn-cs"/>
        </a:defRPr>
      </a:lvl5pPr>
      <a:lvl6pPr marL="2142942" indent="-194813" algn="l" defTabSz="389626" rtl="0" eaLnBrk="1" latinLnBrk="0" hangingPunct="1">
        <a:spcBef>
          <a:spcPct val="20000"/>
        </a:spcBef>
        <a:buFont typeface="Arial"/>
        <a:buChar char="•"/>
        <a:defRPr sz="1700" kern="1200">
          <a:solidFill>
            <a:schemeClr val="tx1"/>
          </a:solidFill>
          <a:latin typeface="+mn-lt"/>
          <a:ea typeface="+mn-ea"/>
          <a:cs typeface="+mn-cs"/>
        </a:defRPr>
      </a:lvl6pPr>
      <a:lvl7pPr marL="2532568" indent="-194813" algn="l" defTabSz="389626" rtl="0" eaLnBrk="1" latinLnBrk="0" hangingPunct="1">
        <a:spcBef>
          <a:spcPct val="20000"/>
        </a:spcBef>
        <a:buFont typeface="Arial"/>
        <a:buChar char="•"/>
        <a:defRPr sz="1700" kern="1200">
          <a:solidFill>
            <a:schemeClr val="tx1"/>
          </a:solidFill>
          <a:latin typeface="+mn-lt"/>
          <a:ea typeface="+mn-ea"/>
          <a:cs typeface="+mn-cs"/>
        </a:defRPr>
      </a:lvl7pPr>
      <a:lvl8pPr marL="2922194" indent="-194813" algn="l" defTabSz="389626" rtl="0" eaLnBrk="1" latinLnBrk="0" hangingPunct="1">
        <a:spcBef>
          <a:spcPct val="20000"/>
        </a:spcBef>
        <a:buFont typeface="Arial"/>
        <a:buChar char="•"/>
        <a:defRPr sz="1700" kern="1200">
          <a:solidFill>
            <a:schemeClr val="tx1"/>
          </a:solidFill>
          <a:latin typeface="+mn-lt"/>
          <a:ea typeface="+mn-ea"/>
          <a:cs typeface="+mn-cs"/>
        </a:defRPr>
      </a:lvl8pPr>
      <a:lvl9pPr marL="3311820" indent="-194813" algn="l" defTabSz="389626" rtl="0" eaLnBrk="1" latinLnBrk="0" hangingPunct="1">
        <a:spcBef>
          <a:spcPct val="20000"/>
        </a:spcBef>
        <a:buFont typeface="Arial"/>
        <a:buChar char="•"/>
        <a:defRPr sz="1700" kern="1200">
          <a:solidFill>
            <a:schemeClr val="tx1"/>
          </a:solidFill>
          <a:latin typeface="+mn-lt"/>
          <a:ea typeface="+mn-ea"/>
          <a:cs typeface="+mn-cs"/>
        </a:defRPr>
      </a:lvl9pPr>
    </p:bodyStyle>
    <p:otherStyle>
      <a:defPPr>
        <a:defRPr lang="en-US"/>
      </a:defPPr>
      <a:lvl1pPr marL="0" algn="l" defTabSz="389626" rtl="0" eaLnBrk="1" latinLnBrk="0" hangingPunct="1">
        <a:defRPr sz="1500" kern="1200">
          <a:solidFill>
            <a:schemeClr val="tx1"/>
          </a:solidFill>
          <a:latin typeface="+mn-lt"/>
          <a:ea typeface="+mn-ea"/>
          <a:cs typeface="+mn-cs"/>
        </a:defRPr>
      </a:lvl1pPr>
      <a:lvl2pPr marL="389626" algn="l" defTabSz="389626" rtl="0" eaLnBrk="1" latinLnBrk="0" hangingPunct="1">
        <a:defRPr sz="1500" kern="1200">
          <a:solidFill>
            <a:schemeClr val="tx1"/>
          </a:solidFill>
          <a:latin typeface="+mn-lt"/>
          <a:ea typeface="+mn-ea"/>
          <a:cs typeface="+mn-cs"/>
        </a:defRPr>
      </a:lvl2pPr>
      <a:lvl3pPr marL="779252" algn="l" defTabSz="389626" rtl="0" eaLnBrk="1" latinLnBrk="0" hangingPunct="1">
        <a:defRPr sz="1500" kern="1200">
          <a:solidFill>
            <a:schemeClr val="tx1"/>
          </a:solidFill>
          <a:latin typeface="+mn-lt"/>
          <a:ea typeface="+mn-ea"/>
          <a:cs typeface="+mn-cs"/>
        </a:defRPr>
      </a:lvl3pPr>
      <a:lvl4pPr marL="1168878" algn="l" defTabSz="389626" rtl="0" eaLnBrk="1" latinLnBrk="0" hangingPunct="1">
        <a:defRPr sz="1500" kern="1200">
          <a:solidFill>
            <a:schemeClr val="tx1"/>
          </a:solidFill>
          <a:latin typeface="+mn-lt"/>
          <a:ea typeface="+mn-ea"/>
          <a:cs typeface="+mn-cs"/>
        </a:defRPr>
      </a:lvl4pPr>
      <a:lvl5pPr marL="1558503" algn="l" defTabSz="389626" rtl="0" eaLnBrk="1" latinLnBrk="0" hangingPunct="1">
        <a:defRPr sz="1500" kern="1200">
          <a:solidFill>
            <a:schemeClr val="tx1"/>
          </a:solidFill>
          <a:latin typeface="+mn-lt"/>
          <a:ea typeface="+mn-ea"/>
          <a:cs typeface="+mn-cs"/>
        </a:defRPr>
      </a:lvl5pPr>
      <a:lvl6pPr marL="1948129" algn="l" defTabSz="389626" rtl="0" eaLnBrk="1" latinLnBrk="0" hangingPunct="1">
        <a:defRPr sz="1500" kern="1200">
          <a:solidFill>
            <a:schemeClr val="tx1"/>
          </a:solidFill>
          <a:latin typeface="+mn-lt"/>
          <a:ea typeface="+mn-ea"/>
          <a:cs typeface="+mn-cs"/>
        </a:defRPr>
      </a:lvl6pPr>
      <a:lvl7pPr marL="2337755" algn="l" defTabSz="389626" rtl="0" eaLnBrk="1" latinLnBrk="0" hangingPunct="1">
        <a:defRPr sz="1500" kern="1200">
          <a:solidFill>
            <a:schemeClr val="tx1"/>
          </a:solidFill>
          <a:latin typeface="+mn-lt"/>
          <a:ea typeface="+mn-ea"/>
          <a:cs typeface="+mn-cs"/>
        </a:defRPr>
      </a:lvl7pPr>
      <a:lvl8pPr marL="2727381" algn="l" defTabSz="389626" rtl="0" eaLnBrk="1" latinLnBrk="0" hangingPunct="1">
        <a:defRPr sz="1500" kern="1200">
          <a:solidFill>
            <a:schemeClr val="tx1"/>
          </a:solidFill>
          <a:latin typeface="+mn-lt"/>
          <a:ea typeface="+mn-ea"/>
          <a:cs typeface="+mn-cs"/>
        </a:defRPr>
      </a:lvl8pPr>
      <a:lvl9pPr marL="3117007" algn="l" defTabSz="389626"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13.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image" Target="../media/image21.png"/><Relationship Id="rId1" Type="http://schemas.openxmlformats.org/officeDocument/2006/relationships/slideLayout" Target="../slideLayouts/slideLayout3.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15.png"/><Relationship Id="rId9" Type="http://schemas.openxmlformats.org/officeDocument/2006/relationships/image" Target="../media/image26.png"/><Relationship Id="rId1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2635173" y="1556792"/>
            <a:ext cx="5817244" cy="1899915"/>
          </a:xfrm>
          <a:prstGeom prst="rect">
            <a:avLst/>
          </a:prstGeom>
        </p:spPr>
        <p:txBody>
          <a:bodyPr anchor="ct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r>
              <a:rPr lang="fr-FR" sz="2800" b="1" dirty="0">
                <a:solidFill>
                  <a:srgbClr val="0070C0"/>
                </a:solidFill>
                <a:latin typeface="Arial" charset="0"/>
                <a:cs typeface="Arial" charset="0"/>
              </a:rPr>
              <a:t>Formation </a:t>
            </a:r>
            <a:r>
              <a:rPr lang="fr-FR" sz="2800" b="1" dirty="0" smtClean="0">
                <a:solidFill>
                  <a:srgbClr val="0070C0"/>
                </a:solidFill>
                <a:latin typeface="Arial" charset="0"/>
                <a:cs typeface="Arial" charset="0"/>
              </a:rPr>
              <a:t>Utilisateurs- FINANCE </a:t>
            </a:r>
            <a:r>
              <a:rPr lang="fr-FR" sz="3200" b="1" dirty="0" smtClean="0">
                <a:solidFill>
                  <a:srgbClr val="0070C0"/>
                </a:solidFill>
                <a:latin typeface="Arial" charset="0"/>
                <a:cs typeface="Arial" charset="0"/>
              </a:rPr>
              <a:t/>
            </a:r>
            <a:br>
              <a:rPr lang="fr-FR" sz="3200" b="1" dirty="0" smtClean="0">
                <a:solidFill>
                  <a:srgbClr val="0070C0"/>
                </a:solidFill>
                <a:latin typeface="Arial" charset="0"/>
                <a:cs typeface="Arial" charset="0"/>
              </a:rPr>
            </a:br>
            <a:r>
              <a:rPr lang="fr-FR" sz="2000" b="1" dirty="0" smtClean="0">
                <a:solidFill>
                  <a:srgbClr val="0070C0"/>
                </a:solidFill>
                <a:latin typeface="Arial" charset="0"/>
                <a:cs typeface="Arial" charset="0"/>
              </a:rPr>
              <a:t>Module 05.01</a:t>
            </a:r>
            <a:r>
              <a:rPr lang="fr-FR" sz="2000" b="1" dirty="0">
                <a:solidFill>
                  <a:srgbClr val="0070C0"/>
                </a:solidFill>
                <a:latin typeface="Arial" charset="0"/>
                <a:cs typeface="Arial" charset="0"/>
              </a:rPr>
              <a:t/>
            </a:r>
            <a:br>
              <a:rPr lang="fr-FR" sz="2000" b="1" dirty="0">
                <a:solidFill>
                  <a:srgbClr val="0070C0"/>
                </a:solidFill>
                <a:latin typeface="Arial" charset="0"/>
                <a:cs typeface="Arial" charset="0"/>
              </a:rPr>
            </a:br>
            <a:r>
              <a:rPr lang="fr-FR" sz="2000" b="1" dirty="0" smtClean="0">
                <a:solidFill>
                  <a:srgbClr val="0070C0"/>
                </a:solidFill>
                <a:latin typeface="Arial" charset="0"/>
                <a:cs typeface="Arial" charset="0"/>
              </a:rPr>
              <a:t>Gestion des données de base des immobilisations  </a:t>
            </a:r>
            <a:endParaRPr lang="fr-FR" sz="1800" dirty="0" smtClean="0">
              <a:solidFill>
                <a:srgbClr val="0070C0"/>
              </a:solidFill>
              <a:latin typeface="Arial" charset="0"/>
              <a:cs typeface="Arial" charset="0"/>
            </a:endParaRPr>
          </a:p>
        </p:txBody>
      </p:sp>
      <p:sp>
        <p:nvSpPr>
          <p:cNvPr id="21506" name="Rectangle 2"/>
          <p:cNvSpPr>
            <a:spLocks noGrp="1"/>
          </p:cNvSpPr>
          <p:nvPr>
            <p:ph type="ctrTitle" idx="4294967295"/>
          </p:nvPr>
        </p:nvSpPr>
        <p:spPr>
          <a:xfrm>
            <a:off x="6245817" y="4002921"/>
            <a:ext cx="2772366" cy="708563"/>
          </a:xfrm>
        </p:spPr>
        <p:txBody>
          <a:bodyPr>
            <a:normAutofit/>
          </a:bodyPr>
          <a:lstStyle/>
          <a:p>
            <a:pPr algn="r" defTabSz="457200"/>
            <a:r>
              <a:rPr lang="fr-FR" altLang="en-US" sz="1800" dirty="0" smtClean="0">
                <a:solidFill>
                  <a:schemeClr val="tx1"/>
                </a:solidFill>
                <a:latin typeface="Arial" charset="0"/>
              </a:rPr>
              <a:t>Kamsar, le 09.02.2016</a:t>
            </a:r>
            <a:endParaRPr lang="en-US" altLang="en-US" sz="1800" dirty="0">
              <a:solidFill>
                <a:schemeClr val="tx1"/>
              </a:solidFill>
              <a:latin typeface="Arial" charset="0"/>
            </a:endParaRPr>
          </a:p>
        </p:txBody>
      </p:sp>
    </p:spTree>
    <p:extLst>
      <p:ext uri="{BB962C8B-B14F-4D97-AF65-F5344CB8AC3E}">
        <p14:creationId xmlns:p14="http://schemas.microsoft.com/office/powerpoint/2010/main" val="2125474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343258"/>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 opératoire </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2</a:t>
            </a:fld>
            <a:endParaRPr lang="fr-FR" altLang="en-US" sz="750"/>
          </a:p>
        </p:txBody>
      </p:sp>
    </p:spTree>
    <p:extLst>
      <p:ext uri="{BB962C8B-B14F-4D97-AF65-F5344CB8AC3E}">
        <p14:creationId xmlns:p14="http://schemas.microsoft.com/office/powerpoint/2010/main" val="5447704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fr-FR" altLang="en-US" dirty="0" smtClean="0"/>
              <a:t>Objectifs de la formation</a:t>
            </a:r>
            <a:endParaRPr lang="fr-FR" altLang="en-US" dirty="0"/>
          </a:p>
        </p:txBody>
      </p:sp>
      <p:sp>
        <p:nvSpPr>
          <p:cNvPr id="23555" name="Slide Number Placeholder 3"/>
          <p:cNvSpPr>
            <a:spLocks noGrp="1"/>
          </p:cNvSpPr>
          <p:nvPr>
            <p:ph type="sldNum" sz="quarter" idx="4294967295"/>
          </p:nvPr>
        </p:nvSpPr>
        <p:spPr bwMode="auto">
          <a:xfrm>
            <a:off x="7543800" y="4767263"/>
            <a:ext cx="16002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6376B89C-69A1-4AA7-8B55-052D6C772B02}" type="slidenum">
              <a:rPr lang="en-US" altLang="en-US" sz="750"/>
              <a:pPr eaLnBrk="1" hangingPunct="1"/>
              <a:t>3</a:t>
            </a:fld>
            <a:endParaRPr lang="en-US" altLang="en-US" sz="750"/>
          </a:p>
        </p:txBody>
      </p:sp>
      <p:sp>
        <p:nvSpPr>
          <p:cNvPr id="5" name="Rectangle 4"/>
          <p:cNvSpPr/>
          <p:nvPr/>
        </p:nvSpPr>
        <p:spPr>
          <a:xfrm>
            <a:off x="1763272" y="1312720"/>
            <a:ext cx="4589859" cy="601073"/>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72000" bIns="72000" spcCol="180000"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Comprendre la structure organisationnelle des immobilisations</a:t>
            </a:r>
          </a:p>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Savoir gérer les </a:t>
            </a:r>
            <a:r>
              <a:rPr lang="fr-FR" sz="900" dirty="0" smtClean="0">
                <a:solidFill>
                  <a:schemeClr val="tx1"/>
                </a:solidFill>
                <a:latin typeface="Arial" pitchFamily="34" charset="0"/>
                <a:cs typeface="Arial" pitchFamily="34" charset="0"/>
              </a:rPr>
              <a:t>données de bases des immobilisations    </a:t>
            </a:r>
          </a:p>
          <a:p>
            <a:pPr eaLnBrk="0" hangingPunct="0">
              <a:spcBef>
                <a:spcPts val="225"/>
              </a:spcBef>
              <a:buClr>
                <a:srgbClr val="4F81BD"/>
              </a:buClr>
              <a:defRPr/>
            </a:pPr>
            <a:endParaRPr lang="fr-FR" sz="900" dirty="0">
              <a:solidFill>
                <a:schemeClr val="tx1"/>
              </a:solidFill>
              <a:latin typeface="Arial" pitchFamily="34" charset="0"/>
              <a:cs typeface="Arial" pitchFamily="34" charset="0"/>
            </a:endParaRPr>
          </a:p>
        </p:txBody>
      </p:sp>
      <p:sp>
        <p:nvSpPr>
          <p:cNvPr id="7" name="Rectangle 6"/>
          <p:cNvSpPr/>
          <p:nvPr/>
        </p:nvSpPr>
        <p:spPr>
          <a:xfrm>
            <a:off x="1763272" y="3707367"/>
            <a:ext cx="4589859" cy="513778"/>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216000" spcCol="180000" anchor="ctr"/>
          <a:lstStyle/>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Gestion de la fiche d’immobilisation</a:t>
            </a:r>
          </a:p>
          <a:p>
            <a:pPr marL="0" lvl="1" eaLnBrk="0" hangingPunct="0">
              <a:spcBef>
                <a:spcPts val="225"/>
              </a:spcBef>
              <a:buClr>
                <a:srgbClr val="4F81BD"/>
              </a:buClr>
              <a:defRPr/>
            </a:pPr>
            <a:endParaRPr lang="fr-FR" sz="900" dirty="0" smtClean="0">
              <a:solidFill>
                <a:schemeClr val="tx1"/>
              </a:solidFill>
              <a:latin typeface="Arial" pitchFamily="34" charset="0"/>
              <a:cs typeface="Arial" pitchFamily="34" charset="0"/>
            </a:endParaRPr>
          </a:p>
          <a:p>
            <a:pPr marL="67866" lvl="1" indent="-67866" eaLnBrk="0" hangingPunct="0">
              <a:spcBef>
                <a:spcPts val="225"/>
              </a:spcBef>
              <a:buClr>
                <a:srgbClr val="4F81BD"/>
              </a:buClr>
              <a:buFont typeface="Arial" charset="0"/>
              <a:buChar char="•"/>
              <a:defRPr/>
            </a:pPr>
            <a:endParaRPr lang="fr-FR" sz="900" dirty="0" smtClean="0">
              <a:solidFill>
                <a:schemeClr val="tx1"/>
              </a:solidFill>
              <a:latin typeface="Arial" pitchFamily="34" charset="0"/>
              <a:cs typeface="Arial" pitchFamily="34" charset="0"/>
            </a:endParaRPr>
          </a:p>
        </p:txBody>
      </p:sp>
      <p:sp>
        <p:nvSpPr>
          <p:cNvPr id="11" name="Rectangle 10"/>
          <p:cNvSpPr/>
          <p:nvPr/>
        </p:nvSpPr>
        <p:spPr>
          <a:xfrm>
            <a:off x="1808210" y="3407285"/>
            <a:ext cx="1932004"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Contenu de la formation</a:t>
            </a:r>
          </a:p>
        </p:txBody>
      </p:sp>
      <p:sp>
        <p:nvSpPr>
          <p:cNvPr id="12" name="Rectangle 11"/>
          <p:cNvSpPr/>
          <p:nvPr/>
        </p:nvSpPr>
        <p:spPr>
          <a:xfrm>
            <a:off x="1718686" y="1012639"/>
            <a:ext cx="822597" cy="300082"/>
          </a:xfrm>
          <a:prstGeom prst="rect">
            <a:avLst/>
          </a:prstGeom>
          <a:noFill/>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Objectifs</a:t>
            </a:r>
          </a:p>
        </p:txBody>
      </p:sp>
      <p:grpSp>
        <p:nvGrpSpPr>
          <p:cNvPr id="14" name="Groupe 13"/>
          <p:cNvGrpSpPr/>
          <p:nvPr/>
        </p:nvGrpSpPr>
        <p:grpSpPr>
          <a:xfrm>
            <a:off x="6481687" y="1016233"/>
            <a:ext cx="1905739" cy="897560"/>
            <a:chOff x="6704410" y="1016233"/>
            <a:chExt cx="1528579" cy="897560"/>
          </a:xfrm>
        </p:grpSpPr>
        <p:sp>
          <p:nvSpPr>
            <p:cNvPr id="8" name="Rectangle 7"/>
            <p:cNvSpPr/>
            <p:nvPr/>
          </p:nvSpPr>
          <p:spPr>
            <a:xfrm>
              <a:off x="6748280" y="1316481"/>
              <a:ext cx="1484709" cy="597312"/>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2</a:t>
              </a:r>
              <a:r>
                <a:rPr lang="fr-FR" sz="900" dirty="0" smtClean="0">
                  <a:solidFill>
                    <a:schemeClr val="tx1"/>
                  </a:solidFill>
                  <a:latin typeface="Arial" pitchFamily="34" charset="0"/>
                  <a:cs typeface="Arial" pitchFamily="34" charset="0"/>
                </a:rPr>
                <a:t> Heure</a:t>
              </a:r>
              <a:endParaRPr lang="fr-FR" sz="900" dirty="0">
                <a:solidFill>
                  <a:schemeClr val="tx1"/>
                </a:solidFill>
                <a:latin typeface="Arial" pitchFamily="34" charset="0"/>
                <a:cs typeface="Arial" pitchFamily="34" charset="0"/>
              </a:endParaRPr>
            </a:p>
          </p:txBody>
        </p:sp>
        <p:sp>
          <p:nvSpPr>
            <p:cNvPr id="17" name="Rectangle 16"/>
            <p:cNvSpPr/>
            <p:nvPr/>
          </p:nvSpPr>
          <p:spPr>
            <a:xfrm>
              <a:off x="6704410" y="1016233"/>
              <a:ext cx="61875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Durée</a:t>
              </a:r>
            </a:p>
          </p:txBody>
        </p:sp>
      </p:grpSp>
      <p:grpSp>
        <p:nvGrpSpPr>
          <p:cNvPr id="10" name="Groupe 9"/>
          <p:cNvGrpSpPr/>
          <p:nvPr/>
        </p:nvGrpSpPr>
        <p:grpSpPr>
          <a:xfrm>
            <a:off x="6475133" y="2059733"/>
            <a:ext cx="1913909" cy="1201612"/>
            <a:chOff x="6697857" y="2111948"/>
            <a:chExt cx="1535132" cy="1201612"/>
          </a:xfrm>
        </p:grpSpPr>
        <p:sp>
          <p:nvSpPr>
            <p:cNvPr id="6" name="Rectangle 5"/>
            <p:cNvSpPr/>
            <p:nvPr/>
          </p:nvSpPr>
          <p:spPr>
            <a:xfrm>
              <a:off x="6748280" y="2412030"/>
              <a:ext cx="1484709" cy="901530"/>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Comptables immobilisations  </a:t>
              </a:r>
            </a:p>
            <a:p>
              <a:pPr eaLnBrk="0" hangingPunct="0">
                <a:spcBef>
                  <a:spcPts val="225"/>
                </a:spcBef>
                <a:buClr>
                  <a:srgbClr val="4F81BD"/>
                </a:buClr>
                <a:defRPr/>
              </a:pPr>
              <a:endParaRPr lang="fr-FR" sz="900" dirty="0" smtClean="0">
                <a:solidFill>
                  <a:schemeClr val="tx1"/>
                </a:solidFill>
                <a:latin typeface="Arial" pitchFamily="34" charset="0"/>
                <a:cs typeface="Arial" pitchFamily="34" charset="0"/>
              </a:endParaRPr>
            </a:p>
          </p:txBody>
        </p:sp>
        <p:sp>
          <p:nvSpPr>
            <p:cNvPr id="18" name="Rectangle 17"/>
            <p:cNvSpPr/>
            <p:nvPr/>
          </p:nvSpPr>
          <p:spPr>
            <a:xfrm>
              <a:off x="6697857" y="2111948"/>
              <a:ext cx="99738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Public cible</a:t>
              </a:r>
            </a:p>
          </p:txBody>
        </p:sp>
      </p:grpSp>
      <p:grpSp>
        <p:nvGrpSpPr>
          <p:cNvPr id="15" name="Groupe 14"/>
          <p:cNvGrpSpPr/>
          <p:nvPr/>
        </p:nvGrpSpPr>
        <p:grpSpPr>
          <a:xfrm>
            <a:off x="6474246" y="3407285"/>
            <a:ext cx="1915016" cy="813860"/>
            <a:chOff x="6696969" y="3407285"/>
            <a:chExt cx="1536020" cy="813860"/>
          </a:xfrm>
        </p:grpSpPr>
        <p:sp>
          <p:nvSpPr>
            <p:cNvPr id="13" name="Rectangle 12"/>
            <p:cNvSpPr/>
            <p:nvPr/>
          </p:nvSpPr>
          <p:spPr>
            <a:xfrm>
              <a:off x="6748280" y="3689526"/>
              <a:ext cx="1484709" cy="53161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Introduction à SAP</a:t>
              </a:r>
              <a:endParaRPr lang="fr-FR" sz="900" dirty="0">
                <a:solidFill>
                  <a:schemeClr val="tx1"/>
                </a:solidFill>
                <a:latin typeface="Arial" pitchFamily="34" charset="0"/>
                <a:cs typeface="Arial" pitchFamily="34" charset="0"/>
              </a:endParaRPr>
            </a:p>
          </p:txBody>
        </p:sp>
        <p:sp>
          <p:nvSpPr>
            <p:cNvPr id="20" name="Rectangle 19"/>
            <p:cNvSpPr/>
            <p:nvPr/>
          </p:nvSpPr>
          <p:spPr>
            <a:xfrm>
              <a:off x="6696969" y="3407285"/>
              <a:ext cx="918201"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Pré-requis</a:t>
              </a:r>
            </a:p>
          </p:txBody>
        </p:sp>
      </p:grpSp>
      <p:pic>
        <p:nvPicPr>
          <p:cNvPr id="9" name="Image 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5761" y="2571750"/>
            <a:ext cx="1737511" cy="1731414"/>
          </a:xfrm>
          <a:prstGeom prst="rect">
            <a:avLst/>
          </a:prstGeom>
        </p:spPr>
      </p:pic>
    </p:spTree>
    <p:extLst>
      <p:ext uri="{BB962C8B-B14F-4D97-AF65-F5344CB8AC3E}">
        <p14:creationId xmlns:p14="http://schemas.microsoft.com/office/powerpoint/2010/main" val="1531921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re 2"/>
          <p:cNvSpPr>
            <a:spLocks noGrp="1"/>
          </p:cNvSpPr>
          <p:nvPr>
            <p:ph type="title"/>
          </p:nvPr>
        </p:nvSpPr>
        <p:spPr/>
        <p:txBody>
          <a:bodyPr>
            <a:normAutofit/>
          </a:bodyPr>
          <a:lstStyle/>
          <a:p>
            <a:r>
              <a:rPr lang="fr-FR" altLang="en-US" dirty="0"/>
              <a:t>Agenda : 2h00</a:t>
            </a:r>
            <a:endParaRPr lang="en-US" altLang="en-US" dirty="0"/>
          </a:p>
        </p:txBody>
      </p:sp>
      <p:graphicFrame>
        <p:nvGraphicFramePr>
          <p:cNvPr id="6" name="Espace réservé du contenu 5"/>
          <p:cNvGraphicFramePr>
            <a:graphicFrameLocks noGrp="1"/>
          </p:cNvGraphicFramePr>
          <p:nvPr>
            <p:ph idx="1"/>
            <p:extLst>
              <p:ext uri="{D42A27DB-BD31-4B8C-83A1-F6EECF244321}">
                <p14:modId xmlns:p14="http://schemas.microsoft.com/office/powerpoint/2010/main" val="2937443542"/>
              </p:ext>
            </p:extLst>
          </p:nvPr>
        </p:nvGraphicFramePr>
        <p:xfrm>
          <a:off x="2758033" y="1291506"/>
          <a:ext cx="3627934" cy="1967902"/>
        </p:xfrm>
        <a:graphic>
          <a:graphicData uri="http://schemas.openxmlformats.org/drawingml/2006/table">
            <a:tbl>
              <a:tblPr firstRow="1" bandRow="1">
                <a:tableStyleId>{5C22544A-7EE6-4342-B048-85BDC9FD1C3A}</a:tableStyleId>
              </a:tblPr>
              <a:tblGrid>
                <a:gridCol w="1125910"/>
                <a:gridCol w="2502024"/>
              </a:tblGrid>
              <a:tr h="309310">
                <a:tc>
                  <a:txBody>
                    <a:bodyPr/>
                    <a:lstStyle/>
                    <a:p>
                      <a:pPr algn="ctr"/>
                      <a:r>
                        <a:rPr lang="fr-FR" sz="900" dirty="0" smtClean="0"/>
                        <a:t>Horaire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c>
                  <a:txBody>
                    <a:bodyPr/>
                    <a:lstStyle/>
                    <a:p>
                      <a:pPr algn="ctr">
                        <a:lnSpc>
                          <a:spcPct val="100000"/>
                        </a:lnSpc>
                        <a:spcBef>
                          <a:spcPts val="0"/>
                        </a:spcBef>
                        <a:spcAft>
                          <a:spcPts val="0"/>
                        </a:spcAft>
                      </a:pPr>
                      <a:r>
                        <a:rPr lang="fr-FR" sz="900" dirty="0" smtClean="0"/>
                        <a:t>Agenda Matinée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r>
              <a:tr h="436472">
                <a:tc>
                  <a:txBody>
                    <a:bodyPr/>
                    <a:lstStyle/>
                    <a:p>
                      <a:pPr algn="ctr"/>
                      <a:r>
                        <a:rPr lang="fr-FR" sz="900" dirty="0" smtClean="0"/>
                        <a:t>8h00 – 8h20</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c>
                  <a:txBody>
                    <a:bodyPr/>
                    <a:lstStyle/>
                    <a:p>
                      <a:pPr>
                        <a:lnSpc>
                          <a:spcPct val="100000"/>
                        </a:lnSpc>
                        <a:spcBef>
                          <a:spcPts val="0"/>
                        </a:spcBef>
                        <a:spcAft>
                          <a:spcPts val="0"/>
                        </a:spcAft>
                      </a:pPr>
                      <a:r>
                        <a:rPr lang="fr-FR" sz="900" dirty="0" smtClean="0"/>
                        <a:t>Accueil / Introduction : 5 min</a:t>
                      </a:r>
                    </a:p>
                    <a:p>
                      <a:pPr>
                        <a:lnSpc>
                          <a:spcPct val="100000"/>
                        </a:lnSpc>
                        <a:spcBef>
                          <a:spcPts val="0"/>
                        </a:spcBef>
                        <a:spcAft>
                          <a:spcPts val="0"/>
                        </a:spcAft>
                      </a:pPr>
                      <a:r>
                        <a:rPr lang="fr-FR" sz="900" dirty="0" smtClean="0"/>
                        <a:t>Présentation des</a:t>
                      </a:r>
                      <a:r>
                        <a:rPr lang="fr-FR" sz="900" baseline="0" dirty="0" smtClean="0"/>
                        <a:t> p</a:t>
                      </a:r>
                      <a:r>
                        <a:rPr lang="fr-FR" sz="900" dirty="0" smtClean="0"/>
                        <a:t>rocessus : 15 min</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r>
              <a:tr h="611060">
                <a:tc>
                  <a:txBody>
                    <a:bodyPr/>
                    <a:lstStyle/>
                    <a:p>
                      <a:pPr algn="ctr"/>
                      <a:r>
                        <a:rPr lang="fr-FR" sz="900" dirty="0" smtClean="0"/>
                        <a:t>8h20 – 9h30</a:t>
                      </a:r>
                      <a:endParaRPr lang="fr-FR" sz="900" dirty="0" smtClean="0">
                        <a:solidFill>
                          <a:schemeClr val="bg1"/>
                        </a:solidFill>
                        <a:latin typeface="Arial" pitchFamily="34" charset="0"/>
                        <a:cs typeface="Arial" pitchFamily="34" charset="0"/>
                      </a:endParaRPr>
                    </a:p>
                  </a:txBody>
                  <a:tcPr marL="68566" marR="68566" marT="34292" marB="34292" anchor="ctr">
                    <a:solidFill>
                      <a:srgbClr val="F3F4FF"/>
                    </a:solidFill>
                  </a:tcPr>
                </a:tc>
                <a:tc>
                  <a:txBody>
                    <a:bodyPr/>
                    <a:lstStyle/>
                    <a:p>
                      <a:pPr>
                        <a:lnSpc>
                          <a:spcPct val="100000"/>
                        </a:lnSpc>
                        <a:spcBef>
                          <a:spcPts val="0"/>
                        </a:spcBef>
                        <a:spcAft>
                          <a:spcPts val="0"/>
                        </a:spcAft>
                      </a:pPr>
                      <a:r>
                        <a:rPr lang="fr-FR" sz="900" dirty="0" smtClean="0"/>
                        <a:t>La représentation des</a:t>
                      </a:r>
                      <a:r>
                        <a:rPr lang="fr-FR" sz="900" baseline="0" dirty="0" smtClean="0"/>
                        <a:t> processus</a:t>
                      </a:r>
                      <a:endParaRPr lang="fr-FR" sz="900" dirty="0" smtClean="0"/>
                    </a:p>
                    <a:p>
                      <a:pPr marL="177800" indent="-177800">
                        <a:lnSpc>
                          <a:spcPct val="100000"/>
                        </a:lnSpc>
                        <a:spcBef>
                          <a:spcPts val="0"/>
                        </a:spcBef>
                        <a:spcAft>
                          <a:spcPts val="0"/>
                        </a:spcAft>
                        <a:buFont typeface="Arial" pitchFamily="34" charset="0"/>
                        <a:buChar char="•"/>
                      </a:pPr>
                      <a:r>
                        <a:rPr lang="fr-FR" sz="900" dirty="0" smtClean="0"/>
                        <a:t>Présentation : 20 min</a:t>
                      </a:r>
                    </a:p>
                    <a:p>
                      <a:pPr marL="177800" indent="-177800">
                        <a:lnSpc>
                          <a:spcPct val="100000"/>
                        </a:lnSpc>
                        <a:spcBef>
                          <a:spcPts val="0"/>
                        </a:spcBef>
                        <a:spcAft>
                          <a:spcPts val="0"/>
                        </a:spcAft>
                        <a:buFont typeface="Arial" pitchFamily="34" charset="0"/>
                        <a:buChar char="•"/>
                      </a:pPr>
                      <a:r>
                        <a:rPr lang="fr-FR" sz="900" dirty="0" smtClean="0"/>
                        <a:t>Exercice dirigé</a:t>
                      </a:r>
                      <a:r>
                        <a:rPr lang="fr-FR" sz="900" baseline="0" dirty="0" smtClean="0"/>
                        <a:t> : 50 min</a:t>
                      </a:r>
                      <a:endParaRPr lang="fr-FR" sz="900" baseline="0" dirty="0" smtClean="0">
                        <a:solidFill>
                          <a:schemeClr val="bg1"/>
                        </a:solidFill>
                        <a:latin typeface="Arial" pitchFamily="34" charset="0"/>
                        <a:cs typeface="Arial" pitchFamily="34" charset="0"/>
                      </a:endParaRPr>
                    </a:p>
                  </a:txBody>
                  <a:tcPr marL="68566" marR="68566" marT="34292" marB="34292" anchor="ctr">
                    <a:solidFill>
                      <a:srgbClr val="F3F4FF"/>
                    </a:solidFill>
                  </a:tcPr>
                </a:tc>
              </a:tr>
              <a:tr h="611060">
                <a:tc>
                  <a:txBody>
                    <a:bodyPr/>
                    <a:lstStyle/>
                    <a:p>
                      <a:pPr algn="ctr"/>
                      <a:r>
                        <a:rPr lang="fr-FR" sz="900" dirty="0" smtClean="0"/>
                        <a:t>9h30 – 10h00</a:t>
                      </a:r>
                      <a:endParaRPr lang="en-US" sz="900" dirty="0">
                        <a:solidFill>
                          <a:schemeClr val="bg1"/>
                        </a:solidFill>
                        <a:latin typeface="Arial" pitchFamily="34" charset="0"/>
                        <a:cs typeface="Arial" pitchFamily="34" charset="0"/>
                      </a:endParaRPr>
                    </a:p>
                  </a:txBody>
                  <a:tcPr marL="68566" marR="68566" marT="34292" marB="34292" anchor="ctr">
                    <a:solidFill>
                      <a:srgbClr val="F3F4FF"/>
                    </a:solidFill>
                  </a:tcPr>
                </a:tc>
                <a:tc>
                  <a:txBody>
                    <a:bodyPr/>
                    <a:lstStyle/>
                    <a:p>
                      <a:pPr marL="177800" indent="-177800">
                        <a:lnSpc>
                          <a:spcPct val="100000"/>
                        </a:lnSpc>
                        <a:spcBef>
                          <a:spcPts val="0"/>
                        </a:spcBef>
                        <a:spcAft>
                          <a:spcPts val="0"/>
                        </a:spcAft>
                        <a:buFont typeface="Arial" pitchFamily="34" charset="0"/>
                        <a:buNone/>
                      </a:pPr>
                      <a:r>
                        <a:rPr lang="fr-FR" sz="900" baseline="0" dirty="0" smtClean="0"/>
                        <a:t>Question et libre échange </a:t>
                      </a:r>
                    </a:p>
                  </a:txBody>
                  <a:tcPr marL="68566" marR="68566" marT="34292" marB="34292" anchor="ctr">
                    <a:solidFill>
                      <a:srgbClr val="F3F4FF"/>
                    </a:solidFill>
                  </a:tcPr>
                </a:tc>
              </a:tr>
            </a:tbl>
          </a:graphicData>
        </a:graphic>
      </p:graphicFrame>
      <p:pic>
        <p:nvPicPr>
          <p:cNvPr id="5" name="Image 4"/>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6468173" y="1953491"/>
            <a:ext cx="2120785" cy="2392972"/>
          </a:xfrm>
          <a:prstGeom prst="rect">
            <a:avLst/>
          </a:prstGeom>
        </p:spPr>
      </p:pic>
    </p:spTree>
    <p:extLst>
      <p:ext uri="{BB962C8B-B14F-4D97-AF65-F5344CB8AC3E}">
        <p14:creationId xmlns:p14="http://schemas.microsoft.com/office/powerpoint/2010/main" val="41803714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72068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a:t>
            </a:r>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du </a:t>
            </a:r>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processus </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5</a:t>
            </a:fld>
            <a:endParaRPr lang="fr-FR" altLang="en-US" sz="750"/>
          </a:p>
        </p:txBody>
      </p:sp>
    </p:spTree>
    <p:extLst>
      <p:ext uri="{BB962C8B-B14F-4D97-AF65-F5344CB8AC3E}">
        <p14:creationId xmlns:p14="http://schemas.microsoft.com/office/powerpoint/2010/main" val="16752797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700" dirty="0" smtClean="0">
                <a:cs typeface="Arial" panose="020B0604020202020204" pitchFamily="34" charset="0"/>
              </a:rPr>
              <a:t>Description du processus de gestion immobilisations en cours et leur mise en service</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240571"/>
          </a:xfrm>
        </p:spPr>
        <p:txBody>
          <a:bodyPr/>
          <a:lstStyle/>
          <a:p>
            <a:r>
              <a:rPr lang="fr-FR" dirty="0" smtClean="0">
                <a:cs typeface="Arial" panose="020B0604020202020204" pitchFamily="34" charset="0"/>
              </a:rPr>
              <a:t>Dès lors qu’un projet est lancé, une immobilisation en cours est créée. Elle est rattachée à l’élément d’OTP de niveau 1.</a:t>
            </a:r>
          </a:p>
          <a:p>
            <a:r>
              <a:rPr lang="fr-FR" dirty="0" smtClean="0">
                <a:cs typeface="Arial" panose="020B0604020202020204" pitchFamily="34" charset="0"/>
              </a:rPr>
              <a:t>Dans SAP, une commande d’achat est créée par le département Achat sur la base de l’offre sélectionnée. Cette commande d’achat indique l’article correspondant à l’équipement ou au service à acheter. Cette commande d’achat doit porter comme imputation analytique l’élément d’OTP lié à l’activité. </a:t>
            </a:r>
          </a:p>
          <a:p>
            <a:r>
              <a:rPr lang="fr-FR" dirty="0" smtClean="0">
                <a:cs typeface="Arial" panose="020B0604020202020204" pitchFamily="34" charset="0"/>
              </a:rPr>
              <a:t>La création de la commande d’achat génère un engagement sur le budget du projet puisqu’il est diminué du montant de l’achat. Cette commande d’achat est ensuite soumise à un processus d’approbation.</a:t>
            </a:r>
          </a:p>
          <a:p>
            <a:r>
              <a:rPr lang="fr-FR" dirty="0" smtClean="0">
                <a:cs typeface="Arial" panose="020B0604020202020204" pitchFamily="34" charset="0"/>
              </a:rPr>
              <a:t>La réception de l’équipement génère automatiquement les écritures comptables suivantes imputées sur l’élément d’OTP renseigné dans la commande d’achat.    </a:t>
            </a:r>
            <a:endParaRPr lang="ru-RU" dirty="0">
              <a:cs typeface="Arial" panose="020B0604020202020204" pitchFamily="34" charset="0"/>
            </a:endParaRPr>
          </a:p>
          <a:p>
            <a:endParaRPr lang="ru-RU" dirty="0">
              <a:latin typeface="Arial" panose="020B0604020202020204" pitchFamily="34" charset="0"/>
              <a:cs typeface="Arial" panose="020B0604020202020204" pitchFamily="34" charset="0"/>
            </a:endParaRPr>
          </a:p>
          <a:p>
            <a:r>
              <a:rPr lang="fr-CA"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6</a:t>
            </a:fld>
            <a:endParaRPr lang="fr-FR" altLang="en-US" sz="750">
              <a:solidFill>
                <a:srgbClr val="000000"/>
              </a:solidFill>
            </a:endParaRPr>
          </a:p>
        </p:txBody>
      </p:sp>
    </p:spTree>
    <p:extLst>
      <p:ext uri="{BB962C8B-B14F-4D97-AF65-F5344CB8AC3E}">
        <p14:creationId xmlns:p14="http://schemas.microsoft.com/office/powerpoint/2010/main" val="1028002946"/>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400" dirty="0" smtClean="0">
                <a:cs typeface="Arial" panose="020B0604020202020204" pitchFamily="34" charset="0"/>
              </a:rPr>
              <a:t>Description de la structure organisationnelle des immobilisations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240571"/>
          </a:xfrm>
        </p:spPr>
        <p:txBody>
          <a:bodyPr/>
          <a:lstStyle/>
          <a:p>
            <a:r>
              <a:rPr lang="fr-FR" dirty="0" smtClean="0">
                <a:cs typeface="Arial" panose="020B0604020202020204" pitchFamily="34" charset="0"/>
              </a:rPr>
              <a:t>Quatre éléments composent la structure organisationnelle des immobilisations : </a:t>
            </a:r>
          </a:p>
          <a:p>
            <a:pPr marL="322971" lvl="1" indent="-171450">
              <a:buClr>
                <a:srgbClr val="0070C0"/>
              </a:buClr>
              <a:buSzPct val="100000"/>
            </a:pPr>
            <a:r>
              <a:rPr lang="fr-FR" dirty="0">
                <a:cs typeface="Arial" panose="020B0604020202020204" pitchFamily="34" charset="0"/>
              </a:rPr>
              <a:t> </a:t>
            </a:r>
            <a:r>
              <a:rPr lang="fr-FR" dirty="0"/>
              <a:t>Plan d’évaluation </a:t>
            </a:r>
          </a:p>
          <a:p>
            <a:pPr marL="322971" lvl="1" indent="-171450">
              <a:buClr>
                <a:srgbClr val="0070C0"/>
              </a:buClr>
              <a:buSzPct val="100000"/>
            </a:pPr>
            <a:r>
              <a:rPr lang="fr-FR" dirty="0"/>
              <a:t> Tableaux d’évaluation </a:t>
            </a:r>
          </a:p>
          <a:p>
            <a:pPr marL="322971" lvl="1" indent="-171450">
              <a:buClr>
                <a:srgbClr val="0070C0"/>
              </a:buClr>
              <a:buSzPct val="100000"/>
            </a:pPr>
            <a:r>
              <a:rPr lang="fr-FR" dirty="0"/>
              <a:t> Catégories d’immobilisation</a:t>
            </a:r>
          </a:p>
          <a:p>
            <a:pPr marL="322971" lvl="1" indent="-171450">
              <a:buClr>
                <a:srgbClr val="0070C0"/>
              </a:buClr>
              <a:buSzPct val="100000"/>
            </a:pPr>
            <a:r>
              <a:rPr lang="fr-FR" dirty="0"/>
              <a:t> Clés d’affectation.</a:t>
            </a:r>
          </a:p>
          <a:p>
            <a:r>
              <a:rPr lang="fr-FR" dirty="0">
                <a:cs typeface="Arial" panose="020B0604020202020204" pitchFamily="34" charset="0"/>
              </a:rPr>
              <a:t>	</a:t>
            </a:r>
            <a:endParaRPr lang="ru-RU" dirty="0">
              <a:cs typeface="Arial" panose="020B0604020202020204" pitchFamily="34" charset="0"/>
            </a:endParaRPr>
          </a:p>
          <a:p>
            <a:r>
              <a:rPr lang="fr-CA"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7</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2718649" y="1437792"/>
            <a:ext cx="5800725" cy="2851123"/>
          </a:xfrm>
          <a:prstGeom prst="rect">
            <a:avLst/>
          </a:prstGeom>
        </p:spPr>
      </p:pic>
    </p:spTree>
    <p:extLst>
      <p:ext uri="{BB962C8B-B14F-4D97-AF65-F5344CB8AC3E}">
        <p14:creationId xmlns:p14="http://schemas.microsoft.com/office/powerpoint/2010/main" val="3311226172"/>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700" dirty="0" smtClean="0">
                <a:cs typeface="Arial" panose="020B0604020202020204" pitchFamily="34" charset="0"/>
              </a:rPr>
              <a:t>Description de la structure organisationnelle des immobilisations 1/2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240571"/>
          </a:xfrm>
        </p:spPr>
        <p:txBody>
          <a:bodyPr/>
          <a:lstStyle/>
          <a:p>
            <a:r>
              <a:rPr lang="fr-FR" dirty="0"/>
              <a:t>Le Plan d’évaluation </a:t>
            </a:r>
            <a:endParaRPr lang="ru-RU" dirty="0"/>
          </a:p>
          <a:p>
            <a:r>
              <a:rPr lang="fr-FR" dirty="0"/>
              <a:t>Le plan d’évaluation est un répertoire de tableaux d’évaluation nécessaires aux différents types d’évaluation. Il pilote l’ensemble des règles d’amortissement et d’évaluation des </a:t>
            </a:r>
            <a:r>
              <a:rPr lang="fr-FR" dirty="0" smtClean="0"/>
              <a:t>immobilisations. Le plan d’Evaluation de la CBG est « CBG »</a:t>
            </a:r>
            <a:endParaRPr lang="ru-RU" dirty="0"/>
          </a:p>
          <a:p>
            <a:r>
              <a:rPr lang="fr-FR" dirty="0"/>
              <a:t>En général, il est nécessaire et recommandé de définir un plan d’évaluation par pays pour permettre de gérer les spécificités légales </a:t>
            </a:r>
            <a:r>
              <a:rPr lang="fr-FR" dirty="0" smtClean="0"/>
              <a:t>locales. Les </a:t>
            </a:r>
            <a:r>
              <a:rPr lang="fr-FR" dirty="0"/>
              <a:t>sociétés héritent de ces spécificités en étant rattachées à un plan d’évaluation unique.</a:t>
            </a:r>
            <a:endParaRPr lang="ru-RU" dirty="0"/>
          </a:p>
          <a:p>
            <a:r>
              <a:rPr lang="fr-FR" dirty="0"/>
              <a:t>Il est possible de rattacher plusieurs sociétés à un même plan d’évaluation dès lors qu'elles utilisent le même plan de compte opérationnel.</a:t>
            </a:r>
            <a:endParaRPr lang="ru-RU" dirty="0"/>
          </a:p>
          <a:p>
            <a:r>
              <a:rPr lang="fr-FR" dirty="0"/>
              <a:t>Le plan d’évaluation est constitué de tableaux d’évaluations.</a:t>
            </a:r>
            <a:endParaRPr lang="ru-RU" dirty="0"/>
          </a:p>
          <a:p>
            <a:r>
              <a:rPr lang="fr-FR" dirty="0"/>
              <a:t>Les tableaux d’évaluation présentent l’évaluation des fiches immobilisations pour des opérations bien déterminées, appelées « motifs d’évaluation » (par exemple, le calcul de l’amortissement comptable, fiscal ou économique, etc..)</a:t>
            </a:r>
            <a:endParaRPr lang="ru-RU" dirty="0"/>
          </a:p>
          <a:p>
            <a:endParaRPr lang="fr-FR" dirty="0" smtClean="0">
              <a:cs typeface="Arial" panose="020B0604020202020204" pitchFamily="34" charset="0"/>
            </a:endParaRPr>
          </a:p>
          <a:p>
            <a:r>
              <a:rPr lang="fr-FR"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CA"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8</a:t>
            </a:fld>
            <a:endParaRPr lang="fr-FR" altLang="en-US" sz="750">
              <a:solidFill>
                <a:srgbClr val="000000"/>
              </a:solidFill>
            </a:endParaRPr>
          </a:p>
        </p:txBody>
      </p:sp>
    </p:spTree>
    <p:extLst>
      <p:ext uri="{BB962C8B-B14F-4D97-AF65-F5344CB8AC3E}">
        <p14:creationId xmlns:p14="http://schemas.microsoft.com/office/powerpoint/2010/main" val="2340172163"/>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700" dirty="0" smtClean="0">
                <a:cs typeface="Arial" panose="020B0604020202020204" pitchFamily="34" charset="0"/>
              </a:rPr>
              <a:t>Description de la structure organisationnelle des immobilisations 2/2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240571"/>
          </a:xfrm>
        </p:spPr>
        <p:txBody>
          <a:bodyPr/>
          <a:lstStyle/>
          <a:p>
            <a:r>
              <a:rPr lang="fr-FR" dirty="0"/>
              <a:t>Afin de permettre la comptabilisation des écritures dans chacune des normes, chaque tableau est lié au seul </a:t>
            </a:r>
            <a:r>
              <a:rPr lang="fr-FR" dirty="0" err="1" smtClean="0"/>
              <a:t>ledger</a:t>
            </a:r>
            <a:r>
              <a:rPr lang="fr-FR" dirty="0" smtClean="0"/>
              <a:t>. Celui  </a:t>
            </a:r>
            <a:r>
              <a:rPr lang="fr-FR" dirty="0"/>
              <a:t>utilisé à la CBG : </a:t>
            </a:r>
            <a:r>
              <a:rPr lang="fr-FR" dirty="0" smtClean="0"/>
              <a:t>« US GAAP ».</a:t>
            </a:r>
            <a:endParaRPr lang="ru-RU" dirty="0"/>
          </a:p>
          <a:p>
            <a:r>
              <a:rPr lang="fr-FR" dirty="0"/>
              <a:t>Un seul tableau d’évaluation : évaluation comptable sera géré dans le système SAP : </a:t>
            </a:r>
            <a:r>
              <a:rPr lang="fr-FR" dirty="0" smtClean="0"/>
              <a:t>01 </a:t>
            </a:r>
            <a:r>
              <a:rPr lang="fr-FR" dirty="0"/>
              <a:t>– « Amortissement Comptable » </a:t>
            </a:r>
            <a:endParaRPr lang="ru-RU" dirty="0"/>
          </a:p>
          <a:p>
            <a:r>
              <a:rPr lang="fr-FR" dirty="0">
                <a:cs typeface="Arial" panose="020B0604020202020204" pitchFamily="34" charset="0"/>
              </a:rPr>
              <a:t>	</a:t>
            </a:r>
            <a:endParaRPr lang="ru-RU" dirty="0">
              <a:cs typeface="Arial" panose="020B0604020202020204" pitchFamily="34" charset="0"/>
            </a:endParaRPr>
          </a:p>
          <a:p>
            <a:r>
              <a:rPr lang="fr-CA"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9</a:t>
            </a:fld>
            <a:endParaRPr lang="fr-FR" altLang="en-US" sz="750">
              <a:solidFill>
                <a:srgbClr val="000000"/>
              </a:solidFill>
            </a:endParaRPr>
          </a:p>
        </p:txBody>
      </p:sp>
    </p:spTree>
    <p:extLst>
      <p:ext uri="{BB962C8B-B14F-4D97-AF65-F5344CB8AC3E}">
        <p14:creationId xmlns:p14="http://schemas.microsoft.com/office/powerpoint/2010/main" val="930372293"/>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400" dirty="0" smtClean="0">
                <a:cs typeface="Arial" panose="020B0604020202020204" pitchFamily="34" charset="0"/>
              </a:rPr>
              <a:t>Description de la structure organisationnelle des immobilisations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34234"/>
          </a:xfrm>
        </p:spPr>
        <p:txBody>
          <a:bodyPr/>
          <a:lstStyle/>
          <a:p>
            <a:r>
              <a:rPr lang="fr-FR" dirty="0" smtClean="0">
                <a:cs typeface="Arial" panose="020B0604020202020204" pitchFamily="34" charset="0"/>
              </a:rPr>
              <a:t>La catégorie d’immobilisation : 	</a:t>
            </a:r>
            <a:r>
              <a:rPr lang="fr-FR" dirty="0" smtClean="0">
                <a:latin typeface="Arial" panose="020B0604020202020204" pitchFamily="34" charset="0"/>
                <a:cs typeface="Arial" panose="020B0604020202020204" pitchFamily="34" charset="0"/>
              </a:rPr>
              <a:t>				</a:t>
            </a:r>
            <a:r>
              <a:rPr lang="fr-FR" dirty="0" smtClean="0">
                <a:cs typeface="Arial" panose="020B0604020202020204" pitchFamily="34" charset="0"/>
              </a:rPr>
              <a:t>La catégorie d’immobilisation est le principal critère de ventilation de </a:t>
            </a:r>
          </a:p>
          <a:p>
            <a:r>
              <a:rPr lang="fr-FR" dirty="0">
                <a:cs typeface="Arial" panose="020B0604020202020204" pitchFamily="34" charset="0"/>
              </a:rPr>
              <a:t>	</a:t>
            </a:r>
            <a:r>
              <a:rPr lang="fr-FR" dirty="0" smtClean="0">
                <a:cs typeface="Arial" panose="020B0604020202020204" pitchFamily="34" charset="0"/>
              </a:rPr>
              <a:t>								de l’actif. Elle pilote la création de la fiche immobilisation. Chaque fi-</a:t>
            </a:r>
          </a:p>
          <a:p>
            <a:r>
              <a:rPr lang="fr-FR" dirty="0">
                <a:cs typeface="Arial" panose="020B0604020202020204" pitchFamily="34" charset="0"/>
              </a:rPr>
              <a:t>	</a:t>
            </a:r>
            <a:r>
              <a:rPr lang="fr-FR" dirty="0" smtClean="0">
                <a:cs typeface="Arial" panose="020B0604020202020204" pitchFamily="34" charset="0"/>
              </a:rPr>
              <a:t>								</a:t>
            </a:r>
            <a:r>
              <a:rPr lang="fr-FR" dirty="0" err="1" smtClean="0">
                <a:cs typeface="Arial" panose="020B0604020202020204" pitchFamily="34" charset="0"/>
              </a:rPr>
              <a:t>che</a:t>
            </a:r>
            <a:r>
              <a:rPr lang="fr-FR" dirty="0" smtClean="0">
                <a:cs typeface="Arial" panose="020B0604020202020204" pitchFamily="34" charset="0"/>
              </a:rPr>
              <a:t> immobilisation est affectée de manière univoque à une catégorie</a:t>
            </a:r>
          </a:p>
          <a:p>
            <a:r>
              <a:rPr lang="fr-FR" dirty="0">
                <a:cs typeface="Arial" panose="020B0604020202020204" pitchFamily="34" charset="0"/>
              </a:rPr>
              <a:t>	</a:t>
            </a:r>
            <a:r>
              <a:rPr lang="fr-FR" dirty="0" smtClean="0">
                <a:cs typeface="Arial" panose="020B0604020202020204" pitchFamily="34" charset="0"/>
              </a:rPr>
              <a:t>								et à une société. Elle pilote notamment : </a:t>
            </a:r>
          </a:p>
          <a:p>
            <a:r>
              <a:rPr lang="fr-FR" dirty="0">
                <a:cs typeface="Arial" panose="020B0604020202020204" pitchFamily="34" charset="0"/>
              </a:rPr>
              <a:t>	</a:t>
            </a:r>
            <a:r>
              <a:rPr lang="fr-FR" dirty="0" smtClean="0">
                <a:cs typeface="Arial" panose="020B0604020202020204" pitchFamily="34" charset="0"/>
              </a:rPr>
              <a:t>								les schémas comptables pour l’ensemble des mouvements des</a:t>
            </a:r>
          </a:p>
          <a:p>
            <a:r>
              <a:rPr lang="fr-FR" dirty="0">
                <a:cs typeface="Arial" panose="020B0604020202020204" pitchFamily="34" charset="0"/>
              </a:rPr>
              <a:t>	</a:t>
            </a:r>
            <a:r>
              <a:rPr lang="fr-FR" dirty="0" smtClean="0">
                <a:cs typeface="Arial" panose="020B0604020202020204" pitchFamily="34" charset="0"/>
              </a:rPr>
              <a:t>								fiches d’immobilisations via la clé d’affectation des comptes,</a:t>
            </a:r>
          </a:p>
          <a:p>
            <a:r>
              <a:rPr lang="fr-FR" dirty="0">
                <a:cs typeface="Arial" panose="020B0604020202020204" pitchFamily="34" charset="0"/>
              </a:rPr>
              <a:t>	</a:t>
            </a:r>
            <a:r>
              <a:rPr lang="fr-FR" dirty="0" smtClean="0">
                <a:cs typeface="Arial" panose="020B0604020202020204" pitchFamily="34" charset="0"/>
              </a:rPr>
              <a:t>								les informations à renseigner de manière obligatoire ou </a:t>
            </a:r>
            <a:r>
              <a:rPr lang="fr-FR" dirty="0" err="1" smtClean="0">
                <a:cs typeface="Arial" panose="020B0604020202020204" pitchFamily="34" charset="0"/>
              </a:rPr>
              <a:t>faculta</a:t>
            </a:r>
            <a:r>
              <a:rPr lang="fr-FR" dirty="0" smtClean="0">
                <a:cs typeface="Arial" panose="020B0604020202020204" pitchFamily="34" charset="0"/>
              </a:rPr>
              <a:t>-</a:t>
            </a:r>
          </a:p>
          <a:p>
            <a:r>
              <a:rPr lang="fr-FR" dirty="0">
                <a:cs typeface="Arial" panose="020B0604020202020204" pitchFamily="34" charset="0"/>
              </a:rPr>
              <a:t>	</a:t>
            </a:r>
            <a:r>
              <a:rPr lang="fr-FR" dirty="0" smtClean="0">
                <a:cs typeface="Arial" panose="020B0604020202020204" pitchFamily="34" charset="0"/>
              </a:rPr>
              <a:t>								</a:t>
            </a:r>
            <a:r>
              <a:rPr lang="fr-FR" dirty="0" err="1" smtClean="0">
                <a:cs typeface="Arial" panose="020B0604020202020204" pitchFamily="34" charset="0"/>
              </a:rPr>
              <a:t>tive</a:t>
            </a:r>
            <a:r>
              <a:rPr lang="fr-FR" dirty="0" smtClean="0">
                <a:cs typeface="Arial" panose="020B0604020202020204" pitchFamily="34" charset="0"/>
              </a:rPr>
              <a:t> dans les fiches (structure d’écran)</a:t>
            </a:r>
          </a:p>
          <a:p>
            <a:r>
              <a:rPr lang="fr-FR" dirty="0">
                <a:cs typeface="Arial" panose="020B0604020202020204" pitchFamily="34" charset="0"/>
              </a:rPr>
              <a:t>	</a:t>
            </a:r>
            <a:r>
              <a:rPr lang="fr-FR" dirty="0" smtClean="0">
                <a:cs typeface="Arial" panose="020B0604020202020204" pitchFamily="34" charset="0"/>
              </a:rPr>
              <a:t>								la tranche de numérotation des fiches</a:t>
            </a:r>
          </a:p>
          <a:p>
            <a:r>
              <a:rPr lang="fr-FR" dirty="0">
                <a:cs typeface="Arial" panose="020B0604020202020204" pitchFamily="34" charset="0"/>
              </a:rPr>
              <a:t>	</a:t>
            </a:r>
            <a:r>
              <a:rPr lang="fr-FR" dirty="0" smtClean="0">
                <a:cs typeface="Arial" panose="020B0604020202020204" pitchFamily="34" charset="0"/>
              </a:rPr>
              <a:t>								le régime d’amortissement et la durée des fiches.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CA" dirty="0">
                <a:latin typeface="Arial" panose="020B0604020202020204" pitchFamily="34" charset="0"/>
                <a:cs typeface="Arial" panose="020B0604020202020204" pitchFamily="34" charset="0"/>
              </a:rPr>
              <a:t> </a:t>
            </a:r>
            <a:r>
              <a:rPr lang="fr-FR" dirty="0"/>
              <a:t> </a:t>
            </a:r>
            <a:endParaRPr lang="ru-RU" dirty="0"/>
          </a:p>
          <a:p>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10</a:t>
            </a:fld>
            <a:endParaRPr lang="fr-FR" altLang="en-US" sz="750">
              <a:solidFill>
                <a:srgbClr val="000000"/>
              </a:solidFill>
            </a:endParaRPr>
          </a:p>
        </p:txBody>
      </p:sp>
      <p:pic>
        <p:nvPicPr>
          <p:cNvPr id="4" name="Image 3"/>
          <p:cNvPicPr>
            <a:picLocks noChangeAspect="1"/>
          </p:cNvPicPr>
          <p:nvPr/>
        </p:nvPicPr>
        <p:blipFill>
          <a:blip r:embed="rId2"/>
          <a:stretch>
            <a:fillRect/>
          </a:stretch>
        </p:blipFill>
        <p:spPr>
          <a:xfrm>
            <a:off x="573578" y="1363110"/>
            <a:ext cx="3076575" cy="2819400"/>
          </a:xfrm>
          <a:prstGeom prst="rect">
            <a:avLst/>
          </a:prstGeom>
        </p:spPr>
      </p:pic>
    </p:spTree>
    <p:extLst>
      <p:ext uri="{BB962C8B-B14F-4D97-AF65-F5344CB8AC3E}">
        <p14:creationId xmlns:p14="http://schemas.microsoft.com/office/powerpoint/2010/main" val="2359944240"/>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400" dirty="0" smtClean="0">
                <a:cs typeface="Arial" panose="020B0604020202020204" pitchFamily="34" charset="0"/>
              </a:rPr>
              <a:t>Description de la structure organisationnelle des immobilisations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34234"/>
          </a:xfrm>
        </p:spPr>
        <p:txBody>
          <a:bodyPr/>
          <a:lstStyle/>
          <a:p>
            <a:r>
              <a:rPr lang="fr-FR" dirty="0" smtClean="0">
                <a:cs typeface="Arial" panose="020B0604020202020204" pitchFamily="34" charset="0"/>
              </a:rPr>
              <a:t>La clé d’affectation :			</a:t>
            </a:r>
            <a:r>
              <a:rPr lang="fr-FR" dirty="0" smtClean="0">
                <a:latin typeface="Arial" panose="020B0604020202020204" pitchFamily="34" charset="0"/>
                <a:cs typeface="Arial" panose="020B0604020202020204" pitchFamily="34" charset="0"/>
              </a:rPr>
              <a:t>		 </a:t>
            </a:r>
            <a:r>
              <a:rPr lang="fr-FR" dirty="0" smtClean="0">
                <a:cs typeface="Arial" panose="020B0604020202020204" pitchFamily="34" charset="0"/>
              </a:rPr>
              <a:t>Chaque catégorie est rattachée à une clé d’affectation de compte. La clé</a:t>
            </a:r>
          </a:p>
          <a:p>
            <a:r>
              <a:rPr lang="fr-FR" dirty="0">
                <a:cs typeface="Arial" panose="020B0604020202020204" pitchFamily="34" charset="0"/>
              </a:rPr>
              <a:t>	</a:t>
            </a:r>
            <a:r>
              <a:rPr lang="fr-FR" dirty="0" smtClean="0">
                <a:cs typeface="Arial" panose="020B0604020202020204" pitchFamily="34" charset="0"/>
              </a:rPr>
              <a:t>							 d’affectation de comptes permet d’affecter à toutes les fiches d’</a:t>
            </a:r>
            <a:r>
              <a:rPr lang="fr-FR" dirty="0" err="1" smtClean="0">
                <a:cs typeface="Arial" panose="020B0604020202020204" pitchFamily="34" charset="0"/>
              </a:rPr>
              <a:t>immo</a:t>
            </a:r>
            <a:r>
              <a:rPr lang="fr-FR" dirty="0" smtClean="0">
                <a:cs typeface="Arial" panose="020B0604020202020204" pitchFamily="34" charset="0"/>
              </a:rPr>
              <a:t>-</a:t>
            </a:r>
          </a:p>
          <a:p>
            <a:r>
              <a:rPr lang="fr-FR" dirty="0">
                <a:cs typeface="Arial" panose="020B0604020202020204" pitchFamily="34" charset="0"/>
              </a:rPr>
              <a:t>	</a:t>
            </a:r>
            <a:r>
              <a:rPr lang="fr-FR" dirty="0" smtClean="0">
                <a:cs typeface="Arial" panose="020B0604020202020204" pitchFamily="34" charset="0"/>
              </a:rPr>
              <a:t>							 </a:t>
            </a:r>
            <a:r>
              <a:rPr lang="fr-FR" dirty="0" err="1" smtClean="0">
                <a:cs typeface="Arial" panose="020B0604020202020204" pitchFamily="34" charset="0"/>
              </a:rPr>
              <a:t>bilisation</a:t>
            </a:r>
            <a:r>
              <a:rPr lang="fr-FR" dirty="0" smtClean="0">
                <a:cs typeface="Arial" panose="020B0604020202020204" pitchFamily="34" charset="0"/>
              </a:rPr>
              <a:t> d’une catégorie des schémas d’écriture et par conséquent</a:t>
            </a:r>
          </a:p>
          <a:p>
            <a:r>
              <a:rPr lang="fr-FR" dirty="0">
                <a:cs typeface="Arial" panose="020B0604020202020204" pitchFamily="34" charset="0"/>
              </a:rPr>
              <a:t>	</a:t>
            </a:r>
            <a:r>
              <a:rPr lang="fr-FR" dirty="0" smtClean="0">
                <a:cs typeface="Arial" panose="020B0604020202020204" pitchFamily="34" charset="0"/>
              </a:rPr>
              <a:t>							 des comptes généraux du plan de comptes opérationnels déterminés </a:t>
            </a:r>
          </a:p>
          <a:p>
            <a:r>
              <a:rPr lang="fr-FR" dirty="0">
                <a:cs typeface="Arial" panose="020B0604020202020204" pitchFamily="34" charset="0"/>
              </a:rPr>
              <a:t>	</a:t>
            </a:r>
            <a:r>
              <a:rPr lang="fr-FR" dirty="0" smtClean="0">
                <a:cs typeface="Arial" panose="020B0604020202020204" pitchFamily="34" charset="0"/>
              </a:rPr>
              <a:t>							 pour chacun des tableaux : </a:t>
            </a:r>
          </a:p>
          <a:p>
            <a:r>
              <a:rPr lang="fr-FR" dirty="0">
                <a:cs typeface="Arial" panose="020B0604020202020204" pitchFamily="34" charset="0"/>
              </a:rPr>
              <a:t>	</a:t>
            </a:r>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 le compte d’entrée, les comptes d’amortissement (exceptionnel,</a:t>
            </a:r>
          </a:p>
          <a:p>
            <a:r>
              <a:rPr lang="fr-FR" dirty="0">
                <a:cs typeface="Arial" panose="020B0604020202020204" pitchFamily="34" charset="0"/>
              </a:rPr>
              <a:t>	</a:t>
            </a:r>
            <a:r>
              <a:rPr lang="fr-FR" dirty="0" smtClean="0">
                <a:cs typeface="Arial" panose="020B0604020202020204" pitchFamily="34" charset="0"/>
              </a:rPr>
              <a:t>							 dépréciation, non </a:t>
            </a:r>
            <a:r>
              <a:rPr lang="fr-FR" dirty="0" err="1" smtClean="0">
                <a:cs typeface="Arial" panose="020B0604020202020204" pitchFamily="34" charset="0"/>
              </a:rPr>
              <a:t>planifé</a:t>
            </a:r>
            <a:r>
              <a:rPr lang="fr-FR" dirty="0" smtClean="0">
                <a:cs typeface="Arial" panose="020B0604020202020204" pitchFamily="34" charset="0"/>
              </a:rPr>
              <a:t>, ..), les comptes de sortie, les comptes de transfert,									 les comptes de réévaluation.	</a:t>
            </a:r>
          </a:p>
          <a:p>
            <a:r>
              <a:rPr lang="fr-FR" dirty="0">
                <a:cs typeface="Arial" panose="020B0604020202020204" pitchFamily="34" charset="0"/>
              </a:rPr>
              <a:t>	</a:t>
            </a:r>
            <a:r>
              <a:rPr lang="fr-FR" dirty="0" smtClean="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CA" dirty="0">
                <a:latin typeface="Arial" panose="020B0604020202020204" pitchFamily="34" charset="0"/>
                <a:cs typeface="Arial" panose="020B0604020202020204" pitchFamily="34" charset="0"/>
              </a:rPr>
              <a:t> </a:t>
            </a:r>
            <a:r>
              <a:rPr lang="fr-FR" dirty="0"/>
              <a:t> </a:t>
            </a:r>
            <a:endParaRPr lang="ru-RU" dirty="0"/>
          </a:p>
          <a:p>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11</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542081"/>
            <a:ext cx="3153764" cy="2533973"/>
          </a:xfrm>
          <a:prstGeom prst="rect">
            <a:avLst/>
          </a:prstGeom>
        </p:spPr>
      </p:pic>
    </p:spTree>
    <p:extLst>
      <p:ext uri="{BB962C8B-B14F-4D97-AF65-F5344CB8AC3E}">
        <p14:creationId xmlns:p14="http://schemas.microsoft.com/office/powerpoint/2010/main" val="2650003592"/>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206375"/>
            <a:ext cx="8229600" cy="584039"/>
          </a:xfrm>
        </p:spPr>
        <p:txBody>
          <a:bodyPr>
            <a:normAutofit fontScale="90000"/>
          </a:bodyPr>
          <a:lstStyle/>
          <a:p>
            <a:r>
              <a:rPr lang="fr-FR" altLang="en-US" sz="2700" dirty="0" smtClean="0">
                <a:cs typeface="Arial" panose="020B0604020202020204" pitchFamily="34" charset="0"/>
              </a:rPr>
              <a:t>Gestion de la fiche immobilisation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34234"/>
          </a:xfrm>
        </p:spPr>
        <p:txBody>
          <a:bodyPr/>
          <a:lstStyle/>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smtClean="0">
                <a:cs typeface="Arial" panose="020B0604020202020204" pitchFamily="34" charset="0"/>
              </a:rPr>
              <a:t>	Le contenue de la fiche immobilisation est scindé en deux</a:t>
            </a:r>
          </a:p>
          <a:p>
            <a:r>
              <a:rPr lang="fr-FR" dirty="0">
                <a:cs typeface="Arial" panose="020B0604020202020204" pitchFamily="34" charset="0"/>
              </a:rPr>
              <a:t>	</a:t>
            </a:r>
            <a:r>
              <a:rPr lang="fr-FR" dirty="0" smtClean="0">
                <a:cs typeface="Arial" panose="020B0604020202020204" pitchFamily="34" charset="0"/>
              </a:rPr>
              <a:t>											parties : </a:t>
            </a:r>
          </a:p>
          <a:p>
            <a:r>
              <a:rPr lang="fr-FR" dirty="0">
                <a:cs typeface="Arial" panose="020B0604020202020204" pitchFamily="34" charset="0"/>
              </a:rPr>
              <a:t>	</a:t>
            </a:r>
            <a:r>
              <a:rPr lang="fr-FR" dirty="0" smtClean="0">
                <a:cs typeface="Arial" panose="020B0604020202020204" pitchFamily="34" charset="0"/>
              </a:rPr>
              <a:t>												- les données d’information : désignation, numéro</a:t>
            </a:r>
          </a:p>
          <a:p>
            <a:r>
              <a:rPr lang="fr-FR" dirty="0">
                <a:cs typeface="Arial" panose="020B0604020202020204" pitchFamily="34" charset="0"/>
              </a:rPr>
              <a:t>	</a:t>
            </a:r>
            <a:r>
              <a:rPr lang="fr-FR" dirty="0" smtClean="0">
                <a:cs typeface="Arial" panose="020B0604020202020204" pitchFamily="34" charset="0"/>
              </a:rPr>
              <a:t>												d’inventaire</a:t>
            </a:r>
          </a:p>
          <a:p>
            <a:r>
              <a:rPr lang="fr-FR" dirty="0">
                <a:cs typeface="Arial" panose="020B0604020202020204" pitchFamily="34" charset="0"/>
              </a:rPr>
              <a:t>	</a:t>
            </a:r>
            <a:r>
              <a:rPr lang="fr-FR" dirty="0" smtClean="0">
                <a:cs typeface="Arial" panose="020B0604020202020204" pitchFamily="34" charset="0"/>
              </a:rPr>
              <a:t>												- les données d’évaluation : mode d’amortissement</a:t>
            </a:r>
          </a:p>
          <a:p>
            <a:r>
              <a:rPr lang="fr-FR" dirty="0">
                <a:cs typeface="Arial" panose="020B0604020202020204" pitchFamily="34" charset="0"/>
              </a:rPr>
              <a:t>	</a:t>
            </a:r>
            <a:r>
              <a:rPr lang="fr-FR" dirty="0" smtClean="0">
                <a:cs typeface="Arial" panose="020B0604020202020204" pitchFamily="34" charset="0"/>
              </a:rPr>
              <a:t>												durée de vie, valeur brute, valeur amortie, etc… </a:t>
            </a:r>
          </a:p>
          <a:p>
            <a:r>
              <a:rPr lang="fr-FR" dirty="0">
                <a:cs typeface="Arial" panose="020B0604020202020204" pitchFamily="34" charset="0"/>
              </a:rPr>
              <a:t>	</a:t>
            </a:r>
            <a:r>
              <a:rPr lang="fr-FR" dirty="0" smtClean="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CA" dirty="0">
                <a:latin typeface="Arial" panose="020B0604020202020204" pitchFamily="34" charset="0"/>
                <a:cs typeface="Arial" panose="020B0604020202020204" pitchFamily="34" charset="0"/>
              </a:rPr>
              <a:t> </a:t>
            </a:r>
            <a:r>
              <a:rPr lang="fr-FR" dirty="0"/>
              <a:t> </a:t>
            </a:r>
            <a:endParaRPr lang="ru-RU" dirty="0"/>
          </a:p>
          <a:p>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12</a:t>
            </a:fld>
            <a:endParaRPr lang="fr-FR" altLang="en-US" sz="750">
              <a:solidFill>
                <a:srgbClr val="000000"/>
              </a:solidFill>
            </a:endParaRPr>
          </a:p>
        </p:txBody>
      </p:sp>
      <p:pic>
        <p:nvPicPr>
          <p:cNvPr id="5" name="Image 4"/>
          <p:cNvPicPr>
            <a:picLocks noChangeAspect="1"/>
          </p:cNvPicPr>
          <p:nvPr/>
        </p:nvPicPr>
        <p:blipFill>
          <a:blip r:embed="rId2"/>
          <a:stretch>
            <a:fillRect/>
          </a:stretch>
        </p:blipFill>
        <p:spPr>
          <a:xfrm>
            <a:off x="573578" y="1152525"/>
            <a:ext cx="4378130" cy="3025076"/>
          </a:xfrm>
          <a:prstGeom prst="rect">
            <a:avLst/>
          </a:prstGeom>
        </p:spPr>
      </p:pic>
    </p:spTree>
    <p:extLst>
      <p:ext uri="{BB962C8B-B14F-4D97-AF65-F5344CB8AC3E}">
        <p14:creationId xmlns:p14="http://schemas.microsoft.com/office/powerpoint/2010/main" val="2103427423"/>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206375"/>
            <a:ext cx="8229600" cy="584039"/>
          </a:xfrm>
        </p:spPr>
        <p:txBody>
          <a:bodyPr>
            <a:normAutofit fontScale="90000"/>
          </a:bodyPr>
          <a:lstStyle/>
          <a:p>
            <a:r>
              <a:rPr lang="fr-FR" altLang="en-US" sz="2700" dirty="0" smtClean="0">
                <a:cs typeface="Arial" panose="020B0604020202020204" pitchFamily="34" charset="0"/>
              </a:rPr>
              <a:t>Gestion de la fiche immobilisation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34234"/>
          </a:xfrm>
        </p:spPr>
        <p:txBody>
          <a:bodyPr/>
          <a:lstStyle/>
          <a:p>
            <a:r>
              <a:rPr lang="fr-FR" dirty="0" smtClean="0">
                <a:cs typeface="Arial" panose="020B0604020202020204" pitchFamily="34" charset="0"/>
              </a:rPr>
              <a:t>La structure d’écran associée à chaque catégorie d’immobilisation permet de piloter : </a:t>
            </a:r>
          </a:p>
          <a:p>
            <a:r>
              <a:rPr lang="fr-FR" dirty="0">
                <a:cs typeface="Arial" panose="020B0604020202020204" pitchFamily="34" charset="0"/>
              </a:rPr>
              <a:t>	</a:t>
            </a:r>
            <a:r>
              <a:rPr lang="fr-FR" dirty="0" smtClean="0">
                <a:cs typeface="Arial" panose="020B0604020202020204" pitchFamily="34" charset="0"/>
              </a:rPr>
              <a:t>												les zones de la fiche d’immobilisation qui </a:t>
            </a:r>
          </a:p>
          <a:p>
            <a:r>
              <a:rPr lang="fr-FR" dirty="0">
                <a:cs typeface="Arial" panose="020B0604020202020204" pitchFamily="34" charset="0"/>
              </a:rPr>
              <a:t>	</a:t>
            </a:r>
            <a:r>
              <a:rPr lang="fr-FR" dirty="0" smtClean="0">
                <a:cs typeface="Arial" panose="020B0604020202020204" pitchFamily="34" charset="0"/>
              </a:rPr>
              <a:t>												doivent être affichées ou occultées,</a:t>
            </a:r>
          </a:p>
          <a:p>
            <a:r>
              <a:rPr lang="fr-FR" dirty="0">
                <a:cs typeface="Arial" panose="020B0604020202020204" pitchFamily="34" charset="0"/>
              </a:rPr>
              <a:t>	</a:t>
            </a:r>
            <a:r>
              <a:rPr lang="fr-FR" dirty="0" smtClean="0">
                <a:cs typeface="Arial" panose="020B0604020202020204" pitchFamily="34" charset="0"/>
              </a:rPr>
              <a:t>												le caractère obligatoire ou facultatif de </a:t>
            </a:r>
          </a:p>
          <a:p>
            <a:r>
              <a:rPr lang="fr-FR" dirty="0">
                <a:cs typeface="Arial" panose="020B0604020202020204" pitchFamily="34" charset="0"/>
              </a:rPr>
              <a:t>	</a:t>
            </a:r>
            <a:r>
              <a:rPr lang="fr-FR" dirty="0" smtClean="0">
                <a:cs typeface="Arial" panose="020B0604020202020204" pitchFamily="34" charset="0"/>
              </a:rPr>
              <a:t>												certaines zones</a:t>
            </a:r>
          </a:p>
          <a:p>
            <a:r>
              <a:rPr lang="fr-FR" dirty="0">
                <a:cs typeface="Arial" panose="020B0604020202020204" pitchFamily="34" charset="0"/>
              </a:rPr>
              <a:t>	</a:t>
            </a:r>
            <a:r>
              <a:rPr lang="fr-FR" dirty="0" smtClean="0">
                <a:cs typeface="Arial" panose="020B0604020202020204" pitchFamily="34" charset="0"/>
              </a:rPr>
              <a:t>												le niveau de gestion de chaque zone : </a:t>
            </a:r>
          </a:p>
          <a:p>
            <a:r>
              <a:rPr lang="fr-FR" dirty="0">
                <a:cs typeface="Arial" panose="020B0604020202020204" pitchFamily="34" charset="0"/>
              </a:rPr>
              <a:t>	</a:t>
            </a:r>
            <a:r>
              <a:rPr lang="fr-FR" dirty="0" smtClean="0">
                <a:cs typeface="Arial" panose="020B0604020202020204" pitchFamily="34" charset="0"/>
              </a:rPr>
              <a:t>												catégorie d’immobilisation, numéro principal. 						</a:t>
            </a:r>
            <a:r>
              <a:rPr lang="fr-FR" dirty="0">
                <a:cs typeface="Arial" panose="020B0604020202020204" pitchFamily="34" charset="0"/>
              </a:rPr>
              <a:t>	</a:t>
            </a:r>
            <a:r>
              <a:rPr lang="fr-FR" dirty="0" smtClean="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CA" dirty="0">
                <a:latin typeface="Arial" panose="020B0604020202020204" pitchFamily="34" charset="0"/>
                <a:cs typeface="Arial" panose="020B0604020202020204" pitchFamily="34" charset="0"/>
              </a:rPr>
              <a:t> </a:t>
            </a:r>
            <a:r>
              <a:rPr lang="fr-FR" dirty="0"/>
              <a:t> </a:t>
            </a:r>
            <a:endParaRPr lang="ru-RU" dirty="0"/>
          </a:p>
          <a:p>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13</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33400" y="1425844"/>
            <a:ext cx="4751522" cy="2911300"/>
          </a:xfrm>
          <a:prstGeom prst="rect">
            <a:avLst/>
          </a:prstGeom>
        </p:spPr>
      </p:pic>
    </p:spTree>
    <p:extLst>
      <p:ext uri="{BB962C8B-B14F-4D97-AF65-F5344CB8AC3E}">
        <p14:creationId xmlns:p14="http://schemas.microsoft.com/office/powerpoint/2010/main" val="64986631"/>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206375"/>
            <a:ext cx="8229600" cy="584039"/>
          </a:xfrm>
        </p:spPr>
        <p:txBody>
          <a:bodyPr>
            <a:normAutofit fontScale="90000"/>
          </a:bodyPr>
          <a:lstStyle/>
          <a:p>
            <a:r>
              <a:rPr lang="fr-FR" altLang="en-US" sz="2700" dirty="0" smtClean="0">
                <a:cs typeface="Arial" panose="020B0604020202020204" pitchFamily="34" charset="0"/>
              </a:rPr>
              <a:t>Gestion de la fiche immobilisation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34234"/>
          </a:xfrm>
        </p:spPr>
        <p:txBody>
          <a:bodyPr/>
          <a:lstStyle/>
          <a:p>
            <a:r>
              <a:rPr lang="fr-FR" dirty="0">
                <a:cs typeface="Arial" panose="020B0604020202020204" pitchFamily="34" charset="0"/>
              </a:rPr>
              <a:t>	</a:t>
            </a:r>
            <a:r>
              <a:rPr lang="fr-FR" dirty="0" smtClean="0">
                <a:cs typeface="Arial" panose="020B0604020202020204" pitchFamily="34" charset="0"/>
              </a:rPr>
              <a:t>									La structure d’écran associée à chaque catégorie d’immobilisation </a:t>
            </a:r>
          </a:p>
          <a:p>
            <a:r>
              <a:rPr lang="fr-FR" dirty="0">
                <a:cs typeface="Arial" panose="020B0604020202020204" pitchFamily="34" charset="0"/>
              </a:rPr>
              <a:t>	</a:t>
            </a:r>
            <a:r>
              <a:rPr lang="fr-FR" dirty="0" smtClean="0">
                <a:cs typeface="Arial" panose="020B0604020202020204" pitchFamily="34" charset="0"/>
              </a:rPr>
              <a:t>									permet de piloter : -  les zones de la fiche immobilisation qui doivent </a:t>
            </a:r>
          </a:p>
          <a:p>
            <a:r>
              <a:rPr lang="fr-FR" dirty="0">
                <a:cs typeface="Arial" panose="020B0604020202020204" pitchFamily="34" charset="0"/>
              </a:rPr>
              <a:t>	</a:t>
            </a:r>
            <a:r>
              <a:rPr lang="fr-FR" dirty="0" smtClean="0">
                <a:cs typeface="Arial" panose="020B0604020202020204" pitchFamily="34" charset="0"/>
              </a:rPr>
              <a:t>													être affichées ou occultées</a:t>
            </a:r>
          </a:p>
          <a:p>
            <a:r>
              <a:rPr lang="fr-FR" dirty="0" smtClean="0">
                <a:cs typeface="Arial" panose="020B0604020202020204" pitchFamily="34" charset="0"/>
              </a:rPr>
              <a:t>													- </a:t>
            </a:r>
            <a:r>
              <a:rPr lang="fr-FR" dirty="0"/>
              <a:t>Le caractère obligatoire ou facultatif de certaines </a:t>
            </a:r>
            <a:endParaRPr lang="fr-FR" dirty="0" smtClean="0"/>
          </a:p>
          <a:p>
            <a:r>
              <a:rPr lang="fr-FR" dirty="0">
                <a:cs typeface="Arial" panose="020B0604020202020204" pitchFamily="34" charset="0"/>
              </a:rPr>
              <a:t>	</a:t>
            </a:r>
            <a:r>
              <a:rPr lang="fr-FR" dirty="0" smtClean="0">
                <a:cs typeface="Arial" panose="020B0604020202020204" pitchFamily="34" charset="0"/>
              </a:rPr>
              <a:t>													zones</a:t>
            </a:r>
          </a:p>
          <a:p>
            <a:r>
              <a:rPr lang="fr-FR" dirty="0">
                <a:cs typeface="Arial" panose="020B0604020202020204" pitchFamily="34" charset="0"/>
              </a:rPr>
              <a:t>	</a:t>
            </a:r>
            <a:r>
              <a:rPr lang="fr-FR" dirty="0" smtClean="0">
                <a:cs typeface="Arial" panose="020B0604020202020204" pitchFamily="34" charset="0"/>
              </a:rPr>
              <a:t>												- </a:t>
            </a:r>
            <a:r>
              <a:rPr lang="fr-FR" dirty="0"/>
              <a:t>Le niveau de gestion de chaque zone : catégorie </a:t>
            </a:r>
            <a:endParaRPr lang="fr-FR" dirty="0" smtClean="0"/>
          </a:p>
          <a:p>
            <a:r>
              <a:rPr lang="fr-FR" dirty="0">
                <a:cs typeface="Arial" panose="020B0604020202020204" pitchFamily="34" charset="0"/>
              </a:rPr>
              <a:t>	</a:t>
            </a:r>
            <a:r>
              <a:rPr lang="fr-FR" dirty="0" smtClean="0">
                <a:cs typeface="Arial" panose="020B0604020202020204" pitchFamily="34" charset="0"/>
              </a:rPr>
              <a:t>													</a:t>
            </a:r>
            <a:r>
              <a:rPr lang="fr-FR" dirty="0"/>
              <a:t> d’immobilisation, numéro principal, </a:t>
            </a:r>
            <a:r>
              <a:rPr lang="fr-FR" dirty="0" smtClean="0"/>
              <a:t>numéro</a:t>
            </a:r>
          </a:p>
          <a:p>
            <a:pPr lvl="0"/>
            <a:r>
              <a:rPr lang="fr-FR" dirty="0">
                <a:cs typeface="Arial" panose="020B0604020202020204" pitchFamily="34" charset="0"/>
              </a:rPr>
              <a:t>	</a:t>
            </a:r>
            <a:r>
              <a:rPr lang="fr-FR" dirty="0" smtClean="0">
                <a:cs typeface="Arial" panose="020B0604020202020204" pitchFamily="34" charset="0"/>
              </a:rPr>
              <a:t>													</a:t>
            </a:r>
            <a:r>
              <a:rPr lang="fr-FR" dirty="0" smtClean="0"/>
              <a:t> </a:t>
            </a:r>
            <a:r>
              <a:rPr lang="fr-FR" dirty="0"/>
              <a:t>subsidiaire </a:t>
            </a:r>
          </a:p>
          <a:p>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p>
          <a:p>
            <a:endParaRPr lang="fr-FR" dirty="0" smtClean="0">
              <a:cs typeface="Arial" panose="020B0604020202020204" pitchFamily="34" charset="0"/>
            </a:endParaRPr>
          </a:p>
          <a:p>
            <a:r>
              <a:rPr lang="fr-FR" dirty="0">
                <a:cs typeface="Arial" panose="020B0604020202020204" pitchFamily="34" charset="0"/>
              </a:rPr>
              <a:t>	</a:t>
            </a:r>
            <a:r>
              <a:rPr lang="fr-FR" dirty="0" smtClean="0">
                <a:cs typeface="Arial" panose="020B0604020202020204" pitchFamily="34" charset="0"/>
              </a:rPr>
              <a:t>												</a:t>
            </a:r>
            <a:r>
              <a:rPr lang="fr-CA" dirty="0">
                <a:latin typeface="Arial" panose="020B0604020202020204" pitchFamily="34" charset="0"/>
                <a:cs typeface="Arial" panose="020B0604020202020204" pitchFamily="34" charset="0"/>
              </a:rPr>
              <a:t> </a:t>
            </a:r>
            <a:r>
              <a:rPr lang="fr-FR" dirty="0"/>
              <a:t> </a:t>
            </a:r>
            <a:endParaRPr lang="ru-RU" dirty="0"/>
          </a:p>
          <a:p>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14</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067284"/>
            <a:ext cx="3727202" cy="2911300"/>
          </a:xfrm>
          <a:prstGeom prst="rect">
            <a:avLst/>
          </a:prstGeom>
        </p:spPr>
      </p:pic>
    </p:spTree>
    <p:extLst>
      <p:ext uri="{BB962C8B-B14F-4D97-AF65-F5344CB8AC3E}">
        <p14:creationId xmlns:p14="http://schemas.microsoft.com/office/powerpoint/2010/main" val="3668652607"/>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09723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Modes opératoires</a:t>
            </a:r>
            <a:endPar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 </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15</a:t>
            </a:fld>
            <a:endParaRPr lang="fr-FR" altLang="en-US" sz="750"/>
          </a:p>
        </p:txBody>
      </p:sp>
    </p:spTree>
    <p:extLst>
      <p:ext uri="{BB962C8B-B14F-4D97-AF65-F5344CB8AC3E}">
        <p14:creationId xmlns:p14="http://schemas.microsoft.com/office/powerpoint/2010/main" val="268750923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 opératoire</a:t>
            </a:r>
            <a:br>
              <a:rPr lang="fr-FR" altLang="en-US" sz="2400" dirty="0" smtClean="0"/>
            </a:br>
            <a:r>
              <a:rPr lang="fr-FR" altLang="en-US" dirty="0" smtClean="0"/>
              <a:t>Présentation du mode opératoire dans SAP</a:t>
            </a:r>
            <a:endParaRPr lang="en-US" altLang="en-US" dirty="0" smtClean="0"/>
          </a:p>
        </p:txBody>
      </p:sp>
      <p:sp>
        <p:nvSpPr>
          <p:cNvPr id="32792" name="Espace réservé du numéro de diapositive 33"/>
          <p:cNvSpPr>
            <a:spLocks noGrp="1"/>
          </p:cNvSpPr>
          <p:nvPr>
            <p:ph type="sldNum" sz="quarter" idx="11"/>
          </p:nvPr>
        </p:nvSpPr>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fld id="{1961261D-50EE-437A-BA51-3E7588D0C470}" type="slidenum">
              <a:rPr lang="fr-FR" altLang="en-US" smtClean="0">
                <a:solidFill>
                  <a:srgbClr val="4D4F53"/>
                </a:solidFill>
              </a:rPr>
              <a:pPr/>
              <a:t>16</a:t>
            </a:fld>
            <a:endParaRPr lang="fr-FR" altLang="en-US">
              <a:solidFill>
                <a:srgbClr val="4D4F53"/>
              </a:solidFill>
            </a:endParaRPr>
          </a:p>
        </p:txBody>
      </p:sp>
      <p:grpSp>
        <p:nvGrpSpPr>
          <p:cNvPr id="49" name="Groupe 48"/>
          <p:cNvGrpSpPr/>
          <p:nvPr/>
        </p:nvGrpSpPr>
        <p:grpSpPr>
          <a:xfrm>
            <a:off x="814126" y="2175754"/>
            <a:ext cx="1421605" cy="756917"/>
            <a:chOff x="1507778" y="2276353"/>
            <a:chExt cx="1258269" cy="754857"/>
          </a:xfrm>
        </p:grpSpPr>
        <p:sp>
          <p:nvSpPr>
            <p:cNvPr id="4" name="Rectangle 3"/>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prstClr val="white"/>
                  </a:solidFill>
                  <a:latin typeface="Arial" pitchFamily="34" charset="0"/>
                  <a:cs typeface="Arial" pitchFamily="34" charset="0"/>
                </a:rPr>
                <a:t>Afficher une fiche d’immobilisation</a:t>
              </a:r>
              <a:endParaRPr lang="en-US" sz="800" dirty="0">
                <a:solidFill>
                  <a:prstClr val="white"/>
                </a:solidFill>
                <a:latin typeface="Arial" pitchFamily="34" charset="0"/>
                <a:cs typeface="Arial" pitchFamily="34" charset="0"/>
              </a:endParaRPr>
            </a:p>
          </p:txBody>
        </p:sp>
        <p:sp>
          <p:nvSpPr>
            <p:cNvPr id="12" name="Rectangle 11"/>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prstClr val="white"/>
                  </a:solidFill>
                  <a:latin typeface="Arial" panose="020B0604020202020204" pitchFamily="34" charset="0"/>
                  <a:cs typeface="Arial" panose="020B0604020202020204" pitchFamily="34" charset="0"/>
                </a:rPr>
                <a:t>AS03</a:t>
              </a:r>
              <a:endParaRPr lang="en-US" sz="800" b="1" dirty="0">
                <a:solidFill>
                  <a:prstClr val="white"/>
                </a:solidFill>
                <a:latin typeface="Arial" panose="020B0604020202020204" pitchFamily="34" charset="0"/>
                <a:cs typeface="Arial" panose="020B0604020202020204" pitchFamily="34" charset="0"/>
              </a:endParaRPr>
            </a:p>
          </p:txBody>
        </p:sp>
        <p:sp>
          <p:nvSpPr>
            <p:cNvPr id="13" name="Rectangle 1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rgbClr val="4D4F53">
                      <a:lumMod val="50000"/>
                    </a:srgbClr>
                  </a:solidFill>
                  <a:latin typeface="Arial" panose="020B0604020202020204" pitchFamily="34" charset="0"/>
                  <a:cs typeface="Arial" panose="020B0604020202020204" pitchFamily="34" charset="0"/>
                </a:rPr>
                <a:t>Comptable Immobilisation</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grpSp>
        <p:nvGrpSpPr>
          <p:cNvPr id="39" name="Groupe 38"/>
          <p:cNvGrpSpPr/>
          <p:nvPr/>
        </p:nvGrpSpPr>
        <p:grpSpPr>
          <a:xfrm>
            <a:off x="2565266" y="2160586"/>
            <a:ext cx="1417797" cy="756917"/>
            <a:chOff x="1507778" y="2274293"/>
            <a:chExt cx="1258269" cy="756917"/>
          </a:xfrm>
        </p:grpSpPr>
        <p:sp>
          <p:nvSpPr>
            <p:cNvPr id="40" name="Rectangle 39"/>
            <p:cNvSpPr/>
            <p:nvPr/>
          </p:nvSpPr>
          <p:spPr>
            <a:xfrm>
              <a:off x="1507778" y="227429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prstClr val="white"/>
                  </a:solidFill>
                  <a:latin typeface="Arial" pitchFamily="34" charset="0"/>
                  <a:cs typeface="Arial" pitchFamily="34" charset="0"/>
                </a:rPr>
                <a:t>Bloquer une fiche d’immobilisation </a:t>
              </a:r>
              <a:endParaRPr lang="en-US" sz="800" dirty="0">
                <a:solidFill>
                  <a:prstClr val="white"/>
                </a:solidFill>
                <a:latin typeface="Arial" pitchFamily="34" charset="0"/>
                <a:cs typeface="Arial" pitchFamily="34" charset="0"/>
              </a:endParaRPr>
            </a:p>
          </p:txBody>
        </p:sp>
        <p:sp>
          <p:nvSpPr>
            <p:cNvPr id="41" name="Rectangle 40"/>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prstClr val="white"/>
                  </a:solidFill>
                  <a:latin typeface="Arial" panose="020B0604020202020204" pitchFamily="34" charset="0"/>
                  <a:cs typeface="Arial" panose="020B0604020202020204" pitchFamily="34" charset="0"/>
                </a:rPr>
                <a:t>AS05</a:t>
              </a:r>
              <a:endParaRPr lang="en-US" sz="800" b="1" dirty="0">
                <a:solidFill>
                  <a:prstClr val="white"/>
                </a:solidFill>
                <a:latin typeface="Arial" panose="020B0604020202020204" pitchFamily="34" charset="0"/>
                <a:cs typeface="Arial" panose="020B0604020202020204" pitchFamily="34" charset="0"/>
              </a:endParaRPr>
            </a:p>
          </p:txBody>
        </p:sp>
        <p:sp>
          <p:nvSpPr>
            <p:cNvPr id="43" name="Rectangle 4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rgbClr val="4D4F53">
                      <a:lumMod val="50000"/>
                    </a:srgbClr>
                  </a:solidFill>
                  <a:latin typeface="Arial" panose="020B0604020202020204" pitchFamily="34" charset="0"/>
                  <a:cs typeface="Arial" panose="020B0604020202020204" pitchFamily="34" charset="0"/>
                </a:rPr>
                <a:t>Comptable </a:t>
              </a:r>
              <a:r>
                <a:rPr lang="fr-FR" sz="800" dirty="0" smtClean="0">
                  <a:solidFill>
                    <a:srgbClr val="4D4F53">
                      <a:lumMod val="50000"/>
                    </a:srgbClr>
                  </a:solidFill>
                  <a:latin typeface="Arial" panose="020B0604020202020204" pitchFamily="34" charset="0"/>
                  <a:cs typeface="Arial" panose="020B0604020202020204" pitchFamily="34" charset="0"/>
                </a:rPr>
                <a:t>Immobilisation </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pic>
        <p:nvPicPr>
          <p:cNvPr id="2" name="Image 1"/>
          <p:cNvPicPr>
            <a:picLocks noChangeAspect="1"/>
          </p:cNvPicPr>
          <p:nvPr/>
        </p:nvPicPr>
        <p:blipFill>
          <a:blip r:embed="rId2"/>
          <a:stretch>
            <a:fillRect/>
          </a:stretch>
        </p:blipFill>
        <p:spPr>
          <a:xfrm>
            <a:off x="422123" y="3318456"/>
            <a:ext cx="1170533" cy="1249788"/>
          </a:xfrm>
          <a:prstGeom prst="rect">
            <a:avLst/>
          </a:prstGeom>
        </p:spPr>
      </p:pic>
    </p:spTree>
    <p:extLst>
      <p:ext uri="{BB962C8B-B14F-4D97-AF65-F5344CB8AC3E}">
        <p14:creationId xmlns:p14="http://schemas.microsoft.com/office/powerpoint/2010/main" val="166931998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400" dirty="0">
                <a:cs typeface="Arial" panose="020B0604020202020204" pitchFamily="34" charset="0"/>
              </a:rPr>
              <a:t>M</a:t>
            </a:r>
            <a:r>
              <a:rPr lang="fr-FR" altLang="en-US" sz="2400" dirty="0" smtClean="0">
                <a:cs typeface="Arial" panose="020B0604020202020204" pitchFamily="34" charset="0"/>
              </a:rPr>
              <a:t>ode </a:t>
            </a:r>
            <a:r>
              <a:rPr lang="fr-FR" altLang="en-US" sz="2400" dirty="0">
                <a:cs typeface="Arial" panose="020B0604020202020204" pitchFamily="34" charset="0"/>
              </a:rPr>
              <a:t>opératoire </a:t>
            </a:r>
            <a:r>
              <a:rPr lang="fr-FR" altLang="en-US" sz="2400" dirty="0" smtClean="0">
                <a:cs typeface="Arial" panose="020B0604020202020204" pitchFamily="34" charset="0"/>
              </a:rPr>
              <a:t>fiche immobilisation : afficher une immobilisation 1/2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L’affichage de la fiche immobilisation se fait via la transaction AS03 Depuis le menu SAP : Gestion Comptable / Immobilisation / Immobilisation / Afficher </a:t>
            </a:r>
          </a:p>
          <a:p>
            <a:r>
              <a:rPr lang="fr-FR" dirty="0" smtClean="0">
                <a:cs typeface="Arial" panose="020B0604020202020204" pitchFamily="34" charset="0"/>
              </a:rPr>
              <a:t>Lancer la transaction AS03 : 					Renseigner le numéro de l’immobilisation</a:t>
            </a:r>
          </a:p>
          <a:p>
            <a:r>
              <a:rPr lang="fr-FR" dirty="0">
                <a:cs typeface="Arial" panose="020B0604020202020204" pitchFamily="34" charset="0"/>
              </a:rPr>
              <a:t>	</a:t>
            </a:r>
            <a:r>
              <a:rPr lang="fr-FR" dirty="0" smtClean="0">
                <a:cs typeface="Arial" panose="020B0604020202020204" pitchFamily="34" charset="0"/>
              </a:rPr>
              <a:t>								Renseigner le code société et valider soit avec la touche       soit la touche</a:t>
            </a:r>
          </a:p>
          <a:p>
            <a:r>
              <a:rPr lang="fr-FR" dirty="0">
                <a:cs typeface="Arial" panose="020B0604020202020204" pitchFamily="34" charset="0"/>
              </a:rPr>
              <a:t>	</a:t>
            </a:r>
            <a:r>
              <a:rPr lang="fr-FR" dirty="0" smtClean="0">
                <a:cs typeface="Arial" panose="020B0604020202020204" pitchFamily="34" charset="0"/>
              </a:rPr>
              <a:t>								« Entrée »</a:t>
            </a:r>
          </a:p>
          <a:p>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			</a:t>
            </a:r>
          </a:p>
          <a:p>
            <a:endParaRPr lang="fr-FR" dirty="0" smtClean="0">
              <a:cs typeface="Arial" panose="020B0604020202020204" pitchFamily="34" charset="0"/>
            </a:endParaRPr>
          </a:p>
          <a:p>
            <a:endParaRPr lang="fr-FR" dirty="0" smtClean="0">
              <a:cs typeface="Arial" panose="020B0604020202020204" pitchFamily="34" charset="0"/>
            </a:endParaRPr>
          </a:p>
          <a:p>
            <a:r>
              <a:rPr lang="fr-FR" dirty="0" smtClean="0">
                <a:cs typeface="Arial" panose="020B0604020202020204" pitchFamily="34" charset="0"/>
              </a:rPr>
              <a:t>								Parcourir les différents onglets afin de découvrir les données structurantes de la 									fiche immobilisation. 	</a:t>
            </a:r>
            <a:endParaRPr lang="fr-FR" dirty="0">
              <a:cs typeface="Arial" panose="020B0604020202020204" pitchFamily="34" charset="0"/>
            </a:endParaRPr>
          </a:p>
          <a:p>
            <a:r>
              <a:rPr lang="fr-FR" dirty="0" smtClean="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17</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890794"/>
            <a:ext cx="2726895" cy="2089930"/>
          </a:xfrm>
          <a:prstGeom prst="rect">
            <a:avLst/>
          </a:prstGeom>
        </p:spPr>
      </p:pic>
      <p:pic>
        <p:nvPicPr>
          <p:cNvPr id="4" name="Image 3"/>
          <p:cNvPicPr>
            <a:picLocks noChangeAspect="1"/>
          </p:cNvPicPr>
          <p:nvPr/>
        </p:nvPicPr>
        <p:blipFill>
          <a:blip r:embed="rId3"/>
          <a:stretch>
            <a:fillRect/>
          </a:stretch>
        </p:blipFill>
        <p:spPr>
          <a:xfrm>
            <a:off x="3778060" y="1640234"/>
            <a:ext cx="317019" cy="359695"/>
          </a:xfrm>
          <a:prstGeom prst="rect">
            <a:avLst/>
          </a:prstGeom>
        </p:spPr>
      </p:pic>
      <p:pic>
        <p:nvPicPr>
          <p:cNvPr id="5" name="Image 4"/>
          <p:cNvPicPr>
            <a:picLocks noChangeAspect="1"/>
          </p:cNvPicPr>
          <p:nvPr/>
        </p:nvPicPr>
        <p:blipFill>
          <a:blip r:embed="rId4"/>
          <a:stretch>
            <a:fillRect/>
          </a:stretch>
        </p:blipFill>
        <p:spPr>
          <a:xfrm>
            <a:off x="2071635" y="3078142"/>
            <a:ext cx="317019" cy="359695"/>
          </a:xfrm>
          <a:prstGeom prst="rect">
            <a:avLst/>
          </a:prstGeom>
        </p:spPr>
      </p:pic>
      <p:pic>
        <p:nvPicPr>
          <p:cNvPr id="6" name="Image 5"/>
          <p:cNvPicPr>
            <a:picLocks noChangeAspect="1"/>
          </p:cNvPicPr>
          <p:nvPr/>
        </p:nvPicPr>
        <p:blipFill>
          <a:blip r:embed="rId5"/>
          <a:stretch>
            <a:fillRect/>
          </a:stretch>
        </p:blipFill>
        <p:spPr>
          <a:xfrm>
            <a:off x="3778060" y="2010816"/>
            <a:ext cx="317019" cy="353599"/>
          </a:xfrm>
          <a:prstGeom prst="rect">
            <a:avLst/>
          </a:prstGeom>
        </p:spPr>
      </p:pic>
      <p:pic>
        <p:nvPicPr>
          <p:cNvPr id="7" name="Image 6"/>
          <p:cNvPicPr>
            <a:picLocks noChangeAspect="1"/>
          </p:cNvPicPr>
          <p:nvPr/>
        </p:nvPicPr>
        <p:blipFill>
          <a:blip r:embed="rId6"/>
          <a:stretch>
            <a:fillRect/>
          </a:stretch>
        </p:blipFill>
        <p:spPr>
          <a:xfrm>
            <a:off x="1786960" y="3355681"/>
            <a:ext cx="317019" cy="353599"/>
          </a:xfrm>
          <a:prstGeom prst="rect">
            <a:avLst/>
          </a:prstGeom>
        </p:spPr>
      </p:pic>
      <p:pic>
        <p:nvPicPr>
          <p:cNvPr id="9" name="Image 8"/>
          <p:cNvPicPr>
            <a:picLocks noChangeAspect="1"/>
          </p:cNvPicPr>
          <p:nvPr/>
        </p:nvPicPr>
        <p:blipFill>
          <a:blip r:embed="rId7"/>
          <a:stretch>
            <a:fillRect/>
          </a:stretch>
        </p:blipFill>
        <p:spPr>
          <a:xfrm>
            <a:off x="7510462" y="2010816"/>
            <a:ext cx="219075" cy="209550"/>
          </a:xfrm>
          <a:prstGeom prst="rect">
            <a:avLst/>
          </a:prstGeom>
        </p:spPr>
      </p:pic>
      <p:pic>
        <p:nvPicPr>
          <p:cNvPr id="11" name="Image 10"/>
          <p:cNvPicPr>
            <a:picLocks noChangeAspect="1"/>
          </p:cNvPicPr>
          <p:nvPr/>
        </p:nvPicPr>
        <p:blipFill>
          <a:blip r:embed="rId8"/>
          <a:stretch>
            <a:fillRect/>
          </a:stretch>
        </p:blipFill>
        <p:spPr>
          <a:xfrm>
            <a:off x="3778061" y="2572719"/>
            <a:ext cx="3335662" cy="1565328"/>
          </a:xfrm>
          <a:prstGeom prst="rect">
            <a:avLst/>
          </a:prstGeom>
        </p:spPr>
      </p:pic>
      <p:pic>
        <p:nvPicPr>
          <p:cNvPr id="12" name="Image 11"/>
          <p:cNvPicPr>
            <a:picLocks noChangeAspect="1"/>
          </p:cNvPicPr>
          <p:nvPr/>
        </p:nvPicPr>
        <p:blipFill>
          <a:blip r:embed="rId9"/>
          <a:stretch>
            <a:fillRect/>
          </a:stretch>
        </p:blipFill>
        <p:spPr>
          <a:xfrm>
            <a:off x="4221083" y="2795306"/>
            <a:ext cx="622138" cy="93957"/>
          </a:xfrm>
          <a:prstGeom prst="rect">
            <a:avLst/>
          </a:prstGeom>
        </p:spPr>
      </p:pic>
      <p:pic>
        <p:nvPicPr>
          <p:cNvPr id="13" name="Image 12"/>
          <p:cNvPicPr>
            <a:picLocks noChangeAspect="1"/>
          </p:cNvPicPr>
          <p:nvPr/>
        </p:nvPicPr>
        <p:blipFill>
          <a:blip r:embed="rId10"/>
          <a:stretch>
            <a:fillRect/>
          </a:stretch>
        </p:blipFill>
        <p:spPr>
          <a:xfrm>
            <a:off x="4769255" y="2704973"/>
            <a:ext cx="317019" cy="353599"/>
          </a:xfrm>
          <a:prstGeom prst="rect">
            <a:avLst/>
          </a:prstGeom>
        </p:spPr>
      </p:pic>
    </p:spTree>
    <p:extLst>
      <p:ext uri="{BB962C8B-B14F-4D97-AF65-F5344CB8AC3E}">
        <p14:creationId xmlns:p14="http://schemas.microsoft.com/office/powerpoint/2010/main" val="1102331642"/>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400" dirty="0">
                <a:cs typeface="Arial" panose="020B0604020202020204" pitchFamily="34" charset="0"/>
              </a:rPr>
              <a:t>M</a:t>
            </a:r>
            <a:r>
              <a:rPr lang="fr-FR" altLang="en-US" sz="2400" dirty="0" smtClean="0">
                <a:cs typeface="Arial" panose="020B0604020202020204" pitchFamily="34" charset="0"/>
              </a:rPr>
              <a:t>ode </a:t>
            </a:r>
            <a:r>
              <a:rPr lang="fr-FR" altLang="en-US" sz="2400" dirty="0">
                <a:cs typeface="Arial" panose="020B0604020202020204" pitchFamily="34" charset="0"/>
              </a:rPr>
              <a:t>opératoire </a:t>
            </a:r>
            <a:r>
              <a:rPr lang="fr-FR" altLang="en-US" sz="2400" dirty="0" smtClean="0">
                <a:cs typeface="Arial" panose="020B0604020202020204" pitchFamily="34" charset="0"/>
              </a:rPr>
              <a:t>fiche immobilisation : afficher une immobilisation 2/2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Pour accéder aux valeurs de la fiche immobilisation, cliquer sur le pavé valeurs d’</a:t>
            </a:r>
            <a:r>
              <a:rPr lang="fr-FR" dirty="0" err="1" smtClean="0">
                <a:cs typeface="Arial" panose="020B0604020202020204" pitchFamily="34" charset="0"/>
              </a:rPr>
              <a:t>immob</a:t>
            </a:r>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			</a:t>
            </a:r>
          </a:p>
          <a:p>
            <a:endParaRPr lang="fr-FR" dirty="0" smtClean="0">
              <a:cs typeface="Arial" panose="020B0604020202020204" pitchFamily="34" charset="0"/>
            </a:endParaRPr>
          </a:p>
          <a:p>
            <a:endParaRPr lang="fr-FR" dirty="0" smtClean="0">
              <a:cs typeface="Arial" panose="020B0604020202020204" pitchFamily="34" charset="0"/>
            </a:endParaRPr>
          </a:p>
          <a:p>
            <a:r>
              <a:rPr lang="fr-FR" dirty="0" smtClean="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18</a:t>
            </a:fld>
            <a:endParaRPr lang="fr-FR" altLang="en-US" sz="750">
              <a:solidFill>
                <a:srgbClr val="000000"/>
              </a:solidFill>
            </a:endParaRPr>
          </a:p>
        </p:txBody>
      </p:sp>
      <p:pic>
        <p:nvPicPr>
          <p:cNvPr id="8" name="Image 7"/>
          <p:cNvPicPr>
            <a:picLocks noChangeAspect="1"/>
          </p:cNvPicPr>
          <p:nvPr/>
        </p:nvPicPr>
        <p:blipFill>
          <a:blip r:embed="rId2"/>
          <a:stretch>
            <a:fillRect/>
          </a:stretch>
        </p:blipFill>
        <p:spPr>
          <a:xfrm>
            <a:off x="5971070" y="1129739"/>
            <a:ext cx="317019" cy="353599"/>
          </a:xfrm>
          <a:prstGeom prst="rect">
            <a:avLst/>
          </a:prstGeom>
        </p:spPr>
      </p:pic>
      <p:pic>
        <p:nvPicPr>
          <p:cNvPr id="10" name="Image 9"/>
          <p:cNvPicPr>
            <a:picLocks noChangeAspect="1"/>
          </p:cNvPicPr>
          <p:nvPr/>
        </p:nvPicPr>
        <p:blipFill>
          <a:blip r:embed="rId3"/>
          <a:stretch>
            <a:fillRect/>
          </a:stretch>
        </p:blipFill>
        <p:spPr>
          <a:xfrm>
            <a:off x="573578" y="1383112"/>
            <a:ext cx="4247614" cy="3121670"/>
          </a:xfrm>
          <a:prstGeom prst="rect">
            <a:avLst/>
          </a:prstGeom>
        </p:spPr>
      </p:pic>
    </p:spTree>
    <p:extLst>
      <p:ext uri="{BB962C8B-B14F-4D97-AF65-F5344CB8AC3E}">
        <p14:creationId xmlns:p14="http://schemas.microsoft.com/office/powerpoint/2010/main" val="3227669822"/>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2"/>
            <a:ext cx="8229600" cy="857250"/>
          </a:xfrm>
        </p:spPr>
        <p:txBody>
          <a:bodyPr>
            <a:normAutofit fontScale="90000"/>
          </a:bodyPr>
          <a:lstStyle/>
          <a:p>
            <a:r>
              <a:rPr lang="fr-FR" altLang="en-US" sz="2400" dirty="0">
                <a:cs typeface="Arial" panose="020B0604020202020204" pitchFamily="34" charset="0"/>
              </a:rPr>
              <a:t>M</a:t>
            </a:r>
            <a:r>
              <a:rPr lang="fr-FR" altLang="en-US" sz="2400" dirty="0" smtClean="0">
                <a:cs typeface="Arial" panose="020B0604020202020204" pitchFamily="34" charset="0"/>
              </a:rPr>
              <a:t>ode </a:t>
            </a:r>
            <a:r>
              <a:rPr lang="fr-FR" altLang="en-US" sz="2400" dirty="0">
                <a:cs typeface="Arial" panose="020B0604020202020204" pitchFamily="34" charset="0"/>
              </a:rPr>
              <a:t>opératoire </a:t>
            </a:r>
            <a:r>
              <a:rPr lang="fr-FR" altLang="en-US" sz="2400" dirty="0" smtClean="0">
                <a:cs typeface="Arial" panose="020B0604020202020204" pitchFamily="34" charset="0"/>
              </a:rPr>
              <a:t>fiche immobilisation : bloquer une immobilisation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061027"/>
            <a:ext cx="8246571" cy="3329471"/>
          </a:xfrm>
        </p:spPr>
        <p:txBody>
          <a:bodyPr/>
          <a:lstStyle/>
          <a:p>
            <a:r>
              <a:rPr lang="fr-FR" dirty="0" smtClean="0">
                <a:cs typeface="Arial" panose="020B0604020202020204" pitchFamily="34" charset="0"/>
              </a:rPr>
              <a:t>Les transaction ci-dessous sont accessibles depuis le menu SAP : Gestion Comptable / Comptabilité financière / Immobilisation / Immobilisation bloquer </a:t>
            </a:r>
          </a:p>
          <a:p>
            <a:r>
              <a:rPr lang="fr-FR" dirty="0" smtClean="0">
                <a:cs typeface="Arial" panose="020B0604020202020204" pitchFamily="34" charset="0"/>
              </a:rPr>
              <a:t>Lancer la transaction AS05							Renseigner le numéro de l’immobilisation </a:t>
            </a:r>
          </a:p>
          <a:p>
            <a:r>
              <a:rPr lang="fr-FR" dirty="0">
                <a:cs typeface="Arial" panose="020B0604020202020204" pitchFamily="34" charset="0"/>
              </a:rPr>
              <a:t>	</a:t>
            </a:r>
            <a:r>
              <a:rPr lang="fr-FR" dirty="0" smtClean="0">
                <a:cs typeface="Arial" panose="020B0604020202020204" pitchFamily="34" charset="0"/>
              </a:rPr>
              <a:t>										Renseigner le code société </a:t>
            </a:r>
            <a:r>
              <a:rPr lang="fr-FR" dirty="0">
                <a:cs typeface="Arial" panose="020B0604020202020204" pitchFamily="34" charset="0"/>
              </a:rPr>
              <a:t>et </a:t>
            </a:r>
            <a:r>
              <a:rPr lang="fr-FR" dirty="0" smtClean="0">
                <a:cs typeface="Arial" panose="020B0604020202020204" pitchFamily="34" charset="0"/>
              </a:rPr>
              <a:t>valider </a:t>
            </a:r>
            <a:r>
              <a:rPr lang="fr-FR" dirty="0">
                <a:cs typeface="Arial" panose="020B0604020202020204" pitchFamily="34" charset="0"/>
              </a:rPr>
              <a:t>avec la touche       </a:t>
            </a:r>
            <a:r>
              <a:rPr lang="fr-FR" dirty="0" smtClean="0">
                <a:cs typeface="Arial" panose="020B0604020202020204" pitchFamily="34" charset="0"/>
              </a:rPr>
              <a:t> </a:t>
            </a:r>
            <a:endParaRPr lang="fr-FR" dirty="0">
              <a:cs typeface="Arial" panose="020B0604020202020204" pitchFamily="34" charset="0"/>
            </a:endParaRPr>
          </a:p>
          <a:p>
            <a:r>
              <a:rPr lang="fr-FR" dirty="0">
                <a:cs typeface="Arial" panose="020B0604020202020204" pitchFamily="34" charset="0"/>
              </a:rPr>
              <a:t>									</a:t>
            </a:r>
            <a:r>
              <a:rPr lang="fr-FR" dirty="0" smtClean="0">
                <a:cs typeface="Arial" panose="020B0604020202020204" pitchFamily="34" charset="0"/>
              </a:rPr>
              <a:t>	</a:t>
            </a:r>
            <a:endParaRPr lang="fr-FR" dirty="0">
              <a:cs typeface="Arial" panose="020B0604020202020204" pitchFamily="34" charset="0"/>
            </a:endParaRPr>
          </a:p>
          <a:p>
            <a:endParaRPr lang="fr-FR" dirty="0" smtClean="0">
              <a:cs typeface="Arial" panose="020B0604020202020204" pitchFamily="34" charset="0"/>
            </a:endParaRPr>
          </a:p>
          <a:p>
            <a:r>
              <a:rPr lang="fr-FR" dirty="0" smtClean="0">
                <a:cs typeface="Arial" panose="020B0604020202020204" pitchFamily="34" charset="0"/>
              </a:rPr>
              <a:t> </a:t>
            </a:r>
          </a:p>
          <a:p>
            <a:r>
              <a:rPr lang="fr-FR" dirty="0" smtClean="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r>
              <a:rPr lang="fr-FR" dirty="0" smtClean="0">
                <a:cs typeface="Arial" panose="020B0604020202020204" pitchFamily="34" charset="0"/>
              </a:rPr>
              <a:t>													 											Apposer le code de blocage</a:t>
            </a:r>
          </a:p>
          <a:p>
            <a:r>
              <a:rPr lang="fr-FR" dirty="0">
                <a:cs typeface="Arial" panose="020B0604020202020204" pitchFamily="34" charset="0"/>
              </a:rPr>
              <a:t>	</a:t>
            </a:r>
            <a:r>
              <a:rPr lang="fr-FR" dirty="0" smtClean="0">
                <a:cs typeface="Arial" panose="020B0604020202020204" pitchFamily="34" charset="0"/>
              </a:rPr>
              <a:t>										Sauvegarder votre saisie. </a:t>
            </a:r>
          </a:p>
          <a:p>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 </a:t>
            </a:r>
            <a:endParaRPr lang="fr-FR" dirty="0">
              <a:cs typeface="Arial" panose="020B0604020202020204" pitchFamily="34" charset="0"/>
            </a:endParaRPr>
          </a:p>
          <a:p>
            <a:r>
              <a:rPr lang="fr-FR" dirty="0" smtClean="0">
                <a:latin typeface="Arial" panose="020B0604020202020204" pitchFamily="34" charset="0"/>
                <a:cs typeface="Arial" panose="020B0604020202020204" pitchFamily="34" charset="0"/>
              </a:rPr>
              <a:t>										</a:t>
            </a:r>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19</a:t>
            </a:fld>
            <a:endParaRPr lang="fr-FR" altLang="en-US" sz="750">
              <a:solidFill>
                <a:srgbClr val="000000"/>
              </a:solidFill>
            </a:endParaRPr>
          </a:p>
        </p:txBody>
      </p:sp>
      <p:pic>
        <p:nvPicPr>
          <p:cNvPr id="5" name="Image 4"/>
          <p:cNvPicPr>
            <a:picLocks noChangeAspect="1"/>
          </p:cNvPicPr>
          <p:nvPr/>
        </p:nvPicPr>
        <p:blipFill>
          <a:blip r:embed="rId2"/>
          <a:stretch>
            <a:fillRect/>
          </a:stretch>
        </p:blipFill>
        <p:spPr>
          <a:xfrm>
            <a:off x="573578" y="1867545"/>
            <a:ext cx="2673317" cy="2100908"/>
          </a:xfrm>
          <a:prstGeom prst="rect">
            <a:avLst/>
          </a:prstGeom>
        </p:spPr>
      </p:pic>
      <p:pic>
        <p:nvPicPr>
          <p:cNvPr id="6" name="Image 5"/>
          <p:cNvPicPr>
            <a:picLocks noChangeAspect="1"/>
          </p:cNvPicPr>
          <p:nvPr/>
        </p:nvPicPr>
        <p:blipFill>
          <a:blip r:embed="rId3"/>
          <a:stretch>
            <a:fillRect/>
          </a:stretch>
        </p:blipFill>
        <p:spPr>
          <a:xfrm>
            <a:off x="4531413" y="1546600"/>
            <a:ext cx="317019" cy="359695"/>
          </a:xfrm>
          <a:prstGeom prst="rect">
            <a:avLst/>
          </a:prstGeom>
        </p:spPr>
      </p:pic>
      <p:pic>
        <p:nvPicPr>
          <p:cNvPr id="7" name="Image 6"/>
          <p:cNvPicPr>
            <a:picLocks noChangeAspect="1"/>
          </p:cNvPicPr>
          <p:nvPr/>
        </p:nvPicPr>
        <p:blipFill>
          <a:blip r:embed="rId4"/>
          <a:stretch>
            <a:fillRect/>
          </a:stretch>
        </p:blipFill>
        <p:spPr>
          <a:xfrm>
            <a:off x="4572000" y="1921610"/>
            <a:ext cx="317019" cy="353599"/>
          </a:xfrm>
          <a:prstGeom prst="rect">
            <a:avLst/>
          </a:prstGeom>
        </p:spPr>
      </p:pic>
      <p:pic>
        <p:nvPicPr>
          <p:cNvPr id="8" name="Image 7"/>
          <p:cNvPicPr>
            <a:picLocks noChangeAspect="1"/>
          </p:cNvPicPr>
          <p:nvPr/>
        </p:nvPicPr>
        <p:blipFill>
          <a:blip r:embed="rId5"/>
          <a:stretch>
            <a:fillRect/>
          </a:stretch>
        </p:blipFill>
        <p:spPr>
          <a:xfrm>
            <a:off x="2452955" y="3275305"/>
            <a:ext cx="317019" cy="359695"/>
          </a:xfrm>
          <a:prstGeom prst="rect">
            <a:avLst/>
          </a:prstGeom>
        </p:spPr>
      </p:pic>
      <p:pic>
        <p:nvPicPr>
          <p:cNvPr id="9" name="Image 8"/>
          <p:cNvPicPr>
            <a:picLocks noChangeAspect="1"/>
          </p:cNvPicPr>
          <p:nvPr/>
        </p:nvPicPr>
        <p:blipFill>
          <a:blip r:embed="rId6"/>
          <a:stretch>
            <a:fillRect/>
          </a:stretch>
        </p:blipFill>
        <p:spPr>
          <a:xfrm>
            <a:off x="2057747" y="3614854"/>
            <a:ext cx="317019" cy="353599"/>
          </a:xfrm>
          <a:prstGeom prst="rect">
            <a:avLst/>
          </a:prstGeom>
        </p:spPr>
      </p:pic>
      <p:pic>
        <p:nvPicPr>
          <p:cNvPr id="10" name="Image 9"/>
          <p:cNvPicPr>
            <a:picLocks noChangeAspect="1"/>
          </p:cNvPicPr>
          <p:nvPr/>
        </p:nvPicPr>
        <p:blipFill>
          <a:blip r:embed="rId7"/>
          <a:stretch>
            <a:fillRect/>
          </a:stretch>
        </p:blipFill>
        <p:spPr>
          <a:xfrm>
            <a:off x="8074868" y="1974488"/>
            <a:ext cx="219475" cy="207282"/>
          </a:xfrm>
          <a:prstGeom prst="rect">
            <a:avLst/>
          </a:prstGeom>
        </p:spPr>
      </p:pic>
      <p:pic>
        <p:nvPicPr>
          <p:cNvPr id="11" name="Image 10"/>
          <p:cNvPicPr>
            <a:picLocks noChangeAspect="1"/>
          </p:cNvPicPr>
          <p:nvPr/>
        </p:nvPicPr>
        <p:blipFill>
          <a:blip r:embed="rId8"/>
          <a:stretch>
            <a:fillRect/>
          </a:stretch>
        </p:blipFill>
        <p:spPr>
          <a:xfrm>
            <a:off x="4793309" y="2275209"/>
            <a:ext cx="2480425" cy="1530067"/>
          </a:xfrm>
          <a:prstGeom prst="rect">
            <a:avLst/>
          </a:prstGeom>
        </p:spPr>
      </p:pic>
      <p:pic>
        <p:nvPicPr>
          <p:cNvPr id="12" name="Image 11"/>
          <p:cNvPicPr>
            <a:picLocks noChangeAspect="1"/>
          </p:cNvPicPr>
          <p:nvPr/>
        </p:nvPicPr>
        <p:blipFill>
          <a:blip r:embed="rId9"/>
          <a:stretch>
            <a:fillRect/>
          </a:stretch>
        </p:blipFill>
        <p:spPr>
          <a:xfrm>
            <a:off x="4848432" y="3635000"/>
            <a:ext cx="170703" cy="182896"/>
          </a:xfrm>
          <a:prstGeom prst="rect">
            <a:avLst/>
          </a:prstGeom>
        </p:spPr>
      </p:pic>
      <p:pic>
        <p:nvPicPr>
          <p:cNvPr id="13" name="Image 12"/>
          <p:cNvPicPr>
            <a:picLocks noChangeAspect="1"/>
          </p:cNvPicPr>
          <p:nvPr/>
        </p:nvPicPr>
        <p:blipFill>
          <a:blip r:embed="rId10"/>
          <a:stretch>
            <a:fillRect/>
          </a:stretch>
        </p:blipFill>
        <p:spPr>
          <a:xfrm>
            <a:off x="4940723" y="3464297"/>
            <a:ext cx="317019" cy="353599"/>
          </a:xfrm>
          <a:prstGeom prst="rect">
            <a:avLst/>
          </a:prstGeom>
        </p:spPr>
      </p:pic>
      <p:pic>
        <p:nvPicPr>
          <p:cNvPr id="14" name="Image 13"/>
          <p:cNvPicPr>
            <a:picLocks noChangeAspect="1"/>
          </p:cNvPicPr>
          <p:nvPr/>
        </p:nvPicPr>
        <p:blipFill>
          <a:blip r:embed="rId11"/>
          <a:stretch>
            <a:fillRect/>
          </a:stretch>
        </p:blipFill>
        <p:spPr>
          <a:xfrm>
            <a:off x="4593922" y="4191714"/>
            <a:ext cx="310923" cy="353599"/>
          </a:xfrm>
          <a:prstGeom prst="rect">
            <a:avLst/>
          </a:prstGeom>
        </p:spPr>
      </p:pic>
      <p:pic>
        <p:nvPicPr>
          <p:cNvPr id="15" name="Image 14"/>
          <p:cNvPicPr>
            <a:picLocks noChangeAspect="1"/>
          </p:cNvPicPr>
          <p:nvPr/>
        </p:nvPicPr>
        <p:blipFill>
          <a:blip r:embed="rId12"/>
          <a:stretch>
            <a:fillRect/>
          </a:stretch>
        </p:blipFill>
        <p:spPr>
          <a:xfrm>
            <a:off x="5689273" y="2349840"/>
            <a:ext cx="170703" cy="182896"/>
          </a:xfrm>
          <a:prstGeom prst="rect">
            <a:avLst/>
          </a:prstGeom>
        </p:spPr>
      </p:pic>
      <p:pic>
        <p:nvPicPr>
          <p:cNvPr id="16" name="Image 15"/>
          <p:cNvPicPr>
            <a:picLocks noChangeAspect="1"/>
          </p:cNvPicPr>
          <p:nvPr/>
        </p:nvPicPr>
        <p:blipFill>
          <a:blip r:embed="rId13"/>
          <a:stretch>
            <a:fillRect/>
          </a:stretch>
        </p:blipFill>
        <p:spPr>
          <a:xfrm>
            <a:off x="5784983" y="2372164"/>
            <a:ext cx="310923" cy="353599"/>
          </a:xfrm>
          <a:prstGeom prst="rect">
            <a:avLst/>
          </a:prstGeom>
        </p:spPr>
      </p:pic>
      <p:pic>
        <p:nvPicPr>
          <p:cNvPr id="17" name="Image 16"/>
          <p:cNvPicPr>
            <a:picLocks noChangeAspect="1"/>
          </p:cNvPicPr>
          <p:nvPr/>
        </p:nvPicPr>
        <p:blipFill>
          <a:blip r:embed="rId14"/>
          <a:stretch>
            <a:fillRect/>
          </a:stretch>
        </p:blipFill>
        <p:spPr>
          <a:xfrm>
            <a:off x="4571999" y="3838115"/>
            <a:ext cx="317019" cy="353599"/>
          </a:xfrm>
          <a:prstGeom prst="rect">
            <a:avLst/>
          </a:prstGeom>
        </p:spPr>
      </p:pic>
      <p:pic>
        <p:nvPicPr>
          <p:cNvPr id="3" name="Image 2"/>
          <p:cNvPicPr>
            <a:picLocks noChangeAspect="1"/>
          </p:cNvPicPr>
          <p:nvPr/>
        </p:nvPicPr>
        <p:blipFill>
          <a:blip r:embed="rId15"/>
          <a:stretch>
            <a:fillRect/>
          </a:stretch>
        </p:blipFill>
        <p:spPr>
          <a:xfrm>
            <a:off x="736058" y="2189268"/>
            <a:ext cx="170703" cy="182896"/>
          </a:xfrm>
          <a:prstGeom prst="rect">
            <a:avLst/>
          </a:prstGeom>
        </p:spPr>
      </p:pic>
    </p:spTree>
    <p:extLst>
      <p:ext uri="{BB962C8B-B14F-4D97-AF65-F5344CB8AC3E}">
        <p14:creationId xmlns:p14="http://schemas.microsoft.com/office/powerpoint/2010/main" val="3585453086"/>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1173955" y="1058111"/>
            <a:ext cx="3063507" cy="756458"/>
          </a:xfrm>
          <a:prstGeom prst="rect">
            <a:avLst/>
          </a:prstGeom>
          <a:noFill/>
          <a:ln w="12700" algn="ctr">
            <a:noFill/>
            <a:miter lim="800000"/>
            <a:headEnd/>
            <a:tailEnd/>
          </a:ln>
        </p:spPr>
        <p:txBody>
          <a:bodyPr wrap="square" lIns="67500" tIns="35100" rIns="67500" bIns="35100">
            <a:spAutoFit/>
          </a:bodyPr>
          <a:lstStyle/>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Afficher une fiche d’immobilisation </a:t>
            </a: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Bloquer une fiche d’immobilisation</a:t>
            </a:r>
          </a:p>
          <a:p>
            <a:pPr marL="135731" indent="-135731">
              <a:lnSpc>
                <a:spcPct val="110000"/>
              </a:lnSpc>
              <a:buFont typeface="Wingdings" pitchFamily="2" charset="2"/>
              <a:buChar char="§"/>
              <a:defRPr/>
            </a:pPr>
            <a:endParaRPr lang="fr-FR" sz="1350" dirty="0">
              <a:solidFill>
                <a:srgbClr val="4F81BD"/>
              </a:solidFill>
              <a:latin typeface="Arial Narrow" pitchFamily="34" charset="0"/>
              <a:ea typeface="ＭＳ Ｐゴシック"/>
              <a:cs typeface="ＭＳ Ｐゴシック"/>
            </a:endParaRP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34" name="Imag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5" name="Groupe 34"/>
          <p:cNvGrpSpPr/>
          <p:nvPr/>
        </p:nvGrpSpPr>
        <p:grpSpPr>
          <a:xfrm>
            <a:off x="5174456" y="205978"/>
            <a:ext cx="3680275" cy="4299347"/>
            <a:chOff x="5174456" y="205978"/>
            <a:chExt cx="3680275" cy="4299347"/>
          </a:xfrm>
        </p:grpSpPr>
        <p:grpSp>
          <p:nvGrpSpPr>
            <p:cNvPr id="36" name="Groupe 35"/>
            <p:cNvGrpSpPr/>
            <p:nvPr/>
          </p:nvGrpSpPr>
          <p:grpSpPr>
            <a:xfrm>
              <a:off x="5174456" y="205978"/>
              <a:ext cx="3680275" cy="4299347"/>
              <a:chOff x="3707606" y="205978"/>
              <a:chExt cx="4105275" cy="4795838"/>
            </a:xfrm>
          </p:grpSpPr>
          <p:sp>
            <p:nvSpPr>
              <p:cNvPr id="39" name="Rectangle 38"/>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40" name="Connecteur droit 39"/>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9" name="Connecteur droit 58"/>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Connecteur droit 59"/>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7" name="Image 36"/>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154869185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48224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Modes opératoires</a:t>
            </a:r>
          </a:p>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21</a:t>
            </a:fld>
            <a:endParaRPr lang="fr-FR" altLang="en-US" sz="750"/>
          </a:p>
        </p:txBody>
      </p:sp>
    </p:spTree>
    <p:extLst>
      <p:ext uri="{BB962C8B-B14F-4D97-AF65-F5344CB8AC3E}">
        <p14:creationId xmlns:p14="http://schemas.microsoft.com/office/powerpoint/2010/main" val="272033426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normAutofit/>
          </a:bodyPr>
          <a:lstStyle/>
          <a:p>
            <a:r>
              <a:rPr lang="fr-FR" altLang="en-US" sz="2400" dirty="0" smtClean="0">
                <a:ea typeface="ＭＳ Ｐゴシック" panose="020B0600070205080204" pitchFamily="34" charset="-128"/>
                <a:cs typeface="Arial" panose="020B0604020202020204" pitchFamily="34" charset="0"/>
              </a:rPr>
              <a:t>Synthèse</a:t>
            </a:r>
            <a:endParaRPr lang="en-US" altLang="en-US" sz="2400" dirty="0" smtClean="0">
              <a:ea typeface="ＭＳ Ｐゴシック" panose="020B0600070205080204" pitchFamily="34" charset="-128"/>
              <a:cs typeface="Arial" panose="020B0604020202020204" pitchFamily="34" charset="0"/>
            </a:endParaRPr>
          </a:p>
        </p:txBody>
      </p:sp>
      <p:sp>
        <p:nvSpPr>
          <p:cNvPr id="46083" name="Espace réservé du contenu 2"/>
          <p:cNvSpPr>
            <a:spLocks noGrp="1"/>
          </p:cNvSpPr>
          <p:nvPr>
            <p:ph idx="1"/>
          </p:nvPr>
        </p:nvSpPr>
        <p:spPr>
          <a:xfrm>
            <a:off x="457200" y="1063625"/>
            <a:ext cx="8229600" cy="1946275"/>
          </a:xfrm>
        </p:spPr>
        <p:txBody>
          <a:bodyPr/>
          <a:lstStyle/>
          <a:p>
            <a:pPr marL="171450" indent="-171450">
              <a:buClr>
                <a:srgbClr val="0070C0"/>
              </a:buClr>
              <a:buSzPct val="100000"/>
              <a:buFont typeface="Arial" panose="020B0604020202020204" pitchFamily="34" charset="0"/>
              <a:buChar char="•"/>
            </a:pPr>
            <a:endParaRPr lang="fr-FR" altLang="en-US" sz="1400" dirty="0">
              <a:ea typeface="ＭＳ Ｐゴシック" panose="020B0600070205080204" pitchFamily="34" charset="-128"/>
              <a:cs typeface="Arial" panose="020B0604020202020204" pitchFamily="34" charset="0"/>
            </a:endParaRPr>
          </a:p>
          <a:p>
            <a:pPr marL="171450" indent="-171450">
              <a:buClr>
                <a:srgbClr val="0070C0"/>
              </a:buClr>
              <a:buSzPct val="100000"/>
              <a:buFont typeface="Arial" panose="020B0604020202020204" pitchFamily="34" charset="0"/>
              <a:buChar char="•"/>
            </a:pPr>
            <a:r>
              <a:rPr lang="fr-FR" altLang="en-US" dirty="0" smtClean="0">
                <a:ea typeface="ＭＳ Ｐゴシック" panose="020B0600070205080204" pitchFamily="34" charset="-128"/>
                <a:cs typeface="Arial" panose="020B0604020202020204" pitchFamily="34" charset="0"/>
              </a:rPr>
              <a:t>La gestion des données de base des immobilisations du fait du grand </a:t>
            </a:r>
            <a:r>
              <a:rPr lang="fr-FR" altLang="en-US" dirty="0" smtClean="0">
                <a:ea typeface="ＭＳ Ｐゴシック" panose="020B0600070205080204" pitchFamily="34" charset="-128"/>
                <a:cs typeface="Arial" panose="020B0604020202020204" pitchFamily="34" charset="0"/>
              </a:rPr>
              <a:t>nombre des immobilisations au sein de la CBG </a:t>
            </a:r>
            <a:r>
              <a:rPr lang="fr-FR" altLang="en-US" dirty="0" smtClean="0">
                <a:ea typeface="ＭＳ Ｐゴシック" panose="020B0600070205080204" pitchFamily="34" charset="-128"/>
                <a:cs typeface="Arial" panose="020B0604020202020204" pitchFamily="34" charset="0"/>
              </a:rPr>
              <a:t>et aussi de la complexité du processus requiert une grande attention. </a:t>
            </a:r>
          </a:p>
          <a:p>
            <a:pPr>
              <a:buClr>
                <a:srgbClr val="0070C0"/>
              </a:buClr>
              <a:buSzPct val="100000"/>
            </a:pPr>
            <a:endParaRPr lang="fr-FR" altLang="en-US" sz="1400"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46084" name="Espace réservé du numéro de diapositive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36DFBA8F-B79A-4011-8444-03085D4A6CB3}" type="slidenum">
              <a:rPr lang="fr-FR" altLang="en-US" sz="750"/>
              <a:pPr eaLnBrk="1" hangingPunct="1"/>
              <a:t>22</a:t>
            </a:fld>
            <a:endParaRPr lang="fr-FR" altLang="en-US" sz="750"/>
          </a:p>
        </p:txBody>
      </p:sp>
    </p:spTree>
    <p:extLst>
      <p:ext uri="{BB962C8B-B14F-4D97-AF65-F5344CB8AC3E}">
        <p14:creationId xmlns:p14="http://schemas.microsoft.com/office/powerpoint/2010/main" val="74620286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FR" sz="2400" dirty="0" smtClean="0"/>
              <a:t>Des questions ?</a:t>
            </a:r>
            <a:endParaRPr lang="fr-FR" sz="2400"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0984" y="1370734"/>
            <a:ext cx="2402032" cy="2402032"/>
          </a:xfrm>
          <a:prstGeom prst="rect">
            <a:avLst/>
          </a:prstGeom>
        </p:spPr>
      </p:pic>
    </p:spTree>
    <p:extLst>
      <p:ext uri="{BB962C8B-B14F-4D97-AF65-F5344CB8AC3E}">
        <p14:creationId xmlns:p14="http://schemas.microsoft.com/office/powerpoint/2010/main" val="210048514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BE_FR">
  <a:themeElements>
    <a:clrScheme name="BearingPoint Colors">
      <a:dk1>
        <a:srgbClr val="4D4F53"/>
      </a:dk1>
      <a:lt1>
        <a:sysClr val="window" lastClr="FFFFFF"/>
      </a:lt1>
      <a:dk2>
        <a:srgbClr val="D52B1E"/>
      </a:dk2>
      <a:lt2>
        <a:srgbClr val="A71930"/>
      </a:lt2>
      <a:accent1>
        <a:srgbClr val="AA546E"/>
      </a:accent1>
      <a:accent2>
        <a:srgbClr val="C68D9E"/>
      </a:accent2>
      <a:accent3>
        <a:srgbClr val="8D1B3D"/>
      </a:accent3>
      <a:accent4>
        <a:srgbClr val="D7D3C7"/>
      </a:accent4>
      <a:accent5>
        <a:srgbClr val="B7B1A9"/>
      </a:accent5>
      <a:accent6>
        <a:srgbClr val="8D817B"/>
      </a:accent6>
      <a:hlink>
        <a:srgbClr val="8D817B"/>
      </a:hlink>
      <a:folHlink>
        <a:srgbClr val="8D1B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rgbClr val="4D4F53"/>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4D4F53"/>
            </a:solidFill>
          </a:defRPr>
        </a:defPPr>
      </a:lstStyle>
      <a:style>
        <a:lnRef idx="1">
          <a:schemeClr val="accent1"/>
        </a:lnRef>
        <a:fillRef idx="3">
          <a:schemeClr val="accent1"/>
        </a:fillRef>
        <a:effectRef idx="2">
          <a:schemeClr val="accent1"/>
        </a:effectRef>
        <a:fontRef idx="minor">
          <a:schemeClr val="lt1"/>
        </a:fontRef>
      </a:style>
    </a:spDef>
    <a:lnDef>
      <a:spPr>
        <a:ln w="12700">
          <a:solidFill>
            <a:srgbClr val="FF0000"/>
          </a:solidFill>
          <a:headEnd type="none" w="med" len="med"/>
          <a:tailEnd type="triangl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dirty="0" smtClean="0">
            <a:solidFill>
              <a:srgbClr val="4D4F53"/>
            </a:solidFill>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8D0F09C22B4C4AB25CA30ADC8FDF91" ma:contentTypeVersion="2" ma:contentTypeDescription="Crée un document." ma:contentTypeScope="" ma:versionID="72e47ee22b0a05bccb747741f0dfd966">
  <xsd:schema xmlns:xsd="http://www.w3.org/2001/XMLSchema" xmlns:xs="http://www.w3.org/2001/XMLSchema" xmlns:p="http://schemas.microsoft.com/office/2006/metadata/properties" xmlns:ns1="http://schemas.microsoft.com/sharepoint/v3" xmlns:ns2="f36dd47d-0b23-43fd-9b2d-c5346ffa1660" xmlns:ns3="8114c5be-486c-4333-8697-9f01d178dfef" targetNamespace="http://schemas.microsoft.com/office/2006/metadata/properties" ma:root="true" ma:fieldsID="ea25618cdfce53ad0a4816dcfb004e4a" ns1:_="" ns2:_="" ns3:_="">
    <xsd:import namespace="http://schemas.microsoft.com/sharepoint/v3"/>
    <xsd:import namespace="f36dd47d-0b23-43fd-9b2d-c5346ffa1660"/>
    <xsd:import namespace="8114c5be-486c-4333-8697-9f01d178dfef"/>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36dd47d-0b23-43fd-9b2d-c5346ffa1660" elementFormDefault="qualified">
    <xsd:import namespace="http://schemas.microsoft.com/office/2006/documentManagement/types"/>
    <xsd:import namespace="http://schemas.microsoft.com/office/infopath/2007/PartnerControls"/>
    <xsd:element name="_dlc_DocId" ma:index="10" nillable="true" ma:displayName="Valeur d’ID de document" ma:description="Valeur de l’ID de document affecté à cet élément." ma:internalName="_dlc_DocId" ma:readOnly="true">
      <xsd:simpleType>
        <xsd:restriction base="dms:Text"/>
      </xsd:simpleType>
    </xsd:element>
    <xsd:element name="_dlc_DocIdUrl" ma:index="11"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Conserver l’ID" ma:description="Conserver l’ID lors de l’ajout."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114c5be-486c-4333-8697-9f01d178dfef" elementFormDefault="qualified">
    <xsd:import namespace="http://schemas.microsoft.com/office/2006/documentManagement/types"/>
    <xsd:import namespace="http://schemas.microsoft.com/office/infopath/2007/PartnerControls"/>
    <xsd:element name="SharedWithUsers" ma:index="13" nillable="true" ma:displayName="Partagé avec"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3.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f36dd47d-0b23-43fd-9b2d-c5346ffa1660">VHEKTECQ7ECW-1532981086-4841</_dlc_DocId>
    <_dlc_DocIdUrl xmlns="f36dd47d-0b23-43fd-9b2d-c5346ffa1660">
      <Url>http://projets.cbg-guinee.com/erp/_layouts/15/DocIdRedir.aspx?ID=VHEKTECQ7ECW-1532981086-4841</Url>
      <Description>VHEKTECQ7ECW-1532981086-4841</Description>
    </_dlc_DocIdUrl>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2D230F6-A1D4-47FA-ACB1-4EFB176B5C7D}"/>
</file>

<file path=customXml/itemProps2.xml><?xml version="1.0" encoding="utf-8"?>
<ds:datastoreItem xmlns:ds="http://schemas.openxmlformats.org/officeDocument/2006/customXml" ds:itemID="{BE8F95A2-3AAC-4E65-B2F5-A8828F4BB30D}"/>
</file>

<file path=customXml/itemProps3.xml><?xml version="1.0" encoding="utf-8"?>
<ds:datastoreItem xmlns:ds="http://schemas.openxmlformats.org/officeDocument/2006/customXml" ds:itemID="{6B08D313-DD74-49B0-B6A4-96BD802D9198}"/>
</file>

<file path=customXml/itemProps4.xml><?xml version="1.0" encoding="utf-8"?>
<ds:datastoreItem xmlns:ds="http://schemas.openxmlformats.org/officeDocument/2006/customXml" ds:itemID="{DFE7DD0B-0BE8-4E24-A363-4DD0A01C5DCF}"/>
</file>

<file path=docProps/app.xml><?xml version="1.0" encoding="utf-8"?>
<Properties xmlns="http://schemas.openxmlformats.org/officeDocument/2006/extended-properties" xmlns:vt="http://schemas.openxmlformats.org/officeDocument/2006/docPropsVTypes">
  <Template/>
  <TotalTime>0</TotalTime>
  <Words>638</Words>
  <Application>Microsoft Office PowerPoint</Application>
  <PresentationFormat>Affichage à l'écran (16:9)</PresentationFormat>
  <Paragraphs>295</Paragraphs>
  <Slides>23</Slides>
  <Notes>7</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23</vt:i4>
      </vt:variant>
    </vt:vector>
  </HeadingPairs>
  <TitlesOfParts>
    <vt:vector size="31" baseType="lpstr">
      <vt:lpstr>MS PGothic</vt:lpstr>
      <vt:lpstr>Arial</vt:lpstr>
      <vt:lpstr>Arial Narrow</vt:lpstr>
      <vt:lpstr>Calibri</vt:lpstr>
      <vt:lpstr>Courier New</vt:lpstr>
      <vt:lpstr>Verdana</vt:lpstr>
      <vt:lpstr>Wingdings</vt:lpstr>
      <vt:lpstr>TemplateBE_FR</vt:lpstr>
      <vt:lpstr>Kamsar, le 09.02.2016</vt:lpstr>
      <vt:lpstr>Présentation PowerPoint</vt:lpstr>
      <vt:lpstr>Objectifs de la formation</vt:lpstr>
      <vt:lpstr>Agenda : 2h00</vt:lpstr>
      <vt:lpstr>Présentation PowerPoint</vt:lpstr>
      <vt:lpstr>Description du processus de gestion immobilisations en cours et leur mise en service </vt:lpstr>
      <vt:lpstr>Description de la structure organisationnelle des immobilisations  </vt:lpstr>
      <vt:lpstr>Description de la structure organisationnelle des immobilisations 1/2  </vt:lpstr>
      <vt:lpstr>Description de la structure organisationnelle des immobilisations 2/2  </vt:lpstr>
      <vt:lpstr>Description de la structure organisationnelle des immobilisations  </vt:lpstr>
      <vt:lpstr>Description de la structure organisationnelle des immobilisations  </vt:lpstr>
      <vt:lpstr>Gestion de la fiche immobilisation  </vt:lpstr>
      <vt:lpstr>Gestion de la fiche immobilisation  </vt:lpstr>
      <vt:lpstr>Gestion de la fiche immobilisation  </vt:lpstr>
      <vt:lpstr>Présentation PowerPoint</vt:lpstr>
      <vt:lpstr>Mode opératoire Présentation du mode opératoire dans SAP</vt:lpstr>
      <vt:lpstr>Mode opératoire fiche immobilisation : afficher une immobilisation 1/2  </vt:lpstr>
      <vt:lpstr>Mode opératoire fiche immobilisation : afficher une immobilisation 2/2    </vt:lpstr>
      <vt:lpstr>Mode opératoire fiche immobilisation : bloquer une immobilisation    </vt:lpstr>
      <vt:lpstr>Présentation PowerPoint</vt:lpstr>
      <vt:lpstr>Présentation PowerPoint</vt:lpstr>
      <vt:lpstr>Synthèse</vt:lpstr>
      <vt:lpstr>Des questions ?</vt:lpstr>
    </vt:vector>
  </TitlesOfParts>
  <Company>FutureBrand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CBG - Comité Projet</dc:title>
  <dc:creator>BearingPoint</dc:creator>
  <cp:lastModifiedBy>Ogoundele, Jean Yves (CE)</cp:lastModifiedBy>
  <cp:revision>3924</cp:revision>
  <cp:lastPrinted>2015-04-23T03:57:16Z</cp:lastPrinted>
  <dcterms:created xsi:type="dcterms:W3CDTF">2012-05-17T14:14:37Z</dcterms:created>
  <dcterms:modified xsi:type="dcterms:W3CDTF">2016-01-14T10:21:13Z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0x010100EC8D0F09C22B4C4AB25CA30ADC8FDF91</vt:lpwstr>
  </property>
  <property fmtid="{D5CDD505-2E9C-101B-9397-08002B2CF9AE}" pid="3" name="Order">
    <vt:r8>9600</vt:r8>
  </property>
  <property fmtid="{D5CDD505-2E9C-101B-9397-08002B2CF9AE}" pid="4" name="_dlc_DocIdItemGuid">
    <vt:lpwstr>3c2c63dd-e05d-4ae0-aff5-40f774682c51</vt:lpwstr>
  </property>
</Properties>
</file>