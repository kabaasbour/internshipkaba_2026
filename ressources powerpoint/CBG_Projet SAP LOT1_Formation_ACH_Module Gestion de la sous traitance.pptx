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s/slide2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3.xml" ContentType="application/vnd.openxmlformats-officedocument.customXml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7"/>
  </p:notesMasterIdLst>
  <p:handoutMasterIdLst>
    <p:handoutMasterId r:id="rId28"/>
  </p:handoutMasterIdLst>
  <p:sldIdLst>
    <p:sldId id="685" r:id="rId5"/>
    <p:sldId id="686" r:id="rId6"/>
    <p:sldId id="687" r:id="rId7"/>
    <p:sldId id="723" r:id="rId8"/>
    <p:sldId id="691" r:id="rId9"/>
    <p:sldId id="692" r:id="rId10"/>
    <p:sldId id="693" r:id="rId11"/>
    <p:sldId id="694" r:id="rId12"/>
    <p:sldId id="724" r:id="rId13"/>
    <p:sldId id="713" r:id="rId14"/>
    <p:sldId id="742" r:id="rId15"/>
    <p:sldId id="743" r:id="rId16"/>
    <p:sldId id="696" r:id="rId17"/>
    <p:sldId id="730" r:id="rId18"/>
    <p:sldId id="744" r:id="rId19"/>
    <p:sldId id="745" r:id="rId20"/>
    <p:sldId id="746" r:id="rId21"/>
    <p:sldId id="747" r:id="rId22"/>
    <p:sldId id="732" r:id="rId23"/>
    <p:sldId id="725" r:id="rId24"/>
    <p:sldId id="710" r:id="rId25"/>
    <p:sldId id="728" r:id="rId26"/>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8" autoAdjust="0"/>
    <p:restoredTop sz="95565" autoAdjust="0"/>
  </p:normalViewPr>
  <p:slideViewPr>
    <p:cSldViewPr snapToGrid="0" snapToObjects="1">
      <p:cViewPr varScale="1">
        <p:scale>
          <a:sx n="113" d="100"/>
          <a:sy n="113" d="100"/>
        </p:scale>
        <p:origin x="930" y="102"/>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67" tIns="45284" rIns="90567" bIns="45284"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67" tIns="45284" rIns="90567" bIns="45284"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67" tIns="45284" rIns="90567" bIns="4528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67" tIns="45284" rIns="90567" bIns="4528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67" tIns="45284" rIns="90567" bIns="45284"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67" tIns="45284" rIns="90567" bIns="45284"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4813" y="695325"/>
            <a:ext cx="6200775" cy="3487738"/>
          </a:xfrm>
          <a:prstGeom prst="rect">
            <a:avLst/>
          </a:prstGeom>
          <a:noFill/>
          <a:ln w="12700">
            <a:solidFill>
              <a:prstClr val="black"/>
            </a:solidFill>
          </a:ln>
        </p:spPr>
        <p:txBody>
          <a:bodyPr vert="horz" lIns="90567" tIns="45284" rIns="90567" bIns="45284"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67" tIns="45284" rIns="90567" bIns="4528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67" tIns="45284" rIns="90567" bIns="4528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67" tIns="45284" rIns="90567" bIns="4528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18</a:t>
            </a:fld>
            <a:endParaRPr lang="de-DE" dirty="0"/>
          </a:p>
        </p:txBody>
      </p:sp>
    </p:spTree>
    <p:extLst>
      <p:ext uri="{BB962C8B-B14F-4D97-AF65-F5344CB8AC3E}">
        <p14:creationId xmlns:p14="http://schemas.microsoft.com/office/powerpoint/2010/main" val="608910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7"/>
            <a:ext cx="5656689" cy="1075448"/>
          </a:xfrm>
          <a:prstGeom prst="rect">
            <a:avLst/>
          </a:prstGeom>
          <a:noFill/>
          <a:ln w="6350" algn="ctr">
            <a:solidFill>
              <a:srgbClr val="0000FF"/>
            </a:solidFill>
            <a:miter lim="800000"/>
            <a:headEnd/>
            <a:tailEnd/>
          </a:ln>
          <a:effectLst/>
        </p:spPr>
        <p:txBody>
          <a:bodyPr lIns="92591" tIns="46294" rIns="92591" bIns="46294"/>
          <a:lstStyle/>
          <a:p>
            <a:pPr defTabSz="92553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536">
              <a:spcBef>
                <a:spcPct val="50000"/>
              </a:spcBef>
              <a:defRPr/>
            </a:pPr>
            <a:r>
              <a:rPr lang="fr-FR" sz="1000" dirty="0">
                <a:ea typeface="ＭＳ Ｐゴシック"/>
                <a:cs typeface="ＭＳ Ｐゴシック"/>
              </a:rPr>
              <a:t> </a:t>
            </a:r>
          </a:p>
          <a:p>
            <a:pPr defTabSz="92553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53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53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40163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5960" indent="-283062" eaLnBrk="0" hangingPunct="0">
              <a:defRPr sz="1400">
                <a:solidFill>
                  <a:schemeClr val="tx1"/>
                </a:solidFill>
                <a:latin typeface="Arial" panose="020B0604020202020204" pitchFamily="34" charset="0"/>
                <a:ea typeface="ＭＳ Ｐゴシック" panose="020B0600070205080204" pitchFamily="34" charset="-128"/>
              </a:defRPr>
            </a:lvl2pPr>
            <a:lvl3pPr marL="1132246" indent="-226449" eaLnBrk="0" hangingPunct="0">
              <a:defRPr sz="1400">
                <a:solidFill>
                  <a:schemeClr val="tx1"/>
                </a:solidFill>
                <a:latin typeface="Arial" panose="020B0604020202020204" pitchFamily="34" charset="0"/>
                <a:ea typeface="ＭＳ Ｐゴシック" panose="020B0600070205080204" pitchFamily="34" charset="-128"/>
              </a:defRPr>
            </a:lvl3pPr>
            <a:lvl4pPr marL="1585145" indent="-226449" eaLnBrk="0" hangingPunct="0">
              <a:defRPr sz="1400">
                <a:solidFill>
                  <a:schemeClr val="tx1"/>
                </a:solidFill>
                <a:latin typeface="Arial" panose="020B0604020202020204" pitchFamily="34" charset="0"/>
                <a:ea typeface="ＭＳ Ｐゴシック" panose="020B0600070205080204" pitchFamily="34" charset="-128"/>
              </a:defRPr>
            </a:lvl4pPr>
            <a:lvl5pPr marL="2038044" indent="-226449" eaLnBrk="0" hangingPunct="0">
              <a:defRPr sz="1400">
                <a:solidFill>
                  <a:schemeClr val="tx1"/>
                </a:solidFill>
                <a:latin typeface="Arial" panose="020B0604020202020204" pitchFamily="34" charset="0"/>
                <a:ea typeface="ＭＳ Ｐゴシック" panose="020B0600070205080204" pitchFamily="34" charset="-128"/>
              </a:defRPr>
            </a:lvl5pPr>
            <a:lvl6pPr marL="2490942"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3840"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6739"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49637" indent="-226449" defTabSz="45289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20</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Gestion </a:t>
            </a:r>
            <a:r>
              <a:rPr lang="fr-FR" sz="2000" b="1" dirty="0" smtClean="0">
                <a:solidFill>
                  <a:srgbClr val="0070C0"/>
                </a:solidFill>
                <a:latin typeface="Arial" charset="0"/>
                <a:cs typeface="Arial" charset="0"/>
              </a:rPr>
              <a:t>de la sous-traitance</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Sous traitée la réparation d’un </a:t>
            </a:r>
            <a:r>
              <a:rPr lang="fr-FR" sz="900" dirty="0" err="1" smtClean="0">
                <a:solidFill>
                  <a:schemeClr val="tx1"/>
                </a:solidFill>
                <a:latin typeface="Arial" pitchFamily="34" charset="0"/>
                <a:cs typeface="Arial" pitchFamily="34" charset="0"/>
              </a:rPr>
              <a:t>rénovable</a:t>
            </a:r>
            <a:r>
              <a:rPr lang="fr-FR" sz="900" dirty="0" smtClean="0">
                <a:solidFill>
                  <a:schemeClr val="tx1"/>
                </a:solidFill>
                <a:latin typeface="Arial" pitchFamily="34" charset="0"/>
                <a:cs typeface="Arial" pitchFamily="34" charset="0"/>
              </a:rPr>
              <a:t> en créant une commande de sous-traitance, en référence à une demande de sous-traitance issue d’un ordre de travail de réparation</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les demandes de sous-traitance en attente d’affectation</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a:t>
            </a:r>
            <a:r>
              <a:rPr lang="fr-FR" sz="900" dirty="0">
                <a:solidFill>
                  <a:schemeClr val="tx1"/>
                </a:solidFill>
                <a:latin typeface="Arial" pitchFamily="34" charset="0"/>
                <a:cs typeface="Arial" pitchFamily="34" charset="0"/>
              </a:rPr>
              <a:t>un RFQ correspondant à une demande de sous-traitance</a:t>
            </a:r>
          </a:p>
          <a:p>
            <a:pPr marL="67866" lvl="1"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Créer une commande d’achat en référence </a:t>
            </a:r>
            <a:r>
              <a:rPr lang="fr-FR" sz="900" dirty="0" smtClean="0">
                <a:solidFill>
                  <a:schemeClr val="tx1"/>
                </a:solidFill>
                <a:latin typeface="Arial" pitchFamily="34" charset="0"/>
                <a:cs typeface="Arial" pitchFamily="34" charset="0"/>
              </a:rPr>
              <a:t>au RFQ</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Clients internes</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Trait. des demandes d’achats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Trait. des commandes d’achats</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création et de gestion des commandes de sous-traitance s’inscrit dans le processus d’achats. Ce processus est la continuité du processus de création d’OT</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smtClean="0"/>
              <a:t>De consulter les demandes de sous-traitance en attente d’affectation</a:t>
            </a:r>
          </a:p>
          <a:p>
            <a:pPr marL="171450" indent="-171450">
              <a:buClr>
                <a:srgbClr val="0070C0"/>
              </a:buClr>
              <a:buSzPct val="100000"/>
              <a:buFont typeface="Arial" panose="020B0604020202020204" pitchFamily="34" charset="0"/>
              <a:buChar char="•"/>
            </a:pPr>
            <a:r>
              <a:rPr lang="fr-FR" dirty="0" smtClean="0"/>
              <a:t>De lancer un RFQ suite à une demande de sous-traitance</a:t>
            </a:r>
          </a:p>
          <a:p>
            <a:pPr marL="171450" indent="-171450">
              <a:buClr>
                <a:srgbClr val="0070C0"/>
              </a:buClr>
              <a:buSzPct val="100000"/>
              <a:buFont typeface="Arial" panose="020B0604020202020204" pitchFamily="34" charset="0"/>
              <a:buChar char="•"/>
            </a:pPr>
            <a:r>
              <a:rPr lang="fr-FR" dirty="0" smtClean="0"/>
              <a:t>De créer une commande d’achat de sous-traitance</a:t>
            </a:r>
          </a:p>
          <a:p>
            <a:pPr>
              <a:buClr>
                <a:srgbClr val="0070C0"/>
              </a:buClr>
              <a:buSzPct val="100000"/>
            </a:pPr>
            <a:r>
              <a:rPr lang="fr-FR" b="1" dirty="0" smtClean="0">
                <a:solidFill>
                  <a:srgbClr val="0070C0"/>
                </a:solidFill>
              </a:rPr>
              <a:t>Pour la logistique</a:t>
            </a:r>
          </a:p>
          <a:p>
            <a:pPr marL="171450" indent="-171450">
              <a:buClr>
                <a:srgbClr val="0070C0"/>
              </a:buClr>
              <a:buSzPct val="100000"/>
              <a:buFont typeface="Arial" panose="020B0604020202020204" pitchFamily="34" charset="0"/>
              <a:buChar char="•"/>
            </a:pPr>
            <a:r>
              <a:rPr lang="fr-FR" dirty="0" smtClean="0"/>
              <a:t>D’expédier le </a:t>
            </a:r>
            <a:r>
              <a:rPr lang="fr-FR" dirty="0" err="1" smtClean="0"/>
              <a:t>rénovable</a:t>
            </a:r>
            <a:r>
              <a:rPr lang="fr-FR" dirty="0" smtClean="0"/>
              <a:t> au fournisseur assigné pour la réparation</a:t>
            </a:r>
          </a:p>
          <a:p>
            <a:pPr marL="171450" indent="-171450">
              <a:buClr>
                <a:srgbClr val="0070C0"/>
              </a:buClr>
              <a:buSzPct val="100000"/>
              <a:buFont typeface="Arial" panose="020B0604020202020204" pitchFamily="34" charset="0"/>
              <a:buChar char="•"/>
            </a:pPr>
            <a:r>
              <a:rPr lang="fr-FR" dirty="0" smtClean="0"/>
              <a:t>De tracer et suivre l’expédition du </a:t>
            </a:r>
            <a:r>
              <a:rPr lang="fr-FR" dirty="0" err="1" smtClean="0"/>
              <a:t>rénovable</a:t>
            </a:r>
            <a:endParaRPr lang="fr-FR" dirty="0"/>
          </a:p>
          <a:p>
            <a:pPr marL="171450" indent="-171450">
              <a:buClr>
                <a:srgbClr val="0070C0"/>
              </a:buClr>
              <a:buSzPct val="100000"/>
              <a:buFont typeface="Arial" panose="020B0604020202020204" pitchFamily="34" charset="0"/>
              <a:buChar char="•"/>
            </a:pPr>
            <a:endParaRPr lang="fr-FR" dirty="0" smtClean="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a:t>
            </a:r>
            <a:r>
              <a:rPr lang="fr-FR" altLang="en-US" dirty="0"/>
              <a:t>C</a:t>
            </a:r>
            <a:r>
              <a:rPr lang="fr-FR" altLang="en-US" dirty="0" smtClean="0"/>
              <a:t>ommandes d’Achat</a:t>
            </a:r>
            <a:endParaRPr lang="en-US" altLang="en-US" dirty="0" smtClean="0"/>
          </a:p>
        </p:txBody>
      </p:sp>
      <p:sp>
        <p:nvSpPr>
          <p:cNvPr id="28678" name="AutoShape 6"/>
          <p:cNvSpPr>
            <a:spLocks noChangeArrowheads="1"/>
          </p:cNvSpPr>
          <p:nvPr/>
        </p:nvSpPr>
        <p:spPr bwMode="auto">
          <a:xfrm>
            <a:off x="1540042" y="1445451"/>
            <a:ext cx="1644253" cy="656973"/>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une commande de sous-traitance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435769" y="3506175"/>
            <a:ext cx="1825918"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une commande de sous-traitance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350372"/>
            <a:ext cx="2166938" cy="835746"/>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(locaux ou outre mer) sont responsables de la création des commandes de sous-traitance</a:t>
            </a:r>
            <a:endParaRPr lang="fr-FR" altLang="en-US" sz="1050" dirty="0">
              <a:solidFill>
                <a:schemeClr val="bg1"/>
              </a:solidFill>
            </a:endParaRPr>
          </a:p>
        </p:txBody>
      </p:sp>
      <p:sp>
        <p:nvSpPr>
          <p:cNvPr id="28681" name="AutoShape 12"/>
          <p:cNvSpPr>
            <a:spLocks noChangeArrowheads="1"/>
          </p:cNvSpPr>
          <p:nvPr/>
        </p:nvSpPr>
        <p:spPr bwMode="auto">
          <a:xfrm>
            <a:off x="5155407" y="1476935"/>
            <a:ext cx="2701669" cy="656973"/>
          </a:xfrm>
          <a:prstGeom prst="wedgeRoundRectCallout">
            <a:avLst>
              <a:gd name="adj1" fmla="val -60434"/>
              <a:gd name="adj2" fmla="val 46405"/>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Une commande de sous-traitance est créée à chaque besoin de sous-traiter la réparation d’un </a:t>
            </a:r>
            <a:r>
              <a:rPr lang="fr-FR" altLang="en-US" sz="1050" dirty="0" err="1" smtClean="0"/>
              <a:t>rénovable</a:t>
            </a:r>
            <a:endParaRPr lang="fr-FR" altLang="en-US" sz="1050" dirty="0"/>
          </a:p>
        </p:txBody>
      </p:sp>
      <p:sp>
        <p:nvSpPr>
          <p:cNvPr id="28682" name="AutoShape 6"/>
          <p:cNvSpPr>
            <a:spLocks noChangeArrowheads="1"/>
          </p:cNvSpPr>
          <p:nvPr/>
        </p:nvSpPr>
        <p:spPr bwMode="auto">
          <a:xfrm>
            <a:off x="1331495" y="2394864"/>
            <a:ext cx="1455513" cy="656973"/>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une Commande de sous-traitance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397949" y="3360036"/>
            <a:ext cx="2069652" cy="920875"/>
          </a:xfrm>
          <a:prstGeom prst="wedgeRoundRectCallout">
            <a:avLst>
              <a:gd name="adj1" fmla="val -70272"/>
              <a:gd name="adj2" fmla="val -6620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Le </a:t>
            </a:r>
            <a:r>
              <a:rPr lang="fr-FR" altLang="en-US" sz="1050" dirty="0" err="1" smtClean="0">
                <a:solidFill>
                  <a:schemeClr val="bg1"/>
                </a:solidFill>
              </a:rPr>
              <a:t>rénovable</a:t>
            </a:r>
            <a:r>
              <a:rPr lang="fr-FR" altLang="en-US" sz="1050" dirty="0" smtClean="0">
                <a:solidFill>
                  <a:schemeClr val="bg1"/>
                </a:solidFill>
              </a:rPr>
              <a:t> à réparer</a:t>
            </a:r>
          </a:p>
          <a:p>
            <a:pPr eaLnBrk="1" hangingPunct="1">
              <a:spcBef>
                <a:spcPts val="225"/>
              </a:spcBef>
              <a:buFont typeface="Arial" panose="020B0604020202020204" pitchFamily="34" charset="0"/>
              <a:buChar char="•"/>
            </a:pPr>
            <a:r>
              <a:rPr lang="fr-FR" altLang="en-US" sz="1050" dirty="0" smtClean="0">
                <a:solidFill>
                  <a:schemeClr val="bg1"/>
                </a:solidFill>
              </a:rPr>
              <a:t>La date de réception</a:t>
            </a:r>
          </a:p>
          <a:p>
            <a:pPr eaLnBrk="1" hangingPunct="1">
              <a:spcBef>
                <a:spcPts val="225"/>
              </a:spcBef>
              <a:buFont typeface="Arial" panose="020B0604020202020204" pitchFamily="34" charset="0"/>
              <a:buChar char="•"/>
            </a:pPr>
            <a:r>
              <a:rPr lang="fr-FR" altLang="en-US" sz="1050" dirty="0" smtClean="0">
                <a:solidFill>
                  <a:schemeClr val="bg1"/>
                </a:solidFill>
              </a:rPr>
              <a:t>Le fournisseur</a:t>
            </a:r>
          </a:p>
          <a:p>
            <a:pPr eaLnBrk="1" hangingPunct="1">
              <a:spcBef>
                <a:spcPts val="225"/>
              </a:spcBef>
              <a:buFont typeface="Arial" panose="020B0604020202020204" pitchFamily="34" charset="0"/>
              <a:buChar char="•"/>
            </a:pPr>
            <a:r>
              <a:rPr lang="fr-FR" altLang="en-US" sz="1050" dirty="0" smtClean="0">
                <a:solidFill>
                  <a:schemeClr val="bg1"/>
                </a:solidFill>
              </a:rPr>
              <a:t>Le coût de la sous-traitance</a:t>
            </a:r>
            <a:endParaRPr lang="fr-FR" altLang="en-US" sz="1050" dirty="0">
              <a:solidFill>
                <a:schemeClr val="bg1"/>
              </a:solidFill>
            </a:endParaRP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demandes d’achat</a:t>
            </a: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Commandes d’achat s’inscrit dans le Processus Achats directs et indirects</a:t>
            </a:r>
          </a:p>
        </p:txBody>
      </p:sp>
      <p:sp>
        <p:nvSpPr>
          <p:cNvPr id="65540" name="AutoShape 16"/>
          <p:cNvSpPr>
            <a:spLocks noChangeArrowheads="1"/>
          </p:cNvSpPr>
          <p:nvPr/>
        </p:nvSpPr>
        <p:spPr bwMode="auto">
          <a:xfrm>
            <a:off x="577713" y="3777107"/>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Un demande de sous-traitance  créée d’un OT</a:t>
            </a:r>
            <a:endParaRPr lang="fr-FR" altLang="ko-KR" sz="800" b="1" dirty="0">
              <a:solidFill>
                <a:srgbClr val="FFFFFF"/>
              </a:solidFill>
              <a:latin typeface="Verdana" pitchFamily="34" charset="0"/>
              <a:ea typeface="ＭＳ Ｐゴシック"/>
              <a:cs typeface="Arial" pitchFamily="34" charset="0"/>
            </a:endParaRPr>
          </a:p>
        </p:txBody>
      </p:sp>
      <p:sp>
        <p:nvSpPr>
          <p:cNvPr id="29701" name="AutoShape 17"/>
          <p:cNvSpPr>
            <a:spLocks noChangeArrowheads="1"/>
          </p:cNvSpPr>
          <p:nvPr/>
        </p:nvSpPr>
        <p:spPr bwMode="auto">
          <a:xfrm>
            <a:off x="1839139"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Créer le RFQ</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5623417" y="3777107"/>
            <a:ext cx="1235869"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Réception de la commande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3" name="AutoShape 19"/>
          <p:cNvSpPr>
            <a:spLocks noChangeArrowheads="1"/>
          </p:cNvSpPr>
          <p:nvPr/>
        </p:nvSpPr>
        <p:spPr bwMode="auto">
          <a:xfrm>
            <a:off x="6884843" y="3777107"/>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0800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Réception de la commande de transfert</a:t>
            </a:r>
            <a:endParaRPr lang="fr-FR" altLang="ko-KR" sz="800" b="1" dirty="0">
              <a:solidFill>
                <a:srgbClr val="FFFFFF"/>
              </a:solidFill>
              <a:latin typeface="Verdana" pitchFamily="34" charset="0"/>
              <a:ea typeface="ＭＳ Ｐゴシック"/>
              <a:cs typeface="Arial" pitchFamily="34" charset="0"/>
            </a:endParaRPr>
          </a:p>
        </p:txBody>
      </p:sp>
      <p:sp>
        <p:nvSpPr>
          <p:cNvPr id="9" name="AutoShape 17"/>
          <p:cNvSpPr>
            <a:spLocks noChangeArrowheads="1"/>
          </p:cNvSpPr>
          <p:nvPr/>
        </p:nvSpPr>
        <p:spPr bwMode="auto">
          <a:xfrm>
            <a:off x="3100565"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72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Créer la commande de sous-traitance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0" name="AutoShape 17"/>
          <p:cNvSpPr>
            <a:spLocks noChangeArrowheads="1"/>
          </p:cNvSpPr>
          <p:nvPr/>
        </p:nvSpPr>
        <p:spPr bwMode="auto">
          <a:xfrm>
            <a:off x="4361991"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 la commande d’achat</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gestion des commandes de sous-traitance</a:t>
            </a:r>
            <a:endParaRPr lang="en-US" altLang="en-US" sz="2400" dirty="0" smtClean="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1493202" y="1014730"/>
            <a:ext cx="6157595" cy="3114040"/>
          </a:xfrm>
          <a:prstGeom prst="rect">
            <a:avLst/>
          </a:prstGeom>
          <a:noFill/>
        </p:spPr>
      </p:pic>
      <p:sp>
        <p:nvSpPr>
          <p:cNvPr id="5" name="Rectangle 4"/>
          <p:cNvSpPr/>
          <p:nvPr/>
        </p:nvSpPr>
        <p:spPr>
          <a:xfrm>
            <a:off x="1900989" y="2759242"/>
            <a:ext cx="1074821" cy="417095"/>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 name="Rectangle 6"/>
          <p:cNvSpPr/>
          <p:nvPr/>
        </p:nvSpPr>
        <p:spPr>
          <a:xfrm>
            <a:off x="6985001" y="4317007"/>
            <a:ext cx="409024" cy="161758"/>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 name="ZoneTexte 1"/>
          <p:cNvSpPr txBox="1"/>
          <p:nvPr/>
        </p:nvSpPr>
        <p:spPr>
          <a:xfrm>
            <a:off x="7394025" y="4274776"/>
            <a:ext cx="1540425" cy="246221"/>
          </a:xfrm>
          <a:prstGeom prst="rect">
            <a:avLst/>
          </a:prstGeom>
          <a:noFill/>
        </p:spPr>
        <p:txBody>
          <a:bodyPr wrap="square" rtlCol="0">
            <a:spAutoFit/>
          </a:bodyPr>
          <a:lstStyle/>
          <a:p>
            <a:r>
              <a:rPr lang="fr-FR" sz="1000" dirty="0" smtClean="0">
                <a:solidFill>
                  <a:srgbClr val="4D4F53"/>
                </a:solidFill>
              </a:rPr>
              <a:t>Focus formation</a:t>
            </a:r>
            <a:endParaRPr lang="en-US" sz="1000" dirty="0" smtClean="0">
              <a:solidFill>
                <a:srgbClr val="4D4F53"/>
              </a:solidFill>
            </a:endParaRPr>
          </a:p>
        </p:txBody>
      </p:sp>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Une Demande d’Achats (DA) SAP représente l’expression d’un besoin par un client interne, ce besoin devant être approvisionné depuis un fournisseur externe à la CBG.</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Parmi les informations que l’on retrouve dans une DA, nous avons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Code article et/ou une désignation</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quantité</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date de livraison souhaitée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groupe de marchandises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valorisation estimée (si non codifié) ou le Prix Moyen Pondéré</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Demande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Une commande est un ordre ou instruction officiellement émis par une organisation d'achats demandant à un fournisseur ou à une division de livrer une certaine quantité de marchandises ou de services à une date donnée</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Chaque </a:t>
            </a:r>
            <a:r>
              <a:rPr lang="fr-FR" altLang="en-US" dirty="0">
                <a:latin typeface="Arial" panose="020B0604020202020204" pitchFamily="34" charset="0"/>
                <a:ea typeface="ＭＳ Ｐゴシック" panose="020B0600070205080204" pitchFamily="34" charset="-128"/>
                <a:cs typeface="Arial" panose="020B0604020202020204" pitchFamily="34" charset="0"/>
              </a:rPr>
              <a:t>poste de sous-traitance de la commande d'achat comporte des postes de composant. Ces derniers sont copiés de la demande d'achat, saisis manuellement ou encore copiés d'une nomenclature. </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Le prix à la commande correspond au prix du service de sous-traitance pour fabriquer l'article commandé (voir aussi </a:t>
            </a: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Commande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3549087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L'article qui doit être produit par le fournisseur peut être commandé comme un poste de sous-traitance dans une demande d'achat, dans une commande d'achat ou dans un programme de livraison. Chaque poste de sous-traitance est réparti sur un ou plusieurs sous-postes qui contiennent les composants requis par le fournisseur pour effectuer le travail de sous-traitance. </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Les postes de composant peuvent être :</a:t>
            </a:r>
          </a:p>
          <a:p>
            <a:pPr marL="171450" indent="-171450">
              <a:buFont typeface="Arial" panose="020B0604020202020204" pitchFamily="34" charset="0"/>
              <a:buChar char="•"/>
            </a:pP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 Saisis </a:t>
            </a:r>
            <a:r>
              <a:rPr lang="fr-FR" altLang="en-US" dirty="0">
                <a:latin typeface="Arial" panose="020B0604020202020204" pitchFamily="34" charset="0"/>
                <a:ea typeface="ＭＳ Ｐゴシック" panose="020B0600070205080204" pitchFamily="34" charset="-128"/>
                <a:cs typeface="Arial" panose="020B0604020202020204" pitchFamily="34" charset="0"/>
              </a:rPr>
              <a:t>ou modifiés manuellement ;</a:t>
            </a:r>
          </a:p>
          <a:p>
            <a:pPr marL="171450" indent="-171450">
              <a:buFont typeface="Arial" panose="020B0604020202020204" pitchFamily="34" charset="0"/>
              <a:buChar char="•"/>
            </a:pP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 </a:t>
            </a:r>
            <a:r>
              <a:rPr lang="fr-FR" altLang="en-US" dirty="0">
                <a:latin typeface="Arial" panose="020B0604020202020204" pitchFamily="34" charset="0"/>
                <a:ea typeface="ＭＳ Ｐゴシック" panose="020B0600070205080204" pitchFamily="34" charset="-128"/>
                <a:cs typeface="Arial" panose="020B0604020202020204" pitchFamily="34" charset="0"/>
              </a:rPr>
              <a:t>C</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opiés </a:t>
            </a:r>
            <a:r>
              <a:rPr lang="fr-FR" altLang="en-US" dirty="0">
                <a:latin typeface="Arial" panose="020B0604020202020204" pitchFamily="34" charset="0"/>
                <a:ea typeface="ＭＳ Ｐゴシック" panose="020B0600070205080204" pitchFamily="34" charset="-128"/>
                <a:cs typeface="Arial" panose="020B0604020202020204" pitchFamily="34" charset="0"/>
              </a:rPr>
              <a:t>à partir d'une nomenclature existante (éclatement de la nomenclature).</a:t>
            </a: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Sous-traitance</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1954648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275964" y="1615696"/>
            <a:ext cx="1469458" cy="991259"/>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ordre de réparation sous-traitée</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IW81</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Planificateur maintenance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3907426" y="1615696"/>
            <a:ext cx="1469458" cy="991259"/>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Lancer un RFQ</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ME41</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2091695" y="1615696"/>
            <a:ext cx="1469458" cy="991259"/>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les demandes de sous-traitance non affectées</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ME57</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 name="Connecteur en angle 5"/>
          <p:cNvCxnSpPr>
            <a:stCxn id="12" idx="3"/>
            <a:endCxn id="50" idx="1"/>
          </p:cNvCxnSpPr>
          <p:nvPr/>
        </p:nvCxnSpPr>
        <p:spPr>
          <a:xfrm>
            <a:off x="1745422" y="2182465"/>
            <a:ext cx="346273"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Connecteur en angle 9"/>
          <p:cNvCxnSpPr>
            <a:stCxn id="50" idx="3"/>
            <a:endCxn id="41" idx="1"/>
          </p:cNvCxnSpPr>
          <p:nvPr/>
        </p:nvCxnSpPr>
        <p:spPr>
          <a:xfrm>
            <a:off x="3561153" y="2182465"/>
            <a:ext cx="346273"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e 33"/>
          <p:cNvGrpSpPr/>
          <p:nvPr/>
        </p:nvGrpSpPr>
        <p:grpSpPr>
          <a:xfrm>
            <a:off x="5665059" y="1615696"/>
            <a:ext cx="1469458" cy="991259"/>
            <a:chOff x="1507778" y="2276353"/>
            <a:chExt cx="1258269" cy="754857"/>
          </a:xfrm>
        </p:grpSpPr>
        <p:sp>
          <p:nvSpPr>
            <p:cNvPr id="35" name="Rectangle 34"/>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Renseigner le contenu et les réponses des fournisseurs</a:t>
              </a:r>
              <a:endParaRPr lang="en-US" sz="800" dirty="0">
                <a:solidFill>
                  <a:schemeClr val="bg1"/>
                </a:solidFill>
                <a:latin typeface="Arial" pitchFamily="34" charset="0"/>
                <a:cs typeface="Arial" pitchFamily="34" charset="0"/>
              </a:endParaRPr>
            </a:p>
          </p:txBody>
        </p:sp>
        <p:sp>
          <p:nvSpPr>
            <p:cNvPr id="36" name="Rectangle 35"/>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ME47</a:t>
              </a:r>
              <a:endParaRPr lang="en-US" sz="800" b="1" dirty="0">
                <a:solidFill>
                  <a:schemeClr val="bg1"/>
                </a:solidFill>
                <a:latin typeface="Arial" panose="020B0604020202020204" pitchFamily="34" charset="0"/>
                <a:cs typeface="Arial" panose="020B0604020202020204" pitchFamily="34" charset="0"/>
              </a:endParaRPr>
            </a:p>
          </p:txBody>
        </p:sp>
        <p:sp>
          <p:nvSpPr>
            <p:cNvPr id="37" name="Rectangle 36"/>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38" name="Groupe 37"/>
          <p:cNvGrpSpPr/>
          <p:nvPr/>
        </p:nvGrpSpPr>
        <p:grpSpPr>
          <a:xfrm>
            <a:off x="7358392" y="1615696"/>
            <a:ext cx="1469458" cy="991259"/>
            <a:chOff x="1507778" y="2276353"/>
            <a:chExt cx="1258269" cy="754857"/>
          </a:xfrm>
        </p:grpSpPr>
        <p:sp>
          <p:nvSpPr>
            <p:cNvPr id="42" name="Rectangle 41"/>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la commande de sous-traitance</a:t>
              </a:r>
              <a:endParaRPr lang="en-US" sz="800" dirty="0">
                <a:solidFill>
                  <a:schemeClr val="bg1"/>
                </a:solidFill>
                <a:latin typeface="Arial" pitchFamily="34" charset="0"/>
                <a:cs typeface="Arial" pitchFamily="34" charset="0"/>
              </a:endParaRPr>
            </a:p>
          </p:txBody>
        </p:sp>
        <p:sp>
          <p:nvSpPr>
            <p:cNvPr id="44" name="Rectangle 43"/>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ME21N</a:t>
              </a:r>
              <a:endParaRPr lang="en-US" sz="800" b="1" dirty="0">
                <a:solidFill>
                  <a:schemeClr val="bg1"/>
                </a:solidFill>
                <a:latin typeface="Arial" panose="020B0604020202020204" pitchFamily="34" charset="0"/>
                <a:cs typeface="Arial" panose="020B0604020202020204" pitchFamily="34" charset="0"/>
              </a:endParaRPr>
            </a:p>
          </p:txBody>
        </p:sp>
        <p:sp>
          <p:nvSpPr>
            <p:cNvPr id="45" name="Rectangle 44"/>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54" name="Connecteur en angle 9"/>
          <p:cNvCxnSpPr>
            <a:stCxn id="41" idx="3"/>
            <a:endCxn id="36" idx="1"/>
          </p:cNvCxnSpPr>
          <p:nvPr/>
        </p:nvCxnSpPr>
        <p:spPr>
          <a:xfrm>
            <a:off x="5376884" y="2182465"/>
            <a:ext cx="288175"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eur en angle 9"/>
          <p:cNvCxnSpPr>
            <a:stCxn id="36" idx="3"/>
            <a:endCxn id="44" idx="1"/>
          </p:cNvCxnSpPr>
          <p:nvPr/>
        </p:nvCxnSpPr>
        <p:spPr>
          <a:xfrm>
            <a:off x="7134517" y="2182465"/>
            <a:ext cx="223875"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5349575" y="392287"/>
            <a:ext cx="3558128" cy="2193779"/>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3190497" y="982311"/>
            <a:ext cx="2069995" cy="1821596"/>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ME57 – Afficher les demande de sous-traitance</a:t>
            </a:r>
            <a:endParaRPr lang="en-US" dirty="0"/>
          </a:p>
        </p:txBody>
      </p:sp>
      <p:grpSp>
        <p:nvGrpSpPr>
          <p:cNvPr id="5" name="Groupe 4"/>
          <p:cNvGrpSpPr/>
          <p:nvPr/>
        </p:nvGrpSpPr>
        <p:grpSpPr>
          <a:xfrm>
            <a:off x="457200" y="1135703"/>
            <a:ext cx="4105529" cy="3231654"/>
            <a:chOff x="425491" y="1232489"/>
            <a:chExt cx="4105529" cy="3231654"/>
          </a:xfrm>
        </p:grpSpPr>
        <p:sp>
          <p:nvSpPr>
            <p:cNvPr id="6" name="ZoneTexte 5"/>
            <p:cNvSpPr txBox="1"/>
            <p:nvPr/>
          </p:nvSpPr>
          <p:spPr>
            <a:xfrm>
              <a:off x="581025" y="1232489"/>
              <a:ext cx="3949995" cy="3231654"/>
            </a:xfrm>
            <a:prstGeom prst="rect">
              <a:avLst/>
            </a:prstGeom>
            <a:noFill/>
          </p:spPr>
          <p:txBody>
            <a:bodyPr wrap="square" rtlCol="0">
              <a:spAutoFit/>
            </a:bodyPr>
            <a:lstStyle/>
            <a:p>
              <a:r>
                <a:rPr lang="fr-FR" sz="1200" dirty="0" smtClean="0">
                  <a:solidFill>
                    <a:srgbClr val="4D4F53"/>
                  </a:solidFill>
                </a:rPr>
                <a:t>Saisir groupe d’acheteurs</a:t>
              </a:r>
            </a:p>
            <a:p>
              <a:endParaRPr lang="fr-FR" sz="1200" dirty="0">
                <a:solidFill>
                  <a:srgbClr val="4D4F53"/>
                </a:solidFill>
              </a:endParaRPr>
            </a:p>
            <a:p>
              <a:r>
                <a:rPr lang="fr-FR" sz="1200" dirty="0" smtClean="0">
                  <a:solidFill>
                    <a:srgbClr val="4D4F53"/>
                  </a:solidFill>
                </a:rPr>
                <a:t>Saisir l’étendu de liste = A</a:t>
              </a:r>
            </a:p>
            <a:p>
              <a:endParaRPr lang="fr-FR" sz="1200" dirty="0">
                <a:solidFill>
                  <a:srgbClr val="4D4F53"/>
                </a:solidFill>
              </a:endParaRPr>
            </a:p>
            <a:p>
              <a:r>
                <a:rPr lang="fr-FR" sz="1200" dirty="0" smtClean="0">
                  <a:solidFill>
                    <a:srgbClr val="4D4F53"/>
                  </a:solidFill>
                </a:rPr>
                <a:t>Saisir la division</a:t>
              </a:r>
            </a:p>
            <a:p>
              <a:endParaRPr lang="fr-FR" sz="1200" dirty="0">
                <a:solidFill>
                  <a:srgbClr val="4D4F53"/>
                </a:solidFill>
              </a:endParaRPr>
            </a:p>
            <a:p>
              <a:r>
                <a:rPr lang="fr-FR" sz="1200" dirty="0" smtClean="0">
                  <a:solidFill>
                    <a:srgbClr val="4D4F53"/>
                  </a:solidFill>
                </a:rPr>
                <a:t>Saisir le type de poste « S »</a:t>
              </a:r>
            </a:p>
            <a:p>
              <a:endParaRPr lang="fr-FR" sz="1200" dirty="0">
                <a:solidFill>
                  <a:srgbClr val="4D4F53"/>
                </a:solidFill>
              </a:endParaRPr>
            </a:p>
            <a:p>
              <a:r>
                <a:rPr lang="fr-FR" sz="1200" dirty="0" smtClean="0">
                  <a:solidFill>
                    <a:srgbClr val="4D4F53"/>
                  </a:solidFill>
                </a:rPr>
                <a:t>Saisir le type d’imputation « F »</a:t>
              </a:r>
            </a:p>
            <a:p>
              <a:endParaRPr lang="fr-FR" sz="1200" dirty="0" smtClean="0">
                <a:solidFill>
                  <a:srgbClr val="4D4F53"/>
                </a:solidFill>
              </a:endParaRPr>
            </a:p>
            <a:p>
              <a:r>
                <a:rPr lang="fr-FR" sz="1200" dirty="0" smtClean="0">
                  <a:solidFill>
                    <a:srgbClr val="4D4F53"/>
                  </a:solidFill>
                </a:rPr>
                <a:t>Décocher</a:t>
              </a:r>
            </a:p>
            <a:p>
              <a:endParaRPr lang="fr-FR" sz="1200" dirty="0">
                <a:solidFill>
                  <a:srgbClr val="4D4F53"/>
                </a:solidFill>
              </a:endParaRPr>
            </a:p>
            <a:p>
              <a:r>
                <a:rPr lang="fr-FR" sz="1200" dirty="0" smtClean="0">
                  <a:solidFill>
                    <a:srgbClr val="4D4F53"/>
                  </a:solidFill>
                </a:rPr>
                <a:t>Exécuter la transaction en appuyant sur</a:t>
              </a:r>
            </a:p>
            <a:p>
              <a:endParaRPr lang="fr-FR" sz="1200" dirty="0">
                <a:solidFill>
                  <a:srgbClr val="4D4F53"/>
                </a:solidFill>
              </a:endParaRPr>
            </a:p>
            <a:p>
              <a:r>
                <a:rPr lang="fr-FR" sz="1200" dirty="0" smtClean="0">
                  <a:solidFill>
                    <a:srgbClr val="4D4F53"/>
                  </a:solidFill>
                </a:rPr>
                <a:t>Double cliquer sur la DA de sous-traitance </a:t>
              </a:r>
            </a:p>
            <a:p>
              <a:endParaRPr lang="fr-FR" sz="1200" dirty="0">
                <a:solidFill>
                  <a:srgbClr val="4D4F53"/>
                </a:solidFill>
              </a:endParaRPr>
            </a:p>
            <a:p>
              <a:r>
                <a:rPr lang="fr-FR" sz="1200" dirty="0" smtClean="0">
                  <a:solidFill>
                    <a:srgbClr val="4D4F53"/>
                  </a:solidFill>
                </a:rPr>
                <a:t>Onglet « Données article » : cliquer sur N° de série</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9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4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4015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5491" y="276487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2" name="Ellipse 31"/>
            <p:cNvSpPr/>
            <p:nvPr/>
          </p:nvSpPr>
          <p:spPr>
            <a:xfrm>
              <a:off x="425491" y="31239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3" name="Ellipse 32"/>
            <p:cNvSpPr/>
            <p:nvPr/>
          </p:nvSpPr>
          <p:spPr>
            <a:xfrm>
              <a:off x="425491" y="34963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6" name="Ellipse 35"/>
            <p:cNvSpPr/>
            <p:nvPr/>
          </p:nvSpPr>
          <p:spPr>
            <a:xfrm>
              <a:off x="425491" y="38519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9" name="Ellipse 48"/>
            <p:cNvSpPr/>
            <p:nvPr/>
          </p:nvSpPr>
          <p:spPr>
            <a:xfrm>
              <a:off x="425491" y="42244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pic>
        <p:nvPicPr>
          <p:cNvPr id="7" name="Image 6"/>
          <p:cNvPicPr>
            <a:picLocks noChangeAspect="1"/>
          </p:cNvPicPr>
          <p:nvPr/>
        </p:nvPicPr>
        <p:blipFill>
          <a:blip r:embed="rId4"/>
          <a:stretch>
            <a:fillRect/>
          </a:stretch>
        </p:blipFill>
        <p:spPr>
          <a:xfrm>
            <a:off x="3237381" y="3381629"/>
            <a:ext cx="190500" cy="190500"/>
          </a:xfrm>
          <a:prstGeom prst="rect">
            <a:avLst/>
          </a:prstGeom>
        </p:spPr>
      </p:pic>
      <p:sp>
        <p:nvSpPr>
          <p:cNvPr id="18" name="Ellipse 17"/>
          <p:cNvSpPr/>
          <p:nvPr/>
        </p:nvSpPr>
        <p:spPr>
          <a:xfrm>
            <a:off x="4890521" y="154475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4591925" y="1563225"/>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4890521" y="206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4591925" y="2079124"/>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5"/>
          <a:stretch>
            <a:fillRect/>
          </a:stretch>
        </p:blipFill>
        <p:spPr>
          <a:xfrm>
            <a:off x="1374530" y="3004429"/>
            <a:ext cx="1771650" cy="200025"/>
          </a:xfrm>
          <a:prstGeom prst="rect">
            <a:avLst/>
          </a:prstGeom>
        </p:spPr>
      </p:pic>
      <p:sp>
        <p:nvSpPr>
          <p:cNvPr id="22" name="Ellipse 21"/>
          <p:cNvSpPr/>
          <p:nvPr/>
        </p:nvSpPr>
        <p:spPr>
          <a:xfrm>
            <a:off x="4890521" y="219674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3" name="Rectangle 22"/>
          <p:cNvSpPr/>
          <p:nvPr/>
        </p:nvSpPr>
        <p:spPr>
          <a:xfrm>
            <a:off x="4591925" y="2215207"/>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4890521" y="24565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Rectangle 28"/>
          <p:cNvSpPr/>
          <p:nvPr/>
        </p:nvSpPr>
        <p:spPr>
          <a:xfrm>
            <a:off x="4591925" y="2475016"/>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890521" y="25765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1" name="Rectangle 30"/>
          <p:cNvSpPr/>
          <p:nvPr/>
        </p:nvSpPr>
        <p:spPr>
          <a:xfrm>
            <a:off x="4591925" y="2595023"/>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Ellipse 33"/>
          <p:cNvSpPr/>
          <p:nvPr/>
        </p:nvSpPr>
        <p:spPr>
          <a:xfrm>
            <a:off x="2973223" y="120253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5" name="Rectangle 34"/>
          <p:cNvSpPr/>
          <p:nvPr/>
        </p:nvSpPr>
        <p:spPr>
          <a:xfrm>
            <a:off x="3219360" y="1221002"/>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Ellipse 36"/>
          <p:cNvSpPr/>
          <p:nvPr/>
        </p:nvSpPr>
        <p:spPr>
          <a:xfrm>
            <a:off x="5152072" y="207843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38" name="Rectangle 37"/>
          <p:cNvSpPr/>
          <p:nvPr/>
        </p:nvSpPr>
        <p:spPr>
          <a:xfrm>
            <a:off x="5398209" y="2096900"/>
            <a:ext cx="614026" cy="1222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4" name="Image 13"/>
          <p:cNvPicPr>
            <a:picLocks noChangeAspect="1"/>
          </p:cNvPicPr>
          <p:nvPr/>
        </p:nvPicPr>
        <p:blipFill rotWithShape="1">
          <a:blip r:embed="rId6"/>
          <a:srcRect r="4597" b="19259"/>
          <a:stretch/>
        </p:blipFill>
        <p:spPr>
          <a:xfrm>
            <a:off x="5342708" y="2769881"/>
            <a:ext cx="3564995" cy="781401"/>
          </a:xfrm>
          <a:prstGeom prst="rect">
            <a:avLst/>
          </a:prstGeom>
          <a:ln>
            <a:solidFill>
              <a:schemeClr val="tx1"/>
            </a:solidFill>
          </a:ln>
          <a:effectLst>
            <a:outerShdw blurRad="50800" dist="38100" dir="2700000" algn="tl" rotWithShape="0">
              <a:prstClr val="black">
                <a:alpha val="40000"/>
              </a:prstClr>
            </a:outerShdw>
          </a:effectLst>
        </p:spPr>
      </p:pic>
      <p:sp>
        <p:nvSpPr>
          <p:cNvPr id="39" name="Ellipse 38"/>
          <p:cNvSpPr/>
          <p:nvPr/>
        </p:nvSpPr>
        <p:spPr>
          <a:xfrm>
            <a:off x="8439353" y="32482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40" name="Rectangle 39"/>
          <p:cNvSpPr/>
          <p:nvPr/>
        </p:nvSpPr>
        <p:spPr>
          <a:xfrm>
            <a:off x="8140757" y="3266679"/>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5" name="Image 14"/>
          <p:cNvPicPr>
            <a:picLocks noChangeAspect="1"/>
          </p:cNvPicPr>
          <p:nvPr/>
        </p:nvPicPr>
        <p:blipFill>
          <a:blip r:embed="rId7"/>
          <a:stretch>
            <a:fillRect/>
          </a:stretch>
        </p:blipFill>
        <p:spPr>
          <a:xfrm>
            <a:off x="5803048" y="3742520"/>
            <a:ext cx="2644316" cy="694072"/>
          </a:xfrm>
          <a:prstGeom prst="rect">
            <a:avLst/>
          </a:prstGeom>
          <a:ln>
            <a:solidFill>
              <a:schemeClr val="tx1"/>
            </a:solidFill>
          </a:ln>
          <a:effectLst>
            <a:outerShdw blurRad="50800" dist="38100" dir="2700000" algn="tl" rotWithShape="0">
              <a:prstClr val="black">
                <a:alpha val="40000"/>
              </a:prstClr>
            </a:outerShdw>
          </a:effectLst>
        </p:spPr>
      </p:pic>
      <p:cxnSp>
        <p:nvCxnSpPr>
          <p:cNvPr id="17" name="Connecteur en angle 16"/>
          <p:cNvCxnSpPr>
            <a:endCxn id="14" idx="0"/>
          </p:cNvCxnSpPr>
          <p:nvPr/>
        </p:nvCxnSpPr>
        <p:spPr>
          <a:xfrm flipH="1">
            <a:off x="7125206" y="2533288"/>
            <a:ext cx="3433" cy="236593"/>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eur en angle 40"/>
          <p:cNvCxnSpPr>
            <a:stCxn id="14" idx="2"/>
            <a:endCxn id="15" idx="0"/>
          </p:cNvCxnSpPr>
          <p:nvPr/>
        </p:nvCxnSpPr>
        <p:spPr>
          <a:xfrm>
            <a:off x="7125206" y="3551282"/>
            <a:ext cx="0" cy="191238"/>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7687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243670" y="1047011"/>
            <a:ext cx="3584642" cy="3246345"/>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a:t>ME41 - Créer </a:t>
            </a:r>
            <a:r>
              <a:rPr lang="fr-FR" altLang="en-US" dirty="0" smtClean="0"/>
              <a:t>un RFQ (avec référence à une Demande d’Achats) – 1/2</a:t>
            </a:r>
            <a:endParaRPr lang="en-US" altLang="en-US" dirty="0" smtClean="0"/>
          </a:p>
        </p:txBody>
      </p:sp>
      <p:sp>
        <p:nvSpPr>
          <p:cNvPr id="19" name="Rectangle 18"/>
          <p:cNvSpPr/>
          <p:nvPr/>
        </p:nvSpPr>
        <p:spPr>
          <a:xfrm>
            <a:off x="4805226" y="1257699"/>
            <a:ext cx="713655" cy="13396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Rectangle 24"/>
          <p:cNvSpPr/>
          <p:nvPr/>
        </p:nvSpPr>
        <p:spPr>
          <a:xfrm>
            <a:off x="5255394" y="2775346"/>
            <a:ext cx="263487" cy="1310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 name="Ellipse 6"/>
          <p:cNvSpPr/>
          <p:nvPr/>
        </p:nvSpPr>
        <p:spPr>
          <a:xfrm>
            <a:off x="5081901" y="27784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4" name="Ellipse 23"/>
          <p:cNvSpPr/>
          <p:nvPr/>
        </p:nvSpPr>
        <p:spPr>
          <a:xfrm>
            <a:off x="4625871" y="11671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nvGrpSpPr>
          <p:cNvPr id="33794" name="Groupe 33793"/>
          <p:cNvGrpSpPr/>
          <p:nvPr/>
        </p:nvGrpSpPr>
        <p:grpSpPr>
          <a:xfrm>
            <a:off x="487093" y="1549234"/>
            <a:ext cx="3194009" cy="2308324"/>
            <a:chOff x="425491" y="1232489"/>
            <a:chExt cx="3194009" cy="2308324"/>
          </a:xfrm>
        </p:grpSpPr>
        <p:sp>
          <p:nvSpPr>
            <p:cNvPr id="8" name="ZoneTexte 7"/>
            <p:cNvSpPr txBox="1"/>
            <p:nvPr/>
          </p:nvSpPr>
          <p:spPr>
            <a:xfrm>
              <a:off x="581025" y="1232489"/>
              <a:ext cx="3038475" cy="2308324"/>
            </a:xfrm>
            <a:prstGeom prst="rect">
              <a:avLst/>
            </a:prstGeom>
            <a:noFill/>
          </p:spPr>
          <p:txBody>
            <a:bodyPr wrap="square" rtlCol="0">
              <a:spAutoFit/>
            </a:bodyPr>
            <a:lstStyle/>
            <a:p>
              <a:r>
                <a:rPr lang="fr-FR" sz="1200" dirty="0" smtClean="0">
                  <a:solidFill>
                    <a:srgbClr val="4D4F53"/>
                  </a:solidFill>
                </a:rPr>
                <a:t>Indiquer un délai de soumission d’offre (date limite de réponse pour le fournisseur)</a:t>
              </a:r>
            </a:p>
            <a:p>
              <a:endParaRPr lang="fr-FR" sz="1200" dirty="0">
                <a:solidFill>
                  <a:srgbClr val="4D4F53"/>
                </a:solidFill>
              </a:endParaRPr>
            </a:p>
            <a:p>
              <a:r>
                <a:rPr lang="fr-FR" sz="1200" dirty="0" smtClean="0">
                  <a:solidFill>
                    <a:srgbClr val="4D4F53"/>
                  </a:solidFill>
                </a:rPr>
                <a:t>Choisir une Organisation d’Achats</a:t>
              </a:r>
            </a:p>
            <a:p>
              <a:endParaRPr lang="fr-FR" sz="1200" dirty="0">
                <a:solidFill>
                  <a:srgbClr val="4D4F53"/>
                </a:solidFill>
              </a:endParaRPr>
            </a:p>
            <a:p>
              <a:r>
                <a:rPr lang="fr-FR" sz="1200" dirty="0" smtClean="0">
                  <a:solidFill>
                    <a:srgbClr val="4D4F53"/>
                  </a:solidFill>
                </a:rPr>
                <a:t>Choisir un Groupe d’Acheteurs</a:t>
              </a:r>
            </a:p>
            <a:p>
              <a:endParaRPr lang="fr-FR" sz="1200" dirty="0">
                <a:solidFill>
                  <a:srgbClr val="4D4F53"/>
                </a:solidFill>
              </a:endParaRPr>
            </a:p>
            <a:p>
              <a:r>
                <a:rPr lang="fr-FR" sz="1200" dirty="0" smtClean="0">
                  <a:solidFill>
                    <a:srgbClr val="4D4F53"/>
                  </a:solidFill>
                </a:rPr>
                <a:t>Cliquer sur l’icone</a:t>
              </a:r>
            </a:p>
            <a:p>
              <a:endParaRPr lang="fr-FR" sz="1200" dirty="0">
                <a:solidFill>
                  <a:srgbClr val="4D4F53"/>
                </a:solidFill>
              </a:endParaRPr>
            </a:p>
            <a:p>
              <a:r>
                <a:rPr lang="fr-FR" sz="1200" dirty="0" smtClean="0">
                  <a:solidFill>
                    <a:srgbClr val="4D4F53"/>
                  </a:solidFill>
                </a:rPr>
                <a:t>Renseigner le numéro de la DA</a:t>
              </a:r>
            </a:p>
            <a:p>
              <a:endParaRPr lang="fr-FR" sz="1200" dirty="0">
                <a:solidFill>
                  <a:srgbClr val="4D4F53"/>
                </a:solidFill>
              </a:endParaRPr>
            </a:p>
            <a:p>
              <a:r>
                <a:rPr lang="fr-FR" sz="1200" dirty="0" smtClean="0">
                  <a:solidFill>
                    <a:srgbClr val="4D4F53"/>
                  </a:solidFill>
                </a:rPr>
                <a:t>Cliquer « Entrer »</a:t>
              </a:r>
            </a:p>
          </p:txBody>
        </p:sp>
        <p:pic>
          <p:nvPicPr>
            <p:cNvPr id="28" name="Image 27"/>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a:off x="1842259" y="2560088"/>
              <a:ext cx="809625" cy="180975"/>
            </a:xfrm>
            <a:prstGeom prst="rect">
              <a:avLst/>
            </a:prstGeom>
            <a:ln>
              <a:solidFill>
                <a:schemeClr val="tx1"/>
              </a:solidFill>
            </a:ln>
            <a:effectLst>
              <a:outerShdw blurRad="50800" dist="38100" dir="2700000" algn="tl" rotWithShape="0">
                <a:prstClr val="black">
                  <a:alpha val="40000"/>
                </a:prstClr>
              </a:outerShdw>
            </a:effectLst>
          </p:spPr>
        </p:pic>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5600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4" name="Ellipse 43"/>
            <p:cNvSpPr/>
            <p:nvPr/>
          </p:nvSpPr>
          <p:spPr>
            <a:xfrm>
              <a:off x="425491" y="29132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5" name="Ellipse 44"/>
            <p:cNvSpPr/>
            <p:nvPr/>
          </p:nvSpPr>
          <p:spPr>
            <a:xfrm>
              <a:off x="425491" y="32744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grpSp>
      <p:sp>
        <p:nvSpPr>
          <p:cNvPr id="32" name="Rectangle 31"/>
          <p:cNvSpPr/>
          <p:nvPr/>
        </p:nvSpPr>
        <p:spPr>
          <a:xfrm>
            <a:off x="5256841" y="2226405"/>
            <a:ext cx="534358" cy="12168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Ellipse 32"/>
          <p:cNvSpPr/>
          <p:nvPr/>
        </p:nvSpPr>
        <p:spPr>
          <a:xfrm>
            <a:off x="5099746" y="2144124"/>
            <a:ext cx="156136" cy="155298"/>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Rectangle 33"/>
          <p:cNvSpPr/>
          <p:nvPr/>
        </p:nvSpPr>
        <p:spPr>
          <a:xfrm>
            <a:off x="5255394" y="2928478"/>
            <a:ext cx="263487" cy="1310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Ellipse 34"/>
          <p:cNvSpPr/>
          <p:nvPr/>
        </p:nvSpPr>
        <p:spPr>
          <a:xfrm>
            <a:off x="5081901" y="29316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0" name="Rectangle 39"/>
          <p:cNvSpPr/>
          <p:nvPr/>
        </p:nvSpPr>
        <p:spPr>
          <a:xfrm>
            <a:off x="6753918" y="1827614"/>
            <a:ext cx="437458" cy="1056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Ellipse 41"/>
          <p:cNvSpPr/>
          <p:nvPr/>
        </p:nvSpPr>
        <p:spPr>
          <a:xfrm>
            <a:off x="6574562" y="174063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6" name="Rectangle 45"/>
          <p:cNvSpPr/>
          <p:nvPr/>
        </p:nvSpPr>
        <p:spPr>
          <a:xfrm>
            <a:off x="7296843" y="4065989"/>
            <a:ext cx="170757" cy="1056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7117487" y="39790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Tree>
    <p:extLst>
      <p:ext uri="{BB962C8B-B14F-4D97-AF65-F5344CB8AC3E}">
        <p14:creationId xmlns:p14="http://schemas.microsoft.com/office/powerpoint/2010/main" val="11921690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636892" y="1258338"/>
            <a:ext cx="3327177" cy="797458"/>
          </a:xfrm>
          <a:prstGeom prst="rect">
            <a:avLst/>
          </a:prstGeom>
          <a:ln>
            <a:solidFill>
              <a:schemeClr val="tx1"/>
            </a:solidFill>
          </a:ln>
          <a:effectLst>
            <a:outerShdw blurRad="50800" dist="38100" dir="2700000" algn="tl" rotWithShape="0">
              <a:prstClr val="black">
                <a:alpha val="40000"/>
              </a:prstClr>
            </a:outerShdw>
          </a:effectLst>
        </p:spPr>
      </p:pic>
      <p:sp>
        <p:nvSpPr>
          <p:cNvPr id="17" name="Rectangle 16"/>
          <p:cNvSpPr/>
          <p:nvPr/>
        </p:nvSpPr>
        <p:spPr>
          <a:xfrm>
            <a:off x="730944" y="1471729"/>
            <a:ext cx="679663" cy="17987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Rectangle 20"/>
          <p:cNvSpPr/>
          <p:nvPr/>
        </p:nvSpPr>
        <p:spPr>
          <a:xfrm>
            <a:off x="2926924" y="4011733"/>
            <a:ext cx="572040" cy="16913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0" name="Image 19"/>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58894" y="2255355"/>
            <a:ext cx="3418921" cy="2011456"/>
          </a:xfrm>
          <a:prstGeom prst="rect">
            <a:avLst/>
          </a:prstGeom>
          <a:ln>
            <a:solidFill>
              <a:schemeClr val="tx1"/>
            </a:solidFill>
          </a:ln>
          <a:effectLst>
            <a:outerShdw blurRad="50800" dist="38100" dir="2700000" algn="tl" rotWithShape="0">
              <a:prstClr val="black">
                <a:alpha val="40000"/>
              </a:prstClr>
            </a:outerShdw>
          </a:effectLst>
        </p:spPr>
      </p:pic>
      <p:sp>
        <p:nvSpPr>
          <p:cNvPr id="18" name="Rectangle 17"/>
          <p:cNvSpPr/>
          <p:nvPr/>
        </p:nvSpPr>
        <p:spPr>
          <a:xfrm>
            <a:off x="1105907" y="2427498"/>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0" name="Image 9"/>
          <p:cNvPicPr>
            <a:picLocks noChangeAspect="1"/>
          </p:cNvPicPr>
          <p:nvPr/>
        </p:nvPicPr>
        <p:blipFill rotWithShape="1">
          <a:blip r:embed="rId4" cstate="email">
            <a:extLst>
              <a:ext uri="{28A0092B-C50C-407E-A947-70E740481C1C}">
                <a14:useLocalDpi xmlns:a14="http://schemas.microsoft.com/office/drawing/2010/main" val="0"/>
              </a:ext>
            </a:extLst>
          </a:blip>
          <a:srcRect/>
          <a:stretch/>
        </p:blipFill>
        <p:spPr>
          <a:xfrm>
            <a:off x="1613429" y="2953038"/>
            <a:ext cx="2907758" cy="1509020"/>
          </a:xfrm>
          <a:prstGeom prst="rect">
            <a:avLst/>
          </a:prstGeom>
          <a:ln>
            <a:solidFill>
              <a:schemeClr val="tx1"/>
            </a:solidFill>
          </a:ln>
          <a:effectLst>
            <a:outerShdw blurRad="50800" dist="38100" dir="2700000" algn="tl" rotWithShape="0">
              <a:prstClr val="black">
                <a:alpha val="40000"/>
              </a:prstClr>
            </a:outerShdw>
          </a:effectLst>
        </p:spPr>
      </p:pic>
      <p:sp>
        <p:nvSpPr>
          <p:cNvPr id="19" name="Rectangle 18"/>
          <p:cNvSpPr/>
          <p:nvPr/>
        </p:nvSpPr>
        <p:spPr>
          <a:xfrm>
            <a:off x="1885682" y="3117561"/>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7" name="Image 6"/>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793440" y="3248048"/>
            <a:ext cx="3453565" cy="918999"/>
          </a:xfrm>
          <a:prstGeom prst="rect">
            <a:avLst/>
          </a:prstGeom>
          <a:ln>
            <a:solidFill>
              <a:schemeClr val="tx1"/>
            </a:solidFill>
          </a:ln>
          <a:effectLst>
            <a:outerShdw blurRad="50800" dist="38100" dir="2700000" algn="tl" rotWithShape="0">
              <a:prstClr val="black">
                <a:alpha val="40000"/>
              </a:prstClr>
            </a:outerShdw>
          </a:effectLst>
        </p:spPr>
      </p:pic>
      <p:pic>
        <p:nvPicPr>
          <p:cNvPr id="8" name="Image 7"/>
          <p:cNvPicPr>
            <a:picLocks noChangeAspect="1"/>
          </p:cNvPicPr>
          <p:nvPr/>
        </p:nvPicPr>
        <p:blipFill rotWithShape="1">
          <a:blip r:embed="rId6" cstate="email">
            <a:extLst>
              <a:ext uri="{28A0092B-C50C-407E-A947-70E740481C1C}">
                <a14:useLocalDpi xmlns:a14="http://schemas.microsoft.com/office/drawing/2010/main" val="0"/>
              </a:ext>
            </a:extLst>
          </a:blip>
          <a:srcRect/>
          <a:stretch/>
        </p:blipFill>
        <p:spPr>
          <a:xfrm>
            <a:off x="5657150" y="4266811"/>
            <a:ext cx="2589855" cy="222960"/>
          </a:xfrm>
          <a:prstGeom prst="rect">
            <a:avLst/>
          </a:prstGeom>
          <a:ln>
            <a:solidFill>
              <a:schemeClr val="tx1"/>
            </a:solidFill>
          </a:ln>
          <a:effectLst>
            <a:outerShdw blurRad="50800" dist="38100" dir="2700000" algn="tl" rotWithShape="0">
              <a:prstClr val="black">
                <a:alpha val="40000"/>
              </a:prstClr>
            </a:outerShdw>
          </a:effectLst>
        </p:spPr>
      </p:pic>
      <p:sp>
        <p:nvSpPr>
          <p:cNvPr id="22" name="Rectangle 21"/>
          <p:cNvSpPr/>
          <p:nvPr/>
        </p:nvSpPr>
        <p:spPr>
          <a:xfrm>
            <a:off x="766075" y="1830272"/>
            <a:ext cx="3197994" cy="1343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4033552" y="3872836"/>
            <a:ext cx="414967"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5479717" y="3952145"/>
            <a:ext cx="456464"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Ellipse 26"/>
          <p:cNvSpPr/>
          <p:nvPr/>
        </p:nvSpPr>
        <p:spPr>
          <a:xfrm>
            <a:off x="545348" y="18201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8" name="Ellipse 27"/>
          <p:cNvSpPr/>
          <p:nvPr/>
        </p:nvSpPr>
        <p:spPr>
          <a:xfrm>
            <a:off x="545348" y="14843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9" name="Ellipse 28"/>
          <p:cNvSpPr/>
          <p:nvPr/>
        </p:nvSpPr>
        <p:spPr>
          <a:xfrm>
            <a:off x="1100928" y="26631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30" name="Ellipse 29"/>
          <p:cNvSpPr/>
          <p:nvPr/>
        </p:nvSpPr>
        <p:spPr>
          <a:xfrm>
            <a:off x="4135873" y="36655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1" name="Ellipse 30"/>
          <p:cNvSpPr/>
          <p:nvPr/>
        </p:nvSpPr>
        <p:spPr>
          <a:xfrm>
            <a:off x="1885682" y="334364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2" name="Ellipse 31"/>
          <p:cNvSpPr/>
          <p:nvPr/>
        </p:nvSpPr>
        <p:spPr>
          <a:xfrm>
            <a:off x="5289988" y="39417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3" name="Ellipse 32"/>
          <p:cNvSpPr/>
          <p:nvPr/>
        </p:nvSpPr>
        <p:spPr>
          <a:xfrm>
            <a:off x="5446124" y="43278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cxnSp>
        <p:nvCxnSpPr>
          <p:cNvPr id="6" name="Connecteur en angle 5"/>
          <p:cNvCxnSpPr>
            <a:endCxn id="20" idx="0"/>
          </p:cNvCxnSpPr>
          <p:nvPr/>
        </p:nvCxnSpPr>
        <p:spPr>
          <a:xfrm>
            <a:off x="1410609" y="1539243"/>
            <a:ext cx="957746" cy="716112"/>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eur en angle 33"/>
          <p:cNvCxnSpPr>
            <a:stCxn id="18" idx="3"/>
            <a:endCxn id="10" idx="1"/>
          </p:cNvCxnSpPr>
          <p:nvPr/>
        </p:nvCxnSpPr>
        <p:spPr>
          <a:xfrm>
            <a:off x="1257064" y="2507913"/>
            <a:ext cx="356365" cy="1199635"/>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eur en angle 35"/>
          <p:cNvCxnSpPr>
            <a:stCxn id="19" idx="3"/>
            <a:endCxn id="7" idx="1"/>
          </p:cNvCxnSpPr>
          <p:nvPr/>
        </p:nvCxnSpPr>
        <p:spPr>
          <a:xfrm>
            <a:off x="2036839" y="3197976"/>
            <a:ext cx="2756601" cy="509572"/>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Connecteur en angle 42"/>
          <p:cNvCxnSpPr>
            <a:endCxn id="8" idx="0"/>
          </p:cNvCxnSpPr>
          <p:nvPr/>
        </p:nvCxnSpPr>
        <p:spPr>
          <a:xfrm>
            <a:off x="5942674" y="4019013"/>
            <a:ext cx="1009404" cy="247798"/>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ZoneTexte 46"/>
          <p:cNvSpPr txBox="1"/>
          <p:nvPr/>
        </p:nvSpPr>
        <p:spPr>
          <a:xfrm>
            <a:off x="4776520" y="1077585"/>
            <a:ext cx="4114318" cy="1869743"/>
          </a:xfrm>
          <a:prstGeom prst="rect">
            <a:avLst/>
          </a:prstGeom>
          <a:noFill/>
        </p:spPr>
        <p:txBody>
          <a:bodyPr wrap="square" rtlCol="0">
            <a:spAutoFit/>
          </a:bodyPr>
          <a:lstStyle/>
          <a:p>
            <a:pPr>
              <a:lnSpc>
                <a:spcPct val="150000"/>
              </a:lnSpc>
            </a:pPr>
            <a:r>
              <a:rPr lang="fr-FR" sz="1100" dirty="0" smtClean="0">
                <a:solidFill>
                  <a:srgbClr val="4D4F53"/>
                </a:solidFill>
              </a:rPr>
              <a:t>Sélectionner la ligne</a:t>
            </a:r>
          </a:p>
          <a:p>
            <a:pPr>
              <a:lnSpc>
                <a:spcPct val="150000"/>
              </a:lnSpc>
            </a:pPr>
            <a:r>
              <a:rPr lang="fr-FR" sz="1100" dirty="0" smtClean="0">
                <a:solidFill>
                  <a:srgbClr val="4D4F53"/>
                </a:solidFill>
              </a:rPr>
              <a:t>Cliquer sur le bouton</a:t>
            </a:r>
          </a:p>
          <a:p>
            <a:pPr>
              <a:lnSpc>
                <a:spcPct val="150000"/>
              </a:lnSpc>
            </a:pPr>
            <a:r>
              <a:rPr lang="fr-FR" sz="1100" dirty="0" smtClean="0">
                <a:solidFill>
                  <a:srgbClr val="4D4F53"/>
                </a:solidFill>
              </a:rPr>
              <a:t>Vérifier les données et cliquer sur le bouton « Données d’en-tête »</a:t>
            </a:r>
          </a:p>
          <a:p>
            <a:pPr>
              <a:lnSpc>
                <a:spcPct val="150000"/>
              </a:lnSpc>
            </a:pPr>
            <a:r>
              <a:rPr lang="fr-FR" sz="1100" dirty="0" smtClean="0">
                <a:solidFill>
                  <a:srgbClr val="4D4F53"/>
                </a:solidFill>
              </a:rPr>
              <a:t>Saisir un Numéro de Soumission</a:t>
            </a:r>
          </a:p>
          <a:p>
            <a:pPr>
              <a:lnSpc>
                <a:spcPct val="150000"/>
              </a:lnSpc>
            </a:pPr>
            <a:r>
              <a:rPr lang="fr-FR" sz="1100" dirty="0" smtClean="0">
                <a:solidFill>
                  <a:srgbClr val="4D4F53"/>
                </a:solidFill>
              </a:rPr>
              <a:t>Cliquer sur le bouton « Données fournisseur »</a:t>
            </a:r>
          </a:p>
          <a:p>
            <a:pPr>
              <a:lnSpc>
                <a:spcPct val="150000"/>
              </a:lnSpc>
            </a:pPr>
            <a:r>
              <a:rPr lang="fr-FR" sz="1100" dirty="0" smtClean="0">
                <a:solidFill>
                  <a:srgbClr val="4D4F53"/>
                </a:solidFill>
              </a:rPr>
              <a:t>Sélectionner un fournisseur</a:t>
            </a:r>
          </a:p>
          <a:p>
            <a:pPr>
              <a:lnSpc>
                <a:spcPct val="150000"/>
              </a:lnSpc>
            </a:pPr>
            <a:r>
              <a:rPr lang="fr-FR" sz="1100" dirty="0" smtClean="0">
                <a:solidFill>
                  <a:srgbClr val="4D4F53"/>
                </a:solidFill>
              </a:rPr>
              <a:t>Sauvegarder avec l’icône      : un message de confirmation apparaît</a:t>
            </a:r>
          </a:p>
        </p:txBody>
      </p:sp>
      <p:sp>
        <p:nvSpPr>
          <p:cNvPr id="49" name="Ellipse 48"/>
          <p:cNvSpPr/>
          <p:nvPr/>
        </p:nvSpPr>
        <p:spPr>
          <a:xfrm>
            <a:off x="4628930" y="11967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0" name="Ellipse 49"/>
          <p:cNvSpPr/>
          <p:nvPr/>
        </p:nvSpPr>
        <p:spPr>
          <a:xfrm>
            <a:off x="4628930" y="14473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1" name="Ellipse 50"/>
          <p:cNvSpPr/>
          <p:nvPr/>
        </p:nvSpPr>
        <p:spPr>
          <a:xfrm>
            <a:off x="4632245" y="16980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52" name="Ellipse 51"/>
          <p:cNvSpPr/>
          <p:nvPr/>
        </p:nvSpPr>
        <p:spPr>
          <a:xfrm>
            <a:off x="4637716" y="19487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53" name="Image 52"/>
          <p:cNvPicPr>
            <a:picLocks noChangeAspect="1"/>
          </p:cNvPicPr>
          <p:nvPr/>
        </p:nvPicPr>
        <p:blipFill rotWithShape="1">
          <a:blip r:embed="rId7">
            <a:extLst>
              <a:ext uri="{28A0092B-C50C-407E-A947-70E740481C1C}">
                <a14:useLocalDpi xmlns:a14="http://schemas.microsoft.com/office/drawing/2010/main" val="0"/>
              </a:ext>
            </a:extLst>
          </a:blip>
          <a:srcRect/>
          <a:stretch/>
        </p:blipFill>
        <p:spPr>
          <a:xfrm>
            <a:off x="6108562" y="1427441"/>
            <a:ext cx="623455" cy="159327"/>
          </a:xfrm>
          <a:prstGeom prst="rect">
            <a:avLst/>
          </a:prstGeom>
          <a:ln>
            <a:solidFill>
              <a:schemeClr val="tx1"/>
            </a:solidFill>
          </a:ln>
          <a:effectLst>
            <a:outerShdw blurRad="50800" dist="38100" dir="2700000" algn="tl" rotWithShape="0">
              <a:prstClr val="black">
                <a:alpha val="40000"/>
              </a:prstClr>
            </a:outerShdw>
          </a:effectLst>
        </p:spPr>
      </p:pic>
      <p:sp>
        <p:nvSpPr>
          <p:cNvPr id="58" name="Ellipse 57"/>
          <p:cNvSpPr/>
          <p:nvPr/>
        </p:nvSpPr>
        <p:spPr>
          <a:xfrm>
            <a:off x="4637716" y="21994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59" name="Ellipse 58"/>
          <p:cNvSpPr/>
          <p:nvPr/>
        </p:nvSpPr>
        <p:spPr>
          <a:xfrm>
            <a:off x="4637716" y="24501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60" name="Ellipse 59"/>
          <p:cNvSpPr/>
          <p:nvPr/>
        </p:nvSpPr>
        <p:spPr>
          <a:xfrm>
            <a:off x="4637716" y="27008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
        <p:nvSpPr>
          <p:cNvPr id="62"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ME41 - Créer </a:t>
            </a:r>
            <a:r>
              <a:rPr lang="fr-FR" altLang="en-US" dirty="0" smtClean="0"/>
              <a:t>un RFQ (avec référence à une Demande d’Achats) – 2/2</a:t>
            </a:r>
            <a:endParaRPr lang="en-US" altLang="en-US" dirty="0" smtClean="0"/>
          </a:p>
        </p:txBody>
      </p:sp>
      <p:pic>
        <p:nvPicPr>
          <p:cNvPr id="2" name="Image 1"/>
          <p:cNvPicPr>
            <a:picLocks noChangeAspect="1"/>
          </p:cNvPicPr>
          <p:nvPr/>
        </p:nvPicPr>
        <p:blipFill rotWithShape="1">
          <a:blip r:embed="rId8">
            <a:extLst>
              <a:ext uri="{28A0092B-C50C-407E-A947-70E740481C1C}">
                <a14:useLocalDpi xmlns:a14="http://schemas.microsoft.com/office/drawing/2010/main" val="0"/>
              </a:ext>
            </a:extLst>
          </a:blip>
          <a:srcRect/>
          <a:stretch/>
        </p:blipFill>
        <p:spPr>
          <a:xfrm>
            <a:off x="6298406" y="2705100"/>
            <a:ext cx="145257" cy="142875"/>
          </a:xfrm>
          <a:prstGeom prst="rect">
            <a:avLst/>
          </a:prstGeom>
        </p:spPr>
      </p:pic>
    </p:spTree>
    <p:extLst>
      <p:ext uri="{BB962C8B-B14F-4D97-AF65-F5344CB8AC3E}">
        <p14:creationId xmlns:p14="http://schemas.microsoft.com/office/powerpoint/2010/main" val="11826102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ME47 </a:t>
            </a:r>
            <a:r>
              <a:rPr lang="fr-FR" altLang="en-US" dirty="0"/>
              <a:t>– </a:t>
            </a:r>
            <a:r>
              <a:rPr lang="fr-FR" altLang="en-US" dirty="0" smtClean="0"/>
              <a:t>Gérer une Offre : Saisir l’Offre fournisseur dans un RFQ</a:t>
            </a:r>
            <a:endParaRPr lang="en-US" dirty="0"/>
          </a:p>
        </p:txBody>
      </p:sp>
      <p:pic>
        <p:nvPicPr>
          <p:cNvPr id="4" name="Image 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361950" y="1145571"/>
            <a:ext cx="1428750" cy="774936"/>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377" y="1989032"/>
            <a:ext cx="4144126" cy="1069904"/>
          </a:xfrm>
          <a:prstGeom prst="rect">
            <a:avLst/>
          </a:prstGeom>
          <a:ln>
            <a:solidFill>
              <a:schemeClr val="tx1"/>
            </a:solidFill>
          </a:ln>
          <a:effectLst>
            <a:outerShdw blurRad="50800" dist="38100" dir="2700000" algn="tl" rotWithShape="0">
              <a:prstClr val="black">
                <a:alpha val="40000"/>
              </a:prstClr>
            </a:outerShdw>
          </a:effectLst>
        </p:spPr>
      </p:pic>
      <p:pic>
        <p:nvPicPr>
          <p:cNvPr id="5" name="Image 4"/>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64331" y="3124200"/>
            <a:ext cx="2852738" cy="1203960"/>
          </a:xfrm>
          <a:prstGeom prst="rect">
            <a:avLst/>
          </a:prstGeom>
          <a:ln>
            <a:solidFill>
              <a:schemeClr val="tx1"/>
            </a:solidFill>
          </a:ln>
          <a:effectLst>
            <a:outerShdw blurRad="50800" dist="38100" dir="2700000" algn="tl" rotWithShape="0">
              <a:prstClr val="black">
                <a:alpha val="40000"/>
              </a:prstClr>
            </a:outerShdw>
          </a:effectLst>
        </p:spPr>
      </p:pic>
      <p:sp>
        <p:nvSpPr>
          <p:cNvPr id="7" name="Rectangle 6"/>
          <p:cNvSpPr/>
          <p:nvPr/>
        </p:nvSpPr>
        <p:spPr>
          <a:xfrm>
            <a:off x="348290" y="1744992"/>
            <a:ext cx="1013786"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 name="Ellipse 8"/>
          <p:cNvSpPr/>
          <p:nvPr/>
        </p:nvSpPr>
        <p:spPr>
          <a:xfrm>
            <a:off x="1365290" y="17257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10" name="Connecteur en angle 9"/>
          <p:cNvCxnSpPr>
            <a:stCxn id="7" idx="1"/>
            <a:endCxn id="3" idx="1"/>
          </p:cNvCxnSpPr>
          <p:nvPr/>
        </p:nvCxnSpPr>
        <p:spPr>
          <a:xfrm rot="10800000" flipH="1" flipV="1">
            <a:off x="348289" y="1811048"/>
            <a:ext cx="318087" cy="712936"/>
          </a:xfrm>
          <a:prstGeom prst="bentConnector3">
            <a:avLst>
              <a:gd name="adj1" fmla="val -71867"/>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027928" y="2166637"/>
            <a:ext cx="148915"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4" name="Connecteur en angle 13"/>
          <p:cNvCxnSpPr>
            <a:stCxn id="12" idx="3"/>
            <a:endCxn id="5" idx="3"/>
          </p:cNvCxnSpPr>
          <p:nvPr/>
        </p:nvCxnSpPr>
        <p:spPr>
          <a:xfrm>
            <a:off x="2176843" y="2232693"/>
            <a:ext cx="1040226" cy="1493487"/>
          </a:xfrm>
          <a:prstGeom prst="bentConnector3">
            <a:avLst>
              <a:gd name="adj1" fmla="val 121976"/>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368540" y="4180907"/>
            <a:ext cx="1115165" cy="10918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8" name="Ellipse 17"/>
          <p:cNvSpPr/>
          <p:nvPr/>
        </p:nvSpPr>
        <p:spPr>
          <a:xfrm>
            <a:off x="1844040" y="21554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9" name="Ellipse 18"/>
          <p:cNvSpPr/>
          <p:nvPr/>
        </p:nvSpPr>
        <p:spPr>
          <a:xfrm>
            <a:off x="2511457" y="41596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0" name="ZoneTexte 19"/>
          <p:cNvSpPr txBox="1"/>
          <p:nvPr/>
        </p:nvSpPr>
        <p:spPr>
          <a:xfrm>
            <a:off x="5354868" y="1797514"/>
            <a:ext cx="3331932" cy="1938992"/>
          </a:xfrm>
          <a:prstGeom prst="rect">
            <a:avLst/>
          </a:prstGeom>
          <a:noFill/>
        </p:spPr>
        <p:txBody>
          <a:bodyPr wrap="square" rtlCol="0">
            <a:spAutoFit/>
          </a:bodyPr>
          <a:lstStyle/>
          <a:p>
            <a:r>
              <a:rPr lang="fr-FR" sz="1200" dirty="0" smtClean="0">
                <a:solidFill>
                  <a:srgbClr val="4D4F53"/>
                </a:solidFill>
              </a:rPr>
              <a:t>Renseigner le numéro de RFQ sur lequel nous souhaitons renseigner la réponse fournisseur</a:t>
            </a:r>
          </a:p>
          <a:p>
            <a:endParaRPr lang="fr-FR" sz="1200" dirty="0">
              <a:solidFill>
                <a:srgbClr val="4D4F53"/>
              </a:solidFill>
            </a:endParaRPr>
          </a:p>
          <a:p>
            <a:r>
              <a:rPr lang="fr-FR" sz="1200" dirty="0" smtClean="0">
                <a:solidFill>
                  <a:srgbClr val="4D4F53"/>
                </a:solidFill>
              </a:rPr>
              <a:t>Cliquer sur l’icône « Conditions du poste »</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Saisir les conditions du fournisseur dans la devise adéquate</a:t>
            </a:r>
          </a:p>
          <a:p>
            <a:endParaRPr lang="fr-FR" sz="1200" dirty="0">
              <a:solidFill>
                <a:srgbClr val="4D4F53"/>
              </a:solidFill>
            </a:endParaRPr>
          </a:p>
          <a:p>
            <a:r>
              <a:rPr lang="fr-FR" sz="1200" dirty="0" smtClean="0">
                <a:solidFill>
                  <a:srgbClr val="4D4F53"/>
                </a:solidFill>
              </a:rPr>
              <a:t>Sauvegarder avec l’icône      : </a:t>
            </a:r>
            <a:br>
              <a:rPr lang="fr-FR" sz="1200" dirty="0" smtClean="0">
                <a:solidFill>
                  <a:srgbClr val="4D4F53"/>
                </a:solidFill>
              </a:rPr>
            </a:br>
            <a:r>
              <a:rPr lang="fr-FR" sz="1200" dirty="0" smtClean="0">
                <a:solidFill>
                  <a:srgbClr val="4D4F53"/>
                </a:solidFill>
              </a:rPr>
              <a:t>un message de confirmation apparaît</a:t>
            </a:r>
            <a:endParaRPr lang="fr-FR" sz="1200" dirty="0">
              <a:solidFill>
                <a:srgbClr val="4D4F53"/>
              </a:solidFill>
            </a:endParaRPr>
          </a:p>
        </p:txBody>
      </p:sp>
      <p:sp>
        <p:nvSpPr>
          <p:cNvPr id="21" name="Ellipse 20"/>
          <p:cNvSpPr/>
          <p:nvPr/>
        </p:nvSpPr>
        <p:spPr>
          <a:xfrm>
            <a:off x="5186969" y="185213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186969" y="240824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186969" y="277739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26" name="Image 25"/>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7003805" y="3315143"/>
            <a:ext cx="159783" cy="157163"/>
          </a:xfrm>
          <a:prstGeom prst="rect">
            <a:avLst/>
          </a:prstGeom>
        </p:spPr>
      </p:pic>
      <p:pic>
        <p:nvPicPr>
          <p:cNvPr id="27" name="Imag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8411" y="2399112"/>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28" name="Ellipse 27"/>
          <p:cNvSpPr/>
          <p:nvPr/>
        </p:nvSpPr>
        <p:spPr>
          <a:xfrm>
            <a:off x="5186969" y="332039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Tree>
    <p:extLst>
      <p:ext uri="{BB962C8B-B14F-4D97-AF65-F5344CB8AC3E}">
        <p14:creationId xmlns:p14="http://schemas.microsoft.com/office/powerpoint/2010/main" val="2118530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3604406" y="2224686"/>
            <a:ext cx="5005398" cy="2044915"/>
          </a:xfrm>
          <a:prstGeom prst="rect">
            <a:avLst/>
          </a:prstGeom>
          <a:ln>
            <a:solidFill>
              <a:schemeClr val="tx1"/>
            </a:solidFill>
          </a:ln>
          <a:effectLst>
            <a:outerShdw blurRad="50800" dist="38100" dir="2700000" algn="tl" rotWithShape="0">
              <a:prstClr val="black">
                <a:alpha val="40000"/>
              </a:prstClr>
            </a:outerShdw>
          </a:effectLst>
        </p:spPr>
      </p:pic>
      <p:pic>
        <p:nvPicPr>
          <p:cNvPr id="53" name="Image 52"/>
          <p:cNvPicPr>
            <a:picLocks noChangeAspect="1"/>
          </p:cNvPicPr>
          <p:nvPr/>
        </p:nvPicPr>
        <p:blipFill>
          <a:blip r:embed="rId4"/>
          <a:stretch>
            <a:fillRect/>
          </a:stretch>
        </p:blipFill>
        <p:spPr>
          <a:xfrm>
            <a:off x="3342106" y="3830581"/>
            <a:ext cx="3543677" cy="723399"/>
          </a:xfrm>
          <a:prstGeom prst="rect">
            <a:avLst/>
          </a:prstGeom>
          <a:ln>
            <a:solidFill>
              <a:schemeClr val="tx1"/>
            </a:solidFill>
          </a:ln>
          <a:effectLst>
            <a:outerShdw blurRad="50800" dist="38100" dir="2700000" algn="tl" rotWithShape="0">
              <a:prstClr val="black">
                <a:alpha val="40000"/>
              </a:prstClr>
            </a:outerShdw>
          </a:effectLst>
        </p:spPr>
      </p:pic>
      <p:pic>
        <p:nvPicPr>
          <p:cNvPr id="36" name="Image 35"/>
          <p:cNvPicPr>
            <a:picLocks noChangeAspect="1"/>
          </p:cNvPicPr>
          <p:nvPr/>
        </p:nvPicPr>
        <p:blipFill rotWithShape="1">
          <a:blip r:embed="rId5"/>
          <a:srcRect b="19527"/>
          <a:stretch/>
        </p:blipFill>
        <p:spPr>
          <a:xfrm>
            <a:off x="6260041" y="153258"/>
            <a:ext cx="2217854" cy="2341599"/>
          </a:xfrm>
          <a:prstGeom prst="rect">
            <a:avLst/>
          </a:prstGeom>
          <a:ln>
            <a:solidFill>
              <a:schemeClr val="tx1"/>
            </a:solidFill>
          </a:ln>
          <a:effectLst>
            <a:outerShdw blurRad="50800" dist="38100" dir="2700000" algn="tl" rotWithShape="0">
              <a:prstClr val="black">
                <a:alpha val="40000"/>
              </a:prstClr>
            </a:outerShdw>
          </a:effectLst>
        </p:spPr>
      </p:pic>
      <p:pic>
        <p:nvPicPr>
          <p:cNvPr id="15" name="Image 14"/>
          <p:cNvPicPr>
            <a:picLocks noChangeAspect="1"/>
          </p:cNvPicPr>
          <p:nvPr/>
        </p:nvPicPr>
        <p:blipFill>
          <a:blip r:embed="rId6"/>
          <a:stretch>
            <a:fillRect/>
          </a:stretch>
        </p:blipFill>
        <p:spPr>
          <a:xfrm>
            <a:off x="3697500" y="1040931"/>
            <a:ext cx="2146882" cy="1008385"/>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ME21N – Créer la commande d’achat</a:t>
            </a:r>
            <a:endParaRPr lang="en-US" dirty="0"/>
          </a:p>
        </p:txBody>
      </p:sp>
      <p:grpSp>
        <p:nvGrpSpPr>
          <p:cNvPr id="5" name="Groupe 4"/>
          <p:cNvGrpSpPr/>
          <p:nvPr/>
        </p:nvGrpSpPr>
        <p:grpSpPr>
          <a:xfrm>
            <a:off x="457200" y="1114862"/>
            <a:ext cx="2987057" cy="3262432"/>
            <a:chOff x="425491" y="1232489"/>
            <a:chExt cx="2987057" cy="3262432"/>
          </a:xfrm>
        </p:grpSpPr>
        <p:sp>
          <p:nvSpPr>
            <p:cNvPr id="6" name="ZoneTexte 5"/>
            <p:cNvSpPr txBox="1"/>
            <p:nvPr/>
          </p:nvSpPr>
          <p:spPr>
            <a:xfrm>
              <a:off x="581025" y="1232489"/>
              <a:ext cx="2831523" cy="3262432"/>
            </a:xfrm>
            <a:prstGeom prst="rect">
              <a:avLst/>
            </a:prstGeom>
            <a:noFill/>
          </p:spPr>
          <p:txBody>
            <a:bodyPr wrap="square" rtlCol="0">
              <a:spAutoFit/>
            </a:bodyPr>
            <a:lstStyle/>
            <a:p>
              <a:pPr>
                <a:spcAft>
                  <a:spcPts val="600"/>
                </a:spcAft>
              </a:pPr>
              <a:r>
                <a:rPr lang="fr-FR" sz="1200" dirty="0" smtClean="0">
                  <a:solidFill>
                    <a:srgbClr val="4D4F53"/>
                  </a:solidFill>
                </a:rPr>
                <a:t>Cliquer sur </a:t>
              </a:r>
            </a:p>
            <a:p>
              <a:pPr>
                <a:spcAft>
                  <a:spcPts val="600"/>
                </a:spcAft>
              </a:pPr>
              <a:r>
                <a:rPr lang="fr-FR" sz="1200" dirty="0" smtClean="0">
                  <a:solidFill>
                    <a:srgbClr val="4D4F53"/>
                  </a:solidFill>
                </a:rPr>
                <a:t>Renseigner le document d’achat (RFQ)</a:t>
              </a:r>
            </a:p>
            <a:p>
              <a:pPr>
                <a:spcAft>
                  <a:spcPts val="600"/>
                </a:spcAft>
              </a:pPr>
              <a:r>
                <a:rPr lang="fr-FR" sz="1200" dirty="0" smtClean="0">
                  <a:solidFill>
                    <a:srgbClr val="4D4F53"/>
                  </a:solidFill>
                </a:rPr>
                <a:t>Cliquer « Exécuter »</a:t>
              </a:r>
            </a:p>
            <a:p>
              <a:pPr>
                <a:spcAft>
                  <a:spcPts val="600"/>
                </a:spcAft>
              </a:pPr>
              <a:r>
                <a:rPr lang="fr-FR" sz="1200" dirty="0" smtClean="0">
                  <a:solidFill>
                    <a:srgbClr val="4D4F53"/>
                  </a:solidFill>
                </a:rPr>
                <a:t>Glisser le RFQ dans le panier</a:t>
              </a:r>
            </a:p>
            <a:p>
              <a:pPr>
                <a:spcAft>
                  <a:spcPts val="600"/>
                </a:spcAft>
              </a:pPr>
              <a:r>
                <a:rPr lang="fr-FR" sz="1200" dirty="0" smtClean="0">
                  <a:solidFill>
                    <a:srgbClr val="4D4F53"/>
                  </a:solidFill>
                </a:rPr>
                <a:t>Utiliser le type de commandes ZSPO</a:t>
              </a:r>
            </a:p>
            <a:p>
              <a:pPr>
                <a:spcAft>
                  <a:spcPts val="600"/>
                </a:spcAft>
              </a:pPr>
              <a:r>
                <a:rPr lang="fr-FR" sz="1200" dirty="0" smtClean="0">
                  <a:solidFill>
                    <a:srgbClr val="4D4F53"/>
                  </a:solidFill>
                </a:rPr>
                <a:t>Sélectionner le poste</a:t>
              </a:r>
              <a:endParaRPr lang="fr-FR" sz="1200" dirty="0">
                <a:solidFill>
                  <a:srgbClr val="4D4F53"/>
                </a:solidFill>
              </a:endParaRPr>
            </a:p>
            <a:p>
              <a:pPr>
                <a:spcAft>
                  <a:spcPts val="600"/>
                </a:spcAft>
              </a:pPr>
              <a:r>
                <a:rPr lang="fr-FR" sz="1200" dirty="0" smtClean="0">
                  <a:solidFill>
                    <a:srgbClr val="4D4F53"/>
                  </a:solidFill>
                </a:rPr>
                <a:t>Cliquer sur « Lister N° série » </a:t>
              </a:r>
            </a:p>
            <a:p>
              <a:pPr>
                <a:spcAft>
                  <a:spcPts val="600"/>
                </a:spcAft>
              </a:pPr>
              <a:r>
                <a:rPr lang="fr-FR" sz="1200" dirty="0" smtClean="0">
                  <a:solidFill>
                    <a:srgbClr val="4D4F53"/>
                  </a:solidFill>
                </a:rPr>
                <a:t>Cliquer sur retour</a:t>
              </a:r>
              <a:endParaRPr lang="fr-FR" sz="1200" dirty="0">
                <a:solidFill>
                  <a:srgbClr val="4D4F53"/>
                </a:solidFill>
              </a:endParaRPr>
            </a:p>
            <a:p>
              <a:pPr>
                <a:spcAft>
                  <a:spcPts val="600"/>
                </a:spcAft>
              </a:pPr>
              <a:r>
                <a:rPr lang="fr-FR" sz="1200" dirty="0" smtClean="0">
                  <a:solidFill>
                    <a:srgbClr val="4D4F53"/>
                  </a:solidFill>
                </a:rPr>
                <a:t>Cliquer sur « contrôler »        et confirmer les messages</a:t>
              </a:r>
            </a:p>
            <a:p>
              <a:pPr>
                <a:spcAft>
                  <a:spcPts val="600"/>
                </a:spcAft>
              </a:pPr>
              <a:r>
                <a:rPr lang="fr-FR" sz="1200" dirty="0" smtClean="0">
                  <a:solidFill>
                    <a:srgbClr val="4D4F53"/>
                  </a:solidFill>
                </a:rPr>
                <a:t>Sauvegarder en cliquant sur       et valider la sauvegarde si besoin</a:t>
              </a:r>
            </a:p>
            <a:p>
              <a:pPr>
                <a:spcAft>
                  <a:spcPts val="600"/>
                </a:spcAft>
              </a:pPr>
              <a:r>
                <a:rPr lang="fr-FR" sz="1200" dirty="0" smtClean="0">
                  <a:solidFill>
                    <a:srgbClr val="4D4F53"/>
                  </a:solidFill>
                </a:rPr>
                <a:t>Un message de confirmation apparaît</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5515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180807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08129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3411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5" name="Ellipse 34"/>
            <p:cNvSpPr/>
            <p:nvPr/>
          </p:nvSpPr>
          <p:spPr>
            <a:xfrm>
              <a:off x="425491" y="26009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5" name="Ellipse 44"/>
            <p:cNvSpPr/>
            <p:nvPr/>
          </p:nvSpPr>
          <p:spPr>
            <a:xfrm>
              <a:off x="425491" y="28529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6" name="Ellipse 45"/>
            <p:cNvSpPr/>
            <p:nvPr/>
          </p:nvSpPr>
          <p:spPr>
            <a:xfrm>
              <a:off x="425491" y="30854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9" name="Ellipse 48"/>
            <p:cNvSpPr/>
            <p:nvPr/>
          </p:nvSpPr>
          <p:spPr>
            <a:xfrm>
              <a:off x="425491" y="33541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52" name="Ellipse 51"/>
            <p:cNvSpPr/>
            <p:nvPr/>
          </p:nvSpPr>
          <p:spPr>
            <a:xfrm>
              <a:off x="425491" y="37936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sp>
          <p:nvSpPr>
            <p:cNvPr id="54" name="Ellipse 53"/>
            <p:cNvSpPr/>
            <p:nvPr/>
          </p:nvSpPr>
          <p:spPr>
            <a:xfrm>
              <a:off x="425491" y="42373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p>
          </p:txBody>
        </p:sp>
      </p:grpSp>
      <p:sp>
        <p:nvSpPr>
          <p:cNvPr id="18" name="Ellipse 17"/>
          <p:cNvSpPr/>
          <p:nvPr/>
        </p:nvSpPr>
        <p:spPr>
          <a:xfrm>
            <a:off x="4692873" y="16639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3819713" y="1682383"/>
            <a:ext cx="873159" cy="1361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8291523" y="22719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7612714" y="2293970"/>
            <a:ext cx="611938"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6119729" y="3698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Rectangle 28"/>
          <p:cNvSpPr/>
          <p:nvPr/>
        </p:nvSpPr>
        <p:spPr>
          <a:xfrm>
            <a:off x="6335394" y="376636"/>
            <a:ext cx="160273"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3" name="Image 12"/>
          <p:cNvPicPr>
            <a:picLocks noChangeAspect="1"/>
          </p:cNvPicPr>
          <p:nvPr/>
        </p:nvPicPr>
        <p:blipFill>
          <a:blip r:embed="rId7"/>
          <a:stretch>
            <a:fillRect/>
          </a:stretch>
        </p:blipFill>
        <p:spPr>
          <a:xfrm>
            <a:off x="1503781" y="1151520"/>
            <a:ext cx="1838325" cy="190500"/>
          </a:xfrm>
          <a:prstGeom prst="rect">
            <a:avLst/>
          </a:prstGeom>
        </p:spPr>
      </p:pic>
      <p:sp>
        <p:nvSpPr>
          <p:cNvPr id="26" name="Ellipse 25"/>
          <p:cNvSpPr/>
          <p:nvPr/>
        </p:nvSpPr>
        <p:spPr>
          <a:xfrm>
            <a:off x="4291868" y="28603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Rectangle 26"/>
          <p:cNvSpPr/>
          <p:nvPr/>
        </p:nvSpPr>
        <p:spPr>
          <a:xfrm>
            <a:off x="3776179" y="2867137"/>
            <a:ext cx="422430" cy="11217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Ellipse 31"/>
          <p:cNvSpPr/>
          <p:nvPr/>
        </p:nvSpPr>
        <p:spPr>
          <a:xfrm>
            <a:off x="5918825" y="22364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3" name="Rectangle 32"/>
          <p:cNvSpPr/>
          <p:nvPr/>
        </p:nvSpPr>
        <p:spPr>
          <a:xfrm>
            <a:off x="5353486" y="2271841"/>
            <a:ext cx="56533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8" name="Image 37"/>
          <p:cNvPicPr>
            <a:picLocks noChangeAspect="1"/>
          </p:cNvPicPr>
          <p:nvPr/>
        </p:nvPicPr>
        <p:blipFill>
          <a:blip r:embed="rId8"/>
          <a:stretch>
            <a:fillRect/>
          </a:stretch>
        </p:blipFill>
        <p:spPr>
          <a:xfrm>
            <a:off x="2249625" y="3251875"/>
            <a:ext cx="190500" cy="190500"/>
          </a:xfrm>
          <a:prstGeom prst="rect">
            <a:avLst/>
          </a:prstGeom>
        </p:spPr>
      </p:pic>
      <p:pic>
        <p:nvPicPr>
          <p:cNvPr id="39" name="Image 38"/>
          <p:cNvPicPr>
            <a:picLocks noChangeAspect="1"/>
          </p:cNvPicPr>
          <p:nvPr/>
        </p:nvPicPr>
        <p:blipFill>
          <a:blip r:embed="rId9"/>
          <a:stretch>
            <a:fillRect/>
          </a:stretch>
        </p:blipFill>
        <p:spPr>
          <a:xfrm>
            <a:off x="2440125" y="3706337"/>
            <a:ext cx="200025" cy="171450"/>
          </a:xfrm>
          <a:prstGeom prst="rect">
            <a:avLst/>
          </a:prstGeom>
        </p:spPr>
      </p:pic>
      <p:pic>
        <p:nvPicPr>
          <p:cNvPr id="47" name="Image 46"/>
          <p:cNvPicPr>
            <a:picLocks noChangeAspect="1"/>
          </p:cNvPicPr>
          <p:nvPr/>
        </p:nvPicPr>
        <p:blipFill>
          <a:blip r:embed="rId10"/>
          <a:stretch>
            <a:fillRect/>
          </a:stretch>
        </p:blipFill>
        <p:spPr>
          <a:xfrm>
            <a:off x="5910238" y="4597603"/>
            <a:ext cx="2933700" cy="266700"/>
          </a:xfrm>
          <a:prstGeom prst="rect">
            <a:avLst/>
          </a:prstGeom>
        </p:spPr>
      </p:pic>
      <p:sp>
        <p:nvSpPr>
          <p:cNvPr id="48" name="Ellipse 47"/>
          <p:cNvSpPr/>
          <p:nvPr/>
        </p:nvSpPr>
        <p:spPr>
          <a:xfrm>
            <a:off x="5757727" y="464282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endParaRPr lang="fr-FR" sz="800" b="1" dirty="0">
              <a:solidFill>
                <a:schemeClr val="bg1"/>
              </a:solidFill>
            </a:endParaRPr>
          </a:p>
        </p:txBody>
      </p:sp>
      <p:sp>
        <p:nvSpPr>
          <p:cNvPr id="40" name="Ellipse 39"/>
          <p:cNvSpPr/>
          <p:nvPr/>
        </p:nvSpPr>
        <p:spPr>
          <a:xfrm>
            <a:off x="5233113" y="348060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1" name="Rectangle 40"/>
          <p:cNvSpPr/>
          <p:nvPr/>
        </p:nvSpPr>
        <p:spPr>
          <a:xfrm>
            <a:off x="5448778" y="3487415"/>
            <a:ext cx="3161026" cy="1001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0" name="Ellipse 49"/>
          <p:cNvSpPr/>
          <p:nvPr/>
        </p:nvSpPr>
        <p:spPr>
          <a:xfrm>
            <a:off x="8389620" y="39319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1" name="Rectangle 50"/>
          <p:cNvSpPr/>
          <p:nvPr/>
        </p:nvSpPr>
        <p:spPr>
          <a:xfrm>
            <a:off x="8389620" y="4096904"/>
            <a:ext cx="220184" cy="1001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4" name="Image 3"/>
          <p:cNvPicPr>
            <a:picLocks noChangeAspect="1"/>
          </p:cNvPicPr>
          <p:nvPr/>
        </p:nvPicPr>
        <p:blipFill>
          <a:blip r:embed="rId11"/>
          <a:stretch>
            <a:fillRect/>
          </a:stretch>
        </p:blipFill>
        <p:spPr>
          <a:xfrm>
            <a:off x="2571558" y="2670917"/>
            <a:ext cx="209550" cy="266700"/>
          </a:xfrm>
          <a:prstGeom prst="rect">
            <a:avLst/>
          </a:prstGeom>
        </p:spPr>
      </p:pic>
      <p:pic>
        <p:nvPicPr>
          <p:cNvPr id="7" name="Image 6"/>
          <p:cNvPicPr>
            <a:picLocks noChangeAspect="1"/>
          </p:cNvPicPr>
          <p:nvPr/>
        </p:nvPicPr>
        <p:blipFill>
          <a:blip r:embed="rId12"/>
          <a:stretch>
            <a:fillRect/>
          </a:stretch>
        </p:blipFill>
        <p:spPr>
          <a:xfrm>
            <a:off x="1837995" y="2958653"/>
            <a:ext cx="190500" cy="200025"/>
          </a:xfrm>
          <a:prstGeom prst="rect">
            <a:avLst/>
          </a:prstGeom>
        </p:spPr>
      </p:pic>
      <p:cxnSp>
        <p:nvCxnSpPr>
          <p:cNvPr id="14" name="Connecteur en angle 13"/>
          <p:cNvCxnSpPr>
            <a:stCxn id="51" idx="2"/>
          </p:cNvCxnSpPr>
          <p:nvPr/>
        </p:nvCxnSpPr>
        <p:spPr>
          <a:xfrm rot="5400000">
            <a:off x="7602626" y="3480207"/>
            <a:ext cx="180245" cy="1613929"/>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6" name="Connecteur en angle 55"/>
          <p:cNvCxnSpPr>
            <a:stCxn id="15" idx="3"/>
            <a:endCxn id="36" idx="1"/>
          </p:cNvCxnSpPr>
          <p:nvPr/>
        </p:nvCxnSpPr>
        <p:spPr>
          <a:xfrm flipV="1">
            <a:off x="5844382" y="1324058"/>
            <a:ext cx="415659" cy="221066"/>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5040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75645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commande de sous-traitance à partir d’une demande d’achat lancée d’un ordre de travail de maintenance</a:t>
            </a:r>
          </a:p>
        </p:txBody>
      </p:sp>
    </p:spTree>
    <p:extLst>
      <p:ext uri="{BB962C8B-B14F-4D97-AF65-F5344CB8AC3E}">
        <p14:creationId xmlns:p14="http://schemas.microsoft.com/office/powerpoint/2010/main" val="1563309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4"/>
            <a:ext cx="8229600" cy="33051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gestion de la sous-traitance s’inscrit dans le cadre du processus Achats :</a:t>
            </a:r>
            <a:endParaRPr lang="fr-FR"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Une demande de sous-traitance est créée automatiquement à partir d’un OT de réparation sous-traité, avec envoi de la pièce au fournisseur</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Les Achats lancent un RFQ suite à la réception de la DA, puis créent la commande d’achats après sélection du fournisseur</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 numéro de série, qui permet de distinguer l’article à réparer, est requis dans une demande ou une commande de sous-traitance. Il n’est néanmoins par requis dans un RFQ</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Une sous-traitance Outre-mer </a:t>
            </a:r>
            <a:r>
              <a:rPr lang="fr-FR" altLang="en-US" sz="1400" dirty="0">
                <a:latin typeface="Arial" panose="020B0604020202020204" pitchFamily="34" charset="0"/>
                <a:ea typeface="ＭＳ Ｐゴシック" panose="020B0600070205080204" pitchFamily="34" charset="-128"/>
                <a:cs typeface="Arial" panose="020B0604020202020204" pitchFamily="34" charset="0"/>
              </a:rPr>
              <a:t>se traduit dans le système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par :</a:t>
            </a: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479904" lvl="2" indent="-171450">
              <a:buClr>
                <a:srgbClr val="0070C0"/>
              </a:buClr>
              <a:buSzPct val="100000"/>
            </a:pPr>
            <a:r>
              <a:rPr lang="fr-FR" altLang="en-US" sz="1400" dirty="0">
                <a:latin typeface="Arial" panose="020B0604020202020204" pitchFamily="34" charset="0"/>
                <a:ea typeface="ＭＳ Ｐゴシック" panose="020B0600070205080204" pitchFamily="34" charset="-128"/>
                <a:cs typeface="Arial" panose="020B0604020202020204" pitchFamily="34" charset="0"/>
              </a:rPr>
              <a:t>Une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commande de transfert de la Guinée vers l’outre-mer</a:t>
            </a:r>
          </a:p>
          <a:p>
            <a:pPr marL="479904" lvl="2" indent="-171450">
              <a:buClr>
                <a:srgbClr val="0070C0"/>
              </a:buClr>
              <a:buSzPct val="100000"/>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Une commande de sous-traitance outre-mer</a:t>
            </a: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479904" lvl="2" indent="-171450">
              <a:buClr>
                <a:srgbClr val="0070C0"/>
              </a:buClr>
              <a:buSzPct val="100000"/>
            </a:pPr>
            <a:r>
              <a:rPr lang="fr-FR" altLang="en-US" sz="1400" dirty="0">
                <a:latin typeface="Arial" panose="020B0604020202020204" pitchFamily="34" charset="0"/>
                <a:ea typeface="ＭＳ Ｐゴシック" panose="020B0600070205080204" pitchFamily="34" charset="-128"/>
                <a:cs typeface="Arial" panose="020B0604020202020204" pitchFamily="34" charset="0"/>
              </a:rPr>
              <a:t>Une commande de transfert de l’outre mer vers la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Guinée</a:t>
            </a: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VHEKTECQ7ECW-1532981086-4384</_dlc_DocId>
    <_dlc_DocIdUrl xmlns="f36dd47d-0b23-43fd-9b2d-c5346ffa1660">
      <Url>http://projets.cbg-guinee.com/erp/_layouts/15/DocIdRedir.aspx?ID=VHEKTECQ7ECW-1532981086-4384</Url>
      <Description>VHEKTECQ7ECW-1532981086-4384</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146128-628D-4A54-9925-0877BEA2AFBD}"/>
</file>

<file path=customXml/itemProps2.xml><?xml version="1.0" encoding="utf-8"?>
<ds:datastoreItem xmlns:ds="http://schemas.openxmlformats.org/officeDocument/2006/customXml" ds:itemID="{E76FC063-CF01-4B2A-9247-8F6F2E9A9050}"/>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1023</Words>
  <Application>Microsoft Office PowerPoint</Application>
  <PresentationFormat>Affichage à l'écran (16:9)</PresentationFormat>
  <Paragraphs>256</Paragraphs>
  <Slides>22</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Commandes d’Achat</vt:lpstr>
      <vt:lpstr>Description du processus métier Un sous processus de la gestion des demandes d’achat</vt:lpstr>
      <vt:lpstr>Le processus gestion des commandes de sous-traitance</vt:lpstr>
      <vt:lpstr>Présentation PowerPoint</vt:lpstr>
      <vt:lpstr>Description des objets SAP</vt:lpstr>
      <vt:lpstr>Description des objets SAP</vt:lpstr>
      <vt:lpstr>Description des objets SAP</vt:lpstr>
      <vt:lpstr>Mode opératoire Présentation du mode opératoire dans SAP</vt:lpstr>
      <vt:lpstr>Mode opératoire ME57 – Afficher les demande de sous-traitance</vt:lpstr>
      <vt:lpstr>Mode opératoire ME41 - Créer un RFQ (avec référence à une Demande d’Achats) – 1/2</vt:lpstr>
      <vt:lpstr>Mode opératoire ME41 - Créer un RFQ (avec référence à une Demande d’Achats) – 2/2</vt:lpstr>
      <vt:lpstr>Mode opératoire ME47 – Gérer une Offre : Saisir l’Offre fournisseur dans un RFQ</vt:lpstr>
      <vt:lpstr>Mode opératoire ME21N – Créer la commande d’achat</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3776</cp:revision>
  <cp:lastPrinted>2015-12-10T15:58:02Z</cp:lastPrinted>
  <dcterms:created xsi:type="dcterms:W3CDTF">2012-05-17T14:14:37Z</dcterms:created>
  <dcterms:modified xsi:type="dcterms:W3CDTF">2015-12-21T15:03:53Z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5dadaefa-bb5a-4b11-92a3-5b24ab9fdb5c</vt:lpwstr>
  </property>
</Properties>
</file>