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s/slide24.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6.xml" ContentType="application/vnd.openxmlformats-officedocument.presentationml.notesSlid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1"/>
  </p:notesMasterIdLst>
  <p:handoutMasterIdLst>
    <p:handoutMasterId r:id="rId32"/>
  </p:handoutMasterIdLst>
  <p:sldIdLst>
    <p:sldId id="685" r:id="rId5"/>
    <p:sldId id="686" r:id="rId6"/>
    <p:sldId id="687" r:id="rId7"/>
    <p:sldId id="688" r:id="rId8"/>
    <p:sldId id="723" r:id="rId9"/>
    <p:sldId id="691" r:id="rId10"/>
    <p:sldId id="692" r:id="rId11"/>
    <p:sldId id="803" r:id="rId12"/>
    <p:sldId id="804" r:id="rId13"/>
    <p:sldId id="805" r:id="rId14"/>
    <p:sldId id="724" r:id="rId15"/>
    <p:sldId id="696" r:id="rId16"/>
    <p:sldId id="796" r:id="rId17"/>
    <p:sldId id="790" r:id="rId18"/>
    <p:sldId id="794" r:id="rId19"/>
    <p:sldId id="789" r:id="rId20"/>
    <p:sldId id="775" r:id="rId21"/>
    <p:sldId id="798" r:id="rId22"/>
    <p:sldId id="780" r:id="rId23"/>
    <p:sldId id="777" r:id="rId24"/>
    <p:sldId id="779" r:id="rId25"/>
    <p:sldId id="791" r:id="rId26"/>
    <p:sldId id="745" r:id="rId27"/>
    <p:sldId id="725" r:id="rId28"/>
    <p:sldId id="710" r:id="rId29"/>
    <p:sldId id="728" r:id="rId30"/>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xmlns="">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D3D5FF"/>
    <a:srgbClr val="A7ABFF"/>
    <a:srgbClr val="C5C8FF"/>
    <a:srgbClr val="004376"/>
    <a:srgbClr val="F3F4FF"/>
    <a:srgbClr val="E7E8FF"/>
    <a:srgbClr val="4C9BD3"/>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87411" autoAdjust="0"/>
  </p:normalViewPr>
  <p:slideViewPr>
    <p:cSldViewPr snapToGrid="0" snapToObjects="1">
      <p:cViewPr varScale="1">
        <p:scale>
          <a:sx n="99" d="100"/>
          <a:sy n="99" d="100"/>
        </p:scale>
        <p:origin x="-570" y="-84"/>
      </p:cViewPr>
      <p:guideLst>
        <p:guide orient="horz" pos="3049"/>
        <p:guide orient="horz" pos="1880"/>
        <p:guide orient="horz" pos="89"/>
        <p:guide orient="horz" pos="480"/>
        <p:guide orient="horz" pos="719"/>
        <p:guide orient="horz" pos="16"/>
        <p:guide orient="horz" pos="671"/>
        <p:guide pos="178"/>
        <p:guide pos="2881"/>
        <p:guide pos="557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customXml" Target="../customXml/item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1/29/2016</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29.01.2016</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11</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13</a:t>
            </a:fld>
            <a:endParaRPr lang="de-DE" dirty="0"/>
          </a:p>
        </p:txBody>
      </p:sp>
    </p:spTree>
    <p:extLst>
      <p:ext uri="{BB962C8B-B14F-4D97-AF65-F5344CB8AC3E}">
        <p14:creationId xmlns:p14="http://schemas.microsoft.com/office/powerpoint/2010/main" val="255629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3C26ED65-54EF-4DE1-A434-72CD553BB447}" type="slidenum">
              <a:rPr lang="de-DE" smtClean="0"/>
              <a:t>15</a:t>
            </a:fld>
            <a:endParaRPr lang="de-DE" dirty="0"/>
          </a:p>
        </p:txBody>
      </p:sp>
    </p:spTree>
    <p:extLst>
      <p:ext uri="{BB962C8B-B14F-4D97-AF65-F5344CB8AC3E}">
        <p14:creationId xmlns:p14="http://schemas.microsoft.com/office/powerpoint/2010/main" val="881735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23</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1018779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24</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29/01/2016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Logistique</a:t>
            </a:r>
            <a:endParaRPr lang="fr-FR" sz="3200" b="1" dirty="0">
              <a:solidFill>
                <a:srgbClr val="0070C0"/>
              </a:solidFill>
              <a:latin typeface="Arial" charset="0"/>
              <a:cs typeface="Arial" charset="0"/>
            </a:endParaRPr>
          </a:p>
          <a:p>
            <a:r>
              <a:rPr lang="fr-FR" sz="2000" b="1" dirty="0" smtClean="0">
                <a:solidFill>
                  <a:srgbClr val="0070C0"/>
                </a:solidFill>
                <a:latin typeface="Arial" charset="0"/>
                <a:cs typeface="Arial" charset="0"/>
              </a:rPr>
              <a:t>Module06.01</a:t>
            </a:r>
          </a:p>
          <a:p>
            <a:r>
              <a:rPr lang="fr-FR" sz="2000" b="1" dirty="0" smtClean="0">
                <a:solidFill>
                  <a:srgbClr val="0070C0"/>
                </a:solidFill>
                <a:latin typeface="Arial" charset="0"/>
                <a:cs typeface="Arial" charset="0"/>
              </a:rPr>
              <a:t>Création et traitement d’une réservation</a:t>
            </a:r>
            <a:endParaRPr lang="fr-FR" sz="1400" b="1" dirty="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effectuer une réservation manuellement</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Effectuer une sortie de marchandises en référence à une réservation</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Comprendre l’état des stock dans WM et MM</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Comprendre le mécanisme d’ordre de transfert pour les magasins WM</a:t>
            </a: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une réservation de stock</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Visualiser la synthèse des stocks MM</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Effectuer une sortie de marchandises en référence à une réservation</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Créer, imprimer et confirmer un ordre de transfert</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Visualiser la synthèse des stocks WM</a:t>
            </a:r>
          </a:p>
          <a:p>
            <a:pPr marL="67866"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1</a:t>
              </a:r>
              <a:r>
                <a:rPr lang="fr-FR" sz="900" dirty="0" smtClean="0">
                  <a:solidFill>
                    <a:schemeClr val="tx1"/>
                  </a:solidFill>
                  <a:latin typeface="Arial" pitchFamily="34" charset="0"/>
                  <a:cs typeface="Arial" pitchFamily="34" charset="0"/>
                </a:rPr>
                <a:t> Heure 30 </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Magasinier Guinée</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Coordonnateur magasin</a:t>
              </a: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a:t>
            </a:r>
            <a:r>
              <a:rPr lang="fr-FR" altLang="en-US" dirty="0" smtClean="0"/>
              <a:t>1h30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1609126098"/>
              </p:ext>
            </p:extLst>
          </p:nvPr>
        </p:nvGraphicFramePr>
        <p:xfrm>
          <a:off x="2758033" y="1291506"/>
          <a:ext cx="3627934" cy="2142491"/>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8h05</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txBody>
                  <a:tcPr marL="68566" marR="68566" marT="34292" marB="34292" anchor="ctr">
                    <a:solidFill>
                      <a:srgbClr val="E7E8FF"/>
                    </a:solidFill>
                  </a:tcPr>
                </a:tc>
              </a:tr>
              <a:tr h="611060">
                <a:tc>
                  <a:txBody>
                    <a:bodyPr/>
                    <a:lstStyle/>
                    <a:p>
                      <a:pPr algn="ctr"/>
                      <a:r>
                        <a:rPr lang="fr-FR" sz="900" dirty="0" smtClean="0"/>
                        <a:t>8h05 – 8h15</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Description du processus</a:t>
                      </a:r>
                      <a:r>
                        <a:rPr lang="fr-FR" sz="900" baseline="0" dirty="0" smtClean="0"/>
                        <a:t> métier</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10 min</a:t>
                      </a:r>
                    </a:p>
                  </a:txBody>
                  <a:tcPr marL="68566" marR="68566" marT="34292" marB="34292" anchor="ctr">
                    <a:solidFill>
                      <a:srgbClr val="F3F4FF"/>
                    </a:solidFill>
                  </a:tcPr>
                </a:tc>
              </a:tr>
              <a:tr h="785649">
                <a:tc>
                  <a:txBody>
                    <a:bodyPr/>
                    <a:lstStyle/>
                    <a:p>
                      <a:pPr algn="ctr"/>
                      <a:r>
                        <a:rPr lang="fr-FR" sz="900" dirty="0" smtClean="0"/>
                        <a:t>8h15– 9h25</a:t>
                      </a:r>
                      <a:endParaRPr lang="fr-FR" sz="900" dirty="0" smtClean="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Création</a:t>
                      </a:r>
                      <a:r>
                        <a:rPr lang="fr-FR" sz="900" baseline="0" dirty="0" smtClean="0"/>
                        <a:t> et traitement d’une réservation</a:t>
                      </a:r>
                    </a:p>
                    <a:p>
                      <a:pPr marL="171450" indent="-171450">
                        <a:lnSpc>
                          <a:spcPct val="100000"/>
                        </a:lnSpc>
                        <a:spcBef>
                          <a:spcPts val="0"/>
                        </a:spcBef>
                        <a:spcAft>
                          <a:spcPts val="0"/>
                        </a:spcAft>
                        <a:buFont typeface="Arial" panose="020B0604020202020204" pitchFamily="34" charset="0"/>
                        <a:buChar char="•"/>
                      </a:pPr>
                      <a:r>
                        <a:rPr lang="fr-FR" sz="900" dirty="0" smtClean="0"/>
                        <a:t>Présentation : 30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40 min</a:t>
                      </a:r>
                    </a:p>
                  </a:txBody>
                  <a:tcPr marL="68566" marR="68566" marT="34292" marB="34292" anchor="ctr">
                    <a:solidFill>
                      <a:srgbClr val="E7E8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a:t>Les sorties sur objet analytique se font de manière régulière dans le cadre des activités de la CBG</a:t>
            </a:r>
            <a:r>
              <a:rPr lang="fr-FR" dirty="0" smtClean="0"/>
              <a:t>.</a:t>
            </a:r>
          </a:p>
          <a:p>
            <a:r>
              <a:rPr lang="fr-FR" dirty="0"/>
              <a:t>Elles correspondent à la sortie d’un article valorisé en stock (donc non approvisionné en charge directe) sans référence à un Ordre de Travail, avec imputation sur un Centre de Coût ou un Projet</a:t>
            </a:r>
            <a:r>
              <a:rPr lang="fr-FR" dirty="0" smtClean="0"/>
              <a:t>.</a:t>
            </a:r>
          </a:p>
          <a:p>
            <a:r>
              <a:rPr lang="fr-FR" dirty="0"/>
              <a:t>Parmi les cas d’utilisation, nous trouvons (liste non exhaustive) </a:t>
            </a:r>
            <a:r>
              <a:rPr lang="fr-FR" dirty="0" smtClean="0"/>
              <a:t>:</a:t>
            </a:r>
            <a:r>
              <a:rPr lang="en-US" dirty="0" smtClean="0"/>
              <a:t> </a:t>
            </a:r>
            <a:r>
              <a:rPr lang="fr-FR" dirty="0"/>
              <a:t>l</a:t>
            </a:r>
            <a:r>
              <a:rPr lang="fr-FR" dirty="0" smtClean="0"/>
              <a:t>a </a:t>
            </a:r>
            <a:r>
              <a:rPr lang="fr-FR" dirty="0"/>
              <a:t>consommation d’articles indirects comme les consommables (toner, ramettes de papier, etc</a:t>
            </a:r>
            <a:r>
              <a:rPr lang="fr-FR" dirty="0" smtClean="0"/>
              <a:t>.)</a:t>
            </a:r>
            <a:r>
              <a:rPr lang="en-US" dirty="0" smtClean="0"/>
              <a:t>, l</a:t>
            </a:r>
            <a:r>
              <a:rPr lang="fr-FR" dirty="0" smtClean="0"/>
              <a:t>es </a:t>
            </a:r>
            <a:r>
              <a:rPr lang="fr-FR" dirty="0"/>
              <a:t>destructions </a:t>
            </a:r>
            <a:r>
              <a:rPr lang="fr-FR" dirty="0" smtClean="0"/>
              <a:t>d’articles</a:t>
            </a:r>
            <a:r>
              <a:rPr lang="en-US" dirty="0" smtClean="0"/>
              <a:t>, l</a:t>
            </a:r>
            <a:r>
              <a:rPr lang="fr-FR" dirty="0" smtClean="0"/>
              <a:t>a </a:t>
            </a:r>
            <a:r>
              <a:rPr lang="fr-FR" dirty="0"/>
              <a:t>consommation d’articles imputés sur un </a:t>
            </a:r>
            <a:r>
              <a:rPr lang="fr-FR" dirty="0" smtClean="0"/>
              <a:t>projet.</a:t>
            </a:r>
          </a:p>
          <a:p>
            <a:r>
              <a:rPr lang="fr-FR" dirty="0"/>
              <a:t>Lorsqu’un individu ou un département a besoin de se réapprovisionner sur ces articles, il créé </a:t>
            </a:r>
            <a:r>
              <a:rPr lang="fr-FR" dirty="0" smtClean="0"/>
              <a:t>une réservation. </a:t>
            </a:r>
            <a:r>
              <a:rPr lang="fr-FR" dirty="0"/>
              <a:t>Il se présente ensuite au magasin pour retirer les articles mentionnés dans la demande de réquisition. Le magasinier ne doit pas faire de sorties de ce type sans avoir la réquisition imprimée et signée. Si la réquisition est signée, alors le magasinier valide la sortie de marchandises depuis le stock. Les articles étant valorisés, un Centre de Coût ou un Projet doit être mentionné sur la réquisition. </a:t>
            </a:r>
            <a:endParaRPr lang="en-US" dirty="0"/>
          </a:p>
          <a:p>
            <a:r>
              <a:rPr lang="fr-FR" dirty="0"/>
              <a:t>Le Centre de Coût correspond au Centre de Coût du service du demandeur de la sortie de marchandises. Dans le cadre d’une sortie avec imputation sur Projet, le numéro de Projet mentionné correspond au projet sur lequel les articles vont être consommés.</a:t>
            </a:r>
            <a:endParaRPr lang="en-US" dirty="0"/>
          </a:p>
          <a:p>
            <a:endParaRPr lang="en-US" dirty="0"/>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Création et traitement d’une réservation</a:t>
            </a:r>
            <a:endParaRPr lang="en-US" altLang="en-US" dirty="0" smtClean="0"/>
          </a:p>
        </p:txBody>
      </p:sp>
      <p:sp>
        <p:nvSpPr>
          <p:cNvPr id="28678" name="AutoShape 6"/>
          <p:cNvSpPr>
            <a:spLocks noChangeArrowheads="1"/>
          </p:cNvSpPr>
          <p:nvPr/>
        </p:nvSpPr>
        <p:spPr bwMode="auto">
          <a:xfrm>
            <a:off x="1613861" y="1314467"/>
            <a:ext cx="1570434" cy="656973"/>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effectuer une réservation et son traitement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613861" y="3506175"/>
            <a:ext cx="1647825"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smtClean="0">
                <a:solidFill>
                  <a:schemeClr val="bg1"/>
                </a:solidFill>
                <a:cs typeface="Arial" panose="020B0604020202020204" pitchFamily="34" charset="0"/>
              </a:rPr>
              <a:t>Que trouve t-on dans le processus de réservation?</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155406" y="2211103"/>
            <a:ext cx="2500035" cy="299429"/>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Les demandeurs et les magasiniers</a:t>
            </a:r>
          </a:p>
        </p:txBody>
      </p:sp>
      <p:sp>
        <p:nvSpPr>
          <p:cNvPr id="28681" name="AutoShape 12"/>
          <p:cNvSpPr>
            <a:spLocks noChangeArrowheads="1"/>
          </p:cNvSpPr>
          <p:nvPr/>
        </p:nvSpPr>
        <p:spPr bwMode="auto">
          <a:xfrm>
            <a:off x="5011609" y="1215708"/>
            <a:ext cx="2701669" cy="835746"/>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Quand un individu ou un service a besoin d’un réapprovisionnement, il crée une réservation. Celle-ci doit être approuvée pour effectuer la sortie de marchandises; </a:t>
            </a:r>
            <a:endParaRPr lang="fr-FR" altLang="en-US" sz="1050" dirty="0"/>
          </a:p>
        </p:txBody>
      </p:sp>
      <p:sp>
        <p:nvSpPr>
          <p:cNvPr id="28682" name="AutoShape 6"/>
          <p:cNvSpPr>
            <a:spLocks noChangeArrowheads="1"/>
          </p:cNvSpPr>
          <p:nvPr/>
        </p:nvSpPr>
        <p:spPr bwMode="auto">
          <a:xfrm>
            <a:off x="1231921" y="2293505"/>
            <a:ext cx="1666915" cy="656973"/>
          </a:xfrm>
          <a:prstGeom prst="wedgeRoundRectCallout">
            <a:avLst>
              <a:gd name="adj1" fmla="val 71436"/>
              <a:gd name="adj2" fmla="val -4052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effectuer une réservation et son traitement?</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072484" y="2904186"/>
            <a:ext cx="3281294" cy="1278420"/>
          </a:xfrm>
          <a:prstGeom prst="wedgeRoundRectCallout">
            <a:avLst>
              <a:gd name="adj1" fmla="val -57167"/>
              <a:gd name="adj2" fmla="val -401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lvl1pPr marL="180975" indent="-180975"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buFont typeface="Arial" panose="020B0604020202020204" pitchFamily="34" charset="0"/>
              <a:buChar char="•"/>
            </a:pPr>
            <a:r>
              <a:rPr lang="fr-FR" altLang="en-US" sz="1050" dirty="0" smtClean="0">
                <a:solidFill>
                  <a:schemeClr val="bg1"/>
                </a:solidFill>
              </a:rPr>
              <a:t>Créer la réservation</a:t>
            </a:r>
          </a:p>
          <a:p>
            <a:pPr eaLnBrk="1" hangingPunct="1">
              <a:spcBef>
                <a:spcPts val="225"/>
              </a:spcBef>
              <a:buFont typeface="Arial" panose="020B0604020202020204" pitchFamily="34" charset="0"/>
              <a:buChar char="•"/>
            </a:pPr>
            <a:r>
              <a:rPr lang="fr-FR" altLang="en-US" sz="1050" dirty="0" smtClean="0">
                <a:solidFill>
                  <a:schemeClr val="bg1"/>
                </a:solidFill>
              </a:rPr>
              <a:t>Effectuer la sortie de marchandises pour la réservation</a:t>
            </a:r>
          </a:p>
          <a:p>
            <a:pPr eaLnBrk="1" hangingPunct="1">
              <a:spcBef>
                <a:spcPts val="225"/>
              </a:spcBef>
              <a:buFont typeface="Arial" panose="020B0604020202020204" pitchFamily="34" charset="0"/>
              <a:buChar char="•"/>
            </a:pPr>
            <a:r>
              <a:rPr lang="fr-FR" altLang="en-US" sz="1050" dirty="0" smtClean="0">
                <a:solidFill>
                  <a:schemeClr val="bg1"/>
                </a:solidFill>
              </a:rPr>
              <a:t>Créer et confirmer des ordres de transfert </a:t>
            </a:r>
          </a:p>
          <a:p>
            <a:pPr eaLnBrk="1" hangingPunct="1">
              <a:spcBef>
                <a:spcPts val="225"/>
              </a:spcBef>
              <a:buFont typeface="Arial" panose="020B0604020202020204" pitchFamily="34" charset="0"/>
              <a:buChar char="•"/>
            </a:pPr>
            <a:r>
              <a:rPr lang="fr-FR" altLang="en-US" sz="1050" dirty="0" smtClean="0">
                <a:solidFill>
                  <a:schemeClr val="bg1"/>
                </a:solidFill>
              </a:rPr>
              <a:t>Des transactions de </a:t>
            </a:r>
            <a:r>
              <a:rPr lang="fr-FR" altLang="en-US" sz="1050" dirty="0" err="1" smtClean="0">
                <a:solidFill>
                  <a:schemeClr val="bg1"/>
                </a:solidFill>
              </a:rPr>
              <a:t>reporting</a:t>
            </a:r>
            <a:r>
              <a:rPr lang="fr-FR" altLang="en-US" sz="1050" dirty="0" smtClean="0">
                <a:solidFill>
                  <a:schemeClr val="bg1"/>
                </a:solidFill>
              </a:rPr>
              <a:t> pour le stock WM et les magasins WM</a:t>
            </a:r>
          </a:p>
        </p:txBody>
      </p:sp>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Création et traitement d’une réservation</a:t>
            </a:r>
            <a:endParaRPr lang="en-US" altLang="en-US" dirty="0" smtClean="0"/>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2228850" y="935391"/>
            <a:ext cx="4686300" cy="3669665"/>
          </a:xfrm>
          <a:prstGeom prst="rect">
            <a:avLst/>
          </a:prstGeom>
          <a:noFill/>
        </p:spPr>
      </p:pic>
    </p:spTree>
    <p:extLst>
      <p:ext uri="{BB962C8B-B14F-4D97-AF65-F5344CB8AC3E}">
        <p14:creationId xmlns:p14="http://schemas.microsoft.com/office/powerpoint/2010/main" val="25224154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000" dirty="0"/>
              <a:t>Description du processus </a:t>
            </a:r>
            <a:r>
              <a:rPr lang="fr-FR" altLang="en-US" sz="2000" dirty="0" smtClean="0"/>
              <a:t>métier</a:t>
            </a:r>
            <a:br>
              <a:rPr lang="fr-FR" altLang="en-US" sz="2000" dirty="0" smtClean="0"/>
            </a:br>
            <a:r>
              <a:rPr lang="fr-FR" altLang="en-US" sz="2000" dirty="0" smtClean="0"/>
              <a:t>Remarques pour les réservation sur ordre de travail</a:t>
            </a:r>
            <a:endParaRPr lang="en-US" dirty="0"/>
          </a:p>
        </p:txBody>
      </p:sp>
      <p:pic>
        <p:nvPicPr>
          <p:cNvPr id="3" name="Image 2"/>
          <p:cNvPicPr/>
          <p:nvPr/>
        </p:nvPicPr>
        <p:blipFill>
          <a:blip r:embed="rId2">
            <a:extLst>
              <a:ext uri="{28A0092B-C50C-407E-A947-70E740481C1C}">
                <a14:useLocalDpi xmlns:a14="http://schemas.microsoft.com/office/drawing/2010/main" val="0"/>
              </a:ext>
            </a:extLst>
          </a:blip>
          <a:srcRect/>
          <a:stretch>
            <a:fillRect/>
          </a:stretch>
        </p:blipFill>
        <p:spPr bwMode="auto">
          <a:xfrm>
            <a:off x="2062716" y="1155405"/>
            <a:ext cx="5018568" cy="3515832"/>
          </a:xfrm>
          <a:prstGeom prst="rect">
            <a:avLst/>
          </a:prstGeom>
          <a:noFill/>
        </p:spPr>
      </p:pic>
    </p:spTree>
    <p:extLst>
      <p:ext uri="{BB962C8B-B14F-4D97-AF65-F5344CB8AC3E}">
        <p14:creationId xmlns:p14="http://schemas.microsoft.com/office/powerpoint/2010/main" val="42560888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a:spLocks noGrp="1"/>
          </p:cNvSpPr>
          <p:nvPr>
            <p:ph type="title"/>
          </p:nvPr>
        </p:nvSpPr>
        <p:spPr/>
        <p:txBody>
          <a:bodyPr/>
          <a:lstStyle/>
          <a:p>
            <a:r>
              <a:rPr lang="fr-FR" altLang="en-US" sz="2000" dirty="0"/>
              <a:t>Description du processus </a:t>
            </a:r>
            <a:r>
              <a:rPr lang="fr-FR" altLang="en-US" sz="2000" dirty="0" smtClean="0"/>
              <a:t>métier</a:t>
            </a:r>
            <a:br>
              <a:rPr lang="fr-FR" altLang="en-US" sz="2000" dirty="0" smtClean="0"/>
            </a:br>
            <a:r>
              <a:rPr lang="fr-FR" altLang="en-US" sz="2000" dirty="0" smtClean="0"/>
              <a:t>Remarques sur les retours magasin</a:t>
            </a:r>
            <a:endParaRPr lang="en-US" dirty="0"/>
          </a:p>
        </p:txBody>
      </p:sp>
      <p:pic>
        <p:nvPicPr>
          <p:cNvPr id="4" name="Image 3"/>
          <p:cNvPicPr/>
          <p:nvPr/>
        </p:nvPicPr>
        <p:blipFill>
          <a:blip r:embed="rId2">
            <a:extLst>
              <a:ext uri="{28A0092B-C50C-407E-A947-70E740481C1C}">
                <a14:useLocalDpi xmlns:a14="http://schemas.microsoft.com/office/drawing/2010/main" val="0"/>
              </a:ext>
            </a:extLst>
          </a:blip>
          <a:srcRect/>
          <a:stretch>
            <a:fillRect/>
          </a:stretch>
        </p:blipFill>
        <p:spPr bwMode="auto">
          <a:xfrm>
            <a:off x="1440180" y="995193"/>
            <a:ext cx="6263640" cy="3521710"/>
          </a:xfrm>
          <a:prstGeom prst="rect">
            <a:avLst/>
          </a:prstGeom>
          <a:noFill/>
        </p:spPr>
      </p:pic>
    </p:spTree>
    <p:extLst>
      <p:ext uri="{BB962C8B-B14F-4D97-AF65-F5344CB8AC3E}">
        <p14:creationId xmlns:p14="http://schemas.microsoft.com/office/powerpoint/2010/main" val="19953316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 	</a:t>
            </a:r>
            <a:endParaRPr lang="en-US" altLang="en-US" dirty="0" smtClean="0"/>
          </a:p>
        </p:txBody>
      </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9" name="Groupe 8"/>
          <p:cNvGrpSpPr/>
          <p:nvPr/>
        </p:nvGrpSpPr>
        <p:grpSpPr>
          <a:xfrm>
            <a:off x="5629922" y="1602975"/>
            <a:ext cx="1260475" cy="791750"/>
            <a:chOff x="2712380" y="1745885"/>
            <a:chExt cx="1260475" cy="791750"/>
          </a:xfrm>
        </p:grpSpPr>
        <p:sp>
          <p:nvSpPr>
            <p:cNvPr id="50" name="Rectangle 49"/>
            <p:cNvSpPr/>
            <p:nvPr/>
          </p:nvSpPr>
          <p:spPr bwMode="auto">
            <a:xfrm>
              <a:off x="2712380" y="1745885"/>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Afficher le statut de stock MM</a:t>
              </a:r>
              <a:endParaRPr lang="en-US" sz="800" dirty="0">
                <a:solidFill>
                  <a:schemeClr val="bg1"/>
                </a:solidFill>
                <a:latin typeface="Arial" pitchFamily="34" charset="0"/>
                <a:cs typeface="Arial" pitchFamily="34" charset="0"/>
              </a:endParaRPr>
            </a:p>
          </p:txBody>
        </p:sp>
        <p:sp>
          <p:nvSpPr>
            <p:cNvPr id="51" name="Rectangle 50"/>
            <p:cNvSpPr/>
            <p:nvPr/>
          </p:nvSpPr>
          <p:spPr bwMode="auto">
            <a:xfrm>
              <a:off x="2712380" y="2104298"/>
              <a:ext cx="1260475"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MMBE</a:t>
              </a:r>
              <a:endParaRPr lang="en-US" sz="800" b="1" dirty="0">
                <a:solidFill>
                  <a:schemeClr val="bg1"/>
                </a:solidFill>
                <a:latin typeface="Arial" panose="020B0604020202020204" pitchFamily="34" charset="0"/>
                <a:cs typeface="Arial" panose="020B0604020202020204" pitchFamily="34" charset="0"/>
              </a:endParaRPr>
            </a:p>
          </p:txBody>
        </p:sp>
        <p:sp>
          <p:nvSpPr>
            <p:cNvPr id="52" name="Rectangle 51"/>
            <p:cNvSpPr/>
            <p:nvPr/>
          </p:nvSpPr>
          <p:spPr bwMode="auto">
            <a:xfrm>
              <a:off x="2712380" y="2321635"/>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7" name="Groupe 6"/>
          <p:cNvGrpSpPr/>
          <p:nvPr/>
        </p:nvGrpSpPr>
        <p:grpSpPr>
          <a:xfrm>
            <a:off x="4147442" y="3003623"/>
            <a:ext cx="1260475" cy="808593"/>
            <a:chOff x="5977868" y="1744298"/>
            <a:chExt cx="1260475" cy="808593"/>
          </a:xfrm>
        </p:grpSpPr>
        <p:sp>
          <p:nvSpPr>
            <p:cNvPr id="62" name="Rectangle 61"/>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Imprimer un ordre de transfert</a:t>
              </a:r>
              <a:endParaRPr lang="en-US" sz="800" dirty="0">
                <a:solidFill>
                  <a:schemeClr val="bg1"/>
                </a:solidFill>
                <a:latin typeface="Arial" pitchFamily="34" charset="0"/>
                <a:cs typeface="Arial" pitchFamily="34" charset="0"/>
              </a:endParaRPr>
            </a:p>
          </p:txBody>
        </p:sp>
        <p:sp>
          <p:nvSpPr>
            <p:cNvPr id="63" name="Rectangle 62"/>
            <p:cNvSpPr/>
            <p:nvPr/>
          </p:nvSpPr>
          <p:spPr bwMode="auto">
            <a:xfrm>
              <a:off x="5977868" y="2090029"/>
              <a:ext cx="1260475" cy="238751"/>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LT31</a:t>
              </a:r>
              <a:endParaRPr lang="en-US" sz="800" b="1" dirty="0">
                <a:solidFill>
                  <a:schemeClr val="bg1"/>
                </a:solidFill>
                <a:latin typeface="Arial" panose="020B0604020202020204" pitchFamily="34" charset="0"/>
                <a:cs typeface="Arial" panose="020B0604020202020204" pitchFamily="34" charset="0"/>
              </a:endParaRPr>
            </a:p>
          </p:txBody>
        </p:sp>
        <p:sp>
          <p:nvSpPr>
            <p:cNvPr id="64" name="Rectangle 63"/>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53" name="Groupe 52"/>
          <p:cNvGrpSpPr/>
          <p:nvPr/>
        </p:nvGrpSpPr>
        <p:grpSpPr>
          <a:xfrm>
            <a:off x="4115338" y="1602975"/>
            <a:ext cx="1260475" cy="791750"/>
            <a:chOff x="2712380" y="1745885"/>
            <a:chExt cx="1260475" cy="791750"/>
          </a:xfrm>
        </p:grpSpPr>
        <p:sp>
          <p:nvSpPr>
            <p:cNvPr id="57" name="Rectangle 56"/>
            <p:cNvSpPr/>
            <p:nvPr/>
          </p:nvSpPr>
          <p:spPr bwMode="auto">
            <a:xfrm>
              <a:off x="2712380" y="1745885"/>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Effectuer la sortie en référence à la réservation</a:t>
              </a:r>
              <a:endParaRPr lang="en-US" sz="800" dirty="0">
                <a:solidFill>
                  <a:schemeClr val="bg1"/>
                </a:solidFill>
                <a:latin typeface="Arial" pitchFamily="34" charset="0"/>
                <a:cs typeface="Arial" pitchFamily="34" charset="0"/>
              </a:endParaRPr>
            </a:p>
          </p:txBody>
        </p:sp>
        <p:sp>
          <p:nvSpPr>
            <p:cNvPr id="61" name="Rectangle 60"/>
            <p:cNvSpPr/>
            <p:nvPr/>
          </p:nvSpPr>
          <p:spPr bwMode="auto">
            <a:xfrm>
              <a:off x="2712380" y="2104298"/>
              <a:ext cx="1260475"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MIGO</a:t>
              </a:r>
              <a:endParaRPr lang="en-US" sz="800" b="1" dirty="0">
                <a:solidFill>
                  <a:schemeClr val="bg1"/>
                </a:solidFill>
                <a:latin typeface="Arial" panose="020B0604020202020204" pitchFamily="34" charset="0"/>
                <a:cs typeface="Arial" panose="020B0604020202020204" pitchFamily="34" charset="0"/>
              </a:endParaRPr>
            </a:p>
          </p:txBody>
        </p:sp>
        <p:sp>
          <p:nvSpPr>
            <p:cNvPr id="67" name="Rectangle 66"/>
            <p:cNvSpPr/>
            <p:nvPr/>
          </p:nvSpPr>
          <p:spPr bwMode="auto">
            <a:xfrm>
              <a:off x="2712380" y="2321635"/>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72" name="Connecteur en angle 71"/>
          <p:cNvCxnSpPr>
            <a:stCxn id="57" idx="3"/>
            <a:endCxn id="50" idx="1"/>
          </p:cNvCxnSpPr>
          <p:nvPr/>
        </p:nvCxnSpPr>
        <p:spPr>
          <a:xfrm>
            <a:off x="5375813" y="1782975"/>
            <a:ext cx="254109" cy="0"/>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65" name="Groupe 64"/>
          <p:cNvGrpSpPr/>
          <p:nvPr/>
        </p:nvGrpSpPr>
        <p:grpSpPr>
          <a:xfrm>
            <a:off x="5601782" y="3003623"/>
            <a:ext cx="1260475" cy="808593"/>
            <a:chOff x="5977868" y="1744298"/>
            <a:chExt cx="1260475" cy="808593"/>
          </a:xfrm>
        </p:grpSpPr>
        <p:sp>
          <p:nvSpPr>
            <p:cNvPr id="66" name="Rectangle 65"/>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Confirmer un ordre de transfert</a:t>
              </a:r>
              <a:endParaRPr lang="en-US" sz="800" dirty="0">
                <a:solidFill>
                  <a:schemeClr val="bg1"/>
                </a:solidFill>
                <a:latin typeface="Arial" pitchFamily="34" charset="0"/>
                <a:cs typeface="Arial" pitchFamily="34" charset="0"/>
              </a:endParaRPr>
            </a:p>
          </p:txBody>
        </p:sp>
        <p:sp>
          <p:nvSpPr>
            <p:cNvPr id="68" name="Rectangle 67"/>
            <p:cNvSpPr/>
            <p:nvPr/>
          </p:nvSpPr>
          <p:spPr bwMode="auto">
            <a:xfrm>
              <a:off x="5977868" y="2090029"/>
              <a:ext cx="1260475" cy="238751"/>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LT22</a:t>
              </a:r>
              <a:endParaRPr lang="en-US" sz="800" b="1" dirty="0">
                <a:solidFill>
                  <a:schemeClr val="bg1"/>
                </a:solidFill>
                <a:latin typeface="Arial" panose="020B0604020202020204" pitchFamily="34" charset="0"/>
                <a:cs typeface="Arial" panose="020B0604020202020204" pitchFamily="34" charset="0"/>
              </a:endParaRPr>
            </a:p>
          </p:txBody>
        </p:sp>
        <p:sp>
          <p:nvSpPr>
            <p:cNvPr id="69" name="Rectangle 68"/>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40" name="Groupe 39"/>
          <p:cNvGrpSpPr/>
          <p:nvPr/>
        </p:nvGrpSpPr>
        <p:grpSpPr>
          <a:xfrm>
            <a:off x="2581061" y="3003623"/>
            <a:ext cx="1260475" cy="808593"/>
            <a:chOff x="5977868" y="1744298"/>
            <a:chExt cx="1260475" cy="808593"/>
          </a:xfrm>
        </p:grpSpPr>
        <p:sp>
          <p:nvSpPr>
            <p:cNvPr id="41" name="Rectangle 40"/>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Visualiser le stock dans WM</a:t>
              </a:r>
              <a:endParaRPr lang="en-US" sz="800" dirty="0">
                <a:solidFill>
                  <a:schemeClr val="bg1"/>
                </a:solidFill>
                <a:latin typeface="Arial" pitchFamily="34" charset="0"/>
                <a:cs typeface="Arial" pitchFamily="34" charset="0"/>
              </a:endParaRPr>
            </a:p>
          </p:txBody>
        </p:sp>
        <p:sp>
          <p:nvSpPr>
            <p:cNvPr id="42" name="Rectangle 41"/>
            <p:cNvSpPr/>
            <p:nvPr/>
          </p:nvSpPr>
          <p:spPr bwMode="auto">
            <a:xfrm>
              <a:off x="5977868" y="2104298"/>
              <a:ext cx="1260475" cy="224482"/>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LS24</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73" name="Groupe 72"/>
          <p:cNvGrpSpPr/>
          <p:nvPr/>
        </p:nvGrpSpPr>
        <p:grpSpPr>
          <a:xfrm>
            <a:off x="1034455" y="1601590"/>
            <a:ext cx="1260475" cy="808593"/>
            <a:chOff x="5977868" y="1744298"/>
            <a:chExt cx="1260475" cy="808593"/>
          </a:xfrm>
        </p:grpSpPr>
        <p:sp>
          <p:nvSpPr>
            <p:cNvPr id="74" name="Rectangle 73"/>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Créer une réservation de stock</a:t>
              </a:r>
              <a:endParaRPr lang="en-US" sz="800" dirty="0">
                <a:solidFill>
                  <a:schemeClr val="bg1"/>
                </a:solidFill>
                <a:latin typeface="Arial" pitchFamily="34" charset="0"/>
                <a:cs typeface="Arial" pitchFamily="34" charset="0"/>
              </a:endParaRPr>
            </a:p>
          </p:txBody>
        </p:sp>
        <p:sp>
          <p:nvSpPr>
            <p:cNvPr id="75" name="Rectangle 74"/>
            <p:cNvSpPr/>
            <p:nvPr/>
          </p:nvSpPr>
          <p:spPr bwMode="auto">
            <a:xfrm>
              <a:off x="5977868" y="2104298"/>
              <a:ext cx="1260475" cy="224482"/>
            </a:xfrm>
            <a:prstGeom prst="rect">
              <a:avLst/>
            </a:prstGeom>
            <a:solidFill>
              <a:srgbClr val="4F81BD"/>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MB21</a:t>
              </a:r>
              <a:endParaRPr lang="en-US" sz="800" b="1" dirty="0">
                <a:solidFill>
                  <a:schemeClr val="bg1"/>
                </a:solidFill>
                <a:latin typeface="Arial" panose="020B0604020202020204" pitchFamily="34" charset="0"/>
                <a:cs typeface="Arial" panose="020B0604020202020204" pitchFamily="34" charset="0"/>
              </a:endParaRPr>
            </a:p>
          </p:txBody>
        </p:sp>
        <p:sp>
          <p:nvSpPr>
            <p:cNvPr id="76" name="Rectangle 75"/>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77" name="Groupe 76"/>
          <p:cNvGrpSpPr/>
          <p:nvPr/>
        </p:nvGrpSpPr>
        <p:grpSpPr>
          <a:xfrm>
            <a:off x="2581061" y="1601590"/>
            <a:ext cx="1260475" cy="808593"/>
            <a:chOff x="5977868" y="1744298"/>
            <a:chExt cx="1260475" cy="808593"/>
          </a:xfrm>
        </p:grpSpPr>
        <p:sp>
          <p:nvSpPr>
            <p:cNvPr id="78" name="Rectangle 77"/>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bg1"/>
                  </a:solidFill>
                  <a:latin typeface="Arial" pitchFamily="34" charset="0"/>
                  <a:cs typeface="Arial" pitchFamily="34" charset="0"/>
                </a:rPr>
                <a:t>Afficher le stock MM</a:t>
              </a:r>
              <a:endParaRPr lang="en-US" sz="800" dirty="0">
                <a:solidFill>
                  <a:schemeClr val="bg1"/>
                </a:solidFill>
                <a:latin typeface="Arial" pitchFamily="34" charset="0"/>
                <a:cs typeface="Arial" pitchFamily="34" charset="0"/>
              </a:endParaRPr>
            </a:p>
          </p:txBody>
        </p:sp>
        <p:sp>
          <p:nvSpPr>
            <p:cNvPr id="79" name="Rectangle 78"/>
            <p:cNvSpPr/>
            <p:nvPr/>
          </p:nvSpPr>
          <p:spPr bwMode="auto">
            <a:xfrm>
              <a:off x="5977868" y="2104298"/>
              <a:ext cx="1260475" cy="224482"/>
            </a:xfrm>
            <a:prstGeom prst="rect">
              <a:avLst/>
            </a:prstGeom>
            <a:solidFill>
              <a:srgbClr val="4F81BD"/>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MMBE</a:t>
              </a:r>
              <a:endParaRPr lang="en-US" sz="800" b="1" dirty="0">
                <a:solidFill>
                  <a:schemeClr val="bg1"/>
                </a:solidFill>
                <a:latin typeface="Arial" panose="020B0604020202020204" pitchFamily="34" charset="0"/>
                <a:cs typeface="Arial" panose="020B0604020202020204" pitchFamily="34" charset="0"/>
              </a:endParaRPr>
            </a:p>
          </p:txBody>
        </p:sp>
        <p:sp>
          <p:nvSpPr>
            <p:cNvPr id="80" name="Rectangle 79"/>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81" name="Connecteur en angle 80"/>
          <p:cNvCxnSpPr>
            <a:stCxn id="50" idx="3"/>
            <a:endCxn id="41" idx="1"/>
          </p:cNvCxnSpPr>
          <p:nvPr/>
        </p:nvCxnSpPr>
        <p:spPr>
          <a:xfrm flipH="1">
            <a:off x="2581061" y="1782975"/>
            <a:ext cx="4309336" cy="1400648"/>
          </a:xfrm>
          <a:prstGeom prst="bentConnector5">
            <a:avLst>
              <a:gd name="adj1" fmla="val -5305"/>
              <a:gd name="adj2" fmla="val 65182"/>
              <a:gd name="adj3" fmla="val 105305"/>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Connecteur droit avec flèche 81"/>
          <p:cNvCxnSpPr>
            <a:stCxn id="62" idx="3"/>
            <a:endCxn id="66" idx="1"/>
          </p:cNvCxnSpPr>
          <p:nvPr/>
        </p:nvCxnSpPr>
        <p:spPr>
          <a:xfrm>
            <a:off x="5407917" y="3183623"/>
            <a:ext cx="193865" cy="0"/>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eur droit avec flèche 82"/>
          <p:cNvCxnSpPr>
            <a:stCxn id="66" idx="3"/>
          </p:cNvCxnSpPr>
          <p:nvPr/>
        </p:nvCxnSpPr>
        <p:spPr>
          <a:xfrm>
            <a:off x="6862257" y="3183623"/>
            <a:ext cx="295972" cy="0"/>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eur en angle 71"/>
          <p:cNvCxnSpPr>
            <a:stCxn id="74" idx="3"/>
            <a:endCxn id="78" idx="1"/>
          </p:cNvCxnSpPr>
          <p:nvPr/>
        </p:nvCxnSpPr>
        <p:spPr>
          <a:xfrm>
            <a:off x="2294930" y="1781590"/>
            <a:ext cx="286131" cy="0"/>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Connecteur en angle 71"/>
          <p:cNvCxnSpPr>
            <a:stCxn id="78" idx="3"/>
            <a:endCxn id="57" idx="1"/>
          </p:cNvCxnSpPr>
          <p:nvPr/>
        </p:nvCxnSpPr>
        <p:spPr>
          <a:xfrm>
            <a:off x="3841536" y="1781590"/>
            <a:ext cx="273802" cy="1385"/>
          </a:xfrm>
          <a:prstGeom prst="straightConnector1">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nvGrpSpPr>
          <p:cNvPr id="106" name="Groupe 105"/>
          <p:cNvGrpSpPr/>
          <p:nvPr/>
        </p:nvGrpSpPr>
        <p:grpSpPr>
          <a:xfrm>
            <a:off x="7158229" y="2959326"/>
            <a:ext cx="1260475" cy="808593"/>
            <a:chOff x="5977868" y="1744298"/>
            <a:chExt cx="1260475" cy="808593"/>
          </a:xfrm>
        </p:grpSpPr>
        <p:sp>
          <p:nvSpPr>
            <p:cNvPr id="107" name="Rectangle 106"/>
            <p:cNvSpPr/>
            <p:nvPr/>
          </p:nvSpPr>
          <p:spPr bwMode="auto">
            <a:xfrm>
              <a:off x="5977868" y="1744298"/>
              <a:ext cx="1260475" cy="36000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chemeClr val="bg1"/>
                  </a:solidFill>
                  <a:latin typeface="Arial" pitchFamily="34" charset="0"/>
                  <a:cs typeface="Arial" pitchFamily="34" charset="0"/>
                </a:rPr>
                <a:t>Visualiser le stock dans WM</a:t>
              </a:r>
              <a:endParaRPr lang="en-US" sz="800" dirty="0">
                <a:solidFill>
                  <a:schemeClr val="bg1"/>
                </a:solidFill>
                <a:latin typeface="Arial" pitchFamily="34" charset="0"/>
                <a:cs typeface="Arial" pitchFamily="34" charset="0"/>
              </a:endParaRPr>
            </a:p>
          </p:txBody>
        </p:sp>
        <p:sp>
          <p:nvSpPr>
            <p:cNvPr id="108" name="Rectangle 107"/>
            <p:cNvSpPr/>
            <p:nvPr/>
          </p:nvSpPr>
          <p:spPr bwMode="auto">
            <a:xfrm>
              <a:off x="5977868" y="2112780"/>
              <a:ext cx="1260475" cy="216000"/>
            </a:xfrm>
            <a:prstGeom prst="rect">
              <a:avLst/>
            </a:prstGeom>
            <a:solidFill>
              <a:srgbClr val="C0000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b="1" dirty="0" smtClean="0">
                  <a:solidFill>
                    <a:schemeClr val="bg1"/>
                  </a:solidFill>
                  <a:latin typeface="Arial" panose="020B0604020202020204" pitchFamily="34" charset="0"/>
                  <a:cs typeface="Arial" panose="020B0604020202020204" pitchFamily="34" charset="0"/>
                </a:rPr>
                <a:t>LS24</a:t>
              </a:r>
              <a:endParaRPr lang="en-US" sz="800" b="1" dirty="0">
                <a:solidFill>
                  <a:schemeClr val="bg1"/>
                </a:solidFill>
                <a:latin typeface="Arial" panose="020B0604020202020204" pitchFamily="34" charset="0"/>
                <a:cs typeface="Arial" panose="020B0604020202020204" pitchFamily="34" charset="0"/>
              </a:endParaRPr>
            </a:p>
          </p:txBody>
        </p:sp>
        <p:sp>
          <p:nvSpPr>
            <p:cNvPr id="109" name="Rectangle 108"/>
            <p:cNvSpPr/>
            <p:nvPr/>
          </p:nvSpPr>
          <p:spPr bwMode="auto">
            <a:xfrm>
              <a:off x="5977868" y="2336891"/>
              <a:ext cx="1260475" cy="2160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Magasinier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a:xfrm>
            <a:off x="341870" y="158265"/>
            <a:ext cx="8229600" cy="857250"/>
          </a:xfrm>
        </p:spPr>
        <p:txBody>
          <a:bodyPr/>
          <a:lstStyle/>
          <a:p>
            <a:r>
              <a:rPr lang="fr-FR" altLang="en-US" sz="2400" dirty="0" smtClean="0"/>
              <a:t>Mode opératoire</a:t>
            </a:r>
            <a:br>
              <a:rPr lang="fr-FR" altLang="en-US" sz="2400" dirty="0" smtClean="0"/>
            </a:br>
            <a:r>
              <a:rPr lang="fr-FR" altLang="en-US" dirty="0" smtClean="0"/>
              <a:t>MB21 – Créer une réservation</a:t>
            </a:r>
            <a:endParaRPr lang="en-US" altLang="en-US" dirty="0" smtClean="0"/>
          </a:p>
        </p:txBody>
      </p:sp>
      <p:grpSp>
        <p:nvGrpSpPr>
          <p:cNvPr id="33794" name="Groupe 33793"/>
          <p:cNvGrpSpPr/>
          <p:nvPr/>
        </p:nvGrpSpPr>
        <p:grpSpPr>
          <a:xfrm>
            <a:off x="5522225" y="1015515"/>
            <a:ext cx="3315234" cy="2262158"/>
            <a:chOff x="424889" y="1232489"/>
            <a:chExt cx="3315234" cy="2262158"/>
          </a:xfrm>
        </p:grpSpPr>
        <p:sp>
          <p:nvSpPr>
            <p:cNvPr id="8" name="ZoneTexte 7"/>
            <p:cNvSpPr txBox="1"/>
            <p:nvPr/>
          </p:nvSpPr>
          <p:spPr>
            <a:xfrm>
              <a:off x="581025" y="1232489"/>
              <a:ext cx="3159098" cy="2262158"/>
            </a:xfrm>
            <a:prstGeom prst="rect">
              <a:avLst/>
            </a:prstGeom>
            <a:noFill/>
          </p:spPr>
          <p:txBody>
            <a:bodyPr wrap="square" rtlCol="0">
              <a:spAutoFit/>
            </a:bodyPr>
            <a:lstStyle/>
            <a:p>
              <a:pPr>
                <a:spcBef>
                  <a:spcPts val="300"/>
                </a:spcBef>
                <a:spcAft>
                  <a:spcPts val="300"/>
                </a:spcAft>
              </a:pPr>
              <a:r>
                <a:rPr lang="fr-FR" sz="1000" dirty="0" smtClean="0">
                  <a:solidFill>
                    <a:srgbClr val="4D4F53"/>
                  </a:solidFill>
                </a:rPr>
                <a:t>Indiquer un code mouvement (201 ou 221)</a:t>
              </a:r>
              <a:endParaRPr lang="fr-FR" sz="1000" dirty="0">
                <a:solidFill>
                  <a:srgbClr val="4D4F53"/>
                </a:solidFill>
              </a:endParaRPr>
            </a:p>
            <a:p>
              <a:pPr>
                <a:spcBef>
                  <a:spcPts val="300"/>
                </a:spcBef>
                <a:spcAft>
                  <a:spcPts val="300"/>
                </a:spcAft>
              </a:pPr>
              <a:r>
                <a:rPr lang="fr-FR" sz="1000" dirty="0" smtClean="0">
                  <a:solidFill>
                    <a:srgbClr val="4D4F53"/>
                  </a:solidFill>
                </a:rPr>
                <a:t>Indiquer une division</a:t>
              </a:r>
            </a:p>
            <a:p>
              <a:pPr>
                <a:spcBef>
                  <a:spcPts val="300"/>
                </a:spcBef>
                <a:spcAft>
                  <a:spcPts val="300"/>
                </a:spcAft>
              </a:pPr>
              <a:r>
                <a:rPr lang="fr-FR" sz="1000" dirty="0" smtClean="0">
                  <a:solidFill>
                    <a:srgbClr val="4D4F53"/>
                  </a:solidFill>
                </a:rPr>
                <a:t>Appuyer sur Entrer</a:t>
              </a:r>
            </a:p>
            <a:p>
              <a:pPr>
                <a:spcBef>
                  <a:spcPts val="300"/>
                </a:spcBef>
                <a:spcAft>
                  <a:spcPts val="300"/>
                </a:spcAft>
              </a:pPr>
              <a:r>
                <a:rPr lang="fr-FR" sz="1000" dirty="0" smtClean="0">
                  <a:solidFill>
                    <a:srgbClr val="4D4F53"/>
                  </a:solidFill>
                </a:rPr>
                <a:t>Indiquer un centre de coûts</a:t>
              </a:r>
            </a:p>
            <a:p>
              <a:pPr>
                <a:spcBef>
                  <a:spcPts val="300"/>
                </a:spcBef>
                <a:spcAft>
                  <a:spcPts val="300"/>
                </a:spcAft>
              </a:pPr>
              <a:r>
                <a:rPr lang="fr-FR" sz="1000" dirty="0" smtClean="0">
                  <a:solidFill>
                    <a:srgbClr val="4D4F53"/>
                  </a:solidFill>
                </a:rPr>
                <a:t>Indiquer un article, une quantité, un magasin</a:t>
              </a:r>
            </a:p>
            <a:p>
              <a:pPr>
                <a:spcBef>
                  <a:spcPts val="300"/>
                </a:spcBef>
                <a:spcAft>
                  <a:spcPts val="300"/>
                </a:spcAft>
              </a:pPr>
              <a:r>
                <a:rPr lang="fr-FR" sz="1000" dirty="0" smtClean="0">
                  <a:solidFill>
                    <a:srgbClr val="4D4F53"/>
                  </a:solidFill>
                </a:rPr>
                <a:t>Cocher la case « Mouvement autorisé » </a:t>
              </a:r>
            </a:p>
            <a:p>
              <a:pPr>
                <a:spcBef>
                  <a:spcPts val="300"/>
                </a:spcBef>
                <a:spcAft>
                  <a:spcPts val="300"/>
                </a:spcAft>
              </a:pPr>
              <a:r>
                <a:rPr lang="fr-FR" sz="1000" dirty="0" smtClean="0">
                  <a:solidFill>
                    <a:srgbClr val="4D4F53"/>
                  </a:solidFill>
                </a:rPr>
                <a:t>Sauvegarder</a:t>
              </a:r>
            </a:p>
            <a:p>
              <a:pPr>
                <a:spcBef>
                  <a:spcPts val="300"/>
                </a:spcBef>
                <a:spcAft>
                  <a:spcPts val="300"/>
                </a:spcAft>
              </a:pPr>
              <a:r>
                <a:rPr lang="fr-FR" sz="1000" dirty="0" smtClean="0">
                  <a:solidFill>
                    <a:srgbClr val="4D4F53"/>
                  </a:solidFill>
                </a:rPr>
                <a:t>L’impression se lance : choisir l’imprimante STANDARD et cocher « Impression immédiate »</a:t>
              </a:r>
            </a:p>
            <a:p>
              <a:pPr>
                <a:spcBef>
                  <a:spcPts val="300"/>
                </a:spcBef>
                <a:spcAft>
                  <a:spcPts val="300"/>
                </a:spcAft>
              </a:pPr>
              <a:endParaRPr lang="fr-FR" sz="1100" dirty="0" smtClean="0">
                <a:solidFill>
                  <a:srgbClr val="4D4F53"/>
                </a:solidFill>
              </a:endParaRPr>
            </a:p>
          </p:txBody>
        </p:sp>
        <p:sp>
          <p:nvSpPr>
            <p:cNvPr id="36" name="Ellipse 35"/>
            <p:cNvSpPr/>
            <p:nvPr/>
          </p:nvSpPr>
          <p:spPr>
            <a:xfrm>
              <a:off x="424889" y="12881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4889" y="15221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4889" y="174767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grpSp>
      <p:sp>
        <p:nvSpPr>
          <p:cNvPr id="65" name="Ellipse 64"/>
          <p:cNvSpPr/>
          <p:nvPr/>
        </p:nvSpPr>
        <p:spPr>
          <a:xfrm>
            <a:off x="5522225" y="17328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pic>
        <p:nvPicPr>
          <p:cNvPr id="2" name="Image 1"/>
          <p:cNvPicPr>
            <a:picLocks noChangeAspect="1"/>
          </p:cNvPicPr>
          <p:nvPr/>
        </p:nvPicPr>
        <p:blipFill>
          <a:blip r:embed="rId3"/>
          <a:stretch>
            <a:fillRect/>
          </a:stretch>
        </p:blipFill>
        <p:spPr>
          <a:xfrm>
            <a:off x="460168" y="1015515"/>
            <a:ext cx="2212724" cy="1594548"/>
          </a:xfrm>
          <a:prstGeom prst="rect">
            <a:avLst/>
          </a:prstGeom>
        </p:spPr>
      </p:pic>
      <p:pic>
        <p:nvPicPr>
          <p:cNvPr id="3" name="Image 2"/>
          <p:cNvPicPr>
            <a:picLocks noChangeAspect="1"/>
          </p:cNvPicPr>
          <p:nvPr/>
        </p:nvPicPr>
        <p:blipFill>
          <a:blip r:embed="rId4"/>
          <a:stretch>
            <a:fillRect/>
          </a:stretch>
        </p:blipFill>
        <p:spPr>
          <a:xfrm>
            <a:off x="2581130" y="1249697"/>
            <a:ext cx="2162414" cy="623068"/>
          </a:xfrm>
          <a:prstGeom prst="rect">
            <a:avLst/>
          </a:prstGeom>
        </p:spPr>
      </p:pic>
      <p:pic>
        <p:nvPicPr>
          <p:cNvPr id="4" name="Image 3"/>
          <p:cNvPicPr>
            <a:picLocks noChangeAspect="1"/>
          </p:cNvPicPr>
          <p:nvPr/>
        </p:nvPicPr>
        <p:blipFill>
          <a:blip r:embed="rId5"/>
          <a:stretch>
            <a:fillRect/>
          </a:stretch>
        </p:blipFill>
        <p:spPr>
          <a:xfrm>
            <a:off x="869897" y="2062451"/>
            <a:ext cx="2792440" cy="2613614"/>
          </a:xfrm>
          <a:prstGeom prst="rect">
            <a:avLst/>
          </a:prstGeom>
        </p:spPr>
      </p:pic>
      <p:pic>
        <p:nvPicPr>
          <p:cNvPr id="23" name="Image 22"/>
          <p:cNvPicPr>
            <a:picLocks noChangeAspect="1"/>
          </p:cNvPicPr>
          <p:nvPr/>
        </p:nvPicPr>
        <p:blipFill>
          <a:blip r:embed="rId6"/>
          <a:stretch>
            <a:fillRect/>
          </a:stretch>
        </p:blipFill>
        <p:spPr>
          <a:xfrm>
            <a:off x="2790437" y="3173468"/>
            <a:ext cx="2462214" cy="1826142"/>
          </a:xfrm>
          <a:prstGeom prst="rect">
            <a:avLst/>
          </a:prstGeom>
        </p:spPr>
      </p:pic>
      <p:pic>
        <p:nvPicPr>
          <p:cNvPr id="11" name="Image 10"/>
          <p:cNvPicPr>
            <a:picLocks noChangeAspect="1"/>
          </p:cNvPicPr>
          <p:nvPr/>
        </p:nvPicPr>
        <p:blipFill>
          <a:blip r:embed="rId7"/>
          <a:stretch>
            <a:fillRect/>
          </a:stretch>
        </p:blipFill>
        <p:spPr>
          <a:xfrm>
            <a:off x="5360502" y="3207711"/>
            <a:ext cx="3058790" cy="1758062"/>
          </a:xfrm>
          <a:prstGeom prst="rect">
            <a:avLst/>
          </a:prstGeom>
        </p:spPr>
      </p:pic>
      <p:sp>
        <p:nvSpPr>
          <p:cNvPr id="25" name="Ellipse 24"/>
          <p:cNvSpPr/>
          <p:nvPr/>
        </p:nvSpPr>
        <p:spPr>
          <a:xfrm>
            <a:off x="5528264" y="196253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26" name="Ellipse 25"/>
          <p:cNvSpPr/>
          <p:nvPr/>
        </p:nvSpPr>
        <p:spPr>
          <a:xfrm>
            <a:off x="5524528" y="21727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27" name="Ellipse 26"/>
          <p:cNvSpPr/>
          <p:nvPr/>
        </p:nvSpPr>
        <p:spPr>
          <a:xfrm>
            <a:off x="5528264" y="24137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7</a:t>
            </a:r>
            <a:endParaRPr lang="fr-FR" sz="900" b="1" dirty="0" smtClean="0">
              <a:solidFill>
                <a:schemeClr val="bg1"/>
              </a:solidFill>
            </a:endParaRPr>
          </a:p>
        </p:txBody>
      </p:sp>
      <p:sp>
        <p:nvSpPr>
          <p:cNvPr id="28" name="Ellipse 27"/>
          <p:cNvSpPr/>
          <p:nvPr/>
        </p:nvSpPr>
        <p:spPr>
          <a:xfrm>
            <a:off x="5528264" y="264340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
        <p:nvSpPr>
          <p:cNvPr id="52" name="Rectangle 51"/>
          <p:cNvSpPr/>
          <p:nvPr/>
        </p:nvSpPr>
        <p:spPr>
          <a:xfrm>
            <a:off x="1343772" y="1812513"/>
            <a:ext cx="229843" cy="890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9" name="Rectangle 28"/>
          <p:cNvSpPr/>
          <p:nvPr/>
        </p:nvSpPr>
        <p:spPr>
          <a:xfrm>
            <a:off x="1336687" y="1937482"/>
            <a:ext cx="229843" cy="890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Rectangle 29"/>
          <p:cNvSpPr/>
          <p:nvPr/>
        </p:nvSpPr>
        <p:spPr>
          <a:xfrm>
            <a:off x="2581130" y="1486153"/>
            <a:ext cx="1338740" cy="890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1" name="Rectangle 30"/>
          <p:cNvSpPr/>
          <p:nvPr/>
        </p:nvSpPr>
        <p:spPr>
          <a:xfrm>
            <a:off x="2581130" y="1673917"/>
            <a:ext cx="1338740" cy="8908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1426200" y="2611608"/>
            <a:ext cx="345893" cy="869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3" name="Rectangle 32"/>
          <p:cNvSpPr/>
          <p:nvPr/>
        </p:nvSpPr>
        <p:spPr>
          <a:xfrm>
            <a:off x="990794" y="3010282"/>
            <a:ext cx="1799643" cy="869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3287601" y="3028240"/>
            <a:ext cx="178614" cy="869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3282399" y="3300674"/>
            <a:ext cx="379938" cy="8699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Rectangle 38"/>
          <p:cNvSpPr/>
          <p:nvPr/>
        </p:nvSpPr>
        <p:spPr>
          <a:xfrm>
            <a:off x="2832141" y="4096595"/>
            <a:ext cx="584454" cy="1296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0" name="Rectangle 39"/>
          <p:cNvSpPr/>
          <p:nvPr/>
        </p:nvSpPr>
        <p:spPr>
          <a:xfrm>
            <a:off x="4811489" y="4876440"/>
            <a:ext cx="363022" cy="12965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6" name="Ellipse 65"/>
          <p:cNvSpPr/>
          <p:nvPr/>
        </p:nvSpPr>
        <p:spPr>
          <a:xfrm>
            <a:off x="1172738" y="17829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1</a:t>
            </a:r>
            <a:endParaRPr lang="fr-FR" sz="900" b="1" dirty="0" smtClean="0">
              <a:solidFill>
                <a:schemeClr val="bg1"/>
              </a:solidFill>
            </a:endParaRPr>
          </a:p>
        </p:txBody>
      </p:sp>
      <p:sp>
        <p:nvSpPr>
          <p:cNvPr id="41" name="Ellipse 40"/>
          <p:cNvSpPr/>
          <p:nvPr/>
        </p:nvSpPr>
        <p:spPr>
          <a:xfrm>
            <a:off x="1694025" y="190781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2" name="Ellipse 41"/>
          <p:cNvSpPr/>
          <p:nvPr/>
        </p:nvSpPr>
        <p:spPr>
          <a:xfrm>
            <a:off x="1293492" y="26689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43" name="Ellipse 42"/>
          <p:cNvSpPr/>
          <p:nvPr/>
        </p:nvSpPr>
        <p:spPr>
          <a:xfrm>
            <a:off x="794672" y="29764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sp>
        <p:nvSpPr>
          <p:cNvPr id="44" name="Ellipse 43"/>
          <p:cNvSpPr/>
          <p:nvPr/>
        </p:nvSpPr>
        <p:spPr>
          <a:xfrm>
            <a:off x="3510236" y="297226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5" name="Ellipse 44"/>
          <p:cNvSpPr/>
          <p:nvPr/>
        </p:nvSpPr>
        <p:spPr>
          <a:xfrm>
            <a:off x="3633097" y="33939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
        <p:nvSpPr>
          <p:cNvPr id="46" name="Ellipse 45"/>
          <p:cNvSpPr/>
          <p:nvPr/>
        </p:nvSpPr>
        <p:spPr>
          <a:xfrm>
            <a:off x="3410829" y="412251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8</a:t>
            </a:r>
            <a:endParaRPr lang="fr-FR" sz="900" b="1" dirty="0" smtClean="0">
              <a:solidFill>
                <a:schemeClr val="bg1"/>
              </a:solidFill>
            </a:endParaRPr>
          </a:p>
        </p:txBody>
      </p:sp>
    </p:spTree>
    <p:extLst>
      <p:ext uri="{BB962C8B-B14F-4D97-AF65-F5344CB8AC3E}">
        <p14:creationId xmlns:p14="http://schemas.microsoft.com/office/powerpoint/2010/main" val="8907691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p:cNvPicPr>
            <a:picLocks noChangeAspect="1"/>
          </p:cNvPicPr>
          <p:nvPr/>
        </p:nvPicPr>
        <p:blipFill>
          <a:blip r:embed="rId2"/>
          <a:stretch>
            <a:fillRect/>
          </a:stretch>
        </p:blipFill>
        <p:spPr>
          <a:xfrm>
            <a:off x="275798" y="1063625"/>
            <a:ext cx="3139902" cy="3198740"/>
          </a:xfrm>
          <a:prstGeom prst="rect">
            <a:avLst/>
          </a:prstGeom>
        </p:spPr>
      </p:pic>
      <p:sp>
        <p:nvSpPr>
          <p:cNvPr id="2" name="Titre 1"/>
          <p:cNvSpPr>
            <a:spLocks noGrp="1"/>
          </p:cNvSpPr>
          <p:nvPr>
            <p:ph type="title"/>
          </p:nvPr>
        </p:nvSpPr>
        <p:spPr/>
        <p:txBody>
          <a:bodyPr/>
          <a:lstStyle/>
          <a:p>
            <a:r>
              <a:rPr lang="fr-FR" altLang="en-US" sz="2400" dirty="0"/>
              <a:t>Mode </a:t>
            </a:r>
            <a:r>
              <a:rPr lang="fr-FR" altLang="en-US" sz="2400" dirty="0" smtClean="0"/>
              <a:t>opératoire</a:t>
            </a:r>
            <a:br>
              <a:rPr lang="fr-FR" altLang="en-US" sz="2400" dirty="0" smtClean="0"/>
            </a:br>
            <a:r>
              <a:rPr lang="fr-FR" altLang="en-US" dirty="0" smtClean="0"/>
              <a:t>MMBE </a:t>
            </a:r>
            <a:r>
              <a:rPr lang="fr-FR" altLang="en-US" dirty="0"/>
              <a:t>– Afficher la synthèse du </a:t>
            </a:r>
            <a:r>
              <a:rPr lang="fr-FR" altLang="en-US" dirty="0" smtClean="0"/>
              <a:t>stock MM</a:t>
            </a:r>
            <a:endParaRPr lang="en-US" dirty="0"/>
          </a:p>
        </p:txBody>
      </p:sp>
      <p:grpSp>
        <p:nvGrpSpPr>
          <p:cNvPr id="3" name="Groupe 2"/>
          <p:cNvGrpSpPr/>
          <p:nvPr/>
        </p:nvGrpSpPr>
        <p:grpSpPr>
          <a:xfrm>
            <a:off x="6103964" y="880397"/>
            <a:ext cx="2958500" cy="2631490"/>
            <a:chOff x="424889" y="1232489"/>
            <a:chExt cx="2958500" cy="2631490"/>
          </a:xfrm>
        </p:grpSpPr>
        <p:sp>
          <p:nvSpPr>
            <p:cNvPr id="4" name="ZoneTexte 3"/>
            <p:cNvSpPr txBox="1"/>
            <p:nvPr/>
          </p:nvSpPr>
          <p:spPr>
            <a:xfrm>
              <a:off x="581024" y="1232489"/>
              <a:ext cx="2802365" cy="2631490"/>
            </a:xfrm>
            <a:prstGeom prst="rect">
              <a:avLst/>
            </a:prstGeom>
            <a:noFill/>
          </p:spPr>
          <p:txBody>
            <a:bodyPr wrap="square" rtlCol="0">
              <a:spAutoFit/>
            </a:bodyPr>
            <a:lstStyle/>
            <a:p>
              <a:r>
                <a:rPr lang="fr-FR" sz="1100" dirty="0" smtClean="0">
                  <a:solidFill>
                    <a:srgbClr val="4D4F53"/>
                  </a:solidFill>
                </a:rPr>
                <a:t>Renseigner l’article pour lequel on veut visualiser le stock</a:t>
              </a:r>
            </a:p>
            <a:p>
              <a:endParaRPr lang="fr-FR" sz="1100" dirty="0" smtClean="0">
                <a:solidFill>
                  <a:srgbClr val="4D4F53"/>
                </a:solidFill>
              </a:endParaRPr>
            </a:p>
            <a:p>
              <a:r>
                <a:rPr lang="fr-FR" sz="1100" dirty="0" smtClean="0">
                  <a:solidFill>
                    <a:srgbClr val="4D4F53"/>
                  </a:solidFill>
                </a:rPr>
                <a:t>Entrer la division concerné (il est possible de la laisser vide pour voir toutes les division d’un coup)</a:t>
              </a:r>
              <a:endParaRPr lang="fr-FR" sz="1100" dirty="0">
                <a:solidFill>
                  <a:srgbClr val="4D4F53"/>
                </a:solidFill>
              </a:endParaRPr>
            </a:p>
            <a:p>
              <a:endParaRPr lang="fr-FR" sz="1100" dirty="0">
                <a:solidFill>
                  <a:srgbClr val="4D4F53"/>
                </a:solidFill>
              </a:endParaRPr>
            </a:p>
            <a:p>
              <a:r>
                <a:rPr lang="fr-FR" sz="1100" dirty="0" smtClean="0">
                  <a:solidFill>
                    <a:srgbClr val="4D4F53"/>
                  </a:solidFill>
                </a:rPr>
                <a:t>Choisir la version d’affichage 99</a:t>
              </a:r>
            </a:p>
            <a:p>
              <a:endParaRPr lang="fr-FR" sz="1100" dirty="0">
                <a:solidFill>
                  <a:srgbClr val="4D4F53"/>
                </a:solidFill>
              </a:endParaRPr>
            </a:p>
            <a:p>
              <a:r>
                <a:rPr lang="fr-FR" sz="1100" dirty="0" smtClean="0">
                  <a:solidFill>
                    <a:srgbClr val="4D4F53"/>
                  </a:solidFill>
                </a:rPr>
                <a:t>Laisser les cases cochées par défaut</a:t>
              </a:r>
            </a:p>
            <a:p>
              <a:endParaRPr lang="fr-FR" sz="1100" dirty="0">
                <a:solidFill>
                  <a:srgbClr val="4D4F53"/>
                </a:solidFill>
              </a:endParaRPr>
            </a:p>
            <a:p>
              <a:r>
                <a:rPr lang="fr-FR" sz="1100" dirty="0" smtClean="0">
                  <a:solidFill>
                    <a:srgbClr val="4D4F53"/>
                  </a:solidFill>
                </a:rPr>
                <a:t>Exécuter</a:t>
              </a:r>
            </a:p>
            <a:p>
              <a:endParaRPr lang="fr-FR" sz="1100" dirty="0">
                <a:solidFill>
                  <a:srgbClr val="4D4F53"/>
                </a:solidFill>
              </a:endParaRPr>
            </a:p>
            <a:p>
              <a:r>
                <a:rPr lang="fr-FR" sz="1100" dirty="0" smtClean="0">
                  <a:solidFill>
                    <a:srgbClr val="4D4F53"/>
                  </a:solidFill>
                </a:rPr>
                <a:t>La synthèse du stock s’affiche. On s’intéresse au stock réservé</a:t>
              </a:r>
            </a:p>
          </p:txBody>
        </p:sp>
        <p:sp>
          <p:nvSpPr>
            <p:cNvPr id="5" name="Ellipse 4"/>
            <p:cNvSpPr/>
            <p:nvPr/>
          </p:nvSpPr>
          <p:spPr>
            <a:xfrm>
              <a:off x="424889"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 name="Ellipse 5"/>
            <p:cNvSpPr/>
            <p:nvPr/>
          </p:nvSpPr>
          <p:spPr>
            <a:xfrm>
              <a:off x="424889" y="177346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7" name="Ellipse 6"/>
            <p:cNvSpPr/>
            <p:nvPr/>
          </p:nvSpPr>
          <p:spPr>
            <a:xfrm>
              <a:off x="424889" y="24411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10" name="Image 9"/>
          <p:cNvPicPr>
            <a:picLocks noChangeAspect="1"/>
          </p:cNvPicPr>
          <p:nvPr/>
        </p:nvPicPr>
        <p:blipFill>
          <a:blip r:embed="rId3"/>
          <a:stretch>
            <a:fillRect/>
          </a:stretch>
        </p:blipFill>
        <p:spPr>
          <a:xfrm>
            <a:off x="1424842" y="3207938"/>
            <a:ext cx="841814" cy="932966"/>
          </a:xfrm>
          <a:prstGeom prst="rect">
            <a:avLst/>
          </a:prstGeom>
        </p:spPr>
      </p:pic>
      <p:sp>
        <p:nvSpPr>
          <p:cNvPr id="22" name="Ellipse 21"/>
          <p:cNvSpPr/>
          <p:nvPr/>
        </p:nvSpPr>
        <p:spPr>
          <a:xfrm>
            <a:off x="1268706" y="15170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3" name="Ellipse 22"/>
          <p:cNvSpPr/>
          <p:nvPr/>
        </p:nvSpPr>
        <p:spPr>
          <a:xfrm>
            <a:off x="1829530" y="16700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4" name="Ellipse 23"/>
          <p:cNvSpPr/>
          <p:nvPr/>
        </p:nvSpPr>
        <p:spPr>
          <a:xfrm>
            <a:off x="1319266" y="281240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6" name="Ellipse 25"/>
          <p:cNvSpPr/>
          <p:nvPr/>
        </p:nvSpPr>
        <p:spPr>
          <a:xfrm>
            <a:off x="6100228" y="242284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9" name="Ellipse 28"/>
          <p:cNvSpPr/>
          <p:nvPr/>
        </p:nvSpPr>
        <p:spPr>
          <a:xfrm>
            <a:off x="6103964" y="27565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7" name="Rectangle 26"/>
          <p:cNvSpPr/>
          <p:nvPr/>
        </p:nvSpPr>
        <p:spPr>
          <a:xfrm>
            <a:off x="1518428" y="1575950"/>
            <a:ext cx="626462" cy="9413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Rectangle 29"/>
          <p:cNvSpPr/>
          <p:nvPr/>
        </p:nvSpPr>
        <p:spPr>
          <a:xfrm>
            <a:off x="1518428" y="1707611"/>
            <a:ext cx="231350" cy="117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1518428" y="2888282"/>
            <a:ext cx="137124"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1422401" y="3208875"/>
            <a:ext cx="844255" cy="932029"/>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36" name="Connecteur en angle 35"/>
          <p:cNvCxnSpPr/>
          <p:nvPr/>
        </p:nvCxnSpPr>
        <p:spPr>
          <a:xfrm rot="5400000">
            <a:off x="1465831" y="2975189"/>
            <a:ext cx="242321" cy="223177"/>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eur en angle 36"/>
          <p:cNvCxnSpPr/>
          <p:nvPr/>
        </p:nvCxnSpPr>
        <p:spPr>
          <a:xfrm>
            <a:off x="457200" y="1300981"/>
            <a:ext cx="3733036" cy="968649"/>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flipV="1">
            <a:off x="288817" y="1217179"/>
            <a:ext cx="168383" cy="20419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9" name="Image 38"/>
          <p:cNvPicPr>
            <a:picLocks noChangeAspect="1"/>
          </p:cNvPicPr>
          <p:nvPr/>
        </p:nvPicPr>
        <p:blipFill>
          <a:blip r:embed="rId4"/>
          <a:stretch>
            <a:fillRect/>
          </a:stretch>
        </p:blipFill>
        <p:spPr>
          <a:xfrm>
            <a:off x="6905070" y="2746542"/>
            <a:ext cx="228600" cy="219075"/>
          </a:xfrm>
          <a:prstGeom prst="rect">
            <a:avLst/>
          </a:prstGeom>
        </p:spPr>
      </p:pic>
      <p:pic>
        <p:nvPicPr>
          <p:cNvPr id="11" name="Image 10"/>
          <p:cNvPicPr>
            <a:picLocks noChangeAspect="1"/>
          </p:cNvPicPr>
          <p:nvPr/>
        </p:nvPicPr>
        <p:blipFill>
          <a:blip r:embed="rId5"/>
          <a:stretch>
            <a:fillRect/>
          </a:stretch>
        </p:blipFill>
        <p:spPr>
          <a:xfrm>
            <a:off x="2347673" y="2279967"/>
            <a:ext cx="3624514" cy="1999732"/>
          </a:xfrm>
          <a:prstGeom prst="rect">
            <a:avLst/>
          </a:prstGeom>
        </p:spPr>
      </p:pic>
      <p:sp>
        <p:nvSpPr>
          <p:cNvPr id="25" name="Rectangle 24"/>
          <p:cNvSpPr/>
          <p:nvPr/>
        </p:nvSpPr>
        <p:spPr>
          <a:xfrm>
            <a:off x="4457790" y="3361966"/>
            <a:ext cx="265730" cy="92807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4834940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re 3"/>
          <p:cNvSpPr>
            <a:spLocks noGrp="1"/>
          </p:cNvSpPr>
          <p:nvPr>
            <p:ph type="title"/>
          </p:nvPr>
        </p:nvSpPr>
        <p:spPr>
          <a:xfrm>
            <a:off x="341870" y="158265"/>
            <a:ext cx="8229600" cy="857250"/>
          </a:xfrm>
        </p:spPr>
        <p:txBody>
          <a:bodyPr/>
          <a:lstStyle/>
          <a:p>
            <a:r>
              <a:rPr lang="fr-FR" altLang="en-US" sz="2400" dirty="0" smtClean="0"/>
              <a:t>Mode opératoire</a:t>
            </a:r>
            <a:br>
              <a:rPr lang="fr-FR" altLang="en-US" sz="2400" dirty="0" smtClean="0"/>
            </a:br>
            <a:r>
              <a:rPr lang="fr-FR" altLang="en-US" dirty="0" smtClean="0"/>
              <a:t>MIGO – Réaliser la sortie de marchandises en référence à une réservation 1/2</a:t>
            </a:r>
            <a:endParaRPr lang="en-US" altLang="en-US" dirty="0" smtClean="0"/>
          </a:p>
        </p:txBody>
      </p:sp>
      <p:grpSp>
        <p:nvGrpSpPr>
          <p:cNvPr id="52" name="Groupe 51"/>
          <p:cNvGrpSpPr/>
          <p:nvPr/>
        </p:nvGrpSpPr>
        <p:grpSpPr>
          <a:xfrm>
            <a:off x="5407123" y="955436"/>
            <a:ext cx="3315234" cy="3093154"/>
            <a:chOff x="424889" y="1232489"/>
            <a:chExt cx="3315234" cy="3093154"/>
          </a:xfrm>
        </p:grpSpPr>
        <p:sp>
          <p:nvSpPr>
            <p:cNvPr id="53" name="ZoneTexte 52"/>
            <p:cNvSpPr txBox="1"/>
            <p:nvPr/>
          </p:nvSpPr>
          <p:spPr>
            <a:xfrm>
              <a:off x="581025" y="1232489"/>
              <a:ext cx="3159098" cy="3093154"/>
            </a:xfrm>
            <a:prstGeom prst="rect">
              <a:avLst/>
            </a:prstGeom>
            <a:noFill/>
          </p:spPr>
          <p:txBody>
            <a:bodyPr wrap="square" rtlCol="0">
              <a:spAutoFit/>
            </a:bodyPr>
            <a:lstStyle/>
            <a:p>
              <a:pPr>
                <a:spcBef>
                  <a:spcPts val="300"/>
                </a:spcBef>
                <a:spcAft>
                  <a:spcPts val="300"/>
                </a:spcAft>
              </a:pPr>
              <a:r>
                <a:rPr lang="fr-FR" sz="1000" dirty="0" smtClean="0">
                  <a:solidFill>
                    <a:srgbClr val="4D4F53"/>
                  </a:solidFill>
                </a:rPr>
                <a:t>Sélectionner une « Sortie de marchandises » en référence à une « Réservation»</a:t>
              </a:r>
              <a:endParaRPr lang="fr-FR" sz="1000" dirty="0">
                <a:solidFill>
                  <a:srgbClr val="4D4F53"/>
                </a:solidFill>
              </a:endParaRPr>
            </a:p>
            <a:p>
              <a:pPr>
                <a:spcBef>
                  <a:spcPts val="300"/>
                </a:spcBef>
                <a:spcAft>
                  <a:spcPts val="300"/>
                </a:spcAft>
              </a:pPr>
              <a:r>
                <a:rPr lang="fr-FR" sz="1000" dirty="0" smtClean="0">
                  <a:solidFill>
                    <a:srgbClr val="4D4F53"/>
                  </a:solidFill>
                </a:rPr>
                <a:t>Renseigner le numéro de la réservation</a:t>
              </a:r>
            </a:p>
            <a:p>
              <a:pPr>
                <a:spcBef>
                  <a:spcPts val="300"/>
                </a:spcBef>
                <a:spcAft>
                  <a:spcPts val="300"/>
                </a:spcAft>
              </a:pPr>
              <a:r>
                <a:rPr lang="fr-FR" sz="1000" dirty="0" smtClean="0">
                  <a:solidFill>
                    <a:srgbClr val="4D4F53"/>
                  </a:solidFill>
                </a:rPr>
                <a:t>Vérifier le code mouvement  : 201 sur centre de coûts</a:t>
              </a:r>
            </a:p>
            <a:p>
              <a:pPr>
                <a:spcBef>
                  <a:spcPts val="300"/>
                </a:spcBef>
                <a:spcAft>
                  <a:spcPts val="300"/>
                </a:spcAft>
              </a:pPr>
              <a:r>
                <a:rPr lang="fr-FR" sz="1000" dirty="0" smtClean="0">
                  <a:solidFill>
                    <a:srgbClr val="4D4F53"/>
                  </a:solidFill>
                </a:rPr>
                <a:t>Appuyer sur Entrée et cliquer sur la coche d’impression</a:t>
              </a:r>
              <a:endParaRPr lang="fr-FR" sz="1000" dirty="0">
                <a:solidFill>
                  <a:srgbClr val="4D4F53"/>
                </a:solidFill>
              </a:endParaRPr>
            </a:p>
            <a:p>
              <a:pPr>
                <a:spcBef>
                  <a:spcPts val="300"/>
                </a:spcBef>
                <a:spcAft>
                  <a:spcPts val="300"/>
                </a:spcAft>
              </a:pPr>
              <a:r>
                <a:rPr lang="fr-FR" sz="1000" dirty="0" smtClean="0">
                  <a:solidFill>
                    <a:srgbClr val="4D4F53"/>
                  </a:solidFill>
                </a:rPr>
                <a:t>Pour chaque poste, il est possible de les sélectionner en cliquant sur le n° de ligne et vérifier les données dans chaque onglet</a:t>
              </a:r>
            </a:p>
            <a:p>
              <a:pPr>
                <a:spcBef>
                  <a:spcPts val="300"/>
                </a:spcBef>
                <a:spcAft>
                  <a:spcPts val="300"/>
                </a:spcAft>
              </a:pPr>
              <a:r>
                <a:rPr lang="fr-FR" sz="1000" dirty="0" smtClean="0">
                  <a:solidFill>
                    <a:srgbClr val="4D4F53"/>
                  </a:solidFill>
                </a:rPr>
                <a:t>Dans l’onglet « Où  », indiquer le magasin s’il n’a pas été renseigné dans la réservation</a:t>
              </a:r>
              <a:endParaRPr lang="fr-FR" sz="1000" dirty="0">
                <a:solidFill>
                  <a:srgbClr val="4D4F53"/>
                </a:solidFill>
              </a:endParaRPr>
            </a:p>
            <a:p>
              <a:pPr>
                <a:spcBef>
                  <a:spcPts val="300"/>
                </a:spcBef>
                <a:spcAft>
                  <a:spcPts val="300"/>
                </a:spcAft>
              </a:pPr>
              <a:r>
                <a:rPr lang="fr-FR" sz="1000" dirty="0" smtClean="0">
                  <a:solidFill>
                    <a:srgbClr val="4D4F53"/>
                  </a:solidFill>
                </a:rPr>
                <a:t>Pour le lot à prélever, cliquer sur           </a:t>
              </a:r>
            </a:p>
            <a:p>
              <a:pPr>
                <a:spcBef>
                  <a:spcPts val="300"/>
                </a:spcBef>
                <a:spcAft>
                  <a:spcPts val="300"/>
                </a:spcAft>
              </a:pPr>
              <a:r>
                <a:rPr lang="fr-FR" sz="1000" dirty="0" smtClean="0">
                  <a:solidFill>
                    <a:srgbClr val="4D4F53"/>
                  </a:solidFill>
                </a:rPr>
                <a:t>La détermination des lots est effectuée : cliquer sur « Reprendre »</a:t>
              </a:r>
              <a:endParaRPr lang="fr-FR" sz="1000" dirty="0">
                <a:solidFill>
                  <a:srgbClr val="4D4F53"/>
                </a:solidFill>
              </a:endParaRPr>
            </a:p>
            <a:p>
              <a:pPr>
                <a:spcBef>
                  <a:spcPts val="300"/>
                </a:spcBef>
                <a:spcAft>
                  <a:spcPts val="300"/>
                </a:spcAft>
              </a:pPr>
              <a:r>
                <a:rPr lang="fr-FR" sz="1000" dirty="0" smtClean="0">
                  <a:solidFill>
                    <a:srgbClr val="4D4F53"/>
                  </a:solidFill>
                </a:rPr>
                <a:t>Cocher les cases « Postes OK » pour chaque poste  </a:t>
              </a:r>
            </a:p>
            <a:p>
              <a:pPr>
                <a:spcBef>
                  <a:spcPts val="300"/>
                </a:spcBef>
                <a:spcAft>
                  <a:spcPts val="300"/>
                </a:spcAft>
              </a:pPr>
              <a:r>
                <a:rPr lang="fr-FR" sz="1000" dirty="0" smtClean="0">
                  <a:solidFill>
                    <a:srgbClr val="4D4F53"/>
                  </a:solidFill>
                </a:rPr>
                <a:t>Cliquer sur « Contrôler » </a:t>
              </a:r>
              <a:r>
                <a:rPr lang="fr-FR" sz="1000" dirty="0">
                  <a:solidFill>
                    <a:srgbClr val="4D4F53"/>
                  </a:solidFill>
                </a:rPr>
                <a:t> </a:t>
              </a:r>
              <a:r>
                <a:rPr lang="fr-FR" sz="1000" dirty="0" smtClean="0">
                  <a:solidFill>
                    <a:srgbClr val="4D4F53"/>
                  </a:solidFill>
                </a:rPr>
                <a:t>et « Enregistrer »</a:t>
              </a:r>
            </a:p>
          </p:txBody>
        </p:sp>
        <p:sp>
          <p:nvSpPr>
            <p:cNvPr id="54" name="Ellipse 53"/>
            <p:cNvSpPr/>
            <p:nvPr/>
          </p:nvSpPr>
          <p:spPr>
            <a:xfrm>
              <a:off x="424889"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55" name="Ellipse 54"/>
            <p:cNvSpPr/>
            <p:nvPr/>
          </p:nvSpPr>
          <p:spPr>
            <a:xfrm>
              <a:off x="424889" y="16578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6" name="Ellipse 55"/>
            <p:cNvSpPr/>
            <p:nvPr/>
          </p:nvSpPr>
          <p:spPr>
            <a:xfrm>
              <a:off x="424889" y="18930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57" name="Ellipse 56"/>
            <p:cNvSpPr/>
            <p:nvPr/>
          </p:nvSpPr>
          <p:spPr>
            <a:xfrm>
              <a:off x="424889" y="210536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58" name="Ellipse 57"/>
            <p:cNvSpPr/>
            <p:nvPr/>
          </p:nvSpPr>
          <p:spPr>
            <a:xfrm>
              <a:off x="424889" y="287196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59" name="Ellipse 58"/>
            <p:cNvSpPr/>
            <p:nvPr/>
          </p:nvSpPr>
          <p:spPr>
            <a:xfrm>
              <a:off x="424889" y="23365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60" name="Ellipse 59"/>
            <p:cNvSpPr/>
            <p:nvPr/>
          </p:nvSpPr>
          <p:spPr>
            <a:xfrm>
              <a:off x="424889" y="32693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61" name="Ellipse 60"/>
            <p:cNvSpPr/>
            <p:nvPr/>
          </p:nvSpPr>
          <p:spPr>
            <a:xfrm>
              <a:off x="424889" y="34918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62" name="Ellipse 61"/>
            <p:cNvSpPr/>
            <p:nvPr/>
          </p:nvSpPr>
          <p:spPr>
            <a:xfrm>
              <a:off x="424889" y="385010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sp>
        <p:nvSpPr>
          <p:cNvPr id="91" name="Ellipse 90"/>
          <p:cNvSpPr/>
          <p:nvPr/>
        </p:nvSpPr>
        <p:spPr>
          <a:xfrm>
            <a:off x="5407123" y="38257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pic>
        <p:nvPicPr>
          <p:cNvPr id="2" name="Image 1"/>
          <p:cNvPicPr>
            <a:picLocks noChangeAspect="1"/>
          </p:cNvPicPr>
          <p:nvPr/>
        </p:nvPicPr>
        <p:blipFill>
          <a:blip r:embed="rId3"/>
          <a:stretch>
            <a:fillRect/>
          </a:stretch>
        </p:blipFill>
        <p:spPr>
          <a:xfrm>
            <a:off x="341870" y="1026425"/>
            <a:ext cx="4470630" cy="3182008"/>
          </a:xfrm>
          <a:prstGeom prst="rect">
            <a:avLst/>
          </a:prstGeom>
        </p:spPr>
      </p:pic>
      <p:pic>
        <p:nvPicPr>
          <p:cNvPr id="3" name="Image 2"/>
          <p:cNvPicPr>
            <a:picLocks noChangeAspect="1"/>
          </p:cNvPicPr>
          <p:nvPr/>
        </p:nvPicPr>
        <p:blipFill>
          <a:blip r:embed="rId4"/>
          <a:stretch>
            <a:fillRect/>
          </a:stretch>
        </p:blipFill>
        <p:spPr>
          <a:xfrm>
            <a:off x="7386082" y="2904382"/>
            <a:ext cx="198476" cy="240256"/>
          </a:xfrm>
          <a:prstGeom prst="rect">
            <a:avLst/>
          </a:prstGeom>
        </p:spPr>
      </p:pic>
      <p:pic>
        <p:nvPicPr>
          <p:cNvPr id="4" name="Image 3"/>
          <p:cNvPicPr>
            <a:picLocks noChangeAspect="1"/>
          </p:cNvPicPr>
          <p:nvPr/>
        </p:nvPicPr>
        <p:blipFill>
          <a:blip r:embed="rId5"/>
          <a:stretch>
            <a:fillRect/>
          </a:stretch>
        </p:blipFill>
        <p:spPr>
          <a:xfrm>
            <a:off x="2552202" y="3173959"/>
            <a:ext cx="2633296" cy="1856472"/>
          </a:xfrm>
          <a:prstGeom prst="rect">
            <a:avLst/>
          </a:prstGeom>
        </p:spPr>
      </p:pic>
      <p:pic>
        <p:nvPicPr>
          <p:cNvPr id="6" name="Image 5"/>
          <p:cNvPicPr>
            <a:picLocks noChangeAspect="1"/>
          </p:cNvPicPr>
          <p:nvPr/>
        </p:nvPicPr>
        <p:blipFill>
          <a:blip r:embed="rId6"/>
          <a:stretch>
            <a:fillRect/>
          </a:stretch>
        </p:blipFill>
        <p:spPr>
          <a:xfrm>
            <a:off x="1241316" y="4215106"/>
            <a:ext cx="1269544" cy="808652"/>
          </a:xfrm>
          <a:prstGeom prst="rect">
            <a:avLst/>
          </a:prstGeom>
        </p:spPr>
      </p:pic>
      <p:pic>
        <p:nvPicPr>
          <p:cNvPr id="8" name="Image 7"/>
          <p:cNvPicPr>
            <a:picLocks noChangeAspect="1"/>
          </p:cNvPicPr>
          <p:nvPr/>
        </p:nvPicPr>
        <p:blipFill>
          <a:blip r:embed="rId7"/>
          <a:stretch>
            <a:fillRect/>
          </a:stretch>
        </p:blipFill>
        <p:spPr>
          <a:xfrm>
            <a:off x="5663442" y="4044949"/>
            <a:ext cx="2718779" cy="207747"/>
          </a:xfrm>
          <a:prstGeom prst="rect">
            <a:avLst/>
          </a:prstGeom>
        </p:spPr>
      </p:pic>
      <p:sp>
        <p:nvSpPr>
          <p:cNvPr id="50" name="Rectangle 49"/>
          <p:cNvSpPr/>
          <p:nvPr/>
        </p:nvSpPr>
        <p:spPr>
          <a:xfrm>
            <a:off x="1449866" y="1194648"/>
            <a:ext cx="612850"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1" name="Rectangle 50"/>
          <p:cNvSpPr/>
          <p:nvPr/>
        </p:nvSpPr>
        <p:spPr>
          <a:xfrm>
            <a:off x="989415" y="1362871"/>
            <a:ext cx="1258609"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3" name="Rectangle 62"/>
          <p:cNvSpPr/>
          <p:nvPr/>
        </p:nvSpPr>
        <p:spPr>
          <a:xfrm>
            <a:off x="2287528" y="1362871"/>
            <a:ext cx="359521"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4" name="Rectangle 63"/>
          <p:cNvSpPr/>
          <p:nvPr/>
        </p:nvSpPr>
        <p:spPr>
          <a:xfrm>
            <a:off x="3992281" y="1362871"/>
            <a:ext cx="749840"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79" name="Rectangle 78"/>
          <p:cNvSpPr/>
          <p:nvPr/>
        </p:nvSpPr>
        <p:spPr>
          <a:xfrm>
            <a:off x="1243799" y="1971452"/>
            <a:ext cx="131345" cy="8808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87" name="Rectangle 86"/>
          <p:cNvSpPr/>
          <p:nvPr/>
        </p:nvSpPr>
        <p:spPr>
          <a:xfrm>
            <a:off x="1309471" y="4115801"/>
            <a:ext cx="370473" cy="926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6" name="Rectangle 95"/>
          <p:cNvSpPr/>
          <p:nvPr/>
        </p:nvSpPr>
        <p:spPr>
          <a:xfrm>
            <a:off x="1261800" y="4870712"/>
            <a:ext cx="418144" cy="9263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7" name="Rectangle 96"/>
          <p:cNvSpPr/>
          <p:nvPr/>
        </p:nvSpPr>
        <p:spPr>
          <a:xfrm>
            <a:off x="3349327" y="2763666"/>
            <a:ext cx="131064" cy="14574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8" name="Rectangle 97"/>
          <p:cNvSpPr/>
          <p:nvPr/>
        </p:nvSpPr>
        <p:spPr>
          <a:xfrm>
            <a:off x="2552201" y="3296488"/>
            <a:ext cx="403649" cy="14574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99" name="Ellipse 98"/>
          <p:cNvSpPr/>
          <p:nvPr/>
        </p:nvSpPr>
        <p:spPr>
          <a:xfrm>
            <a:off x="2113283" y="144157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0" name="Ellipse 99"/>
          <p:cNvSpPr/>
          <p:nvPr/>
        </p:nvSpPr>
        <p:spPr>
          <a:xfrm>
            <a:off x="2555821" y="145162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01" name="Ellipse 100"/>
          <p:cNvSpPr/>
          <p:nvPr/>
        </p:nvSpPr>
        <p:spPr>
          <a:xfrm>
            <a:off x="4664053" y="145804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02" name="Ellipse 101"/>
          <p:cNvSpPr/>
          <p:nvPr/>
        </p:nvSpPr>
        <p:spPr>
          <a:xfrm>
            <a:off x="1338571" y="203786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03" name="Ellipse 102"/>
          <p:cNvSpPr/>
          <p:nvPr/>
        </p:nvSpPr>
        <p:spPr>
          <a:xfrm>
            <a:off x="1601876" y="29388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04" name="Ellipse 103"/>
          <p:cNvSpPr/>
          <p:nvPr/>
        </p:nvSpPr>
        <p:spPr>
          <a:xfrm>
            <a:off x="3432686" y="286993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105" name="Ellipse 104"/>
          <p:cNvSpPr/>
          <p:nvPr/>
        </p:nvSpPr>
        <p:spPr>
          <a:xfrm>
            <a:off x="2919124" y="33758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106" name="Ellipse 105"/>
          <p:cNvSpPr/>
          <p:nvPr/>
        </p:nvSpPr>
        <p:spPr>
          <a:xfrm>
            <a:off x="1661176" y="40449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107" name="Ellipse 106"/>
          <p:cNvSpPr/>
          <p:nvPr/>
        </p:nvSpPr>
        <p:spPr>
          <a:xfrm>
            <a:off x="2093079" y="11991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10</a:t>
            </a:r>
            <a:endParaRPr lang="fr-FR" sz="800" b="1" dirty="0">
              <a:solidFill>
                <a:schemeClr val="bg1"/>
              </a:solidFill>
            </a:endParaRPr>
          </a:p>
        </p:txBody>
      </p:sp>
      <p:sp>
        <p:nvSpPr>
          <p:cNvPr id="9" name="ZoneTexte 8"/>
          <p:cNvSpPr txBox="1"/>
          <p:nvPr/>
        </p:nvSpPr>
        <p:spPr>
          <a:xfrm>
            <a:off x="5563259" y="4249159"/>
            <a:ext cx="3474607" cy="307777"/>
          </a:xfrm>
          <a:prstGeom prst="rect">
            <a:avLst/>
          </a:prstGeom>
          <a:noFill/>
        </p:spPr>
        <p:txBody>
          <a:bodyPr wrap="square" rtlCol="0">
            <a:spAutoFit/>
          </a:bodyPr>
          <a:lstStyle/>
          <a:p>
            <a:r>
              <a:rPr lang="fr-FR" sz="700" dirty="0" smtClean="0">
                <a:solidFill>
                  <a:srgbClr val="4D4F53"/>
                </a:solidFill>
              </a:rPr>
              <a:t>Remarque : si la quantité à sortir est inférieur à celle réservée, la réservation peut être clôturée sur besoin avec cet indicateur</a:t>
            </a:r>
            <a:endParaRPr lang="en-US" sz="700" dirty="0" smtClean="0">
              <a:solidFill>
                <a:srgbClr val="4D4F53"/>
              </a:solidFill>
            </a:endParaRPr>
          </a:p>
        </p:txBody>
      </p:sp>
      <p:sp>
        <p:nvSpPr>
          <p:cNvPr id="108" name="Ellipse 107"/>
          <p:cNvSpPr/>
          <p:nvPr/>
        </p:nvSpPr>
        <p:spPr>
          <a:xfrm>
            <a:off x="5408892" y="432575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11</a:t>
            </a:r>
            <a:endParaRPr lang="fr-FR" sz="800" b="1" dirty="0">
              <a:solidFill>
                <a:schemeClr val="bg1"/>
              </a:solidFill>
            </a:endParaRPr>
          </a:p>
        </p:txBody>
      </p:sp>
      <p:sp>
        <p:nvSpPr>
          <p:cNvPr id="109" name="Ellipse 108"/>
          <p:cNvSpPr/>
          <p:nvPr/>
        </p:nvSpPr>
        <p:spPr>
          <a:xfrm>
            <a:off x="1067415" y="483974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fr-FR" sz="800" b="1" dirty="0" smtClean="0">
                <a:solidFill>
                  <a:schemeClr val="bg1"/>
                </a:solidFill>
              </a:rPr>
              <a:t>11</a:t>
            </a:r>
            <a:endParaRPr lang="fr-FR" sz="800" b="1" dirty="0">
              <a:solidFill>
                <a:schemeClr val="bg1"/>
              </a:solidFill>
            </a:endParaRPr>
          </a:p>
        </p:txBody>
      </p:sp>
    </p:spTree>
    <p:extLst>
      <p:ext uri="{BB962C8B-B14F-4D97-AF65-F5344CB8AC3E}">
        <p14:creationId xmlns:p14="http://schemas.microsoft.com/office/powerpoint/2010/main" val="16849767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3"/>
          <p:cNvSpPr>
            <a:spLocks noGrp="1"/>
          </p:cNvSpPr>
          <p:nvPr>
            <p:ph type="title"/>
          </p:nvPr>
        </p:nvSpPr>
        <p:spPr/>
        <p:txBody>
          <a:bodyPr/>
          <a:lstStyle/>
          <a:p>
            <a:r>
              <a:rPr lang="fr-FR" altLang="en-US" sz="2400" dirty="0" smtClean="0"/>
              <a:t>Mode opératoire</a:t>
            </a:r>
            <a:br>
              <a:rPr lang="fr-FR" altLang="en-US" sz="2400" dirty="0" smtClean="0"/>
            </a:br>
            <a:r>
              <a:rPr lang="fr-FR" altLang="en-US" dirty="0"/>
              <a:t>MIGO – Réaliser la sortie de marchandises en référence à une réservation </a:t>
            </a:r>
            <a:r>
              <a:rPr lang="fr-FR" altLang="en-US" dirty="0" smtClean="0"/>
              <a:t>2/2</a:t>
            </a:r>
            <a:endParaRPr lang="en-US" altLang="en-US" dirty="0" smtClean="0"/>
          </a:p>
        </p:txBody>
      </p:sp>
      <p:pic>
        <p:nvPicPr>
          <p:cNvPr id="6" name="Image 5"/>
          <p:cNvPicPr>
            <a:picLocks noChangeAspect="1"/>
          </p:cNvPicPr>
          <p:nvPr/>
        </p:nvPicPr>
        <p:blipFill>
          <a:blip r:embed="rId2"/>
          <a:stretch>
            <a:fillRect/>
          </a:stretch>
        </p:blipFill>
        <p:spPr>
          <a:xfrm>
            <a:off x="5649432" y="2269551"/>
            <a:ext cx="2353340" cy="177306"/>
          </a:xfrm>
          <a:prstGeom prst="rect">
            <a:avLst/>
          </a:prstGeom>
        </p:spPr>
      </p:pic>
      <p:sp>
        <p:nvSpPr>
          <p:cNvPr id="8" name="ZoneTexte 7"/>
          <p:cNvSpPr txBox="1"/>
          <p:nvPr/>
        </p:nvSpPr>
        <p:spPr>
          <a:xfrm>
            <a:off x="5389200" y="1063625"/>
            <a:ext cx="3159098" cy="1415772"/>
          </a:xfrm>
          <a:prstGeom prst="rect">
            <a:avLst/>
          </a:prstGeom>
          <a:noFill/>
        </p:spPr>
        <p:txBody>
          <a:bodyPr wrap="square" rtlCol="0">
            <a:spAutoFit/>
          </a:bodyPr>
          <a:lstStyle/>
          <a:p>
            <a:pPr>
              <a:spcBef>
                <a:spcPts val="300"/>
              </a:spcBef>
              <a:spcAft>
                <a:spcPts val="300"/>
              </a:spcAft>
            </a:pPr>
            <a:r>
              <a:rPr lang="fr-FR" sz="1000" dirty="0" smtClean="0">
                <a:solidFill>
                  <a:srgbClr val="4D4F53"/>
                </a:solidFill>
              </a:rPr>
              <a:t>La page pour créer l’ordre de transfert s’affiche </a:t>
            </a:r>
          </a:p>
          <a:p>
            <a:pPr>
              <a:spcBef>
                <a:spcPts val="300"/>
              </a:spcBef>
              <a:spcAft>
                <a:spcPts val="300"/>
              </a:spcAft>
            </a:pPr>
            <a:r>
              <a:rPr lang="fr-FR" sz="1000" dirty="0" smtClean="0">
                <a:solidFill>
                  <a:srgbClr val="4D4F53"/>
                </a:solidFill>
              </a:rPr>
              <a:t>Vérifier le numéro du document article</a:t>
            </a:r>
          </a:p>
          <a:p>
            <a:pPr>
              <a:spcBef>
                <a:spcPts val="300"/>
              </a:spcBef>
              <a:spcAft>
                <a:spcPts val="300"/>
              </a:spcAft>
            </a:pPr>
            <a:r>
              <a:rPr lang="fr-FR" sz="1000" dirty="0" smtClean="0">
                <a:solidFill>
                  <a:srgbClr val="4D4F53"/>
                </a:solidFill>
              </a:rPr>
              <a:t>Appuyer sur Entrer</a:t>
            </a:r>
          </a:p>
          <a:p>
            <a:pPr>
              <a:spcBef>
                <a:spcPts val="300"/>
              </a:spcBef>
              <a:spcAft>
                <a:spcPts val="300"/>
              </a:spcAft>
            </a:pPr>
            <a:r>
              <a:rPr lang="fr-FR" sz="1000" dirty="0" smtClean="0">
                <a:solidFill>
                  <a:srgbClr val="4D4F53"/>
                </a:solidFill>
              </a:rPr>
              <a:t>Cliquer sur « Générer postes OT »</a:t>
            </a:r>
          </a:p>
          <a:p>
            <a:pPr>
              <a:spcBef>
                <a:spcPts val="300"/>
              </a:spcBef>
              <a:spcAft>
                <a:spcPts val="300"/>
              </a:spcAft>
            </a:pPr>
            <a:r>
              <a:rPr lang="fr-FR" sz="1000" dirty="0" smtClean="0">
                <a:solidFill>
                  <a:srgbClr val="4D4F53"/>
                </a:solidFill>
              </a:rPr>
              <a:t>Enregistrer : un message de confirmation apparaît</a:t>
            </a:r>
          </a:p>
          <a:p>
            <a:pPr>
              <a:spcBef>
                <a:spcPts val="300"/>
              </a:spcBef>
              <a:spcAft>
                <a:spcPts val="300"/>
              </a:spcAft>
            </a:pPr>
            <a:endParaRPr lang="fr-FR" sz="1100" dirty="0" smtClean="0">
              <a:solidFill>
                <a:srgbClr val="4D4F53"/>
              </a:solidFill>
            </a:endParaRPr>
          </a:p>
        </p:txBody>
      </p:sp>
      <p:sp>
        <p:nvSpPr>
          <p:cNvPr id="9" name="Ellipse 8"/>
          <p:cNvSpPr/>
          <p:nvPr/>
        </p:nvSpPr>
        <p:spPr>
          <a:xfrm>
            <a:off x="5233064" y="111929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5233064" y="155236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3</a:t>
            </a:r>
            <a:endParaRPr lang="fr-FR" sz="900" b="1" dirty="0" smtClean="0">
              <a:solidFill>
                <a:schemeClr val="bg1"/>
              </a:solidFill>
            </a:endParaRPr>
          </a:p>
        </p:txBody>
      </p:sp>
      <p:sp>
        <p:nvSpPr>
          <p:cNvPr id="11" name="Ellipse 10"/>
          <p:cNvSpPr/>
          <p:nvPr/>
        </p:nvSpPr>
        <p:spPr>
          <a:xfrm>
            <a:off x="5233064" y="178050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17" name="Ellipse 16"/>
          <p:cNvSpPr/>
          <p:nvPr/>
        </p:nvSpPr>
        <p:spPr>
          <a:xfrm>
            <a:off x="5229328" y="13425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8" name="Ellipse 17"/>
          <p:cNvSpPr/>
          <p:nvPr/>
        </p:nvSpPr>
        <p:spPr>
          <a:xfrm>
            <a:off x="5229328" y="202632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cxnSp>
        <p:nvCxnSpPr>
          <p:cNvPr id="19" name="Connecteur en angle 18"/>
          <p:cNvCxnSpPr>
            <a:stCxn id="2" idx="3"/>
          </p:cNvCxnSpPr>
          <p:nvPr/>
        </p:nvCxnSpPr>
        <p:spPr>
          <a:xfrm>
            <a:off x="2892310" y="1759600"/>
            <a:ext cx="419764" cy="811038"/>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13" name="Image 12"/>
          <p:cNvPicPr>
            <a:picLocks noChangeAspect="1"/>
          </p:cNvPicPr>
          <p:nvPr/>
        </p:nvPicPr>
        <p:blipFill>
          <a:blip r:embed="rId3"/>
          <a:stretch>
            <a:fillRect/>
          </a:stretch>
        </p:blipFill>
        <p:spPr>
          <a:xfrm>
            <a:off x="1029617" y="2570638"/>
            <a:ext cx="4564914" cy="1981716"/>
          </a:xfrm>
          <a:prstGeom prst="rect">
            <a:avLst/>
          </a:prstGeom>
        </p:spPr>
      </p:pic>
      <p:sp>
        <p:nvSpPr>
          <p:cNvPr id="20" name="Rectangle 19"/>
          <p:cNvSpPr/>
          <p:nvPr/>
        </p:nvSpPr>
        <p:spPr>
          <a:xfrm>
            <a:off x="1078042" y="3069314"/>
            <a:ext cx="750758" cy="12172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1" name="Rectangle 20"/>
          <p:cNvSpPr/>
          <p:nvPr/>
        </p:nvSpPr>
        <p:spPr>
          <a:xfrm>
            <a:off x="2258256" y="2585859"/>
            <a:ext cx="279381" cy="19278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2" name="Ellipse 21"/>
          <p:cNvSpPr/>
          <p:nvPr/>
        </p:nvSpPr>
        <p:spPr>
          <a:xfrm>
            <a:off x="951831" y="311374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3" name="Ellipse 22"/>
          <p:cNvSpPr/>
          <p:nvPr/>
        </p:nvSpPr>
        <p:spPr>
          <a:xfrm>
            <a:off x="2459287" y="271651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5</a:t>
            </a:r>
            <a:endParaRPr lang="fr-FR" sz="900" b="1" dirty="0" smtClean="0">
              <a:solidFill>
                <a:schemeClr val="bg1"/>
              </a:solidFill>
            </a:endParaRPr>
          </a:p>
        </p:txBody>
      </p:sp>
      <p:pic>
        <p:nvPicPr>
          <p:cNvPr id="2" name="Image 1"/>
          <p:cNvPicPr>
            <a:picLocks noChangeAspect="1"/>
          </p:cNvPicPr>
          <p:nvPr/>
        </p:nvPicPr>
        <p:blipFill>
          <a:blip r:embed="rId4"/>
          <a:stretch>
            <a:fillRect/>
          </a:stretch>
        </p:blipFill>
        <p:spPr>
          <a:xfrm>
            <a:off x="457200" y="1108058"/>
            <a:ext cx="2435110" cy="1303084"/>
          </a:xfrm>
          <a:prstGeom prst="rect">
            <a:avLst/>
          </a:prstGeom>
        </p:spPr>
      </p:pic>
      <p:pic>
        <p:nvPicPr>
          <p:cNvPr id="5" name="Image 4"/>
          <p:cNvPicPr>
            <a:picLocks noChangeAspect="1"/>
          </p:cNvPicPr>
          <p:nvPr/>
        </p:nvPicPr>
        <p:blipFill>
          <a:blip r:embed="rId5"/>
          <a:stretch>
            <a:fillRect/>
          </a:stretch>
        </p:blipFill>
        <p:spPr>
          <a:xfrm>
            <a:off x="5649432" y="2220642"/>
            <a:ext cx="2714625" cy="190500"/>
          </a:xfrm>
          <a:prstGeom prst="rect">
            <a:avLst/>
          </a:prstGeom>
        </p:spPr>
      </p:pic>
    </p:spTree>
    <p:extLst>
      <p:ext uri="{BB962C8B-B14F-4D97-AF65-F5344CB8AC3E}">
        <p14:creationId xmlns:p14="http://schemas.microsoft.com/office/powerpoint/2010/main" val="31942837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5487"/>
            <a:ext cx="6001941" cy="1879497"/>
          </a:xfrm>
        </p:spPr>
        <p:txBody>
          <a:bodyPr/>
          <a:lstStyle/>
          <a:p>
            <a:r>
              <a:rPr lang="fr-FR" sz="1400" dirty="0" smtClean="0"/>
              <a:t>Un ordre de transfert est un document permettant de réaliser des mouvements de stocks dans WM. </a:t>
            </a:r>
          </a:p>
          <a:p>
            <a:r>
              <a:rPr lang="fr-FR" sz="1400" dirty="0" smtClean="0"/>
              <a:t>A l’origine de la création d’ordre de transfert on peut retrouver différents mouvements comme : un prélèvement, une entrée en stock, un transfert, un inventaire. </a:t>
            </a:r>
          </a:p>
          <a:p>
            <a:r>
              <a:rPr lang="fr-FR" sz="1400" dirty="0" smtClean="0"/>
              <a:t>Il peut aussi être créé manuellement sans référence.</a:t>
            </a:r>
          </a:p>
          <a:p>
            <a:r>
              <a:rPr lang="fr-FR" sz="1400" dirty="0" smtClean="0"/>
              <a:t>Un ordre de transfert contient diverses informations comme l’article à déplacer, la quantité à déplacer, les emplacements cédants et prenants. </a:t>
            </a:r>
            <a:endParaRPr lang="en-US" sz="1400" dirty="0"/>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Ordre de transfert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20211376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nvPicPr>
        <p:blipFill>
          <a:blip r:embed="rId2"/>
          <a:stretch>
            <a:fillRect/>
          </a:stretch>
        </p:blipFill>
        <p:spPr>
          <a:xfrm>
            <a:off x="228657" y="1035129"/>
            <a:ext cx="3159218" cy="3110196"/>
          </a:xfrm>
          <a:prstGeom prst="rect">
            <a:avLst/>
          </a:prstGeom>
        </p:spPr>
      </p:pic>
      <p:sp>
        <p:nvSpPr>
          <p:cNvPr id="2" name="Titre 1"/>
          <p:cNvSpPr>
            <a:spLocks noGrp="1"/>
          </p:cNvSpPr>
          <p:nvPr>
            <p:ph type="title"/>
          </p:nvPr>
        </p:nvSpPr>
        <p:spPr/>
        <p:txBody>
          <a:bodyPr/>
          <a:lstStyle/>
          <a:p>
            <a:r>
              <a:rPr lang="fr-FR" altLang="en-US" sz="2400" dirty="0"/>
              <a:t>Mode </a:t>
            </a:r>
            <a:r>
              <a:rPr lang="fr-FR" altLang="en-US" sz="2400" dirty="0" smtClean="0"/>
              <a:t>opératoire</a:t>
            </a:r>
            <a:br>
              <a:rPr lang="fr-FR" altLang="en-US" sz="2400" dirty="0" smtClean="0"/>
            </a:br>
            <a:r>
              <a:rPr lang="fr-FR" altLang="en-US" dirty="0" smtClean="0"/>
              <a:t>MMBE </a:t>
            </a:r>
            <a:r>
              <a:rPr lang="fr-FR" altLang="en-US" dirty="0"/>
              <a:t>– Afficher la synthèse du </a:t>
            </a:r>
            <a:r>
              <a:rPr lang="fr-FR" altLang="en-US" dirty="0" smtClean="0"/>
              <a:t>stock MM</a:t>
            </a:r>
            <a:endParaRPr lang="en-US" dirty="0"/>
          </a:p>
        </p:txBody>
      </p:sp>
      <p:grpSp>
        <p:nvGrpSpPr>
          <p:cNvPr id="3" name="Groupe 2"/>
          <p:cNvGrpSpPr/>
          <p:nvPr/>
        </p:nvGrpSpPr>
        <p:grpSpPr>
          <a:xfrm>
            <a:off x="6103964" y="880397"/>
            <a:ext cx="2958500" cy="2800767"/>
            <a:chOff x="424889" y="1232489"/>
            <a:chExt cx="2958500" cy="2800767"/>
          </a:xfrm>
        </p:grpSpPr>
        <p:sp>
          <p:nvSpPr>
            <p:cNvPr id="4" name="ZoneTexte 3"/>
            <p:cNvSpPr txBox="1"/>
            <p:nvPr/>
          </p:nvSpPr>
          <p:spPr>
            <a:xfrm>
              <a:off x="581024" y="1232489"/>
              <a:ext cx="2802365" cy="2800767"/>
            </a:xfrm>
            <a:prstGeom prst="rect">
              <a:avLst/>
            </a:prstGeom>
            <a:noFill/>
          </p:spPr>
          <p:txBody>
            <a:bodyPr wrap="square" rtlCol="0">
              <a:spAutoFit/>
            </a:bodyPr>
            <a:lstStyle/>
            <a:p>
              <a:r>
                <a:rPr lang="fr-FR" sz="1100" dirty="0" smtClean="0">
                  <a:solidFill>
                    <a:srgbClr val="4D4F53"/>
                  </a:solidFill>
                </a:rPr>
                <a:t>Renseigner l’article pour lequel on veut visualiser le stock</a:t>
              </a:r>
            </a:p>
            <a:p>
              <a:endParaRPr lang="fr-FR" sz="1100" dirty="0" smtClean="0">
                <a:solidFill>
                  <a:srgbClr val="4D4F53"/>
                </a:solidFill>
              </a:endParaRPr>
            </a:p>
            <a:p>
              <a:r>
                <a:rPr lang="fr-FR" sz="1100" dirty="0" smtClean="0">
                  <a:solidFill>
                    <a:srgbClr val="4D4F53"/>
                  </a:solidFill>
                </a:rPr>
                <a:t>Entrer la division concerné (il est possible de la laisser vide pour voir toutes les division d’un coup)</a:t>
              </a:r>
              <a:endParaRPr lang="fr-FR" sz="1100" dirty="0">
                <a:solidFill>
                  <a:srgbClr val="4D4F53"/>
                </a:solidFill>
              </a:endParaRPr>
            </a:p>
            <a:p>
              <a:endParaRPr lang="fr-FR" sz="1100" dirty="0">
                <a:solidFill>
                  <a:srgbClr val="4D4F53"/>
                </a:solidFill>
              </a:endParaRPr>
            </a:p>
            <a:p>
              <a:r>
                <a:rPr lang="fr-FR" sz="1100" dirty="0" smtClean="0">
                  <a:solidFill>
                    <a:srgbClr val="4D4F53"/>
                  </a:solidFill>
                </a:rPr>
                <a:t>Choisir la version d’affichage 99</a:t>
              </a:r>
            </a:p>
            <a:p>
              <a:endParaRPr lang="fr-FR" sz="1100" dirty="0">
                <a:solidFill>
                  <a:srgbClr val="4D4F53"/>
                </a:solidFill>
              </a:endParaRPr>
            </a:p>
            <a:p>
              <a:r>
                <a:rPr lang="fr-FR" sz="1100" dirty="0" smtClean="0">
                  <a:solidFill>
                    <a:srgbClr val="4D4F53"/>
                  </a:solidFill>
                </a:rPr>
                <a:t>Laisser les cases cochées par défaut</a:t>
              </a:r>
            </a:p>
            <a:p>
              <a:endParaRPr lang="fr-FR" sz="1100" dirty="0">
                <a:solidFill>
                  <a:srgbClr val="4D4F53"/>
                </a:solidFill>
              </a:endParaRPr>
            </a:p>
            <a:p>
              <a:r>
                <a:rPr lang="fr-FR" sz="1100" dirty="0" smtClean="0">
                  <a:solidFill>
                    <a:srgbClr val="4D4F53"/>
                  </a:solidFill>
                </a:rPr>
                <a:t>Exécuter</a:t>
              </a:r>
            </a:p>
            <a:p>
              <a:endParaRPr lang="fr-FR" sz="1100" dirty="0">
                <a:solidFill>
                  <a:srgbClr val="4D4F53"/>
                </a:solidFill>
              </a:endParaRPr>
            </a:p>
            <a:p>
              <a:r>
                <a:rPr lang="fr-FR" sz="1100" dirty="0" smtClean="0">
                  <a:solidFill>
                    <a:srgbClr val="4D4F53"/>
                  </a:solidFill>
                </a:rPr>
                <a:t>La synthèse du stock s’affiche. On voit que la sortie de marchandises du stock réservé a eu lieu.</a:t>
              </a:r>
            </a:p>
          </p:txBody>
        </p:sp>
        <p:sp>
          <p:nvSpPr>
            <p:cNvPr id="5" name="Ellipse 4"/>
            <p:cNvSpPr/>
            <p:nvPr/>
          </p:nvSpPr>
          <p:spPr>
            <a:xfrm>
              <a:off x="424889"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6" name="Ellipse 5"/>
            <p:cNvSpPr/>
            <p:nvPr/>
          </p:nvSpPr>
          <p:spPr>
            <a:xfrm>
              <a:off x="424889" y="1773467"/>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7" name="Ellipse 6"/>
            <p:cNvSpPr/>
            <p:nvPr/>
          </p:nvSpPr>
          <p:spPr>
            <a:xfrm>
              <a:off x="424889" y="244117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grpSp>
      <p:pic>
        <p:nvPicPr>
          <p:cNvPr id="10" name="Image 9"/>
          <p:cNvPicPr>
            <a:picLocks noChangeAspect="1"/>
          </p:cNvPicPr>
          <p:nvPr/>
        </p:nvPicPr>
        <p:blipFill>
          <a:blip r:embed="rId3"/>
          <a:stretch>
            <a:fillRect/>
          </a:stretch>
        </p:blipFill>
        <p:spPr>
          <a:xfrm>
            <a:off x="1424842" y="3207938"/>
            <a:ext cx="841814" cy="932966"/>
          </a:xfrm>
          <a:prstGeom prst="rect">
            <a:avLst/>
          </a:prstGeom>
        </p:spPr>
      </p:pic>
      <p:sp>
        <p:nvSpPr>
          <p:cNvPr id="22" name="Ellipse 21"/>
          <p:cNvSpPr/>
          <p:nvPr/>
        </p:nvSpPr>
        <p:spPr>
          <a:xfrm>
            <a:off x="1268706" y="151702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3" name="Ellipse 22"/>
          <p:cNvSpPr/>
          <p:nvPr/>
        </p:nvSpPr>
        <p:spPr>
          <a:xfrm>
            <a:off x="1829530" y="167008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4" name="Ellipse 23"/>
          <p:cNvSpPr/>
          <p:nvPr/>
        </p:nvSpPr>
        <p:spPr>
          <a:xfrm>
            <a:off x="1319266" y="281240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6" name="Ellipse 25"/>
          <p:cNvSpPr/>
          <p:nvPr/>
        </p:nvSpPr>
        <p:spPr>
          <a:xfrm>
            <a:off x="6100228" y="242284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4</a:t>
            </a:r>
            <a:endParaRPr lang="fr-FR" sz="900" b="1" dirty="0" smtClean="0">
              <a:solidFill>
                <a:schemeClr val="bg1"/>
              </a:solidFill>
            </a:endParaRPr>
          </a:p>
        </p:txBody>
      </p:sp>
      <p:sp>
        <p:nvSpPr>
          <p:cNvPr id="29" name="Ellipse 28"/>
          <p:cNvSpPr/>
          <p:nvPr/>
        </p:nvSpPr>
        <p:spPr>
          <a:xfrm>
            <a:off x="6103964" y="275659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27" name="Rectangle 26"/>
          <p:cNvSpPr/>
          <p:nvPr/>
        </p:nvSpPr>
        <p:spPr>
          <a:xfrm>
            <a:off x="1518428" y="1575950"/>
            <a:ext cx="626462" cy="9413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Rectangle 29"/>
          <p:cNvSpPr/>
          <p:nvPr/>
        </p:nvSpPr>
        <p:spPr>
          <a:xfrm>
            <a:off x="1518428" y="1693435"/>
            <a:ext cx="231350" cy="11705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2" name="Rectangle 31"/>
          <p:cNvSpPr/>
          <p:nvPr/>
        </p:nvSpPr>
        <p:spPr>
          <a:xfrm>
            <a:off x="1525516" y="2895370"/>
            <a:ext cx="137124" cy="7870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5" name="Rectangle 34"/>
          <p:cNvSpPr/>
          <p:nvPr/>
        </p:nvSpPr>
        <p:spPr>
          <a:xfrm>
            <a:off x="1422401" y="3208875"/>
            <a:ext cx="844255" cy="932029"/>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36" name="Connecteur en angle 35"/>
          <p:cNvCxnSpPr/>
          <p:nvPr/>
        </p:nvCxnSpPr>
        <p:spPr>
          <a:xfrm rot="5400000">
            <a:off x="1465831" y="2975189"/>
            <a:ext cx="242321" cy="223177"/>
          </a:xfrm>
          <a:prstGeom prst="bentConnector3">
            <a:avLst>
              <a:gd name="adj1" fmla="val 50000"/>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7" name="Connecteur en angle 36"/>
          <p:cNvCxnSpPr/>
          <p:nvPr/>
        </p:nvCxnSpPr>
        <p:spPr>
          <a:xfrm>
            <a:off x="457200" y="1300981"/>
            <a:ext cx="3733036" cy="968649"/>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flipV="1">
            <a:off x="228657" y="1217179"/>
            <a:ext cx="228543" cy="20419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39" name="Image 38"/>
          <p:cNvPicPr>
            <a:picLocks noChangeAspect="1"/>
          </p:cNvPicPr>
          <p:nvPr/>
        </p:nvPicPr>
        <p:blipFill>
          <a:blip r:embed="rId4"/>
          <a:stretch>
            <a:fillRect/>
          </a:stretch>
        </p:blipFill>
        <p:spPr>
          <a:xfrm>
            <a:off x="6905070" y="2746542"/>
            <a:ext cx="228600" cy="219075"/>
          </a:xfrm>
          <a:prstGeom prst="rect">
            <a:avLst/>
          </a:prstGeom>
        </p:spPr>
      </p:pic>
      <p:pic>
        <p:nvPicPr>
          <p:cNvPr id="13" name="Image 12"/>
          <p:cNvPicPr>
            <a:picLocks noChangeAspect="1"/>
          </p:cNvPicPr>
          <p:nvPr/>
        </p:nvPicPr>
        <p:blipFill>
          <a:blip r:embed="rId5"/>
          <a:stretch>
            <a:fillRect/>
          </a:stretch>
        </p:blipFill>
        <p:spPr>
          <a:xfrm>
            <a:off x="2657760" y="2269630"/>
            <a:ext cx="3279002" cy="2618078"/>
          </a:xfrm>
          <a:prstGeom prst="rect">
            <a:avLst/>
          </a:prstGeom>
        </p:spPr>
      </p:pic>
      <p:sp>
        <p:nvSpPr>
          <p:cNvPr id="28" name="Rectangle 27"/>
          <p:cNvSpPr/>
          <p:nvPr/>
        </p:nvSpPr>
        <p:spPr>
          <a:xfrm>
            <a:off x="5447220" y="3654774"/>
            <a:ext cx="287273" cy="106608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19620523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LS24 </a:t>
            </a:r>
            <a:r>
              <a:rPr lang="fr-FR" altLang="en-US" dirty="0"/>
              <a:t>– </a:t>
            </a:r>
            <a:r>
              <a:rPr lang="fr-FR" altLang="en-US" dirty="0" smtClean="0"/>
              <a:t>Afficher la vision du stock selon WM (avant la confirmation de l’OT)</a:t>
            </a:r>
            <a:endParaRPr lang="en-US" dirty="0"/>
          </a:p>
        </p:txBody>
      </p:sp>
      <p:grpSp>
        <p:nvGrpSpPr>
          <p:cNvPr id="7" name="Groupe 6"/>
          <p:cNvGrpSpPr/>
          <p:nvPr/>
        </p:nvGrpSpPr>
        <p:grpSpPr>
          <a:xfrm>
            <a:off x="6152918" y="1524046"/>
            <a:ext cx="3164197" cy="1785104"/>
            <a:chOff x="424889" y="1232489"/>
            <a:chExt cx="3015889" cy="1785104"/>
          </a:xfrm>
        </p:grpSpPr>
        <p:sp>
          <p:nvSpPr>
            <p:cNvPr id="8" name="ZoneTexte 7"/>
            <p:cNvSpPr txBox="1"/>
            <p:nvPr/>
          </p:nvSpPr>
          <p:spPr>
            <a:xfrm>
              <a:off x="581024" y="1232489"/>
              <a:ext cx="2859754" cy="1785104"/>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Renseigner le code article</a:t>
              </a:r>
            </a:p>
            <a:p>
              <a:endParaRPr lang="fr-FR" sz="1100" dirty="0" smtClean="0">
                <a:solidFill>
                  <a:srgbClr val="4D4F53"/>
                </a:solidFill>
              </a:endParaRPr>
            </a:p>
            <a:p>
              <a:r>
                <a:rPr lang="fr-FR" sz="1100" dirty="0" smtClean="0">
                  <a:solidFill>
                    <a:srgbClr val="4D4F53"/>
                  </a:solidFill>
                </a:rPr>
                <a:t>Renseigner la division</a:t>
              </a:r>
            </a:p>
            <a:p>
              <a:endParaRPr lang="fr-FR" sz="1100" dirty="0">
                <a:solidFill>
                  <a:srgbClr val="4D4F53"/>
                </a:solidFill>
              </a:endParaRPr>
            </a:p>
            <a:p>
              <a:r>
                <a:rPr lang="fr-FR" sz="1100" dirty="0" smtClean="0">
                  <a:solidFill>
                    <a:srgbClr val="4D4F53"/>
                  </a:solidFill>
                </a:rPr>
                <a:t>Appuyer sur Entrée</a:t>
              </a:r>
            </a:p>
            <a:p>
              <a:endParaRPr lang="fr-FR" sz="1100" dirty="0">
                <a:solidFill>
                  <a:srgbClr val="4D4F53"/>
                </a:solidFill>
              </a:endParaRPr>
            </a:p>
            <a:p>
              <a:r>
                <a:rPr lang="fr-FR" sz="1100" dirty="0" smtClean="0">
                  <a:solidFill>
                    <a:srgbClr val="4D4F53"/>
                  </a:solidFill>
                </a:rPr>
                <a:t>Le magasin de transfert est visible</a:t>
              </a: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4" name="Ellipse 13"/>
            <p:cNvSpPr/>
            <p:nvPr/>
          </p:nvSpPr>
          <p:spPr>
            <a:xfrm>
              <a:off x="424889" y="26759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cxnSp>
        <p:nvCxnSpPr>
          <p:cNvPr id="64" name="Connecteur en angle 63"/>
          <p:cNvCxnSpPr>
            <a:endCxn id="6" idx="0"/>
          </p:cNvCxnSpPr>
          <p:nvPr/>
        </p:nvCxnSpPr>
        <p:spPr>
          <a:xfrm>
            <a:off x="3075076" y="1665188"/>
            <a:ext cx="1053584" cy="643521"/>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 name="Image 2"/>
          <p:cNvPicPr>
            <a:picLocks noChangeAspect="1"/>
          </p:cNvPicPr>
          <p:nvPr/>
        </p:nvPicPr>
        <p:blipFill>
          <a:blip r:embed="rId2"/>
          <a:stretch>
            <a:fillRect/>
          </a:stretch>
        </p:blipFill>
        <p:spPr>
          <a:xfrm>
            <a:off x="457200" y="1103229"/>
            <a:ext cx="2629546" cy="3176632"/>
          </a:xfrm>
          <a:prstGeom prst="rect">
            <a:avLst/>
          </a:prstGeom>
        </p:spPr>
      </p:pic>
      <p:sp>
        <p:nvSpPr>
          <p:cNvPr id="66" name="Rectangle 65"/>
          <p:cNvSpPr/>
          <p:nvPr/>
        </p:nvSpPr>
        <p:spPr>
          <a:xfrm>
            <a:off x="1771974" y="1776188"/>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1771973" y="1916507"/>
            <a:ext cx="858337"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Rectangle 23"/>
          <p:cNvSpPr/>
          <p:nvPr/>
        </p:nvSpPr>
        <p:spPr>
          <a:xfrm>
            <a:off x="1771975" y="2055672"/>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1583668" y="174030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9" name="Ellipse 28"/>
          <p:cNvSpPr/>
          <p:nvPr/>
        </p:nvSpPr>
        <p:spPr>
          <a:xfrm>
            <a:off x="1427932" y="1884894"/>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0" name="Ellipse 29"/>
          <p:cNvSpPr/>
          <p:nvPr/>
        </p:nvSpPr>
        <p:spPr>
          <a:xfrm>
            <a:off x="1212295" y="202412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1" name="Rectangle 20"/>
          <p:cNvSpPr/>
          <p:nvPr/>
        </p:nvSpPr>
        <p:spPr>
          <a:xfrm>
            <a:off x="2687191" y="3122074"/>
            <a:ext cx="2834651" cy="18707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6" name="Image 5"/>
          <p:cNvPicPr>
            <a:picLocks noChangeAspect="1"/>
          </p:cNvPicPr>
          <p:nvPr/>
        </p:nvPicPr>
        <p:blipFill>
          <a:blip r:embed="rId3"/>
          <a:stretch>
            <a:fillRect/>
          </a:stretch>
        </p:blipFill>
        <p:spPr>
          <a:xfrm>
            <a:off x="2377568" y="2308709"/>
            <a:ext cx="3502184" cy="1527676"/>
          </a:xfrm>
          <a:prstGeom prst="rect">
            <a:avLst/>
          </a:prstGeom>
        </p:spPr>
      </p:pic>
      <p:pic>
        <p:nvPicPr>
          <p:cNvPr id="13" name="Image 12"/>
          <p:cNvPicPr>
            <a:picLocks noChangeAspect="1"/>
          </p:cNvPicPr>
          <p:nvPr/>
        </p:nvPicPr>
        <p:blipFill>
          <a:blip r:embed="rId4"/>
          <a:stretch>
            <a:fillRect/>
          </a:stretch>
        </p:blipFill>
        <p:spPr>
          <a:xfrm>
            <a:off x="2353424" y="3841631"/>
            <a:ext cx="3526328" cy="216492"/>
          </a:xfrm>
          <a:prstGeom prst="rect">
            <a:avLst/>
          </a:prstGeom>
        </p:spPr>
      </p:pic>
      <p:sp>
        <p:nvSpPr>
          <p:cNvPr id="22" name="Rectangle 21"/>
          <p:cNvSpPr/>
          <p:nvPr/>
        </p:nvSpPr>
        <p:spPr>
          <a:xfrm>
            <a:off x="2394468" y="3613217"/>
            <a:ext cx="3432174" cy="22316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Tree>
    <p:extLst>
      <p:ext uri="{BB962C8B-B14F-4D97-AF65-F5344CB8AC3E}">
        <p14:creationId xmlns:p14="http://schemas.microsoft.com/office/powerpoint/2010/main" val="792260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2"/>
          <a:stretch>
            <a:fillRect/>
          </a:stretch>
        </p:blipFill>
        <p:spPr>
          <a:xfrm>
            <a:off x="504730" y="1070156"/>
            <a:ext cx="1859580" cy="3798160"/>
          </a:xfrm>
          <a:prstGeom prst="rect">
            <a:avLst/>
          </a:prstGeom>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LT31 </a:t>
            </a:r>
            <a:r>
              <a:rPr lang="fr-FR" altLang="en-US" dirty="0"/>
              <a:t>– </a:t>
            </a:r>
            <a:r>
              <a:rPr lang="fr-FR" altLang="en-US" dirty="0" smtClean="0"/>
              <a:t>Imprimer l’ordre de transfert</a:t>
            </a:r>
            <a:endParaRPr lang="en-US" dirty="0"/>
          </a:p>
        </p:txBody>
      </p:sp>
      <p:grpSp>
        <p:nvGrpSpPr>
          <p:cNvPr id="7" name="Groupe 6"/>
          <p:cNvGrpSpPr/>
          <p:nvPr/>
        </p:nvGrpSpPr>
        <p:grpSpPr>
          <a:xfrm>
            <a:off x="4352359" y="994306"/>
            <a:ext cx="3164197" cy="2292935"/>
            <a:chOff x="424889" y="1232489"/>
            <a:chExt cx="3015889" cy="2292935"/>
          </a:xfrm>
        </p:grpSpPr>
        <p:sp>
          <p:nvSpPr>
            <p:cNvPr id="8" name="ZoneTexte 7"/>
            <p:cNvSpPr txBox="1"/>
            <p:nvPr/>
          </p:nvSpPr>
          <p:spPr>
            <a:xfrm>
              <a:off x="581024" y="1232489"/>
              <a:ext cx="2859754" cy="2292935"/>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Renseigner le numéro d’OT </a:t>
              </a:r>
            </a:p>
            <a:p>
              <a:endParaRPr lang="fr-FR" sz="1100" dirty="0" smtClean="0">
                <a:solidFill>
                  <a:srgbClr val="4D4F53"/>
                </a:solidFill>
              </a:endParaRPr>
            </a:p>
            <a:p>
              <a:r>
                <a:rPr lang="fr-FR" sz="1100" dirty="0" smtClean="0">
                  <a:solidFill>
                    <a:srgbClr val="4D4F53"/>
                  </a:solidFill>
                </a:rPr>
                <a:t>Décocher la case « Imprimer »</a:t>
              </a:r>
            </a:p>
            <a:p>
              <a:endParaRPr lang="fr-FR" sz="1100" dirty="0">
                <a:solidFill>
                  <a:srgbClr val="4D4F53"/>
                </a:solidFill>
              </a:endParaRPr>
            </a:p>
            <a:p>
              <a:r>
                <a:rPr lang="fr-FR" sz="1100" dirty="0" smtClean="0">
                  <a:solidFill>
                    <a:srgbClr val="4D4F53"/>
                  </a:solidFill>
                </a:rPr>
                <a:t>Laisser les cases cochées par défaut</a:t>
              </a:r>
            </a:p>
            <a:p>
              <a:endParaRPr lang="fr-FR" sz="1100" dirty="0" smtClean="0">
                <a:solidFill>
                  <a:srgbClr val="4D4F53"/>
                </a:solidFill>
              </a:endParaRPr>
            </a:p>
            <a:p>
              <a:r>
                <a:rPr lang="fr-FR" sz="1100" dirty="0" smtClean="0">
                  <a:solidFill>
                    <a:srgbClr val="4D4F53"/>
                  </a:solidFill>
                </a:rPr>
                <a:t>Aller dans le menu -&gt; Ordre de transfert -&gt; Imprimer</a:t>
              </a:r>
            </a:p>
            <a:p>
              <a:endParaRPr lang="fr-FR" sz="1100" dirty="0">
                <a:solidFill>
                  <a:srgbClr val="4D4F53"/>
                </a:solidFill>
              </a:endParaRPr>
            </a:p>
            <a:p>
              <a:r>
                <a:rPr lang="fr-FR" sz="1100" dirty="0" smtClean="0">
                  <a:solidFill>
                    <a:srgbClr val="4D4F53"/>
                  </a:solidFill>
                </a:rPr>
                <a:t>L’aperçu du formulaire s’affiche</a:t>
              </a: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4889" y="30876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4" name="Ellipse 13"/>
            <p:cNvSpPr/>
            <p:nvPr/>
          </p:nvSpPr>
          <p:spPr>
            <a:xfrm>
              <a:off x="424889" y="25986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sp>
        <p:nvSpPr>
          <p:cNvPr id="45" name="Ellipse 44"/>
          <p:cNvSpPr/>
          <p:nvPr/>
        </p:nvSpPr>
        <p:spPr>
          <a:xfrm>
            <a:off x="1263618" y="215629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6" name="Ellipse 45"/>
          <p:cNvSpPr/>
          <p:nvPr/>
        </p:nvSpPr>
        <p:spPr>
          <a:xfrm>
            <a:off x="1263618" y="232892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62" name="Ellipse 61"/>
          <p:cNvSpPr/>
          <p:nvPr/>
        </p:nvSpPr>
        <p:spPr>
          <a:xfrm>
            <a:off x="1345525" y="1063625"/>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59" name="Rectangle 58"/>
          <p:cNvSpPr/>
          <p:nvPr/>
        </p:nvSpPr>
        <p:spPr>
          <a:xfrm>
            <a:off x="544248" y="1063625"/>
            <a:ext cx="754810" cy="1586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5" name="Rectangle 64"/>
          <p:cNvSpPr/>
          <p:nvPr/>
        </p:nvSpPr>
        <p:spPr>
          <a:xfrm>
            <a:off x="1450121" y="2202545"/>
            <a:ext cx="243449" cy="1586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6" name="Rectangle 65"/>
          <p:cNvSpPr/>
          <p:nvPr/>
        </p:nvSpPr>
        <p:spPr>
          <a:xfrm>
            <a:off x="1445452" y="2360472"/>
            <a:ext cx="496237"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7" name="Ellipse 66"/>
          <p:cNvSpPr/>
          <p:nvPr/>
        </p:nvSpPr>
        <p:spPr>
          <a:xfrm>
            <a:off x="934585" y="328724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1" name="Rectangle 20"/>
          <p:cNvSpPr/>
          <p:nvPr/>
        </p:nvSpPr>
        <p:spPr>
          <a:xfrm>
            <a:off x="528327" y="3287241"/>
            <a:ext cx="116716" cy="15862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5" name="Image 14"/>
          <p:cNvPicPr>
            <a:picLocks noChangeAspect="1"/>
          </p:cNvPicPr>
          <p:nvPr/>
        </p:nvPicPr>
        <p:blipFill>
          <a:blip r:embed="rId3"/>
          <a:stretch>
            <a:fillRect/>
          </a:stretch>
        </p:blipFill>
        <p:spPr>
          <a:xfrm>
            <a:off x="3425021" y="3102232"/>
            <a:ext cx="4974700" cy="1438242"/>
          </a:xfrm>
          <a:prstGeom prst="rect">
            <a:avLst/>
          </a:prstGeom>
        </p:spPr>
      </p:pic>
    </p:spTree>
    <p:extLst>
      <p:ext uri="{BB962C8B-B14F-4D97-AF65-F5344CB8AC3E}">
        <p14:creationId xmlns:p14="http://schemas.microsoft.com/office/powerpoint/2010/main" val="37436031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584583" y="1074180"/>
            <a:ext cx="3525110" cy="3007060"/>
          </a:xfrm>
          <a:prstGeom prst="rect">
            <a:avLst/>
          </a:prstGeom>
        </p:spPr>
      </p:pic>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LT22 </a:t>
            </a:r>
            <a:r>
              <a:rPr lang="fr-FR" altLang="en-US" dirty="0"/>
              <a:t>– </a:t>
            </a:r>
            <a:r>
              <a:rPr lang="fr-FR" altLang="en-US" dirty="0" smtClean="0"/>
              <a:t>Confirmer l’OT</a:t>
            </a:r>
            <a:endParaRPr lang="en-US" dirty="0"/>
          </a:p>
        </p:txBody>
      </p:sp>
      <p:grpSp>
        <p:nvGrpSpPr>
          <p:cNvPr id="7" name="Groupe 6"/>
          <p:cNvGrpSpPr/>
          <p:nvPr/>
        </p:nvGrpSpPr>
        <p:grpSpPr>
          <a:xfrm>
            <a:off x="5659769" y="1230857"/>
            <a:ext cx="3164197" cy="2462213"/>
            <a:chOff x="424889" y="1232489"/>
            <a:chExt cx="3015889" cy="2462213"/>
          </a:xfrm>
        </p:grpSpPr>
        <p:sp>
          <p:nvSpPr>
            <p:cNvPr id="8" name="ZoneTexte 7"/>
            <p:cNvSpPr txBox="1"/>
            <p:nvPr/>
          </p:nvSpPr>
          <p:spPr>
            <a:xfrm>
              <a:off x="581024" y="1232489"/>
              <a:ext cx="2859754" cy="2462213"/>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Cocher « Uniquement OT en cours »</a:t>
              </a:r>
            </a:p>
            <a:p>
              <a:endParaRPr lang="fr-FR" sz="1100" dirty="0" smtClean="0">
                <a:solidFill>
                  <a:srgbClr val="4D4F53"/>
                </a:solidFill>
              </a:endParaRPr>
            </a:p>
            <a:p>
              <a:r>
                <a:rPr lang="fr-FR" sz="1100" dirty="0" smtClean="0">
                  <a:solidFill>
                    <a:srgbClr val="4D4F53"/>
                  </a:solidFill>
                </a:rPr>
                <a:t>Cocher « De »</a:t>
              </a:r>
            </a:p>
            <a:p>
              <a:endParaRPr lang="fr-FR" sz="1100" dirty="0">
                <a:solidFill>
                  <a:srgbClr val="4D4F53"/>
                </a:solidFill>
              </a:endParaRPr>
            </a:p>
            <a:p>
              <a:r>
                <a:rPr lang="fr-FR" sz="1100" dirty="0" smtClean="0">
                  <a:solidFill>
                    <a:srgbClr val="4D4F53"/>
                  </a:solidFill>
                </a:rPr>
                <a:t>Exécuter</a:t>
              </a:r>
            </a:p>
            <a:p>
              <a:endParaRPr lang="fr-FR" sz="1100" dirty="0">
                <a:solidFill>
                  <a:srgbClr val="4D4F53"/>
                </a:solidFill>
              </a:endParaRPr>
            </a:p>
            <a:p>
              <a:r>
                <a:rPr lang="fr-FR" sz="1100" dirty="0" smtClean="0">
                  <a:solidFill>
                    <a:srgbClr val="4D4F53"/>
                  </a:solidFill>
                </a:rPr>
                <a:t>Sélectionner un par un les postes de l’OT à confirmer et cliquer sur  </a:t>
              </a:r>
            </a:p>
            <a:p>
              <a:endParaRPr lang="fr-FR" sz="1100" dirty="0" smtClean="0">
                <a:solidFill>
                  <a:srgbClr val="4D4F53"/>
                </a:solidFill>
              </a:endParaRPr>
            </a:p>
            <a:p>
              <a:r>
                <a:rPr lang="fr-FR" sz="1100" dirty="0" smtClean="0">
                  <a:solidFill>
                    <a:srgbClr val="4D4F53"/>
                  </a:solidFill>
                </a:rPr>
                <a:t>Un message de confirmation s’affiche et le feu passe au vert</a:t>
              </a:r>
              <a:endParaRPr lang="fr-FR" sz="1100" dirty="0">
                <a:solidFill>
                  <a:srgbClr val="4D4F53"/>
                </a:solidFill>
              </a:endParaRP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3" name="Ellipse 12"/>
            <p:cNvSpPr/>
            <p:nvPr/>
          </p:nvSpPr>
          <p:spPr>
            <a:xfrm>
              <a:off x="424889" y="308760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14" name="Ellipse 13"/>
            <p:cNvSpPr/>
            <p:nvPr/>
          </p:nvSpPr>
          <p:spPr>
            <a:xfrm>
              <a:off x="424889" y="25986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pic>
        <p:nvPicPr>
          <p:cNvPr id="17" name="Image 16"/>
          <p:cNvPicPr>
            <a:picLocks noChangeAspect="1"/>
          </p:cNvPicPr>
          <p:nvPr/>
        </p:nvPicPr>
        <p:blipFill>
          <a:blip r:embed="rId3"/>
          <a:stretch>
            <a:fillRect/>
          </a:stretch>
        </p:blipFill>
        <p:spPr>
          <a:xfrm>
            <a:off x="7323774" y="2787187"/>
            <a:ext cx="238125" cy="171450"/>
          </a:xfrm>
          <a:prstGeom prst="rect">
            <a:avLst/>
          </a:prstGeom>
        </p:spPr>
      </p:pic>
      <p:sp>
        <p:nvSpPr>
          <p:cNvPr id="32" name="Ellipse 31"/>
          <p:cNvSpPr/>
          <p:nvPr/>
        </p:nvSpPr>
        <p:spPr>
          <a:xfrm>
            <a:off x="1723653" y="1447112"/>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4" name="Ellipse 33"/>
          <p:cNvSpPr/>
          <p:nvPr/>
        </p:nvSpPr>
        <p:spPr>
          <a:xfrm>
            <a:off x="481374" y="2129946"/>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5" name="Ellipse 34"/>
          <p:cNvSpPr/>
          <p:nvPr/>
        </p:nvSpPr>
        <p:spPr>
          <a:xfrm>
            <a:off x="481374" y="2787729"/>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5" name="Rectangle 24"/>
          <p:cNvSpPr/>
          <p:nvPr/>
        </p:nvSpPr>
        <p:spPr>
          <a:xfrm>
            <a:off x="2002279" y="1449287"/>
            <a:ext cx="232922" cy="21103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8" name="Rectangle 37"/>
          <p:cNvSpPr/>
          <p:nvPr/>
        </p:nvSpPr>
        <p:spPr>
          <a:xfrm>
            <a:off x="675416" y="2150100"/>
            <a:ext cx="983456" cy="134422"/>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9" name="Rectangle 38"/>
          <p:cNvSpPr/>
          <p:nvPr/>
        </p:nvSpPr>
        <p:spPr>
          <a:xfrm>
            <a:off x="653960" y="2807906"/>
            <a:ext cx="316883" cy="1343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cxnSp>
        <p:nvCxnSpPr>
          <p:cNvPr id="28" name="Connecteur en angle 27"/>
          <p:cNvCxnSpPr>
            <a:stCxn id="3" idx="1"/>
          </p:cNvCxnSpPr>
          <p:nvPr/>
        </p:nvCxnSpPr>
        <p:spPr>
          <a:xfrm rot="10800000" flipH="1" flipV="1">
            <a:off x="1661214" y="3286865"/>
            <a:ext cx="30812" cy="1173887"/>
          </a:xfrm>
          <a:prstGeom prst="bentConnector3">
            <a:avLst>
              <a:gd name="adj1" fmla="val -741919"/>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 name="Image 2"/>
          <p:cNvPicPr>
            <a:picLocks noChangeAspect="1"/>
          </p:cNvPicPr>
          <p:nvPr/>
        </p:nvPicPr>
        <p:blipFill>
          <a:blip r:embed="rId4"/>
          <a:stretch>
            <a:fillRect/>
          </a:stretch>
        </p:blipFill>
        <p:spPr>
          <a:xfrm>
            <a:off x="1661214" y="2590845"/>
            <a:ext cx="3756838" cy="1392042"/>
          </a:xfrm>
          <a:prstGeom prst="rect">
            <a:avLst/>
          </a:prstGeom>
        </p:spPr>
      </p:pic>
      <p:sp>
        <p:nvSpPr>
          <p:cNvPr id="40" name="Rectangle 39"/>
          <p:cNvSpPr/>
          <p:nvPr/>
        </p:nvSpPr>
        <p:spPr>
          <a:xfrm>
            <a:off x="4186180" y="2775224"/>
            <a:ext cx="165229" cy="1343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6" name="Ellipse 35"/>
          <p:cNvSpPr/>
          <p:nvPr/>
        </p:nvSpPr>
        <p:spPr>
          <a:xfrm>
            <a:off x="3976383" y="282019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pic>
        <p:nvPicPr>
          <p:cNvPr id="15" name="Image 14"/>
          <p:cNvPicPr>
            <a:picLocks noChangeAspect="1"/>
          </p:cNvPicPr>
          <p:nvPr/>
        </p:nvPicPr>
        <p:blipFill>
          <a:blip r:embed="rId5"/>
          <a:stretch>
            <a:fillRect/>
          </a:stretch>
        </p:blipFill>
        <p:spPr>
          <a:xfrm>
            <a:off x="1692026" y="4049424"/>
            <a:ext cx="3289004" cy="755424"/>
          </a:xfrm>
          <a:prstGeom prst="rect">
            <a:avLst/>
          </a:prstGeom>
        </p:spPr>
      </p:pic>
      <p:sp>
        <p:nvSpPr>
          <p:cNvPr id="37" name="Ellipse 36"/>
          <p:cNvSpPr/>
          <p:nvPr/>
        </p:nvSpPr>
        <p:spPr>
          <a:xfrm>
            <a:off x="4657400" y="457736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6</a:t>
            </a:r>
            <a:endParaRPr lang="fr-FR" sz="900" b="1" dirty="0" smtClean="0">
              <a:solidFill>
                <a:schemeClr val="bg1"/>
              </a:solidFill>
            </a:endParaRPr>
          </a:p>
        </p:txBody>
      </p:sp>
      <p:sp>
        <p:nvSpPr>
          <p:cNvPr id="41" name="Rectangle 40"/>
          <p:cNvSpPr/>
          <p:nvPr/>
        </p:nvSpPr>
        <p:spPr>
          <a:xfrm>
            <a:off x="4815801" y="4567306"/>
            <a:ext cx="165229" cy="13439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pic>
        <p:nvPicPr>
          <p:cNvPr id="16" name="Image 15"/>
          <p:cNvPicPr>
            <a:picLocks noChangeAspect="1"/>
          </p:cNvPicPr>
          <p:nvPr/>
        </p:nvPicPr>
        <p:blipFill>
          <a:blip r:embed="rId6"/>
          <a:stretch>
            <a:fillRect/>
          </a:stretch>
        </p:blipFill>
        <p:spPr>
          <a:xfrm>
            <a:off x="5859506" y="3596685"/>
            <a:ext cx="2827294" cy="192770"/>
          </a:xfrm>
          <a:prstGeom prst="rect">
            <a:avLst/>
          </a:prstGeom>
        </p:spPr>
      </p:pic>
    </p:spTree>
    <p:extLst>
      <p:ext uri="{BB962C8B-B14F-4D97-AF65-F5344CB8AC3E}">
        <p14:creationId xmlns:p14="http://schemas.microsoft.com/office/powerpoint/2010/main" val="6276318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ltLang="en-US" sz="2400" dirty="0"/>
              <a:t>Mode opératoire</a:t>
            </a:r>
            <a:br>
              <a:rPr lang="fr-FR" altLang="en-US" sz="2400" dirty="0"/>
            </a:br>
            <a:r>
              <a:rPr lang="fr-FR" altLang="en-US" dirty="0" smtClean="0"/>
              <a:t>LS24 </a:t>
            </a:r>
            <a:r>
              <a:rPr lang="fr-FR" altLang="en-US" dirty="0"/>
              <a:t>– </a:t>
            </a:r>
            <a:r>
              <a:rPr lang="fr-FR" altLang="en-US" dirty="0" smtClean="0"/>
              <a:t>Afficher la vision du stock selon WM (après la confirmation de l’OT)</a:t>
            </a:r>
            <a:endParaRPr lang="en-US" dirty="0"/>
          </a:p>
        </p:txBody>
      </p:sp>
      <p:grpSp>
        <p:nvGrpSpPr>
          <p:cNvPr id="7" name="Groupe 6"/>
          <p:cNvGrpSpPr/>
          <p:nvPr/>
        </p:nvGrpSpPr>
        <p:grpSpPr>
          <a:xfrm>
            <a:off x="5828678" y="1515881"/>
            <a:ext cx="3164197" cy="1954381"/>
            <a:chOff x="424889" y="1232489"/>
            <a:chExt cx="3015889" cy="1954381"/>
          </a:xfrm>
        </p:grpSpPr>
        <p:sp>
          <p:nvSpPr>
            <p:cNvPr id="8" name="ZoneTexte 7"/>
            <p:cNvSpPr txBox="1"/>
            <p:nvPr/>
          </p:nvSpPr>
          <p:spPr>
            <a:xfrm>
              <a:off x="581024" y="1232489"/>
              <a:ext cx="2859754" cy="1954381"/>
            </a:xfrm>
            <a:prstGeom prst="rect">
              <a:avLst/>
            </a:prstGeom>
            <a:noFill/>
          </p:spPr>
          <p:txBody>
            <a:bodyPr wrap="square" rtlCol="0">
              <a:spAutoFit/>
            </a:bodyPr>
            <a:lstStyle/>
            <a:p>
              <a:r>
                <a:rPr lang="fr-FR" sz="1100" dirty="0" smtClean="0">
                  <a:solidFill>
                    <a:srgbClr val="4D4F53"/>
                  </a:solidFill>
                </a:rPr>
                <a:t>Renseigner le numéro de magasin</a:t>
              </a:r>
            </a:p>
            <a:p>
              <a:endParaRPr lang="fr-FR" sz="1100" dirty="0">
                <a:solidFill>
                  <a:srgbClr val="4D4F53"/>
                </a:solidFill>
              </a:endParaRPr>
            </a:p>
            <a:p>
              <a:r>
                <a:rPr lang="fr-FR" sz="1100" dirty="0" smtClean="0">
                  <a:solidFill>
                    <a:srgbClr val="4D4F53"/>
                  </a:solidFill>
                </a:rPr>
                <a:t>Renseigner le code article</a:t>
              </a:r>
            </a:p>
            <a:p>
              <a:endParaRPr lang="fr-FR" sz="1100" dirty="0" smtClean="0">
                <a:solidFill>
                  <a:srgbClr val="4D4F53"/>
                </a:solidFill>
              </a:endParaRPr>
            </a:p>
            <a:p>
              <a:r>
                <a:rPr lang="fr-FR" sz="1100" dirty="0" smtClean="0">
                  <a:solidFill>
                    <a:srgbClr val="4D4F53"/>
                  </a:solidFill>
                </a:rPr>
                <a:t>Renseigner la division</a:t>
              </a:r>
            </a:p>
            <a:p>
              <a:endParaRPr lang="fr-FR" sz="1100" dirty="0">
                <a:solidFill>
                  <a:srgbClr val="4D4F53"/>
                </a:solidFill>
              </a:endParaRPr>
            </a:p>
            <a:p>
              <a:r>
                <a:rPr lang="fr-FR" sz="1100" dirty="0" smtClean="0">
                  <a:solidFill>
                    <a:srgbClr val="4D4F53"/>
                  </a:solidFill>
                </a:rPr>
                <a:t>Appuyer sur Entrée</a:t>
              </a:r>
            </a:p>
            <a:p>
              <a:endParaRPr lang="fr-FR" sz="1100" dirty="0">
                <a:solidFill>
                  <a:srgbClr val="4D4F53"/>
                </a:solidFill>
              </a:endParaRPr>
            </a:p>
            <a:p>
              <a:r>
                <a:rPr lang="fr-FR" sz="1100" dirty="0" smtClean="0">
                  <a:solidFill>
                    <a:srgbClr val="4D4F53"/>
                  </a:solidFill>
                </a:rPr>
                <a:t>La sortie de marchandises a eu lieu.</a:t>
              </a:r>
            </a:p>
            <a:p>
              <a:endParaRPr lang="fr-FR" sz="1100" dirty="0" smtClean="0">
                <a:solidFill>
                  <a:srgbClr val="4D4F53"/>
                </a:solidFill>
              </a:endParaRPr>
            </a:p>
            <a:p>
              <a:endParaRPr lang="fr-FR" sz="1100" dirty="0">
                <a:solidFill>
                  <a:srgbClr val="4D4F53"/>
                </a:solidFill>
              </a:endParaRPr>
            </a:p>
          </p:txBody>
        </p:sp>
        <p:sp>
          <p:nvSpPr>
            <p:cNvPr id="9" name="Ellipse 8"/>
            <p:cNvSpPr/>
            <p:nvPr/>
          </p:nvSpPr>
          <p:spPr>
            <a:xfrm>
              <a:off x="424889" y="129634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10" name="Ellipse 9"/>
            <p:cNvSpPr/>
            <p:nvPr/>
          </p:nvSpPr>
          <p:spPr>
            <a:xfrm>
              <a:off x="424889" y="160765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11" name="Ellipse 10"/>
            <p:cNvSpPr/>
            <p:nvPr/>
          </p:nvSpPr>
          <p:spPr>
            <a:xfrm>
              <a:off x="424889" y="193687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12" name="Ellipse 11"/>
            <p:cNvSpPr/>
            <p:nvPr/>
          </p:nvSpPr>
          <p:spPr>
            <a:xfrm>
              <a:off x="424889" y="228615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14" name="Ellipse 13"/>
            <p:cNvSpPr/>
            <p:nvPr/>
          </p:nvSpPr>
          <p:spPr>
            <a:xfrm>
              <a:off x="424889" y="26759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cxnSp>
        <p:nvCxnSpPr>
          <p:cNvPr id="64" name="Connecteur en angle 63"/>
          <p:cNvCxnSpPr/>
          <p:nvPr/>
        </p:nvCxnSpPr>
        <p:spPr>
          <a:xfrm>
            <a:off x="2750949" y="1785431"/>
            <a:ext cx="1191116" cy="400853"/>
          </a:xfrm>
          <a:prstGeom prst="bentConnector2">
            <a:avLst/>
          </a:prstGeom>
          <a:ln w="1905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3" name="Image 2"/>
          <p:cNvPicPr>
            <a:picLocks noChangeAspect="1"/>
          </p:cNvPicPr>
          <p:nvPr/>
        </p:nvPicPr>
        <p:blipFill>
          <a:blip r:embed="rId2"/>
          <a:stretch>
            <a:fillRect/>
          </a:stretch>
        </p:blipFill>
        <p:spPr>
          <a:xfrm>
            <a:off x="457200" y="1103229"/>
            <a:ext cx="2629546" cy="3176632"/>
          </a:xfrm>
          <a:prstGeom prst="rect">
            <a:avLst/>
          </a:prstGeom>
        </p:spPr>
      </p:pic>
      <p:sp>
        <p:nvSpPr>
          <p:cNvPr id="66" name="Rectangle 65"/>
          <p:cNvSpPr/>
          <p:nvPr/>
        </p:nvSpPr>
        <p:spPr>
          <a:xfrm>
            <a:off x="1771974" y="1776188"/>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3" name="Rectangle 22"/>
          <p:cNvSpPr/>
          <p:nvPr/>
        </p:nvSpPr>
        <p:spPr>
          <a:xfrm>
            <a:off x="1771973" y="1916507"/>
            <a:ext cx="858337"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4" name="Rectangle 23"/>
          <p:cNvSpPr/>
          <p:nvPr/>
        </p:nvSpPr>
        <p:spPr>
          <a:xfrm>
            <a:off x="1771975" y="2055672"/>
            <a:ext cx="271316" cy="12302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28" name="Ellipse 27"/>
          <p:cNvSpPr/>
          <p:nvPr/>
        </p:nvSpPr>
        <p:spPr>
          <a:xfrm>
            <a:off x="1583668" y="1740301"/>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9" name="Ellipse 28"/>
          <p:cNvSpPr/>
          <p:nvPr/>
        </p:nvSpPr>
        <p:spPr>
          <a:xfrm>
            <a:off x="1427932" y="1884894"/>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0" name="Ellipse 29"/>
          <p:cNvSpPr/>
          <p:nvPr/>
        </p:nvSpPr>
        <p:spPr>
          <a:xfrm>
            <a:off x="1212295" y="2024120"/>
            <a:ext cx="163814"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pic>
        <p:nvPicPr>
          <p:cNvPr id="5" name="Image 4"/>
          <p:cNvPicPr>
            <a:picLocks noChangeAspect="1"/>
          </p:cNvPicPr>
          <p:nvPr/>
        </p:nvPicPr>
        <p:blipFill>
          <a:blip r:embed="rId3"/>
          <a:stretch>
            <a:fillRect/>
          </a:stretch>
        </p:blipFill>
        <p:spPr>
          <a:xfrm>
            <a:off x="2666502" y="2178695"/>
            <a:ext cx="2635600" cy="2937454"/>
          </a:xfrm>
          <a:prstGeom prst="rect">
            <a:avLst/>
          </a:prstGeom>
        </p:spPr>
      </p:pic>
    </p:spTree>
    <p:extLst>
      <p:ext uri="{BB962C8B-B14F-4D97-AF65-F5344CB8AC3E}">
        <p14:creationId xmlns:p14="http://schemas.microsoft.com/office/powerpoint/2010/main" val="34178158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927004" y="1103018"/>
            <a:ext cx="2201466" cy="509404"/>
          </a:xfrm>
          <a:prstGeom prst="rect">
            <a:avLst/>
          </a:prstGeom>
          <a:noFill/>
          <a:ln w="12700" algn="ctr">
            <a:noFill/>
            <a:miter lim="800000"/>
            <a:headEnd/>
            <a:tailEnd/>
          </a:ln>
        </p:spPr>
        <p:txBody>
          <a:bodyPr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Effectuer la création et le traitement d’une réservation</a:t>
            </a: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2597956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2447219"/>
          </a:xfrm>
        </p:spPr>
        <p:txBody>
          <a:bodyPr/>
          <a:lstStyle/>
          <a:p>
            <a:pPr lvl="0"/>
            <a:endParaRPr lang="fr-FR" dirty="0"/>
          </a:p>
          <a:p>
            <a:pPr>
              <a:buFont typeface="Arial" charset="0"/>
              <a:buChar char="•"/>
              <a:defRPr/>
            </a:pPr>
            <a:r>
              <a:rPr lang="fr-FR" dirty="0" smtClean="0">
                <a:ea typeface="ＭＳ Ｐゴシック" pitchFamily="-65" charset="-128"/>
              </a:rPr>
              <a:t>Un demandeur crée une réservation pour réquisitionner un article. Il peut préciser ou  non le magasin et le lot de cet article.</a:t>
            </a:r>
          </a:p>
          <a:p>
            <a:pPr>
              <a:buFont typeface="Arial" charset="0"/>
              <a:buChar char="•"/>
              <a:defRPr/>
            </a:pPr>
            <a:r>
              <a:rPr lang="fr-FR" dirty="0" smtClean="0">
                <a:ea typeface="ＭＳ Ｐゴシック" pitchFamily="-65" charset="-128"/>
              </a:rPr>
              <a:t>La réservation peut s’effectuer sur un centre de coûts ou un élément d’un projet.</a:t>
            </a:r>
          </a:p>
          <a:p>
            <a:pPr>
              <a:buFont typeface="Arial" charset="0"/>
              <a:buChar char="•"/>
              <a:defRPr/>
            </a:pPr>
            <a:r>
              <a:rPr lang="fr-FR" dirty="0" smtClean="0">
                <a:ea typeface="ＭＳ Ｐゴシック" pitchFamily="-65" charset="-128"/>
              </a:rPr>
              <a:t>Une fois la réservation validée, la sortie de marchandises peut être effectuée. </a:t>
            </a:r>
          </a:p>
          <a:p>
            <a:pPr>
              <a:buFont typeface="Arial" charset="0"/>
              <a:buChar char="•"/>
              <a:defRPr/>
            </a:pPr>
            <a:r>
              <a:rPr lang="fr-FR" dirty="0" smtClean="0">
                <a:ea typeface="ＭＳ Ｐゴシック" pitchFamily="-65" charset="-128"/>
              </a:rPr>
              <a:t>Une détermination automatique des lots en stratégie FIFO et FEFO est possible. </a:t>
            </a:r>
          </a:p>
          <a:p>
            <a:pPr>
              <a:buFont typeface="Arial" charset="0"/>
              <a:buChar char="•"/>
              <a:defRPr/>
            </a:pPr>
            <a:r>
              <a:rPr lang="fr-FR" dirty="0" smtClean="0">
                <a:ea typeface="ＭＳ Ｐゴシック" pitchFamily="-65" charset="-128"/>
              </a:rPr>
              <a:t>Si le magasin est géré sous WM, il faut créer, imprimer et confirmer un ordre de transfert.</a:t>
            </a:r>
          </a:p>
          <a:p>
            <a:pPr>
              <a:buFont typeface="Arial" charset="0"/>
              <a:buChar char="•"/>
              <a:defRPr/>
            </a:pPr>
            <a:endParaRPr lang="fr-FR" dirty="0">
              <a:ea typeface="ＭＳ Ｐゴシック" pitchFamily="-65" charset="-128"/>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VHEKTECQ7ECW-1532981086-4820</_dlc_DocId>
    <_dlc_DocIdUrl xmlns="f36dd47d-0b23-43fd-9b2d-c5346ffa1660">
      <Url>http://projets.cbg-guinee.com/erp/_layouts/15/DocIdRedir.aspx?ID=VHEKTECQ7ECW-1532981086-4820</Url>
      <Description>VHEKTECQ7ECW-1532981086-4820</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6B08D313-DD74-49B0-B6A4-96BD802D9198}"/>
</file>

<file path=customXml/itemProps2.xml><?xml version="1.0" encoding="utf-8"?>
<ds:datastoreItem xmlns:ds="http://schemas.openxmlformats.org/officeDocument/2006/customXml" ds:itemID="{DFE7DD0B-0BE8-4E24-A363-4DD0A01C5DCF}"/>
</file>

<file path=customXml/itemProps3.xml><?xml version="1.0" encoding="utf-8"?>
<ds:datastoreItem xmlns:ds="http://schemas.openxmlformats.org/officeDocument/2006/customXml" ds:itemID="{BC12F0CE-98DA-43E2-A467-FD87459D6ACA}"/>
</file>

<file path=customXml/itemProps4.xml><?xml version="1.0" encoding="utf-8"?>
<ds:datastoreItem xmlns:ds="http://schemas.openxmlformats.org/officeDocument/2006/customXml" ds:itemID="{938ECAFA-5DEC-44AF-890E-8245A5A502A5}"/>
</file>

<file path=docProps/app.xml><?xml version="1.0" encoding="utf-8"?>
<Properties xmlns="http://schemas.openxmlformats.org/officeDocument/2006/extended-properties" xmlns:vt="http://schemas.openxmlformats.org/officeDocument/2006/docPropsVTypes">
  <Template/>
  <TotalTime>0</TotalTime>
  <Words>1034</Words>
  <Application>Microsoft Office PowerPoint</Application>
  <PresentationFormat>Affichage à l'écran (16:9)</PresentationFormat>
  <Paragraphs>319</Paragraphs>
  <Slides>26</Slides>
  <Notes>9</Notes>
  <HiddenSlides>0</HiddenSlides>
  <MMClips>0</MMClips>
  <ScaleCrop>false</ScaleCrop>
  <HeadingPairs>
    <vt:vector size="4" baseType="variant">
      <vt:variant>
        <vt:lpstr>Thème</vt:lpstr>
      </vt:variant>
      <vt:variant>
        <vt:i4>1</vt:i4>
      </vt:variant>
      <vt:variant>
        <vt:lpstr>Titres des diapositives</vt:lpstr>
      </vt:variant>
      <vt:variant>
        <vt:i4>26</vt:i4>
      </vt:variant>
    </vt:vector>
  </HeadingPairs>
  <TitlesOfParts>
    <vt:vector size="27" baseType="lpstr">
      <vt:lpstr>TemplateBE_FR</vt:lpstr>
      <vt:lpstr>Présentation PowerPoint</vt:lpstr>
      <vt:lpstr>Présentation PowerPoint</vt:lpstr>
      <vt:lpstr>Objectifs de la formation</vt:lpstr>
      <vt:lpstr>Agenda : 1h30</vt:lpstr>
      <vt:lpstr>Présentation PowerPoint</vt:lpstr>
      <vt:lpstr>Description du processus métier Les enjeux du processus</vt:lpstr>
      <vt:lpstr>Description du processus métier Création et traitement d’une réservation</vt:lpstr>
      <vt:lpstr>Description du processus métier Création et traitement d’une réservation</vt:lpstr>
      <vt:lpstr>Description du processus métier Remarques pour les réservation sur ordre de travail</vt:lpstr>
      <vt:lpstr>Description du processus métier Remarques sur les retours magasin</vt:lpstr>
      <vt:lpstr>Présentation PowerPoint</vt:lpstr>
      <vt:lpstr>Mode opératoire Présentation du mode opératoire dans SAP  </vt:lpstr>
      <vt:lpstr>Mode opératoire MB21 – Créer une réservation</vt:lpstr>
      <vt:lpstr>Mode opératoire MMBE – Afficher la synthèse du stock MM</vt:lpstr>
      <vt:lpstr>Mode opératoire MIGO – Réaliser la sortie de marchandises en référence à une réservation 1/2</vt:lpstr>
      <vt:lpstr>Mode opératoire MIGO – Réaliser la sortie de marchandises en référence à une réservation 2/2</vt:lpstr>
      <vt:lpstr>Description des objets SAP</vt:lpstr>
      <vt:lpstr>Mode opératoire MMBE – Afficher la synthèse du stock MM</vt:lpstr>
      <vt:lpstr>Mode opératoire LS24 – Afficher la vision du stock selon WM (avant la confirmation de l’OT)</vt:lpstr>
      <vt:lpstr>Mode opératoire LT31 – Imprimer l’ordre de transfert</vt:lpstr>
      <vt:lpstr>Mode opératoire LT22 – Confirmer l’OT</vt:lpstr>
      <vt:lpstr>Mode opératoire LS24 – Afficher la vision du stock selon WM (après la confirmation de l’OT)</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Mamadou Oury9925 Diallo</cp:lastModifiedBy>
  <cp:revision>3966</cp:revision>
  <cp:lastPrinted>2015-12-09T15:41:23Z</cp:lastPrinted>
  <dcterms:created xsi:type="dcterms:W3CDTF">2012-05-17T14:14:37Z</dcterms:created>
  <dcterms:modified xsi:type="dcterms:W3CDTF">2016-01-29T09:05:50Z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c103f4a3-f1e0-4998-b3e6-6dd37ba1149c</vt:lpwstr>
  </property>
</Properties>
</file>