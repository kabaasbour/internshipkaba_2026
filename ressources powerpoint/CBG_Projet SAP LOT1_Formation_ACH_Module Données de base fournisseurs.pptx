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s/slide20.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7"/>
  </p:notesMasterIdLst>
  <p:handoutMasterIdLst>
    <p:handoutMasterId r:id="rId28"/>
  </p:handoutMasterIdLst>
  <p:sldIdLst>
    <p:sldId id="685" r:id="rId5"/>
    <p:sldId id="686" r:id="rId6"/>
    <p:sldId id="687" r:id="rId7"/>
    <p:sldId id="723" r:id="rId8"/>
    <p:sldId id="691" r:id="rId9"/>
    <p:sldId id="756" r:id="rId10"/>
    <p:sldId id="694" r:id="rId11"/>
    <p:sldId id="692" r:id="rId12"/>
    <p:sldId id="693" r:id="rId13"/>
    <p:sldId id="724" r:id="rId14"/>
    <p:sldId id="713" r:id="rId15"/>
    <p:sldId id="696" r:id="rId16"/>
    <p:sldId id="744" r:id="rId17"/>
    <p:sldId id="751" r:id="rId18"/>
    <p:sldId id="745" r:id="rId19"/>
    <p:sldId id="752" r:id="rId20"/>
    <p:sldId id="753" r:id="rId21"/>
    <p:sldId id="754" r:id="rId22"/>
    <p:sldId id="755" r:id="rId23"/>
    <p:sldId id="725" r:id="rId24"/>
    <p:sldId id="710" r:id="rId25"/>
    <p:sldId id="728" r:id="rId26"/>
  </p:sldIdLst>
  <p:sldSz cx="9144000" cy="5143500" type="screen16x9"/>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960" userDrawn="1">
          <p15:clr>
            <a:srgbClr val="A4A3A4"/>
          </p15:clr>
        </p15:guide>
        <p15:guide id="3" orient="horz" pos="89">
          <p15:clr>
            <a:srgbClr val="A4A3A4"/>
          </p15:clr>
        </p15:guide>
        <p15:guide id="4" orient="horz" pos="1847" userDrawn="1">
          <p15:clr>
            <a:srgbClr val="A4A3A4"/>
          </p15:clr>
        </p15:guide>
        <p15:guide id="5" orient="horz" pos="735" userDrawn="1">
          <p15:clr>
            <a:srgbClr val="A4A3A4"/>
          </p15:clr>
        </p15:guide>
        <p15:guide id="7" pos="2880" userDrawn="1">
          <p15:clr>
            <a:srgbClr val="A4A3A4"/>
          </p15:clr>
        </p15:guide>
        <p15:guide id="8" pos="5575">
          <p15:clr>
            <a:srgbClr val="A4A3A4"/>
          </p15:clr>
        </p15:guide>
        <p15:guide id="9" orient="horz" pos="32" userDrawn="1">
          <p15:clr>
            <a:srgbClr val="A4A3A4"/>
          </p15:clr>
        </p15:guide>
        <p15:guide id="10" orient="horz" pos="3162"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48" autoAdjust="0"/>
    <p:restoredTop sz="94278" autoAdjust="0"/>
  </p:normalViewPr>
  <p:slideViewPr>
    <p:cSldViewPr snapToGrid="0" snapToObjects="1">
      <p:cViewPr varScale="1">
        <p:scale>
          <a:sx n="116" d="100"/>
          <a:sy n="116" d="100"/>
        </p:scale>
        <p:origin x="924" y="108"/>
      </p:cViewPr>
      <p:guideLst>
        <p:guide orient="horz" pos="3049"/>
        <p:guide orient="horz" pos="1960"/>
        <p:guide orient="horz" pos="89"/>
        <p:guide orient="horz" pos="1847"/>
        <p:guide orient="horz" pos="735"/>
        <p:guide pos="2880"/>
        <p:guide pos="5575"/>
        <p:guide orient="horz" pos="32"/>
        <p:guide orient="horz" pos="31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10"/>
        <p:guide pos="2124"/>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3633"/>
          </a:xfrm>
          <a:prstGeom prst="rect">
            <a:avLst/>
          </a:prstGeom>
        </p:spPr>
        <p:txBody>
          <a:bodyPr vert="horz" lIns="91427" tIns="45714" rIns="91427" bIns="45714" rtlCol="0"/>
          <a:lstStyle>
            <a:lvl1pPr algn="r">
              <a:defRPr sz="1200"/>
            </a:lvl1pPr>
          </a:lstStyle>
          <a:p>
            <a:fld id="{4FCF4903-D1A4-F14A-B207-A0D2CC9D4B8B}" type="datetimeFigureOut">
              <a:rPr lang="en-US" smtClean="0"/>
              <a:t>12/18/2015</a:t>
            </a:fld>
            <a:endParaRPr lang="en-US" dirty="0"/>
          </a:p>
        </p:txBody>
      </p:sp>
      <p:sp>
        <p:nvSpPr>
          <p:cNvPr id="4" name="Footer Placeholder 3"/>
          <p:cNvSpPr>
            <a:spLocks noGrp="1"/>
          </p:cNvSpPr>
          <p:nvPr>
            <p:ph type="ftr" sz="quarter" idx="2"/>
          </p:nvPr>
        </p:nvSpPr>
        <p:spPr>
          <a:xfrm>
            <a:off x="1" y="9377318"/>
            <a:ext cx="2945659" cy="493633"/>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377318"/>
            <a:ext cx="2945659" cy="493633"/>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3633"/>
          </a:xfrm>
          <a:prstGeom prst="rect">
            <a:avLst/>
          </a:prstGeom>
        </p:spPr>
        <p:txBody>
          <a:bodyPr vert="horz" lIns="91427" tIns="45714" rIns="91427" bIns="45714" rtlCol="0"/>
          <a:lstStyle>
            <a:lvl1pPr algn="r">
              <a:defRPr sz="1200"/>
            </a:lvl1pPr>
          </a:lstStyle>
          <a:p>
            <a:fld id="{BC5B4241-C98F-4766-9E25-5F8403374385}" type="datetimeFigureOut">
              <a:rPr lang="de-DE" smtClean="0"/>
              <a:t>18.12.2015</a:t>
            </a:fld>
            <a:endParaRPr lang="de-DE" dirty="0"/>
          </a:p>
        </p:txBody>
      </p:sp>
      <p:sp>
        <p:nvSpPr>
          <p:cNvPr id="4" name="Folienbildplatzhalter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377318"/>
            <a:ext cx="2945659" cy="493633"/>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377318"/>
            <a:ext cx="2945659" cy="493633"/>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10</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13</a:t>
            </a:fld>
            <a:endParaRPr lang="de-DE" dirty="0"/>
          </a:p>
        </p:txBody>
      </p:sp>
    </p:spTree>
    <p:extLst>
      <p:ext uri="{BB962C8B-B14F-4D97-AF65-F5344CB8AC3E}">
        <p14:creationId xmlns:p14="http://schemas.microsoft.com/office/powerpoint/2010/main" val="3709808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14</a:t>
            </a:fld>
            <a:endParaRPr lang="de-DE" dirty="0"/>
          </a:p>
        </p:txBody>
      </p:sp>
    </p:spTree>
    <p:extLst>
      <p:ext uri="{BB962C8B-B14F-4D97-AF65-F5344CB8AC3E}">
        <p14:creationId xmlns:p14="http://schemas.microsoft.com/office/powerpoint/2010/main" val="183013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15</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01877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16</a:t>
            </a:fld>
            <a:endParaRPr lang="de-DE" dirty="0"/>
          </a:p>
        </p:txBody>
      </p:sp>
    </p:spTree>
    <p:extLst>
      <p:ext uri="{BB962C8B-B14F-4D97-AF65-F5344CB8AC3E}">
        <p14:creationId xmlns:p14="http://schemas.microsoft.com/office/powerpoint/2010/main" val="382246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17</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2597298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18</a:t>
            </a:fld>
            <a:endParaRPr lang="de-DE" dirty="0"/>
          </a:p>
        </p:txBody>
      </p:sp>
    </p:spTree>
    <p:extLst>
      <p:ext uri="{BB962C8B-B14F-4D97-AF65-F5344CB8AC3E}">
        <p14:creationId xmlns:p14="http://schemas.microsoft.com/office/powerpoint/2010/main" val="1876446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754914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20</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18/12/2015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6295182"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 Achats</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 Créer et bloquer un fournisseur</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 fournisseur externe (local ou international)</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 fournisseur </a:t>
            </a:r>
            <a:r>
              <a:rPr lang="fr-FR" sz="900" dirty="0" smtClean="0">
                <a:solidFill>
                  <a:schemeClr val="tx1"/>
                </a:solidFill>
                <a:latin typeface="Arial" pitchFamily="34" charset="0"/>
                <a:cs typeface="Arial" pitchFamily="34" charset="0"/>
              </a:rPr>
              <a:t>interne </a:t>
            </a:r>
            <a:r>
              <a:rPr lang="fr-FR" sz="900" dirty="0">
                <a:solidFill>
                  <a:schemeClr val="tx1"/>
                </a:solidFill>
                <a:latin typeface="Arial" pitchFamily="34" charset="0"/>
                <a:cs typeface="Arial" pitchFamily="34" charset="0"/>
              </a:rPr>
              <a:t>(</a:t>
            </a:r>
            <a:r>
              <a:rPr lang="fr-FR" sz="900" dirty="0" smtClean="0">
                <a:solidFill>
                  <a:schemeClr val="tx1"/>
                </a:solidFill>
                <a:latin typeface="Arial" pitchFamily="34" charset="0"/>
                <a:cs typeface="Arial" pitchFamily="34" charset="0"/>
              </a:rPr>
              <a:t>employé)</a:t>
            </a: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bloquer un fournisseur</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Création d’un </a:t>
            </a:r>
            <a:r>
              <a:rPr lang="fr-FR" sz="900" dirty="0">
                <a:solidFill>
                  <a:schemeClr val="tx1"/>
                </a:solidFill>
                <a:latin typeface="Arial" pitchFamily="34" charset="0"/>
                <a:cs typeface="Arial" pitchFamily="34" charset="0"/>
              </a:rPr>
              <a:t>fournisseur externe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Création d’un </a:t>
            </a:r>
            <a:r>
              <a:rPr lang="fr-FR" sz="900" dirty="0">
                <a:solidFill>
                  <a:schemeClr val="tx1"/>
                </a:solidFill>
                <a:latin typeface="Arial" pitchFamily="34" charset="0"/>
                <a:cs typeface="Arial" pitchFamily="34" charset="0"/>
              </a:rPr>
              <a:t>fournisseur interne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Blocage d’un </a:t>
            </a:r>
            <a:r>
              <a:rPr lang="fr-FR" sz="900" dirty="0">
                <a:solidFill>
                  <a:schemeClr val="tx1"/>
                </a:solidFill>
                <a:latin typeface="Arial" pitchFamily="34" charset="0"/>
                <a:cs typeface="Arial" pitchFamily="34" charset="0"/>
              </a:rPr>
              <a:t>fournisseur</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2 Heures</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 de gestion des fournisseurs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pPr>
              <a:spcBef>
                <a:spcPts val="600"/>
              </a:spcBef>
              <a:spcAft>
                <a:spcPts val="0"/>
              </a:spcAft>
            </a:pPr>
            <a:r>
              <a:rPr lang="fr-FR" dirty="0"/>
              <a:t>Un fournisseur est un partenaire commercial. Les fournisseurs sont utilisés principalement dans les flux impliquant les achats et la comptabilité fournisseur. </a:t>
            </a:r>
            <a:endParaRPr lang="fr-FR" dirty="0" smtClean="0"/>
          </a:p>
          <a:p>
            <a:pPr>
              <a:spcBef>
                <a:spcPts val="600"/>
              </a:spcBef>
              <a:spcAft>
                <a:spcPts val="0"/>
              </a:spcAft>
            </a:pPr>
            <a:r>
              <a:rPr lang="fr-FR" dirty="0"/>
              <a:t>Un fournisseur est également tout autre société ou personne que la CBG va payer. Ainsi les employés de la CBG qui reçoivent un salaire seront aussi considérés comme fournisseur</a:t>
            </a:r>
            <a:r>
              <a:rPr lang="fr-FR" dirty="0" smtClean="0"/>
              <a:t>. </a:t>
            </a:r>
            <a:r>
              <a:rPr lang="fr-FR" dirty="0" smtClean="0"/>
              <a:t>On </a:t>
            </a:r>
            <a:r>
              <a:rPr lang="fr-FR" dirty="0"/>
              <a:t>distingue en cible :</a:t>
            </a:r>
          </a:p>
          <a:p>
            <a:pPr marL="171450" indent="-171450">
              <a:buClr>
                <a:srgbClr val="0070C0"/>
              </a:buClr>
              <a:buSzPct val="100000"/>
              <a:buFont typeface="Arial" panose="020B0604020202020204" pitchFamily="34" charset="0"/>
              <a:buChar char="•"/>
            </a:pPr>
            <a:r>
              <a:rPr lang="fr-FR" dirty="0" smtClean="0"/>
              <a:t>Les </a:t>
            </a:r>
            <a:r>
              <a:rPr lang="fr-FR" dirty="0"/>
              <a:t>fournisseurs </a:t>
            </a:r>
            <a:r>
              <a:rPr lang="fr-FR" dirty="0" smtClean="0"/>
              <a:t>externes (Locaux ou Outre-Mer)</a:t>
            </a:r>
            <a:endParaRPr lang="fr-FR" dirty="0"/>
          </a:p>
          <a:p>
            <a:pPr marL="171450" indent="-171450">
              <a:buClr>
                <a:srgbClr val="0070C0"/>
              </a:buClr>
              <a:buSzPct val="100000"/>
              <a:buFont typeface="Arial" panose="020B0604020202020204" pitchFamily="34" charset="0"/>
              <a:buChar char="•"/>
            </a:pPr>
            <a:r>
              <a:rPr lang="fr-FR" dirty="0" smtClean="0"/>
              <a:t>Les </a:t>
            </a:r>
            <a:r>
              <a:rPr lang="fr-FR" dirty="0"/>
              <a:t>fournisseurs </a:t>
            </a:r>
            <a:r>
              <a:rPr lang="fr-FR" dirty="0" smtClean="0"/>
              <a:t>internes (employés CBG)</a:t>
            </a:r>
            <a:endParaRPr lang="fr-FR" dirty="0"/>
          </a:p>
          <a:p>
            <a:pPr>
              <a:spcBef>
                <a:spcPts val="600"/>
              </a:spcBef>
              <a:spcAft>
                <a:spcPts val="0"/>
              </a:spcAft>
            </a:pPr>
            <a:r>
              <a:rPr lang="fr-FR" dirty="0" smtClean="0"/>
              <a:t>Les </a:t>
            </a:r>
            <a:r>
              <a:rPr lang="fr-FR" dirty="0"/>
              <a:t>fournisseurs sont gérés par leur propre bureau d’achat (hors surintendant des achats industriels). Les acheteurs de chaque bureau d’achat ne peuvent contacter que leurs fournisseurs</a:t>
            </a:r>
            <a:r>
              <a:rPr lang="fr-FR" dirty="0" smtClean="0"/>
              <a:t>.</a:t>
            </a:r>
          </a:p>
          <a:p>
            <a:pPr>
              <a:spcBef>
                <a:spcPts val="600"/>
              </a:spcBef>
              <a:spcAft>
                <a:spcPts val="0"/>
              </a:spcAft>
            </a:pPr>
            <a:r>
              <a:rPr lang="fr-FR" dirty="0" smtClean="0"/>
              <a:t>Les </a:t>
            </a:r>
            <a:r>
              <a:rPr lang="fr-FR" dirty="0"/>
              <a:t>douanes seront considérées comme des fournisseurs au sein de la CBG</a:t>
            </a:r>
            <a:r>
              <a:rPr lang="fr-FR" dirty="0" smtClean="0"/>
              <a:t>.</a:t>
            </a:r>
            <a:endParaRPr lang="fr-FR" dirty="0"/>
          </a:p>
          <a:p>
            <a:r>
              <a:rPr lang="fr-FR" b="1" dirty="0" smtClean="0">
                <a:solidFill>
                  <a:srgbClr val="0070C0"/>
                </a:solidFill>
              </a:rPr>
              <a:t>Enjeux pour </a:t>
            </a:r>
            <a:r>
              <a:rPr lang="fr-FR" b="1" dirty="0" smtClean="0">
                <a:solidFill>
                  <a:srgbClr val="0070C0"/>
                </a:solidFill>
              </a:rPr>
              <a:t>les achats </a:t>
            </a:r>
            <a:r>
              <a:rPr lang="fr-FR" b="1" dirty="0">
                <a:solidFill>
                  <a:srgbClr val="0070C0"/>
                </a:solidFill>
              </a:rPr>
              <a:t>:</a:t>
            </a:r>
          </a:p>
          <a:p>
            <a:pPr marL="171450" lvl="0" indent="-171450">
              <a:buClr>
                <a:srgbClr val="0070C0"/>
              </a:buClr>
              <a:buSzPct val="100000"/>
              <a:buFont typeface="Arial" panose="020B0604020202020204" pitchFamily="34" charset="0"/>
              <a:buChar char="•"/>
            </a:pPr>
            <a:r>
              <a:rPr lang="fr-FR" dirty="0" smtClean="0"/>
              <a:t>Consolider </a:t>
            </a:r>
            <a:r>
              <a:rPr lang="fr-FR" dirty="0" smtClean="0"/>
              <a:t>les données fournisseur dans un système unique</a:t>
            </a:r>
            <a:endParaRPr lang="en-US" dirty="0"/>
          </a:p>
          <a:p>
            <a:pPr marL="171450" lvl="0" indent="-171450">
              <a:buClr>
                <a:srgbClr val="0070C0"/>
              </a:buClr>
              <a:buSzPct val="100000"/>
              <a:buFont typeface="Arial" panose="020B0604020202020204" pitchFamily="34" charset="0"/>
              <a:buChar char="•"/>
            </a:pPr>
            <a:r>
              <a:rPr lang="fr-FR" dirty="0" smtClean="0"/>
              <a:t>Capitaliser </a:t>
            </a:r>
            <a:r>
              <a:rPr lang="fr-FR" dirty="0" smtClean="0"/>
              <a:t>sur les données afin d’améliorer les relations fournisseurs</a:t>
            </a:r>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différentes données de la fiche fournisseur</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pPr>
              <a:spcBef>
                <a:spcPts val="600"/>
              </a:spcBef>
              <a:spcAft>
                <a:spcPts val="0"/>
              </a:spcAft>
            </a:pPr>
            <a:r>
              <a:rPr lang="fr-FR" dirty="0" smtClean="0"/>
              <a:t>La fiche fournisseur SAP contient des informations que l’on peut catégoriser en 3 sections, qui sont maintenues pour des données organisationnelles différentes :</a:t>
            </a:r>
          </a:p>
          <a:p>
            <a:pPr marL="171450" indent="-171450">
              <a:spcBef>
                <a:spcPts val="600"/>
              </a:spcBef>
              <a:spcAft>
                <a:spcPts val="0"/>
              </a:spcAft>
              <a:buClr>
                <a:srgbClr val="0070C0"/>
              </a:buClr>
              <a:buSzPct val="100000"/>
              <a:buFont typeface="Wingdings" panose="05000000000000000000" pitchFamily="2" charset="2"/>
              <a:buChar char="§"/>
            </a:pPr>
            <a:r>
              <a:rPr lang="fr-FR" b="1" u="sng" dirty="0" smtClean="0"/>
              <a:t>Les données générales</a:t>
            </a:r>
          </a:p>
          <a:p>
            <a:pPr>
              <a:spcBef>
                <a:spcPts val="600"/>
              </a:spcBef>
              <a:spcAft>
                <a:spcPts val="0"/>
              </a:spcAft>
            </a:pPr>
            <a:r>
              <a:rPr lang="fr-FR" sz="1100" dirty="0" smtClean="0"/>
              <a:t>Elles permettent de définir les données propres </a:t>
            </a:r>
            <a:r>
              <a:rPr lang="fr-FR" sz="1100" dirty="0"/>
              <a:t>a</a:t>
            </a:r>
            <a:r>
              <a:rPr lang="fr-FR" sz="1100" dirty="0" smtClean="0"/>
              <a:t>u fournisseur. Et sont maintenues sans référence à une quelconque organisation.</a:t>
            </a:r>
          </a:p>
          <a:p>
            <a:pPr>
              <a:spcBef>
                <a:spcPts val="600"/>
              </a:spcBef>
              <a:spcAft>
                <a:spcPts val="0"/>
              </a:spcAft>
            </a:pPr>
            <a:r>
              <a:rPr lang="fr-FR" sz="1100" dirty="0" smtClean="0"/>
              <a:t>Parmi les données générales, ou retrouve principalement les données d’adresse fournisseur, les critères de recherche, une identification fiscale, etc.</a:t>
            </a:r>
          </a:p>
          <a:p>
            <a:pPr marL="171450" indent="-171450">
              <a:spcBef>
                <a:spcPts val="600"/>
              </a:spcBef>
              <a:spcAft>
                <a:spcPts val="0"/>
              </a:spcAft>
              <a:buClr>
                <a:srgbClr val="0070C0"/>
              </a:buClr>
              <a:buSzPct val="100000"/>
              <a:buFont typeface="Wingdings" panose="05000000000000000000" pitchFamily="2" charset="2"/>
              <a:buChar char="§"/>
            </a:pPr>
            <a:r>
              <a:rPr lang="fr-FR" b="1" u="sng" dirty="0"/>
              <a:t>Les données </a:t>
            </a:r>
            <a:r>
              <a:rPr lang="fr-FR" b="1" u="sng" dirty="0" smtClean="0"/>
              <a:t>Achats</a:t>
            </a:r>
            <a:endParaRPr lang="fr-FR" b="1" u="sng" dirty="0"/>
          </a:p>
          <a:p>
            <a:pPr>
              <a:spcBef>
                <a:spcPts val="600"/>
              </a:spcBef>
              <a:spcAft>
                <a:spcPts val="0"/>
              </a:spcAft>
            </a:pPr>
            <a:r>
              <a:rPr lang="fr-FR" sz="1100" dirty="0"/>
              <a:t>Elles permettent de définir les données </a:t>
            </a:r>
            <a:r>
              <a:rPr lang="fr-FR" sz="1100" dirty="0" smtClean="0"/>
              <a:t>relatives à la passation d’Appels d’Offres / Commandes d’Achat, et sont valables pour une Organisation d’Achats donnée. Elles sont nécessaires pour pouvoir utiliser le fournisseur dans un processus d’achat pour une organisation données, et contiennent notamment la devise fournisseur, les conditions de paiement et l’Incoterm utilisé</a:t>
            </a:r>
            <a:endParaRPr lang="fr-FR" dirty="0"/>
          </a:p>
          <a:p>
            <a:pPr marL="171450" indent="-171450">
              <a:spcBef>
                <a:spcPts val="600"/>
              </a:spcBef>
              <a:spcAft>
                <a:spcPts val="0"/>
              </a:spcAft>
              <a:buClr>
                <a:srgbClr val="0070C0"/>
              </a:buClr>
              <a:buSzPct val="100000"/>
              <a:buFont typeface="Wingdings" panose="05000000000000000000" pitchFamily="2" charset="2"/>
              <a:buChar char="§"/>
            </a:pPr>
            <a:r>
              <a:rPr lang="fr-FR" b="1" u="sng" dirty="0"/>
              <a:t>Les données </a:t>
            </a:r>
            <a:r>
              <a:rPr lang="fr-FR" b="1" u="sng" dirty="0" smtClean="0"/>
              <a:t>Société</a:t>
            </a:r>
            <a:endParaRPr lang="fr-FR" b="1" u="sng" dirty="0"/>
          </a:p>
          <a:p>
            <a:pPr>
              <a:spcBef>
                <a:spcPts val="600"/>
              </a:spcBef>
              <a:spcAft>
                <a:spcPts val="0"/>
              </a:spcAft>
            </a:pPr>
            <a:r>
              <a:rPr lang="fr-FR" sz="1100" dirty="0" smtClean="0"/>
              <a:t>Nécessaires pour le rapprochement facture, les données société sont définies pour une Société dans SAP. Elles contiennent notamment les informations financières et bancaires du fournisseur.</a:t>
            </a:r>
          </a:p>
          <a:p>
            <a:pPr algn="ctr">
              <a:spcBef>
                <a:spcPts val="600"/>
              </a:spcBef>
              <a:spcAft>
                <a:spcPts val="0"/>
              </a:spcAft>
            </a:pPr>
            <a:r>
              <a:rPr lang="fr-FR" b="1" dirty="0">
                <a:solidFill>
                  <a:srgbClr val="0070C0"/>
                </a:solidFill>
              </a:rPr>
              <a:t>Ce support de formation se limite aux données générales et Achats, les données Société étant traitées dans un support de la partie Finance du projet</a:t>
            </a:r>
          </a:p>
        </p:txBody>
      </p:sp>
    </p:spTree>
    <p:extLst>
      <p:ext uri="{BB962C8B-B14F-4D97-AF65-F5344CB8AC3E}">
        <p14:creationId xmlns:p14="http://schemas.microsoft.com/office/powerpoint/2010/main" val="10489540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gestion des données fournisseurs</a:t>
            </a:r>
            <a:endParaRPr lang="en-US" altLang="en-US" sz="2400" dirty="0" smtClean="0"/>
          </a:p>
        </p:txBody>
      </p:sp>
      <p:sp>
        <p:nvSpPr>
          <p:cNvPr id="8" name="Rectangle 7"/>
          <p:cNvSpPr/>
          <p:nvPr/>
        </p:nvSpPr>
        <p:spPr>
          <a:xfrm>
            <a:off x="1165290" y="2562546"/>
            <a:ext cx="6888569" cy="939351"/>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0" name="Rectangle 9"/>
          <p:cNvSpPr/>
          <p:nvPr/>
        </p:nvSpPr>
        <p:spPr>
          <a:xfrm>
            <a:off x="1165290" y="1771961"/>
            <a:ext cx="6888569" cy="799157"/>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fr-FR" dirty="0"/>
          </a:p>
        </p:txBody>
      </p:sp>
      <p:sp>
        <p:nvSpPr>
          <p:cNvPr id="11" name="Rectangle 41"/>
          <p:cNvSpPr>
            <a:spLocks noChangeArrowheads="1"/>
          </p:cNvSpPr>
          <p:nvPr/>
        </p:nvSpPr>
        <p:spPr bwMode="auto">
          <a:xfrm rot="10800000">
            <a:off x="1165281" y="1771315"/>
            <a:ext cx="403906" cy="801532"/>
          </a:xfrm>
          <a:prstGeom prst="rect">
            <a:avLst/>
          </a:prstGeom>
          <a:gradFill rotWithShape="1">
            <a:gsLst>
              <a:gs pos="0">
                <a:srgbClr val="FFCC00"/>
              </a:gs>
              <a:gs pos="100000">
                <a:srgbClr val="FFFFFF"/>
              </a:gs>
            </a:gsLst>
            <a:lin ang="2700000" scaled="1"/>
          </a:gradFill>
          <a:ln w="15875" algn="ctr">
            <a:solidFill>
              <a:schemeClr val="tx1"/>
            </a:solidFill>
            <a:miter lim="800000"/>
            <a:headEnd/>
            <a:tailEnd/>
          </a:ln>
        </p:spPr>
        <p:txBody>
          <a:bodyPr vert="eaVert" lIns="88900" tIns="44450" rIns="88900" bIns="44450" anchor="ctr"/>
          <a:lstStyle/>
          <a:p>
            <a:pPr algn="ctr" defTabSz="823913" eaLnBrk="0" hangingPunct="0">
              <a:lnSpc>
                <a:spcPct val="80000"/>
              </a:lnSpc>
            </a:pPr>
            <a:r>
              <a:rPr lang="en-US" sz="1050" dirty="0" err="1" smtClean="0">
                <a:latin typeface="+mn-lt"/>
              </a:rPr>
              <a:t>Evènement</a:t>
            </a:r>
            <a:endParaRPr lang="en-US" sz="1050" dirty="0">
              <a:latin typeface="+mn-lt"/>
            </a:endParaRPr>
          </a:p>
        </p:txBody>
      </p:sp>
      <p:sp>
        <p:nvSpPr>
          <p:cNvPr id="12" name="AutoShape 74"/>
          <p:cNvSpPr>
            <a:spLocks noChangeArrowheads="1"/>
          </p:cNvSpPr>
          <p:nvPr/>
        </p:nvSpPr>
        <p:spPr bwMode="auto">
          <a:xfrm>
            <a:off x="1856070" y="1951447"/>
            <a:ext cx="1141981" cy="514968"/>
          </a:xfrm>
          <a:prstGeom prst="flowChartTerminator">
            <a:avLst/>
          </a:prstGeom>
          <a:gradFill rotWithShape="1">
            <a:gsLst>
              <a:gs pos="0">
                <a:srgbClr val="CCFFCC"/>
              </a:gs>
              <a:gs pos="50000">
                <a:srgbClr val="DEFFDE"/>
              </a:gs>
              <a:gs pos="100000">
                <a:srgbClr val="CCFFCC"/>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b="1" dirty="0" smtClean="0">
                <a:latin typeface="+mj-lt"/>
              </a:rPr>
              <a:t>Besoin d’un nouveau fournisseur externe</a:t>
            </a:r>
            <a:endParaRPr lang="fr-FR" sz="800" b="1" dirty="0">
              <a:latin typeface="+mj-lt"/>
            </a:endParaRPr>
          </a:p>
        </p:txBody>
      </p:sp>
      <p:sp>
        <p:nvSpPr>
          <p:cNvPr id="13" name="Rectangle 40"/>
          <p:cNvSpPr>
            <a:spLocks noChangeArrowheads="1"/>
          </p:cNvSpPr>
          <p:nvPr/>
        </p:nvSpPr>
        <p:spPr bwMode="auto">
          <a:xfrm rot="10800000">
            <a:off x="1165278" y="2556714"/>
            <a:ext cx="403906" cy="938645"/>
          </a:xfrm>
          <a:prstGeom prst="rect">
            <a:avLst/>
          </a:prstGeom>
          <a:gradFill rotWithShape="1">
            <a:gsLst>
              <a:gs pos="0">
                <a:srgbClr val="A3B7D5"/>
              </a:gs>
              <a:gs pos="100000">
                <a:srgbClr val="FFFFFF"/>
              </a:gs>
            </a:gsLst>
            <a:lin ang="2700000" scaled="1"/>
          </a:gradFill>
          <a:ln w="15875" algn="ctr">
            <a:solidFill>
              <a:schemeClr val="tx1"/>
            </a:solidFill>
            <a:miter lim="800000"/>
            <a:headEnd/>
            <a:tailEnd/>
          </a:ln>
        </p:spPr>
        <p:txBody>
          <a:bodyPr vert="eaVert" lIns="88900" tIns="44450" rIns="88900" bIns="44450" anchor="ctr"/>
          <a:lstStyle/>
          <a:p>
            <a:pPr algn="ctr" defTabSz="823913" eaLnBrk="0" hangingPunct="0">
              <a:lnSpc>
                <a:spcPct val="80000"/>
              </a:lnSpc>
            </a:pPr>
            <a:r>
              <a:rPr lang="en-US" sz="1050" dirty="0" err="1" smtClean="0">
                <a:latin typeface="+mn-lt"/>
              </a:rPr>
              <a:t>Acheteur</a:t>
            </a:r>
            <a:endParaRPr lang="en-US" sz="1050" dirty="0">
              <a:latin typeface="+mn-lt"/>
            </a:endParaRPr>
          </a:p>
        </p:txBody>
      </p:sp>
      <p:cxnSp>
        <p:nvCxnSpPr>
          <p:cNvPr id="14" name="Connecteur droit 7"/>
          <p:cNvCxnSpPr>
            <a:stCxn id="12" idx="2"/>
          </p:cNvCxnSpPr>
          <p:nvPr/>
        </p:nvCxnSpPr>
        <p:spPr bwMode="auto">
          <a:xfrm>
            <a:off x="2427061" y="2466415"/>
            <a:ext cx="0" cy="345678"/>
          </a:xfrm>
          <a:prstGeom prst="straightConnector1">
            <a:avLst/>
          </a:prstGeom>
          <a:noFill/>
          <a:ln w="15875">
            <a:solidFill>
              <a:srgbClr val="99CCFF"/>
            </a:solidFill>
            <a:round/>
            <a:headEnd/>
            <a:tailEnd type="triangle" w="med" len="med"/>
          </a:ln>
        </p:spPr>
      </p:cxnSp>
      <p:sp>
        <p:nvSpPr>
          <p:cNvPr id="16" name="AutoShape 74"/>
          <p:cNvSpPr>
            <a:spLocks noChangeArrowheads="1"/>
          </p:cNvSpPr>
          <p:nvPr/>
        </p:nvSpPr>
        <p:spPr bwMode="auto">
          <a:xfrm>
            <a:off x="6583993" y="1928830"/>
            <a:ext cx="1141981" cy="514968"/>
          </a:xfrm>
          <a:prstGeom prst="flowChartTerminator">
            <a:avLst/>
          </a:prstGeom>
          <a:gradFill rotWithShape="1">
            <a:gsLst>
              <a:gs pos="0">
                <a:srgbClr val="CCFFCC"/>
              </a:gs>
              <a:gs pos="50000">
                <a:srgbClr val="DEFFDE"/>
              </a:gs>
              <a:gs pos="100000">
                <a:srgbClr val="CCFFCC"/>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b="1" dirty="0" smtClean="0">
                <a:latin typeface="+mj-lt"/>
              </a:rPr>
              <a:t>Besoin de bloquer un fournisseur</a:t>
            </a:r>
            <a:endParaRPr lang="en-US" sz="800" b="1" dirty="0">
              <a:latin typeface="+mj-lt"/>
            </a:endParaRPr>
          </a:p>
        </p:txBody>
      </p:sp>
      <p:cxnSp>
        <p:nvCxnSpPr>
          <p:cNvPr id="17" name="Connecteur droit 7"/>
          <p:cNvCxnSpPr>
            <a:stCxn id="25" idx="2"/>
          </p:cNvCxnSpPr>
          <p:nvPr/>
        </p:nvCxnSpPr>
        <p:spPr bwMode="auto">
          <a:xfrm>
            <a:off x="4790698" y="2458806"/>
            <a:ext cx="324" cy="353287"/>
          </a:xfrm>
          <a:prstGeom prst="straightConnector1">
            <a:avLst/>
          </a:prstGeom>
          <a:noFill/>
          <a:ln w="15875">
            <a:solidFill>
              <a:srgbClr val="99CCFF"/>
            </a:solidFill>
            <a:round/>
            <a:headEnd/>
            <a:tailEnd type="triangle" w="med" len="med"/>
          </a:ln>
        </p:spPr>
      </p:cxnSp>
      <p:sp>
        <p:nvSpPr>
          <p:cNvPr id="18" name="AutoShape 73"/>
          <p:cNvSpPr>
            <a:spLocks noChangeArrowheads="1"/>
          </p:cNvSpPr>
          <p:nvPr/>
        </p:nvSpPr>
        <p:spPr bwMode="auto">
          <a:xfrm>
            <a:off x="1939845" y="2812093"/>
            <a:ext cx="974432" cy="417201"/>
          </a:xfrm>
          <a:prstGeom prst="rect">
            <a:avLst/>
          </a:prstGeom>
          <a:gradFill rotWithShape="1">
            <a:gsLst>
              <a:gs pos="0">
                <a:srgbClr val="A3B7D5"/>
              </a:gs>
              <a:gs pos="50000">
                <a:srgbClr val="E5EBF3"/>
              </a:gs>
              <a:gs pos="100000">
                <a:srgbClr val="A3B7D5"/>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dirty="0" smtClean="0">
                <a:latin typeface="+mj-lt"/>
              </a:rPr>
              <a:t>Créer fournisseur externe</a:t>
            </a:r>
            <a:endParaRPr lang="en-US" sz="800" dirty="0" smtClean="0">
              <a:latin typeface="+mj-lt"/>
            </a:endParaRPr>
          </a:p>
        </p:txBody>
      </p:sp>
      <p:cxnSp>
        <p:nvCxnSpPr>
          <p:cNvPr id="19" name="Connecteur droit 7"/>
          <p:cNvCxnSpPr>
            <a:stCxn id="16" idx="2"/>
          </p:cNvCxnSpPr>
          <p:nvPr/>
        </p:nvCxnSpPr>
        <p:spPr bwMode="auto">
          <a:xfrm>
            <a:off x="7154984" y="2443798"/>
            <a:ext cx="324" cy="368295"/>
          </a:xfrm>
          <a:prstGeom prst="straightConnector1">
            <a:avLst/>
          </a:prstGeom>
          <a:noFill/>
          <a:ln w="15875">
            <a:solidFill>
              <a:srgbClr val="99CCFF"/>
            </a:solidFill>
            <a:round/>
            <a:headEnd/>
            <a:tailEnd type="triangle" w="med" len="med"/>
          </a:ln>
        </p:spPr>
      </p:cxnSp>
      <p:sp>
        <p:nvSpPr>
          <p:cNvPr id="21" name="AutoShape 73"/>
          <p:cNvSpPr>
            <a:spLocks noChangeArrowheads="1"/>
          </p:cNvSpPr>
          <p:nvPr/>
        </p:nvSpPr>
        <p:spPr bwMode="auto">
          <a:xfrm>
            <a:off x="4303806" y="2812093"/>
            <a:ext cx="974432" cy="417201"/>
          </a:xfrm>
          <a:prstGeom prst="rect">
            <a:avLst/>
          </a:prstGeom>
          <a:gradFill rotWithShape="1">
            <a:gsLst>
              <a:gs pos="0">
                <a:srgbClr val="A3B7D5"/>
              </a:gs>
              <a:gs pos="50000">
                <a:srgbClr val="E5EBF3"/>
              </a:gs>
              <a:gs pos="100000">
                <a:srgbClr val="A3B7D5"/>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dirty="0" smtClean="0">
                <a:latin typeface="+mj-lt"/>
              </a:rPr>
              <a:t>Créer fournisseur interne</a:t>
            </a:r>
            <a:endParaRPr lang="en-US" sz="800" dirty="0" smtClean="0">
              <a:latin typeface="+mj-lt"/>
            </a:endParaRPr>
          </a:p>
        </p:txBody>
      </p:sp>
      <p:sp>
        <p:nvSpPr>
          <p:cNvPr id="24" name="AutoShape 73"/>
          <p:cNvSpPr>
            <a:spLocks noChangeArrowheads="1"/>
          </p:cNvSpPr>
          <p:nvPr/>
        </p:nvSpPr>
        <p:spPr bwMode="auto">
          <a:xfrm>
            <a:off x="6668092" y="2812093"/>
            <a:ext cx="974432" cy="417201"/>
          </a:xfrm>
          <a:prstGeom prst="rect">
            <a:avLst/>
          </a:prstGeom>
          <a:gradFill rotWithShape="1">
            <a:gsLst>
              <a:gs pos="0">
                <a:srgbClr val="A3B7D5"/>
              </a:gs>
              <a:gs pos="50000">
                <a:srgbClr val="E5EBF3"/>
              </a:gs>
              <a:gs pos="100000">
                <a:srgbClr val="A3B7D5"/>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dirty="0" smtClean="0">
                <a:latin typeface="+mj-lt"/>
              </a:rPr>
              <a:t>Bloquer fournisseur</a:t>
            </a:r>
            <a:endParaRPr lang="en-US" sz="800" dirty="0" smtClean="0">
              <a:latin typeface="+mj-lt"/>
            </a:endParaRPr>
          </a:p>
        </p:txBody>
      </p:sp>
      <p:sp>
        <p:nvSpPr>
          <p:cNvPr id="25" name="AutoShape 74"/>
          <p:cNvSpPr>
            <a:spLocks noChangeArrowheads="1"/>
          </p:cNvSpPr>
          <p:nvPr/>
        </p:nvSpPr>
        <p:spPr bwMode="auto">
          <a:xfrm>
            <a:off x="4219707" y="1943838"/>
            <a:ext cx="1141981" cy="514968"/>
          </a:xfrm>
          <a:prstGeom prst="flowChartTerminator">
            <a:avLst/>
          </a:prstGeom>
          <a:gradFill rotWithShape="1">
            <a:gsLst>
              <a:gs pos="0">
                <a:srgbClr val="CCFFCC"/>
              </a:gs>
              <a:gs pos="50000">
                <a:srgbClr val="DEFFDE"/>
              </a:gs>
              <a:gs pos="100000">
                <a:srgbClr val="CCFFCC"/>
              </a:gs>
            </a:gsLst>
            <a:lin ang="2700000" scaled="1"/>
          </a:gradFill>
          <a:ln w="12700" algn="ctr">
            <a:solidFill>
              <a:schemeClr val="tx1"/>
            </a:solidFill>
            <a:miter lim="800000"/>
            <a:headEnd/>
            <a:tailEnd/>
          </a:ln>
        </p:spPr>
        <p:txBody>
          <a:bodyPr lIns="88900" tIns="44450" rIns="88900" bIns="44450" anchor="ctr"/>
          <a:lstStyle/>
          <a:p>
            <a:pPr algn="ctr" defTabSz="823913" eaLnBrk="0" hangingPunct="0">
              <a:lnSpc>
                <a:spcPct val="80000"/>
              </a:lnSpc>
            </a:pPr>
            <a:r>
              <a:rPr lang="fr-FR" sz="800" b="1" dirty="0"/>
              <a:t>Besoin d’un nouveau fournisseur </a:t>
            </a:r>
            <a:r>
              <a:rPr lang="fr-FR" sz="800" b="1" dirty="0" smtClean="0"/>
              <a:t>interne (employé)</a:t>
            </a:r>
            <a:endParaRPr lang="fr-FR" sz="800" b="1" dirty="0"/>
          </a:p>
        </p:txBody>
      </p:sp>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fournisseurs</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créer un fournisseur?</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401511" y="3595561"/>
            <a:ext cx="1860176"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la fiche fournisseur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563714"/>
            <a:ext cx="2545398" cy="478201"/>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sont responsables de la création et du blocage d’un fournisseur</a:t>
            </a:r>
          </a:p>
        </p:txBody>
      </p:sp>
      <p:sp>
        <p:nvSpPr>
          <p:cNvPr id="28681" name="AutoShape 12"/>
          <p:cNvSpPr>
            <a:spLocks noChangeArrowheads="1"/>
          </p:cNvSpPr>
          <p:nvPr/>
        </p:nvSpPr>
        <p:spPr bwMode="auto">
          <a:xfrm>
            <a:off x="4999136" y="1206350"/>
            <a:ext cx="2701669" cy="656973"/>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besoin de travailler avec un nouveau fournisseur externe ou interne (embauche d’un employé)</a:t>
            </a:r>
            <a:endParaRPr lang="fr-FR" altLang="en-US" sz="1050" dirty="0"/>
          </a:p>
        </p:txBody>
      </p:sp>
      <p:sp>
        <p:nvSpPr>
          <p:cNvPr id="28682" name="AutoShape 6"/>
          <p:cNvSpPr>
            <a:spLocks noChangeArrowheads="1"/>
          </p:cNvSpPr>
          <p:nvPr/>
        </p:nvSpPr>
        <p:spPr bwMode="auto">
          <a:xfrm>
            <a:off x="1231921" y="2513875"/>
            <a:ext cx="1666915" cy="478201"/>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créer un fournisseur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3506157"/>
            <a:ext cx="2893219" cy="506578"/>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Données adresse</a:t>
            </a:r>
          </a:p>
          <a:p>
            <a:pPr eaLnBrk="1" hangingPunct="1">
              <a:spcBef>
                <a:spcPts val="225"/>
              </a:spcBef>
              <a:buFont typeface="Arial" panose="020B0604020202020204" pitchFamily="34" charset="0"/>
              <a:buChar char="•"/>
            </a:pPr>
            <a:r>
              <a:rPr lang="fr-FR" altLang="en-US" sz="1050" dirty="0" smtClean="0">
                <a:solidFill>
                  <a:schemeClr val="bg1"/>
                </a:solidFill>
              </a:rPr>
              <a:t>Données achats</a:t>
            </a: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endParaRPr lang="en-US" altLang="en-US" dirty="0" smtClean="0"/>
          </a:p>
        </p:txBody>
      </p:sp>
      <p:sp>
        <p:nvSpPr>
          <p:cNvPr id="20" name="Rectangle à coins arrondis 19"/>
          <p:cNvSpPr/>
          <p:nvPr/>
        </p:nvSpPr>
        <p:spPr>
          <a:xfrm>
            <a:off x="4355243" y="1494414"/>
            <a:ext cx="2874704" cy="478201"/>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fournisseurs s’inscrit sous le processus données de base achats</a:t>
            </a:r>
          </a:p>
        </p:txBody>
      </p:sp>
      <p:sp>
        <p:nvSpPr>
          <p:cNvPr id="29701" name="AutoShape 17"/>
          <p:cNvSpPr>
            <a:spLocks noChangeArrowheads="1"/>
          </p:cNvSpPr>
          <p:nvPr/>
        </p:nvSpPr>
        <p:spPr bwMode="auto">
          <a:xfrm>
            <a:off x="3313394" y="3951395"/>
            <a:ext cx="1333537"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Créer fournisseur externe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3" name="AutoShape 16"/>
          <p:cNvSpPr>
            <a:spLocks noChangeArrowheads="1"/>
          </p:cNvSpPr>
          <p:nvPr/>
        </p:nvSpPr>
        <p:spPr bwMode="auto">
          <a:xfrm>
            <a:off x="1904926" y="3631936"/>
            <a:ext cx="1333537"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Besoin de créer un fournisseur</a:t>
            </a:r>
            <a:endParaRPr lang="fr-FR" altLang="ko-KR" sz="800" b="1" dirty="0">
              <a:solidFill>
                <a:srgbClr val="FFFFFF"/>
              </a:solidFill>
              <a:latin typeface="Verdana" pitchFamily="34" charset="0"/>
              <a:ea typeface="ＭＳ Ｐゴシック"/>
              <a:cs typeface="Arial" pitchFamily="34" charset="0"/>
            </a:endParaRPr>
          </a:p>
        </p:txBody>
      </p:sp>
      <p:sp>
        <p:nvSpPr>
          <p:cNvPr id="8" name="AutoShape 17"/>
          <p:cNvSpPr>
            <a:spLocks noChangeArrowheads="1"/>
          </p:cNvSpPr>
          <p:nvPr/>
        </p:nvSpPr>
        <p:spPr bwMode="auto">
          <a:xfrm>
            <a:off x="3329745" y="3231120"/>
            <a:ext cx="1333537"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Créer fournisseur interne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0" name="AutoShape 17"/>
          <p:cNvSpPr>
            <a:spLocks noChangeArrowheads="1"/>
          </p:cNvSpPr>
          <p:nvPr/>
        </p:nvSpPr>
        <p:spPr bwMode="auto">
          <a:xfrm>
            <a:off x="4768165" y="3631936"/>
            <a:ext cx="1333537"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Utiliser un fournisseur</a:t>
            </a:r>
            <a:endParaRPr lang="fr-FR" altLang="ko-KR" sz="800" b="1" dirty="0">
              <a:solidFill>
                <a:srgbClr val="FFFFFF"/>
              </a:solidFill>
              <a:latin typeface="Verdana" pitchFamily="34" charset="0"/>
              <a:ea typeface="ＭＳ Ｐゴシック"/>
              <a:cs typeface="Arial" pitchFamily="34" charset="0"/>
            </a:endParaRPr>
          </a:p>
        </p:txBody>
      </p:sp>
      <p:sp>
        <p:nvSpPr>
          <p:cNvPr id="14" name="AutoShape 16"/>
          <p:cNvSpPr>
            <a:spLocks noChangeArrowheads="1"/>
          </p:cNvSpPr>
          <p:nvPr/>
        </p:nvSpPr>
        <p:spPr bwMode="auto">
          <a:xfrm>
            <a:off x="6206585" y="3631936"/>
            <a:ext cx="1333537" cy="400050"/>
          </a:xfrm>
          <a:prstGeom prst="chevron">
            <a:avLst>
              <a:gd name="adj" fmla="val 33526"/>
            </a:avLst>
          </a:prstGeom>
          <a:solidFill>
            <a:srgbClr val="0070C0"/>
          </a:solidFill>
          <a:ln w="12700" algn="ctr">
            <a:solidFill>
              <a:srgbClr val="004376"/>
            </a:solidFill>
            <a:miter lim="800000"/>
            <a:headEnd/>
            <a:tailEnd/>
          </a:ln>
        </p:spPr>
        <p:txBody>
          <a:bodyPr lIns="0" tIns="68580" rIns="108000" bIns="68580" anchor="ctr"/>
          <a:lstStyle/>
          <a:p>
            <a:pPr marL="93663" algn="ctr" eaLnBrk="0" hangingPunct="0"/>
            <a:r>
              <a:rPr lang="fr-FR" altLang="ko-KR" sz="800" b="1" dirty="0" smtClean="0">
                <a:solidFill>
                  <a:schemeClr val="bg1"/>
                </a:solidFill>
                <a:latin typeface="Verdana" panose="020B0604030504040204" pitchFamily="34" charset="0"/>
                <a:ea typeface="ＭＳ Ｐゴシック" panose="020B0600070205080204" pitchFamily="34" charset="-128"/>
                <a:cs typeface="Arial" panose="020B0604020202020204" pitchFamily="34" charset="0"/>
              </a:rPr>
              <a:t>Bloquer / Débloquer un </a:t>
            </a:r>
            <a:r>
              <a:rPr lang="fr-FR" altLang="ko-KR" sz="800" b="1" dirty="0">
                <a:solidFill>
                  <a:schemeClr val="bg1"/>
                </a:solidFill>
                <a:latin typeface="Verdana" panose="020B0604030504040204" pitchFamily="34" charset="0"/>
                <a:ea typeface="ＭＳ Ｐゴシック" panose="020B0600070205080204" pitchFamily="34" charset="-128"/>
                <a:cs typeface="Arial" panose="020B0604020202020204" pitchFamily="34" charset="0"/>
              </a:rPr>
              <a:t>fournisseur</a:t>
            </a:r>
            <a:endParaRPr lang="fr-FR" altLang="ko-KR" sz="800" b="1" dirty="0">
              <a:solidFill>
                <a:schemeClr val="bg1"/>
              </a:solidFill>
              <a:latin typeface="Verdana" panose="020B060403050404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2372867"/>
          </a:xfrm>
        </p:spPr>
        <p:txBody>
          <a:bodyPr/>
          <a:lstStyle/>
          <a:p>
            <a:r>
              <a:rPr lang="fr-FR" sz="1400" dirty="0" smtClean="0"/>
              <a:t>Un fournisseur est une personne </a:t>
            </a:r>
            <a:r>
              <a:rPr lang="fr-FR" sz="1400" dirty="0"/>
              <a:t>ou </a:t>
            </a:r>
            <a:r>
              <a:rPr lang="fr-FR" sz="1400" dirty="0" smtClean="0"/>
              <a:t>un établissement </a:t>
            </a:r>
            <a:r>
              <a:rPr lang="fr-FR" sz="1400" dirty="0"/>
              <a:t>qui fournit habituellement à un particulier ou à une entreprise certaines marchandises. </a:t>
            </a:r>
            <a:endParaRPr lang="fr-FR" sz="1400" dirty="0" smtClean="0"/>
          </a:p>
          <a:p>
            <a:r>
              <a:rPr lang="fr-FR" sz="1400" dirty="0" smtClean="0"/>
              <a:t>Un fournisseur se traduit dans SAP par une fiche fournisseur, dans le cadre des données de base achats</a:t>
            </a:r>
          </a:p>
          <a:p>
            <a:r>
              <a:rPr lang="fr-FR" sz="1400" dirty="0" smtClean="0"/>
              <a:t>Dans </a:t>
            </a:r>
            <a:r>
              <a:rPr lang="fr-FR" sz="1400" dirty="0"/>
              <a:t>le cas de la CBG, il </a:t>
            </a:r>
            <a:r>
              <a:rPr lang="fr-FR" sz="1400" dirty="0" smtClean="0"/>
              <a:t>existe 3 types de fournisseurs </a:t>
            </a:r>
            <a:r>
              <a:rPr lang="fr-FR" sz="1400" dirty="0"/>
              <a:t>:</a:t>
            </a:r>
          </a:p>
          <a:p>
            <a:pPr marL="285750" indent="-285750">
              <a:spcBef>
                <a:spcPts val="0"/>
              </a:spcBef>
              <a:spcAft>
                <a:spcPts val="0"/>
              </a:spcAft>
              <a:buClr>
                <a:srgbClr val="0070C0"/>
              </a:buClr>
              <a:buSzPct val="100000"/>
              <a:buFont typeface="Arial" panose="020B0604020202020204" pitchFamily="34" charset="0"/>
              <a:buChar char="•"/>
            </a:pPr>
            <a:r>
              <a:rPr lang="fr-FR" sz="1400" dirty="0" smtClean="0"/>
              <a:t>Les </a:t>
            </a:r>
            <a:r>
              <a:rPr lang="fr-FR" sz="1400" dirty="0"/>
              <a:t>fournisseurs Locaux Guinéens </a:t>
            </a:r>
            <a:r>
              <a:rPr lang="fr-FR" sz="1400" dirty="0" smtClean="0"/>
              <a:t>(externes)</a:t>
            </a:r>
            <a:endParaRPr lang="fr-FR" sz="1400" dirty="0"/>
          </a:p>
          <a:p>
            <a:pPr marL="285750" indent="-285750">
              <a:spcBef>
                <a:spcPts val="0"/>
              </a:spcBef>
              <a:spcAft>
                <a:spcPts val="0"/>
              </a:spcAft>
              <a:buClr>
                <a:srgbClr val="0070C0"/>
              </a:buClr>
              <a:buSzPct val="100000"/>
              <a:buFont typeface="Arial" panose="020B0604020202020204" pitchFamily="34" charset="0"/>
              <a:buChar char="•"/>
            </a:pPr>
            <a:r>
              <a:rPr lang="fr-FR" sz="1400" dirty="0" smtClean="0"/>
              <a:t>Les </a:t>
            </a:r>
            <a:r>
              <a:rPr lang="fr-FR" sz="1400" dirty="0"/>
              <a:t>fournisseurs </a:t>
            </a:r>
            <a:r>
              <a:rPr lang="fr-FR" sz="1400" dirty="0" smtClean="0"/>
              <a:t>internationaux </a:t>
            </a:r>
            <a:r>
              <a:rPr lang="fr-FR" sz="1400" dirty="0"/>
              <a:t>(externes)</a:t>
            </a:r>
          </a:p>
          <a:p>
            <a:pPr marL="285750" indent="-285750">
              <a:spcBef>
                <a:spcPts val="0"/>
              </a:spcBef>
              <a:spcAft>
                <a:spcPts val="0"/>
              </a:spcAft>
              <a:buClr>
                <a:srgbClr val="0070C0"/>
              </a:buClr>
              <a:buSzPct val="100000"/>
              <a:buFont typeface="Arial" panose="020B0604020202020204" pitchFamily="34" charset="0"/>
              <a:buChar char="•"/>
            </a:pPr>
            <a:r>
              <a:rPr lang="fr-FR" sz="1400" dirty="0" smtClean="0"/>
              <a:t>Le compte </a:t>
            </a:r>
            <a:r>
              <a:rPr lang="fr-FR" sz="1400" dirty="0"/>
              <a:t>pour les </a:t>
            </a:r>
            <a:r>
              <a:rPr lang="fr-FR" sz="1400" dirty="0" smtClean="0"/>
              <a:t>employés (internes)</a:t>
            </a:r>
            <a:endParaRPr lang="fr-FR"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Fournisseur</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5435126" y="2159593"/>
            <a:ext cx="1296000" cy="75485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cs typeface="Arial" pitchFamily="34" charset="0"/>
                </a:rPr>
                <a:t>Blocage d’un fournisseur</a:t>
              </a:r>
              <a:endParaRPr lang="en-US" sz="800" dirty="0">
                <a:solidFill>
                  <a:schemeClr val="bg1"/>
                </a:solidFill>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cs typeface="Arial" panose="020B0604020202020204" pitchFamily="34" charset="0"/>
                </a:rPr>
                <a:t>MK05</a:t>
              </a:r>
              <a:endParaRPr lang="en-US" sz="800" b="1" dirty="0">
                <a:solidFill>
                  <a:schemeClr val="bg1"/>
                </a:solidFill>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cs typeface="Arial" panose="020B0604020202020204" pitchFamily="34" charset="0"/>
                </a:rPr>
                <a:t>Acheteur</a:t>
              </a:r>
              <a:endParaRPr lang="en-US" sz="800" dirty="0">
                <a:solidFill>
                  <a:schemeClr val="tx1">
                    <a:lumMod val="50000"/>
                  </a:schemeClr>
                </a:solidFill>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cs typeface="Arial" pitchFamily="34" charset="0"/>
                </a:rPr>
                <a:t>Action</a:t>
              </a:r>
              <a:endParaRPr lang="en-US" sz="825" dirty="0">
                <a:solidFill>
                  <a:schemeClr val="bg1"/>
                </a:solidFill>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rPr>
                <a:t>Transaction SAP</a:t>
              </a:r>
              <a:endParaRPr lang="en-US" sz="675" b="1" dirty="0">
                <a:solidFill>
                  <a:schemeClr val="bg1"/>
                </a:solidFill>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rPr>
                <a:t>Acteurs</a:t>
              </a:r>
              <a:endParaRPr lang="en-US" sz="675" dirty="0">
                <a:solidFill>
                  <a:schemeClr val="tx1">
                    <a:lumMod val="50000"/>
                  </a:schemeClr>
                </a:solidFill>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09280" y="3999310"/>
              <a:ext cx="636714" cy="219291"/>
            </a:xfrm>
            <a:prstGeom prst="rect">
              <a:avLst/>
            </a:prstGeom>
          </p:spPr>
          <p:txBody>
            <a:bodyPr wrap="none">
              <a:spAutoFit/>
            </a:bodyPr>
            <a:lstStyle/>
            <a:p>
              <a:pPr algn="ctr">
                <a:defRPr/>
              </a:pPr>
              <a:r>
                <a:rPr lang="fr-FR" sz="825" dirty="0">
                  <a:solidFill>
                    <a:prstClr val="black"/>
                  </a:solidFill>
                </a:rPr>
                <a:t>Lien direct</a:t>
              </a:r>
              <a:endParaRPr lang="en-US" sz="825" dirty="0">
                <a:solidFill>
                  <a:prstClr val="black"/>
                </a:solidFill>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7" name="Groupe 36"/>
          <p:cNvGrpSpPr/>
          <p:nvPr/>
        </p:nvGrpSpPr>
        <p:grpSpPr>
          <a:xfrm>
            <a:off x="3027628" y="1445341"/>
            <a:ext cx="1296000" cy="754857"/>
            <a:chOff x="1507778" y="2276353"/>
            <a:chExt cx="1258269" cy="754857"/>
          </a:xfrm>
        </p:grpSpPr>
        <p:sp>
          <p:nvSpPr>
            <p:cNvPr id="39" name="Rectangle 3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t>Créer un fournisseur externe </a:t>
              </a:r>
              <a:endParaRPr lang="en-US" sz="800" dirty="0">
                <a:solidFill>
                  <a:schemeClr val="bg1"/>
                </a:solidFill>
                <a:cs typeface="Arial" pitchFamily="34" charset="0"/>
              </a:endParaRPr>
            </a:p>
          </p:txBody>
        </p:sp>
        <p:sp>
          <p:nvSpPr>
            <p:cNvPr id="40" name="Rectangle 3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t>MK01</a:t>
              </a:r>
              <a:r>
                <a:rPr lang="fr-FR" sz="800" dirty="0"/>
                <a:t> </a:t>
              </a:r>
              <a:endParaRPr lang="en-US" sz="800" b="1" dirty="0">
                <a:solidFill>
                  <a:schemeClr val="bg1"/>
                </a:solidFill>
                <a:cs typeface="Arial" panose="020B0604020202020204" pitchFamily="34" charset="0"/>
              </a:endParaRPr>
            </a:p>
          </p:txBody>
        </p:sp>
        <p:sp>
          <p:nvSpPr>
            <p:cNvPr id="41" name="Rectangle 4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cs typeface="Arial" panose="020B0604020202020204" pitchFamily="34" charset="0"/>
                </a:rPr>
                <a:t>Acheteur</a:t>
              </a:r>
              <a:endParaRPr lang="en-US" sz="800" dirty="0">
                <a:solidFill>
                  <a:schemeClr val="tx1">
                    <a:lumMod val="50000"/>
                  </a:schemeClr>
                </a:solidFill>
                <a:cs typeface="Arial" panose="020B0604020202020204" pitchFamily="34" charset="0"/>
              </a:endParaRPr>
            </a:p>
          </p:txBody>
        </p:sp>
      </p:grpSp>
      <p:grpSp>
        <p:nvGrpSpPr>
          <p:cNvPr id="20" name="Groupe 19"/>
          <p:cNvGrpSpPr/>
          <p:nvPr/>
        </p:nvGrpSpPr>
        <p:grpSpPr>
          <a:xfrm>
            <a:off x="3027628" y="2873845"/>
            <a:ext cx="1296000" cy="754857"/>
            <a:chOff x="1507778" y="2276353"/>
            <a:chExt cx="1258269" cy="754857"/>
          </a:xfrm>
        </p:grpSpPr>
        <p:sp>
          <p:nvSpPr>
            <p:cNvPr id="21" name="Rectangle 20"/>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cs typeface="Arial" pitchFamily="34" charset="0"/>
                </a:rPr>
                <a:t>Créer un fournisseur interne</a:t>
              </a:r>
              <a:endParaRPr lang="en-US" sz="800" dirty="0">
                <a:solidFill>
                  <a:schemeClr val="bg1"/>
                </a:solidFill>
                <a:cs typeface="Arial" pitchFamily="34" charset="0"/>
              </a:endParaRPr>
            </a:p>
          </p:txBody>
        </p:sp>
        <p:sp>
          <p:nvSpPr>
            <p:cNvPr id="22" name="Rectangle 2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cs typeface="Arial" panose="020B0604020202020204" pitchFamily="34" charset="0"/>
                </a:rPr>
                <a:t>MK01</a:t>
              </a:r>
              <a:endParaRPr lang="en-US" sz="800" b="1" dirty="0">
                <a:solidFill>
                  <a:schemeClr val="bg1"/>
                </a:solidFill>
                <a:cs typeface="Arial" panose="020B0604020202020204" pitchFamily="34" charset="0"/>
              </a:endParaRPr>
            </a:p>
          </p:txBody>
        </p:sp>
        <p:sp>
          <p:nvSpPr>
            <p:cNvPr id="23" name="Rectangle 2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cs typeface="Arial" panose="020B0604020202020204" pitchFamily="34" charset="0"/>
                </a:rPr>
                <a:t>Acheteur</a:t>
              </a:r>
              <a:endParaRPr lang="en-US" sz="800" dirty="0">
                <a:solidFill>
                  <a:schemeClr val="tx1">
                    <a:lumMod val="50000"/>
                  </a:schemeClr>
                </a:solidFill>
                <a:cs typeface="Arial" panose="020B0604020202020204" pitchFamily="34" charset="0"/>
              </a:endParaRPr>
            </a:p>
          </p:txBody>
        </p:sp>
      </p:grpSp>
      <p:cxnSp>
        <p:nvCxnSpPr>
          <p:cNvPr id="5" name="Connecteur en angle 4"/>
          <p:cNvCxnSpPr>
            <a:stCxn id="39" idx="3"/>
            <a:endCxn id="4" idx="1"/>
          </p:cNvCxnSpPr>
          <p:nvPr/>
        </p:nvCxnSpPr>
        <p:spPr>
          <a:xfrm>
            <a:off x="4323628" y="1607266"/>
            <a:ext cx="1111498" cy="714252"/>
          </a:xfrm>
          <a:prstGeom prst="bentConnector3">
            <a:avLst/>
          </a:prstGeom>
          <a:ln w="12700">
            <a:solidFill>
              <a:srgbClr val="0070C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Connecteur en angle 6"/>
          <p:cNvCxnSpPr>
            <a:stCxn id="21" idx="3"/>
            <a:endCxn id="4" idx="1"/>
          </p:cNvCxnSpPr>
          <p:nvPr/>
        </p:nvCxnSpPr>
        <p:spPr>
          <a:xfrm flipV="1">
            <a:off x="4323628" y="2321518"/>
            <a:ext cx="1111498" cy="714252"/>
          </a:xfrm>
          <a:prstGeom prst="bentConnector3">
            <a:avLst/>
          </a:prstGeom>
          <a:ln w="12700">
            <a:solidFill>
              <a:srgbClr val="0070C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MK01 – Créer un fournisseur externe 1/2</a:t>
            </a:r>
            <a:endParaRPr lang="en-US" dirty="0"/>
          </a:p>
        </p:txBody>
      </p:sp>
      <p:pic>
        <p:nvPicPr>
          <p:cNvPr id="4" name="Image 3"/>
          <p:cNvPicPr>
            <a:picLocks noChangeAspect="1"/>
          </p:cNvPicPr>
          <p:nvPr/>
        </p:nvPicPr>
        <p:blipFill rotWithShape="1">
          <a:blip r:embed="rId3"/>
          <a:srcRect t="12953"/>
          <a:stretch/>
        </p:blipFill>
        <p:spPr>
          <a:xfrm>
            <a:off x="282575" y="1141413"/>
            <a:ext cx="3903452" cy="1629338"/>
          </a:xfrm>
          <a:prstGeom prst="rect">
            <a:avLst/>
          </a:prstGeom>
          <a:ln>
            <a:solidFill>
              <a:schemeClr val="tx1"/>
            </a:solidFill>
          </a:ln>
          <a:effectLst>
            <a:outerShdw blurRad="50800" dist="38100" dir="2700000" algn="tl" rotWithShape="0">
              <a:prstClr val="black">
                <a:alpha val="40000"/>
              </a:prstClr>
            </a:outerShdw>
          </a:effectLst>
        </p:spPr>
      </p:pic>
      <p:pic>
        <p:nvPicPr>
          <p:cNvPr id="8" name="Image 7"/>
          <p:cNvPicPr>
            <a:picLocks noChangeAspect="1"/>
          </p:cNvPicPr>
          <p:nvPr/>
        </p:nvPicPr>
        <p:blipFill rotWithShape="1">
          <a:blip r:embed="rId4"/>
          <a:srcRect r="12201" b="18045"/>
          <a:stretch/>
        </p:blipFill>
        <p:spPr>
          <a:xfrm>
            <a:off x="2567029" y="1822202"/>
            <a:ext cx="3013376" cy="2615594"/>
          </a:xfrm>
          <a:prstGeom prst="rect">
            <a:avLst/>
          </a:prstGeom>
          <a:ln>
            <a:solidFill>
              <a:schemeClr val="tx1"/>
            </a:solidFill>
          </a:ln>
          <a:effectLst>
            <a:outerShdw blurRad="50800" dist="38100" dir="2700000" algn="tl" rotWithShape="0">
              <a:prstClr val="black">
                <a:alpha val="40000"/>
              </a:prstClr>
            </a:outerShdw>
          </a:effectLst>
        </p:spPr>
      </p:pic>
      <p:sp>
        <p:nvSpPr>
          <p:cNvPr id="28" name="Rectangle 27"/>
          <p:cNvSpPr/>
          <p:nvPr/>
        </p:nvSpPr>
        <p:spPr>
          <a:xfrm>
            <a:off x="1366311" y="2320033"/>
            <a:ext cx="288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1364295" y="2468638"/>
            <a:ext cx="288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1" name="Rectangle 30"/>
          <p:cNvSpPr/>
          <p:nvPr/>
        </p:nvSpPr>
        <p:spPr>
          <a:xfrm>
            <a:off x="3472362" y="3231506"/>
            <a:ext cx="1639580" cy="1321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3429632" y="4221657"/>
            <a:ext cx="255163" cy="180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Ellipse 34"/>
          <p:cNvSpPr/>
          <p:nvPr/>
        </p:nvSpPr>
        <p:spPr>
          <a:xfrm>
            <a:off x="158381" y="11414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37" name="Connecteur en angle 36"/>
          <p:cNvCxnSpPr>
            <a:stCxn id="61" idx="2"/>
            <a:endCxn id="8" idx="1"/>
          </p:cNvCxnSpPr>
          <p:nvPr/>
        </p:nvCxnSpPr>
        <p:spPr>
          <a:xfrm rot="16200000" flipH="1">
            <a:off x="564796" y="1127766"/>
            <a:ext cx="1834456" cy="2170009"/>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0" name="Ellipse 59"/>
          <p:cNvSpPr/>
          <p:nvPr/>
        </p:nvSpPr>
        <p:spPr>
          <a:xfrm>
            <a:off x="2416132" y="191829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61" name="Rectangle 60"/>
          <p:cNvSpPr/>
          <p:nvPr/>
        </p:nvSpPr>
        <p:spPr>
          <a:xfrm>
            <a:off x="330977" y="1169543"/>
            <a:ext cx="132086" cy="12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Rectangle 61"/>
          <p:cNvSpPr/>
          <p:nvPr/>
        </p:nvSpPr>
        <p:spPr>
          <a:xfrm>
            <a:off x="2611450" y="1980392"/>
            <a:ext cx="132086" cy="12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9" name="Groupe 8"/>
          <p:cNvGrpSpPr/>
          <p:nvPr/>
        </p:nvGrpSpPr>
        <p:grpSpPr>
          <a:xfrm>
            <a:off x="6044115" y="1137995"/>
            <a:ext cx="2535863" cy="2123658"/>
            <a:chOff x="5552009" y="-6544"/>
            <a:chExt cx="2535863" cy="2123658"/>
          </a:xfrm>
        </p:grpSpPr>
        <p:sp>
          <p:nvSpPr>
            <p:cNvPr id="5" name="ZoneTexte 4"/>
            <p:cNvSpPr txBox="1"/>
            <p:nvPr/>
          </p:nvSpPr>
          <p:spPr>
            <a:xfrm>
              <a:off x="5681024" y="-6544"/>
              <a:ext cx="2406848" cy="2123658"/>
            </a:xfrm>
            <a:prstGeom prst="rect">
              <a:avLst/>
            </a:prstGeom>
            <a:noFill/>
          </p:spPr>
          <p:txBody>
            <a:bodyPr wrap="square" rtlCol="0">
              <a:spAutoFit/>
            </a:bodyPr>
            <a:lstStyle/>
            <a:p>
              <a:pPr>
                <a:lnSpc>
                  <a:spcPct val="150000"/>
                </a:lnSpc>
              </a:pPr>
              <a:r>
                <a:rPr lang="fr-FR" sz="1100" dirty="0" smtClean="0">
                  <a:solidFill>
                    <a:srgbClr val="4D4F53"/>
                  </a:solidFill>
                </a:rPr>
                <a:t>Renseigner l’organisation achats </a:t>
              </a:r>
            </a:p>
            <a:p>
              <a:pPr>
                <a:lnSpc>
                  <a:spcPct val="150000"/>
                </a:lnSpc>
              </a:pPr>
              <a:r>
                <a:rPr lang="fr-FR" sz="1100" dirty="0">
                  <a:solidFill>
                    <a:srgbClr val="4D4F53"/>
                  </a:solidFill>
                </a:rPr>
                <a:t>Renseigner le </a:t>
              </a:r>
              <a:r>
                <a:rPr lang="fr-FR" sz="1100" dirty="0" smtClean="0">
                  <a:solidFill>
                    <a:srgbClr val="4D4F53"/>
                  </a:solidFill>
                </a:rPr>
                <a:t>groupe de comptes </a:t>
              </a:r>
            </a:p>
            <a:p>
              <a:pPr>
                <a:lnSpc>
                  <a:spcPct val="150000"/>
                </a:lnSpc>
              </a:pPr>
              <a:r>
                <a:rPr lang="fr-FR" sz="1100" dirty="0" smtClean="0">
                  <a:solidFill>
                    <a:srgbClr val="4D4F53"/>
                  </a:solidFill>
                </a:rPr>
                <a:t>Cliquer </a:t>
              </a:r>
              <a:r>
                <a:rPr lang="fr-FR" sz="1100" dirty="0" smtClean="0">
                  <a:solidFill>
                    <a:srgbClr val="4D4F53"/>
                  </a:solidFill>
                </a:rPr>
                <a:t>sur        ou sur la touche Entrer</a:t>
              </a:r>
              <a:endParaRPr lang="fr-FR" sz="1100" dirty="0" smtClean="0">
                <a:solidFill>
                  <a:srgbClr val="4D4F53"/>
                </a:solidFill>
              </a:endParaRPr>
            </a:p>
            <a:p>
              <a:pPr>
                <a:lnSpc>
                  <a:spcPct val="150000"/>
                </a:lnSpc>
              </a:pPr>
              <a:r>
                <a:rPr lang="fr-FR" sz="1100" dirty="0" smtClean="0">
                  <a:solidFill>
                    <a:srgbClr val="4D4F53"/>
                  </a:solidFill>
                </a:rPr>
                <a:t>Entrer </a:t>
              </a:r>
              <a:r>
                <a:rPr lang="fr-FR" sz="1100" dirty="0">
                  <a:solidFill>
                    <a:srgbClr val="4D4F53"/>
                  </a:solidFill>
                </a:rPr>
                <a:t>le </a:t>
              </a:r>
              <a:r>
                <a:rPr lang="fr-FR" sz="1100" dirty="0" smtClean="0">
                  <a:solidFill>
                    <a:srgbClr val="4D4F53"/>
                  </a:solidFill>
                </a:rPr>
                <a:t>Nom, </a:t>
              </a:r>
            </a:p>
            <a:p>
              <a:pPr>
                <a:lnSpc>
                  <a:spcPct val="150000"/>
                </a:lnSpc>
              </a:pPr>
              <a:r>
                <a:rPr lang="fr-FR" sz="1100" dirty="0" smtClean="0">
                  <a:solidFill>
                    <a:srgbClr val="4D4F53"/>
                  </a:solidFill>
                </a:rPr>
                <a:t>Entrer le Critère </a:t>
              </a:r>
              <a:r>
                <a:rPr lang="fr-FR" sz="1100" dirty="0">
                  <a:solidFill>
                    <a:srgbClr val="4D4F53"/>
                  </a:solidFill>
                </a:rPr>
                <a:t>de </a:t>
              </a:r>
              <a:r>
                <a:rPr lang="fr-FR" sz="1100" dirty="0" smtClean="0">
                  <a:solidFill>
                    <a:srgbClr val="4D4F53"/>
                  </a:solidFill>
                </a:rPr>
                <a:t>recherche n°1 </a:t>
              </a:r>
            </a:p>
            <a:p>
              <a:pPr>
                <a:lnSpc>
                  <a:spcPct val="150000"/>
                </a:lnSpc>
              </a:pPr>
              <a:r>
                <a:rPr lang="fr-FR" sz="1100" dirty="0" smtClean="0">
                  <a:solidFill>
                    <a:srgbClr val="4D4F53"/>
                  </a:solidFill>
                </a:rPr>
                <a:t>Renseigner le Pays, </a:t>
              </a:r>
            </a:p>
            <a:p>
              <a:pPr>
                <a:lnSpc>
                  <a:spcPct val="150000"/>
                </a:lnSpc>
              </a:pPr>
              <a:r>
                <a:rPr lang="fr-FR" sz="1100" dirty="0" smtClean="0">
                  <a:solidFill>
                    <a:srgbClr val="4D4F53"/>
                  </a:solidFill>
                </a:rPr>
                <a:t>Cliquer en appuyant </a:t>
              </a:r>
              <a:r>
                <a:rPr lang="fr-FR" sz="1100" dirty="0">
                  <a:solidFill>
                    <a:srgbClr val="4D4F53"/>
                  </a:solidFill>
                </a:rPr>
                <a:t>sur        ou sur la touche Entrer</a:t>
              </a:r>
            </a:p>
          </p:txBody>
        </p:sp>
        <p:sp>
          <p:nvSpPr>
            <p:cNvPr id="11" name="Ellipse 10"/>
            <p:cNvSpPr/>
            <p:nvPr/>
          </p:nvSpPr>
          <p:spPr>
            <a:xfrm>
              <a:off x="5552009" y="10797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0" name="Ellipse 49"/>
            <p:cNvSpPr/>
            <p:nvPr/>
          </p:nvSpPr>
          <p:spPr>
            <a:xfrm>
              <a:off x="5555112" y="86346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63" name="Image 62"/>
            <p:cNvPicPr>
              <a:picLocks noChangeAspect="1"/>
            </p:cNvPicPr>
            <p:nvPr/>
          </p:nvPicPr>
          <p:blipFill>
            <a:blip r:embed="rId5"/>
            <a:stretch>
              <a:fillRect/>
            </a:stretch>
          </p:blipFill>
          <p:spPr>
            <a:xfrm>
              <a:off x="6405909" y="587452"/>
              <a:ext cx="205714" cy="216000"/>
            </a:xfrm>
            <a:prstGeom prst="rect">
              <a:avLst/>
            </a:prstGeom>
          </p:spPr>
        </p:pic>
        <p:pic>
          <p:nvPicPr>
            <p:cNvPr id="64" name="Image 63"/>
            <p:cNvPicPr>
              <a:picLocks noChangeAspect="1"/>
            </p:cNvPicPr>
            <p:nvPr/>
          </p:nvPicPr>
          <p:blipFill>
            <a:blip r:embed="rId5"/>
            <a:stretch>
              <a:fillRect/>
            </a:stretch>
          </p:blipFill>
          <p:spPr>
            <a:xfrm>
              <a:off x="7155584" y="1588456"/>
              <a:ext cx="205714" cy="216000"/>
            </a:xfrm>
            <a:prstGeom prst="rect">
              <a:avLst/>
            </a:prstGeom>
          </p:spPr>
        </p:pic>
        <p:sp>
          <p:nvSpPr>
            <p:cNvPr id="39" name="Ellipse 38"/>
            <p:cNvSpPr/>
            <p:nvPr/>
          </p:nvSpPr>
          <p:spPr>
            <a:xfrm>
              <a:off x="5552009" y="36208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40" name="Ellipse 39"/>
            <p:cNvSpPr/>
            <p:nvPr/>
          </p:nvSpPr>
          <p:spPr>
            <a:xfrm>
              <a:off x="5552009" y="61866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1" name="Ellipse 40"/>
            <p:cNvSpPr/>
            <p:nvPr/>
          </p:nvSpPr>
          <p:spPr>
            <a:xfrm>
              <a:off x="5555112" y="162740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2" name="Ellipse 41"/>
            <p:cNvSpPr/>
            <p:nvPr/>
          </p:nvSpPr>
          <p:spPr>
            <a:xfrm>
              <a:off x="5552009" y="112602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3" name="Ellipse 42"/>
            <p:cNvSpPr/>
            <p:nvPr/>
          </p:nvSpPr>
          <p:spPr>
            <a:xfrm>
              <a:off x="5552009" y="138260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grpSp>
      <p:sp>
        <p:nvSpPr>
          <p:cNvPr id="38" name="Rectangle 37"/>
          <p:cNvSpPr/>
          <p:nvPr/>
        </p:nvSpPr>
        <p:spPr>
          <a:xfrm>
            <a:off x="3465831" y="3599444"/>
            <a:ext cx="820100" cy="1321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2" name="Ellipse 21"/>
          <p:cNvSpPr/>
          <p:nvPr/>
        </p:nvSpPr>
        <p:spPr>
          <a:xfrm>
            <a:off x="1172830" y="224274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3" name="Ellipse 22"/>
          <p:cNvSpPr/>
          <p:nvPr/>
        </p:nvSpPr>
        <p:spPr>
          <a:xfrm>
            <a:off x="1172830" y="250674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3" name="Ellipse 32"/>
          <p:cNvSpPr/>
          <p:nvPr/>
        </p:nvSpPr>
        <p:spPr>
          <a:xfrm>
            <a:off x="3278647" y="320905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3278647" y="358821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6" name="Ellipse 35"/>
          <p:cNvSpPr/>
          <p:nvPr/>
        </p:nvSpPr>
        <p:spPr>
          <a:xfrm>
            <a:off x="3252099" y="423436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Tree>
    <p:extLst>
      <p:ext uri="{BB962C8B-B14F-4D97-AF65-F5344CB8AC3E}">
        <p14:creationId xmlns:p14="http://schemas.microsoft.com/office/powerpoint/2010/main" val="2228213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a:fillRect/>
          </a:stretch>
        </p:blipFill>
        <p:spPr>
          <a:xfrm>
            <a:off x="290873" y="1149165"/>
            <a:ext cx="3665668" cy="2602439"/>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MK01</a:t>
            </a:r>
            <a:r>
              <a:rPr lang="fr-FR" altLang="en-US" dirty="0"/>
              <a:t>– Créer un fournisseur </a:t>
            </a:r>
            <a:r>
              <a:rPr lang="fr-FR" altLang="en-US" dirty="0" smtClean="0"/>
              <a:t>externe 2/2</a:t>
            </a:r>
            <a:endParaRPr lang="en-US" dirty="0"/>
          </a:p>
        </p:txBody>
      </p:sp>
      <p:sp>
        <p:nvSpPr>
          <p:cNvPr id="37" name="Rectangle 36"/>
          <p:cNvSpPr/>
          <p:nvPr/>
        </p:nvSpPr>
        <p:spPr>
          <a:xfrm>
            <a:off x="1214711" y="2382945"/>
            <a:ext cx="332074" cy="1321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2354043" y="3588228"/>
            <a:ext cx="201150" cy="17465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313257" y="3480270"/>
            <a:ext cx="98275" cy="1165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4" name="Image 13"/>
          <p:cNvPicPr>
            <a:picLocks noChangeAspect="1"/>
          </p:cNvPicPr>
          <p:nvPr/>
        </p:nvPicPr>
        <p:blipFill rotWithShape="1">
          <a:blip r:embed="rId4"/>
          <a:srcRect t="14760"/>
          <a:stretch/>
        </p:blipFill>
        <p:spPr>
          <a:xfrm>
            <a:off x="2822513" y="2938391"/>
            <a:ext cx="2100089" cy="1488090"/>
          </a:xfrm>
          <a:prstGeom prst="rect">
            <a:avLst/>
          </a:prstGeom>
          <a:ln>
            <a:solidFill>
              <a:schemeClr val="tx1"/>
            </a:solidFill>
          </a:ln>
          <a:effectLst>
            <a:outerShdw blurRad="50800" dist="38100" dir="2700000" algn="tl" rotWithShape="0">
              <a:prstClr val="black">
                <a:alpha val="40000"/>
              </a:prstClr>
            </a:outerShdw>
          </a:effectLst>
        </p:spPr>
      </p:pic>
      <p:sp>
        <p:nvSpPr>
          <p:cNvPr id="53" name="Ellipse 52"/>
          <p:cNvSpPr/>
          <p:nvPr/>
        </p:nvSpPr>
        <p:spPr>
          <a:xfrm>
            <a:off x="69313" y="114849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4" name="Rectangle 53"/>
          <p:cNvSpPr/>
          <p:nvPr/>
        </p:nvSpPr>
        <p:spPr>
          <a:xfrm>
            <a:off x="307965" y="1160168"/>
            <a:ext cx="132086" cy="12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5" name="Rectangle 54"/>
          <p:cNvSpPr/>
          <p:nvPr/>
        </p:nvSpPr>
        <p:spPr>
          <a:xfrm>
            <a:off x="3589459" y="3737034"/>
            <a:ext cx="290557"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6" name="Rectangle 55"/>
          <p:cNvSpPr/>
          <p:nvPr/>
        </p:nvSpPr>
        <p:spPr>
          <a:xfrm>
            <a:off x="3599110" y="3902647"/>
            <a:ext cx="180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7" name="Ellipse 56"/>
          <p:cNvSpPr/>
          <p:nvPr/>
        </p:nvSpPr>
        <p:spPr>
          <a:xfrm>
            <a:off x="3426782" y="369275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1" name="Rectangle 60"/>
          <p:cNvSpPr/>
          <p:nvPr/>
        </p:nvSpPr>
        <p:spPr>
          <a:xfrm>
            <a:off x="4204437" y="4113602"/>
            <a:ext cx="180000" cy="1574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15" name="Groupe 14"/>
          <p:cNvGrpSpPr/>
          <p:nvPr/>
        </p:nvGrpSpPr>
        <p:grpSpPr>
          <a:xfrm>
            <a:off x="5203370" y="848780"/>
            <a:ext cx="3652141" cy="2631490"/>
            <a:chOff x="5295306" y="137928"/>
            <a:chExt cx="3652141" cy="2631490"/>
          </a:xfrm>
        </p:grpSpPr>
        <p:sp>
          <p:nvSpPr>
            <p:cNvPr id="5" name="ZoneTexte 4"/>
            <p:cNvSpPr txBox="1"/>
            <p:nvPr/>
          </p:nvSpPr>
          <p:spPr>
            <a:xfrm>
              <a:off x="5424320" y="137928"/>
              <a:ext cx="3523127" cy="2631490"/>
            </a:xfrm>
            <a:prstGeom prst="rect">
              <a:avLst/>
            </a:prstGeom>
            <a:noFill/>
          </p:spPr>
          <p:txBody>
            <a:bodyPr wrap="square" rtlCol="0">
              <a:spAutoFit/>
            </a:bodyPr>
            <a:lstStyle/>
            <a:p>
              <a:pPr>
                <a:lnSpc>
                  <a:spcPct val="150000"/>
                </a:lnSpc>
              </a:pPr>
              <a:r>
                <a:rPr lang="fr-FR" sz="1100" dirty="0" smtClean="0">
                  <a:solidFill>
                    <a:srgbClr val="4D4F53"/>
                  </a:solidFill>
                </a:rPr>
                <a:t>Onglet « Données Achats » </a:t>
              </a:r>
              <a:r>
                <a:rPr lang="fr-FR" sz="1100" dirty="0">
                  <a:solidFill>
                    <a:srgbClr val="4D4F53"/>
                  </a:solidFill>
                </a:rPr>
                <a:t>: saisir la D</a:t>
              </a:r>
              <a:r>
                <a:rPr lang="fr-FR" sz="1100" dirty="0" smtClean="0">
                  <a:solidFill>
                    <a:srgbClr val="4D4F53"/>
                  </a:solidFill>
                </a:rPr>
                <a:t>evise </a:t>
              </a:r>
              <a:r>
                <a:rPr lang="fr-FR" sz="1100" dirty="0">
                  <a:solidFill>
                    <a:srgbClr val="4D4F53"/>
                  </a:solidFill>
                </a:rPr>
                <a:t>de la </a:t>
              </a:r>
              <a:r>
                <a:rPr lang="fr-FR" sz="1100" dirty="0" smtClean="0">
                  <a:solidFill>
                    <a:srgbClr val="4D4F53"/>
                  </a:solidFill>
                </a:rPr>
                <a:t>commande cocher </a:t>
              </a:r>
              <a:r>
                <a:rPr lang="fr-FR" sz="1100" dirty="0">
                  <a:solidFill>
                    <a:srgbClr val="4D4F53"/>
                  </a:solidFill>
                </a:rPr>
                <a:t>la case </a:t>
              </a:r>
              <a:r>
                <a:rPr lang="fr-FR" sz="1100" dirty="0" smtClean="0">
                  <a:solidFill>
                    <a:srgbClr val="4D4F53"/>
                  </a:solidFill>
                </a:rPr>
                <a:t>« </a:t>
              </a:r>
              <a:r>
                <a:rPr lang="fr-FR" sz="1100" dirty="0" err="1" smtClean="0">
                  <a:solidFill>
                    <a:srgbClr val="4D4F53"/>
                  </a:solidFill>
                </a:rPr>
                <a:t>Ret</a:t>
              </a:r>
              <a:r>
                <a:rPr lang="fr-FR" sz="1100" dirty="0">
                  <a:solidFill>
                    <a:srgbClr val="4D4F53"/>
                  </a:solidFill>
                </a:rPr>
                <a:t>. av. gestion </a:t>
              </a:r>
              <a:r>
                <a:rPr lang="fr-FR" sz="1100" dirty="0" smtClean="0">
                  <a:solidFill>
                    <a:srgbClr val="4D4F53"/>
                  </a:solidFill>
                </a:rPr>
                <a:t>expédition » </a:t>
              </a:r>
            </a:p>
            <a:p>
              <a:pPr>
                <a:lnSpc>
                  <a:spcPct val="150000"/>
                </a:lnSpc>
              </a:pPr>
              <a:r>
                <a:rPr lang="fr-FR" sz="1100" dirty="0" smtClean="0">
                  <a:solidFill>
                    <a:srgbClr val="4D4F53"/>
                  </a:solidFill>
                </a:rPr>
                <a:t>Saisir la </a:t>
              </a:r>
              <a:r>
                <a:rPr lang="fr-FR" sz="1100" dirty="0">
                  <a:solidFill>
                    <a:srgbClr val="4D4F53"/>
                  </a:solidFill>
                </a:rPr>
                <a:t>C</a:t>
              </a:r>
              <a:r>
                <a:rPr lang="fr-FR" sz="1100" dirty="0" smtClean="0">
                  <a:solidFill>
                    <a:srgbClr val="4D4F53"/>
                  </a:solidFill>
                </a:rPr>
                <a:t>ondition d'expédition </a:t>
              </a:r>
            </a:p>
            <a:p>
              <a:pPr>
                <a:lnSpc>
                  <a:spcPct val="150000"/>
                </a:lnSpc>
              </a:pPr>
              <a:r>
                <a:rPr lang="fr-FR" sz="1100" dirty="0" smtClean="0">
                  <a:solidFill>
                    <a:srgbClr val="4D4F53"/>
                  </a:solidFill>
                </a:rPr>
                <a:t>Cliquer sur</a:t>
              </a:r>
              <a:endParaRPr lang="fr-FR" sz="1100" dirty="0">
                <a:solidFill>
                  <a:srgbClr val="4D4F53"/>
                </a:solidFill>
              </a:endParaRPr>
            </a:p>
            <a:p>
              <a:pPr>
                <a:lnSpc>
                  <a:spcPct val="150000"/>
                </a:lnSpc>
              </a:pPr>
              <a:r>
                <a:rPr lang="fr-FR" sz="1100" dirty="0" smtClean="0">
                  <a:solidFill>
                    <a:srgbClr val="4D4F53"/>
                  </a:solidFill>
                </a:rPr>
                <a:t>Un pop-up apparait: sélectionner le Groupe </a:t>
              </a:r>
              <a:r>
                <a:rPr lang="fr-FR" sz="1100" dirty="0">
                  <a:solidFill>
                    <a:srgbClr val="4D4F53"/>
                  </a:solidFill>
                </a:rPr>
                <a:t>de </a:t>
              </a:r>
              <a:r>
                <a:rPr lang="fr-FR" sz="1100" dirty="0" smtClean="0">
                  <a:solidFill>
                    <a:srgbClr val="4D4F53"/>
                  </a:solidFill>
                </a:rPr>
                <a:t>comptes </a:t>
              </a:r>
            </a:p>
            <a:p>
              <a:pPr>
                <a:lnSpc>
                  <a:spcPct val="150000"/>
                </a:lnSpc>
              </a:pPr>
              <a:r>
                <a:rPr lang="fr-FR" sz="1100" dirty="0" smtClean="0">
                  <a:solidFill>
                    <a:srgbClr val="4D4F53"/>
                  </a:solidFill>
                </a:rPr>
                <a:t>Saisir les Conditions d'expédition</a:t>
              </a:r>
            </a:p>
            <a:p>
              <a:pPr>
                <a:lnSpc>
                  <a:spcPct val="150000"/>
                </a:lnSpc>
              </a:pPr>
              <a:r>
                <a:rPr lang="fr-FR" sz="1100" dirty="0" smtClean="0">
                  <a:solidFill>
                    <a:srgbClr val="4D4F53"/>
                  </a:solidFill>
                </a:rPr>
                <a:t>Valider</a:t>
              </a:r>
            </a:p>
            <a:p>
              <a:pPr>
                <a:lnSpc>
                  <a:spcPct val="150000"/>
                </a:lnSpc>
              </a:pPr>
              <a:r>
                <a:rPr lang="fr-FR" sz="1100" dirty="0" smtClean="0">
                  <a:solidFill>
                    <a:srgbClr val="4D4F53"/>
                  </a:solidFill>
                </a:rPr>
                <a:t>Compléter la classification fiscale qui s’affiche </a:t>
              </a:r>
              <a:r>
                <a:rPr lang="fr-FR" sz="1100" dirty="0">
                  <a:solidFill>
                    <a:srgbClr val="4D4F53"/>
                  </a:solidFill>
                </a:rPr>
                <a:t>si besoin</a:t>
              </a:r>
              <a:r>
                <a:rPr lang="fr-FR" sz="1100" dirty="0" smtClean="0">
                  <a:solidFill>
                    <a:srgbClr val="4D4F53"/>
                  </a:solidFill>
                </a:rPr>
                <a:t> (</a:t>
              </a:r>
              <a:r>
                <a:rPr lang="fr-FR" sz="1100" dirty="0">
                  <a:solidFill>
                    <a:srgbClr val="4D4F53"/>
                  </a:solidFill>
                </a:rPr>
                <a:t>0 pour toutes les lignes)</a:t>
              </a:r>
            </a:p>
            <a:p>
              <a:pPr>
                <a:lnSpc>
                  <a:spcPct val="150000"/>
                </a:lnSpc>
              </a:pPr>
              <a:r>
                <a:rPr lang="fr-FR" sz="1100" dirty="0" smtClean="0">
                  <a:solidFill>
                    <a:srgbClr val="4D4F53"/>
                  </a:solidFill>
                </a:rPr>
                <a:t>Sauvegarder</a:t>
              </a:r>
            </a:p>
          </p:txBody>
        </p:sp>
        <p:sp>
          <p:nvSpPr>
            <p:cNvPr id="12" name="Ellipse 11"/>
            <p:cNvSpPr/>
            <p:nvPr/>
          </p:nvSpPr>
          <p:spPr>
            <a:xfrm>
              <a:off x="5295306" y="24391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3" name="Ellipse 12"/>
            <p:cNvSpPr/>
            <p:nvPr/>
          </p:nvSpPr>
          <p:spPr>
            <a:xfrm>
              <a:off x="5295306" y="177772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pic>
          <p:nvPicPr>
            <p:cNvPr id="28" name="Image 27"/>
            <p:cNvPicPr>
              <a:picLocks noChangeAspect="1"/>
            </p:cNvPicPr>
            <p:nvPr/>
          </p:nvPicPr>
          <p:blipFill>
            <a:blip r:embed="rId5"/>
            <a:stretch>
              <a:fillRect/>
            </a:stretch>
          </p:blipFill>
          <p:spPr>
            <a:xfrm>
              <a:off x="6277285" y="2483350"/>
              <a:ext cx="247650" cy="247650"/>
            </a:xfrm>
            <a:prstGeom prst="rect">
              <a:avLst/>
            </a:prstGeom>
          </p:spPr>
        </p:pic>
        <p:pic>
          <p:nvPicPr>
            <p:cNvPr id="39" name="Image 38"/>
            <p:cNvPicPr>
              <a:picLocks noChangeAspect="1"/>
            </p:cNvPicPr>
            <p:nvPr/>
          </p:nvPicPr>
          <p:blipFill>
            <a:blip r:embed="rId6"/>
            <a:stretch>
              <a:fillRect/>
            </a:stretch>
          </p:blipFill>
          <p:spPr>
            <a:xfrm>
              <a:off x="6156940" y="975377"/>
              <a:ext cx="205714" cy="216000"/>
            </a:xfrm>
            <a:prstGeom prst="rect">
              <a:avLst/>
            </a:prstGeom>
          </p:spPr>
        </p:pic>
        <p:pic>
          <p:nvPicPr>
            <p:cNvPr id="43" name="Image 42"/>
            <p:cNvPicPr>
              <a:picLocks noChangeAspect="1"/>
            </p:cNvPicPr>
            <p:nvPr/>
          </p:nvPicPr>
          <p:blipFill>
            <a:blip r:embed="rId7"/>
            <a:stretch>
              <a:fillRect/>
            </a:stretch>
          </p:blipFill>
          <p:spPr>
            <a:xfrm>
              <a:off x="5926730" y="1747488"/>
              <a:ext cx="149824" cy="149824"/>
            </a:xfrm>
            <a:prstGeom prst="rect">
              <a:avLst/>
            </a:prstGeom>
            <a:ln>
              <a:solidFill>
                <a:schemeClr val="tx1"/>
              </a:solidFill>
            </a:ln>
            <a:effectLst>
              <a:outerShdw blurRad="50800" dist="38100" dir="2700000" algn="tl" rotWithShape="0">
                <a:prstClr val="black">
                  <a:alpha val="40000"/>
                </a:prstClr>
              </a:outerShdw>
            </a:effectLst>
          </p:spPr>
        </p:pic>
        <p:sp>
          <p:nvSpPr>
            <p:cNvPr id="46" name="Ellipse 45"/>
            <p:cNvSpPr/>
            <p:nvPr/>
          </p:nvSpPr>
          <p:spPr>
            <a:xfrm>
              <a:off x="5295306" y="50054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48" name="Ellipse 47"/>
            <p:cNvSpPr/>
            <p:nvPr/>
          </p:nvSpPr>
          <p:spPr>
            <a:xfrm>
              <a:off x="5295306" y="77338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49" name="Ellipse 48"/>
            <p:cNvSpPr/>
            <p:nvPr/>
          </p:nvSpPr>
          <p:spPr>
            <a:xfrm>
              <a:off x="5295306" y="101286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2" name="Ellipse 51"/>
            <p:cNvSpPr/>
            <p:nvPr/>
          </p:nvSpPr>
          <p:spPr>
            <a:xfrm>
              <a:off x="5295306" y="127697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58" name="Ellipse 57"/>
            <p:cNvSpPr/>
            <p:nvPr/>
          </p:nvSpPr>
          <p:spPr>
            <a:xfrm>
              <a:off x="5295306" y="150826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59" name="Ellipse 58"/>
            <p:cNvSpPr/>
            <p:nvPr/>
          </p:nvSpPr>
          <p:spPr>
            <a:xfrm>
              <a:off x="5295306" y="202833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60" name="Ellipse 59"/>
            <p:cNvSpPr/>
            <p:nvPr/>
          </p:nvSpPr>
          <p:spPr>
            <a:xfrm>
              <a:off x="5295306" y="251507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cxnSp>
        <p:nvCxnSpPr>
          <p:cNvPr id="66" name="Connecteur en angle 65"/>
          <p:cNvCxnSpPr>
            <a:stCxn id="54" idx="2"/>
            <a:endCxn id="14" idx="0"/>
          </p:cNvCxnSpPr>
          <p:nvPr/>
        </p:nvCxnSpPr>
        <p:spPr>
          <a:xfrm rot="16200000" flipH="1">
            <a:off x="1297172" y="363004"/>
            <a:ext cx="1652223" cy="3498550"/>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41" name="Image 40"/>
          <p:cNvPicPr>
            <a:picLocks noChangeAspect="1"/>
          </p:cNvPicPr>
          <p:nvPr/>
        </p:nvPicPr>
        <p:blipFill>
          <a:blip r:embed="rId8"/>
          <a:stretch>
            <a:fillRect/>
          </a:stretch>
        </p:blipFill>
        <p:spPr>
          <a:xfrm>
            <a:off x="5085954" y="3798090"/>
            <a:ext cx="1981200" cy="295275"/>
          </a:xfrm>
          <a:prstGeom prst="rect">
            <a:avLst/>
          </a:prstGeom>
          <a:ln>
            <a:solidFill>
              <a:schemeClr val="tx1"/>
            </a:solidFill>
          </a:ln>
          <a:effectLst>
            <a:outerShdw blurRad="50800" dist="38100" dir="2700000" algn="tl" rotWithShape="0">
              <a:prstClr val="black">
                <a:alpha val="40000"/>
              </a:prstClr>
            </a:outerShdw>
          </a:effectLst>
        </p:spPr>
      </p:pic>
      <p:sp>
        <p:nvSpPr>
          <p:cNvPr id="44" name="Rectangle 43"/>
          <p:cNvSpPr/>
          <p:nvPr/>
        </p:nvSpPr>
        <p:spPr>
          <a:xfrm>
            <a:off x="5300231" y="3813812"/>
            <a:ext cx="237937" cy="2348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45" name="Connecteur en angle 44"/>
          <p:cNvCxnSpPr>
            <a:stCxn id="14" idx="3"/>
            <a:endCxn id="41" idx="0"/>
          </p:cNvCxnSpPr>
          <p:nvPr/>
        </p:nvCxnSpPr>
        <p:spPr>
          <a:xfrm>
            <a:off x="4922602" y="3682436"/>
            <a:ext cx="1153952" cy="115654"/>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7" name="Ellipse 46"/>
          <p:cNvSpPr/>
          <p:nvPr/>
        </p:nvSpPr>
        <p:spPr>
          <a:xfrm>
            <a:off x="5340274" y="411503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29" name="Ellipse 28"/>
          <p:cNvSpPr/>
          <p:nvPr/>
        </p:nvSpPr>
        <p:spPr>
          <a:xfrm>
            <a:off x="1004060" y="237172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0" name="Ellipse 29"/>
          <p:cNvSpPr/>
          <p:nvPr/>
        </p:nvSpPr>
        <p:spPr>
          <a:xfrm>
            <a:off x="338460" y="361835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1" name="Ellipse 30"/>
          <p:cNvSpPr/>
          <p:nvPr/>
        </p:nvSpPr>
        <p:spPr>
          <a:xfrm>
            <a:off x="2395601" y="342237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5" name="Ellipse 34"/>
          <p:cNvSpPr/>
          <p:nvPr/>
        </p:nvSpPr>
        <p:spPr>
          <a:xfrm>
            <a:off x="3426782" y="391930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6" name="Ellipse 35"/>
          <p:cNvSpPr/>
          <p:nvPr/>
        </p:nvSpPr>
        <p:spPr>
          <a:xfrm>
            <a:off x="4025226" y="412690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Tree>
    <p:extLst>
      <p:ext uri="{BB962C8B-B14F-4D97-AF65-F5344CB8AC3E}">
        <p14:creationId xmlns:p14="http://schemas.microsoft.com/office/powerpoint/2010/main" val="24718793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527934"/>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fournisseur externe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597956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Image 74"/>
          <p:cNvPicPr>
            <a:picLocks noChangeAspect="1"/>
          </p:cNvPicPr>
          <p:nvPr/>
        </p:nvPicPr>
        <p:blipFill>
          <a:blip r:embed="rId3"/>
          <a:stretch>
            <a:fillRect/>
          </a:stretch>
        </p:blipFill>
        <p:spPr>
          <a:xfrm>
            <a:off x="249563" y="1160757"/>
            <a:ext cx="2250750" cy="1842793"/>
          </a:xfrm>
          <a:prstGeom prst="rect">
            <a:avLst/>
          </a:prstGeom>
          <a:ln>
            <a:solidFill>
              <a:schemeClr val="tx1"/>
            </a:solidFill>
          </a:ln>
          <a:effectLst>
            <a:outerShdw blurRad="50800" dist="38100" dir="2700000" algn="tl" rotWithShape="0">
              <a:prstClr val="black">
                <a:alpha val="40000"/>
              </a:prstClr>
            </a:outerShdw>
          </a:effectLst>
        </p:spPr>
      </p:pic>
      <p:pic>
        <p:nvPicPr>
          <p:cNvPr id="84" name="Image 83"/>
          <p:cNvPicPr>
            <a:picLocks noChangeAspect="1"/>
          </p:cNvPicPr>
          <p:nvPr/>
        </p:nvPicPr>
        <p:blipFill>
          <a:blip r:embed="rId4"/>
          <a:stretch>
            <a:fillRect/>
          </a:stretch>
        </p:blipFill>
        <p:spPr>
          <a:xfrm>
            <a:off x="1789065" y="2391138"/>
            <a:ext cx="2656171" cy="2118854"/>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MK01</a:t>
            </a:r>
            <a:r>
              <a:rPr lang="fr-FR" altLang="en-US" dirty="0"/>
              <a:t>– Créer un fournisseur </a:t>
            </a:r>
            <a:r>
              <a:rPr lang="fr-FR" altLang="en-US" dirty="0" smtClean="0"/>
              <a:t>interne</a:t>
            </a:r>
            <a:endParaRPr lang="en-US" dirty="0"/>
          </a:p>
        </p:txBody>
      </p:sp>
      <p:sp>
        <p:nvSpPr>
          <p:cNvPr id="37" name="Rectangle 36"/>
          <p:cNvSpPr/>
          <p:nvPr/>
        </p:nvSpPr>
        <p:spPr>
          <a:xfrm>
            <a:off x="1362975" y="2063866"/>
            <a:ext cx="246969" cy="11566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6" name="Rectangle 75"/>
          <p:cNvSpPr/>
          <p:nvPr/>
        </p:nvSpPr>
        <p:spPr>
          <a:xfrm>
            <a:off x="1362975" y="2218607"/>
            <a:ext cx="246969" cy="10515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3" name="Ellipse 82"/>
          <p:cNvSpPr/>
          <p:nvPr/>
        </p:nvSpPr>
        <p:spPr>
          <a:xfrm>
            <a:off x="2409679" y="328613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85" name="Rectangle 84"/>
          <p:cNvSpPr/>
          <p:nvPr/>
        </p:nvSpPr>
        <p:spPr>
          <a:xfrm>
            <a:off x="2574682" y="3329335"/>
            <a:ext cx="1450016" cy="9559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6" name="Rectangle 85"/>
          <p:cNvSpPr/>
          <p:nvPr/>
        </p:nvSpPr>
        <p:spPr>
          <a:xfrm>
            <a:off x="2574682" y="3772292"/>
            <a:ext cx="766352" cy="9559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8" name="Rectangle 87"/>
          <p:cNvSpPr/>
          <p:nvPr/>
        </p:nvSpPr>
        <p:spPr>
          <a:xfrm>
            <a:off x="2574682" y="4327578"/>
            <a:ext cx="176692" cy="9914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91" name="Image 90"/>
          <p:cNvPicPr>
            <a:picLocks noChangeAspect="1"/>
          </p:cNvPicPr>
          <p:nvPr/>
        </p:nvPicPr>
        <p:blipFill>
          <a:blip r:embed="rId5"/>
          <a:stretch>
            <a:fillRect/>
          </a:stretch>
        </p:blipFill>
        <p:spPr>
          <a:xfrm>
            <a:off x="4760216" y="3955015"/>
            <a:ext cx="1981200" cy="295275"/>
          </a:xfrm>
          <a:prstGeom prst="rect">
            <a:avLst/>
          </a:prstGeom>
          <a:ln>
            <a:solidFill>
              <a:schemeClr val="tx1"/>
            </a:solidFill>
          </a:ln>
          <a:effectLst>
            <a:outerShdw blurRad="50800" dist="38100" dir="2700000" algn="tl" rotWithShape="0">
              <a:prstClr val="black">
                <a:alpha val="40000"/>
              </a:prstClr>
            </a:outerShdw>
          </a:effectLst>
        </p:spPr>
      </p:pic>
      <p:sp>
        <p:nvSpPr>
          <p:cNvPr id="92" name="Rectangle 91"/>
          <p:cNvSpPr/>
          <p:nvPr/>
        </p:nvSpPr>
        <p:spPr>
          <a:xfrm>
            <a:off x="4974493" y="3970737"/>
            <a:ext cx="237937" cy="2348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94" name="Connecteur en angle 93"/>
          <p:cNvCxnSpPr>
            <a:stCxn id="75" idx="3"/>
            <a:endCxn id="84" idx="0"/>
          </p:cNvCxnSpPr>
          <p:nvPr/>
        </p:nvCxnSpPr>
        <p:spPr>
          <a:xfrm>
            <a:off x="2500313" y="2082154"/>
            <a:ext cx="616838" cy="308984"/>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9" name="Connecteur en angle 98"/>
          <p:cNvCxnSpPr>
            <a:stCxn id="84" idx="3"/>
            <a:endCxn id="91" idx="0"/>
          </p:cNvCxnSpPr>
          <p:nvPr/>
        </p:nvCxnSpPr>
        <p:spPr>
          <a:xfrm>
            <a:off x="4445236" y="3450565"/>
            <a:ext cx="1305580" cy="504450"/>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20" name="Groupe 19"/>
          <p:cNvGrpSpPr/>
          <p:nvPr/>
        </p:nvGrpSpPr>
        <p:grpSpPr>
          <a:xfrm>
            <a:off x="5093461" y="1119522"/>
            <a:ext cx="3872813" cy="1869743"/>
            <a:chOff x="5338178" y="101109"/>
            <a:chExt cx="3872813" cy="1869743"/>
          </a:xfrm>
        </p:grpSpPr>
        <p:sp>
          <p:nvSpPr>
            <p:cNvPr id="5" name="ZoneTexte 4"/>
            <p:cNvSpPr txBox="1"/>
            <p:nvPr/>
          </p:nvSpPr>
          <p:spPr>
            <a:xfrm>
              <a:off x="5430606" y="101109"/>
              <a:ext cx="3780385" cy="1869743"/>
            </a:xfrm>
            <a:prstGeom prst="rect">
              <a:avLst/>
            </a:prstGeom>
            <a:noFill/>
          </p:spPr>
          <p:txBody>
            <a:bodyPr wrap="square" rtlCol="0">
              <a:spAutoFit/>
            </a:bodyPr>
            <a:lstStyle/>
            <a:p>
              <a:pPr>
                <a:lnSpc>
                  <a:spcPct val="150000"/>
                </a:lnSpc>
              </a:pPr>
              <a:r>
                <a:rPr lang="fr-FR" sz="1100" dirty="0" smtClean="0">
                  <a:solidFill>
                    <a:srgbClr val="4D4F53"/>
                  </a:solidFill>
                </a:rPr>
                <a:t>Ecran Initial: saisir  </a:t>
              </a:r>
              <a:r>
                <a:rPr lang="fr-FR" sz="1100" dirty="0">
                  <a:solidFill>
                    <a:srgbClr val="4D4F53"/>
                  </a:solidFill>
                </a:rPr>
                <a:t>la </a:t>
              </a:r>
              <a:r>
                <a:rPr lang="fr-FR" sz="1100" dirty="0" smtClean="0">
                  <a:solidFill>
                    <a:srgbClr val="4D4F53"/>
                  </a:solidFill>
                </a:rPr>
                <a:t>l’Organisation d'Achats, </a:t>
              </a:r>
            </a:p>
            <a:p>
              <a:pPr>
                <a:lnSpc>
                  <a:spcPct val="150000"/>
                </a:lnSpc>
              </a:pPr>
              <a:r>
                <a:rPr lang="fr-FR" sz="1100" dirty="0" smtClean="0">
                  <a:solidFill>
                    <a:srgbClr val="4D4F53"/>
                  </a:solidFill>
                </a:rPr>
                <a:t>Renseigner le Groupe </a:t>
              </a:r>
              <a:r>
                <a:rPr lang="fr-FR" sz="1100" dirty="0">
                  <a:solidFill>
                    <a:srgbClr val="4D4F53"/>
                  </a:solidFill>
                </a:rPr>
                <a:t>de </a:t>
              </a:r>
              <a:r>
                <a:rPr lang="fr-FR" sz="1100" dirty="0" smtClean="0">
                  <a:solidFill>
                    <a:srgbClr val="4D4F53"/>
                  </a:solidFill>
                </a:rPr>
                <a:t>comptes </a:t>
              </a:r>
              <a:r>
                <a:rPr lang="fr-FR" sz="1100" dirty="0">
                  <a:solidFill>
                    <a:srgbClr val="4D4F53"/>
                  </a:solidFill>
                </a:rPr>
                <a:t>pour fournisseur </a:t>
              </a:r>
              <a:r>
                <a:rPr lang="fr-FR" sz="1100" dirty="0" smtClean="0">
                  <a:solidFill>
                    <a:srgbClr val="4D4F53"/>
                  </a:solidFill>
                </a:rPr>
                <a:t>interne</a:t>
              </a:r>
            </a:p>
            <a:p>
              <a:pPr>
                <a:lnSpc>
                  <a:spcPct val="150000"/>
                </a:lnSpc>
              </a:pPr>
              <a:r>
                <a:rPr lang="fr-FR" sz="1100" dirty="0" smtClean="0">
                  <a:solidFill>
                    <a:srgbClr val="4D4F53"/>
                  </a:solidFill>
                </a:rPr>
                <a:t>Valider la saisie</a:t>
              </a:r>
            </a:p>
            <a:p>
              <a:pPr>
                <a:lnSpc>
                  <a:spcPct val="150000"/>
                </a:lnSpc>
              </a:pPr>
              <a:r>
                <a:rPr lang="fr-FR" sz="1100" dirty="0" smtClean="0">
                  <a:solidFill>
                    <a:srgbClr val="4D4F53"/>
                  </a:solidFill>
                </a:rPr>
                <a:t>Onglet « Adresse » </a:t>
              </a:r>
              <a:r>
                <a:rPr lang="fr-FR" sz="1100" dirty="0">
                  <a:solidFill>
                    <a:srgbClr val="4D4F53"/>
                  </a:solidFill>
                </a:rPr>
                <a:t>: entrer le </a:t>
              </a:r>
              <a:r>
                <a:rPr lang="fr-FR" sz="1100" dirty="0" smtClean="0">
                  <a:solidFill>
                    <a:srgbClr val="4D4F53"/>
                  </a:solidFill>
                </a:rPr>
                <a:t>Nom</a:t>
              </a:r>
            </a:p>
            <a:p>
              <a:pPr>
                <a:lnSpc>
                  <a:spcPct val="150000"/>
                </a:lnSpc>
              </a:pPr>
              <a:r>
                <a:rPr lang="fr-FR" sz="1100" dirty="0" smtClean="0">
                  <a:solidFill>
                    <a:srgbClr val="4D4F53"/>
                  </a:solidFill>
                </a:rPr>
                <a:t>Renseigner le Critère </a:t>
              </a:r>
              <a:r>
                <a:rPr lang="fr-FR" sz="1100" dirty="0">
                  <a:solidFill>
                    <a:srgbClr val="4D4F53"/>
                  </a:solidFill>
                </a:rPr>
                <a:t>de recherche </a:t>
              </a:r>
              <a:r>
                <a:rPr lang="fr-FR" sz="1100" dirty="0" smtClean="0">
                  <a:solidFill>
                    <a:srgbClr val="4D4F53"/>
                  </a:solidFill>
                </a:rPr>
                <a:t>n°1 </a:t>
              </a:r>
            </a:p>
            <a:p>
              <a:pPr>
                <a:lnSpc>
                  <a:spcPct val="150000"/>
                </a:lnSpc>
              </a:pPr>
              <a:r>
                <a:rPr lang="fr-FR" sz="1100" dirty="0" smtClean="0">
                  <a:solidFill>
                    <a:srgbClr val="4D4F53"/>
                  </a:solidFill>
                </a:rPr>
                <a:t>Renseigner le Pays et cliquer « Entrer »</a:t>
              </a:r>
            </a:p>
            <a:p>
              <a:pPr>
                <a:lnSpc>
                  <a:spcPct val="150000"/>
                </a:lnSpc>
              </a:pPr>
              <a:r>
                <a:rPr lang="fr-FR" sz="1100" dirty="0" smtClean="0">
                  <a:solidFill>
                    <a:srgbClr val="4D4F53"/>
                  </a:solidFill>
                </a:rPr>
                <a:t>Sauvegarder</a:t>
              </a:r>
            </a:p>
          </p:txBody>
        </p:sp>
        <p:sp>
          <p:nvSpPr>
            <p:cNvPr id="11" name="Ellipse 10"/>
            <p:cNvSpPr/>
            <p:nvPr/>
          </p:nvSpPr>
          <p:spPr>
            <a:xfrm>
              <a:off x="5338178" y="2052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2" name="Ellipse 11"/>
            <p:cNvSpPr/>
            <p:nvPr/>
          </p:nvSpPr>
          <p:spPr>
            <a:xfrm>
              <a:off x="5338178" y="97557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6" name="Ellipse 35"/>
            <p:cNvSpPr/>
            <p:nvPr/>
          </p:nvSpPr>
          <p:spPr>
            <a:xfrm>
              <a:off x="5338178" y="171739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pic>
          <p:nvPicPr>
            <p:cNvPr id="28" name="Image 27"/>
            <p:cNvPicPr>
              <a:picLocks noChangeAspect="1"/>
            </p:cNvPicPr>
            <p:nvPr/>
          </p:nvPicPr>
          <p:blipFill>
            <a:blip r:embed="rId6"/>
            <a:stretch>
              <a:fillRect/>
            </a:stretch>
          </p:blipFill>
          <p:spPr>
            <a:xfrm>
              <a:off x="6242613" y="1670958"/>
              <a:ext cx="247650" cy="247650"/>
            </a:xfrm>
            <a:prstGeom prst="rect">
              <a:avLst/>
            </a:prstGeom>
          </p:spPr>
        </p:pic>
        <p:pic>
          <p:nvPicPr>
            <p:cNvPr id="34" name="Image 33"/>
            <p:cNvPicPr>
              <a:picLocks noChangeAspect="1"/>
            </p:cNvPicPr>
            <p:nvPr/>
          </p:nvPicPr>
          <p:blipFill>
            <a:blip r:embed="rId7"/>
            <a:stretch>
              <a:fillRect/>
            </a:stretch>
          </p:blipFill>
          <p:spPr>
            <a:xfrm>
              <a:off x="6426436" y="686600"/>
              <a:ext cx="205714" cy="216000"/>
            </a:xfrm>
            <a:prstGeom prst="rect">
              <a:avLst/>
            </a:prstGeom>
          </p:spPr>
        </p:pic>
        <p:sp>
          <p:nvSpPr>
            <p:cNvPr id="33" name="Ellipse 32"/>
            <p:cNvSpPr/>
            <p:nvPr/>
          </p:nvSpPr>
          <p:spPr>
            <a:xfrm>
              <a:off x="5338178" y="47729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9" name="Ellipse 38"/>
            <p:cNvSpPr/>
            <p:nvPr/>
          </p:nvSpPr>
          <p:spPr>
            <a:xfrm>
              <a:off x="5338178" y="73111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0" name="Ellipse 39"/>
            <p:cNvSpPr/>
            <p:nvPr/>
          </p:nvSpPr>
          <p:spPr>
            <a:xfrm>
              <a:off x="5338178" y="121803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3" name="Ellipse 42"/>
            <p:cNvSpPr/>
            <p:nvPr/>
          </p:nvSpPr>
          <p:spPr>
            <a:xfrm>
              <a:off x="5338178" y="146189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grpSp>
      <p:sp>
        <p:nvSpPr>
          <p:cNvPr id="38" name="Ellipse 37"/>
          <p:cNvSpPr/>
          <p:nvPr/>
        </p:nvSpPr>
        <p:spPr>
          <a:xfrm>
            <a:off x="4581006" y="40253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26" name="Ellipse 25"/>
          <p:cNvSpPr/>
          <p:nvPr/>
        </p:nvSpPr>
        <p:spPr>
          <a:xfrm>
            <a:off x="1179901" y="201595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7" name="Ellipse 26"/>
          <p:cNvSpPr/>
          <p:nvPr/>
        </p:nvSpPr>
        <p:spPr>
          <a:xfrm>
            <a:off x="1179901" y="21950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1" name="Ellipse 30"/>
          <p:cNvSpPr/>
          <p:nvPr/>
        </p:nvSpPr>
        <p:spPr>
          <a:xfrm>
            <a:off x="2409679" y="37235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2" name="Ellipse 31"/>
          <p:cNvSpPr/>
          <p:nvPr/>
        </p:nvSpPr>
        <p:spPr>
          <a:xfrm>
            <a:off x="2409679" y="425029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Tree>
    <p:extLst>
      <p:ext uri="{BB962C8B-B14F-4D97-AF65-F5344CB8AC3E}">
        <p14:creationId xmlns:p14="http://schemas.microsoft.com/office/powerpoint/2010/main" val="31176856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527934"/>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fournisseur interne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7055542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a:fillRect/>
          </a:stretch>
        </p:blipFill>
        <p:spPr>
          <a:xfrm>
            <a:off x="289483" y="1168891"/>
            <a:ext cx="2775862" cy="968324"/>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MK05– Blocage d’un fournisseur</a:t>
            </a:r>
            <a:endParaRPr lang="en-US" dirty="0"/>
          </a:p>
        </p:txBody>
      </p:sp>
      <p:grpSp>
        <p:nvGrpSpPr>
          <p:cNvPr id="3" name="Groupe 2"/>
          <p:cNvGrpSpPr/>
          <p:nvPr/>
        </p:nvGrpSpPr>
        <p:grpSpPr>
          <a:xfrm>
            <a:off x="5241094" y="1154526"/>
            <a:ext cx="3875756" cy="1615827"/>
            <a:chOff x="5335235" y="101109"/>
            <a:chExt cx="3875756" cy="1615827"/>
          </a:xfrm>
        </p:grpSpPr>
        <p:sp>
          <p:nvSpPr>
            <p:cNvPr id="5" name="ZoneTexte 4"/>
            <p:cNvSpPr txBox="1"/>
            <p:nvPr/>
          </p:nvSpPr>
          <p:spPr>
            <a:xfrm>
              <a:off x="5430606" y="101109"/>
              <a:ext cx="3780385" cy="1615827"/>
            </a:xfrm>
            <a:prstGeom prst="rect">
              <a:avLst/>
            </a:prstGeom>
            <a:noFill/>
          </p:spPr>
          <p:txBody>
            <a:bodyPr wrap="square" rtlCol="0">
              <a:spAutoFit/>
            </a:bodyPr>
            <a:lstStyle/>
            <a:p>
              <a:pPr>
                <a:lnSpc>
                  <a:spcPct val="150000"/>
                </a:lnSpc>
              </a:pPr>
              <a:r>
                <a:rPr lang="fr-FR" sz="1100" dirty="0" smtClean="0">
                  <a:solidFill>
                    <a:srgbClr val="4D4F53"/>
                  </a:solidFill>
                </a:rPr>
                <a:t>Ecran Initial : saisir </a:t>
              </a:r>
              <a:r>
                <a:rPr lang="fr-FR" sz="1100" dirty="0">
                  <a:solidFill>
                    <a:srgbClr val="4D4F53"/>
                  </a:solidFill>
                </a:rPr>
                <a:t>le numéro du </a:t>
              </a:r>
              <a:r>
                <a:rPr lang="fr-FR" sz="1100" dirty="0" smtClean="0">
                  <a:solidFill>
                    <a:srgbClr val="4D4F53"/>
                  </a:solidFill>
                </a:rPr>
                <a:t>Fournisseur </a:t>
              </a:r>
              <a:r>
                <a:rPr lang="fr-FR" sz="1100" dirty="0">
                  <a:solidFill>
                    <a:srgbClr val="4D4F53"/>
                  </a:solidFill>
                </a:rPr>
                <a:t>à </a:t>
              </a:r>
              <a:r>
                <a:rPr lang="fr-FR" sz="1100" dirty="0" smtClean="0">
                  <a:solidFill>
                    <a:srgbClr val="4D4F53"/>
                  </a:solidFill>
                </a:rPr>
                <a:t>bloquer </a:t>
              </a:r>
            </a:p>
            <a:p>
              <a:pPr>
                <a:lnSpc>
                  <a:spcPct val="150000"/>
                </a:lnSpc>
              </a:pPr>
              <a:r>
                <a:rPr lang="fr-FR" sz="1100" dirty="0" smtClean="0">
                  <a:solidFill>
                    <a:srgbClr val="4D4F53"/>
                  </a:solidFill>
                </a:rPr>
                <a:t>Saisir l‘organisation d'Achats puis </a:t>
              </a:r>
              <a:r>
                <a:rPr lang="fr-FR" sz="1100" dirty="0" smtClean="0">
                  <a:solidFill>
                    <a:srgbClr val="4D4F53"/>
                  </a:solidFill>
                </a:rPr>
                <a:t>valider</a:t>
              </a:r>
              <a:endParaRPr lang="fr-FR" sz="1100" dirty="0">
                <a:solidFill>
                  <a:srgbClr val="4D4F53"/>
                </a:solidFill>
              </a:endParaRPr>
            </a:p>
            <a:p>
              <a:pPr>
                <a:lnSpc>
                  <a:spcPct val="150000"/>
                </a:lnSpc>
              </a:pPr>
              <a:r>
                <a:rPr lang="fr-FR" sz="1100" dirty="0" smtClean="0">
                  <a:solidFill>
                    <a:srgbClr val="4D4F53"/>
                  </a:solidFill>
                </a:rPr>
                <a:t>Cocher « Organisation </a:t>
              </a:r>
              <a:r>
                <a:rPr lang="fr-FR" sz="1100" dirty="0">
                  <a:solidFill>
                    <a:srgbClr val="4D4F53"/>
                  </a:solidFill>
                </a:rPr>
                <a:t>d'Achats </a:t>
              </a:r>
              <a:r>
                <a:rPr lang="fr-FR" sz="1100" dirty="0" smtClean="0">
                  <a:solidFill>
                    <a:srgbClr val="4D4F53"/>
                  </a:solidFill>
                </a:rPr>
                <a:t>sélectionnée » (ou « Toutes </a:t>
              </a:r>
              <a:r>
                <a:rPr lang="fr-FR" sz="1100" dirty="0">
                  <a:solidFill>
                    <a:srgbClr val="4D4F53"/>
                  </a:solidFill>
                </a:rPr>
                <a:t>les organisations </a:t>
              </a:r>
              <a:r>
                <a:rPr lang="fr-FR" sz="1100" dirty="0" smtClean="0">
                  <a:solidFill>
                    <a:srgbClr val="4D4F53"/>
                  </a:solidFill>
                </a:rPr>
                <a:t>d'achats » </a:t>
              </a:r>
              <a:r>
                <a:rPr lang="fr-FR" sz="1100" dirty="0">
                  <a:solidFill>
                    <a:srgbClr val="4D4F53"/>
                  </a:solidFill>
                </a:rPr>
                <a:t>pour un blocage plus radical</a:t>
              </a:r>
              <a:r>
                <a:rPr lang="fr-FR" sz="1100" dirty="0" smtClean="0">
                  <a:solidFill>
                    <a:srgbClr val="4D4F53"/>
                  </a:solidFill>
                </a:rPr>
                <a:t>), </a:t>
              </a:r>
            </a:p>
            <a:p>
              <a:pPr>
                <a:lnSpc>
                  <a:spcPct val="150000"/>
                </a:lnSpc>
              </a:pPr>
              <a:r>
                <a:rPr lang="fr-FR" sz="1100" dirty="0" smtClean="0">
                  <a:solidFill>
                    <a:srgbClr val="4D4F53"/>
                  </a:solidFill>
                </a:rPr>
                <a:t>Saisir une Fonction Blocage</a:t>
              </a:r>
              <a:endParaRPr lang="fr-FR" sz="1100" dirty="0">
                <a:solidFill>
                  <a:srgbClr val="4D4F53"/>
                </a:solidFill>
              </a:endParaRPr>
            </a:p>
            <a:p>
              <a:pPr>
                <a:lnSpc>
                  <a:spcPct val="150000"/>
                </a:lnSpc>
              </a:pPr>
              <a:r>
                <a:rPr lang="fr-FR" sz="1100" dirty="0" smtClean="0">
                  <a:solidFill>
                    <a:srgbClr val="4D4F53"/>
                  </a:solidFill>
                </a:rPr>
                <a:t>Enregistrer</a:t>
              </a:r>
            </a:p>
          </p:txBody>
        </p:sp>
        <p:sp>
          <p:nvSpPr>
            <p:cNvPr id="11" name="Ellipse 10"/>
            <p:cNvSpPr/>
            <p:nvPr/>
          </p:nvSpPr>
          <p:spPr>
            <a:xfrm>
              <a:off x="5335235" y="2052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2" name="Ellipse 11"/>
            <p:cNvSpPr/>
            <p:nvPr/>
          </p:nvSpPr>
          <p:spPr>
            <a:xfrm>
              <a:off x="5335235" y="45957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3" name="Ellipse 12"/>
            <p:cNvSpPr/>
            <p:nvPr/>
          </p:nvSpPr>
          <p:spPr>
            <a:xfrm>
              <a:off x="5335235" y="147357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pic>
          <p:nvPicPr>
            <p:cNvPr id="7" name="Image 6"/>
            <p:cNvPicPr>
              <a:picLocks noChangeAspect="1"/>
            </p:cNvPicPr>
            <p:nvPr/>
          </p:nvPicPr>
          <p:blipFill>
            <a:blip r:embed="rId4"/>
            <a:stretch>
              <a:fillRect/>
            </a:stretch>
          </p:blipFill>
          <p:spPr>
            <a:xfrm>
              <a:off x="7856167" y="432062"/>
              <a:ext cx="205714" cy="216000"/>
            </a:xfrm>
            <a:prstGeom prst="rect">
              <a:avLst/>
            </a:prstGeom>
          </p:spPr>
        </p:pic>
        <p:sp>
          <p:nvSpPr>
            <p:cNvPr id="36" name="Ellipse 35"/>
            <p:cNvSpPr/>
            <p:nvPr/>
          </p:nvSpPr>
          <p:spPr>
            <a:xfrm>
              <a:off x="5335235" y="69251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8" name="Ellipse 37"/>
            <p:cNvSpPr/>
            <p:nvPr/>
          </p:nvSpPr>
          <p:spPr>
            <a:xfrm>
              <a:off x="5335235" y="122183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31" name="Rectangle 30"/>
          <p:cNvSpPr/>
          <p:nvPr/>
        </p:nvSpPr>
        <p:spPr>
          <a:xfrm>
            <a:off x="1240546" y="1984257"/>
            <a:ext cx="246969" cy="9559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240546" y="1836440"/>
            <a:ext cx="806037" cy="12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Ellipse 32"/>
          <p:cNvSpPr/>
          <p:nvPr/>
        </p:nvSpPr>
        <p:spPr>
          <a:xfrm>
            <a:off x="1026530" y="18018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pic>
        <p:nvPicPr>
          <p:cNvPr id="4" name="Image 3"/>
          <p:cNvPicPr>
            <a:picLocks noChangeAspect="1"/>
          </p:cNvPicPr>
          <p:nvPr/>
        </p:nvPicPr>
        <p:blipFill>
          <a:blip r:embed="rId5"/>
          <a:stretch>
            <a:fillRect/>
          </a:stretch>
        </p:blipFill>
        <p:spPr>
          <a:xfrm>
            <a:off x="1687201" y="2091202"/>
            <a:ext cx="3239805" cy="2280378"/>
          </a:xfrm>
          <a:prstGeom prst="rect">
            <a:avLst/>
          </a:prstGeom>
          <a:ln>
            <a:solidFill>
              <a:schemeClr val="tx1"/>
            </a:solidFill>
          </a:ln>
          <a:effectLst>
            <a:outerShdw blurRad="50800" dist="38100" dir="2700000" algn="tl" rotWithShape="0">
              <a:prstClr val="black">
                <a:alpha val="40000"/>
              </a:prstClr>
            </a:outerShdw>
          </a:effectLst>
        </p:spPr>
      </p:pic>
      <p:sp>
        <p:nvSpPr>
          <p:cNvPr id="39" name="Rectangle 38"/>
          <p:cNvSpPr/>
          <p:nvPr/>
        </p:nvSpPr>
        <p:spPr>
          <a:xfrm>
            <a:off x="1747482" y="3672857"/>
            <a:ext cx="98275" cy="1165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2502265" y="4110783"/>
            <a:ext cx="180000" cy="1574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2" name="Connecteur en angle 21"/>
          <p:cNvCxnSpPr>
            <a:stCxn id="6" idx="3"/>
            <a:endCxn id="4" idx="0"/>
          </p:cNvCxnSpPr>
          <p:nvPr/>
        </p:nvCxnSpPr>
        <p:spPr>
          <a:xfrm>
            <a:off x="3065345" y="1653053"/>
            <a:ext cx="241759" cy="438149"/>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7" name="Image 26"/>
          <p:cNvPicPr>
            <a:picLocks noChangeAspect="1"/>
          </p:cNvPicPr>
          <p:nvPr/>
        </p:nvPicPr>
        <p:blipFill>
          <a:blip r:embed="rId6"/>
          <a:stretch>
            <a:fillRect/>
          </a:stretch>
        </p:blipFill>
        <p:spPr>
          <a:xfrm>
            <a:off x="5241094" y="3680914"/>
            <a:ext cx="1981200" cy="295275"/>
          </a:xfrm>
          <a:prstGeom prst="rect">
            <a:avLst/>
          </a:prstGeom>
          <a:ln>
            <a:solidFill>
              <a:schemeClr val="tx1"/>
            </a:solidFill>
          </a:ln>
          <a:effectLst>
            <a:outerShdw blurRad="50800" dist="38100" dir="2700000" algn="tl" rotWithShape="0">
              <a:prstClr val="black">
                <a:alpha val="40000"/>
              </a:prstClr>
            </a:outerShdw>
          </a:effectLst>
        </p:spPr>
      </p:pic>
      <p:sp>
        <p:nvSpPr>
          <p:cNvPr id="28" name="Rectangle 27"/>
          <p:cNvSpPr/>
          <p:nvPr/>
        </p:nvSpPr>
        <p:spPr>
          <a:xfrm>
            <a:off x="5455371" y="3696636"/>
            <a:ext cx="237937" cy="2348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9" name="Connecteur en angle 28"/>
          <p:cNvCxnSpPr>
            <a:stCxn id="4" idx="3"/>
            <a:endCxn id="27" idx="0"/>
          </p:cNvCxnSpPr>
          <p:nvPr/>
        </p:nvCxnSpPr>
        <p:spPr>
          <a:xfrm>
            <a:off x="4927006" y="3231391"/>
            <a:ext cx="1304688" cy="449523"/>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0" name="Ellipse 29"/>
          <p:cNvSpPr/>
          <p:nvPr/>
        </p:nvSpPr>
        <p:spPr>
          <a:xfrm>
            <a:off x="5481379" y="405034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26" name="Ellipse 25"/>
          <p:cNvSpPr/>
          <p:nvPr/>
        </p:nvSpPr>
        <p:spPr>
          <a:xfrm>
            <a:off x="1026530" y="197938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4" name="Ellipse 33"/>
          <p:cNvSpPr/>
          <p:nvPr/>
        </p:nvSpPr>
        <p:spPr>
          <a:xfrm>
            <a:off x="1568271" y="365382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5" name="Ellipse 34"/>
          <p:cNvSpPr/>
          <p:nvPr/>
        </p:nvSpPr>
        <p:spPr>
          <a:xfrm>
            <a:off x="2296656" y="411365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Tree>
    <p:extLst>
      <p:ext uri="{BB962C8B-B14F-4D97-AF65-F5344CB8AC3E}">
        <p14:creationId xmlns:p14="http://schemas.microsoft.com/office/powerpoint/2010/main" val="5618902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527934"/>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Bloquer une fournisseur</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386493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600" dirty="0" smtClean="0"/>
              <a:t>La création d’un fournisseur s’inscrit dans le cadre du processus données de base Achats</a:t>
            </a:r>
          </a:p>
          <a:p>
            <a:pPr marL="171450" indent="-171450">
              <a:buClr>
                <a:srgbClr val="0070C0"/>
              </a:buClr>
              <a:buSzPct val="100000"/>
              <a:buFont typeface="Arial" panose="020B0604020202020204" pitchFamily="34" charset="0"/>
              <a:buChar char="•"/>
            </a:pPr>
            <a:r>
              <a:rPr lang="fr-FR" sz="1600" dirty="0" smtClean="0">
                <a:ea typeface="ＭＳ Ｐゴシック" panose="020B0600070205080204" pitchFamily="34" charset="-128"/>
                <a:cs typeface="Arial" panose="020B0604020202020204" pitchFamily="34" charset="0"/>
              </a:rPr>
              <a:t>Un fournisseur de la CBG doit être créé dans le système. Ces données sont </a:t>
            </a:r>
            <a:r>
              <a:rPr lang="fr-FR" sz="1600" dirty="0" smtClean="0">
                <a:ea typeface="ＭＳ Ｐゴシック" panose="020B0600070205080204" pitchFamily="34" charset="-128"/>
                <a:cs typeface="Arial" panose="020B0604020202020204" pitchFamily="34" charset="0"/>
              </a:rPr>
              <a:t>primordiales pour </a:t>
            </a:r>
            <a:r>
              <a:rPr lang="fr-FR" sz="1600" dirty="0" smtClean="0">
                <a:ea typeface="ＭＳ Ｐゴシック" panose="020B0600070205080204" pitchFamily="34" charset="-128"/>
                <a:cs typeface="Arial" panose="020B0604020202020204" pitchFamily="34" charset="0"/>
              </a:rPr>
              <a:t>le bon fonctionnement du processus Achats dans SAP</a:t>
            </a:r>
          </a:p>
          <a:p>
            <a:pPr marL="171450" indent="-171450">
              <a:buClr>
                <a:srgbClr val="0070C0"/>
              </a:buClr>
              <a:buSzPct val="100000"/>
              <a:buFont typeface="Arial" panose="020B0604020202020204" pitchFamily="34" charset="0"/>
              <a:buChar char="•"/>
            </a:pPr>
            <a:r>
              <a:rPr lang="fr-FR" sz="1600" dirty="0" smtClean="0">
                <a:ea typeface="ＭＳ Ｐゴシック" panose="020B0600070205080204" pitchFamily="34" charset="-128"/>
                <a:cs typeface="Arial" panose="020B0604020202020204" pitchFamily="34" charset="0"/>
              </a:rPr>
              <a:t>Un employé doit être créé en tant que fournisseur interne, afin de procéder au paiement de son salaire</a:t>
            </a:r>
          </a:p>
          <a:p>
            <a:pPr marL="171450" indent="-171450">
              <a:buClr>
                <a:srgbClr val="0070C0"/>
              </a:buClr>
              <a:buSzPct val="100000"/>
              <a:buFont typeface="Arial" panose="020B0604020202020204" pitchFamily="34" charset="0"/>
              <a:buChar char="•"/>
            </a:pPr>
            <a:r>
              <a:rPr lang="fr-FR" sz="1600" dirty="0" smtClean="0">
                <a:ea typeface="ＭＳ Ｐゴシック" panose="020B0600070205080204" pitchFamily="34" charset="-128"/>
                <a:cs typeface="Arial" panose="020B0604020202020204" pitchFamily="34" charset="0"/>
              </a:rPr>
              <a:t>Un fournisseur qui ne travaille plus pour la CBG doit être bloqué dans le système</a:t>
            </a:r>
            <a:endParaRPr lang="en-US" sz="1600" dirty="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VHEKTECQ7ECW-1532981086-4382</_dlc_DocId>
    <_dlc_DocIdUrl xmlns="f36dd47d-0b23-43fd-9b2d-c5346ffa1660">
      <Url>http://projets.cbg-guinee.com/erp/_layouts/15/DocIdRedir.aspx?ID=VHEKTECQ7ECW-1532981086-4382</Url>
      <Description>VHEKTECQ7ECW-1532981086-4382</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A4A90B-023E-496F-BC45-DB5314657BFF}"/>
</file>

<file path=customXml/itemProps2.xml><?xml version="1.0" encoding="utf-8"?>
<ds:datastoreItem xmlns:ds="http://schemas.openxmlformats.org/officeDocument/2006/customXml" ds:itemID="{E012EB37-24CF-4105-97F5-E2E4A7778D46}"/>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989</Words>
  <Application>Microsoft Office PowerPoint</Application>
  <PresentationFormat>Affichage à l'écran (16:9)</PresentationFormat>
  <Paragraphs>225</Paragraphs>
  <Slides>22</Slides>
  <Notes>13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 de gestion des fournisseurs</vt:lpstr>
      <vt:lpstr>Description du processus métier Les différentes données de la fiche fournisseur</vt:lpstr>
      <vt:lpstr>Le processus de gestion des données fournisseurs</vt:lpstr>
      <vt:lpstr>Description du processus métier Gestion des fournisseurs</vt:lpstr>
      <vt:lpstr>Description du processus métier </vt:lpstr>
      <vt:lpstr>Présentation PowerPoint</vt:lpstr>
      <vt:lpstr>Description des objets SAP</vt:lpstr>
      <vt:lpstr>Mode opératoire Présentation du mode opératoire dans SAP</vt:lpstr>
      <vt:lpstr>Mode opératoire MK01 – Créer un fournisseur externe 1/2</vt:lpstr>
      <vt:lpstr>Mode opératoire MK01– Créer un fournisseur externe 2/2</vt:lpstr>
      <vt:lpstr>Présentation PowerPoint</vt:lpstr>
      <vt:lpstr>Mode opératoire MK01– Créer un fournisseur interne</vt:lpstr>
      <vt:lpstr>Présentation PowerPoint</vt:lpstr>
      <vt:lpstr>Mode opératoire MK05– Blocage d’un fournisseur</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3786</cp:revision>
  <cp:lastPrinted>2015-12-04T17:33:35Z</cp:lastPrinted>
  <dcterms:created xsi:type="dcterms:W3CDTF">2012-05-17T14:14:37Z</dcterms:created>
  <dcterms:modified xsi:type="dcterms:W3CDTF">2015-12-21T12:05:02Z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459f5457-540a-4092-b7b0-64c4675bad41</vt:lpwstr>
  </property>
</Properties>
</file>