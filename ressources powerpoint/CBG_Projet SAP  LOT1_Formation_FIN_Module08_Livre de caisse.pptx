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17.xml" ContentType="application/vnd.openxmlformats-officedocument.presentationml.slide+xml"/>
  <Override PartName="/ppt/slides/slide18.xml" ContentType="application/vnd.openxmlformats-officedocument.presentationml.slide+xml"/>
  <Override PartName="/ppt/presentation.xml" ContentType="application/vnd.openxmlformats-officedocument.presentationml.presentation.main+xml"/>
  <Override PartName="/ppt/slides/slide16.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15.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notesSlides/notesSlide5.xml" ContentType="application/vnd.openxmlformats-officedocument.presentationml.notesSlide+xml"/>
  <Override PartName="/ppt/slideMasters/slideMaster1.xml" ContentType="application/vnd.openxmlformats-officedocument.presentationml.slideMaster+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4.xml" ContentType="application/vnd.openxmlformats-officedocument.presentationml.notesSlide+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notesSlides/notesSlide3.xml" ContentType="application/vnd.openxmlformats-officedocument.presentationml.notesSlide+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customXml/itemProps3.xml" ContentType="application/vnd.openxmlformats-officedocument.customXmlProperties+xml"/>
  <Override PartName="/customXml/itemProps2.xml" ContentType="application/vnd.openxmlformats-officedocument.customXmlProperties+xml"/>
  <Override PartName="/customXml/itemProps1.xml" ContentType="application/vnd.openxmlformats-officedocument.customXmlPropertie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23"/>
  </p:notesMasterIdLst>
  <p:handoutMasterIdLst>
    <p:handoutMasterId r:id="rId24"/>
  </p:handoutMasterIdLst>
  <p:sldIdLst>
    <p:sldId id="685" r:id="rId5"/>
    <p:sldId id="686" r:id="rId6"/>
    <p:sldId id="687" r:id="rId7"/>
    <p:sldId id="688" r:id="rId8"/>
    <p:sldId id="723" r:id="rId9"/>
    <p:sldId id="691" r:id="rId10"/>
    <p:sldId id="724" r:id="rId11"/>
    <p:sldId id="768" r:id="rId12"/>
    <p:sldId id="765" r:id="rId13"/>
    <p:sldId id="770" r:id="rId14"/>
    <p:sldId id="771" r:id="rId15"/>
    <p:sldId id="772" r:id="rId16"/>
    <p:sldId id="773" r:id="rId17"/>
    <p:sldId id="766" r:id="rId18"/>
    <p:sldId id="699" r:id="rId19"/>
    <p:sldId id="725" r:id="rId20"/>
    <p:sldId id="710" r:id="rId21"/>
    <p:sldId id="728" r:id="rId22"/>
  </p:sldIdLst>
  <p:sldSz cx="9144000" cy="5143500" type="screen16x9"/>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24" userDrawn="1">
          <p15:clr>
            <a:srgbClr val="A4A3A4"/>
          </p15:clr>
        </p15:guide>
        <p15:guide id="3" pos="214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9BD3"/>
    <a:srgbClr val="D3D5FF"/>
    <a:srgbClr val="A7ABFF"/>
    <a:srgbClr val="C5C8FF"/>
    <a:srgbClr val="004376"/>
    <a:srgbClr val="4F81BD"/>
    <a:srgbClr val="F3F4FF"/>
    <a:srgbClr val="E7E8FF"/>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32" autoAdjust="0"/>
    <p:restoredTop sz="95565" autoAdjust="0"/>
  </p:normalViewPr>
  <p:slideViewPr>
    <p:cSldViewPr snapToGrid="0" snapToObjects="1">
      <p:cViewPr varScale="1">
        <p:scale>
          <a:sx n="123" d="100"/>
          <a:sy n="123" d="100"/>
        </p:scale>
        <p:origin x="360" y="108"/>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3127"/>
        <p:guide pos="2124"/>
        <p:guide pos="214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ustomXml" Target="../customXml/item4.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2945659" cy="496411"/>
          </a:xfrm>
          <a:prstGeom prst="rect">
            <a:avLst/>
          </a:prstGeom>
        </p:spPr>
        <p:txBody>
          <a:bodyPr vert="horz" lIns="91427" tIns="45714" rIns="91427" bIns="45714" rtlCol="0"/>
          <a:lstStyle>
            <a:lvl1pPr algn="l">
              <a:defRPr sz="1200"/>
            </a:lvl1pPr>
          </a:lstStyle>
          <a:p>
            <a:endParaRPr lang="en-US" dirty="0"/>
          </a:p>
        </p:txBody>
      </p:sp>
      <p:sp>
        <p:nvSpPr>
          <p:cNvPr id="3" name="Date Placeholder 2"/>
          <p:cNvSpPr>
            <a:spLocks noGrp="1"/>
          </p:cNvSpPr>
          <p:nvPr>
            <p:ph type="dt" sz="quarter" idx="1"/>
          </p:nvPr>
        </p:nvSpPr>
        <p:spPr>
          <a:xfrm>
            <a:off x="3850445" y="2"/>
            <a:ext cx="2945659" cy="496411"/>
          </a:xfrm>
          <a:prstGeom prst="rect">
            <a:avLst/>
          </a:prstGeom>
        </p:spPr>
        <p:txBody>
          <a:bodyPr vert="horz" lIns="91427" tIns="45714" rIns="91427" bIns="45714" rtlCol="0"/>
          <a:lstStyle>
            <a:lvl1pPr algn="r">
              <a:defRPr sz="1200"/>
            </a:lvl1pPr>
          </a:lstStyle>
          <a:p>
            <a:fld id="{4FCF4903-D1A4-F14A-B207-A0D2CC9D4B8B}" type="datetimeFigureOut">
              <a:rPr lang="en-US" smtClean="0"/>
              <a:t>1/30/2016</a:t>
            </a:fld>
            <a:endParaRPr lang="en-US" dirty="0"/>
          </a:p>
        </p:txBody>
      </p:sp>
      <p:sp>
        <p:nvSpPr>
          <p:cNvPr id="4" name="Footer Placeholder 3"/>
          <p:cNvSpPr>
            <a:spLocks noGrp="1"/>
          </p:cNvSpPr>
          <p:nvPr>
            <p:ph type="ftr" sz="quarter" idx="2"/>
          </p:nvPr>
        </p:nvSpPr>
        <p:spPr>
          <a:xfrm>
            <a:off x="1" y="9430093"/>
            <a:ext cx="2945659" cy="496411"/>
          </a:xfrm>
          <a:prstGeom prst="rect">
            <a:avLst/>
          </a:prstGeom>
        </p:spPr>
        <p:txBody>
          <a:bodyPr vert="horz" lIns="91427" tIns="45714" rIns="91427" bIns="45714"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50445" y="9430093"/>
            <a:ext cx="2945659" cy="496411"/>
          </a:xfrm>
          <a:prstGeom prst="rect">
            <a:avLst/>
          </a:prstGeom>
        </p:spPr>
        <p:txBody>
          <a:bodyPr vert="horz" lIns="91427" tIns="45714" rIns="91427" bIns="45714"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2945659" cy="496411"/>
          </a:xfrm>
          <a:prstGeom prst="rect">
            <a:avLst/>
          </a:prstGeom>
        </p:spPr>
        <p:txBody>
          <a:bodyPr vert="horz" lIns="91427" tIns="45714" rIns="91427" bIns="45714" rtlCol="0"/>
          <a:lstStyle>
            <a:lvl1pPr algn="l">
              <a:defRPr sz="1200"/>
            </a:lvl1pPr>
          </a:lstStyle>
          <a:p>
            <a:endParaRPr lang="de-DE" dirty="0"/>
          </a:p>
        </p:txBody>
      </p:sp>
      <p:sp>
        <p:nvSpPr>
          <p:cNvPr id="3" name="Datumsplatzhalter 2"/>
          <p:cNvSpPr>
            <a:spLocks noGrp="1"/>
          </p:cNvSpPr>
          <p:nvPr>
            <p:ph type="dt" idx="1"/>
          </p:nvPr>
        </p:nvSpPr>
        <p:spPr>
          <a:xfrm>
            <a:off x="3850445" y="2"/>
            <a:ext cx="2945659" cy="496411"/>
          </a:xfrm>
          <a:prstGeom prst="rect">
            <a:avLst/>
          </a:prstGeom>
        </p:spPr>
        <p:txBody>
          <a:bodyPr vert="horz" lIns="91427" tIns="45714" rIns="91427" bIns="45714" rtlCol="0"/>
          <a:lstStyle>
            <a:lvl1pPr algn="r">
              <a:defRPr sz="1200"/>
            </a:lvl1pPr>
          </a:lstStyle>
          <a:p>
            <a:fld id="{BC5B4241-C98F-4766-9E25-5F8403374385}" type="datetimeFigureOut">
              <a:rPr lang="de-DE" smtClean="0"/>
              <a:t>30.01.2016</a:t>
            </a:fld>
            <a:endParaRPr lang="de-DE" dirty="0"/>
          </a:p>
        </p:txBody>
      </p:sp>
      <p:sp>
        <p:nvSpPr>
          <p:cNvPr id="4" name="Folienbildplatzhalter 3"/>
          <p:cNvSpPr>
            <a:spLocks noGrp="1" noRot="1" noChangeAspect="1"/>
          </p:cNvSpPr>
          <p:nvPr>
            <p:ph type="sldImg" idx="2"/>
          </p:nvPr>
        </p:nvSpPr>
        <p:spPr>
          <a:xfrm>
            <a:off x="87313" y="742950"/>
            <a:ext cx="6623050" cy="3725863"/>
          </a:xfrm>
          <a:prstGeom prst="rect">
            <a:avLst/>
          </a:prstGeom>
          <a:noFill/>
          <a:ln w="12700">
            <a:solidFill>
              <a:prstClr val="black"/>
            </a:solidFill>
          </a:ln>
        </p:spPr>
        <p:txBody>
          <a:bodyPr vert="horz" lIns="91427" tIns="45714" rIns="91427" bIns="45714" rtlCol="0" anchor="ctr"/>
          <a:lstStyle/>
          <a:p>
            <a:endParaRPr lang="de-DE" dirty="0"/>
          </a:p>
        </p:txBody>
      </p:sp>
      <p:sp>
        <p:nvSpPr>
          <p:cNvPr id="5" name="Notizenplatzhalter 4"/>
          <p:cNvSpPr>
            <a:spLocks noGrp="1"/>
          </p:cNvSpPr>
          <p:nvPr>
            <p:ph type="body" sz="quarter" idx="3"/>
          </p:nvPr>
        </p:nvSpPr>
        <p:spPr>
          <a:xfrm>
            <a:off x="679768" y="4715907"/>
            <a:ext cx="5438140" cy="4467701"/>
          </a:xfrm>
          <a:prstGeom prst="rect">
            <a:avLst/>
          </a:prstGeom>
        </p:spPr>
        <p:txBody>
          <a:bodyPr vert="horz" lIns="91427" tIns="45714" rIns="91427" bIns="45714"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9430093"/>
            <a:ext cx="2945659" cy="496411"/>
          </a:xfrm>
          <a:prstGeom prst="rect">
            <a:avLst/>
          </a:prstGeom>
        </p:spPr>
        <p:txBody>
          <a:bodyPr vert="horz" lIns="91427" tIns="45714" rIns="91427" bIns="45714" rtlCol="0" anchor="b"/>
          <a:lstStyle>
            <a:lvl1pPr algn="l">
              <a:defRPr sz="1200"/>
            </a:lvl1pPr>
          </a:lstStyle>
          <a:p>
            <a:endParaRPr lang="de-DE" dirty="0"/>
          </a:p>
        </p:txBody>
      </p:sp>
      <p:sp>
        <p:nvSpPr>
          <p:cNvPr id="7" name="Foliennummernplatzhalter 6"/>
          <p:cNvSpPr>
            <a:spLocks noGrp="1"/>
          </p:cNvSpPr>
          <p:nvPr>
            <p:ph type="sldNum" sz="quarter" idx="5"/>
          </p:nvPr>
        </p:nvSpPr>
        <p:spPr>
          <a:xfrm>
            <a:off x="3850445" y="9430093"/>
            <a:ext cx="2945659" cy="496411"/>
          </a:xfrm>
          <a:prstGeom prst="rect">
            <a:avLst/>
          </a:prstGeom>
        </p:spPr>
        <p:txBody>
          <a:bodyPr vert="horz" lIns="91427" tIns="45714" rIns="91427" bIns="45714"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5</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7</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15</a:t>
            </a:fld>
            <a:endParaRPr lang="fr-FR" altLang="en-US" sz="1200"/>
          </a:p>
        </p:txBody>
      </p:sp>
      <p:sp>
        <p:nvSpPr>
          <p:cNvPr id="51203" name="Rectangle 2"/>
          <p:cNvSpPr>
            <a:spLocks noGrp="1" noRot="1" noChangeAspect="1" noChangeArrowheads="1" noTextEdit="1"/>
          </p:cNvSpPr>
          <p:nvPr>
            <p:ph type="sldImg"/>
          </p:nvPr>
        </p:nvSpPr>
        <p:spPr bwMode="auto">
          <a:xfrm>
            <a:off x="-676275" y="238125"/>
            <a:ext cx="8139113" cy="457993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53272" y="8579574"/>
            <a:ext cx="5485042" cy="1148540"/>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3599675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16</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30/01/2016</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12.png"/><Relationship Id="rId2" Type="http://schemas.openxmlformats.org/officeDocument/2006/relationships/image" Target="../media/image23.png"/><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6.png"/><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9.png"/><Relationship Id="rId7" Type="http://schemas.openxmlformats.org/officeDocument/2006/relationships/image" Target="../media/image32.png"/><Relationship Id="rId2"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31.png"/><Relationship Id="rId5" Type="http://schemas.openxmlformats.org/officeDocument/2006/relationships/image" Target="../media/image22.png"/><Relationship Id="rId10" Type="http://schemas.openxmlformats.org/officeDocument/2006/relationships/image" Target="../media/image34.png"/><Relationship Id="rId4" Type="http://schemas.openxmlformats.org/officeDocument/2006/relationships/image" Target="../media/image30.png"/><Relationship Id="rId9"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FINANCE </a:t>
            </a:r>
            <a:r>
              <a:rPr lang="fr-FR" sz="3200" b="1" dirty="0" smtClean="0">
                <a:solidFill>
                  <a:srgbClr val="0070C0"/>
                </a:solidFill>
                <a:latin typeface="Arial" charset="0"/>
                <a:cs typeface="Arial" charset="0"/>
              </a:rPr>
              <a:t/>
            </a:r>
            <a:br>
              <a:rPr lang="fr-FR" sz="3200" b="1" dirty="0" smtClean="0">
                <a:solidFill>
                  <a:srgbClr val="0070C0"/>
                </a:solidFill>
                <a:latin typeface="Arial" charset="0"/>
                <a:cs typeface="Arial" charset="0"/>
              </a:rPr>
            </a:br>
            <a:r>
              <a:rPr lang="fr-FR" sz="2000" b="1" dirty="0" smtClean="0">
                <a:solidFill>
                  <a:srgbClr val="0070C0"/>
                </a:solidFill>
                <a:latin typeface="Arial" charset="0"/>
                <a:cs typeface="Arial" charset="0"/>
              </a:rPr>
              <a:t>Module04.06</a:t>
            </a:r>
            <a:r>
              <a:rPr lang="fr-FR" sz="2000" b="1" dirty="0">
                <a:solidFill>
                  <a:srgbClr val="0070C0"/>
                </a:solidFill>
                <a:latin typeface="Arial" charset="0"/>
                <a:cs typeface="Arial" charset="0"/>
              </a:rPr>
              <a:t/>
            </a:r>
            <a:br>
              <a:rPr lang="fr-FR" sz="2000" b="1" dirty="0">
                <a:solidFill>
                  <a:srgbClr val="0070C0"/>
                </a:solidFill>
                <a:latin typeface="Arial" charset="0"/>
                <a:cs typeface="Arial" charset="0"/>
              </a:rPr>
            </a:br>
            <a:r>
              <a:rPr lang="fr-FR" sz="2000" b="1" dirty="0" smtClean="0">
                <a:solidFill>
                  <a:srgbClr val="0070C0"/>
                </a:solidFill>
                <a:latin typeface="Arial" charset="0"/>
                <a:cs typeface="Arial" charset="0"/>
              </a:rPr>
              <a:t>Gestion du Livre de caisse  </a:t>
            </a:r>
            <a:endParaRPr lang="fr-FR" sz="1800" dirty="0" smtClean="0">
              <a:solidFill>
                <a:srgbClr val="0070C0"/>
              </a:solidFill>
              <a:latin typeface="Arial" charset="0"/>
              <a:cs typeface="Arial" charset="0"/>
            </a:endParaRPr>
          </a:p>
        </p:txBody>
      </p:sp>
      <p:sp>
        <p:nvSpPr>
          <p:cNvPr id="21506" name="Rectangle 2"/>
          <p:cNvSpPr>
            <a:spLocks noGrp="1"/>
          </p:cNvSpPr>
          <p:nvPr>
            <p:ph type="ctrTitle" idx="4294967295"/>
          </p:nvPr>
        </p:nvSpPr>
        <p:spPr>
          <a:xfrm>
            <a:off x="6245817" y="4002921"/>
            <a:ext cx="2772366" cy="708563"/>
          </a:xfrm>
        </p:spPr>
        <p:txBody>
          <a:bodyPr>
            <a:normAutofit/>
          </a:bodyPr>
          <a:lstStyle/>
          <a:p>
            <a:pPr algn="r" defTabSz="457200"/>
            <a:r>
              <a:rPr lang="fr-FR" altLang="en-US" sz="1800" dirty="0" smtClean="0">
                <a:solidFill>
                  <a:schemeClr val="tx1"/>
                </a:solidFill>
                <a:latin typeface="Arial" charset="0"/>
              </a:rPr>
              <a:t>Kamsar, le 01.02.2016</a:t>
            </a:r>
            <a:endParaRPr lang="en-US" altLang="en-US" sz="1800" dirty="0">
              <a:solidFill>
                <a:schemeClr val="tx1"/>
              </a:solidFill>
              <a:latin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 opératoire </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2</a:t>
            </a:fld>
            <a:endParaRPr lang="fr-FR" altLang="en-US" sz="750"/>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23555" name="Slide Number Placeholder 3"/>
          <p:cNvSpPr>
            <a:spLocks noGrp="1"/>
          </p:cNvSpPr>
          <p:nvPr>
            <p:ph type="sldNum" sz="quarter" idx="4294967295"/>
          </p:nvPr>
        </p:nvSpPr>
        <p:spPr bwMode="auto">
          <a:xfrm>
            <a:off x="7543800" y="4767263"/>
            <a:ext cx="16002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6376B89C-69A1-4AA7-8B55-052D6C772B02}" type="slidenum">
              <a:rPr lang="en-US" altLang="en-US" sz="750"/>
              <a:pPr eaLnBrk="1" hangingPunct="1"/>
              <a:t>3</a:t>
            </a:fld>
            <a:endParaRPr lang="en-US" altLang="en-US" sz="750"/>
          </a:p>
        </p:txBody>
      </p:sp>
      <p:sp>
        <p:nvSpPr>
          <p:cNvPr id="5" name="Rectangle 4"/>
          <p:cNvSpPr/>
          <p:nvPr/>
        </p:nvSpPr>
        <p:spPr>
          <a:xfrm>
            <a:off x="1763272" y="1316481"/>
            <a:ext cx="4589859" cy="74325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Comprendre le fonctionnement du livre de caisse</a:t>
            </a:r>
          </a:p>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Savoir gérer les </a:t>
            </a:r>
            <a:r>
              <a:rPr lang="fr-FR" sz="900" dirty="0" smtClean="0">
                <a:solidFill>
                  <a:schemeClr val="tx1"/>
                </a:solidFill>
                <a:latin typeface="Arial" pitchFamily="34" charset="0"/>
                <a:cs typeface="Arial" pitchFamily="34" charset="0"/>
              </a:rPr>
              <a:t>transactions de caisse    </a:t>
            </a:r>
            <a:endParaRPr lang="fr-FR" sz="900" dirty="0">
              <a:solidFill>
                <a:schemeClr val="tx1"/>
              </a:solidFill>
              <a:latin typeface="Arial" pitchFamily="34" charset="0"/>
              <a:cs typeface="Arial" pitchFamily="34" charset="0"/>
            </a:endParaRPr>
          </a:p>
        </p:txBody>
      </p:sp>
      <p:sp>
        <p:nvSpPr>
          <p:cNvPr id="7" name="Rectangle 6"/>
          <p:cNvSpPr/>
          <p:nvPr/>
        </p:nvSpPr>
        <p:spPr>
          <a:xfrm>
            <a:off x="1763272" y="3689525"/>
            <a:ext cx="458985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Gestion des flux de la caisse</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Ajuster la gestion du livre de caisse avec le compte caisse </a:t>
            </a:r>
            <a:endParaRPr lang="fr-FR" sz="900" dirty="0">
              <a:solidFill>
                <a:schemeClr val="tx1"/>
              </a:solidFill>
              <a:latin typeface="Arial" pitchFamily="34" charset="0"/>
              <a:cs typeface="Arial" pitchFamily="34" charset="0"/>
            </a:endParaRPr>
          </a:p>
          <a:p>
            <a:pPr marL="67866" lvl="1" indent="-67866" eaLnBrk="0" hangingPunct="0">
              <a:spcBef>
                <a:spcPts val="225"/>
              </a:spcBef>
              <a:buClr>
                <a:srgbClr val="4F81BD"/>
              </a:buClr>
              <a:buFont typeface="Arial" charset="0"/>
              <a:buChar char="•"/>
              <a:defRPr/>
            </a:pPr>
            <a:endParaRPr lang="fr-FR" sz="900" dirty="0" smtClean="0">
              <a:solidFill>
                <a:schemeClr val="tx1"/>
              </a:solidFill>
              <a:latin typeface="Arial" pitchFamily="34" charset="0"/>
              <a:cs typeface="Arial" pitchFamily="34" charset="0"/>
            </a:endParaRPr>
          </a:p>
        </p:txBody>
      </p:sp>
      <p:sp>
        <p:nvSpPr>
          <p:cNvPr id="11" name="Rectangle 10"/>
          <p:cNvSpPr/>
          <p:nvPr/>
        </p:nvSpPr>
        <p:spPr>
          <a:xfrm>
            <a:off x="1759737" y="3389443"/>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18686" y="1012639"/>
            <a:ext cx="822597" cy="300082"/>
          </a:xfrm>
          <a:prstGeom prst="rect">
            <a:avLst/>
          </a:prstGeom>
          <a:noFill/>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Objectifs</a:t>
            </a: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1</a:t>
              </a:r>
              <a:r>
                <a:rPr lang="fr-FR" sz="900" dirty="0" smtClean="0">
                  <a:solidFill>
                    <a:schemeClr val="tx1"/>
                  </a:solidFill>
                  <a:latin typeface="Arial" pitchFamily="34" charset="0"/>
                  <a:cs typeface="Arial" pitchFamily="34" charset="0"/>
                </a:rPr>
                <a:t> Heure</a:t>
              </a:r>
              <a:endParaRPr lang="fr-FR" sz="900" dirty="0">
                <a:solidFill>
                  <a:schemeClr val="tx1"/>
                </a:solidFill>
                <a:latin typeface="Arial" pitchFamily="34" charset="0"/>
                <a:cs typeface="Arial" pitchFamily="34" charset="0"/>
              </a:endParaRP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Comptables   </a:t>
              </a:r>
            </a:p>
            <a:p>
              <a:pPr eaLnBrk="0" hangingPunct="0">
                <a:spcBef>
                  <a:spcPts val="225"/>
                </a:spcBef>
                <a:buClr>
                  <a:srgbClr val="4F81BD"/>
                </a:buClr>
                <a:defRPr/>
              </a:pPr>
              <a:endParaRPr lang="fr-FR" sz="900" dirty="0" smtClean="0">
                <a:solidFill>
                  <a:schemeClr val="tx1"/>
                </a:solidFill>
                <a:latin typeface="Arial" pitchFamily="34" charset="0"/>
                <a:cs typeface="Arial" pitchFamily="34" charset="0"/>
              </a:endParaRP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endParaRPr lang="fr-FR" sz="900" dirty="0">
                <a:solidFill>
                  <a:schemeClr val="tx1"/>
                </a:solidFill>
                <a:latin typeface="Arial" pitchFamily="34" charset="0"/>
                <a:cs typeface="Arial" pitchFamily="34" charset="0"/>
              </a:endParaRP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re 2"/>
          <p:cNvSpPr>
            <a:spLocks noGrp="1"/>
          </p:cNvSpPr>
          <p:nvPr>
            <p:ph type="title"/>
          </p:nvPr>
        </p:nvSpPr>
        <p:spPr/>
        <p:txBody>
          <a:bodyPr>
            <a:normAutofit/>
          </a:bodyPr>
          <a:lstStyle/>
          <a:p>
            <a:r>
              <a:rPr lang="fr-FR" altLang="en-US" dirty="0"/>
              <a:t>Agenda : </a:t>
            </a:r>
            <a:r>
              <a:rPr lang="fr-FR" altLang="en-US" dirty="0" smtClean="0"/>
              <a:t>1h00</a:t>
            </a:r>
            <a:endParaRPr lang="en-US" altLang="en-US" dirty="0"/>
          </a:p>
        </p:txBody>
      </p:sp>
      <p:graphicFrame>
        <p:nvGraphicFramePr>
          <p:cNvPr id="6" name="Espace réservé du contenu 5"/>
          <p:cNvGraphicFramePr>
            <a:graphicFrameLocks noGrp="1"/>
          </p:cNvGraphicFramePr>
          <p:nvPr>
            <p:ph idx="1"/>
            <p:extLst>
              <p:ext uri="{D42A27DB-BD31-4B8C-83A1-F6EECF244321}">
                <p14:modId xmlns:p14="http://schemas.microsoft.com/office/powerpoint/2010/main" val="661728740"/>
              </p:ext>
            </p:extLst>
          </p:nvPr>
        </p:nvGraphicFramePr>
        <p:xfrm>
          <a:off x="2758033" y="1291506"/>
          <a:ext cx="3627934" cy="1967902"/>
        </p:xfrm>
        <a:graphic>
          <a:graphicData uri="http://schemas.openxmlformats.org/drawingml/2006/table">
            <a:tbl>
              <a:tblPr firstRow="1" bandRow="1">
                <a:tableStyleId>{5C22544A-7EE6-4342-B048-85BDC9FD1C3A}</a:tableStyleId>
              </a:tblPr>
              <a:tblGrid>
                <a:gridCol w="1125910"/>
                <a:gridCol w="2502024"/>
              </a:tblGrid>
              <a:tr h="309310">
                <a:tc>
                  <a:txBody>
                    <a:bodyPr/>
                    <a:lstStyle/>
                    <a:p>
                      <a:pPr algn="ctr"/>
                      <a:r>
                        <a:rPr lang="fr-FR" sz="900" dirty="0" smtClean="0"/>
                        <a:t>Horaire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c>
                  <a:txBody>
                    <a:bodyPr/>
                    <a:lstStyle/>
                    <a:p>
                      <a:pPr algn="ctr">
                        <a:lnSpc>
                          <a:spcPct val="100000"/>
                        </a:lnSpc>
                        <a:spcBef>
                          <a:spcPts val="0"/>
                        </a:spcBef>
                        <a:spcAft>
                          <a:spcPts val="0"/>
                        </a:spcAft>
                      </a:pPr>
                      <a:r>
                        <a:rPr lang="fr-FR" sz="900" dirty="0" smtClean="0"/>
                        <a:t>Agenda Matinée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r>
              <a:tr h="436472">
                <a:tc>
                  <a:txBody>
                    <a:bodyPr/>
                    <a:lstStyle/>
                    <a:p>
                      <a:pPr algn="ctr"/>
                      <a:r>
                        <a:rPr lang="fr-FR" sz="900" dirty="0" smtClean="0"/>
                        <a:t>8h00 – 8h10</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c>
                  <a:txBody>
                    <a:bodyPr/>
                    <a:lstStyle/>
                    <a:p>
                      <a:pPr>
                        <a:lnSpc>
                          <a:spcPct val="100000"/>
                        </a:lnSpc>
                        <a:spcBef>
                          <a:spcPts val="0"/>
                        </a:spcBef>
                        <a:spcAft>
                          <a:spcPts val="0"/>
                        </a:spcAft>
                      </a:pPr>
                      <a:r>
                        <a:rPr lang="fr-FR" sz="900" dirty="0" smtClean="0"/>
                        <a:t>Accueil / Introduction : 5 min</a:t>
                      </a:r>
                    </a:p>
                    <a:p>
                      <a:pPr>
                        <a:lnSpc>
                          <a:spcPct val="100000"/>
                        </a:lnSpc>
                        <a:spcBef>
                          <a:spcPts val="0"/>
                        </a:spcBef>
                        <a:spcAft>
                          <a:spcPts val="0"/>
                        </a:spcAft>
                      </a:pPr>
                      <a:r>
                        <a:rPr lang="fr-FR" sz="900" dirty="0" smtClean="0"/>
                        <a:t>Présentation des</a:t>
                      </a:r>
                      <a:r>
                        <a:rPr lang="fr-FR" sz="900" baseline="0" dirty="0" smtClean="0"/>
                        <a:t> p</a:t>
                      </a:r>
                      <a:r>
                        <a:rPr lang="fr-FR" sz="900" dirty="0" smtClean="0"/>
                        <a:t>rocessus : 5 min</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r>
              <a:tr h="611060">
                <a:tc>
                  <a:txBody>
                    <a:bodyPr/>
                    <a:lstStyle/>
                    <a:p>
                      <a:pPr algn="ctr"/>
                      <a:r>
                        <a:rPr lang="fr-FR" sz="900" dirty="0" smtClean="0"/>
                        <a:t>8h10 – </a:t>
                      </a:r>
                      <a:r>
                        <a:rPr lang="fr-FR" sz="900" dirty="0" smtClean="0"/>
                        <a:t>8h45</a:t>
                      </a:r>
                      <a:endParaRPr lang="fr-FR" sz="900" dirty="0" smtClean="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a:lnSpc>
                          <a:spcPct val="100000"/>
                        </a:lnSpc>
                        <a:spcBef>
                          <a:spcPts val="0"/>
                        </a:spcBef>
                        <a:spcAft>
                          <a:spcPts val="0"/>
                        </a:spcAft>
                      </a:pPr>
                      <a:r>
                        <a:rPr lang="fr-FR" sz="900" dirty="0" smtClean="0"/>
                        <a:t>La représentation du</a:t>
                      </a:r>
                      <a:r>
                        <a:rPr lang="fr-FR" sz="900" baseline="0" dirty="0" smtClean="0"/>
                        <a:t> processus</a:t>
                      </a:r>
                      <a:endParaRPr lang="fr-FR" sz="900" dirty="0" smtClean="0"/>
                    </a:p>
                    <a:p>
                      <a:pPr marL="177800" indent="-177800">
                        <a:lnSpc>
                          <a:spcPct val="100000"/>
                        </a:lnSpc>
                        <a:spcBef>
                          <a:spcPts val="0"/>
                        </a:spcBef>
                        <a:spcAft>
                          <a:spcPts val="0"/>
                        </a:spcAft>
                        <a:buFont typeface="Arial" pitchFamily="34" charset="0"/>
                        <a:buChar char="•"/>
                      </a:pPr>
                      <a:r>
                        <a:rPr lang="fr-FR" sz="900" dirty="0" smtClean="0"/>
                        <a:t>Présentation : 5 min</a:t>
                      </a:r>
                    </a:p>
                    <a:p>
                      <a:pPr marL="177800" indent="-177800">
                        <a:lnSpc>
                          <a:spcPct val="100000"/>
                        </a:lnSpc>
                        <a:spcBef>
                          <a:spcPts val="0"/>
                        </a:spcBef>
                        <a:spcAft>
                          <a:spcPts val="0"/>
                        </a:spcAft>
                        <a:buFont typeface="Arial" pitchFamily="34" charset="0"/>
                        <a:buChar char="•"/>
                      </a:pPr>
                      <a:r>
                        <a:rPr lang="fr-FR" sz="900" dirty="0" smtClean="0"/>
                        <a:t>Exercice dirigé</a:t>
                      </a:r>
                      <a:r>
                        <a:rPr lang="fr-FR" sz="900" baseline="0" dirty="0" smtClean="0"/>
                        <a:t> : </a:t>
                      </a:r>
                      <a:r>
                        <a:rPr lang="fr-FR" sz="900" baseline="0" dirty="0" smtClean="0"/>
                        <a:t>30 </a:t>
                      </a:r>
                      <a:r>
                        <a:rPr lang="fr-FR" sz="900" baseline="0" dirty="0" smtClean="0"/>
                        <a:t>min</a:t>
                      </a:r>
                      <a:endParaRPr lang="fr-FR" sz="900" baseline="0" dirty="0" smtClean="0">
                        <a:solidFill>
                          <a:schemeClr val="bg1"/>
                        </a:solidFill>
                        <a:latin typeface="Arial" pitchFamily="34" charset="0"/>
                        <a:cs typeface="Arial" pitchFamily="34" charset="0"/>
                      </a:endParaRPr>
                    </a:p>
                  </a:txBody>
                  <a:tcPr marL="68566" marR="68566" marT="34292" marB="34292" anchor="ctr">
                    <a:solidFill>
                      <a:srgbClr val="F3F4FF"/>
                    </a:solidFill>
                  </a:tcPr>
                </a:tc>
              </a:tr>
              <a:tr h="611060">
                <a:tc>
                  <a:txBody>
                    <a:bodyPr/>
                    <a:lstStyle/>
                    <a:p>
                      <a:pPr algn="ctr"/>
                      <a:r>
                        <a:rPr lang="fr-FR" sz="900" dirty="0" smtClean="0"/>
                        <a:t>8h45 </a:t>
                      </a:r>
                      <a:r>
                        <a:rPr lang="fr-FR" sz="900" dirty="0" smtClean="0"/>
                        <a:t>– 9h00</a:t>
                      </a:r>
                      <a:endParaRPr lang="en-US" sz="900" dirty="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marL="177800" indent="-177800">
                        <a:lnSpc>
                          <a:spcPct val="100000"/>
                        </a:lnSpc>
                        <a:spcBef>
                          <a:spcPts val="0"/>
                        </a:spcBef>
                        <a:spcAft>
                          <a:spcPts val="0"/>
                        </a:spcAft>
                        <a:buFont typeface="Arial" pitchFamily="34" charset="0"/>
                        <a:buNone/>
                      </a:pPr>
                      <a:r>
                        <a:rPr lang="fr-FR" sz="900" baseline="0" dirty="0" smtClean="0"/>
                        <a:t>Question et libre échange </a:t>
                      </a:r>
                    </a:p>
                  </a:txBody>
                  <a:tcPr marL="68566" marR="68566" marT="34292" marB="34292" anchor="ctr">
                    <a:solidFill>
                      <a:srgbClr val="F3F4FF"/>
                    </a:solidFill>
                  </a:tcPr>
                </a:tc>
              </a:tr>
            </a:tbl>
          </a:graphicData>
        </a:graphic>
      </p:graphicFrame>
      <p:pic>
        <p:nvPicPr>
          <p:cNvPr id="5" name="Image 4"/>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468173" y="1953491"/>
            <a:ext cx="2120785" cy="2392972"/>
          </a:xfrm>
          <a:prstGeom prst="rect">
            <a:avLst/>
          </a:prstGeom>
        </p:spPr>
      </p:pic>
    </p:spTree>
    <p:extLst>
      <p:ext uri="{BB962C8B-B14F-4D97-AF65-F5344CB8AC3E}">
        <p14:creationId xmlns:p14="http://schemas.microsoft.com/office/powerpoint/2010/main" val="41803714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a:t>
            </a:r>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du </a:t>
            </a:r>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processus </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5</a:t>
            </a:fld>
            <a:endParaRPr lang="fr-FR" altLang="en-US" sz="750"/>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smtClean="0">
                <a:cs typeface="Arial" panose="020B0604020202020204" pitchFamily="34" charset="0"/>
              </a:rPr>
              <a:t>Description du processus de gestion du livre de caisse</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240571"/>
          </a:xfrm>
        </p:spPr>
        <p:txBody>
          <a:bodyPr/>
          <a:lstStyle/>
          <a:p>
            <a:r>
              <a:rPr lang="fr-FR" dirty="0" smtClean="0">
                <a:cs typeface="Arial" panose="020B0604020202020204" pitchFamily="34" charset="0"/>
              </a:rPr>
              <a:t>Le livre de caisse est un livre auxiliaire de la comptabilité bancaire. Il sert à gérer les opérations au comptant au sein de la CBG. Elles peuvent être alimentées par des dépôts d’espèces venant de la banque et aussi renflouer la banque. </a:t>
            </a:r>
          </a:p>
          <a:p>
            <a:r>
              <a:rPr lang="fr-FR" dirty="0" smtClean="0">
                <a:cs typeface="Arial" panose="020B0604020202020204" pitchFamily="34" charset="0"/>
              </a:rPr>
              <a:t>La liste des ces opérations aussi appelées transactions de caisse CBG, sont commune aux caisses de </a:t>
            </a:r>
            <a:r>
              <a:rPr lang="fr-FR" dirty="0" err="1" smtClean="0">
                <a:cs typeface="Arial" panose="020B0604020202020204" pitchFamily="34" charset="0"/>
              </a:rPr>
              <a:t>Kamsar</a:t>
            </a:r>
            <a:r>
              <a:rPr lang="fr-FR" dirty="0" smtClean="0">
                <a:cs typeface="Arial" panose="020B0604020202020204" pitchFamily="34" charset="0"/>
              </a:rPr>
              <a:t>, Conakry et de </a:t>
            </a:r>
            <a:r>
              <a:rPr lang="fr-FR" dirty="0" err="1" smtClean="0">
                <a:cs typeface="Arial" panose="020B0604020202020204" pitchFamily="34" charset="0"/>
              </a:rPr>
              <a:t>Sangaredi</a:t>
            </a:r>
            <a:r>
              <a:rPr lang="fr-FR" dirty="0" smtClean="0">
                <a:cs typeface="Arial" panose="020B0604020202020204" pitchFamily="34" charset="0"/>
              </a:rPr>
              <a:t>.  </a:t>
            </a:r>
          </a:p>
          <a:p>
            <a:r>
              <a:rPr lang="fr-FR" dirty="0" smtClean="0">
                <a:cs typeface="Arial" panose="020B0604020202020204" pitchFamily="34" charset="0"/>
              </a:rPr>
              <a:t>Le système calcule et affiche automatiquement les soldes initiaux et finaux ainsi que le total des entrées et des sorties. Il est possible de gérer plusieurs livres de caisse au sein d’une même société. On peut afficher la période de saisie voulue. Il est possible aussi de passer des écritures sur des comptes généraux ainsi que sur des comptes </a:t>
            </a:r>
            <a:r>
              <a:rPr lang="fr-FR" dirty="0" smtClean="0">
                <a:cs typeface="Arial" panose="020B0604020202020204" pitchFamily="34" charset="0"/>
              </a:rPr>
              <a:t>tiers</a:t>
            </a:r>
            <a:r>
              <a:rPr lang="fr-FR" dirty="0" smtClean="0">
                <a:cs typeface="Arial" panose="020B0604020202020204" pitchFamily="34" charset="0"/>
              </a:rPr>
              <a:t>. </a:t>
            </a:r>
            <a:endParaRPr lang="fr-FR" dirty="0" smtClean="0">
              <a:cs typeface="Arial" panose="020B0604020202020204" pitchFamily="34" charset="0"/>
            </a:endParaRPr>
          </a:p>
          <a:p>
            <a:r>
              <a:rPr lang="fr-FR" dirty="0" smtClean="0">
                <a:cs typeface="Arial" panose="020B0604020202020204" pitchFamily="34" charset="0"/>
              </a:rPr>
              <a:t>Avec le même écran de saisie des opérations de caisse, vous pouvez saisir, afficher et modifier les pièces du livre de caisse. </a:t>
            </a:r>
            <a:endParaRPr lang="ru-RU" dirty="0">
              <a:cs typeface="Arial" panose="020B0604020202020204" pitchFamily="34" charset="0"/>
            </a:endParaRPr>
          </a:p>
          <a:p>
            <a:r>
              <a:rPr lang="fr-CA" dirty="0">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a:p>
            <a:pPr>
              <a:buClr>
                <a:srgbClr val="0070C0"/>
              </a:buClr>
              <a:buSzPct val="100000"/>
            </a:pPr>
            <a:endParaRPr lang="fr-FR" dirty="0" smtClean="0"/>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6</a:t>
            </a:fld>
            <a:endParaRPr lang="fr-FR" altLang="en-US" sz="750">
              <a:solidFill>
                <a:srgbClr val="000000"/>
              </a:solidFill>
            </a:endParaRPr>
          </a:p>
        </p:txBody>
      </p:sp>
    </p:spTree>
    <p:extLst>
      <p:ext uri="{BB962C8B-B14F-4D97-AF65-F5344CB8AC3E}">
        <p14:creationId xmlns:p14="http://schemas.microsoft.com/office/powerpoint/2010/main" val="1028002946"/>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4711"/>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Mode opératoire</a:t>
            </a:r>
            <a:endPar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 </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7</a:t>
            </a:fld>
            <a:endParaRPr lang="fr-FR" altLang="en-US" sz="750"/>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Modes opératoires</a:t>
            </a:r>
            <a:br>
              <a:rPr lang="fr-FR" altLang="en-US" sz="2400" dirty="0" smtClean="0"/>
            </a:br>
            <a:r>
              <a:rPr lang="fr-FR" altLang="en-US" dirty="0" smtClean="0"/>
              <a:t>Présentation du mode opératoire dans SAP</a:t>
            </a:r>
            <a:endParaRPr lang="en-US" altLang="en-US" dirty="0" smtClean="0"/>
          </a:p>
        </p:txBody>
      </p:sp>
      <p:sp>
        <p:nvSpPr>
          <p:cNvPr id="32792" name="Espace réservé du numéro de diapositive 33"/>
          <p:cNvSpPr>
            <a:spLocks noGrp="1"/>
          </p:cNvSpPr>
          <p:nvPr>
            <p:ph type="sldNum" sz="quarter" idx="11"/>
          </p:nvPr>
        </p:nvSpPr>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fld id="{1961261D-50EE-437A-BA51-3E7588D0C470}" type="slidenum">
              <a:rPr lang="fr-FR" altLang="en-US" smtClean="0">
                <a:solidFill>
                  <a:srgbClr val="4D4F53"/>
                </a:solidFill>
              </a:rPr>
              <a:pPr/>
              <a:t>8</a:t>
            </a:fld>
            <a:endParaRPr lang="fr-FR" altLang="en-US">
              <a:solidFill>
                <a:srgbClr val="4D4F53"/>
              </a:solidFill>
            </a:endParaRPr>
          </a:p>
        </p:txBody>
      </p:sp>
      <p:grpSp>
        <p:nvGrpSpPr>
          <p:cNvPr id="49" name="Groupe 48"/>
          <p:cNvGrpSpPr/>
          <p:nvPr/>
        </p:nvGrpSpPr>
        <p:grpSpPr>
          <a:xfrm>
            <a:off x="814126" y="2175754"/>
            <a:ext cx="1421605" cy="756917"/>
            <a:chOff x="1507778" y="2276353"/>
            <a:chExt cx="1258269" cy="754857"/>
          </a:xfrm>
        </p:grpSpPr>
        <p:sp>
          <p:nvSpPr>
            <p:cNvPr id="4" name="Rectangle 3"/>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latin typeface="Arial" pitchFamily="34" charset="0"/>
                  <a:cs typeface="Arial" pitchFamily="34" charset="0"/>
                </a:rPr>
                <a:t>Livre de caisse</a:t>
              </a:r>
              <a:endParaRPr lang="en-US" sz="800" dirty="0">
                <a:solidFill>
                  <a:prstClr val="white"/>
                </a:solidFill>
                <a:latin typeface="Arial" pitchFamily="34" charset="0"/>
                <a:cs typeface="Arial" pitchFamily="34" charset="0"/>
              </a:endParaRPr>
            </a:p>
          </p:txBody>
        </p:sp>
        <p:sp>
          <p:nvSpPr>
            <p:cNvPr id="12" name="Rectangle 11"/>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cs typeface="Arial" panose="020B0604020202020204" pitchFamily="34" charset="0"/>
                </a:rPr>
                <a:t> FBCJ</a:t>
              </a:r>
              <a:endParaRPr lang="en-US" sz="800" b="1" dirty="0">
                <a:solidFill>
                  <a:prstClr val="white"/>
                </a:solidFill>
                <a:latin typeface="Arial" panose="020B0604020202020204" pitchFamily="34" charset="0"/>
                <a:cs typeface="Arial" panose="020B0604020202020204" pitchFamily="34" charset="0"/>
              </a:endParaRPr>
            </a:p>
          </p:txBody>
        </p:sp>
        <p:sp>
          <p:nvSpPr>
            <p:cNvPr id="13" name="Rectangle 1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rgbClr val="4D4F53">
                      <a:lumMod val="50000"/>
                    </a:srgbClr>
                  </a:solidFill>
                  <a:latin typeface="Arial" panose="020B0604020202020204" pitchFamily="34" charset="0"/>
                  <a:cs typeface="Arial" panose="020B0604020202020204" pitchFamily="34" charset="0"/>
                </a:rPr>
                <a:t>Caissier  </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pic>
        <p:nvPicPr>
          <p:cNvPr id="2" name="Image 1"/>
          <p:cNvPicPr>
            <a:picLocks noChangeAspect="1"/>
          </p:cNvPicPr>
          <p:nvPr/>
        </p:nvPicPr>
        <p:blipFill>
          <a:blip r:embed="rId2"/>
          <a:stretch>
            <a:fillRect/>
          </a:stretch>
        </p:blipFill>
        <p:spPr>
          <a:xfrm>
            <a:off x="327067" y="3310707"/>
            <a:ext cx="1170533" cy="1249788"/>
          </a:xfrm>
          <a:prstGeom prst="rect">
            <a:avLst/>
          </a:prstGeom>
        </p:spPr>
      </p:pic>
    </p:spTree>
    <p:extLst>
      <p:ext uri="{BB962C8B-B14F-4D97-AF65-F5344CB8AC3E}">
        <p14:creationId xmlns:p14="http://schemas.microsoft.com/office/powerpoint/2010/main" val="29506371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opératoire livre de caisse </a:t>
            </a:r>
            <a:r>
              <a:rPr lang="fr-FR" altLang="en-US" sz="2400" dirty="0" smtClean="0">
                <a:cs typeface="Arial" panose="020B0604020202020204" pitchFamily="34" charset="0"/>
              </a:rPr>
              <a:t>1/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Depuis le menu SAP : Gestion Comptable / Comptabilité Financière / Grand Livre </a:t>
            </a:r>
            <a:r>
              <a:rPr lang="fr-FR" dirty="0">
                <a:cs typeface="Arial" panose="020B0604020202020204" pitchFamily="34" charset="0"/>
              </a:rPr>
              <a:t>/ Ecriture / </a:t>
            </a:r>
            <a:r>
              <a:rPr lang="fr-FR" dirty="0" smtClean="0">
                <a:cs typeface="Arial" panose="020B0604020202020204" pitchFamily="34" charset="0"/>
              </a:rPr>
              <a:t>FBCJ – Ecriture caisse </a:t>
            </a:r>
          </a:p>
          <a:p>
            <a:r>
              <a:rPr lang="fr-FR" dirty="0" smtClean="0">
                <a:cs typeface="Arial" panose="020B0604020202020204" pitchFamily="34" charset="0"/>
              </a:rPr>
              <a:t>Lancer la transaction  FBCJ : Pour une première utilisation, cliquer sur le pavé                          afin d’initialiser les options de traitement.   														</a:t>
            </a:r>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r>
              <a:rPr lang="fr-FR" dirty="0" smtClean="0">
                <a:cs typeface="Arial" panose="020B0604020202020204" pitchFamily="34" charset="0"/>
              </a:rPr>
              <a:t>       L’affichage « Période en cours » permet d’avoir le mois en cours d’afficher à chaque lancement de la transaction.</a:t>
            </a:r>
          </a:p>
          <a:p>
            <a:r>
              <a:rPr lang="fr-FR" dirty="0" smtClean="0">
                <a:cs typeface="Arial" panose="020B0604020202020204" pitchFamily="34" charset="0"/>
              </a:rPr>
              <a:t>       Proposer transactions commerciale dans aide F4 éviter d’avoir à cliquer sur le match code pour sélectionner une transaction.  </a:t>
            </a: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9</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836763"/>
            <a:ext cx="4037310" cy="1960993"/>
          </a:xfrm>
          <a:prstGeom prst="rect">
            <a:avLst/>
          </a:prstGeom>
        </p:spPr>
      </p:pic>
      <p:pic>
        <p:nvPicPr>
          <p:cNvPr id="4" name="Image 3"/>
          <p:cNvPicPr>
            <a:picLocks noChangeAspect="1"/>
          </p:cNvPicPr>
          <p:nvPr/>
        </p:nvPicPr>
        <p:blipFill>
          <a:blip r:embed="rId3"/>
          <a:stretch>
            <a:fillRect/>
          </a:stretch>
        </p:blipFill>
        <p:spPr>
          <a:xfrm>
            <a:off x="5374683" y="1446911"/>
            <a:ext cx="847886" cy="295275"/>
          </a:xfrm>
          <a:prstGeom prst="rect">
            <a:avLst/>
          </a:prstGeom>
        </p:spPr>
      </p:pic>
      <p:pic>
        <p:nvPicPr>
          <p:cNvPr id="5" name="Image 4"/>
          <p:cNvPicPr>
            <a:picLocks noChangeAspect="1"/>
          </p:cNvPicPr>
          <p:nvPr/>
        </p:nvPicPr>
        <p:blipFill>
          <a:blip r:embed="rId4"/>
          <a:stretch>
            <a:fillRect/>
          </a:stretch>
        </p:blipFill>
        <p:spPr>
          <a:xfrm>
            <a:off x="2825942" y="2309247"/>
            <a:ext cx="769664" cy="106186"/>
          </a:xfrm>
          <a:prstGeom prst="rect">
            <a:avLst/>
          </a:prstGeom>
        </p:spPr>
      </p:pic>
      <p:pic>
        <p:nvPicPr>
          <p:cNvPr id="6" name="Image 5"/>
          <p:cNvPicPr>
            <a:picLocks noChangeAspect="1"/>
          </p:cNvPicPr>
          <p:nvPr/>
        </p:nvPicPr>
        <p:blipFill>
          <a:blip r:embed="rId5"/>
          <a:stretch>
            <a:fillRect/>
          </a:stretch>
        </p:blipFill>
        <p:spPr>
          <a:xfrm>
            <a:off x="4976247" y="1852261"/>
            <a:ext cx="3005380" cy="1945495"/>
          </a:xfrm>
          <a:prstGeom prst="rect">
            <a:avLst/>
          </a:prstGeom>
        </p:spPr>
      </p:pic>
      <p:pic>
        <p:nvPicPr>
          <p:cNvPr id="7" name="Image 6"/>
          <p:cNvPicPr>
            <a:picLocks noChangeAspect="1"/>
          </p:cNvPicPr>
          <p:nvPr/>
        </p:nvPicPr>
        <p:blipFill>
          <a:blip r:embed="rId6"/>
          <a:stretch>
            <a:fillRect/>
          </a:stretch>
        </p:blipFill>
        <p:spPr>
          <a:xfrm>
            <a:off x="4952521" y="2976136"/>
            <a:ext cx="310923" cy="353599"/>
          </a:xfrm>
          <a:prstGeom prst="rect">
            <a:avLst/>
          </a:prstGeom>
        </p:spPr>
      </p:pic>
      <p:pic>
        <p:nvPicPr>
          <p:cNvPr id="8" name="Image 7"/>
          <p:cNvPicPr>
            <a:picLocks noChangeAspect="1"/>
          </p:cNvPicPr>
          <p:nvPr/>
        </p:nvPicPr>
        <p:blipFill>
          <a:blip r:embed="rId7"/>
          <a:stretch>
            <a:fillRect/>
          </a:stretch>
        </p:blipFill>
        <p:spPr>
          <a:xfrm>
            <a:off x="4952522" y="3347406"/>
            <a:ext cx="320442" cy="364425"/>
          </a:xfrm>
          <a:prstGeom prst="rect">
            <a:avLst/>
          </a:prstGeom>
        </p:spPr>
      </p:pic>
      <p:pic>
        <p:nvPicPr>
          <p:cNvPr id="9" name="Image 8"/>
          <p:cNvPicPr>
            <a:picLocks noChangeAspect="1"/>
          </p:cNvPicPr>
          <p:nvPr/>
        </p:nvPicPr>
        <p:blipFill>
          <a:blip r:embed="rId8"/>
          <a:stretch>
            <a:fillRect/>
          </a:stretch>
        </p:blipFill>
        <p:spPr>
          <a:xfrm>
            <a:off x="573578" y="3723896"/>
            <a:ext cx="310923" cy="353599"/>
          </a:xfrm>
          <a:prstGeom prst="rect">
            <a:avLst/>
          </a:prstGeom>
        </p:spPr>
      </p:pic>
      <p:pic>
        <p:nvPicPr>
          <p:cNvPr id="10" name="Image 9"/>
          <p:cNvPicPr>
            <a:picLocks noChangeAspect="1"/>
          </p:cNvPicPr>
          <p:nvPr/>
        </p:nvPicPr>
        <p:blipFill>
          <a:blip r:embed="rId9"/>
          <a:stretch>
            <a:fillRect/>
          </a:stretch>
        </p:blipFill>
        <p:spPr>
          <a:xfrm>
            <a:off x="567481" y="4073178"/>
            <a:ext cx="323116" cy="365792"/>
          </a:xfrm>
          <a:prstGeom prst="rect">
            <a:avLst/>
          </a:prstGeom>
        </p:spPr>
      </p:pic>
    </p:spTree>
    <p:extLst>
      <p:ext uri="{BB962C8B-B14F-4D97-AF65-F5344CB8AC3E}">
        <p14:creationId xmlns:p14="http://schemas.microsoft.com/office/powerpoint/2010/main" val="1102331642"/>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opératoire livre de caisse 1</a:t>
            </a:r>
            <a:r>
              <a:rPr lang="fr-FR" altLang="en-US" sz="2400" dirty="0" smtClean="0">
                <a:cs typeface="Arial" panose="020B0604020202020204" pitchFamily="34" charset="0"/>
              </a:rPr>
              <a:t>/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Sauvegarder cette modification et revenez sur l’écran initial en cliquant sur la flèche verte. </a:t>
            </a:r>
          </a:p>
          <a:p>
            <a:r>
              <a:rPr lang="fr-FR" dirty="0" smtClean="0">
                <a:cs typeface="Arial" panose="020B0604020202020204" pitchFamily="34" charset="0"/>
              </a:rPr>
              <a:t>Pour une première utilisation, la caisse sera renflouée par un dépôt d’espèces venant de la banque</a:t>
            </a:r>
            <a:r>
              <a:rPr lang="fr-FR" dirty="0" smtClean="0">
                <a:cs typeface="Arial" panose="020B0604020202020204" pitchFamily="34" charset="0"/>
              </a:rPr>
              <a:t>. Donc il s’agit d’une recette d’espèces.                                         Se positionner dans la colonne Trans. Commerciale. Cliquer sur le match code              ou cliquer la touche </a:t>
            </a:r>
            <a:r>
              <a:rPr lang="fr-FR" b="1" i="1" dirty="0" smtClean="0">
                <a:cs typeface="Arial" panose="020B0604020202020204" pitchFamily="34" charset="0"/>
              </a:rPr>
              <a:t>f4 </a:t>
            </a:r>
            <a:r>
              <a:rPr lang="fr-FR" dirty="0" smtClean="0">
                <a:cs typeface="Arial" panose="020B0604020202020204" pitchFamily="34" charset="0"/>
              </a:rPr>
              <a:t>afin d’avoir la liste des transactions commerciales. La fenêtre suivante s’ouvre : </a:t>
            </a:r>
          </a:p>
          <a:p>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r>
              <a:rPr lang="fr-FR" i="1" dirty="0" smtClean="0">
                <a:cs typeface="Arial" panose="020B0604020202020204" pitchFamily="34" charset="0"/>
              </a:rPr>
              <a:t> </a:t>
            </a:r>
            <a:endParaRPr lang="fr-FR" i="1" dirty="0" smtClean="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10</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573578" y="2079758"/>
            <a:ext cx="4162124" cy="2402238"/>
          </a:xfrm>
          <a:prstGeom prst="rect">
            <a:avLst/>
          </a:prstGeom>
        </p:spPr>
      </p:pic>
      <p:pic>
        <p:nvPicPr>
          <p:cNvPr id="5" name="Image 4"/>
          <p:cNvPicPr>
            <a:picLocks noChangeAspect="1"/>
          </p:cNvPicPr>
          <p:nvPr/>
        </p:nvPicPr>
        <p:blipFill>
          <a:blip r:embed="rId3"/>
          <a:stretch>
            <a:fillRect/>
          </a:stretch>
        </p:blipFill>
        <p:spPr>
          <a:xfrm>
            <a:off x="1240903" y="1694478"/>
            <a:ext cx="1200150" cy="200025"/>
          </a:xfrm>
          <a:prstGeom prst="rect">
            <a:avLst/>
          </a:prstGeom>
        </p:spPr>
      </p:pic>
      <p:pic>
        <p:nvPicPr>
          <p:cNvPr id="6" name="Image 5"/>
          <p:cNvPicPr>
            <a:picLocks noChangeAspect="1"/>
          </p:cNvPicPr>
          <p:nvPr/>
        </p:nvPicPr>
        <p:blipFill>
          <a:blip r:embed="rId4"/>
          <a:stretch>
            <a:fillRect/>
          </a:stretch>
        </p:blipFill>
        <p:spPr>
          <a:xfrm>
            <a:off x="7448873" y="1676235"/>
            <a:ext cx="228600" cy="209550"/>
          </a:xfrm>
          <a:prstGeom prst="rect">
            <a:avLst/>
          </a:prstGeom>
        </p:spPr>
      </p:pic>
      <p:pic>
        <p:nvPicPr>
          <p:cNvPr id="7" name="Image 6"/>
          <p:cNvPicPr>
            <a:picLocks noChangeAspect="1"/>
          </p:cNvPicPr>
          <p:nvPr/>
        </p:nvPicPr>
        <p:blipFill>
          <a:blip r:embed="rId5"/>
          <a:stretch>
            <a:fillRect/>
          </a:stretch>
        </p:blipFill>
        <p:spPr>
          <a:xfrm>
            <a:off x="4912963" y="2103912"/>
            <a:ext cx="3773837" cy="2378084"/>
          </a:xfrm>
          <a:prstGeom prst="rect">
            <a:avLst/>
          </a:prstGeom>
        </p:spPr>
      </p:pic>
      <p:pic>
        <p:nvPicPr>
          <p:cNvPr id="8" name="Image 7"/>
          <p:cNvPicPr>
            <a:picLocks noChangeAspect="1"/>
          </p:cNvPicPr>
          <p:nvPr/>
        </p:nvPicPr>
        <p:blipFill>
          <a:blip r:embed="rId6"/>
          <a:stretch>
            <a:fillRect/>
          </a:stretch>
        </p:blipFill>
        <p:spPr>
          <a:xfrm>
            <a:off x="2406529" y="1653146"/>
            <a:ext cx="317019" cy="359695"/>
          </a:xfrm>
          <a:prstGeom prst="rect">
            <a:avLst/>
          </a:prstGeom>
        </p:spPr>
      </p:pic>
      <p:pic>
        <p:nvPicPr>
          <p:cNvPr id="9" name="Image 8"/>
          <p:cNvPicPr>
            <a:picLocks noChangeAspect="1"/>
          </p:cNvPicPr>
          <p:nvPr/>
        </p:nvPicPr>
        <p:blipFill>
          <a:blip r:embed="rId7"/>
          <a:stretch>
            <a:fillRect/>
          </a:stretch>
        </p:blipFill>
        <p:spPr>
          <a:xfrm>
            <a:off x="1682468" y="3686011"/>
            <a:ext cx="317019" cy="359695"/>
          </a:xfrm>
          <a:prstGeom prst="rect">
            <a:avLst/>
          </a:prstGeom>
        </p:spPr>
      </p:pic>
      <p:pic>
        <p:nvPicPr>
          <p:cNvPr id="10" name="Image 9"/>
          <p:cNvPicPr>
            <a:picLocks noChangeAspect="1"/>
          </p:cNvPicPr>
          <p:nvPr/>
        </p:nvPicPr>
        <p:blipFill>
          <a:blip r:embed="rId8"/>
          <a:stretch>
            <a:fillRect/>
          </a:stretch>
        </p:blipFill>
        <p:spPr>
          <a:xfrm>
            <a:off x="7620000" y="1635153"/>
            <a:ext cx="317019" cy="359695"/>
          </a:xfrm>
          <a:prstGeom prst="rect">
            <a:avLst/>
          </a:prstGeom>
        </p:spPr>
      </p:pic>
      <p:pic>
        <p:nvPicPr>
          <p:cNvPr id="11" name="Image 10"/>
          <p:cNvPicPr>
            <a:picLocks noChangeAspect="1"/>
          </p:cNvPicPr>
          <p:nvPr/>
        </p:nvPicPr>
        <p:blipFill>
          <a:blip r:embed="rId9"/>
          <a:stretch>
            <a:fillRect/>
          </a:stretch>
        </p:blipFill>
        <p:spPr>
          <a:xfrm>
            <a:off x="1307527" y="3985157"/>
            <a:ext cx="317019" cy="359695"/>
          </a:xfrm>
          <a:prstGeom prst="rect">
            <a:avLst/>
          </a:prstGeom>
        </p:spPr>
      </p:pic>
      <p:pic>
        <p:nvPicPr>
          <p:cNvPr id="12" name="Image 11"/>
          <p:cNvPicPr>
            <a:picLocks noChangeAspect="1"/>
          </p:cNvPicPr>
          <p:nvPr/>
        </p:nvPicPr>
        <p:blipFill>
          <a:blip r:embed="rId10"/>
          <a:stretch>
            <a:fillRect/>
          </a:stretch>
        </p:blipFill>
        <p:spPr>
          <a:xfrm>
            <a:off x="1240903" y="4165005"/>
            <a:ext cx="180771" cy="135578"/>
          </a:xfrm>
          <a:prstGeom prst="rect">
            <a:avLst/>
          </a:prstGeom>
        </p:spPr>
      </p:pic>
      <p:pic>
        <p:nvPicPr>
          <p:cNvPr id="13" name="Image 12"/>
          <p:cNvPicPr>
            <a:picLocks noChangeAspect="1"/>
          </p:cNvPicPr>
          <p:nvPr/>
        </p:nvPicPr>
        <p:blipFill>
          <a:blip r:embed="rId10"/>
          <a:stretch>
            <a:fillRect/>
          </a:stretch>
        </p:blipFill>
        <p:spPr>
          <a:xfrm>
            <a:off x="8026873" y="4218280"/>
            <a:ext cx="219475" cy="164606"/>
          </a:xfrm>
          <a:prstGeom prst="rect">
            <a:avLst/>
          </a:prstGeom>
        </p:spPr>
      </p:pic>
    </p:spTree>
    <p:extLst>
      <p:ext uri="{BB962C8B-B14F-4D97-AF65-F5344CB8AC3E}">
        <p14:creationId xmlns:p14="http://schemas.microsoft.com/office/powerpoint/2010/main" val="2986553178"/>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opératoire livre de caisse </a:t>
            </a:r>
            <a:r>
              <a:rPr lang="fr-FR" altLang="en-US" sz="2400" dirty="0" smtClean="0">
                <a:cs typeface="Arial" panose="020B0604020202020204" pitchFamily="34" charset="0"/>
              </a:rPr>
              <a:t>1/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Valider en cliquant sur la touche verte de cette fenêtre         afin de voir afficher la liste de toutes les transactions. Dans notre cas </a:t>
            </a:r>
          </a:p>
          <a:p>
            <a:r>
              <a:rPr lang="fr-FR" dirty="0">
                <a:cs typeface="Arial" panose="020B0604020202020204" pitchFamily="34" charset="0"/>
              </a:rPr>
              <a:t>	</a:t>
            </a:r>
            <a:r>
              <a:rPr lang="fr-FR" dirty="0" smtClean="0">
                <a:cs typeface="Arial" panose="020B0604020202020204" pitchFamily="34" charset="0"/>
              </a:rPr>
              <a:t>								choisir </a:t>
            </a:r>
            <a:r>
              <a:rPr lang="fr-FR" dirty="0" err="1" smtClean="0">
                <a:cs typeface="Arial" panose="020B0604020202020204" pitchFamily="34" charset="0"/>
              </a:rPr>
              <a:t>Transf</a:t>
            </a:r>
            <a:r>
              <a:rPr lang="fr-FR" dirty="0" smtClean="0">
                <a:cs typeface="Arial" panose="020B0604020202020204" pitchFamily="34" charset="0"/>
              </a:rPr>
              <a:t>. Espèces de Banque en double cliquant là-dessus :  																																																																																																																																																																																																																																																																							Renseigner le montant, le compte général concerné par la transaction       et</a:t>
            </a:r>
          </a:p>
          <a:p>
            <a:r>
              <a:rPr lang="fr-FR" dirty="0">
                <a:cs typeface="Arial" panose="020B0604020202020204" pitchFamily="34" charset="0"/>
              </a:rPr>
              <a:t>	</a:t>
            </a:r>
            <a:r>
              <a:rPr lang="fr-FR" dirty="0" smtClean="0">
                <a:cs typeface="Arial" panose="020B0604020202020204" pitchFamily="34" charset="0"/>
              </a:rPr>
              <a:t>								faites « Entrée ». Le statut passe en rouge. Il ne passera en vert qu’une fois  	</a:t>
            </a:r>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11</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3967728" y="1123062"/>
            <a:ext cx="247650" cy="180975"/>
          </a:xfrm>
          <a:prstGeom prst="rect">
            <a:avLst/>
          </a:prstGeom>
        </p:spPr>
      </p:pic>
      <p:pic>
        <p:nvPicPr>
          <p:cNvPr id="5" name="Image 4"/>
          <p:cNvPicPr>
            <a:picLocks noChangeAspect="1"/>
          </p:cNvPicPr>
          <p:nvPr/>
        </p:nvPicPr>
        <p:blipFill>
          <a:blip r:embed="rId3"/>
          <a:stretch>
            <a:fillRect/>
          </a:stretch>
        </p:blipFill>
        <p:spPr>
          <a:xfrm>
            <a:off x="573578" y="1409362"/>
            <a:ext cx="3352800" cy="3072633"/>
          </a:xfrm>
          <a:prstGeom prst="rect">
            <a:avLst/>
          </a:prstGeom>
        </p:spPr>
      </p:pic>
      <p:pic>
        <p:nvPicPr>
          <p:cNvPr id="6" name="Image 5"/>
          <p:cNvPicPr>
            <a:picLocks noChangeAspect="1"/>
          </p:cNvPicPr>
          <p:nvPr/>
        </p:nvPicPr>
        <p:blipFill>
          <a:blip r:embed="rId4"/>
          <a:stretch>
            <a:fillRect/>
          </a:stretch>
        </p:blipFill>
        <p:spPr>
          <a:xfrm>
            <a:off x="4091553" y="1719383"/>
            <a:ext cx="4362772" cy="2093200"/>
          </a:xfrm>
          <a:prstGeom prst="rect">
            <a:avLst/>
          </a:prstGeom>
        </p:spPr>
      </p:pic>
      <p:pic>
        <p:nvPicPr>
          <p:cNvPr id="7" name="Image 6"/>
          <p:cNvPicPr>
            <a:picLocks noChangeAspect="1"/>
          </p:cNvPicPr>
          <p:nvPr/>
        </p:nvPicPr>
        <p:blipFill>
          <a:blip r:embed="rId5"/>
          <a:stretch>
            <a:fillRect/>
          </a:stretch>
        </p:blipFill>
        <p:spPr>
          <a:xfrm>
            <a:off x="4866467" y="3522206"/>
            <a:ext cx="1240153" cy="149018"/>
          </a:xfrm>
          <a:prstGeom prst="rect">
            <a:avLst/>
          </a:prstGeom>
        </p:spPr>
      </p:pic>
      <p:pic>
        <p:nvPicPr>
          <p:cNvPr id="8" name="Image 7"/>
          <p:cNvPicPr>
            <a:picLocks noChangeAspect="1"/>
          </p:cNvPicPr>
          <p:nvPr/>
        </p:nvPicPr>
        <p:blipFill>
          <a:blip r:embed="rId6"/>
          <a:stretch>
            <a:fillRect/>
          </a:stretch>
        </p:blipFill>
        <p:spPr>
          <a:xfrm>
            <a:off x="5978608" y="3345406"/>
            <a:ext cx="310923" cy="353599"/>
          </a:xfrm>
          <a:prstGeom prst="rect">
            <a:avLst/>
          </a:prstGeom>
        </p:spPr>
      </p:pic>
      <p:pic>
        <p:nvPicPr>
          <p:cNvPr id="9" name="Image 8"/>
          <p:cNvPicPr>
            <a:picLocks noChangeAspect="1"/>
          </p:cNvPicPr>
          <p:nvPr/>
        </p:nvPicPr>
        <p:blipFill>
          <a:blip r:embed="rId7"/>
          <a:stretch>
            <a:fillRect/>
          </a:stretch>
        </p:blipFill>
        <p:spPr>
          <a:xfrm>
            <a:off x="8344401" y="3836046"/>
            <a:ext cx="310923" cy="353599"/>
          </a:xfrm>
          <a:prstGeom prst="rect">
            <a:avLst/>
          </a:prstGeom>
        </p:spPr>
      </p:pic>
    </p:spTree>
    <p:extLst>
      <p:ext uri="{BB962C8B-B14F-4D97-AF65-F5344CB8AC3E}">
        <p14:creationId xmlns:p14="http://schemas.microsoft.com/office/powerpoint/2010/main" val="3705183319"/>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opératoire livre de caisse </a:t>
            </a:r>
            <a:r>
              <a:rPr lang="fr-FR" altLang="en-US" sz="2400" dirty="0" smtClean="0">
                <a:cs typeface="Arial" panose="020B0604020202020204" pitchFamily="34" charset="0"/>
              </a:rPr>
              <a:t>1/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que vous aurez cliquer sur la disquette pour comptabiliser       : 	</a:t>
            </a:r>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12</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573578" y="1402031"/>
            <a:ext cx="3659419" cy="2271068"/>
          </a:xfrm>
          <a:prstGeom prst="rect">
            <a:avLst/>
          </a:prstGeom>
        </p:spPr>
      </p:pic>
      <p:pic>
        <p:nvPicPr>
          <p:cNvPr id="7" name="Image 6"/>
          <p:cNvPicPr>
            <a:picLocks noChangeAspect="1"/>
          </p:cNvPicPr>
          <p:nvPr/>
        </p:nvPicPr>
        <p:blipFill>
          <a:blip r:embed="rId3"/>
          <a:stretch>
            <a:fillRect/>
          </a:stretch>
        </p:blipFill>
        <p:spPr>
          <a:xfrm>
            <a:off x="878193" y="1896050"/>
            <a:ext cx="648392" cy="176816"/>
          </a:xfrm>
          <a:prstGeom prst="rect">
            <a:avLst/>
          </a:prstGeom>
        </p:spPr>
      </p:pic>
      <p:pic>
        <p:nvPicPr>
          <p:cNvPr id="8" name="Image 7"/>
          <p:cNvPicPr>
            <a:picLocks noChangeAspect="1"/>
          </p:cNvPicPr>
          <p:nvPr/>
        </p:nvPicPr>
        <p:blipFill>
          <a:blip r:embed="rId4"/>
          <a:stretch>
            <a:fillRect/>
          </a:stretch>
        </p:blipFill>
        <p:spPr>
          <a:xfrm>
            <a:off x="1458768" y="1719250"/>
            <a:ext cx="310923" cy="353599"/>
          </a:xfrm>
          <a:prstGeom prst="rect">
            <a:avLst/>
          </a:prstGeom>
        </p:spPr>
      </p:pic>
      <p:pic>
        <p:nvPicPr>
          <p:cNvPr id="9" name="Image 8"/>
          <p:cNvPicPr>
            <a:picLocks noChangeAspect="1"/>
          </p:cNvPicPr>
          <p:nvPr/>
        </p:nvPicPr>
        <p:blipFill>
          <a:blip r:embed="rId5"/>
          <a:stretch>
            <a:fillRect/>
          </a:stretch>
        </p:blipFill>
        <p:spPr>
          <a:xfrm>
            <a:off x="4105615" y="1114474"/>
            <a:ext cx="310923" cy="353599"/>
          </a:xfrm>
          <a:prstGeom prst="rect">
            <a:avLst/>
          </a:prstGeom>
        </p:spPr>
      </p:pic>
    </p:spTree>
    <p:extLst>
      <p:ext uri="{BB962C8B-B14F-4D97-AF65-F5344CB8AC3E}">
        <p14:creationId xmlns:p14="http://schemas.microsoft.com/office/powerpoint/2010/main" val="569379303"/>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opératoire livre de caisse </a:t>
            </a:r>
            <a:r>
              <a:rPr lang="fr-FR" altLang="en-US" sz="2400" dirty="0" smtClean="0">
                <a:cs typeface="Arial" panose="020B0604020202020204" pitchFamily="34" charset="0"/>
              </a:rPr>
              <a:t>1/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													         Le solde est passé de 600.000 à 5.600.000</a:t>
            </a:r>
          </a:p>
          <a:p>
            <a:r>
              <a:rPr lang="fr-FR" dirty="0">
                <a:cs typeface="Arial" panose="020B0604020202020204" pitchFamily="34" charset="0"/>
              </a:rPr>
              <a:t>	</a:t>
            </a:r>
            <a:r>
              <a:rPr lang="fr-FR" dirty="0" smtClean="0">
                <a:cs typeface="Arial" panose="020B0604020202020204" pitchFamily="34" charset="0"/>
              </a:rPr>
              <a:t>												         Le statut est passé au vert</a:t>
            </a:r>
          </a:p>
          <a:p>
            <a:r>
              <a:rPr lang="fr-FR" dirty="0">
                <a:cs typeface="Arial" panose="020B0604020202020204" pitchFamily="34" charset="0"/>
              </a:rPr>
              <a:t>	</a:t>
            </a:r>
            <a:r>
              <a:rPr lang="fr-FR" dirty="0" smtClean="0">
                <a:cs typeface="Arial" panose="020B0604020202020204" pitchFamily="34" charset="0"/>
              </a:rPr>
              <a:t>												         Un numéro de pièce est attribué (ce numéro</a:t>
            </a:r>
          </a:p>
          <a:p>
            <a:r>
              <a:rPr lang="fr-FR" dirty="0">
                <a:cs typeface="Arial" panose="020B0604020202020204" pitchFamily="34" charset="0"/>
              </a:rPr>
              <a:t>	</a:t>
            </a:r>
            <a:r>
              <a:rPr lang="fr-FR" dirty="0" smtClean="0">
                <a:cs typeface="Arial" panose="020B0604020202020204" pitchFamily="34" charset="0"/>
              </a:rPr>
              <a:t>												         n’est pas celui de la comptabilité générale)		</a:t>
            </a:r>
          </a:p>
          <a:p>
            <a:r>
              <a:rPr lang="fr-FR" dirty="0" smtClean="0">
                <a:cs typeface="Arial" panose="020B0604020202020204" pitchFamily="34" charset="0"/>
              </a:rPr>
              <a:t>	</a:t>
            </a:r>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r>
              <a:rPr lang="fr-FR" dirty="0">
                <a:cs typeface="Arial" panose="020B0604020202020204" pitchFamily="34" charset="0"/>
              </a:rPr>
              <a:t>Interrogeons les comptes </a:t>
            </a:r>
            <a:r>
              <a:rPr lang="fr-FR" dirty="0" smtClean="0">
                <a:cs typeface="Arial" panose="020B0604020202020204" pitchFamily="34" charset="0"/>
              </a:rPr>
              <a:t>concernés </a:t>
            </a:r>
            <a:r>
              <a:rPr lang="fr-FR" dirty="0">
                <a:cs typeface="Arial" panose="020B0604020202020204" pitchFamily="34" charset="0"/>
              </a:rPr>
              <a:t>par ce mouvement</a:t>
            </a:r>
            <a:r>
              <a:rPr lang="fr-FR" dirty="0" smtClean="0">
                <a:cs typeface="Arial" panose="020B0604020202020204" pitchFamily="34" charset="0"/>
              </a:rPr>
              <a:t> via la transaction FBL3N </a:t>
            </a:r>
            <a:r>
              <a:rPr lang="fr-FR" dirty="0">
                <a:cs typeface="Arial" panose="020B0604020202020204" pitchFamily="34" charset="0"/>
              </a:rPr>
              <a:t>afin de voir l’impact généré : </a:t>
            </a:r>
          </a:p>
          <a:p>
            <a:endParaRPr lang="fr-FR" dirty="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13</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137489"/>
            <a:ext cx="5121621" cy="2953961"/>
          </a:xfrm>
          <a:prstGeom prst="rect">
            <a:avLst/>
          </a:prstGeom>
        </p:spPr>
      </p:pic>
      <p:pic>
        <p:nvPicPr>
          <p:cNvPr id="5" name="Image 4"/>
          <p:cNvPicPr>
            <a:picLocks noChangeAspect="1"/>
          </p:cNvPicPr>
          <p:nvPr/>
        </p:nvPicPr>
        <p:blipFill>
          <a:blip r:embed="rId3"/>
          <a:stretch>
            <a:fillRect/>
          </a:stretch>
        </p:blipFill>
        <p:spPr>
          <a:xfrm>
            <a:off x="5695199" y="1137489"/>
            <a:ext cx="310923" cy="353599"/>
          </a:xfrm>
          <a:prstGeom prst="rect">
            <a:avLst/>
          </a:prstGeom>
        </p:spPr>
      </p:pic>
      <p:pic>
        <p:nvPicPr>
          <p:cNvPr id="6" name="Image 5"/>
          <p:cNvPicPr>
            <a:picLocks noChangeAspect="1"/>
          </p:cNvPicPr>
          <p:nvPr/>
        </p:nvPicPr>
        <p:blipFill>
          <a:blip r:embed="rId4"/>
          <a:stretch>
            <a:fillRect/>
          </a:stretch>
        </p:blipFill>
        <p:spPr>
          <a:xfrm>
            <a:off x="2823465" y="2340706"/>
            <a:ext cx="310923" cy="353599"/>
          </a:xfrm>
          <a:prstGeom prst="rect">
            <a:avLst/>
          </a:prstGeom>
        </p:spPr>
      </p:pic>
      <p:pic>
        <p:nvPicPr>
          <p:cNvPr id="11" name="Image 10"/>
          <p:cNvPicPr>
            <a:picLocks noChangeAspect="1"/>
          </p:cNvPicPr>
          <p:nvPr/>
        </p:nvPicPr>
        <p:blipFill>
          <a:blip r:embed="rId5"/>
          <a:stretch>
            <a:fillRect/>
          </a:stretch>
        </p:blipFill>
        <p:spPr>
          <a:xfrm>
            <a:off x="1804303" y="3721563"/>
            <a:ext cx="219475" cy="164606"/>
          </a:xfrm>
          <a:prstGeom prst="rect">
            <a:avLst/>
          </a:prstGeom>
        </p:spPr>
      </p:pic>
      <p:pic>
        <p:nvPicPr>
          <p:cNvPr id="12" name="Image 11"/>
          <p:cNvPicPr>
            <a:picLocks noChangeAspect="1"/>
          </p:cNvPicPr>
          <p:nvPr/>
        </p:nvPicPr>
        <p:blipFill>
          <a:blip r:embed="rId6"/>
          <a:stretch>
            <a:fillRect/>
          </a:stretch>
        </p:blipFill>
        <p:spPr>
          <a:xfrm>
            <a:off x="1914040" y="3532570"/>
            <a:ext cx="310923" cy="353599"/>
          </a:xfrm>
          <a:prstGeom prst="rect">
            <a:avLst/>
          </a:prstGeom>
        </p:spPr>
      </p:pic>
      <p:pic>
        <p:nvPicPr>
          <p:cNvPr id="13" name="Image 12"/>
          <p:cNvPicPr>
            <a:picLocks noChangeAspect="1"/>
          </p:cNvPicPr>
          <p:nvPr/>
        </p:nvPicPr>
        <p:blipFill>
          <a:blip r:embed="rId7"/>
          <a:stretch>
            <a:fillRect/>
          </a:stretch>
        </p:blipFill>
        <p:spPr>
          <a:xfrm>
            <a:off x="5695199" y="1456922"/>
            <a:ext cx="310923" cy="353599"/>
          </a:xfrm>
          <a:prstGeom prst="rect">
            <a:avLst/>
          </a:prstGeom>
        </p:spPr>
      </p:pic>
      <p:pic>
        <p:nvPicPr>
          <p:cNvPr id="14" name="Image 13"/>
          <p:cNvPicPr>
            <a:picLocks noChangeAspect="1"/>
          </p:cNvPicPr>
          <p:nvPr/>
        </p:nvPicPr>
        <p:blipFill>
          <a:blip r:embed="rId8"/>
          <a:stretch>
            <a:fillRect/>
          </a:stretch>
        </p:blipFill>
        <p:spPr>
          <a:xfrm>
            <a:off x="5684694" y="1825557"/>
            <a:ext cx="297702" cy="338563"/>
          </a:xfrm>
          <a:prstGeom prst="rect">
            <a:avLst/>
          </a:prstGeom>
        </p:spPr>
      </p:pic>
      <p:pic>
        <p:nvPicPr>
          <p:cNvPr id="15" name="Image 14"/>
          <p:cNvPicPr>
            <a:picLocks noChangeAspect="1"/>
          </p:cNvPicPr>
          <p:nvPr/>
        </p:nvPicPr>
        <p:blipFill>
          <a:blip r:embed="rId9"/>
          <a:stretch>
            <a:fillRect/>
          </a:stretch>
        </p:blipFill>
        <p:spPr>
          <a:xfrm>
            <a:off x="4547545" y="3709369"/>
            <a:ext cx="427412" cy="139540"/>
          </a:xfrm>
          <a:prstGeom prst="rect">
            <a:avLst/>
          </a:prstGeom>
        </p:spPr>
      </p:pic>
      <p:pic>
        <p:nvPicPr>
          <p:cNvPr id="16" name="Image 15"/>
          <p:cNvPicPr>
            <a:picLocks noChangeAspect="1"/>
          </p:cNvPicPr>
          <p:nvPr/>
        </p:nvPicPr>
        <p:blipFill>
          <a:blip r:embed="rId10"/>
          <a:stretch>
            <a:fillRect/>
          </a:stretch>
        </p:blipFill>
        <p:spPr>
          <a:xfrm>
            <a:off x="4850550" y="3498101"/>
            <a:ext cx="292633" cy="341406"/>
          </a:xfrm>
          <a:prstGeom prst="rect">
            <a:avLst/>
          </a:prstGeom>
        </p:spPr>
      </p:pic>
    </p:spTree>
    <p:extLst>
      <p:ext uri="{BB962C8B-B14F-4D97-AF65-F5344CB8AC3E}">
        <p14:creationId xmlns:p14="http://schemas.microsoft.com/office/powerpoint/2010/main" val="3595452635"/>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a:bodyPr>
          <a:lstStyle/>
          <a:p>
            <a:r>
              <a:rPr lang="fr-FR" altLang="en-US" sz="2400" dirty="0">
                <a:cs typeface="Arial" panose="020B0604020202020204" pitchFamily="34" charset="0"/>
              </a:rPr>
              <a:t>M</a:t>
            </a:r>
            <a:r>
              <a:rPr lang="fr-FR" altLang="en-US" sz="2400" dirty="0" smtClean="0">
                <a:cs typeface="Arial" panose="020B0604020202020204" pitchFamily="34" charset="0"/>
              </a:rPr>
              <a:t>ode opératoire livre de caisse </a:t>
            </a:r>
            <a:r>
              <a:rPr lang="fr-FR" altLang="en-US" sz="2400" dirty="0" smtClean="0">
                <a:cs typeface="Arial" panose="020B0604020202020204" pitchFamily="34" charset="0"/>
              </a:rPr>
              <a:t>/   </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Compte banque : 								Compte caisse : </a:t>
            </a:r>
          </a:p>
          <a:p>
            <a:endParaRPr lang="fr-FR" dirty="0">
              <a:cs typeface="Arial" panose="020B0604020202020204" pitchFamily="34" charset="0"/>
            </a:endParaRPr>
          </a:p>
          <a:p>
            <a:r>
              <a:rPr lang="fr-FR" dirty="0" smtClean="0">
                <a:cs typeface="Arial" panose="020B0604020202020204" pitchFamily="34" charset="0"/>
              </a:rPr>
              <a:t> 	</a:t>
            </a:r>
          </a:p>
          <a:p>
            <a:endParaRPr lang="fr-FR" dirty="0">
              <a:cs typeface="Arial" panose="020B0604020202020204" pitchFamily="34" charset="0"/>
            </a:endParaRPr>
          </a:p>
          <a:p>
            <a:endParaRPr lang="fr-FR" dirty="0" smtClean="0">
              <a:cs typeface="Arial" panose="020B0604020202020204" pitchFamily="34" charset="0"/>
            </a:endParaRPr>
          </a:p>
          <a:p>
            <a:endParaRPr lang="fr-FR" dirty="0">
              <a:cs typeface="Arial" panose="020B0604020202020204" pitchFamily="34" charset="0"/>
            </a:endParaRPr>
          </a:p>
          <a:p>
            <a:endParaRPr lang="fr-FR" dirty="0" smtClean="0">
              <a:cs typeface="Arial" panose="020B0604020202020204" pitchFamily="34" charset="0"/>
            </a:endParaRPr>
          </a:p>
          <a:p>
            <a:r>
              <a:rPr lang="fr-FR" dirty="0" smtClean="0">
                <a:cs typeface="Arial" panose="020B0604020202020204" pitchFamily="34" charset="0"/>
              </a:rPr>
              <a:t>										</a:t>
            </a:r>
            <a:endParaRPr lang="fr-FR" dirty="0">
              <a:cs typeface="Arial" panose="020B0604020202020204" pitchFamily="34" charset="0"/>
            </a:endParaRPr>
          </a:p>
          <a:p>
            <a:r>
              <a:rPr lang="fr-FR" dirty="0" smtClean="0">
                <a:cs typeface="Arial" panose="020B0604020202020204" pitchFamily="34" charset="0"/>
              </a:rPr>
              <a:t>On a le même numéro de pièce dans le compte 52130201 que dans le compte 57120400.</a:t>
            </a:r>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14</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573579" y="1465033"/>
            <a:ext cx="3510224" cy="2502534"/>
          </a:xfrm>
          <a:prstGeom prst="rect">
            <a:avLst/>
          </a:prstGeom>
        </p:spPr>
      </p:pic>
      <p:pic>
        <p:nvPicPr>
          <p:cNvPr id="5" name="Image 4"/>
          <p:cNvPicPr>
            <a:picLocks noChangeAspect="1"/>
          </p:cNvPicPr>
          <p:nvPr/>
        </p:nvPicPr>
        <p:blipFill>
          <a:blip r:embed="rId3"/>
          <a:stretch>
            <a:fillRect/>
          </a:stretch>
        </p:blipFill>
        <p:spPr>
          <a:xfrm>
            <a:off x="4438528" y="1465032"/>
            <a:ext cx="4026895" cy="2502535"/>
          </a:xfrm>
          <a:prstGeom prst="rect">
            <a:avLst/>
          </a:prstGeom>
        </p:spPr>
      </p:pic>
    </p:spTree>
    <p:extLst>
      <p:ext uri="{BB962C8B-B14F-4D97-AF65-F5344CB8AC3E}">
        <p14:creationId xmlns:p14="http://schemas.microsoft.com/office/powerpoint/2010/main" val="2490974776"/>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5" y="1058111"/>
            <a:ext cx="3063507" cy="1442030"/>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Choisir chacun une caisse différente</a:t>
            </a: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Saisir des transactions de dépense et de recette </a:t>
            </a: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Afficher le compte caisse choisi et faite l’analyse après cette saisie. </a:t>
            </a:r>
          </a:p>
          <a:p>
            <a:pPr marL="135731" indent="-135731">
              <a:lnSpc>
                <a:spcPct val="110000"/>
              </a:lnSpc>
              <a:buFont typeface="Wingdings" pitchFamily="2" charset="2"/>
              <a:buChar char="§"/>
              <a:defRPr/>
            </a:pPr>
            <a:endParaRPr lang="fr-FR" sz="1350" dirty="0">
              <a:solidFill>
                <a:srgbClr val="4F81BD"/>
              </a:solidFill>
              <a:latin typeface="Arial Narrow" pitchFamily="34" charset="0"/>
              <a:ea typeface="ＭＳ Ｐゴシック"/>
              <a:cs typeface="ＭＳ Ｐゴシック"/>
            </a:endParaRP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15486918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16</a:t>
            </a:fld>
            <a:endParaRPr lang="fr-FR" altLang="en-US" sz="750"/>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ea typeface="ＭＳ Ｐゴシック" panose="020B0600070205080204" pitchFamily="34" charset="-128"/>
                <a:cs typeface="Arial" panose="020B0604020202020204" pitchFamily="34" charset="0"/>
              </a:rPr>
              <a:t>Synthèse</a:t>
            </a:r>
            <a:endParaRPr lang="en-US" altLang="en-US" sz="2400" dirty="0" smtClean="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1946275"/>
          </a:xfrm>
        </p:spPr>
        <p:txBody>
          <a:bodyPr/>
          <a:lstStyle/>
          <a:p>
            <a:pPr marL="171450" indent="-171450">
              <a:buClr>
                <a:srgbClr val="0070C0"/>
              </a:buClr>
              <a:buSzPct val="100000"/>
              <a:buFont typeface="Arial" panose="020B0604020202020204" pitchFamily="34" charset="0"/>
              <a:buChar char="•"/>
            </a:pPr>
            <a:r>
              <a:rPr lang="fr-FR" altLang="en-US" dirty="0" smtClean="0">
                <a:ea typeface="ＭＳ Ｐゴシック" panose="020B0600070205080204" pitchFamily="34" charset="-128"/>
                <a:cs typeface="Arial" panose="020B0604020202020204" pitchFamily="34" charset="0"/>
              </a:rPr>
              <a:t>Nous avons abordé comment saisir les transactions afférentes à la caisse et comment contrôler l’intégrité de notre saisie en interrogeant les comptes généraux concernés. </a:t>
            </a:r>
            <a:r>
              <a:rPr lang="fr-FR" altLang="en-US" dirty="0" smtClean="0">
                <a:ea typeface="ＭＳ Ｐゴシック" panose="020B0600070205080204" pitchFamily="34" charset="-128"/>
                <a:cs typeface="Arial" panose="020B0604020202020204" pitchFamily="34" charset="0"/>
              </a:rPr>
              <a:t>La </a:t>
            </a:r>
            <a:r>
              <a:rPr lang="fr-FR" altLang="en-US" dirty="0" smtClean="0">
                <a:ea typeface="ＭＳ Ｐゴシック" panose="020B0600070205080204" pitchFamily="34" charset="-128"/>
                <a:cs typeface="Arial" panose="020B0604020202020204" pitchFamily="34" charset="0"/>
              </a:rPr>
              <a:t>mise en place du livre de caisse doit permettre à la CBG de fluidifier ses transactions d’espèces. La gestion et l’utilisation du livre de caisse sont simples. </a:t>
            </a:r>
          </a:p>
          <a:p>
            <a:pPr marL="171450" indent="-171450">
              <a:buClr>
                <a:srgbClr val="0070C0"/>
              </a:buClr>
              <a:buSzPct val="100000"/>
              <a:buFont typeface="Arial" panose="020B0604020202020204" pitchFamily="34" charset="0"/>
              <a:buChar char="•"/>
            </a:pPr>
            <a:endParaRPr lang="fr-FR" altLang="en-US" sz="1400" dirty="0">
              <a:latin typeface="Arial" panose="020B0604020202020204" pitchFamily="34" charset="0"/>
              <a:ea typeface="ＭＳ Ｐゴシック" panose="020B0600070205080204" pitchFamily="34" charset="-128"/>
              <a:cs typeface="Arial" panose="020B0604020202020204" pitchFamily="34" charset="0"/>
            </a:endParaRPr>
          </a:p>
          <a:p>
            <a:pPr marL="171450" indent="-171450">
              <a:buClr>
                <a:srgbClr val="0070C0"/>
              </a:buClr>
              <a:buSzPct val="100000"/>
              <a:buFont typeface="Arial" panose="020B0604020202020204" pitchFamily="34" charset="0"/>
              <a:buChar char="•"/>
            </a:pPr>
            <a:endParaRPr lang="fr-FR" altLang="en-US" sz="1400" dirty="0" smtClean="0">
              <a:latin typeface="Arial" panose="020B0604020202020204" pitchFamily="34" charset="0"/>
              <a:ea typeface="ＭＳ Ｐゴシック" panose="020B0600070205080204" pitchFamily="34" charset="-128"/>
              <a:cs typeface="Arial" panose="020B0604020202020204" pitchFamily="34" charset="0"/>
            </a:endParaRPr>
          </a:p>
          <a:p>
            <a:pPr>
              <a:buClr>
                <a:srgbClr val="0070C0"/>
              </a:buClr>
              <a:buSzPct val="100000"/>
            </a:pPr>
            <a:endParaRPr lang="fr-FR" altLang="en-US" sz="1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4" name="Espace réservé du numéro de diapositive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36DFBA8F-B79A-4011-8444-03085D4A6CB3}" type="slidenum">
              <a:rPr lang="fr-FR" altLang="en-US" sz="750"/>
              <a:pPr eaLnBrk="1" hangingPunct="1"/>
              <a:t>17</a:t>
            </a:fld>
            <a:endParaRPr lang="fr-FR" altLang="en-US" sz="750"/>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VHEKTECQ7ECW-1532981086-4845</_dlc_DocId>
    <_dlc_DocIdUrl xmlns="f36dd47d-0b23-43fd-9b2d-c5346ffa1660">
      <Url>http://projets.cbg-guinee.com/erp/_layouts/15/DocIdRedir.aspx?ID=VHEKTECQ7ECW-1532981086-4845</Url>
      <Description>VHEKTECQ7ECW-1532981086-4845</Description>
    </_dlc_DocId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91541453-E440-4A39-ACA9-2A627CD0AC16}"/>
</file>

<file path=customXml/itemProps2.xml><?xml version="1.0" encoding="utf-8"?>
<ds:datastoreItem xmlns:ds="http://schemas.openxmlformats.org/officeDocument/2006/customXml" ds:itemID="{6B08D313-DD74-49B0-B6A4-96BD802D9198}"/>
</file>

<file path=customXml/itemProps3.xml><?xml version="1.0" encoding="utf-8"?>
<ds:datastoreItem xmlns:ds="http://schemas.openxmlformats.org/officeDocument/2006/customXml" ds:itemID="{DFE7DD0B-0BE8-4E24-A363-4DD0A01C5DCF}"/>
</file>

<file path=customXml/itemProps4.xml><?xml version="1.0" encoding="utf-8"?>
<ds:datastoreItem xmlns:ds="http://schemas.openxmlformats.org/officeDocument/2006/customXml" ds:itemID="{BF545ECB-A5D8-4A1D-900C-F9A2643579BC}"/>
</file>

<file path=docProps/app.xml><?xml version="1.0" encoding="utf-8"?>
<Properties xmlns="http://schemas.openxmlformats.org/officeDocument/2006/extended-properties" xmlns:vt="http://schemas.openxmlformats.org/officeDocument/2006/docPropsVTypes">
  <Template/>
  <TotalTime>0</TotalTime>
  <Words>645</Words>
  <Application>Microsoft Office PowerPoint</Application>
  <PresentationFormat>Affichage à l'écran (16:9)</PresentationFormat>
  <Paragraphs>204</Paragraphs>
  <Slides>18</Slides>
  <Notes>7</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18</vt:i4>
      </vt:variant>
    </vt:vector>
  </HeadingPairs>
  <TitlesOfParts>
    <vt:vector size="26" baseType="lpstr">
      <vt:lpstr>ＭＳ Ｐゴシック</vt:lpstr>
      <vt:lpstr>Arial</vt:lpstr>
      <vt:lpstr>Arial Narrow</vt:lpstr>
      <vt:lpstr>Calibri</vt:lpstr>
      <vt:lpstr>Courier New</vt:lpstr>
      <vt:lpstr>Verdana</vt:lpstr>
      <vt:lpstr>Wingdings</vt:lpstr>
      <vt:lpstr>TemplateBE_FR</vt:lpstr>
      <vt:lpstr>Kamsar, le 01.02.2016</vt:lpstr>
      <vt:lpstr>Présentation PowerPoint</vt:lpstr>
      <vt:lpstr>Objectifs de la formation</vt:lpstr>
      <vt:lpstr>Agenda : 1h00</vt:lpstr>
      <vt:lpstr>Présentation PowerPoint</vt:lpstr>
      <vt:lpstr>Description du processus de gestion du livre de caisse </vt:lpstr>
      <vt:lpstr>Présentation PowerPoint</vt:lpstr>
      <vt:lpstr>Modes opératoires Présentation du mode opératoire dans SAP</vt:lpstr>
      <vt:lpstr>Mode opératoire livre de caisse 1/   </vt:lpstr>
      <vt:lpstr>Mode opératoire livre de caisse 1/    </vt:lpstr>
      <vt:lpstr>Mode opératoire livre de caisse 1/   </vt:lpstr>
      <vt:lpstr>Mode opératoire livre de caisse 1/   </vt:lpstr>
      <vt:lpstr>Mode opératoire livre de caisse 1/   </vt:lpstr>
      <vt:lpstr>Mode opératoire livre de caisse /    </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Ogoundele, Jean Yves (CE)</cp:lastModifiedBy>
  <cp:revision>3908</cp:revision>
  <cp:lastPrinted>2016-01-30T14:19:09Z</cp:lastPrinted>
  <dcterms:created xsi:type="dcterms:W3CDTF">2012-05-17T14:14:37Z</dcterms:created>
  <dcterms:modified xsi:type="dcterms:W3CDTF">2016-01-30T14:26:32Z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a5fb166e-c5ac-4b47-9a4e-11ac9112aef9</vt:lpwstr>
  </property>
</Properties>
</file>