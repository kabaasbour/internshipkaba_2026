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slides/slide17.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2.xml" ContentType="application/vnd.openxmlformats-officedocument.customXmlProperties+xml"/>
  <Override PartName="/docProps/app.xml" ContentType="application/vnd.openxmlformats-officedocument.extended-properties+xml"/>
  <Override PartName="/customXml/itemProps1.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4"/>
  </p:notesMasterIdLst>
  <p:handoutMasterIdLst>
    <p:handoutMasterId r:id="rId25"/>
  </p:handoutMasterIdLst>
  <p:sldIdLst>
    <p:sldId id="685" r:id="rId5"/>
    <p:sldId id="686" r:id="rId6"/>
    <p:sldId id="687" r:id="rId7"/>
    <p:sldId id="723" r:id="rId8"/>
    <p:sldId id="691" r:id="rId9"/>
    <p:sldId id="692" r:id="rId10"/>
    <p:sldId id="693" r:id="rId11"/>
    <p:sldId id="694" r:id="rId12"/>
    <p:sldId id="724" r:id="rId13"/>
    <p:sldId id="696" r:id="rId14"/>
    <p:sldId id="713" r:id="rId15"/>
    <p:sldId id="737" r:id="rId16"/>
    <p:sldId id="738" r:id="rId17"/>
    <p:sldId id="740" r:id="rId18"/>
    <p:sldId id="739" r:id="rId19"/>
    <p:sldId id="732" r:id="rId20"/>
    <p:sldId id="725" r:id="rId21"/>
    <p:sldId id="710" r:id="rId22"/>
    <p:sldId id="728" r:id="rId23"/>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8" autoAdjust="0"/>
    <p:restoredTop sz="95565" autoAdjust="0"/>
  </p:normalViewPr>
  <p:slideViewPr>
    <p:cSldViewPr snapToGrid="0" snapToObjects="1">
      <p:cViewPr varScale="1">
        <p:scale>
          <a:sx n="118" d="100"/>
          <a:sy n="118" d="100"/>
        </p:scale>
        <p:origin x="864" y="96"/>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06400" y="695325"/>
            <a:ext cx="6197600"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16</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404016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17</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Traitement </a:t>
            </a:r>
            <a:r>
              <a:rPr lang="fr-FR" sz="2000" b="1" dirty="0" smtClean="0">
                <a:solidFill>
                  <a:srgbClr val="0070C0"/>
                </a:solidFill>
                <a:latin typeface="Arial" charset="0"/>
                <a:cs typeface="Arial" charset="0"/>
              </a:rPr>
              <a:t>des commandes d’achats locales</a:t>
            </a:r>
            <a:endParaRPr lang="fr-FR" sz="1800" dirty="0" smtClean="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une commande d’achat destinée à un fournisseur local</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Transformer la demande d’achat local en commande d’achat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Valider la commande d’achat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Imprimer la commande d’achat</a:t>
            </a: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locaux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des Achats Industriels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Outre-Mer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Clients internes</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 processus de création et de gestion des commandes d’achats s’inscrit dans le processus d’Achats Indirects. Il permet :</a:t>
            </a:r>
          </a:p>
          <a:p>
            <a:r>
              <a:rPr lang="fr-FR" b="1" dirty="0" smtClean="0">
                <a:solidFill>
                  <a:srgbClr val="0070C0"/>
                </a:solidFill>
              </a:rPr>
              <a:t>Pour les Achats</a:t>
            </a:r>
          </a:p>
          <a:p>
            <a:pPr marL="171450" indent="-171450">
              <a:buClr>
                <a:srgbClr val="0070C0"/>
              </a:buClr>
              <a:buSzPct val="100000"/>
              <a:buFont typeface="Arial" panose="020B0604020202020204" pitchFamily="34" charset="0"/>
              <a:buChar char="•"/>
            </a:pPr>
            <a:r>
              <a:rPr lang="fr-FR" dirty="0" smtClean="0"/>
              <a:t>De tracer les achats locaux</a:t>
            </a:r>
          </a:p>
          <a:p>
            <a:pPr marL="171450" indent="-171450">
              <a:buClr>
                <a:srgbClr val="0070C0"/>
              </a:buClr>
              <a:buSzPct val="100000"/>
              <a:buFont typeface="Arial" panose="020B0604020202020204" pitchFamily="34" charset="0"/>
              <a:buChar char="•"/>
            </a:pPr>
            <a:r>
              <a:rPr lang="fr-FR" dirty="0" smtClean="0"/>
              <a:t>De répondre aux besoins des clients internes en Guinée</a:t>
            </a:r>
          </a:p>
          <a:p>
            <a:pPr>
              <a:buClr>
                <a:srgbClr val="0070C0"/>
              </a:buClr>
              <a:buSzPct val="100000"/>
            </a:pPr>
            <a:r>
              <a:rPr lang="fr-FR" b="1" dirty="0" smtClean="0">
                <a:solidFill>
                  <a:srgbClr val="0070C0"/>
                </a:solidFill>
              </a:rPr>
              <a:t>Pour les clients internes</a:t>
            </a:r>
          </a:p>
          <a:p>
            <a:pPr marL="171450" indent="-171450">
              <a:buClr>
                <a:srgbClr val="0070C0"/>
              </a:buClr>
              <a:buSzPct val="100000"/>
              <a:buFont typeface="Arial" panose="020B0604020202020204" pitchFamily="34" charset="0"/>
              <a:buChar char="•"/>
            </a:pPr>
            <a:r>
              <a:rPr lang="fr-FR" dirty="0" smtClean="0"/>
              <a:t>De suivre l’évolution de leur demande d’achat</a:t>
            </a:r>
            <a:endParaRPr lang="fr-FR" dirty="0"/>
          </a:p>
          <a:p>
            <a:pPr marL="171450" indent="-171450">
              <a:buClr>
                <a:srgbClr val="0070C0"/>
              </a:buClr>
              <a:buSzPct val="100000"/>
              <a:buFont typeface="Arial" panose="020B0604020202020204" pitchFamily="34" charset="0"/>
              <a:buChar char="•"/>
            </a:pPr>
            <a:endParaRPr lang="fr-FR" dirty="0" smtClean="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a:t>
            </a:r>
            <a:r>
              <a:rPr lang="fr-FR" altLang="en-US" dirty="0"/>
              <a:t>C</a:t>
            </a:r>
            <a:r>
              <a:rPr lang="fr-FR" altLang="en-US" dirty="0" smtClean="0"/>
              <a:t>ommandes d’Achat</a:t>
            </a:r>
            <a:endParaRPr lang="en-US" altLang="en-US" dirty="0" smtClean="0"/>
          </a:p>
        </p:txBody>
      </p:sp>
      <p:sp>
        <p:nvSpPr>
          <p:cNvPr id="28678" name="AutoShape 6"/>
          <p:cNvSpPr>
            <a:spLocks noChangeArrowheads="1"/>
          </p:cNvSpPr>
          <p:nvPr/>
        </p:nvSpPr>
        <p:spPr bwMode="auto">
          <a:xfrm>
            <a:off x="1540042" y="1534837"/>
            <a:ext cx="1644253"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a:t>
            </a:r>
            <a:r>
              <a:rPr lang="fr-FR" altLang="en-US" sz="1050" dirty="0" smtClean="0">
                <a:cs typeface="Arial" panose="020B0604020202020204" pitchFamily="34" charset="0"/>
              </a:rPr>
              <a:t>une commande d’achat </a:t>
            </a:r>
            <a:r>
              <a:rPr lang="fr-FR" altLang="en-US" sz="1050" dirty="0">
                <a:cs typeface="Arial" panose="020B0604020202020204" pitchFamily="34" charset="0"/>
              </a:rPr>
              <a:t>?</a:t>
            </a:r>
          </a:p>
        </p:txBody>
      </p:sp>
      <p:sp>
        <p:nvSpPr>
          <p:cNvPr id="28679" name="AutoShape 7"/>
          <p:cNvSpPr>
            <a:spLocks noChangeArrowheads="1"/>
          </p:cNvSpPr>
          <p:nvPr/>
        </p:nvSpPr>
        <p:spPr bwMode="auto">
          <a:xfrm>
            <a:off x="1435769" y="3595561"/>
            <a:ext cx="1825918"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une commande d’achat </a:t>
            </a:r>
            <a:r>
              <a:rPr lang="fr-FR" altLang="en-US" sz="1050" dirty="0">
                <a:solidFill>
                  <a:schemeClr val="bg1"/>
                </a:solidFill>
                <a:cs typeface="Arial" panose="020B0604020202020204" pitchFamily="34" charset="0"/>
              </a:rPr>
              <a:t>?</a:t>
            </a:r>
          </a:p>
        </p:txBody>
      </p:sp>
      <p:sp>
        <p:nvSpPr>
          <p:cNvPr id="28680" name="AutoShape 9"/>
          <p:cNvSpPr>
            <a:spLocks noChangeArrowheads="1"/>
          </p:cNvSpPr>
          <p:nvPr/>
        </p:nvSpPr>
        <p:spPr bwMode="auto">
          <a:xfrm>
            <a:off x="5155407" y="2439758"/>
            <a:ext cx="2166938" cy="656973"/>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acheteurs locaux sont responsables de la création des commandes d’achats locales</a:t>
            </a:r>
            <a:endParaRPr lang="fr-FR" altLang="en-US" sz="1050" dirty="0">
              <a:solidFill>
                <a:schemeClr val="bg1"/>
              </a:solidFill>
            </a:endParaRPr>
          </a:p>
        </p:txBody>
      </p:sp>
      <p:sp>
        <p:nvSpPr>
          <p:cNvPr id="28681" name="AutoShape 12"/>
          <p:cNvSpPr>
            <a:spLocks noChangeArrowheads="1"/>
          </p:cNvSpPr>
          <p:nvPr/>
        </p:nvSpPr>
        <p:spPr bwMode="auto">
          <a:xfrm>
            <a:off x="5155407" y="1476935"/>
            <a:ext cx="2701669" cy="656973"/>
          </a:xfrm>
          <a:prstGeom prst="wedgeRoundRectCallout">
            <a:avLst>
              <a:gd name="adj1" fmla="val -60434"/>
              <a:gd name="adj2" fmla="val 46405"/>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Une commande d’achat local est créée à chaque besoin de commander un </a:t>
            </a:r>
            <a:r>
              <a:rPr lang="fr-FR" altLang="en-US" sz="1050" dirty="0" smtClean="0"/>
              <a:t>article </a:t>
            </a:r>
            <a:r>
              <a:rPr lang="fr-FR" altLang="en-US" sz="1050" dirty="0" smtClean="0"/>
              <a:t>à un fournisseur local</a:t>
            </a:r>
            <a:endParaRPr lang="fr-FR" altLang="en-US" sz="1050" dirty="0"/>
          </a:p>
        </p:txBody>
      </p:sp>
      <p:sp>
        <p:nvSpPr>
          <p:cNvPr id="28682" name="AutoShape 6"/>
          <p:cNvSpPr>
            <a:spLocks noChangeArrowheads="1"/>
          </p:cNvSpPr>
          <p:nvPr/>
        </p:nvSpPr>
        <p:spPr bwMode="auto">
          <a:xfrm>
            <a:off x="1331495" y="2484250"/>
            <a:ext cx="1455513" cy="478201"/>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a:t>
            </a:r>
            <a:r>
              <a:rPr lang="fr-FR" altLang="en-US" sz="1050" dirty="0" smtClean="0">
                <a:solidFill>
                  <a:schemeClr val="bg1"/>
                </a:solidFill>
                <a:cs typeface="Arial" panose="020B0604020202020204" pitchFamily="34" charset="0"/>
              </a:rPr>
              <a:t>une Commande d’achat </a:t>
            </a:r>
            <a:r>
              <a:rPr lang="fr-FR" altLang="en-US" sz="1050" dirty="0">
                <a:solidFill>
                  <a:schemeClr val="bg1"/>
                </a:solidFill>
                <a:cs typeface="Arial" panose="020B0604020202020204" pitchFamily="34" charset="0"/>
              </a:rPr>
              <a:t>?</a:t>
            </a:r>
          </a:p>
        </p:txBody>
      </p:sp>
      <p:sp>
        <p:nvSpPr>
          <p:cNvPr id="28685" name="AutoShape 10"/>
          <p:cNvSpPr>
            <a:spLocks noChangeArrowheads="1"/>
          </p:cNvSpPr>
          <p:nvPr/>
        </p:nvSpPr>
        <p:spPr bwMode="auto">
          <a:xfrm>
            <a:off x="5397949" y="3360036"/>
            <a:ext cx="2069652" cy="920875"/>
          </a:xfrm>
          <a:prstGeom prst="wedgeRoundRectCallout">
            <a:avLst>
              <a:gd name="adj1" fmla="val -70272"/>
              <a:gd name="adj2" fmla="val -6620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L’article à acheter</a:t>
            </a:r>
          </a:p>
          <a:p>
            <a:pPr eaLnBrk="1" hangingPunct="1">
              <a:spcBef>
                <a:spcPts val="225"/>
              </a:spcBef>
              <a:buFont typeface="Arial" panose="020B0604020202020204" pitchFamily="34" charset="0"/>
              <a:buChar char="•"/>
            </a:pPr>
            <a:r>
              <a:rPr lang="fr-FR" altLang="en-US" sz="1050" dirty="0" smtClean="0">
                <a:solidFill>
                  <a:schemeClr val="bg1"/>
                </a:solidFill>
              </a:rPr>
              <a:t>La date de livraison</a:t>
            </a:r>
          </a:p>
          <a:p>
            <a:pPr eaLnBrk="1" hangingPunct="1">
              <a:spcBef>
                <a:spcPts val="225"/>
              </a:spcBef>
              <a:buFont typeface="Arial" panose="020B0604020202020204" pitchFamily="34" charset="0"/>
              <a:buChar char="•"/>
            </a:pPr>
            <a:r>
              <a:rPr lang="fr-FR" altLang="en-US" sz="1050" dirty="0" smtClean="0">
                <a:solidFill>
                  <a:schemeClr val="bg1"/>
                </a:solidFill>
              </a:rPr>
              <a:t>Le fournisseur</a:t>
            </a:r>
          </a:p>
          <a:p>
            <a:pPr eaLnBrk="1" hangingPunct="1">
              <a:spcBef>
                <a:spcPts val="225"/>
              </a:spcBef>
              <a:buFont typeface="Arial" panose="020B0604020202020204" pitchFamily="34" charset="0"/>
              <a:buChar char="•"/>
            </a:pPr>
            <a:r>
              <a:rPr lang="fr-FR" altLang="en-US" sz="1050" dirty="0" smtClean="0">
                <a:solidFill>
                  <a:schemeClr val="bg1"/>
                </a:solidFill>
              </a:rPr>
              <a:t>Le prix d’achat</a:t>
            </a:r>
            <a:endParaRPr lang="fr-FR" altLang="en-US" sz="1050" dirty="0">
              <a:solidFill>
                <a:schemeClr val="bg1"/>
              </a:solidFill>
            </a:endParaRP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des demandes d’achat</a:t>
            </a:r>
            <a:endParaRPr lang="en-US" altLang="en-US" dirty="0" smtClean="0"/>
          </a:p>
        </p:txBody>
      </p:sp>
      <p:sp>
        <p:nvSpPr>
          <p:cNvPr id="20" name="Rectangle à coins arrondis 19"/>
          <p:cNvSpPr/>
          <p:nvPr/>
        </p:nvSpPr>
        <p:spPr>
          <a:xfrm>
            <a:off x="4355243" y="1405028"/>
            <a:ext cx="2874704" cy="656973"/>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des </a:t>
            </a:r>
            <a:r>
              <a:rPr lang="fr-FR" sz="1050" dirty="0" smtClean="0">
                <a:solidFill>
                  <a:schemeClr val="bg1"/>
                </a:solidFill>
                <a:latin typeface="Arial" panose="020B0604020202020204" pitchFamily="34" charset="0"/>
                <a:ea typeface="ＭＳ Ｐゴシック" panose="020B0600070205080204" pitchFamily="34" charset="-128"/>
              </a:rPr>
              <a:t>Commandes d’achat s’inscrit dans le Processus Achats directs et indirects</a:t>
            </a:r>
          </a:p>
        </p:txBody>
      </p:sp>
      <p:sp>
        <p:nvSpPr>
          <p:cNvPr id="65540" name="AutoShape 16"/>
          <p:cNvSpPr>
            <a:spLocks noChangeArrowheads="1"/>
          </p:cNvSpPr>
          <p:nvPr/>
        </p:nvSpPr>
        <p:spPr bwMode="auto">
          <a:xfrm>
            <a:off x="2152513" y="3777107"/>
            <a:ext cx="1237060"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Un demande d’achat est créée</a:t>
            </a:r>
            <a:endParaRPr lang="fr-FR" altLang="ko-KR" sz="800" b="1" dirty="0">
              <a:solidFill>
                <a:srgbClr val="FFFFFF"/>
              </a:solidFill>
              <a:latin typeface="Verdana" pitchFamily="34" charset="0"/>
              <a:ea typeface="ＭＳ Ｐゴシック"/>
              <a:cs typeface="Arial" pitchFamily="34" charset="0"/>
            </a:endParaRPr>
          </a:p>
        </p:txBody>
      </p:sp>
      <p:sp>
        <p:nvSpPr>
          <p:cNvPr id="29701" name="AutoShape 17"/>
          <p:cNvSpPr>
            <a:spLocks noChangeArrowheads="1"/>
          </p:cNvSpPr>
          <p:nvPr/>
        </p:nvSpPr>
        <p:spPr bwMode="auto">
          <a:xfrm>
            <a:off x="3413939"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de la commande d’achat</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4675365" y="3777107"/>
            <a:ext cx="1235869"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Validation de la commande d’achat</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3" name="AutoShape 19"/>
          <p:cNvSpPr>
            <a:spLocks noChangeArrowheads="1"/>
          </p:cNvSpPr>
          <p:nvPr/>
        </p:nvSpPr>
        <p:spPr bwMode="auto">
          <a:xfrm>
            <a:off x="5935600" y="3777107"/>
            <a:ext cx="1237060"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Réception de la commande</a:t>
            </a:r>
            <a:endParaRPr lang="fr-FR" altLang="ko-KR" sz="800" b="1" dirty="0">
              <a:solidFill>
                <a:srgbClr val="FFFFFF"/>
              </a:solidFill>
              <a:latin typeface="Verdana" pitchFamily="34" charset="0"/>
              <a:ea typeface="ＭＳ Ｐゴシック"/>
              <a:cs typeface="Arial"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d’achats indirects local</a:t>
            </a:r>
            <a:endParaRPr lang="en-US" altLang="en-US" sz="2400" dirty="0" smtClean="0"/>
          </a:p>
        </p:txBody>
      </p:sp>
      <p:pic>
        <p:nvPicPr>
          <p:cNvPr id="4" name="Image 3"/>
          <p:cNvPicPr/>
          <p:nvPr/>
        </p:nvPicPr>
        <p:blipFill>
          <a:blip r:embed="rId2">
            <a:extLst>
              <a:ext uri="{28A0092B-C50C-407E-A947-70E740481C1C}">
                <a14:useLocalDpi xmlns:a14="http://schemas.microsoft.com/office/drawing/2010/main" val="0"/>
              </a:ext>
            </a:extLst>
          </a:blip>
          <a:srcRect/>
          <a:stretch>
            <a:fillRect/>
          </a:stretch>
        </p:blipFill>
        <p:spPr bwMode="auto">
          <a:xfrm>
            <a:off x="1401732" y="864219"/>
            <a:ext cx="6340535" cy="3903044"/>
          </a:xfrm>
          <a:prstGeom prst="rect">
            <a:avLst/>
          </a:prstGeom>
          <a:noFill/>
        </p:spPr>
      </p:pic>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1607570" y="1950783"/>
            <a:ext cx="1469458" cy="991259"/>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la </a:t>
              </a:r>
              <a:r>
                <a:rPr lang="fr-FR" sz="800" dirty="0" smtClean="0">
                  <a:solidFill>
                    <a:schemeClr val="bg1"/>
                  </a:solidFill>
                  <a:latin typeface="Arial" pitchFamily="34" charset="0"/>
                  <a:cs typeface="Arial" pitchFamily="34" charset="0"/>
                </a:rPr>
                <a:t>Commande d’Achat </a:t>
              </a:r>
              <a:r>
                <a:rPr lang="fr-FR" sz="800" dirty="0" smtClean="0">
                  <a:solidFill>
                    <a:schemeClr val="bg1"/>
                  </a:solidFill>
                  <a:latin typeface="Arial" pitchFamily="34" charset="0"/>
                  <a:cs typeface="Arial" pitchFamily="34" charset="0"/>
                </a:rPr>
                <a:t>local</a:t>
              </a:r>
              <a:endParaRPr lang="en-US" sz="800" dirty="0">
                <a:solidFill>
                  <a:schemeClr val="bg1"/>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ME21N</a:t>
              </a:r>
              <a:endParaRPr lang="en-US" sz="8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47" name="Groupe 46"/>
          <p:cNvGrpSpPr/>
          <p:nvPr/>
        </p:nvGrpSpPr>
        <p:grpSpPr>
          <a:xfrm>
            <a:off x="3862254" y="1950783"/>
            <a:ext cx="1469458" cy="991259"/>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Valider la </a:t>
              </a:r>
              <a:r>
                <a:rPr lang="fr-FR" sz="800" dirty="0" smtClean="0">
                  <a:solidFill>
                    <a:schemeClr val="bg1"/>
                  </a:solidFill>
                  <a:latin typeface="Arial" pitchFamily="34" charset="0"/>
                  <a:cs typeface="Arial" pitchFamily="34" charset="0"/>
                </a:rPr>
                <a:t>Commande d’Achat local</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ME28</a:t>
              </a:r>
              <a:endParaRPr lang="en-US" sz="800" b="1" dirty="0">
                <a:solidFill>
                  <a:schemeClr val="bg1"/>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6" name="Connecteur en angle 5"/>
          <p:cNvCxnSpPr>
            <a:stCxn id="12" idx="3"/>
            <a:endCxn id="50" idx="1"/>
          </p:cNvCxnSpPr>
          <p:nvPr/>
        </p:nvCxnSpPr>
        <p:spPr>
          <a:xfrm>
            <a:off x="3077028" y="2517552"/>
            <a:ext cx="785226"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nvGrpSpPr>
          <p:cNvPr id="25" name="Groupe 24"/>
          <p:cNvGrpSpPr/>
          <p:nvPr/>
        </p:nvGrpSpPr>
        <p:grpSpPr>
          <a:xfrm>
            <a:off x="6116938" y="1950783"/>
            <a:ext cx="1469458" cy="991259"/>
            <a:chOff x="1507778" y="2276353"/>
            <a:chExt cx="1258269" cy="754857"/>
          </a:xfrm>
        </p:grpSpPr>
        <p:sp>
          <p:nvSpPr>
            <p:cNvPr id="26" name="Rectangle 25"/>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Imprimer la Commande d’Achat</a:t>
              </a:r>
              <a:endParaRPr lang="en-US" sz="800" dirty="0">
                <a:solidFill>
                  <a:schemeClr val="bg1"/>
                </a:solidFill>
                <a:latin typeface="Arial" pitchFamily="34" charset="0"/>
                <a:cs typeface="Arial" pitchFamily="34" charset="0"/>
              </a:endParaRPr>
            </a:p>
          </p:txBody>
        </p:sp>
        <p:sp>
          <p:nvSpPr>
            <p:cNvPr id="34" name="Rectangle 33"/>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ME9F</a:t>
              </a:r>
              <a:endParaRPr lang="en-US" sz="800" b="1" dirty="0">
                <a:solidFill>
                  <a:schemeClr val="bg1"/>
                </a:solidFill>
                <a:latin typeface="Arial" panose="020B0604020202020204" pitchFamily="34" charset="0"/>
                <a:cs typeface="Arial" panose="020B0604020202020204" pitchFamily="34" charset="0"/>
              </a:endParaRPr>
            </a:p>
          </p:txBody>
        </p:sp>
        <p:sp>
          <p:nvSpPr>
            <p:cNvPr id="35" name="Rectangle 34"/>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36" name="Connecteur en angle 5"/>
          <p:cNvCxnSpPr>
            <a:stCxn id="50" idx="3"/>
            <a:endCxn id="34" idx="1"/>
          </p:cNvCxnSpPr>
          <p:nvPr/>
        </p:nvCxnSpPr>
        <p:spPr>
          <a:xfrm>
            <a:off x="5331712" y="2517552"/>
            <a:ext cx="785226" cy="0"/>
          </a:xfrm>
          <a:prstGeom prst="straightConnector1">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a:latin typeface="Arial" panose="020B0604020202020204" pitchFamily="34" charset="0"/>
                <a:ea typeface="ＭＳ Ｐゴシック" panose="020B0600070205080204" pitchFamily="34" charset="-128"/>
                <a:cs typeface="Arial" panose="020B0604020202020204" pitchFamily="34" charset="0"/>
              </a:rPr>
              <a:t>Une commande est un ordre ou instruction officiellement émis par une organisation d'achats demandant à un fournisseur ou à une division de livrer une certaine quantité de marchandises ou de services à une date donnée</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a:t>
            </a:r>
          </a:p>
          <a:p>
            <a:r>
              <a:rPr lang="fr-FR" altLang="en-US" dirty="0">
                <a:latin typeface="Arial" panose="020B0604020202020204" pitchFamily="34" charset="0"/>
                <a:ea typeface="ＭＳ Ｐゴシック" panose="020B0600070205080204" pitchFamily="34" charset="-128"/>
                <a:cs typeface="Arial" panose="020B0604020202020204" pitchFamily="34" charset="0"/>
              </a:rPr>
              <a:t>Une commande est constituée d'un en-tête de document et de plusieurs postes.</a:t>
            </a:r>
          </a:p>
          <a:p>
            <a:r>
              <a:rPr lang="fr-FR" altLang="en-US" dirty="0">
                <a:latin typeface="Arial" panose="020B0604020202020204" pitchFamily="34" charset="0"/>
                <a:ea typeface="ＭＳ Ｐゴシック" panose="020B0600070205080204" pitchFamily="34" charset="-128"/>
                <a:cs typeface="Arial" panose="020B0604020202020204" pitchFamily="34" charset="0"/>
              </a:rPr>
              <a:t>Les informations d’en-tête concernent la commande entière. Il s’agit, par exemple, des conditions de paiement et de livraison.</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Commande d’Achats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Image 35"/>
          <p:cNvPicPr>
            <a:picLocks noChangeAspect="1"/>
          </p:cNvPicPr>
          <p:nvPr/>
        </p:nvPicPr>
        <p:blipFill rotWithShape="1">
          <a:blip r:embed="rId2"/>
          <a:srcRect b="19527"/>
          <a:stretch/>
        </p:blipFill>
        <p:spPr>
          <a:xfrm>
            <a:off x="3923339" y="1820251"/>
            <a:ext cx="2217854" cy="2341599"/>
          </a:xfrm>
          <a:prstGeom prst="rect">
            <a:avLst/>
          </a:prstGeom>
          <a:ln>
            <a:solidFill>
              <a:schemeClr val="tx1"/>
            </a:solidFill>
          </a:ln>
          <a:effectLst>
            <a:outerShdw blurRad="50800" dist="38100" dir="2700000" algn="tl" rotWithShape="0">
              <a:prstClr val="black">
                <a:alpha val="40000"/>
              </a:prstClr>
            </a:outerShdw>
          </a:effectLst>
        </p:spPr>
      </p:pic>
      <p:pic>
        <p:nvPicPr>
          <p:cNvPr id="15" name="Image 14"/>
          <p:cNvPicPr>
            <a:picLocks noChangeAspect="1"/>
          </p:cNvPicPr>
          <p:nvPr/>
        </p:nvPicPr>
        <p:blipFill>
          <a:blip r:embed="rId3"/>
          <a:stretch>
            <a:fillRect/>
          </a:stretch>
        </p:blipFill>
        <p:spPr>
          <a:xfrm>
            <a:off x="3697500" y="1040931"/>
            <a:ext cx="2146882" cy="1008385"/>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ME21N – Créer la commande d’achat</a:t>
            </a:r>
            <a:endParaRPr lang="en-US" dirty="0"/>
          </a:p>
        </p:txBody>
      </p:sp>
      <p:grpSp>
        <p:nvGrpSpPr>
          <p:cNvPr id="5" name="Groupe 4"/>
          <p:cNvGrpSpPr/>
          <p:nvPr/>
        </p:nvGrpSpPr>
        <p:grpSpPr>
          <a:xfrm>
            <a:off x="457200" y="1114862"/>
            <a:ext cx="2987057" cy="3416320"/>
            <a:chOff x="425491" y="1232489"/>
            <a:chExt cx="2987057" cy="3416320"/>
          </a:xfrm>
        </p:grpSpPr>
        <p:sp>
          <p:nvSpPr>
            <p:cNvPr id="6" name="ZoneTexte 5"/>
            <p:cNvSpPr txBox="1"/>
            <p:nvPr/>
          </p:nvSpPr>
          <p:spPr>
            <a:xfrm>
              <a:off x="581025" y="1232489"/>
              <a:ext cx="2831523" cy="3416320"/>
            </a:xfrm>
            <a:prstGeom prst="rect">
              <a:avLst/>
            </a:prstGeom>
            <a:noFill/>
          </p:spPr>
          <p:txBody>
            <a:bodyPr wrap="square" rtlCol="0">
              <a:spAutoFit/>
            </a:bodyPr>
            <a:lstStyle/>
            <a:p>
              <a:r>
                <a:rPr lang="fr-FR" sz="1200" dirty="0" smtClean="0">
                  <a:solidFill>
                    <a:srgbClr val="4D4F53"/>
                  </a:solidFill>
                </a:rPr>
                <a:t>Cliquer sur </a:t>
              </a:r>
            </a:p>
            <a:p>
              <a:endParaRPr lang="fr-FR" sz="1200" dirty="0" smtClean="0">
                <a:solidFill>
                  <a:srgbClr val="4D4F53"/>
                </a:solidFill>
              </a:endParaRPr>
            </a:p>
            <a:p>
              <a:r>
                <a:rPr lang="fr-FR" sz="1200" dirty="0" smtClean="0">
                  <a:solidFill>
                    <a:srgbClr val="4D4F53"/>
                  </a:solidFill>
                </a:rPr>
                <a:t>Renseigner le document d’achat (RFQ)</a:t>
              </a:r>
            </a:p>
            <a:p>
              <a:endParaRPr lang="fr-FR" sz="1200" dirty="0" smtClean="0">
                <a:solidFill>
                  <a:srgbClr val="4D4F53"/>
                </a:solidFill>
              </a:endParaRPr>
            </a:p>
            <a:p>
              <a:r>
                <a:rPr lang="fr-FR" sz="1200" dirty="0" smtClean="0">
                  <a:solidFill>
                    <a:srgbClr val="4D4F53"/>
                  </a:solidFill>
                </a:rPr>
                <a:t>Cliquer « Exécuter »</a:t>
              </a:r>
            </a:p>
            <a:p>
              <a:endParaRPr lang="fr-FR" sz="1200" dirty="0" smtClean="0">
                <a:solidFill>
                  <a:srgbClr val="4D4F53"/>
                </a:solidFill>
              </a:endParaRPr>
            </a:p>
            <a:p>
              <a:r>
                <a:rPr lang="fr-FR" sz="1200" dirty="0" smtClean="0">
                  <a:solidFill>
                    <a:srgbClr val="4D4F53"/>
                  </a:solidFill>
                </a:rPr>
                <a:t>Glisser le RFQ dans le panier</a:t>
              </a:r>
            </a:p>
            <a:p>
              <a:endParaRPr lang="fr-FR" sz="1200" dirty="0" smtClean="0">
                <a:solidFill>
                  <a:srgbClr val="4D4F53"/>
                </a:solidFill>
              </a:endParaRPr>
            </a:p>
            <a:p>
              <a:r>
                <a:rPr lang="fr-FR" sz="1200" dirty="0" smtClean="0">
                  <a:solidFill>
                    <a:srgbClr val="4D4F53"/>
                  </a:solidFill>
                </a:rPr>
                <a:t>Utiliser le type de commandes ZSPO</a:t>
              </a:r>
            </a:p>
            <a:p>
              <a:endParaRPr lang="fr-FR" sz="1200" dirty="0" smtClean="0">
                <a:solidFill>
                  <a:srgbClr val="4D4F53"/>
                </a:solidFill>
              </a:endParaRPr>
            </a:p>
            <a:p>
              <a:r>
                <a:rPr lang="fr-FR" sz="1200" dirty="0" smtClean="0">
                  <a:solidFill>
                    <a:srgbClr val="4D4F53"/>
                  </a:solidFill>
                </a:rPr>
                <a:t>Cliquer sur « contrôler »        et confirmer les messages</a:t>
              </a:r>
            </a:p>
            <a:p>
              <a:endParaRPr lang="fr-FR" sz="1200" dirty="0" smtClean="0">
                <a:solidFill>
                  <a:srgbClr val="4D4F53"/>
                </a:solidFill>
              </a:endParaRPr>
            </a:p>
            <a:p>
              <a:r>
                <a:rPr lang="fr-FR" sz="1200" dirty="0" smtClean="0">
                  <a:solidFill>
                    <a:srgbClr val="4D4F53"/>
                  </a:solidFill>
                </a:rPr>
                <a:t>Sauvegarder en cliquant sur </a:t>
              </a:r>
            </a:p>
            <a:p>
              <a:endParaRPr lang="fr-FR" sz="1200" dirty="0" smtClean="0">
                <a:solidFill>
                  <a:srgbClr val="4D4F53"/>
                </a:solidFill>
              </a:endParaRPr>
            </a:p>
            <a:p>
              <a:r>
                <a:rPr lang="fr-FR" sz="1200" dirty="0" smtClean="0">
                  <a:solidFill>
                    <a:srgbClr val="4D4F53"/>
                  </a:solidFill>
                </a:rPr>
                <a:t>Valider la sauvegarde si besoin</a:t>
              </a:r>
            </a:p>
            <a:p>
              <a:endParaRPr lang="fr-FR" sz="1200" dirty="0" smtClean="0">
                <a:solidFill>
                  <a:srgbClr val="4D4F53"/>
                </a:solidFill>
              </a:endParaRPr>
            </a:p>
            <a:p>
              <a:r>
                <a:rPr lang="fr-FR" sz="1200" dirty="0" smtClean="0">
                  <a:solidFill>
                    <a:srgbClr val="4D4F53"/>
                  </a:solidFill>
                </a:rPr>
                <a:t>Un message de confirmation apparaît</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14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327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3939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425491" y="275901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5" name="Ellipse 34"/>
            <p:cNvSpPr/>
            <p:nvPr/>
          </p:nvSpPr>
          <p:spPr>
            <a:xfrm>
              <a:off x="425491" y="31394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5" name="Ellipse 44"/>
            <p:cNvSpPr/>
            <p:nvPr/>
          </p:nvSpPr>
          <p:spPr>
            <a:xfrm>
              <a:off x="425491" y="36824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6" name="Ellipse 45"/>
            <p:cNvSpPr/>
            <p:nvPr/>
          </p:nvSpPr>
          <p:spPr>
            <a:xfrm>
              <a:off x="425491" y="40629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9" name="Ellipse 48"/>
            <p:cNvSpPr/>
            <p:nvPr/>
          </p:nvSpPr>
          <p:spPr>
            <a:xfrm>
              <a:off x="425491" y="43966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grpSp>
      <p:sp>
        <p:nvSpPr>
          <p:cNvPr id="18" name="Ellipse 17"/>
          <p:cNvSpPr/>
          <p:nvPr/>
        </p:nvSpPr>
        <p:spPr>
          <a:xfrm>
            <a:off x="4692873" y="166391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9" name="Rectangle 18"/>
          <p:cNvSpPr/>
          <p:nvPr/>
        </p:nvSpPr>
        <p:spPr>
          <a:xfrm>
            <a:off x="3819713" y="1682383"/>
            <a:ext cx="873159" cy="13610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Ellipse 19"/>
          <p:cNvSpPr/>
          <p:nvPr/>
        </p:nvSpPr>
        <p:spPr>
          <a:xfrm>
            <a:off x="5954821" y="393891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1" name="Rectangle 20"/>
          <p:cNvSpPr/>
          <p:nvPr/>
        </p:nvSpPr>
        <p:spPr>
          <a:xfrm>
            <a:off x="5276012" y="3960963"/>
            <a:ext cx="611938"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3783027" y="20368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9" name="Rectangle 28"/>
          <p:cNvSpPr/>
          <p:nvPr/>
        </p:nvSpPr>
        <p:spPr>
          <a:xfrm>
            <a:off x="3998692" y="2043629"/>
            <a:ext cx="160273"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3" name="Image 12"/>
          <p:cNvPicPr>
            <a:picLocks noChangeAspect="1"/>
          </p:cNvPicPr>
          <p:nvPr/>
        </p:nvPicPr>
        <p:blipFill>
          <a:blip r:embed="rId4"/>
          <a:stretch>
            <a:fillRect/>
          </a:stretch>
        </p:blipFill>
        <p:spPr>
          <a:xfrm>
            <a:off x="1503781" y="1151520"/>
            <a:ext cx="1838325" cy="190500"/>
          </a:xfrm>
          <a:prstGeom prst="rect">
            <a:avLst/>
          </a:prstGeom>
          <a:ln>
            <a:solidFill>
              <a:schemeClr val="tx1"/>
            </a:solidFill>
          </a:ln>
          <a:effectLst>
            <a:outerShdw blurRad="50800" dist="38100" dir="2700000" algn="tl" rotWithShape="0">
              <a:prstClr val="black">
                <a:alpha val="40000"/>
              </a:prstClr>
            </a:outerShdw>
          </a:effectLst>
        </p:spPr>
      </p:pic>
      <p:pic>
        <p:nvPicPr>
          <p:cNvPr id="37" name="Image 36"/>
          <p:cNvPicPr>
            <a:picLocks noChangeAspect="1"/>
          </p:cNvPicPr>
          <p:nvPr/>
        </p:nvPicPr>
        <p:blipFill>
          <a:blip r:embed="rId5"/>
          <a:stretch>
            <a:fillRect/>
          </a:stretch>
        </p:blipFill>
        <p:spPr>
          <a:xfrm>
            <a:off x="5502618" y="670025"/>
            <a:ext cx="3538789" cy="1857376"/>
          </a:xfrm>
          <a:prstGeom prst="rect">
            <a:avLst/>
          </a:prstGeom>
          <a:ln>
            <a:solidFill>
              <a:schemeClr val="tx1"/>
            </a:solidFill>
          </a:ln>
          <a:effectLst>
            <a:outerShdw blurRad="50800" dist="38100" dir="2700000" algn="tl" rotWithShape="0">
              <a:prstClr val="black">
                <a:alpha val="40000"/>
              </a:prstClr>
            </a:outerShdw>
          </a:effectLst>
        </p:spPr>
      </p:pic>
      <p:sp>
        <p:nvSpPr>
          <p:cNvPr id="26" name="Ellipse 25"/>
          <p:cNvSpPr/>
          <p:nvPr/>
        </p:nvSpPr>
        <p:spPr>
          <a:xfrm>
            <a:off x="6259970" y="16616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Rectangle 26"/>
          <p:cNvSpPr/>
          <p:nvPr/>
        </p:nvSpPr>
        <p:spPr>
          <a:xfrm>
            <a:off x="5744281" y="1668487"/>
            <a:ext cx="422430" cy="11217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Ellipse 31"/>
          <p:cNvSpPr/>
          <p:nvPr/>
        </p:nvSpPr>
        <p:spPr>
          <a:xfrm>
            <a:off x="7965325" y="97429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3" name="Rectangle 32"/>
          <p:cNvSpPr/>
          <p:nvPr/>
        </p:nvSpPr>
        <p:spPr>
          <a:xfrm>
            <a:off x="7399986" y="1009690"/>
            <a:ext cx="565338"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8" name="Image 37"/>
          <p:cNvPicPr>
            <a:picLocks noChangeAspect="1"/>
          </p:cNvPicPr>
          <p:nvPr/>
        </p:nvPicPr>
        <p:blipFill>
          <a:blip r:embed="rId6"/>
          <a:stretch>
            <a:fillRect/>
          </a:stretch>
        </p:blipFill>
        <p:spPr>
          <a:xfrm>
            <a:off x="2249625" y="3003904"/>
            <a:ext cx="190500" cy="190500"/>
          </a:xfrm>
          <a:prstGeom prst="rect">
            <a:avLst/>
          </a:prstGeom>
          <a:ln>
            <a:solidFill>
              <a:schemeClr val="tx1"/>
            </a:solidFill>
          </a:ln>
          <a:effectLst>
            <a:outerShdw blurRad="50800" dist="38100" dir="2700000" algn="tl" rotWithShape="0">
              <a:prstClr val="black">
                <a:alpha val="40000"/>
              </a:prstClr>
            </a:outerShdw>
          </a:effectLst>
        </p:spPr>
      </p:pic>
      <p:pic>
        <p:nvPicPr>
          <p:cNvPr id="39" name="Image 38"/>
          <p:cNvPicPr>
            <a:picLocks noChangeAspect="1"/>
          </p:cNvPicPr>
          <p:nvPr/>
        </p:nvPicPr>
        <p:blipFill>
          <a:blip r:embed="rId7"/>
          <a:stretch>
            <a:fillRect/>
          </a:stretch>
        </p:blipFill>
        <p:spPr>
          <a:xfrm>
            <a:off x="2440125" y="3554601"/>
            <a:ext cx="200025" cy="171450"/>
          </a:xfrm>
          <a:prstGeom prst="rect">
            <a:avLst/>
          </a:prstGeom>
        </p:spPr>
      </p:pic>
      <p:pic>
        <p:nvPicPr>
          <p:cNvPr id="42" name="Image 41"/>
          <p:cNvPicPr>
            <a:picLocks noChangeAspect="1"/>
          </p:cNvPicPr>
          <p:nvPr/>
        </p:nvPicPr>
        <p:blipFill>
          <a:blip r:embed="rId8"/>
          <a:stretch>
            <a:fillRect/>
          </a:stretch>
        </p:blipFill>
        <p:spPr>
          <a:xfrm>
            <a:off x="6219530" y="3355642"/>
            <a:ext cx="2761966" cy="875313"/>
          </a:xfrm>
          <a:prstGeom prst="rect">
            <a:avLst/>
          </a:prstGeom>
          <a:ln>
            <a:solidFill>
              <a:schemeClr val="tx1"/>
            </a:solidFill>
          </a:ln>
          <a:effectLst>
            <a:outerShdw blurRad="50800" dist="38100" dir="2700000" algn="tl" rotWithShape="0">
              <a:prstClr val="black">
                <a:alpha val="40000"/>
              </a:prstClr>
            </a:outerShdw>
          </a:effectLst>
        </p:spPr>
      </p:pic>
      <p:sp>
        <p:nvSpPr>
          <p:cNvPr id="43" name="Ellipse 42"/>
          <p:cNvSpPr/>
          <p:nvPr/>
        </p:nvSpPr>
        <p:spPr>
          <a:xfrm>
            <a:off x="6177828" y="404298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4" name="Rectangle 43"/>
          <p:cNvSpPr/>
          <p:nvPr/>
        </p:nvSpPr>
        <p:spPr>
          <a:xfrm>
            <a:off x="6357388" y="4065030"/>
            <a:ext cx="611938" cy="134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47" name="Image 46"/>
          <p:cNvPicPr>
            <a:picLocks noChangeAspect="1"/>
          </p:cNvPicPr>
          <p:nvPr/>
        </p:nvPicPr>
        <p:blipFill>
          <a:blip r:embed="rId9"/>
          <a:stretch>
            <a:fillRect/>
          </a:stretch>
        </p:blipFill>
        <p:spPr>
          <a:xfrm>
            <a:off x="5744281" y="4279071"/>
            <a:ext cx="2933700" cy="266700"/>
          </a:xfrm>
          <a:prstGeom prst="rect">
            <a:avLst/>
          </a:prstGeom>
          <a:ln>
            <a:solidFill>
              <a:schemeClr val="tx1"/>
            </a:solidFill>
          </a:ln>
          <a:effectLst>
            <a:outerShdw blurRad="50800" dist="38100" dir="2700000" algn="tl" rotWithShape="0">
              <a:prstClr val="black">
                <a:alpha val="40000"/>
              </a:prstClr>
            </a:outerShdw>
          </a:effectLst>
        </p:spPr>
      </p:pic>
      <p:sp>
        <p:nvSpPr>
          <p:cNvPr id="48" name="Ellipse 47"/>
          <p:cNvSpPr/>
          <p:nvPr/>
        </p:nvSpPr>
        <p:spPr>
          <a:xfrm>
            <a:off x="5528915" y="433513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Tree>
    <p:extLst>
      <p:ext uri="{BB962C8B-B14F-4D97-AF65-F5344CB8AC3E}">
        <p14:creationId xmlns:p14="http://schemas.microsoft.com/office/powerpoint/2010/main" val="3865115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ME28 – valider la commande d’achats</a:t>
            </a:r>
            <a:endParaRPr lang="en-US" dirty="0"/>
          </a:p>
        </p:txBody>
      </p:sp>
      <p:grpSp>
        <p:nvGrpSpPr>
          <p:cNvPr id="5" name="Groupe 4"/>
          <p:cNvGrpSpPr/>
          <p:nvPr/>
        </p:nvGrpSpPr>
        <p:grpSpPr>
          <a:xfrm>
            <a:off x="457200" y="1294062"/>
            <a:ext cx="3179197" cy="276999"/>
            <a:chOff x="425491" y="1232489"/>
            <a:chExt cx="3179197" cy="276999"/>
          </a:xfrm>
        </p:grpSpPr>
        <p:sp>
          <p:nvSpPr>
            <p:cNvPr id="6" name="ZoneTexte 5"/>
            <p:cNvSpPr txBox="1"/>
            <p:nvPr/>
          </p:nvSpPr>
          <p:spPr>
            <a:xfrm>
              <a:off x="581026" y="1232489"/>
              <a:ext cx="3023662" cy="276999"/>
            </a:xfrm>
            <a:prstGeom prst="rect">
              <a:avLst/>
            </a:prstGeom>
            <a:noFill/>
          </p:spPr>
          <p:txBody>
            <a:bodyPr wrap="square" rtlCol="0">
              <a:spAutoFit/>
            </a:bodyPr>
            <a:lstStyle/>
            <a:p>
              <a:r>
                <a:rPr lang="fr-FR" sz="1200" dirty="0" smtClean="0">
                  <a:solidFill>
                    <a:srgbClr val="4D4F53"/>
                  </a:solidFill>
                </a:rPr>
                <a:t>Fonctionnalité non disponible</a:t>
              </a: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grpSp>
      <p:sp>
        <p:nvSpPr>
          <p:cNvPr id="37" name="Rectangle 36"/>
          <p:cNvSpPr/>
          <p:nvPr/>
        </p:nvSpPr>
        <p:spPr>
          <a:xfrm>
            <a:off x="2771929" y="2162752"/>
            <a:ext cx="3453289" cy="92518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200" dirty="0" smtClean="0">
                <a:solidFill>
                  <a:srgbClr val="4D4F53"/>
                </a:solidFill>
              </a:rPr>
              <a:t>Une mise à jour sera requise lorsque le développement sera réalis</a:t>
            </a:r>
            <a:r>
              <a:rPr lang="fr-FR" sz="1200" dirty="0">
                <a:solidFill>
                  <a:srgbClr val="4D4F53"/>
                </a:solidFill>
              </a:rPr>
              <a:t>é</a:t>
            </a:r>
            <a:endParaRPr lang="en-US" sz="1200" dirty="0" err="1" smtClean="0">
              <a:solidFill>
                <a:srgbClr val="4D4F53"/>
              </a:solidFill>
            </a:endParaRPr>
          </a:p>
        </p:txBody>
      </p:sp>
    </p:spTree>
    <p:extLst>
      <p:ext uri="{BB962C8B-B14F-4D97-AF65-F5344CB8AC3E}">
        <p14:creationId xmlns:p14="http://schemas.microsoft.com/office/powerpoint/2010/main" val="3071709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p:cNvPicPr>
            <a:picLocks noChangeAspect="1"/>
          </p:cNvPicPr>
          <p:nvPr/>
        </p:nvPicPr>
        <p:blipFill>
          <a:blip r:embed="rId2"/>
          <a:stretch>
            <a:fillRect/>
          </a:stretch>
        </p:blipFill>
        <p:spPr>
          <a:xfrm>
            <a:off x="5171749" y="713397"/>
            <a:ext cx="2105482" cy="2714653"/>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ME9F – Imprimer la commande d’achat (1/2)</a:t>
            </a:r>
            <a:endParaRPr lang="en-US" dirty="0"/>
          </a:p>
        </p:txBody>
      </p:sp>
      <p:grpSp>
        <p:nvGrpSpPr>
          <p:cNvPr id="5" name="Groupe 4"/>
          <p:cNvGrpSpPr/>
          <p:nvPr/>
        </p:nvGrpSpPr>
        <p:grpSpPr>
          <a:xfrm>
            <a:off x="457200" y="1294062"/>
            <a:ext cx="3319055" cy="1954381"/>
            <a:chOff x="425491" y="1232489"/>
            <a:chExt cx="3319055" cy="1954381"/>
          </a:xfrm>
        </p:grpSpPr>
        <p:sp>
          <p:nvSpPr>
            <p:cNvPr id="6" name="ZoneTexte 5"/>
            <p:cNvSpPr txBox="1"/>
            <p:nvPr/>
          </p:nvSpPr>
          <p:spPr>
            <a:xfrm>
              <a:off x="581026" y="1232489"/>
              <a:ext cx="3163520" cy="1954381"/>
            </a:xfrm>
            <a:prstGeom prst="rect">
              <a:avLst/>
            </a:prstGeom>
            <a:noFill/>
          </p:spPr>
          <p:txBody>
            <a:bodyPr wrap="square" rtlCol="0">
              <a:spAutoFit/>
            </a:bodyPr>
            <a:lstStyle/>
            <a:p>
              <a:pPr>
                <a:spcBef>
                  <a:spcPts val="600"/>
                </a:spcBef>
              </a:pPr>
              <a:r>
                <a:rPr lang="fr-FR" sz="1200" dirty="0" smtClean="0">
                  <a:solidFill>
                    <a:srgbClr val="4D4F53"/>
                  </a:solidFill>
                </a:rPr>
                <a:t>Saisir </a:t>
              </a:r>
              <a:r>
                <a:rPr lang="fr-FR" sz="1200" dirty="0">
                  <a:solidFill>
                    <a:srgbClr val="4D4F53"/>
                  </a:solidFill>
                </a:rPr>
                <a:t>le </a:t>
              </a:r>
              <a:r>
                <a:rPr lang="fr-FR" sz="1200" dirty="0" smtClean="0">
                  <a:solidFill>
                    <a:srgbClr val="4D4F53"/>
                  </a:solidFill>
                </a:rPr>
                <a:t>Numéro </a:t>
              </a:r>
              <a:r>
                <a:rPr lang="fr-FR" sz="1200" dirty="0">
                  <a:solidFill>
                    <a:srgbClr val="4D4F53"/>
                  </a:solidFill>
                </a:rPr>
                <a:t>de document </a:t>
              </a:r>
              <a:r>
                <a:rPr lang="fr-FR" sz="1200" dirty="0" smtClean="0">
                  <a:solidFill>
                    <a:srgbClr val="4D4F53"/>
                  </a:solidFill>
                </a:rPr>
                <a:t>à imprimer</a:t>
              </a:r>
            </a:p>
            <a:p>
              <a:pPr>
                <a:spcBef>
                  <a:spcPts val="600"/>
                </a:spcBef>
              </a:pPr>
              <a:r>
                <a:rPr lang="fr-FR" sz="1200" dirty="0" smtClean="0">
                  <a:solidFill>
                    <a:srgbClr val="4D4F53"/>
                  </a:solidFill>
                </a:rPr>
                <a:t>Renseigner le statut </a:t>
              </a:r>
              <a:r>
                <a:rPr lang="fr-FR" sz="1200" dirty="0">
                  <a:solidFill>
                    <a:srgbClr val="4D4F53"/>
                  </a:solidFill>
                </a:rPr>
                <a:t>de traitement = </a:t>
              </a:r>
              <a:r>
                <a:rPr lang="fr-FR" sz="1200" dirty="0" smtClean="0">
                  <a:solidFill>
                    <a:srgbClr val="4D4F53"/>
                  </a:solidFill>
                </a:rPr>
                <a:t>0</a:t>
              </a:r>
            </a:p>
            <a:p>
              <a:pPr>
                <a:spcBef>
                  <a:spcPts val="600"/>
                </a:spcBef>
              </a:pPr>
              <a:r>
                <a:rPr lang="fr-FR" sz="1200" dirty="0" smtClean="0">
                  <a:solidFill>
                    <a:srgbClr val="4D4F53"/>
                  </a:solidFill>
                </a:rPr>
                <a:t>Cliquer « Exécuter »</a:t>
              </a:r>
            </a:p>
            <a:p>
              <a:pPr>
                <a:spcBef>
                  <a:spcPts val="600"/>
                </a:spcBef>
              </a:pPr>
              <a:r>
                <a:rPr lang="fr-FR" sz="1200" dirty="0" smtClean="0">
                  <a:solidFill>
                    <a:srgbClr val="4D4F53"/>
                  </a:solidFill>
                </a:rPr>
                <a:t>Sélectionner </a:t>
              </a:r>
              <a:r>
                <a:rPr lang="fr-FR" sz="1200" dirty="0">
                  <a:solidFill>
                    <a:srgbClr val="4D4F53"/>
                  </a:solidFill>
                </a:rPr>
                <a:t>la ligne du formulaire et cliquer sur </a:t>
              </a:r>
              <a:r>
                <a:rPr lang="fr-FR" sz="1200" dirty="0" smtClean="0">
                  <a:solidFill>
                    <a:srgbClr val="4D4F53"/>
                  </a:solidFill>
                </a:rPr>
                <a:t>imprimer« </a:t>
              </a:r>
            </a:p>
            <a:p>
              <a:pPr>
                <a:spcBef>
                  <a:spcPts val="600"/>
                </a:spcBef>
              </a:pPr>
              <a:r>
                <a:rPr lang="fr-FR" sz="1200" dirty="0" smtClean="0">
                  <a:solidFill>
                    <a:srgbClr val="4D4F53"/>
                  </a:solidFill>
                </a:rPr>
                <a:t>Cliquer sur « afficher message » pour </a:t>
              </a:r>
              <a:r>
                <a:rPr lang="fr-FR" sz="1200" dirty="0" smtClean="0">
                  <a:solidFill>
                    <a:srgbClr val="4D4F53"/>
                  </a:solidFill>
                </a:rPr>
                <a:t>avoir un aperçu avant impression</a:t>
              </a:r>
              <a:endParaRPr lang="fr-FR" sz="1200" dirty="0" smtClean="0">
                <a:solidFill>
                  <a:srgbClr val="4D4F53"/>
                </a:solidFill>
              </a:endParaRPr>
            </a:p>
            <a:p>
              <a:pPr>
                <a:spcBef>
                  <a:spcPts val="600"/>
                </a:spcBef>
              </a:pPr>
              <a:r>
                <a:rPr lang="fr-FR" sz="1200" dirty="0" smtClean="0">
                  <a:solidFill>
                    <a:srgbClr val="4D4F53"/>
                  </a:solidFill>
                </a:rPr>
                <a:t>ou « Editer message » pour </a:t>
              </a:r>
              <a:r>
                <a:rPr lang="fr-FR" sz="1200" dirty="0" smtClean="0">
                  <a:solidFill>
                    <a:srgbClr val="4D4F53"/>
                  </a:solidFill>
                </a:rPr>
                <a:t>imprimer</a:t>
              </a:r>
              <a:endParaRPr lang="fr-FR" sz="1200" dirty="0">
                <a:solidFill>
                  <a:srgbClr val="4D4F53"/>
                </a:solidFill>
              </a:endParaRP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5591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18104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0834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425491" y="2518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sp>
        <p:nvSpPr>
          <p:cNvPr id="32" name="Ellipse 31"/>
          <p:cNvSpPr/>
          <p:nvPr/>
        </p:nvSpPr>
        <p:spPr>
          <a:xfrm>
            <a:off x="7095984" y="12554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3" name="Rectangle 32"/>
          <p:cNvSpPr/>
          <p:nvPr/>
        </p:nvSpPr>
        <p:spPr>
          <a:xfrm>
            <a:off x="6581494" y="1273916"/>
            <a:ext cx="502215"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Ellipse 35"/>
          <p:cNvSpPr/>
          <p:nvPr/>
        </p:nvSpPr>
        <p:spPr>
          <a:xfrm>
            <a:off x="6376512" y="29443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7" name="Rectangle 36"/>
          <p:cNvSpPr/>
          <p:nvPr/>
        </p:nvSpPr>
        <p:spPr>
          <a:xfrm>
            <a:off x="6581494" y="2962836"/>
            <a:ext cx="117855"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Ellipse 23"/>
          <p:cNvSpPr/>
          <p:nvPr/>
        </p:nvSpPr>
        <p:spPr>
          <a:xfrm>
            <a:off x="5005048" y="9121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5" name="Rectangle 24"/>
          <p:cNvSpPr/>
          <p:nvPr/>
        </p:nvSpPr>
        <p:spPr>
          <a:xfrm>
            <a:off x="5222360" y="930565"/>
            <a:ext cx="132270"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6" name="Image 15"/>
          <p:cNvPicPr>
            <a:picLocks noChangeAspect="1"/>
          </p:cNvPicPr>
          <p:nvPr/>
        </p:nvPicPr>
        <p:blipFill>
          <a:blip r:embed="rId3"/>
          <a:stretch>
            <a:fillRect/>
          </a:stretch>
        </p:blipFill>
        <p:spPr>
          <a:xfrm>
            <a:off x="4686325" y="3311084"/>
            <a:ext cx="4358822" cy="1094141"/>
          </a:xfrm>
          <a:prstGeom prst="rect">
            <a:avLst/>
          </a:prstGeom>
          <a:ln>
            <a:solidFill>
              <a:schemeClr val="tx1"/>
            </a:solidFill>
          </a:ln>
          <a:effectLst>
            <a:outerShdw blurRad="50800" dist="38100" dir="2700000" algn="tl" rotWithShape="0">
              <a:prstClr val="black">
                <a:alpha val="40000"/>
              </a:prstClr>
            </a:outerShdw>
          </a:effectLst>
        </p:spPr>
      </p:pic>
      <p:sp>
        <p:nvSpPr>
          <p:cNvPr id="26" name="Ellipse 25"/>
          <p:cNvSpPr/>
          <p:nvPr/>
        </p:nvSpPr>
        <p:spPr>
          <a:xfrm>
            <a:off x="4502452" y="41842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Rectangle 26"/>
          <p:cNvSpPr/>
          <p:nvPr/>
        </p:nvSpPr>
        <p:spPr>
          <a:xfrm>
            <a:off x="4714918" y="4200448"/>
            <a:ext cx="121600" cy="1237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6078743" y="35430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Rectangle 28"/>
          <p:cNvSpPr/>
          <p:nvPr/>
        </p:nvSpPr>
        <p:spPr>
          <a:xfrm>
            <a:off x="6299443" y="3537666"/>
            <a:ext cx="1227424"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976103" y="1893698"/>
            <a:ext cx="145795" cy="152133"/>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777441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srcRect r="6172" b="11069"/>
          <a:stretch/>
        </p:blipFill>
        <p:spPr>
          <a:xfrm>
            <a:off x="4009859" y="1071300"/>
            <a:ext cx="4016542" cy="2476234"/>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SP01 – Imprimer la commande d’achat (2/2)</a:t>
            </a:r>
            <a:endParaRPr lang="en-US" dirty="0"/>
          </a:p>
        </p:txBody>
      </p:sp>
      <p:grpSp>
        <p:nvGrpSpPr>
          <p:cNvPr id="5" name="Groupe 4"/>
          <p:cNvGrpSpPr/>
          <p:nvPr/>
        </p:nvGrpSpPr>
        <p:grpSpPr>
          <a:xfrm>
            <a:off x="457200" y="1675319"/>
            <a:ext cx="3319055" cy="1692771"/>
            <a:chOff x="425491" y="1232489"/>
            <a:chExt cx="3319055" cy="1692771"/>
          </a:xfrm>
        </p:grpSpPr>
        <p:sp>
          <p:nvSpPr>
            <p:cNvPr id="6" name="ZoneTexte 5"/>
            <p:cNvSpPr txBox="1"/>
            <p:nvPr/>
          </p:nvSpPr>
          <p:spPr>
            <a:xfrm>
              <a:off x="581026" y="1232489"/>
              <a:ext cx="3163520" cy="1692771"/>
            </a:xfrm>
            <a:prstGeom prst="rect">
              <a:avLst/>
            </a:prstGeom>
            <a:noFill/>
          </p:spPr>
          <p:txBody>
            <a:bodyPr wrap="square" rtlCol="0">
              <a:spAutoFit/>
            </a:bodyPr>
            <a:lstStyle/>
            <a:p>
              <a:pPr>
                <a:spcBef>
                  <a:spcPts val="600"/>
                </a:spcBef>
              </a:pPr>
              <a:r>
                <a:rPr lang="fr-FR" sz="1200" dirty="0" smtClean="0">
                  <a:solidFill>
                    <a:srgbClr val="4D4F53"/>
                  </a:solidFill>
                </a:rPr>
                <a:t>En cas de sélection « Editer message » à l’étape précédente, il est </a:t>
              </a:r>
              <a:r>
                <a:rPr lang="fr-FR" sz="1200" dirty="0" smtClean="0">
                  <a:solidFill>
                    <a:srgbClr val="4D4F53"/>
                  </a:solidFill>
                </a:rPr>
                <a:t>possible d’imprimer </a:t>
              </a:r>
              <a:r>
                <a:rPr lang="fr-FR" sz="1200" dirty="0" smtClean="0">
                  <a:solidFill>
                    <a:srgbClr val="4D4F53"/>
                  </a:solidFill>
                </a:rPr>
                <a:t>la commande à partir du « Spool » SAP</a:t>
              </a:r>
            </a:p>
            <a:p>
              <a:pPr>
                <a:spcBef>
                  <a:spcPts val="600"/>
                </a:spcBef>
              </a:pPr>
              <a:r>
                <a:rPr lang="fr-FR" sz="1200" dirty="0" smtClean="0">
                  <a:solidFill>
                    <a:srgbClr val="4D4F53"/>
                  </a:solidFill>
                </a:rPr>
                <a:t>Sélectionner l’impression (par date et heure)</a:t>
              </a:r>
            </a:p>
            <a:p>
              <a:pPr>
                <a:spcBef>
                  <a:spcPts val="600"/>
                </a:spcBef>
              </a:pPr>
              <a:r>
                <a:rPr lang="fr-FR" sz="1200" dirty="0" smtClean="0">
                  <a:solidFill>
                    <a:srgbClr val="4D4F53"/>
                  </a:solidFill>
                </a:rPr>
                <a:t>Cliquer sur imprimer</a:t>
              </a:r>
            </a:p>
            <a:p>
              <a:pPr>
                <a:spcBef>
                  <a:spcPts val="600"/>
                </a:spcBef>
              </a:pPr>
              <a:r>
                <a:rPr lang="fr-FR" sz="1200" dirty="0" smtClean="0">
                  <a:solidFill>
                    <a:srgbClr val="4D4F53"/>
                  </a:solidFill>
                </a:rPr>
                <a:t>Sélectionner l’imprimante</a:t>
              </a:r>
            </a:p>
            <a:p>
              <a:pPr>
                <a:spcBef>
                  <a:spcPts val="600"/>
                </a:spcBef>
              </a:pPr>
              <a:r>
                <a:rPr lang="fr-FR" sz="1200" dirty="0" smtClean="0">
                  <a:solidFill>
                    <a:srgbClr val="4D4F53"/>
                  </a:solidFill>
                </a:rPr>
                <a:t>Cliquer sur « OK »</a:t>
              </a:r>
            </a:p>
          </p:txBody>
        </p:sp>
        <p:sp>
          <p:nvSpPr>
            <p:cNvPr id="8" name="Ellipse 7"/>
            <p:cNvSpPr/>
            <p:nvPr/>
          </p:nvSpPr>
          <p:spPr>
            <a:xfrm>
              <a:off x="425491" y="188773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21598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4110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68402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sp>
        <p:nvSpPr>
          <p:cNvPr id="32" name="Ellipse 31"/>
          <p:cNvSpPr/>
          <p:nvPr/>
        </p:nvSpPr>
        <p:spPr>
          <a:xfrm>
            <a:off x="3931790" y="22408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3" name="Rectangle 32"/>
          <p:cNvSpPr/>
          <p:nvPr/>
        </p:nvSpPr>
        <p:spPr>
          <a:xfrm>
            <a:off x="4106263" y="2318178"/>
            <a:ext cx="3454465" cy="1361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Ellipse 35"/>
          <p:cNvSpPr/>
          <p:nvPr/>
        </p:nvSpPr>
        <p:spPr>
          <a:xfrm>
            <a:off x="4415525" y="16258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7" name="Rectangle 36"/>
          <p:cNvSpPr/>
          <p:nvPr/>
        </p:nvSpPr>
        <p:spPr>
          <a:xfrm>
            <a:off x="4302968" y="1773332"/>
            <a:ext cx="156866" cy="16948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9" name="Image 18"/>
          <p:cNvPicPr>
            <a:picLocks noChangeAspect="1"/>
          </p:cNvPicPr>
          <p:nvPr/>
        </p:nvPicPr>
        <p:blipFill>
          <a:blip r:embed="rId3"/>
          <a:stretch>
            <a:fillRect/>
          </a:stretch>
        </p:blipFill>
        <p:spPr>
          <a:xfrm>
            <a:off x="6358766" y="3167502"/>
            <a:ext cx="2403924" cy="1510785"/>
          </a:xfrm>
          <a:prstGeom prst="rect">
            <a:avLst/>
          </a:prstGeom>
          <a:ln>
            <a:solidFill>
              <a:schemeClr val="tx1"/>
            </a:solidFill>
          </a:ln>
          <a:effectLst>
            <a:outerShdw blurRad="50800" dist="38100" dir="2700000" algn="tl" rotWithShape="0">
              <a:prstClr val="black">
                <a:alpha val="40000"/>
              </a:prstClr>
            </a:outerShdw>
          </a:effectLst>
        </p:spPr>
      </p:pic>
      <p:sp>
        <p:nvSpPr>
          <p:cNvPr id="41" name="Ellipse 40"/>
          <p:cNvSpPr/>
          <p:nvPr/>
        </p:nvSpPr>
        <p:spPr>
          <a:xfrm>
            <a:off x="7404592" y="32352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endParaRPr lang="fr-FR" sz="900" b="1" dirty="0" smtClean="0">
              <a:solidFill>
                <a:schemeClr val="bg1"/>
              </a:solidFill>
            </a:endParaRPr>
          </a:p>
        </p:txBody>
      </p:sp>
      <p:sp>
        <p:nvSpPr>
          <p:cNvPr id="42" name="Rectangle 41"/>
          <p:cNvSpPr/>
          <p:nvPr/>
        </p:nvSpPr>
        <p:spPr>
          <a:xfrm>
            <a:off x="6842967" y="3382765"/>
            <a:ext cx="556899" cy="17244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3" name="Ellipse 42"/>
          <p:cNvSpPr/>
          <p:nvPr/>
        </p:nvSpPr>
        <p:spPr>
          <a:xfrm>
            <a:off x="8334977" y="43276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endParaRPr lang="fr-FR" sz="900" b="1" dirty="0" smtClean="0">
              <a:solidFill>
                <a:schemeClr val="bg1"/>
              </a:solidFill>
            </a:endParaRPr>
          </a:p>
        </p:txBody>
      </p:sp>
      <p:sp>
        <p:nvSpPr>
          <p:cNvPr id="44" name="Rectangle 43"/>
          <p:cNvSpPr/>
          <p:nvPr/>
        </p:nvSpPr>
        <p:spPr>
          <a:xfrm>
            <a:off x="7941733" y="4475174"/>
            <a:ext cx="388518" cy="10529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42778984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74803" y="205978"/>
            <a:ext cx="3557833" cy="523220"/>
          </a:xfrm>
          <a:prstGeom prst="rect">
            <a:avLst/>
          </a:prstGeom>
          <a:noFill/>
        </p:spPr>
        <p:txBody>
          <a:bodyPr wrap="square" rtlCol="0">
            <a:spAutoFit/>
          </a:bodyPr>
          <a:lstStyle/>
          <a:p>
            <a:pPr algn="ctr"/>
            <a:r>
              <a:rPr lang="en-US" sz="2800" b="1" dirty="0" err="1">
                <a:solidFill>
                  <a:srgbClr val="4F81BD"/>
                </a:solidFill>
              </a:rPr>
              <a:t>Exercice</a:t>
            </a:r>
            <a:r>
              <a:rPr lang="en-US" sz="2800" b="1" dirty="0">
                <a:solidFill>
                  <a:srgbClr val="4F81BD"/>
                </a:solidFill>
              </a:rPr>
              <a:t> </a:t>
            </a:r>
            <a:r>
              <a:rPr lang="en-US" sz="2800" b="1" dirty="0" err="1" smtClean="0">
                <a:solidFill>
                  <a:srgbClr val="4F81BD"/>
                </a:solidFill>
              </a:rPr>
              <a:t>en</a:t>
            </a:r>
            <a:r>
              <a:rPr lang="en-US" sz="2800" b="1" dirty="0" smtClean="0">
                <a:solidFill>
                  <a:srgbClr val="4F81BD"/>
                </a:solidFill>
              </a:rPr>
              <a:t> </a:t>
            </a:r>
            <a:r>
              <a:rPr lang="en-US" sz="2800" b="1" dirty="0" err="1" smtClean="0">
                <a:solidFill>
                  <a:srgbClr val="4F81BD"/>
                </a:solidFill>
              </a:rPr>
              <a:t>autonomie</a:t>
            </a:r>
            <a:endParaRPr lang="en-US" sz="2800" b="1" dirty="0">
              <a:solidFill>
                <a:srgbClr val="4F81BD"/>
              </a:solidFill>
            </a:endParaRPr>
          </a:p>
        </p:txBody>
      </p:sp>
      <p:pic>
        <p:nvPicPr>
          <p:cNvPr id="35841" name="Image 358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92083" y="2749116"/>
            <a:ext cx="1719245" cy="1719245"/>
          </a:xfrm>
          <a:prstGeom prst="rect">
            <a:avLst/>
          </a:prstGeom>
        </p:spPr>
      </p:pic>
      <p:grpSp>
        <p:nvGrpSpPr>
          <p:cNvPr id="35844" name="Groupe 35843"/>
          <p:cNvGrpSpPr/>
          <p:nvPr/>
        </p:nvGrpSpPr>
        <p:grpSpPr>
          <a:xfrm>
            <a:off x="5174456" y="205978"/>
            <a:ext cx="3680275" cy="4299347"/>
            <a:chOff x="5174456" y="205978"/>
            <a:chExt cx="3680275" cy="4299347"/>
          </a:xfrm>
        </p:grpSpPr>
        <p:grpSp>
          <p:nvGrpSpPr>
            <p:cNvPr id="2" name="Groupe 1"/>
            <p:cNvGrpSpPr/>
            <p:nvPr/>
          </p:nvGrpSpPr>
          <p:grpSpPr>
            <a:xfrm>
              <a:off x="5174456" y="205978"/>
              <a:ext cx="3680275" cy="4299347"/>
              <a:chOff x="3707606" y="205978"/>
              <a:chExt cx="4105275" cy="4795838"/>
            </a:xfrm>
          </p:grpSpPr>
          <p:sp>
            <p:nvSpPr>
              <p:cNvPr id="6" name="Rectangle 5"/>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8" name="Connecteur droit 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Connecteur droit 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Connecteur droit 1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9" name="Connecteur droit 1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Connecteur droit 2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Connecteur droit 2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Connecteur droit 2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Connecteur droit 2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Connecteur droit 2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Connecteur droit 31"/>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Connecteur droit 32"/>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46" name="Image 45"/>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4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
        <p:nvSpPr>
          <p:cNvPr id="31" name="Text Box 3"/>
          <p:cNvSpPr txBox="1">
            <a:spLocks noChangeArrowheads="1"/>
          </p:cNvSpPr>
          <p:nvPr/>
        </p:nvSpPr>
        <p:spPr bwMode="auto">
          <a:xfrm>
            <a:off x="954960" y="1043860"/>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et imprimer une commande d’achat local</a:t>
            </a:r>
          </a:p>
        </p:txBody>
      </p:sp>
    </p:spTree>
    <p:extLst>
      <p:ext uri="{BB962C8B-B14F-4D97-AF65-F5344CB8AC3E}">
        <p14:creationId xmlns:p14="http://schemas.microsoft.com/office/powerpoint/2010/main" val="15633091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a:latin typeface="Arial" panose="020B0604020202020204" pitchFamily="34" charset="0"/>
                <a:ea typeface="ＭＳ Ｐゴシック" panose="020B0600070205080204" pitchFamily="34" charset="-128"/>
                <a:cs typeface="Arial" panose="020B0604020202020204" pitchFamily="34" charset="0"/>
              </a:rPr>
              <a:t>Le processus de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gestion des commandes d’achats locales s’inscrit </a:t>
            </a:r>
            <a:r>
              <a:rPr lang="fr-FR" sz="1400" dirty="0">
                <a:latin typeface="Arial" panose="020B0604020202020204" pitchFamily="34" charset="0"/>
                <a:ea typeface="ＭＳ Ｐゴシック" panose="020B0600070205080204" pitchFamily="34" charset="-128"/>
                <a:cs typeface="Arial" panose="020B0604020202020204" pitchFamily="34" charset="0"/>
              </a:rPr>
              <a:t>dans le processus d’Achats Indirects</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Un achat local se traduit dans le système par une commande d’achat locale,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géré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par le bureau d’achats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local.</a:t>
            </a: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VHEKTECQ7ECW-1532981086-4392</_dlc_DocId>
    <_dlc_DocIdUrl xmlns="f36dd47d-0b23-43fd-9b2d-c5346ffa1660">
      <Url>http://projets.cbg-guinee.com/erp/_layouts/15/DocIdRedir.aspx?ID=VHEKTECQ7ECW-1532981086-4392</Url>
      <Description>VHEKTECQ7ECW-1532981086-4392</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CE17E7-41FF-4304-B809-60115B66EFAF}"/>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1994BC80-B296-4137-B867-D84945ED72B2}"/>
</file>

<file path=docProps/app.xml><?xml version="1.0" encoding="utf-8"?>
<Properties xmlns="http://schemas.openxmlformats.org/officeDocument/2006/extended-properties" xmlns:vt="http://schemas.openxmlformats.org/officeDocument/2006/docPropsVTypes">
  <Template/>
  <TotalTime>0</TotalTime>
  <Words>548</Words>
  <Application>Microsoft Office PowerPoint</Application>
  <PresentationFormat>Affichage à l'écran (16:9)</PresentationFormat>
  <Paragraphs>163</Paragraphs>
  <Slides>19</Slides>
  <Notes>7</Notes>
  <HiddenSlides>1</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Gestion des Commandes d’Achat</vt:lpstr>
      <vt:lpstr>Description du processus métier Un sous processus de la gestion des demandes d’achat</vt:lpstr>
      <vt:lpstr>Le processus d’achats indirects local</vt:lpstr>
      <vt:lpstr>Présentation PowerPoint</vt:lpstr>
      <vt:lpstr>Mode opératoire Présentation du mode opératoire dans SAP</vt:lpstr>
      <vt:lpstr>Description des objets SAP</vt:lpstr>
      <vt:lpstr>Mode opératoire ME21N – Créer la commande d’achat</vt:lpstr>
      <vt:lpstr>Mode opératoire ME28 – valider la commande d’achats</vt:lpstr>
      <vt:lpstr>Mode opératoire ME9F – Imprimer la commande d’achat (1/2)</vt:lpstr>
      <vt:lpstr>Mode opératoire SP01 – Imprimer la commande d’achat (2/2)</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3768</cp:revision>
  <cp:lastPrinted>2015-12-09T17:39:16Z</cp:lastPrinted>
  <dcterms:created xsi:type="dcterms:W3CDTF">2012-05-17T14:14:37Z</dcterms:created>
  <dcterms:modified xsi:type="dcterms:W3CDTF">2015-12-21T14:45:55Z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e6d91e2f-ef94-41d1-9e4a-d3296d46303f</vt:lpwstr>
  </property>
</Properties>
</file>