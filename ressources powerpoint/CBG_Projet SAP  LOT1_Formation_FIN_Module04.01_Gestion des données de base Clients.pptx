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8.xml" ContentType="application/vnd.openxmlformats-officedocument.presentationml.slide+xml"/>
  <Override PartName="/ppt/slides/slide19.xml" ContentType="application/vnd.openxmlformats-officedocument.presentationml.slide+xml"/>
  <Override PartName="/ppt/presentation.xml" ContentType="application/vnd.openxmlformats-officedocument.presentationml.presentation.main+xml"/>
  <Override PartName="/ppt/slides/slide17.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16.xml" ContentType="application/vnd.openxmlformats-officedocument.presentationml.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2.xml" ContentType="application/vnd.openxmlformats-officedocument.customXmlProperti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4"/>
  </p:notesMasterIdLst>
  <p:handoutMasterIdLst>
    <p:handoutMasterId r:id="rId25"/>
  </p:handoutMasterIdLst>
  <p:sldIdLst>
    <p:sldId id="685" r:id="rId5"/>
    <p:sldId id="686" r:id="rId6"/>
    <p:sldId id="687" r:id="rId7"/>
    <p:sldId id="688" r:id="rId8"/>
    <p:sldId id="723" r:id="rId9"/>
    <p:sldId id="724" r:id="rId10"/>
    <p:sldId id="816" r:id="rId11"/>
    <p:sldId id="811" r:id="rId12"/>
    <p:sldId id="818" r:id="rId13"/>
    <p:sldId id="819" r:id="rId14"/>
    <p:sldId id="820" r:id="rId15"/>
    <p:sldId id="821" r:id="rId16"/>
    <p:sldId id="817" r:id="rId17"/>
    <p:sldId id="812" r:id="rId18"/>
    <p:sldId id="822" r:id="rId19"/>
    <p:sldId id="699" r:id="rId20"/>
    <p:sldId id="725" r:id="rId21"/>
    <p:sldId id="710" r:id="rId22"/>
    <p:sldId id="728" r:id="rId23"/>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2" autoAdjust="0"/>
    <p:restoredTop sz="95565" autoAdjust="0"/>
  </p:normalViewPr>
  <p:slideViewPr>
    <p:cSldViewPr snapToGrid="0" snapToObjects="1">
      <p:cViewPr varScale="1">
        <p:scale>
          <a:sx n="100" d="100"/>
          <a:sy n="100" d="100"/>
        </p:scale>
        <p:origin x="438" y="84"/>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openxmlformats.org/officeDocument/2006/relationships/customXml" Target="../customXml/item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1/20/2016</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20.01.2016</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6</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16</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17</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20/01/2016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28.png"/><Relationship Id="rId11" Type="http://schemas.openxmlformats.org/officeDocument/2006/relationships/image" Target="../media/image32.png"/><Relationship Id="rId5" Type="http://schemas.openxmlformats.org/officeDocument/2006/relationships/image" Target="../media/image9.png"/><Relationship Id="rId10" Type="http://schemas.openxmlformats.org/officeDocument/2006/relationships/image" Target="../media/image31.png"/><Relationship Id="rId4" Type="http://schemas.openxmlformats.org/officeDocument/2006/relationships/image" Target="../media/image27.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04.01</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Gestion des données de base comptes clients</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a:t>
            </a:r>
            <a:r>
              <a:rPr lang="fr-FR" altLang="en-US" sz="1800" dirty="0" smtClean="0">
                <a:solidFill>
                  <a:schemeClr val="tx1"/>
                </a:solidFill>
                <a:latin typeface="Arial" charset="0"/>
              </a:rPr>
              <a:t>21.01.2016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55716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gérer les données finances dans les fiches clients</a:t>
            </a:r>
          </a:p>
          <a:p>
            <a:pPr marL="67866" indent="-67866" eaLnBrk="0" hangingPunct="0">
              <a:spcBef>
                <a:spcPts val="225"/>
              </a:spcBef>
              <a:buClr>
                <a:srgbClr val="4F81BD"/>
              </a:buClr>
              <a:buFont typeface="Arial" charset="0"/>
              <a:buChar char="•"/>
              <a:defRPr/>
            </a:pPr>
            <a:endParaRPr lang="fr-FR" sz="900" dirty="0">
              <a:solidFill>
                <a:schemeClr val="tx1"/>
              </a:solidFill>
              <a:latin typeface="Arial" pitchFamily="34" charset="0"/>
              <a:cs typeface="Arial" pitchFamily="34" charset="0"/>
            </a:endParaRPr>
          </a:p>
        </p:txBody>
      </p:sp>
      <p:sp>
        <p:nvSpPr>
          <p:cNvPr id="7" name="Rectangle 6"/>
          <p:cNvSpPr/>
          <p:nvPr/>
        </p:nvSpPr>
        <p:spPr>
          <a:xfrm>
            <a:off x="1791844" y="3407285"/>
            <a:ext cx="4589859" cy="81386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Créer la vue finance de la fiche client</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Modifier la fiche client</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la ficher client</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Bloquer la fiche client</a:t>
            </a: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791844" y="3137375"/>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clients</a:t>
              </a:r>
            </a:p>
            <a:p>
              <a:pPr eaLnBrk="0" hangingPunct="0">
                <a:spcBef>
                  <a:spcPts val="225"/>
                </a:spcBef>
                <a:buClr>
                  <a:srgbClr val="4F81BD"/>
                </a:buClr>
                <a:defRPr/>
              </a:pPr>
              <a:r>
                <a:rPr lang="fr-FR" sz="900" dirty="0" smtClean="0">
                  <a:solidFill>
                    <a:schemeClr val="tx1"/>
                  </a:solidFill>
                  <a:latin typeface="Arial" pitchFamily="34" charset="0"/>
                  <a:cs typeface="Arial" pitchFamily="34" charset="0"/>
                </a:rPr>
                <a:t>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2937443542"/>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8h20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15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8h20 – 9h30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20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50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9h30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du processus (Processus décrit dans le doc VEN01)  </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6</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7</a:t>
            </a:fld>
            <a:endParaRPr lang="fr-FR" altLang="en-US">
              <a:solidFill>
                <a:srgbClr val="4D4F53"/>
              </a:solidFill>
            </a:endParaRPr>
          </a:p>
        </p:txBody>
      </p:sp>
      <p:grpSp>
        <p:nvGrpSpPr>
          <p:cNvPr id="49" name="Groupe 48"/>
          <p:cNvGrpSpPr/>
          <p:nvPr/>
        </p:nvGrpSpPr>
        <p:grpSpPr>
          <a:xfrm>
            <a:off x="814126" y="2175754"/>
            <a:ext cx="1421605"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Créer un compte client</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FD01</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Comptable Clients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2565267" y="2160586"/>
            <a:ext cx="1296000"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Modifier un compte client</a:t>
              </a:r>
              <a:endParaRPr lang="en-US" sz="800" dirty="0">
                <a:solidFill>
                  <a:prstClr val="white"/>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FD02</a:t>
              </a:r>
              <a:endParaRPr lang="en-US" sz="800" b="1" dirty="0">
                <a:solidFill>
                  <a:prstClr val="white"/>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a:t>
              </a:r>
              <a:r>
                <a:rPr lang="fr-FR" sz="800" dirty="0" smtClean="0">
                  <a:solidFill>
                    <a:srgbClr val="4D4F53">
                      <a:lumMod val="50000"/>
                    </a:srgbClr>
                  </a:solidFill>
                  <a:latin typeface="Arial" panose="020B0604020202020204" pitchFamily="34" charset="0"/>
                  <a:cs typeface="Arial" panose="020B0604020202020204" pitchFamily="34" charset="0"/>
                </a:rPr>
                <a:t>Clients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4122846" y="2165706"/>
            <a:ext cx="1296000" cy="754857"/>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Afficher un compte client</a:t>
              </a:r>
              <a:endParaRPr lang="en-US" sz="800" dirty="0">
                <a:solidFill>
                  <a:prstClr val="white"/>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FD03</a:t>
              </a:r>
              <a:endParaRPr lang="en-US" sz="800" b="1" dirty="0">
                <a:solidFill>
                  <a:prstClr val="white"/>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a:t>
              </a:r>
              <a:r>
                <a:rPr lang="fr-FR" sz="800" dirty="0" smtClean="0">
                  <a:solidFill>
                    <a:srgbClr val="4D4F53">
                      <a:lumMod val="50000"/>
                    </a:srgbClr>
                  </a:solidFill>
                  <a:latin typeface="Arial" panose="020B0604020202020204" pitchFamily="34" charset="0"/>
                  <a:cs typeface="Arial" panose="020B0604020202020204" pitchFamily="34" charset="0"/>
                </a:rPr>
                <a:t>Clients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58" name="Groupe 57"/>
          <p:cNvGrpSpPr/>
          <p:nvPr/>
        </p:nvGrpSpPr>
        <p:grpSpPr>
          <a:xfrm>
            <a:off x="5680425" y="2160586"/>
            <a:ext cx="1625536" cy="754857"/>
            <a:chOff x="1507778" y="2276353"/>
            <a:chExt cx="1258269" cy="754857"/>
          </a:xfrm>
        </p:grpSpPr>
        <p:sp>
          <p:nvSpPr>
            <p:cNvPr id="59" name="Rectangle 58"/>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Bloquer un compte client</a:t>
              </a:r>
              <a:endParaRPr lang="en-US" sz="800" dirty="0">
                <a:solidFill>
                  <a:prstClr val="white"/>
                </a:solidFill>
                <a:latin typeface="Arial" pitchFamily="34" charset="0"/>
                <a:cs typeface="Arial" pitchFamily="34" charset="0"/>
              </a:endParaRPr>
            </a:p>
          </p:txBody>
        </p:sp>
        <p:sp>
          <p:nvSpPr>
            <p:cNvPr id="60" name="Rectangle 5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FD05</a:t>
              </a:r>
              <a:endParaRPr lang="en-US" sz="800" b="1" dirty="0">
                <a:solidFill>
                  <a:prstClr val="white"/>
                </a:solidFill>
                <a:latin typeface="Arial" panose="020B0604020202020204" pitchFamily="34" charset="0"/>
                <a:cs typeface="Arial" panose="020B0604020202020204" pitchFamily="34" charset="0"/>
              </a:endParaRPr>
            </a:p>
          </p:txBody>
        </p:sp>
        <p:sp>
          <p:nvSpPr>
            <p:cNvPr id="61" name="Rectangle 60"/>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 Comptable Clients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pic>
        <p:nvPicPr>
          <p:cNvPr id="2" name="Image 1"/>
          <p:cNvPicPr>
            <a:picLocks noChangeAspect="1"/>
          </p:cNvPicPr>
          <p:nvPr/>
        </p:nvPicPr>
        <p:blipFill>
          <a:blip r:embed="rId2"/>
          <a:stretch>
            <a:fillRect/>
          </a:stretch>
        </p:blipFill>
        <p:spPr>
          <a:xfrm>
            <a:off x="327067" y="3302957"/>
            <a:ext cx="1170533" cy="1249788"/>
          </a:xfrm>
          <a:prstGeom prst="rect">
            <a:avLst/>
          </a:prstGeom>
        </p:spPr>
      </p:pic>
    </p:spTree>
    <p:extLst>
      <p:ext uri="{BB962C8B-B14F-4D97-AF65-F5344CB8AC3E}">
        <p14:creationId xmlns:p14="http://schemas.microsoft.com/office/powerpoint/2010/main" val="35851447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39639"/>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clients : créer un compte client </a:t>
            </a:r>
            <a:r>
              <a:rPr lang="fr-FR" altLang="en-US" sz="2700" dirty="0">
                <a:cs typeface="Arial" panose="020B0604020202020204" pitchFamily="34" charset="0"/>
              </a:rPr>
              <a:t>1</a:t>
            </a:r>
            <a:r>
              <a:rPr lang="fr-FR" altLang="en-US" sz="2700" dirty="0" smtClean="0">
                <a:cs typeface="Arial" panose="020B0604020202020204" pitchFamily="34" charset="0"/>
              </a:rPr>
              <a:t>/3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Clients / Données de base / FD01 - Créer</a:t>
            </a:r>
          </a:p>
          <a:p>
            <a:r>
              <a:rPr lang="fr-FR" dirty="0">
                <a:cs typeface="Arial" panose="020B0604020202020204" pitchFamily="34" charset="0"/>
              </a:rPr>
              <a:t>Une fois la demande de création validée, le </a:t>
            </a:r>
            <a:r>
              <a:rPr lang="fr-FR" dirty="0" smtClean="0">
                <a:cs typeface="Arial" panose="020B0604020202020204" pitchFamily="34" charset="0"/>
              </a:rPr>
              <a:t>comptable client chargé de la création procède </a:t>
            </a:r>
            <a:r>
              <a:rPr lang="fr-FR" dirty="0">
                <a:cs typeface="Arial" panose="020B0604020202020204" pitchFamily="34" charset="0"/>
              </a:rPr>
              <a:t>à la création de la vue finance du compte </a:t>
            </a:r>
            <a:r>
              <a:rPr lang="fr-FR" dirty="0" smtClean="0">
                <a:cs typeface="Arial" panose="020B0604020202020204" pitchFamily="34" charset="0"/>
              </a:rPr>
              <a:t>client. </a:t>
            </a:r>
            <a:r>
              <a:rPr lang="fr-FR" dirty="0">
                <a:cs typeface="Arial" panose="020B0604020202020204" pitchFamily="34" charset="0"/>
              </a:rPr>
              <a:t>Lancer la transaction </a:t>
            </a:r>
            <a:r>
              <a:rPr lang="fr-FR" dirty="0" smtClean="0">
                <a:cs typeface="Arial" panose="020B0604020202020204" pitchFamily="34" charset="0"/>
              </a:rPr>
              <a:t>FD01 				Choisir un groupe de comptes. Dans le cas de la CBG, il existe les groupes de</a:t>
            </a:r>
          </a:p>
          <a:p>
            <a:r>
              <a:rPr lang="fr-FR" dirty="0" smtClean="0">
                <a:cs typeface="Arial" panose="020B0604020202020204" pitchFamily="34" charset="0"/>
              </a:rPr>
              <a:t>									comptes suivants : </a:t>
            </a:r>
          </a:p>
          <a:p>
            <a:r>
              <a:rPr lang="fr-FR" dirty="0">
                <a:cs typeface="Arial" panose="020B0604020202020204" pitchFamily="34" charset="0"/>
              </a:rPr>
              <a:t>	</a:t>
            </a:r>
            <a:r>
              <a:rPr lang="fr-FR" dirty="0" smtClean="0">
                <a:cs typeface="Arial" panose="020B0604020202020204" pitchFamily="34" charset="0"/>
              </a:rPr>
              <a:t>									- </a:t>
            </a:r>
            <a:r>
              <a:rPr lang="fr-FR" dirty="0" smtClean="0"/>
              <a:t>Z001 </a:t>
            </a:r>
            <a:r>
              <a:rPr lang="fr-FR" dirty="0"/>
              <a:t>pour les clients </a:t>
            </a:r>
            <a:r>
              <a:rPr lang="fr-FR" dirty="0" smtClean="0"/>
              <a:t>bauxite</a:t>
            </a:r>
          </a:p>
          <a:p>
            <a:r>
              <a:rPr lang="fr-FR" dirty="0"/>
              <a:t>	</a:t>
            </a:r>
            <a:r>
              <a:rPr lang="fr-FR" dirty="0" smtClean="0"/>
              <a:t>									- </a:t>
            </a:r>
            <a:r>
              <a:rPr lang="fr-FR" dirty="0"/>
              <a:t>Z002 pour les clients employés</a:t>
            </a:r>
          </a:p>
          <a:p>
            <a:r>
              <a:rPr lang="fr-FR" dirty="0" smtClean="0"/>
              <a:t>										- </a:t>
            </a:r>
            <a:r>
              <a:rPr lang="fr-FR" dirty="0"/>
              <a:t>Z003 pour les clients </a:t>
            </a:r>
            <a:r>
              <a:rPr lang="fr-FR" dirty="0" smtClean="0"/>
              <a:t>tiers</a:t>
            </a:r>
          </a:p>
          <a:p>
            <a:r>
              <a:rPr lang="fr-FR" dirty="0"/>
              <a:t>	</a:t>
            </a:r>
            <a:r>
              <a:rPr lang="fr-FR" dirty="0" smtClean="0"/>
              <a:t>									- </a:t>
            </a:r>
            <a:r>
              <a:rPr lang="fr-FR" dirty="0"/>
              <a:t>Z004 pour les clients </a:t>
            </a:r>
            <a:r>
              <a:rPr lang="fr-FR" dirty="0" smtClean="0"/>
              <a:t>ANAIM</a:t>
            </a:r>
          </a:p>
          <a:p>
            <a:r>
              <a:rPr lang="fr-FR" dirty="0"/>
              <a:t>	</a:t>
            </a:r>
            <a:r>
              <a:rPr lang="fr-FR" dirty="0" smtClean="0"/>
              <a:t>									! On peut aussi créer un client par modèle et dans ce cas, le nouveau</a:t>
            </a:r>
          </a:p>
          <a:p>
            <a:r>
              <a:rPr lang="fr-FR" dirty="0"/>
              <a:t>	</a:t>
            </a:r>
            <a:r>
              <a:rPr lang="fr-FR" dirty="0" smtClean="0"/>
              <a:t>									client hérite les données du modèle.  	 </a:t>
            </a:r>
          </a:p>
          <a:p>
            <a:endParaRPr lang="fr-FR" dirty="0"/>
          </a:p>
          <a:p>
            <a:endParaRPr lang="fr-FR" dirty="0" smtClean="0"/>
          </a:p>
          <a:p>
            <a:r>
              <a:rPr lang="fr-FR" dirty="0"/>
              <a:t>	</a:t>
            </a:r>
            <a:r>
              <a:rPr lang="fr-FR" dirty="0" smtClean="0"/>
              <a:t>									</a:t>
            </a:r>
            <a:endParaRPr lang="fr-FR" dirty="0"/>
          </a:p>
          <a:p>
            <a:endParaRPr lang="fr-FR" dirty="0" smtClean="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8</a:t>
            </a:fld>
            <a:endParaRPr lang="fr-FR" altLang="en-US" sz="750">
              <a:solidFill>
                <a:srgbClr val="000000"/>
              </a:solidFill>
            </a:endParaRPr>
          </a:p>
        </p:txBody>
      </p:sp>
      <p:pic>
        <p:nvPicPr>
          <p:cNvPr id="18" name="Image 17"/>
          <p:cNvPicPr>
            <a:picLocks noChangeAspect="1"/>
          </p:cNvPicPr>
          <p:nvPr/>
        </p:nvPicPr>
        <p:blipFill>
          <a:blip r:embed="rId2"/>
          <a:stretch>
            <a:fillRect/>
          </a:stretch>
        </p:blipFill>
        <p:spPr>
          <a:xfrm>
            <a:off x="573578" y="1875296"/>
            <a:ext cx="3198544" cy="1991531"/>
          </a:xfrm>
          <a:prstGeom prst="rect">
            <a:avLst/>
          </a:prstGeom>
        </p:spPr>
      </p:pic>
    </p:spTree>
    <p:extLst>
      <p:ext uri="{BB962C8B-B14F-4D97-AF65-F5344CB8AC3E}">
        <p14:creationId xmlns:p14="http://schemas.microsoft.com/office/powerpoint/2010/main" val="32841791"/>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39639"/>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clients : créer un compte client 2/3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t>Créer la vue finance de la fiche client revient à mettre à jour les données suivantes dans la fiche : </a:t>
            </a:r>
          </a:p>
          <a:p>
            <a:r>
              <a:rPr lang="fr-FR" dirty="0" smtClean="0"/>
              <a:t>Dans les données générales : 				Renseigner les coordonnées bancaires </a:t>
            </a:r>
          </a:p>
          <a:p>
            <a:r>
              <a:rPr lang="fr-FR" dirty="0"/>
              <a:t>	</a:t>
            </a:r>
            <a:r>
              <a:rPr lang="fr-FR" dirty="0" smtClean="0"/>
              <a:t>							Renseigner le compte collectif</a:t>
            </a:r>
          </a:p>
          <a:p>
            <a:r>
              <a:rPr lang="fr-FR" dirty="0"/>
              <a:t>	</a:t>
            </a:r>
            <a:r>
              <a:rPr lang="fr-FR" dirty="0" smtClean="0"/>
              <a:t>							Renseigner le matricule (le remplissage de ce champ dépend du </a:t>
            </a:r>
            <a:r>
              <a:rPr lang="fr-FR" dirty="0" err="1" smtClean="0"/>
              <a:t>grpe</a:t>
            </a:r>
            <a:r>
              <a:rPr lang="fr-FR" dirty="0" smtClean="0"/>
              <a:t> de compte)</a:t>
            </a:r>
          </a:p>
          <a:p>
            <a:endParaRPr lang="fr-FR" dirty="0" smtClean="0"/>
          </a:p>
          <a:p>
            <a:r>
              <a:rPr lang="fr-FR" dirty="0" smtClean="0"/>
              <a:t>								 </a:t>
            </a:r>
            <a:endParaRPr lang="fr-FR" dirty="0"/>
          </a:p>
          <a:p>
            <a:r>
              <a:rPr lang="fr-FR" dirty="0" smtClean="0"/>
              <a:t>Dans les données société : </a:t>
            </a:r>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9</a:t>
            </a:fld>
            <a:endParaRPr lang="fr-FR" altLang="en-US" sz="750">
              <a:solidFill>
                <a:srgbClr val="000000"/>
              </a:solidFill>
            </a:endParaRPr>
          </a:p>
        </p:txBody>
      </p:sp>
      <p:pic>
        <p:nvPicPr>
          <p:cNvPr id="7" name="Image 6"/>
          <p:cNvPicPr>
            <a:picLocks noChangeAspect="1"/>
          </p:cNvPicPr>
          <p:nvPr/>
        </p:nvPicPr>
        <p:blipFill>
          <a:blip r:embed="rId2"/>
          <a:stretch>
            <a:fillRect/>
          </a:stretch>
        </p:blipFill>
        <p:spPr>
          <a:xfrm>
            <a:off x="573579" y="1704813"/>
            <a:ext cx="2495086" cy="1512538"/>
          </a:xfrm>
          <a:prstGeom prst="rect">
            <a:avLst/>
          </a:prstGeom>
        </p:spPr>
      </p:pic>
      <p:pic>
        <p:nvPicPr>
          <p:cNvPr id="8" name="Image 7"/>
          <p:cNvPicPr>
            <a:picLocks noChangeAspect="1"/>
          </p:cNvPicPr>
          <p:nvPr/>
        </p:nvPicPr>
        <p:blipFill>
          <a:blip r:embed="rId3"/>
          <a:stretch>
            <a:fillRect/>
          </a:stretch>
        </p:blipFill>
        <p:spPr>
          <a:xfrm>
            <a:off x="3437097" y="1446505"/>
            <a:ext cx="317019" cy="359695"/>
          </a:xfrm>
          <a:prstGeom prst="rect">
            <a:avLst/>
          </a:prstGeom>
        </p:spPr>
      </p:pic>
      <p:pic>
        <p:nvPicPr>
          <p:cNvPr id="9" name="Image 8"/>
          <p:cNvPicPr>
            <a:picLocks noChangeAspect="1"/>
          </p:cNvPicPr>
          <p:nvPr/>
        </p:nvPicPr>
        <p:blipFill>
          <a:blip r:embed="rId4"/>
          <a:stretch>
            <a:fillRect/>
          </a:stretch>
        </p:blipFill>
        <p:spPr>
          <a:xfrm>
            <a:off x="2478481" y="2394488"/>
            <a:ext cx="314740" cy="357109"/>
          </a:xfrm>
          <a:prstGeom prst="rect">
            <a:avLst/>
          </a:prstGeom>
        </p:spPr>
      </p:pic>
      <p:pic>
        <p:nvPicPr>
          <p:cNvPr id="10" name="Image 9"/>
          <p:cNvPicPr>
            <a:picLocks noChangeAspect="1"/>
          </p:cNvPicPr>
          <p:nvPr/>
        </p:nvPicPr>
        <p:blipFill>
          <a:blip r:embed="rId5"/>
          <a:stretch>
            <a:fillRect/>
          </a:stretch>
        </p:blipFill>
        <p:spPr>
          <a:xfrm>
            <a:off x="573579" y="3429365"/>
            <a:ext cx="3208009" cy="1040724"/>
          </a:xfrm>
          <a:prstGeom prst="rect">
            <a:avLst/>
          </a:prstGeom>
        </p:spPr>
      </p:pic>
      <p:pic>
        <p:nvPicPr>
          <p:cNvPr id="11" name="Image 10"/>
          <p:cNvPicPr>
            <a:picLocks noChangeAspect="1"/>
          </p:cNvPicPr>
          <p:nvPr/>
        </p:nvPicPr>
        <p:blipFill>
          <a:blip r:embed="rId6"/>
          <a:stretch>
            <a:fillRect/>
          </a:stretch>
        </p:blipFill>
        <p:spPr>
          <a:xfrm>
            <a:off x="3437097" y="1806200"/>
            <a:ext cx="317019" cy="353599"/>
          </a:xfrm>
          <a:prstGeom prst="rect">
            <a:avLst/>
          </a:prstGeom>
        </p:spPr>
      </p:pic>
      <p:pic>
        <p:nvPicPr>
          <p:cNvPr id="12" name="Image 11"/>
          <p:cNvPicPr>
            <a:picLocks noChangeAspect="1"/>
          </p:cNvPicPr>
          <p:nvPr/>
        </p:nvPicPr>
        <p:blipFill>
          <a:blip r:embed="rId7"/>
          <a:stretch>
            <a:fillRect/>
          </a:stretch>
        </p:blipFill>
        <p:spPr>
          <a:xfrm>
            <a:off x="1662612" y="3784834"/>
            <a:ext cx="317019" cy="353599"/>
          </a:xfrm>
          <a:prstGeom prst="rect">
            <a:avLst/>
          </a:prstGeom>
        </p:spPr>
      </p:pic>
      <p:pic>
        <p:nvPicPr>
          <p:cNvPr id="13" name="Image 12"/>
          <p:cNvPicPr>
            <a:picLocks noChangeAspect="1"/>
          </p:cNvPicPr>
          <p:nvPr/>
        </p:nvPicPr>
        <p:blipFill>
          <a:blip r:embed="rId8"/>
          <a:stretch>
            <a:fillRect/>
          </a:stretch>
        </p:blipFill>
        <p:spPr>
          <a:xfrm>
            <a:off x="3418071" y="2159799"/>
            <a:ext cx="317019" cy="359695"/>
          </a:xfrm>
          <a:prstGeom prst="rect">
            <a:avLst/>
          </a:prstGeom>
        </p:spPr>
      </p:pic>
      <p:pic>
        <p:nvPicPr>
          <p:cNvPr id="14" name="Image 13"/>
          <p:cNvPicPr>
            <a:picLocks noChangeAspect="1"/>
          </p:cNvPicPr>
          <p:nvPr/>
        </p:nvPicPr>
        <p:blipFill>
          <a:blip r:embed="rId9"/>
          <a:stretch>
            <a:fillRect/>
          </a:stretch>
        </p:blipFill>
        <p:spPr>
          <a:xfrm>
            <a:off x="3049640" y="4234261"/>
            <a:ext cx="317019" cy="359695"/>
          </a:xfrm>
          <a:prstGeom prst="rect">
            <a:avLst/>
          </a:prstGeom>
        </p:spPr>
      </p:pic>
    </p:spTree>
    <p:extLst>
      <p:ext uri="{BB962C8B-B14F-4D97-AF65-F5344CB8AC3E}">
        <p14:creationId xmlns:p14="http://schemas.microsoft.com/office/powerpoint/2010/main" val="1978134864"/>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39639"/>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clients : créer un compte client 3/3</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t>							          Renseigner la condition de paiement 	</a:t>
            </a:r>
          </a:p>
          <a:p>
            <a:r>
              <a:rPr lang="fr-FR" dirty="0"/>
              <a:t>	</a:t>
            </a:r>
            <a:r>
              <a:rPr lang="fr-FR" dirty="0" smtClean="0"/>
              <a:t>							Renseigner le mode de paiement </a:t>
            </a:r>
          </a:p>
          <a:p>
            <a:r>
              <a:rPr lang="fr-FR" dirty="0"/>
              <a:t>	</a:t>
            </a:r>
            <a:r>
              <a:rPr lang="fr-FR" dirty="0" smtClean="0"/>
              <a:t>							Renseigner la procédure de relance (la même procédure pour tous les clients)</a:t>
            </a:r>
          </a:p>
          <a:p>
            <a:r>
              <a:rPr lang="fr-FR" dirty="0"/>
              <a:t>	</a:t>
            </a:r>
            <a:r>
              <a:rPr lang="fr-FR" dirty="0" smtClean="0"/>
              <a:t>							Sauvegarder la création en cliquant sur la disquette. Tant que toutes les zones </a:t>
            </a:r>
            <a:r>
              <a:rPr lang="fr-FR" dirty="0" err="1" smtClean="0"/>
              <a:t>obli</a:t>
            </a:r>
            <a:r>
              <a:rPr lang="fr-FR" dirty="0" smtClean="0"/>
              <a:t>-</a:t>
            </a:r>
          </a:p>
          <a:p>
            <a:r>
              <a:rPr lang="fr-FR" dirty="0"/>
              <a:t>	</a:t>
            </a:r>
            <a:r>
              <a:rPr lang="fr-FR" dirty="0" smtClean="0"/>
              <a:t>							</a:t>
            </a:r>
            <a:r>
              <a:rPr lang="fr-FR" dirty="0" err="1" smtClean="0"/>
              <a:t>gatoires</a:t>
            </a:r>
            <a:r>
              <a:rPr lang="fr-FR" dirty="0" smtClean="0"/>
              <a:t> ne sont pas mises à jour, la sauvegarde ne se fera pas.  </a:t>
            </a:r>
          </a:p>
          <a:p>
            <a:r>
              <a:rPr lang="fr-FR" dirty="0" smtClean="0"/>
              <a:t>								 </a:t>
            </a:r>
            <a:endParaRPr lang="fr-FR" dirty="0"/>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3322348" y="1124996"/>
            <a:ext cx="317019" cy="359695"/>
          </a:xfrm>
          <a:prstGeom prst="rect">
            <a:avLst/>
          </a:prstGeom>
        </p:spPr>
      </p:pic>
      <p:pic>
        <p:nvPicPr>
          <p:cNvPr id="15" name="Image 14"/>
          <p:cNvPicPr>
            <a:picLocks noChangeAspect="1"/>
          </p:cNvPicPr>
          <p:nvPr/>
        </p:nvPicPr>
        <p:blipFill>
          <a:blip r:embed="rId3"/>
          <a:stretch>
            <a:fillRect/>
          </a:stretch>
        </p:blipFill>
        <p:spPr>
          <a:xfrm>
            <a:off x="573578" y="1152526"/>
            <a:ext cx="2756519" cy="1823150"/>
          </a:xfrm>
          <a:prstGeom prst="rect">
            <a:avLst/>
          </a:prstGeom>
        </p:spPr>
      </p:pic>
      <p:pic>
        <p:nvPicPr>
          <p:cNvPr id="16" name="Image 15"/>
          <p:cNvPicPr>
            <a:picLocks noChangeAspect="1"/>
          </p:cNvPicPr>
          <p:nvPr/>
        </p:nvPicPr>
        <p:blipFill>
          <a:blip r:embed="rId2"/>
          <a:stretch>
            <a:fillRect/>
          </a:stretch>
        </p:blipFill>
        <p:spPr>
          <a:xfrm>
            <a:off x="1634818" y="1735091"/>
            <a:ext cx="317019" cy="359695"/>
          </a:xfrm>
          <a:prstGeom prst="rect">
            <a:avLst/>
          </a:prstGeom>
        </p:spPr>
      </p:pic>
      <p:pic>
        <p:nvPicPr>
          <p:cNvPr id="17" name="Image 16"/>
          <p:cNvPicPr>
            <a:picLocks noChangeAspect="1"/>
          </p:cNvPicPr>
          <p:nvPr/>
        </p:nvPicPr>
        <p:blipFill>
          <a:blip r:embed="rId4"/>
          <a:stretch>
            <a:fillRect/>
          </a:stretch>
        </p:blipFill>
        <p:spPr>
          <a:xfrm>
            <a:off x="1458678" y="2168773"/>
            <a:ext cx="310923" cy="353599"/>
          </a:xfrm>
          <a:prstGeom prst="rect">
            <a:avLst/>
          </a:prstGeom>
        </p:spPr>
      </p:pic>
      <p:pic>
        <p:nvPicPr>
          <p:cNvPr id="18" name="Image 17"/>
          <p:cNvPicPr>
            <a:picLocks noChangeAspect="1"/>
          </p:cNvPicPr>
          <p:nvPr/>
        </p:nvPicPr>
        <p:blipFill>
          <a:blip r:embed="rId5"/>
          <a:stretch>
            <a:fillRect/>
          </a:stretch>
        </p:blipFill>
        <p:spPr>
          <a:xfrm>
            <a:off x="3385901" y="1450525"/>
            <a:ext cx="310923" cy="353599"/>
          </a:xfrm>
          <a:prstGeom prst="rect">
            <a:avLst/>
          </a:prstGeom>
        </p:spPr>
      </p:pic>
      <p:pic>
        <p:nvPicPr>
          <p:cNvPr id="21" name="Image 20"/>
          <p:cNvPicPr>
            <a:picLocks noChangeAspect="1"/>
          </p:cNvPicPr>
          <p:nvPr/>
        </p:nvPicPr>
        <p:blipFill>
          <a:blip r:embed="rId6"/>
          <a:stretch>
            <a:fillRect/>
          </a:stretch>
        </p:blipFill>
        <p:spPr>
          <a:xfrm>
            <a:off x="3385901" y="1815174"/>
            <a:ext cx="317019" cy="353599"/>
          </a:xfrm>
          <a:prstGeom prst="rect">
            <a:avLst/>
          </a:prstGeom>
        </p:spPr>
      </p:pic>
      <p:pic>
        <p:nvPicPr>
          <p:cNvPr id="22" name="Image 21"/>
          <p:cNvPicPr>
            <a:picLocks noChangeAspect="1"/>
          </p:cNvPicPr>
          <p:nvPr/>
        </p:nvPicPr>
        <p:blipFill>
          <a:blip r:embed="rId7"/>
          <a:stretch>
            <a:fillRect/>
          </a:stretch>
        </p:blipFill>
        <p:spPr>
          <a:xfrm>
            <a:off x="573578" y="3018705"/>
            <a:ext cx="3539413" cy="1490820"/>
          </a:xfrm>
          <a:prstGeom prst="rect">
            <a:avLst/>
          </a:prstGeom>
        </p:spPr>
      </p:pic>
      <p:pic>
        <p:nvPicPr>
          <p:cNvPr id="23" name="Image 22"/>
          <p:cNvPicPr>
            <a:picLocks noChangeAspect="1"/>
          </p:cNvPicPr>
          <p:nvPr/>
        </p:nvPicPr>
        <p:blipFill>
          <a:blip r:embed="rId8"/>
          <a:stretch>
            <a:fillRect/>
          </a:stretch>
        </p:blipFill>
        <p:spPr>
          <a:xfrm>
            <a:off x="1614139" y="3628800"/>
            <a:ext cx="317019" cy="353599"/>
          </a:xfrm>
          <a:prstGeom prst="rect">
            <a:avLst/>
          </a:prstGeom>
        </p:spPr>
      </p:pic>
      <p:pic>
        <p:nvPicPr>
          <p:cNvPr id="25" name="Image 24"/>
          <p:cNvPicPr>
            <a:picLocks noChangeAspect="1"/>
          </p:cNvPicPr>
          <p:nvPr/>
        </p:nvPicPr>
        <p:blipFill>
          <a:blip r:embed="rId9"/>
          <a:stretch>
            <a:fillRect/>
          </a:stretch>
        </p:blipFill>
        <p:spPr>
          <a:xfrm>
            <a:off x="1951837" y="3064576"/>
            <a:ext cx="217961" cy="163471"/>
          </a:xfrm>
          <a:prstGeom prst="rect">
            <a:avLst/>
          </a:prstGeom>
        </p:spPr>
      </p:pic>
      <p:pic>
        <p:nvPicPr>
          <p:cNvPr id="26" name="Image 25"/>
          <p:cNvPicPr>
            <a:picLocks noChangeAspect="1"/>
          </p:cNvPicPr>
          <p:nvPr/>
        </p:nvPicPr>
        <p:blipFill>
          <a:blip r:embed="rId10"/>
          <a:stretch>
            <a:fillRect/>
          </a:stretch>
        </p:blipFill>
        <p:spPr>
          <a:xfrm>
            <a:off x="3385901" y="2170468"/>
            <a:ext cx="310923" cy="359695"/>
          </a:xfrm>
          <a:prstGeom prst="rect">
            <a:avLst/>
          </a:prstGeom>
        </p:spPr>
      </p:pic>
      <p:pic>
        <p:nvPicPr>
          <p:cNvPr id="27" name="Image 26"/>
          <p:cNvPicPr>
            <a:picLocks noChangeAspect="1"/>
          </p:cNvPicPr>
          <p:nvPr/>
        </p:nvPicPr>
        <p:blipFill>
          <a:blip r:embed="rId11"/>
          <a:stretch>
            <a:fillRect/>
          </a:stretch>
        </p:blipFill>
        <p:spPr>
          <a:xfrm>
            <a:off x="2060817" y="3146311"/>
            <a:ext cx="310923" cy="359695"/>
          </a:xfrm>
          <a:prstGeom prst="rect">
            <a:avLst/>
          </a:prstGeom>
        </p:spPr>
      </p:pic>
    </p:spTree>
    <p:extLst>
      <p:ext uri="{BB962C8B-B14F-4D97-AF65-F5344CB8AC3E}">
        <p14:creationId xmlns:p14="http://schemas.microsoft.com/office/powerpoint/2010/main" val="4104466993"/>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39639"/>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clients : modifier un compte client 1/2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a:cs typeface="Arial" panose="020B0604020202020204" pitchFamily="34" charset="0"/>
              </a:rPr>
              <a:t>Depuis le menu SAP : Gestion Comptable / Comptabilité Financière / </a:t>
            </a:r>
            <a:r>
              <a:rPr lang="fr-FR" dirty="0" smtClean="0">
                <a:cs typeface="Arial" panose="020B0604020202020204" pitchFamily="34" charset="0"/>
              </a:rPr>
              <a:t>Clients </a:t>
            </a:r>
            <a:r>
              <a:rPr lang="fr-FR" dirty="0">
                <a:cs typeface="Arial" panose="020B0604020202020204" pitchFamily="34" charset="0"/>
              </a:rPr>
              <a:t>/ Données de base / </a:t>
            </a:r>
            <a:r>
              <a:rPr lang="fr-FR" dirty="0" smtClean="0">
                <a:cs typeface="Arial" panose="020B0604020202020204" pitchFamily="34" charset="0"/>
              </a:rPr>
              <a:t>FD02 </a:t>
            </a:r>
            <a:r>
              <a:rPr lang="fr-FR" dirty="0">
                <a:cs typeface="Arial" panose="020B0604020202020204" pitchFamily="34" charset="0"/>
              </a:rPr>
              <a:t>- Modifier</a:t>
            </a:r>
          </a:p>
          <a:p>
            <a:r>
              <a:rPr lang="fr-FR" dirty="0">
                <a:cs typeface="Arial" panose="020B0604020202020204" pitchFamily="34" charset="0"/>
              </a:rPr>
              <a:t>Lancer la transaction </a:t>
            </a:r>
            <a:r>
              <a:rPr lang="fr-FR" dirty="0" smtClean="0">
                <a:cs typeface="Arial" panose="020B0604020202020204" pitchFamily="34" charset="0"/>
              </a:rPr>
              <a:t>FD02</a:t>
            </a:r>
            <a:r>
              <a:rPr lang="fr-FR" dirty="0">
                <a:cs typeface="Arial" panose="020B0604020202020204" pitchFamily="34" charset="0"/>
              </a:rPr>
              <a:t>. </a:t>
            </a:r>
            <a:r>
              <a:rPr lang="fr-FR" dirty="0"/>
              <a:t>Renseigner le code client et valider. </a:t>
            </a:r>
            <a:endParaRPr lang="fr-FR" dirty="0" smtClean="0"/>
          </a:p>
          <a:p>
            <a:r>
              <a:rPr lang="fr-FR" dirty="0"/>
              <a:t>	</a:t>
            </a:r>
            <a:r>
              <a:rPr lang="fr-FR" dirty="0" smtClean="0"/>
              <a:t>						En fonction de la donnée à modifier, passer de l’affichage des données société aux </a:t>
            </a:r>
          </a:p>
          <a:p>
            <a:r>
              <a:rPr lang="fr-FR" dirty="0"/>
              <a:t>	</a:t>
            </a:r>
            <a:r>
              <a:rPr lang="fr-FR" dirty="0" smtClean="0"/>
              <a:t>						données générales en cliquant sur le pavé concerné : </a:t>
            </a:r>
            <a:endParaRPr lang="fr-FR" dirty="0"/>
          </a:p>
          <a:p>
            <a:r>
              <a:rPr lang="fr-FR" dirty="0" smtClean="0"/>
              <a:t>	</a:t>
            </a:r>
          </a:p>
          <a:p>
            <a:r>
              <a:rPr lang="fr-FR" dirty="0"/>
              <a:t>	</a:t>
            </a:r>
            <a:r>
              <a:rPr lang="fr-FR" dirty="0" smtClean="0"/>
              <a:t>					</a:t>
            </a:r>
          </a:p>
          <a:p>
            <a:r>
              <a:rPr lang="fr-FR" dirty="0" smtClean="0"/>
              <a:t>						          								 </a:t>
            </a:r>
            <a:endParaRPr lang="fr-FR" dirty="0"/>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711472"/>
            <a:ext cx="2535103" cy="1020548"/>
          </a:xfrm>
          <a:prstGeom prst="rect">
            <a:avLst/>
          </a:prstGeom>
        </p:spPr>
      </p:pic>
      <p:pic>
        <p:nvPicPr>
          <p:cNvPr id="5" name="Image 4"/>
          <p:cNvPicPr>
            <a:picLocks noChangeAspect="1"/>
          </p:cNvPicPr>
          <p:nvPr/>
        </p:nvPicPr>
        <p:blipFill>
          <a:blip r:embed="rId3"/>
          <a:stretch>
            <a:fillRect/>
          </a:stretch>
        </p:blipFill>
        <p:spPr>
          <a:xfrm>
            <a:off x="3301140" y="2471980"/>
            <a:ext cx="2665708" cy="2010016"/>
          </a:xfrm>
          <a:prstGeom prst="rect">
            <a:avLst/>
          </a:prstGeom>
        </p:spPr>
      </p:pic>
      <p:pic>
        <p:nvPicPr>
          <p:cNvPr id="6" name="Image 5"/>
          <p:cNvPicPr>
            <a:picLocks noChangeAspect="1"/>
          </p:cNvPicPr>
          <p:nvPr/>
        </p:nvPicPr>
        <p:blipFill>
          <a:blip r:embed="rId4"/>
          <a:stretch>
            <a:fillRect/>
          </a:stretch>
        </p:blipFill>
        <p:spPr>
          <a:xfrm>
            <a:off x="6087039" y="2449485"/>
            <a:ext cx="2612919" cy="2032511"/>
          </a:xfrm>
          <a:prstGeom prst="rect">
            <a:avLst/>
          </a:prstGeom>
        </p:spPr>
      </p:pic>
      <p:pic>
        <p:nvPicPr>
          <p:cNvPr id="7" name="Image 6"/>
          <p:cNvPicPr>
            <a:picLocks noChangeAspect="1"/>
          </p:cNvPicPr>
          <p:nvPr/>
        </p:nvPicPr>
        <p:blipFill>
          <a:blip r:embed="rId5"/>
          <a:stretch>
            <a:fillRect/>
          </a:stretch>
        </p:blipFill>
        <p:spPr>
          <a:xfrm>
            <a:off x="1918263" y="1919203"/>
            <a:ext cx="317019" cy="359695"/>
          </a:xfrm>
          <a:prstGeom prst="rect">
            <a:avLst/>
          </a:prstGeom>
        </p:spPr>
      </p:pic>
      <p:pic>
        <p:nvPicPr>
          <p:cNvPr id="8" name="Image 7"/>
          <p:cNvPicPr>
            <a:picLocks noChangeAspect="1"/>
          </p:cNvPicPr>
          <p:nvPr/>
        </p:nvPicPr>
        <p:blipFill>
          <a:blip r:embed="rId6"/>
          <a:stretch>
            <a:fillRect/>
          </a:stretch>
        </p:blipFill>
        <p:spPr>
          <a:xfrm>
            <a:off x="4413490" y="1452557"/>
            <a:ext cx="317019" cy="359695"/>
          </a:xfrm>
          <a:prstGeom prst="rect">
            <a:avLst/>
          </a:prstGeom>
        </p:spPr>
      </p:pic>
      <p:pic>
        <p:nvPicPr>
          <p:cNvPr id="9" name="Image 8"/>
          <p:cNvPicPr>
            <a:picLocks noChangeAspect="1"/>
          </p:cNvPicPr>
          <p:nvPr/>
        </p:nvPicPr>
        <p:blipFill>
          <a:blip r:embed="rId7"/>
          <a:stretch>
            <a:fillRect/>
          </a:stretch>
        </p:blipFill>
        <p:spPr>
          <a:xfrm>
            <a:off x="3841962" y="2626963"/>
            <a:ext cx="629299" cy="105058"/>
          </a:xfrm>
          <a:prstGeom prst="rect">
            <a:avLst/>
          </a:prstGeom>
        </p:spPr>
      </p:pic>
      <p:pic>
        <p:nvPicPr>
          <p:cNvPr id="10" name="Image 9"/>
          <p:cNvPicPr>
            <a:picLocks noChangeAspect="1"/>
          </p:cNvPicPr>
          <p:nvPr/>
        </p:nvPicPr>
        <p:blipFill>
          <a:blip r:embed="rId8"/>
          <a:stretch>
            <a:fillRect/>
          </a:stretch>
        </p:blipFill>
        <p:spPr>
          <a:xfrm>
            <a:off x="6507670" y="2702590"/>
            <a:ext cx="627942" cy="103641"/>
          </a:xfrm>
          <a:prstGeom prst="rect">
            <a:avLst/>
          </a:prstGeom>
        </p:spPr>
      </p:pic>
      <p:cxnSp>
        <p:nvCxnSpPr>
          <p:cNvPr id="12" name="Connecteur droit avec flèche 11"/>
          <p:cNvCxnSpPr/>
          <p:nvPr/>
        </p:nvCxnSpPr>
        <p:spPr>
          <a:xfrm flipV="1">
            <a:off x="4471261" y="2355742"/>
            <a:ext cx="2177512" cy="323750"/>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Connecteur droit avec flèche 13"/>
          <p:cNvCxnSpPr>
            <a:stCxn id="10" idx="3"/>
          </p:cNvCxnSpPr>
          <p:nvPr/>
        </p:nvCxnSpPr>
        <p:spPr>
          <a:xfrm flipH="1" flipV="1">
            <a:off x="6648773" y="2355742"/>
            <a:ext cx="486839" cy="398669"/>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19" name="Image 18"/>
          <p:cNvPicPr>
            <a:picLocks noChangeAspect="1"/>
          </p:cNvPicPr>
          <p:nvPr/>
        </p:nvPicPr>
        <p:blipFill>
          <a:blip r:embed="rId9"/>
          <a:stretch>
            <a:fillRect/>
          </a:stretch>
        </p:blipFill>
        <p:spPr>
          <a:xfrm>
            <a:off x="6528582" y="2125320"/>
            <a:ext cx="317019" cy="353599"/>
          </a:xfrm>
          <a:prstGeom prst="rect">
            <a:avLst/>
          </a:prstGeom>
        </p:spPr>
      </p:pic>
      <p:pic>
        <p:nvPicPr>
          <p:cNvPr id="20" name="Image 19"/>
          <p:cNvPicPr>
            <a:picLocks noChangeAspect="1"/>
          </p:cNvPicPr>
          <p:nvPr/>
        </p:nvPicPr>
        <p:blipFill>
          <a:blip r:embed="rId10"/>
          <a:stretch>
            <a:fillRect/>
          </a:stretch>
        </p:blipFill>
        <p:spPr>
          <a:xfrm>
            <a:off x="4364183" y="2639084"/>
            <a:ext cx="317019" cy="353599"/>
          </a:xfrm>
          <a:prstGeom prst="rect">
            <a:avLst/>
          </a:prstGeom>
        </p:spPr>
      </p:pic>
      <p:pic>
        <p:nvPicPr>
          <p:cNvPr id="24" name="Image 23"/>
          <p:cNvPicPr>
            <a:picLocks noChangeAspect="1"/>
          </p:cNvPicPr>
          <p:nvPr/>
        </p:nvPicPr>
        <p:blipFill>
          <a:blip r:embed="rId11"/>
          <a:stretch>
            <a:fillRect/>
          </a:stretch>
        </p:blipFill>
        <p:spPr>
          <a:xfrm>
            <a:off x="6349160" y="2737899"/>
            <a:ext cx="317019" cy="353599"/>
          </a:xfrm>
          <a:prstGeom prst="rect">
            <a:avLst/>
          </a:prstGeom>
        </p:spPr>
      </p:pic>
    </p:spTree>
    <p:extLst>
      <p:ext uri="{BB962C8B-B14F-4D97-AF65-F5344CB8AC3E}">
        <p14:creationId xmlns:p14="http://schemas.microsoft.com/office/powerpoint/2010/main" val="209192078"/>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39639"/>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clients : modifier un compte client 2/2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t>Choisir l’onglet correspondant à la modification voulue et faites là. Dans notre cas la procédure de relance a été modifiée. </a:t>
            </a:r>
          </a:p>
          <a:p>
            <a:r>
              <a:rPr lang="fr-FR" dirty="0"/>
              <a:t>	</a:t>
            </a:r>
            <a:r>
              <a:rPr lang="fr-FR" dirty="0" smtClean="0"/>
              <a:t>											Sauvegarder la modification en cliquant sur la disquette.</a:t>
            </a:r>
          </a:p>
          <a:p>
            <a:r>
              <a:rPr lang="fr-FR" dirty="0" smtClean="0"/>
              <a:t>	</a:t>
            </a:r>
            <a:r>
              <a:rPr lang="fr-FR" dirty="0"/>
              <a:t>	</a:t>
            </a:r>
            <a:r>
              <a:rPr lang="fr-FR" dirty="0" smtClean="0"/>
              <a:t>					</a:t>
            </a:r>
          </a:p>
          <a:p>
            <a:r>
              <a:rPr lang="fr-FR" dirty="0" smtClean="0"/>
              <a:t>						          								 </a:t>
            </a:r>
            <a:endParaRPr lang="fr-FR" dirty="0"/>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9" y="1418095"/>
            <a:ext cx="4215398" cy="2269398"/>
          </a:xfrm>
          <a:prstGeom prst="rect">
            <a:avLst/>
          </a:prstGeom>
        </p:spPr>
      </p:pic>
      <p:pic>
        <p:nvPicPr>
          <p:cNvPr id="15" name="Image 14"/>
          <p:cNvPicPr>
            <a:picLocks noChangeAspect="1"/>
          </p:cNvPicPr>
          <p:nvPr/>
        </p:nvPicPr>
        <p:blipFill>
          <a:blip r:embed="rId3"/>
          <a:stretch>
            <a:fillRect/>
          </a:stretch>
        </p:blipFill>
        <p:spPr>
          <a:xfrm>
            <a:off x="1638780" y="2497925"/>
            <a:ext cx="256054" cy="109738"/>
          </a:xfrm>
          <a:prstGeom prst="rect">
            <a:avLst/>
          </a:prstGeom>
        </p:spPr>
      </p:pic>
      <p:pic>
        <p:nvPicPr>
          <p:cNvPr id="16" name="Image 15"/>
          <p:cNvPicPr>
            <a:picLocks noChangeAspect="1"/>
          </p:cNvPicPr>
          <p:nvPr/>
        </p:nvPicPr>
        <p:blipFill>
          <a:blip r:embed="rId3"/>
          <a:stretch>
            <a:fillRect/>
          </a:stretch>
        </p:blipFill>
        <p:spPr>
          <a:xfrm>
            <a:off x="2188970" y="1555986"/>
            <a:ext cx="256054" cy="109738"/>
          </a:xfrm>
          <a:prstGeom prst="rect">
            <a:avLst/>
          </a:prstGeom>
        </p:spPr>
      </p:pic>
      <p:pic>
        <p:nvPicPr>
          <p:cNvPr id="17" name="Image 16"/>
          <p:cNvPicPr>
            <a:picLocks noChangeAspect="1"/>
          </p:cNvPicPr>
          <p:nvPr/>
        </p:nvPicPr>
        <p:blipFill>
          <a:blip r:embed="rId4"/>
          <a:stretch>
            <a:fillRect/>
          </a:stretch>
        </p:blipFill>
        <p:spPr>
          <a:xfrm>
            <a:off x="1845177" y="2427815"/>
            <a:ext cx="317019" cy="359695"/>
          </a:xfrm>
          <a:prstGeom prst="rect">
            <a:avLst/>
          </a:prstGeom>
        </p:spPr>
      </p:pic>
      <p:pic>
        <p:nvPicPr>
          <p:cNvPr id="18" name="Image 17"/>
          <p:cNvPicPr>
            <a:picLocks noChangeAspect="1"/>
          </p:cNvPicPr>
          <p:nvPr/>
        </p:nvPicPr>
        <p:blipFill>
          <a:blip r:embed="rId5"/>
          <a:stretch>
            <a:fillRect/>
          </a:stretch>
        </p:blipFill>
        <p:spPr>
          <a:xfrm>
            <a:off x="7961741" y="1063625"/>
            <a:ext cx="395371" cy="448595"/>
          </a:xfrm>
          <a:prstGeom prst="rect">
            <a:avLst/>
          </a:prstGeom>
        </p:spPr>
      </p:pic>
      <p:pic>
        <p:nvPicPr>
          <p:cNvPr id="21" name="Image 20"/>
          <p:cNvPicPr>
            <a:picLocks noChangeAspect="1"/>
          </p:cNvPicPr>
          <p:nvPr/>
        </p:nvPicPr>
        <p:blipFill>
          <a:blip r:embed="rId6"/>
          <a:stretch>
            <a:fillRect/>
          </a:stretch>
        </p:blipFill>
        <p:spPr>
          <a:xfrm>
            <a:off x="2376302" y="1555986"/>
            <a:ext cx="317019" cy="359695"/>
          </a:xfrm>
          <a:prstGeom prst="rect">
            <a:avLst/>
          </a:prstGeom>
        </p:spPr>
      </p:pic>
      <p:pic>
        <p:nvPicPr>
          <p:cNvPr id="22" name="Image 21"/>
          <p:cNvPicPr>
            <a:picLocks noChangeAspect="1"/>
          </p:cNvPicPr>
          <p:nvPr/>
        </p:nvPicPr>
        <p:blipFill>
          <a:blip r:embed="rId7"/>
          <a:stretch>
            <a:fillRect/>
          </a:stretch>
        </p:blipFill>
        <p:spPr>
          <a:xfrm>
            <a:off x="4949535" y="1485876"/>
            <a:ext cx="317019" cy="359695"/>
          </a:xfrm>
          <a:prstGeom prst="rect">
            <a:avLst/>
          </a:prstGeom>
        </p:spPr>
      </p:pic>
    </p:spTree>
    <p:extLst>
      <p:ext uri="{BB962C8B-B14F-4D97-AF65-F5344CB8AC3E}">
        <p14:creationId xmlns:p14="http://schemas.microsoft.com/office/powerpoint/2010/main" val="2458564566"/>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39639"/>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clients : afficher un compte client 1/2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Clients / Données de base / FD03 - Afficher</a:t>
            </a:r>
          </a:p>
          <a:p>
            <a:r>
              <a:rPr lang="fr-FR" dirty="0" smtClean="0">
                <a:cs typeface="Arial" panose="020B0604020202020204" pitchFamily="34" charset="0"/>
              </a:rPr>
              <a:t>Lancer la transaction FD03 : </a:t>
            </a:r>
          </a:p>
          <a:p>
            <a:r>
              <a:rPr lang="fr-FR" dirty="0">
                <a:cs typeface="Arial" panose="020B0604020202020204" pitchFamily="34" charset="0"/>
              </a:rPr>
              <a:t>	</a:t>
            </a:r>
            <a:r>
              <a:rPr lang="fr-FR" dirty="0" smtClean="0">
                <a:cs typeface="Arial" panose="020B0604020202020204" pitchFamily="34" charset="0"/>
              </a:rPr>
              <a:t>							Renseigner le code client que l’on souhaite afficher </a:t>
            </a:r>
          </a:p>
          <a:p>
            <a:r>
              <a:rPr lang="fr-FR" dirty="0">
                <a:cs typeface="Arial" panose="020B0604020202020204" pitchFamily="34" charset="0"/>
              </a:rPr>
              <a:t>	</a:t>
            </a:r>
            <a:r>
              <a:rPr lang="fr-FR" dirty="0" smtClean="0">
                <a:cs typeface="Arial" panose="020B0604020202020204" pitchFamily="34" charset="0"/>
              </a:rPr>
              <a:t>							Valider la requête soit via la touche valider ou la touche « Entrée »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735811"/>
            <a:ext cx="2635762" cy="2746185"/>
          </a:xfrm>
          <a:prstGeom prst="rect">
            <a:avLst/>
          </a:prstGeom>
        </p:spPr>
      </p:pic>
      <p:pic>
        <p:nvPicPr>
          <p:cNvPr id="5" name="Image 4"/>
          <p:cNvPicPr>
            <a:picLocks noChangeAspect="1"/>
          </p:cNvPicPr>
          <p:nvPr/>
        </p:nvPicPr>
        <p:blipFill>
          <a:blip r:embed="rId3"/>
          <a:stretch>
            <a:fillRect/>
          </a:stretch>
        </p:blipFill>
        <p:spPr>
          <a:xfrm>
            <a:off x="1949260" y="3363594"/>
            <a:ext cx="317019" cy="353599"/>
          </a:xfrm>
          <a:prstGeom prst="rect">
            <a:avLst/>
          </a:prstGeom>
        </p:spPr>
      </p:pic>
      <p:pic>
        <p:nvPicPr>
          <p:cNvPr id="11" name="Image 10"/>
          <p:cNvPicPr>
            <a:picLocks noChangeAspect="1"/>
          </p:cNvPicPr>
          <p:nvPr/>
        </p:nvPicPr>
        <p:blipFill>
          <a:blip r:embed="rId4"/>
          <a:stretch>
            <a:fillRect/>
          </a:stretch>
        </p:blipFill>
        <p:spPr>
          <a:xfrm>
            <a:off x="2552409" y="4177109"/>
            <a:ext cx="225624" cy="208911"/>
          </a:xfrm>
          <a:prstGeom prst="rect">
            <a:avLst/>
          </a:prstGeom>
        </p:spPr>
      </p:pic>
      <p:cxnSp>
        <p:nvCxnSpPr>
          <p:cNvPr id="13" name="Connecteur droit avec flèche 12"/>
          <p:cNvCxnSpPr>
            <a:stCxn id="5" idx="3"/>
          </p:cNvCxnSpPr>
          <p:nvPr/>
        </p:nvCxnSpPr>
        <p:spPr>
          <a:xfrm flipV="1">
            <a:off x="2266279" y="1968285"/>
            <a:ext cx="1437816" cy="1572109"/>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5" name="Connecteur droit avec flèche 14"/>
          <p:cNvCxnSpPr/>
          <p:nvPr/>
        </p:nvCxnSpPr>
        <p:spPr>
          <a:xfrm flipV="1">
            <a:off x="2778033" y="2309247"/>
            <a:ext cx="926062" cy="1867862"/>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5512644"/>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39639"/>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clients : afficher un compte client 2/2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											De base les données qui s’affichent sont des données générales.</a:t>
            </a:r>
          </a:p>
          <a:p>
            <a:r>
              <a:rPr lang="fr-FR" dirty="0">
                <a:cs typeface="Arial" panose="020B0604020202020204" pitchFamily="34" charset="0"/>
              </a:rPr>
              <a:t>	</a:t>
            </a:r>
            <a:r>
              <a:rPr lang="fr-FR" dirty="0" smtClean="0">
                <a:cs typeface="Arial" panose="020B0604020202020204" pitchFamily="34" charset="0"/>
              </a:rPr>
              <a:t>										Il est possible de passer des données générales aux données </a:t>
            </a:r>
          </a:p>
          <a:p>
            <a:r>
              <a:rPr lang="fr-FR" dirty="0">
                <a:cs typeface="Arial" panose="020B0604020202020204" pitchFamily="34" charset="0"/>
              </a:rPr>
              <a:t>	</a:t>
            </a:r>
            <a:r>
              <a:rPr lang="fr-FR" dirty="0" smtClean="0">
                <a:cs typeface="Arial" panose="020B0604020202020204" pitchFamily="34" charset="0"/>
              </a:rPr>
              <a:t>										société en cliquant sur le pavé : « Données société »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14</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52524"/>
            <a:ext cx="3975175" cy="3329471"/>
          </a:xfrm>
          <a:prstGeom prst="rect">
            <a:avLst/>
          </a:prstGeom>
        </p:spPr>
      </p:pic>
      <p:pic>
        <p:nvPicPr>
          <p:cNvPr id="8" name="Image 7"/>
          <p:cNvPicPr>
            <a:picLocks noChangeAspect="1"/>
          </p:cNvPicPr>
          <p:nvPr/>
        </p:nvPicPr>
        <p:blipFill>
          <a:blip r:embed="rId3"/>
          <a:stretch>
            <a:fillRect/>
          </a:stretch>
        </p:blipFill>
        <p:spPr>
          <a:xfrm>
            <a:off x="1531225" y="1588892"/>
            <a:ext cx="712921" cy="224872"/>
          </a:xfrm>
          <a:prstGeom prst="rect">
            <a:avLst/>
          </a:prstGeom>
        </p:spPr>
      </p:pic>
      <p:pic>
        <p:nvPicPr>
          <p:cNvPr id="9" name="Image 8"/>
          <p:cNvPicPr>
            <a:picLocks noChangeAspect="1"/>
          </p:cNvPicPr>
          <p:nvPr/>
        </p:nvPicPr>
        <p:blipFill>
          <a:blip r:embed="rId4"/>
          <a:stretch>
            <a:fillRect/>
          </a:stretch>
        </p:blipFill>
        <p:spPr>
          <a:xfrm>
            <a:off x="2244146" y="1543513"/>
            <a:ext cx="317019" cy="353599"/>
          </a:xfrm>
          <a:prstGeom prst="rect">
            <a:avLst/>
          </a:prstGeom>
        </p:spPr>
      </p:pic>
      <p:pic>
        <p:nvPicPr>
          <p:cNvPr id="10" name="Image 9"/>
          <p:cNvPicPr>
            <a:picLocks noChangeAspect="1"/>
          </p:cNvPicPr>
          <p:nvPr/>
        </p:nvPicPr>
        <p:blipFill>
          <a:blip r:embed="rId4"/>
          <a:stretch>
            <a:fillRect/>
          </a:stretch>
        </p:blipFill>
        <p:spPr>
          <a:xfrm>
            <a:off x="8055592" y="1813764"/>
            <a:ext cx="317019" cy="353599"/>
          </a:xfrm>
          <a:prstGeom prst="rect">
            <a:avLst/>
          </a:prstGeom>
        </p:spPr>
      </p:pic>
      <p:pic>
        <p:nvPicPr>
          <p:cNvPr id="11" name="Image 10"/>
          <p:cNvPicPr>
            <a:picLocks noChangeAspect="1"/>
          </p:cNvPicPr>
          <p:nvPr/>
        </p:nvPicPr>
        <p:blipFill>
          <a:blip r:embed="rId5"/>
          <a:stretch>
            <a:fillRect/>
          </a:stretch>
        </p:blipFill>
        <p:spPr>
          <a:xfrm>
            <a:off x="4813030" y="2167363"/>
            <a:ext cx="3742841" cy="2314632"/>
          </a:xfrm>
          <a:prstGeom prst="rect">
            <a:avLst/>
          </a:prstGeom>
        </p:spPr>
      </p:pic>
    </p:spTree>
    <p:extLst>
      <p:ext uri="{BB962C8B-B14F-4D97-AF65-F5344CB8AC3E}">
        <p14:creationId xmlns:p14="http://schemas.microsoft.com/office/powerpoint/2010/main" val="3548713047"/>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39639"/>
          </a:xfrm>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clients : bloquer un compte client</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a:cs typeface="Arial" panose="020B0604020202020204" pitchFamily="34" charset="0"/>
              </a:rPr>
              <a:t>Lancer la transaction </a:t>
            </a:r>
            <a:r>
              <a:rPr lang="fr-FR" dirty="0" smtClean="0">
                <a:cs typeface="Arial" panose="020B0604020202020204" pitchFamily="34" charset="0"/>
              </a:rPr>
              <a:t>FD05. </a:t>
            </a:r>
            <a:r>
              <a:rPr lang="fr-FR" dirty="0"/>
              <a:t>	</a:t>
            </a:r>
            <a:r>
              <a:rPr lang="fr-FR" dirty="0" smtClean="0"/>
              <a:t>				Renseigner le code client</a:t>
            </a:r>
          </a:p>
          <a:p>
            <a:r>
              <a:rPr lang="fr-FR" dirty="0"/>
              <a:t>	</a:t>
            </a:r>
            <a:r>
              <a:rPr lang="fr-FR" dirty="0" smtClean="0"/>
              <a:t>								Valider la requête</a:t>
            </a:r>
          </a:p>
          <a:p>
            <a:r>
              <a:rPr lang="fr-FR" dirty="0"/>
              <a:t>	</a:t>
            </a:r>
            <a:r>
              <a:rPr lang="fr-FR" dirty="0" smtClean="0"/>
              <a:t>								Cocher société sélectionnée c’est-à-dire que le blocage se fera au niveau de</a:t>
            </a:r>
          </a:p>
          <a:p>
            <a:r>
              <a:rPr lang="fr-FR" dirty="0"/>
              <a:t>	</a:t>
            </a:r>
            <a:r>
              <a:rPr lang="fr-FR" dirty="0" smtClean="0"/>
              <a:t>								la société « CBG »</a:t>
            </a:r>
          </a:p>
          <a:p>
            <a:r>
              <a:rPr lang="fr-FR" dirty="0"/>
              <a:t>	</a:t>
            </a:r>
            <a:r>
              <a:rPr lang="fr-FR" dirty="0" smtClean="0"/>
              <a:t>								 </a:t>
            </a:r>
          </a:p>
          <a:p>
            <a:r>
              <a:rPr lang="fr-FR" dirty="0"/>
              <a:t>	</a:t>
            </a:r>
            <a:r>
              <a:rPr lang="fr-FR" dirty="0" smtClean="0"/>
              <a:t> </a:t>
            </a:r>
          </a:p>
          <a:p>
            <a:endParaRPr lang="fr-FR" dirty="0" smtClean="0"/>
          </a:p>
          <a:p>
            <a:r>
              <a:rPr lang="fr-FR" dirty="0" smtClean="0">
                <a:cs typeface="Arial" panose="020B0604020202020204" pitchFamily="34" charset="0"/>
              </a:rPr>
              <a:t>																														Sauvegarder le blocage en cliquant sur la disquette. </a:t>
            </a:r>
          </a:p>
          <a:p>
            <a:r>
              <a:rPr lang="fr-FR" dirty="0">
                <a:cs typeface="Arial" panose="020B0604020202020204" pitchFamily="34" charset="0"/>
              </a:rPr>
              <a:t> ! Le blocage d’un compte </a:t>
            </a:r>
            <a:r>
              <a:rPr lang="fr-FR" dirty="0" smtClean="0">
                <a:cs typeface="Arial" panose="020B0604020202020204" pitchFamily="34" charset="0"/>
              </a:rPr>
              <a:t>client n’empêche </a:t>
            </a:r>
            <a:r>
              <a:rPr lang="fr-FR" dirty="0">
                <a:cs typeface="Arial" panose="020B0604020202020204" pitchFamily="34" charset="0"/>
              </a:rPr>
              <a:t>pas la consultation </a:t>
            </a:r>
            <a:r>
              <a:rPr lang="fr-FR" dirty="0" smtClean="0">
                <a:cs typeface="Arial" panose="020B0604020202020204" pitchFamily="34" charset="0"/>
              </a:rPr>
              <a:t>du compte via la transaction FBL5N. </a:t>
            </a:r>
            <a:endParaRPr lang="fr-FR" dirty="0">
              <a:cs typeface="Arial" panose="020B0604020202020204" pitchFamily="34" charset="0"/>
            </a:endParaRPr>
          </a:p>
          <a:p>
            <a:r>
              <a:rPr lang="fr-FR" dirty="0">
                <a:cs typeface="Arial" panose="020B0604020202020204" pitchFamily="34" charset="0"/>
              </a:rPr>
              <a:t>										</a:t>
            </a:r>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15</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383062"/>
            <a:ext cx="2803821" cy="2093886"/>
          </a:xfrm>
          <a:prstGeom prst="rect">
            <a:avLst/>
          </a:prstGeom>
        </p:spPr>
      </p:pic>
      <p:pic>
        <p:nvPicPr>
          <p:cNvPr id="5" name="Image 4"/>
          <p:cNvPicPr>
            <a:picLocks noChangeAspect="1"/>
          </p:cNvPicPr>
          <p:nvPr/>
        </p:nvPicPr>
        <p:blipFill>
          <a:blip r:embed="rId3"/>
          <a:stretch>
            <a:fillRect/>
          </a:stretch>
        </p:blipFill>
        <p:spPr>
          <a:xfrm>
            <a:off x="2365162" y="2828441"/>
            <a:ext cx="366066" cy="408305"/>
          </a:xfrm>
          <a:prstGeom prst="rect">
            <a:avLst/>
          </a:prstGeom>
        </p:spPr>
      </p:pic>
      <p:pic>
        <p:nvPicPr>
          <p:cNvPr id="6" name="Image 5"/>
          <p:cNvPicPr>
            <a:picLocks noChangeAspect="1"/>
          </p:cNvPicPr>
          <p:nvPr/>
        </p:nvPicPr>
        <p:blipFill>
          <a:blip r:embed="rId4"/>
          <a:stretch>
            <a:fillRect/>
          </a:stretch>
        </p:blipFill>
        <p:spPr>
          <a:xfrm>
            <a:off x="3711843" y="1152525"/>
            <a:ext cx="326477" cy="364566"/>
          </a:xfrm>
          <a:prstGeom prst="rect">
            <a:avLst/>
          </a:prstGeom>
        </p:spPr>
      </p:pic>
      <p:pic>
        <p:nvPicPr>
          <p:cNvPr id="7" name="Image 6"/>
          <p:cNvPicPr>
            <a:picLocks noChangeAspect="1"/>
          </p:cNvPicPr>
          <p:nvPr/>
        </p:nvPicPr>
        <p:blipFill>
          <a:blip r:embed="rId5"/>
          <a:stretch>
            <a:fillRect/>
          </a:stretch>
        </p:blipFill>
        <p:spPr>
          <a:xfrm>
            <a:off x="3755951" y="1482925"/>
            <a:ext cx="317019" cy="353599"/>
          </a:xfrm>
          <a:prstGeom prst="rect">
            <a:avLst/>
          </a:prstGeom>
        </p:spPr>
      </p:pic>
      <p:pic>
        <p:nvPicPr>
          <p:cNvPr id="12" name="Image 11"/>
          <p:cNvPicPr>
            <a:picLocks noChangeAspect="1"/>
          </p:cNvPicPr>
          <p:nvPr/>
        </p:nvPicPr>
        <p:blipFill>
          <a:blip r:embed="rId6"/>
          <a:stretch>
            <a:fillRect/>
          </a:stretch>
        </p:blipFill>
        <p:spPr>
          <a:xfrm>
            <a:off x="763640" y="1720773"/>
            <a:ext cx="317019" cy="353599"/>
          </a:xfrm>
          <a:prstGeom prst="rect">
            <a:avLst/>
          </a:prstGeom>
        </p:spPr>
      </p:pic>
      <p:pic>
        <p:nvPicPr>
          <p:cNvPr id="13" name="Image 12"/>
          <p:cNvPicPr>
            <a:picLocks noChangeAspect="1"/>
          </p:cNvPicPr>
          <p:nvPr/>
        </p:nvPicPr>
        <p:blipFill>
          <a:blip r:embed="rId7"/>
          <a:stretch>
            <a:fillRect/>
          </a:stretch>
        </p:blipFill>
        <p:spPr>
          <a:xfrm>
            <a:off x="4072970" y="2430007"/>
            <a:ext cx="3367251" cy="1243092"/>
          </a:xfrm>
          <a:prstGeom prst="rect">
            <a:avLst/>
          </a:prstGeom>
        </p:spPr>
      </p:pic>
      <p:pic>
        <p:nvPicPr>
          <p:cNvPr id="14" name="Image 13"/>
          <p:cNvPicPr>
            <a:picLocks noChangeAspect="1"/>
          </p:cNvPicPr>
          <p:nvPr/>
        </p:nvPicPr>
        <p:blipFill>
          <a:blip r:embed="rId8"/>
          <a:stretch>
            <a:fillRect/>
          </a:stretch>
        </p:blipFill>
        <p:spPr>
          <a:xfrm>
            <a:off x="3755951" y="1805039"/>
            <a:ext cx="317019" cy="353599"/>
          </a:xfrm>
          <a:prstGeom prst="rect">
            <a:avLst/>
          </a:prstGeom>
        </p:spPr>
      </p:pic>
      <p:pic>
        <p:nvPicPr>
          <p:cNvPr id="15" name="Image 14"/>
          <p:cNvPicPr>
            <a:picLocks noChangeAspect="1"/>
          </p:cNvPicPr>
          <p:nvPr/>
        </p:nvPicPr>
        <p:blipFill>
          <a:blip r:embed="rId9"/>
          <a:stretch>
            <a:fillRect/>
          </a:stretch>
        </p:blipFill>
        <p:spPr>
          <a:xfrm>
            <a:off x="5072168" y="3408400"/>
            <a:ext cx="317019" cy="353599"/>
          </a:xfrm>
          <a:prstGeom prst="rect">
            <a:avLst/>
          </a:prstGeom>
        </p:spPr>
      </p:pic>
      <p:pic>
        <p:nvPicPr>
          <p:cNvPr id="16" name="Image 15"/>
          <p:cNvPicPr>
            <a:picLocks noChangeAspect="1"/>
          </p:cNvPicPr>
          <p:nvPr/>
        </p:nvPicPr>
        <p:blipFill>
          <a:blip r:embed="rId10"/>
          <a:stretch>
            <a:fillRect/>
          </a:stretch>
        </p:blipFill>
        <p:spPr>
          <a:xfrm>
            <a:off x="3755951" y="3737621"/>
            <a:ext cx="317019" cy="353599"/>
          </a:xfrm>
          <a:prstGeom prst="rect">
            <a:avLst/>
          </a:prstGeom>
        </p:spPr>
      </p:pic>
      <p:pic>
        <p:nvPicPr>
          <p:cNvPr id="17" name="Image 16"/>
          <p:cNvPicPr>
            <a:picLocks noChangeAspect="1"/>
          </p:cNvPicPr>
          <p:nvPr/>
        </p:nvPicPr>
        <p:blipFill>
          <a:blip r:embed="rId11"/>
          <a:stretch>
            <a:fillRect/>
          </a:stretch>
        </p:blipFill>
        <p:spPr>
          <a:xfrm>
            <a:off x="5607525" y="2575156"/>
            <a:ext cx="121931" cy="103641"/>
          </a:xfrm>
          <a:prstGeom prst="rect">
            <a:avLst/>
          </a:prstGeom>
        </p:spPr>
      </p:pic>
      <p:pic>
        <p:nvPicPr>
          <p:cNvPr id="18" name="Image 17"/>
          <p:cNvPicPr>
            <a:picLocks noChangeAspect="1"/>
          </p:cNvPicPr>
          <p:nvPr/>
        </p:nvPicPr>
        <p:blipFill>
          <a:blip r:embed="rId12"/>
          <a:stretch>
            <a:fillRect/>
          </a:stretch>
        </p:blipFill>
        <p:spPr>
          <a:xfrm>
            <a:off x="5389187" y="2626977"/>
            <a:ext cx="317019" cy="353599"/>
          </a:xfrm>
          <a:prstGeom prst="rect">
            <a:avLst/>
          </a:prstGeom>
        </p:spPr>
      </p:pic>
    </p:spTree>
    <p:extLst>
      <p:ext uri="{BB962C8B-B14F-4D97-AF65-F5344CB8AC3E}">
        <p14:creationId xmlns:p14="http://schemas.microsoft.com/office/powerpoint/2010/main" val="127570218"/>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1670554"/>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 compte client sur un modèle</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Afficher les informations concernant les données générales du client</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Bloquer un compte client et puis aller afficher la situation dans la FBL5N. </a:t>
            </a:r>
          </a:p>
          <a:p>
            <a:pPr>
              <a:lnSpc>
                <a:spcPct val="110000"/>
              </a:lnSpc>
              <a:defRPr/>
            </a:pPr>
            <a:endParaRPr lang="fr-FR" sz="1350" dirty="0" smtClean="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17</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2586226"/>
          </a:xfrm>
        </p:spPr>
        <p:txBody>
          <a:bodyPr/>
          <a:lstStyle/>
          <a:p>
            <a:pPr marL="171450" indent="-171450">
              <a:buClr>
                <a:srgbClr val="0070C0"/>
              </a:buClr>
              <a:buSzPct val="100000"/>
              <a:buFont typeface="Arial" panose="020B0604020202020204" pitchFamily="34" charset="0"/>
              <a:buChar char="•"/>
            </a:pP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dirty="0" smtClean="0">
                <a:ea typeface="ＭＳ Ｐゴシック" panose="020B0600070205080204" pitchFamily="34" charset="-128"/>
                <a:cs typeface="Arial" panose="020B0604020202020204" pitchFamily="34" charset="0"/>
              </a:rPr>
              <a:t>Le </a:t>
            </a:r>
            <a:r>
              <a:rPr lang="fr-FR" dirty="0">
                <a:ea typeface="ＭＳ Ｐゴシック" panose="020B0600070205080204" pitchFamily="34" charset="-128"/>
                <a:cs typeface="Arial" panose="020B0604020202020204" pitchFamily="34" charset="0"/>
              </a:rPr>
              <a:t>processus de gestion des fiches client s’inscrit dans le cadre du processus gestion des données de base ventes</a:t>
            </a:r>
            <a:r>
              <a:rPr lang="fr-FR" altLang="en-US" dirty="0" smtClean="0">
                <a:ea typeface="ＭＳ Ｐゴシック" panose="020B0600070205080204" pitchFamily="34" charset="-128"/>
                <a:cs typeface="Arial" panose="020B0604020202020204" pitchFamily="34" charset="0"/>
              </a:rPr>
              <a:t>. Le comptable client en charge du référentiel client vient rajouter les données finance.</a:t>
            </a:r>
            <a:endParaRPr lang="fr-FR" altLang="en-US" dirty="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dirty="0">
                <a:ea typeface="ＭＳ Ｐゴシック" panose="020B0600070205080204" pitchFamily="34" charset="-128"/>
                <a:cs typeface="Arial" panose="020B0604020202020204" pitchFamily="34" charset="0"/>
              </a:rPr>
              <a:t>Les données clients sont primordiales pour le bon fonctionnement du processus « Ventes »</a:t>
            </a:r>
          </a:p>
          <a:p>
            <a:pPr marL="171450" indent="-171450">
              <a:buClr>
                <a:srgbClr val="0070C0"/>
              </a:buClr>
              <a:buSzPct val="100000"/>
              <a:buFont typeface="Arial" panose="020B0604020202020204" pitchFamily="34" charset="0"/>
              <a:buChar char="•"/>
            </a:pPr>
            <a:r>
              <a:rPr lang="fr-FR" altLang="en-US" dirty="0">
                <a:ea typeface="ＭＳ Ｐゴシック" panose="020B0600070205080204" pitchFamily="34" charset="-128"/>
                <a:cs typeface="Arial" panose="020B0604020202020204" pitchFamily="34" charset="0"/>
              </a:rPr>
              <a:t>Les employés et les tiers seront créés en tant que Clients dans le système afin qu’ils bénéficient des ventes locales (ravitaillement, voitures, services, etc…)</a:t>
            </a:r>
          </a:p>
          <a:p>
            <a:pPr marL="171450" indent="-171450">
              <a:buClr>
                <a:srgbClr val="0070C0"/>
              </a:buClr>
              <a:buSzPct val="100000"/>
              <a:buFont typeface="Arial" panose="020B0604020202020204" pitchFamily="34" charset="0"/>
              <a:buChar char="•"/>
            </a:pPr>
            <a:r>
              <a:rPr lang="fr-FR" altLang="en-US" dirty="0">
                <a:ea typeface="ＭＳ Ｐゴシック" panose="020B0600070205080204" pitchFamily="34" charset="-128"/>
                <a:cs typeface="Arial" panose="020B0604020202020204" pitchFamily="34" charset="0"/>
              </a:rPr>
              <a:t>Il est possible de bloquer un client, ou d’apposer un témoins de suppression à la fiche </a:t>
            </a:r>
            <a:r>
              <a:rPr lang="fr-FR" altLang="en-US" dirty="0" smtClean="0">
                <a:ea typeface="ＭＳ Ｐゴシック" panose="020B0600070205080204" pitchFamily="34" charset="-128"/>
                <a:cs typeface="Arial" panose="020B0604020202020204" pitchFamily="34" charset="0"/>
              </a:rPr>
              <a:t>client. </a:t>
            </a:r>
            <a:endParaRPr lang="fr-FR" altLang="en-US" dirty="0">
              <a:ea typeface="ＭＳ Ｐゴシック" panose="020B0600070205080204" pitchFamily="34" charset="-128"/>
              <a:cs typeface="Arial" panose="020B0604020202020204" pitchFamily="34" charset="0"/>
            </a:endParaRP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18</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VHEKTECQ7ECW-1532981086-4835</_dlc_DocId>
    <_dlc_DocIdUrl xmlns="f36dd47d-0b23-43fd-9b2d-c5346ffa1660">
      <Url>http://projets.cbg-guinee.com/erp/_layouts/15/DocIdRedir.aspx?ID=VHEKTECQ7ECW-1532981086-4835</Url>
      <Description>VHEKTECQ7ECW-1532981086-4835</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6F148B-0C6A-40F3-BC49-5A4BE9C15936}"/>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DFE7DD0B-0BE8-4E24-A363-4DD0A01C5DCF}"/>
</file>

<file path=customXml/itemProps4.xml><?xml version="1.0" encoding="utf-8"?>
<ds:datastoreItem xmlns:ds="http://schemas.openxmlformats.org/officeDocument/2006/customXml" ds:itemID="{9C0F2479-B050-4EC7-BB4A-1621235CFD4E}"/>
</file>

<file path=docProps/app.xml><?xml version="1.0" encoding="utf-8"?>
<Properties xmlns="http://schemas.openxmlformats.org/officeDocument/2006/extended-properties" xmlns:vt="http://schemas.openxmlformats.org/officeDocument/2006/docPropsVTypes">
  <Template/>
  <TotalTime>0</TotalTime>
  <Words>627</Words>
  <Application>Microsoft Office PowerPoint</Application>
  <PresentationFormat>Affichage à l'écran (16:9)</PresentationFormat>
  <Paragraphs>242</Paragraphs>
  <Slides>19</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19</vt:i4>
      </vt:variant>
    </vt:vector>
  </HeadingPairs>
  <TitlesOfParts>
    <vt:vector size="27" baseType="lpstr">
      <vt:lpstr>ＭＳ Ｐゴシック</vt:lpstr>
      <vt:lpstr>Arial</vt:lpstr>
      <vt:lpstr>Arial Narrow</vt:lpstr>
      <vt:lpstr>Calibri</vt:lpstr>
      <vt:lpstr>Courier New</vt:lpstr>
      <vt:lpstr>Verdana</vt:lpstr>
      <vt:lpstr>Wingdings</vt:lpstr>
      <vt:lpstr>TemplateBE_FR</vt:lpstr>
      <vt:lpstr>Kamsar, le 21.01.2016</vt:lpstr>
      <vt:lpstr>Présentation PowerPoint</vt:lpstr>
      <vt:lpstr>Objectifs de la formation</vt:lpstr>
      <vt:lpstr>Agenda : 2h00</vt:lpstr>
      <vt:lpstr>Présentation PowerPoint</vt:lpstr>
      <vt:lpstr>Présentation PowerPoint</vt:lpstr>
      <vt:lpstr>Mode opératoire Présentation du mode opératoire dans SAP</vt:lpstr>
      <vt:lpstr>Mode opératoire dans SAP pour la gestion des données de base des clients : créer un compte client 1/3 </vt:lpstr>
      <vt:lpstr>Mode opératoire dans SAP pour la gestion des données de base des clients : créer un compte client 2/3 </vt:lpstr>
      <vt:lpstr>Mode opératoire dans SAP pour la gestion des données de base des clients : créer un compte client 3/3 </vt:lpstr>
      <vt:lpstr>Mode opératoire dans SAP pour la gestion des données de base des clients : modifier un compte client 1/2 </vt:lpstr>
      <vt:lpstr>Mode opératoire dans SAP pour la gestion des données de base des clients : modifier un compte client 2/2 </vt:lpstr>
      <vt:lpstr>Mode opératoire dans SAP pour la gestion des données de base des clients : afficher un compte client 1/2 </vt:lpstr>
      <vt:lpstr>Mode opératoire dans SAP pour la gestion des données de base des clients : afficher un compte client 2/2 </vt:lpstr>
      <vt:lpstr>Mode opératoire dans SAP pour la gestion des données de base des clients : bloquer un compte client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Bearingpoint</cp:lastModifiedBy>
  <cp:revision>3884</cp:revision>
  <cp:lastPrinted>2015-04-23T03:57:16Z</cp:lastPrinted>
  <dcterms:created xsi:type="dcterms:W3CDTF">2012-05-17T14:14:37Z</dcterms:created>
  <dcterms:modified xsi:type="dcterms:W3CDTF">2016-01-20T14:18:53Z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7f5bc3ad-2f35-4540-bbbd-b9bc46207e55</vt:lpwstr>
  </property>
</Properties>
</file>