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slides/slide2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6.xml" ContentType="application/vnd.openxmlformats-officedocument.presentationml.slide+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Layouts/slideLayout4.xml" ContentType="application/vnd.openxmlformats-officedocument.presentationml.slideLayout+xml"/>
  <Override PartName="/ppt/notesSlides/notesSlide4.xml" ContentType="application/vnd.openxmlformats-officedocument.presentationml.notesSlid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3.xml" ContentType="application/vnd.openxmlformats-officedocument.customXmlProperties+xml"/>
  <Override PartName="/customXml/itemProps2.xml" ContentType="application/vnd.openxmlformats-officedocument.customXmlProperties+xml"/>
  <Override PartName="/docProps/core.xml" ContentType="application/vnd.openxmlformats-package.core-properties+xml"/>
  <Override PartName="/customXml/itemProps1.xml" ContentType="application/vnd.openxmlformats-officedocument.customXmlProperties+xml"/>
  <Override PartName="/docProps/custom.xml" ContentType="application/vnd.openxmlformats-officedocument.custom-properties+xml"/>
  <Override PartName="/docProps/app.xml" ContentType="application/vnd.openxmlformats-officedocument.extended-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4"/>
  </p:notesMasterIdLst>
  <p:handoutMasterIdLst>
    <p:handoutMasterId r:id="rId35"/>
  </p:handoutMasterIdLst>
  <p:sldIdLst>
    <p:sldId id="685" r:id="rId5"/>
    <p:sldId id="686" r:id="rId6"/>
    <p:sldId id="687" r:id="rId7"/>
    <p:sldId id="723" r:id="rId8"/>
    <p:sldId id="691" r:id="rId9"/>
    <p:sldId id="692" r:id="rId10"/>
    <p:sldId id="693" r:id="rId11"/>
    <p:sldId id="694" r:id="rId12"/>
    <p:sldId id="724" r:id="rId13"/>
    <p:sldId id="700" r:id="rId14"/>
    <p:sldId id="712" r:id="rId15"/>
    <p:sldId id="713" r:id="rId16"/>
    <p:sldId id="696" r:id="rId17"/>
    <p:sldId id="729" r:id="rId18"/>
    <p:sldId id="711" r:id="rId19"/>
    <p:sldId id="716" r:id="rId20"/>
    <p:sldId id="717" r:id="rId21"/>
    <p:sldId id="726" r:id="rId22"/>
    <p:sldId id="699" r:id="rId23"/>
    <p:sldId id="714" r:id="rId24"/>
    <p:sldId id="718" r:id="rId25"/>
    <p:sldId id="722" r:id="rId26"/>
    <p:sldId id="715" r:id="rId27"/>
    <p:sldId id="719" r:id="rId28"/>
    <p:sldId id="720" r:id="rId29"/>
    <p:sldId id="727" r:id="rId30"/>
    <p:sldId id="725" r:id="rId31"/>
    <p:sldId id="710" r:id="rId32"/>
    <p:sldId id="728" r:id="rId33"/>
  </p:sldIdLst>
  <p:sldSz cx="9144000" cy="5143500" type="screen16x9"/>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5FF"/>
    <a:srgbClr val="A7ABFF"/>
    <a:srgbClr val="C5C8FF"/>
    <a:srgbClr val="004376"/>
    <a:srgbClr val="4F81BD"/>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8" autoAdjust="0"/>
    <p:restoredTop sz="95565" autoAdjust="0"/>
  </p:normalViewPr>
  <p:slideViewPr>
    <p:cSldViewPr snapToGrid="0" snapToObjects="1">
      <p:cViewPr>
        <p:scale>
          <a:sx n="125" d="100"/>
          <a:sy n="125" d="100"/>
        </p:scale>
        <p:origin x="570" y="90"/>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10"/>
        <p:guide pos="2124"/>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3633"/>
          </a:xfrm>
          <a:prstGeom prst="rect">
            <a:avLst/>
          </a:prstGeom>
        </p:spPr>
        <p:txBody>
          <a:bodyPr vert="horz" lIns="91427" tIns="45714" rIns="91427" bIns="45714"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9377318"/>
            <a:ext cx="2945659" cy="493633"/>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377318"/>
            <a:ext cx="2945659" cy="493633"/>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3633"/>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3633"/>
          </a:xfrm>
          <a:prstGeom prst="rect">
            <a:avLst/>
          </a:prstGeom>
        </p:spPr>
        <p:txBody>
          <a:bodyPr vert="horz" lIns="91427" tIns="45714" rIns="91427" bIns="45714"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107950" y="739775"/>
            <a:ext cx="6581775" cy="3703638"/>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689515"/>
            <a:ext cx="5438140" cy="4442698"/>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377318"/>
            <a:ext cx="2945659" cy="493633"/>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377318"/>
            <a:ext cx="2945659" cy="493633"/>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23</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151841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26</a:t>
            </a:fld>
            <a:endParaRPr lang="fr-FR" altLang="en-US" sz="1200"/>
          </a:p>
        </p:txBody>
      </p:sp>
      <p:sp>
        <p:nvSpPr>
          <p:cNvPr id="51203" name="Rectangle 2"/>
          <p:cNvSpPr>
            <a:spLocks noGrp="1" noRot="1" noChangeAspect="1" noChangeArrowheads="1" noTextEdit="1"/>
          </p:cNvSpPr>
          <p:nvPr>
            <p:ph type="sldImg"/>
          </p:nvPr>
        </p:nvSpPr>
        <p:spPr bwMode="auto">
          <a:xfrm>
            <a:off x="-652463" y="238125"/>
            <a:ext cx="8091488" cy="45529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31560"/>
            <a:ext cx="5485042" cy="1142112"/>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2188511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27</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7.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png"/><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Gestion </a:t>
            </a:r>
            <a:r>
              <a:rPr lang="fr-FR" sz="2000" b="1" dirty="0">
                <a:solidFill>
                  <a:srgbClr val="0070C0"/>
                </a:solidFill>
                <a:latin typeface="Arial" charset="0"/>
                <a:cs typeface="Arial" charset="0"/>
              </a:rPr>
              <a:t>des appels d’offre</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créer une Demande d’Offre (RFQ) dans le système (avec et sans référence à une Demande d’Achats) et saisir la réponse fournisseur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comparer les RFQ pour un n° de soumission et rejeter les offres perdantes</a:t>
            </a:r>
            <a:endParaRPr lang="fr-FR" sz="900" dirty="0">
              <a:solidFill>
                <a:schemeClr val="tx1"/>
              </a:solidFill>
              <a:latin typeface="Arial" pitchFamily="34" charset="0"/>
              <a:cs typeface="Arial" pitchFamily="34" charset="0"/>
            </a:endParaRP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Rechercher les Demandes d’Achat </a:t>
            </a:r>
            <a:r>
              <a:rPr lang="fr-FR" sz="900" dirty="0" smtClean="0">
                <a:solidFill>
                  <a:schemeClr val="tx1"/>
                </a:solidFill>
                <a:latin typeface="Arial" pitchFamily="34" charset="0"/>
                <a:cs typeface="Arial" pitchFamily="34" charset="0"/>
              </a:rPr>
              <a:t>sans fournisseur affecté</a:t>
            </a: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un RFQ en référence à une Demande d’Achat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un RFQ sans référence à une Demande d’Achat (demande de prix)</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Imprimer un formulaire de RFQ</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Saisir les Offres fournisseurs</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Comparer les Offres fournisseurs pour un numéro de soumission</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Sélectionner le RFQ vainqueur et rejeter les Offres perdantes</a:t>
            </a:r>
            <a:endParaRPr lang="fr-FR" sz="900" dirty="0">
              <a:solidFill>
                <a:schemeClr val="tx1"/>
              </a:solidFill>
              <a:latin typeface="Arial" pitchFamily="34" charset="0"/>
              <a:cs typeface="Arial" pitchFamily="34" charset="0"/>
            </a:endParaRPr>
          </a:p>
          <a:p>
            <a:pPr marL="67866" lvl="1" indent="-67866" eaLnBrk="0" hangingPunct="0">
              <a:buClr>
                <a:srgbClr val="DF0414"/>
              </a:buClr>
              <a:buFont typeface="Arial" charset="0"/>
              <a:buChar char="•"/>
              <a:defRPr/>
            </a:pPr>
            <a:endParaRPr lang="fr-FR" sz="900" dirty="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Le processus de création et de gestion des RFQ </a:t>
            </a:r>
            <a:r>
              <a:rPr lang="fr-FR" dirty="0" smtClean="0"/>
              <a:t>(Appels d’Offres) s’inscrit </a:t>
            </a:r>
            <a:r>
              <a:rPr lang="fr-FR" dirty="0" smtClean="0"/>
              <a:t>dans le processus d’Achats Indirects. Il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sz="1100" dirty="0" smtClean="0"/>
              <a:t>De faire le lien entre une expression du besoin faite par un client interne (sous la forme d’une Demande d’Achat) et différents fournisseurs capables d’y répondre</a:t>
            </a:r>
          </a:p>
          <a:p>
            <a:pPr marL="171450" indent="-171450">
              <a:buClr>
                <a:srgbClr val="0070C0"/>
              </a:buClr>
              <a:buSzPct val="100000"/>
              <a:buFont typeface="Arial" panose="020B0604020202020204" pitchFamily="34" charset="0"/>
              <a:buChar char="•"/>
            </a:pPr>
            <a:r>
              <a:rPr lang="fr-FR" sz="1100" dirty="0" smtClean="0"/>
              <a:t>De saisir et suivre dans le système les différentes Offres formulées par les fournisseurs sollicités</a:t>
            </a:r>
          </a:p>
          <a:p>
            <a:pPr marL="171450" indent="-171450">
              <a:buClr>
                <a:srgbClr val="0070C0"/>
              </a:buClr>
              <a:buSzPct val="100000"/>
              <a:buFont typeface="Arial" panose="020B0604020202020204" pitchFamily="34" charset="0"/>
              <a:buChar char="•"/>
            </a:pPr>
            <a:r>
              <a:rPr lang="fr-FR" sz="1100" dirty="0" smtClean="0"/>
              <a:t>D’utiliser l’Offre choisie par le client interne comme base d’informations pour la création d’une Commande </a:t>
            </a:r>
            <a:r>
              <a:rPr lang="fr-FR" sz="1100" dirty="0" smtClean="0"/>
              <a:t>d’Achats ou d’un Contrat</a:t>
            </a:r>
            <a:endParaRPr lang="fr-FR" sz="1100" dirty="0" smtClean="0"/>
          </a:p>
          <a:p>
            <a:pPr>
              <a:buClr>
                <a:srgbClr val="0070C0"/>
              </a:buClr>
              <a:buSzPct val="100000"/>
            </a:pPr>
            <a:r>
              <a:rPr lang="fr-FR" b="1" dirty="0" smtClean="0">
                <a:solidFill>
                  <a:srgbClr val="0070C0"/>
                </a:solidFill>
              </a:rPr>
              <a:t>Pour un client interne </a:t>
            </a:r>
          </a:p>
          <a:p>
            <a:pPr marL="171450" indent="-171450">
              <a:buClr>
                <a:srgbClr val="0070C0"/>
              </a:buClr>
              <a:buSzPct val="100000"/>
              <a:buFont typeface="Arial" panose="020B0604020202020204" pitchFamily="34" charset="0"/>
              <a:buChar char="•"/>
            </a:pPr>
            <a:r>
              <a:rPr lang="fr-FR" sz="1100" dirty="0" smtClean="0"/>
              <a:t>De suivre le processus d’Appel d’Offre à partir de la Demande d’Achats</a:t>
            </a:r>
          </a:p>
          <a:p>
            <a:pPr marL="171450" indent="-171450">
              <a:buClr>
                <a:srgbClr val="0070C0"/>
              </a:buClr>
              <a:buSzPct val="100000"/>
              <a:buFont typeface="Arial" panose="020B0604020202020204" pitchFamily="34" charset="0"/>
              <a:buChar char="•"/>
            </a:pPr>
            <a:r>
              <a:rPr lang="fr-FR" sz="1100" dirty="0" smtClean="0"/>
              <a:t>De faire la comparaison, sur la base d’un numéro de soumission unique, de l’ensemble des réponses</a:t>
            </a:r>
          </a:p>
          <a:p>
            <a:pPr marL="171450" indent="-171450">
              <a:buClr>
                <a:srgbClr val="0070C0"/>
              </a:buClr>
              <a:buSzPct val="100000"/>
              <a:buFont typeface="Arial" panose="020B0604020202020204" pitchFamily="34" charset="0"/>
              <a:buChar char="•"/>
            </a:pPr>
            <a:r>
              <a:rPr lang="fr-FR" sz="1100" dirty="0" smtClean="0"/>
              <a:t>De sélectionner la source d’approvisionnement idoine pour répondre au besoin</a:t>
            </a:r>
            <a:endParaRPr lang="fr-FR" sz="1100"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des Appels d’Offre</a:t>
            </a:r>
            <a:endParaRPr lang="en-US" altLang="en-US" dirty="0" smtClean="0"/>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créer un </a:t>
            </a:r>
            <a:r>
              <a:rPr lang="fr-FR" altLang="en-US" sz="1050" dirty="0" smtClean="0">
                <a:cs typeface="Arial" panose="020B0604020202020204" pitchFamily="34" charset="0"/>
              </a:rPr>
              <a:t>RFQ </a:t>
            </a:r>
            <a:r>
              <a:rPr lang="fr-FR" altLang="en-US" sz="1050" dirty="0">
                <a:cs typeface="Arial" panose="020B0604020202020204" pitchFamily="34" charset="0"/>
              </a:rPr>
              <a:t>?</a:t>
            </a:r>
          </a:p>
        </p:txBody>
      </p:sp>
      <p:sp>
        <p:nvSpPr>
          <p:cNvPr id="28679" name="AutoShape 7"/>
          <p:cNvSpPr>
            <a:spLocks noChangeArrowheads="1"/>
          </p:cNvSpPr>
          <p:nvPr/>
        </p:nvSpPr>
        <p:spPr bwMode="auto">
          <a:xfrm>
            <a:off x="1613861" y="3595561"/>
            <a:ext cx="1647825" cy="478201"/>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Que trouve-t-on dans un </a:t>
            </a:r>
            <a:r>
              <a:rPr lang="fr-FR" altLang="en-US" sz="1050" dirty="0" smtClean="0">
                <a:solidFill>
                  <a:schemeClr val="bg1"/>
                </a:solidFill>
                <a:cs typeface="Arial" panose="020B0604020202020204" pitchFamily="34" charset="0"/>
              </a:rPr>
              <a:t>RFQ </a:t>
            </a:r>
            <a:r>
              <a:rPr lang="fr-FR" altLang="en-US" sz="1050" dirty="0">
                <a:solidFill>
                  <a:schemeClr val="bg1"/>
                </a:solidFill>
                <a:cs typeface="Arial" panose="020B0604020202020204" pitchFamily="34" charset="0"/>
              </a:rPr>
              <a:t>?</a:t>
            </a:r>
          </a:p>
        </p:txBody>
      </p:sp>
      <p:sp>
        <p:nvSpPr>
          <p:cNvPr id="28680" name="AutoShape 9"/>
          <p:cNvSpPr>
            <a:spLocks noChangeArrowheads="1"/>
          </p:cNvSpPr>
          <p:nvPr/>
        </p:nvSpPr>
        <p:spPr bwMode="auto">
          <a:xfrm>
            <a:off x="5155407" y="2618530"/>
            <a:ext cx="2166938"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Tout acheteur local ou Outre-Mer</a:t>
            </a:r>
            <a:endParaRPr lang="fr-FR" altLang="en-US" sz="1050" dirty="0">
              <a:solidFill>
                <a:schemeClr val="bg1"/>
              </a:solidFill>
            </a:endParaRPr>
          </a:p>
        </p:txBody>
      </p:sp>
      <p:sp>
        <p:nvSpPr>
          <p:cNvPr id="28681" name="AutoShape 12"/>
          <p:cNvSpPr>
            <a:spLocks noChangeArrowheads="1"/>
          </p:cNvSpPr>
          <p:nvPr/>
        </p:nvSpPr>
        <p:spPr bwMode="auto">
          <a:xfrm>
            <a:off x="4888041" y="1476935"/>
            <a:ext cx="2701669" cy="656973"/>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A chaque besoin d’une estimation de coûts pour la réalisation d’un nouveau produit ou prestation de service</a:t>
            </a:r>
            <a:endParaRPr lang="fr-FR" altLang="en-US" sz="1050" dirty="0"/>
          </a:p>
        </p:txBody>
      </p:sp>
      <p:sp>
        <p:nvSpPr>
          <p:cNvPr id="28682" name="AutoShape 6"/>
          <p:cNvSpPr>
            <a:spLocks noChangeArrowheads="1"/>
          </p:cNvSpPr>
          <p:nvPr/>
        </p:nvSpPr>
        <p:spPr bwMode="auto">
          <a:xfrm>
            <a:off x="1739947" y="2484250"/>
            <a:ext cx="1151334" cy="478201"/>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créer un </a:t>
            </a:r>
            <a:r>
              <a:rPr lang="fr-FR" altLang="en-US" sz="1050" dirty="0" smtClean="0">
                <a:solidFill>
                  <a:schemeClr val="bg1"/>
                </a:solidFill>
                <a:cs typeface="Arial" panose="020B0604020202020204" pitchFamily="34" charset="0"/>
              </a:rPr>
              <a:t>RFQ </a:t>
            </a:r>
            <a:r>
              <a:rPr lang="fr-FR" altLang="en-US" sz="1050" dirty="0">
                <a:solidFill>
                  <a:schemeClr val="bg1"/>
                </a:solidFill>
                <a:cs typeface="Arial" panose="020B0604020202020204" pitchFamily="34" charset="0"/>
              </a:rPr>
              <a:t>?</a:t>
            </a:r>
          </a:p>
        </p:txBody>
      </p:sp>
      <p:sp>
        <p:nvSpPr>
          <p:cNvPr id="28685" name="AutoShape 10"/>
          <p:cNvSpPr>
            <a:spLocks noChangeArrowheads="1"/>
          </p:cNvSpPr>
          <p:nvPr/>
        </p:nvSpPr>
        <p:spPr bwMode="auto">
          <a:xfrm>
            <a:off x="4940748" y="3310789"/>
            <a:ext cx="2893219" cy="892499"/>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Le détail du besoin</a:t>
            </a:r>
          </a:p>
          <a:p>
            <a:pPr eaLnBrk="1" hangingPunct="1">
              <a:spcBef>
                <a:spcPts val="225"/>
              </a:spcBef>
              <a:buFont typeface="Arial" panose="020B0604020202020204" pitchFamily="34" charset="0"/>
              <a:buChar char="•"/>
            </a:pPr>
            <a:r>
              <a:rPr lang="fr-FR" altLang="en-US" sz="1050" dirty="0" smtClean="0">
                <a:solidFill>
                  <a:schemeClr val="bg1"/>
                </a:solidFill>
              </a:rPr>
              <a:t>Une date limite et un numéro de soumission</a:t>
            </a:r>
          </a:p>
          <a:p>
            <a:pPr eaLnBrk="1" hangingPunct="1">
              <a:spcBef>
                <a:spcPts val="225"/>
              </a:spcBef>
              <a:buFont typeface="Arial" panose="020B0604020202020204" pitchFamily="34" charset="0"/>
              <a:buChar char="•"/>
            </a:pPr>
            <a:r>
              <a:rPr lang="fr-FR" altLang="en-US" sz="1050" dirty="0" smtClean="0">
                <a:solidFill>
                  <a:schemeClr val="bg1"/>
                </a:solidFill>
              </a:rPr>
              <a:t>Les données du fournisseur sollicité</a:t>
            </a:r>
            <a:endParaRPr lang="fr-FR" altLang="en-US" sz="1050" dirty="0">
              <a:solidFill>
                <a:schemeClr val="bg1"/>
              </a:solidFill>
            </a:endParaRP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783900"/>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des RFQ</a:t>
            </a:r>
            <a:endParaRPr lang="en-US" altLang="en-US" dirty="0" smtClean="0"/>
          </a:p>
        </p:txBody>
      </p:sp>
      <p:sp>
        <p:nvSpPr>
          <p:cNvPr id="20" name="Rectangle à coins arrondis 19"/>
          <p:cNvSpPr/>
          <p:nvPr/>
        </p:nvSpPr>
        <p:spPr>
          <a:xfrm>
            <a:off x="4355243" y="1494414"/>
            <a:ext cx="2874704" cy="478201"/>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des RFQ s’inscrit dans le cadre du processus </a:t>
            </a:r>
            <a:r>
              <a:rPr lang="fr-FR" sz="1050" dirty="0" smtClean="0">
                <a:solidFill>
                  <a:schemeClr val="bg1"/>
                </a:solidFill>
                <a:latin typeface="Arial" panose="020B0604020202020204" pitchFamily="34" charset="0"/>
                <a:ea typeface="ＭＳ Ｐゴシック" panose="020B0600070205080204" pitchFamily="34" charset="-128"/>
              </a:rPr>
              <a:t>d’achats indirects</a:t>
            </a:r>
          </a:p>
        </p:txBody>
      </p:sp>
      <p:sp>
        <p:nvSpPr>
          <p:cNvPr id="65540" name="AutoShape 16"/>
          <p:cNvSpPr>
            <a:spLocks noChangeArrowheads="1"/>
          </p:cNvSpPr>
          <p:nvPr/>
        </p:nvSpPr>
        <p:spPr bwMode="auto">
          <a:xfrm>
            <a:off x="276130" y="3777107"/>
            <a:ext cx="1237060" cy="400050"/>
          </a:xfrm>
          <a:prstGeom prst="homePlate">
            <a:avLst>
              <a:gd name="adj" fmla="val 28403"/>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Demande d’Achat</a:t>
            </a:r>
            <a:endParaRPr lang="fr-FR" altLang="ko-KR" sz="800" b="1" dirty="0">
              <a:solidFill>
                <a:srgbClr val="FFFFFF"/>
              </a:solidFill>
              <a:latin typeface="Verdana" pitchFamily="34" charset="0"/>
              <a:ea typeface="ＭＳ Ｐゴシック"/>
              <a:cs typeface="Arial" pitchFamily="34" charset="0"/>
            </a:endParaRPr>
          </a:p>
        </p:txBody>
      </p:sp>
      <p:sp>
        <p:nvSpPr>
          <p:cNvPr id="29701" name="AutoShape 17"/>
          <p:cNvSpPr>
            <a:spLocks noChangeArrowheads="1"/>
          </p:cNvSpPr>
          <p:nvPr/>
        </p:nvSpPr>
        <p:spPr bwMode="auto">
          <a:xfrm>
            <a:off x="2726768"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Création </a:t>
            </a:r>
            <a:r>
              <a:rPr lang="fr-FR" altLang="ko-KR" sz="800" b="1" dirty="0" smtClean="0">
                <a:solidFill>
                  <a:schemeClr val="bg1"/>
                </a:solidFill>
                <a:latin typeface="Verdana" panose="020B0604030504040204" pitchFamily="34" charset="0"/>
                <a:cs typeface="Arial" panose="020B0604020202020204" pitchFamily="34" charset="0"/>
              </a:rPr>
              <a:t>d’un RFQ</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3952087" y="3777107"/>
            <a:ext cx="1235869"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Impression des RFQ</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3" name="AutoShape 19"/>
          <p:cNvSpPr>
            <a:spLocks noChangeArrowheads="1"/>
          </p:cNvSpPr>
          <p:nvPr/>
        </p:nvSpPr>
        <p:spPr bwMode="auto">
          <a:xfrm>
            <a:off x="5176215"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Saisie Offre Fournisseur</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2" name="AutoShape 19"/>
          <p:cNvSpPr>
            <a:spLocks noChangeArrowheads="1"/>
          </p:cNvSpPr>
          <p:nvPr/>
        </p:nvSpPr>
        <p:spPr bwMode="auto">
          <a:xfrm>
            <a:off x="6401534"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Comparaison</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3" name="AutoShape 19"/>
          <p:cNvSpPr>
            <a:spLocks noChangeArrowheads="1"/>
          </p:cNvSpPr>
          <p:nvPr/>
        </p:nvSpPr>
        <p:spPr bwMode="auto">
          <a:xfrm>
            <a:off x="7626851" y="3777107"/>
            <a:ext cx="1237060"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Rejet</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4" name="AutoShape 19"/>
          <p:cNvSpPr>
            <a:spLocks noChangeArrowheads="1"/>
          </p:cNvSpPr>
          <p:nvPr/>
        </p:nvSpPr>
        <p:spPr bwMode="auto">
          <a:xfrm>
            <a:off x="7626851" y="3262368"/>
            <a:ext cx="1237060" cy="400050"/>
          </a:xfrm>
          <a:prstGeom prst="chevron">
            <a:avLst>
              <a:gd name="adj" fmla="val 28704"/>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r>
              <a:rPr lang="fr-FR" altLang="ko-KR" sz="800" b="1" dirty="0">
                <a:solidFill>
                  <a:srgbClr val="FFFFFF"/>
                </a:solidFill>
                <a:latin typeface="Verdana" pitchFamily="34" charset="0"/>
                <a:ea typeface="ＭＳ Ｐゴシック"/>
                <a:cs typeface="Arial" pitchFamily="34" charset="0"/>
              </a:rPr>
              <a:t>Commande d’Achat</a:t>
            </a:r>
          </a:p>
        </p:txBody>
      </p:sp>
      <p:sp>
        <p:nvSpPr>
          <p:cNvPr id="13" name="AutoShape 16"/>
          <p:cNvSpPr>
            <a:spLocks noChangeArrowheads="1"/>
          </p:cNvSpPr>
          <p:nvPr/>
        </p:nvSpPr>
        <p:spPr bwMode="auto">
          <a:xfrm>
            <a:off x="1501449" y="3777107"/>
            <a:ext cx="1237060" cy="400050"/>
          </a:xfrm>
          <a:prstGeom prst="chevron">
            <a:avLst>
              <a:gd name="adj" fmla="val 30630"/>
            </a:avLst>
          </a:prstGeom>
          <a:solidFill>
            <a:srgbClr val="A7ABFF"/>
          </a:solidFill>
          <a:ln w="19050" algn="ctr">
            <a:solidFill>
              <a:srgbClr val="0070C0"/>
            </a:solidFill>
            <a:prstDash val="solid"/>
            <a:miter lim="800000"/>
            <a:headEnd/>
            <a:tailEnd/>
          </a:ln>
        </p:spPr>
        <p:txBody>
          <a:bodyPr lIns="137160" tIns="68580" rIns="108000" bIns="68580" anchor="ctr"/>
          <a:lstStyle/>
          <a:p>
            <a:pPr algn="ctr" eaLnBrk="0" hangingPunct="0">
              <a:defRPr/>
            </a:pPr>
            <a:r>
              <a:rPr lang="fr-FR" altLang="ko-KR" sz="800" b="1" dirty="0" smtClean="0">
                <a:solidFill>
                  <a:srgbClr val="FFFFFF"/>
                </a:solidFill>
                <a:latin typeface="Verdana" pitchFamily="34" charset="0"/>
                <a:ea typeface="ＭＳ Ｐゴシック"/>
                <a:cs typeface="Arial" pitchFamily="34" charset="0"/>
              </a:rPr>
              <a:t>Validation de la DA</a:t>
            </a:r>
            <a:endParaRPr lang="fr-FR" altLang="ko-KR" sz="800" b="1" dirty="0">
              <a:solidFill>
                <a:srgbClr val="FFFFFF"/>
              </a:solidFill>
              <a:latin typeface="Verdana" pitchFamily="34" charset="0"/>
              <a:ea typeface="ＭＳ Ｐゴシック"/>
              <a:cs typeface="Arial"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RFQ</a:t>
            </a:r>
            <a:endParaRPr lang="en-US" altLang="en-US" sz="2400" dirty="0" smtClean="0"/>
          </a:p>
        </p:txBody>
      </p:sp>
      <p:pic>
        <p:nvPicPr>
          <p:cNvPr id="4" name="Image 3"/>
          <p:cNvPicPr>
            <a:picLocks noChangeAspect="1"/>
          </p:cNvPicPr>
          <p:nvPr/>
        </p:nvPicPr>
        <p:blipFill>
          <a:blip r:embed="rId2"/>
          <a:stretch>
            <a:fillRect/>
          </a:stretch>
        </p:blipFill>
        <p:spPr>
          <a:xfrm>
            <a:off x="822635" y="1273189"/>
            <a:ext cx="7498730" cy="2597121"/>
          </a:xfrm>
          <a:prstGeom prst="rect">
            <a:avLst/>
          </a:prstGeom>
        </p:spPr>
      </p:pic>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438025"/>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Organisation d’achats</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2151774"/>
            <a:ext cx="6172200" cy="545432"/>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L’organisation d’achats représente une unité organisationnelle qui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achète des </a:t>
            </a:r>
            <a:r>
              <a:rPr lang="fr-FR" altLang="en-US" dirty="0">
                <a:latin typeface="Arial" panose="020B0604020202020204" pitchFamily="34" charset="0"/>
                <a:ea typeface="ＭＳ Ｐゴシック" panose="020B0600070205080204" pitchFamily="34" charset="-128"/>
                <a:cs typeface="Arial" panose="020B0604020202020204" pitchFamily="34" charset="0"/>
              </a:rPr>
              <a:t>articles et qui négocie des conditions générales de prix d’achat avec les fournisseurs.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Pour la CBG, les Organisations d’achats sont les suivantes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GN01 pour les Achats Locaux en Guinée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BE01 pour les Achats Outre-Mer du bureau de Bruxelles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US01 pour les Achats Outre-Mer du bureau de Pittsburgh</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CBG1 pour l’Organisation d’Achats générale (pour les contrats)</a:t>
            </a:r>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39601"/>
            <a:ext cx="884968" cy="422288"/>
          </a:xfrm>
          <a:prstGeom prst="rect">
            <a:avLst/>
          </a:prstGeom>
        </p:spPr>
      </p:pic>
    </p:spTree>
    <p:extLst>
      <p:ext uri="{BB962C8B-B14F-4D97-AF65-F5344CB8AC3E}">
        <p14:creationId xmlns:p14="http://schemas.microsoft.com/office/powerpoint/2010/main" val="19931925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22063"/>
            <a:ext cx="6172200" cy="1236371"/>
          </a:xfrm>
        </p:spPr>
        <p:txBody>
          <a:bodyPr/>
          <a:lstStyle/>
          <a:p>
            <a:r>
              <a:rPr lang="fr-FR" altLang="en-US" dirty="0">
                <a:latin typeface="Arial" panose="020B0604020202020204" pitchFamily="34" charset="0"/>
                <a:ea typeface="ＭＳ Ｐゴシック" panose="020B0600070205080204" pitchFamily="34" charset="-128"/>
                <a:cs typeface="Arial" panose="020B0604020202020204" pitchFamily="34" charset="0"/>
              </a:rPr>
              <a:t>Un groupe d’acheteurs correspond à un acheteur ou à un groupe d’acheteurs qui effectuent les activités d’achats suivantes :</a:t>
            </a:r>
          </a:p>
          <a:p>
            <a:pPr marL="72000" indent="-171450">
              <a:spcBef>
                <a:spcPts val="0"/>
              </a:spcBef>
              <a:buClr>
                <a:srgbClr val="4F81BD"/>
              </a:buClr>
              <a:buSzPct val="100000"/>
              <a:buFont typeface="Arial" panose="020B0604020202020204" pitchFamily="34" charset="0"/>
              <a:buChar char="•"/>
            </a:pPr>
            <a:r>
              <a:rPr lang="fr-FR" altLang="en-US" dirty="0">
                <a:latin typeface="Arial" panose="020B0604020202020204" pitchFamily="34" charset="0"/>
                <a:ea typeface="ＭＳ Ｐゴシック" panose="020B0600070205080204" pitchFamily="34" charset="-128"/>
                <a:cs typeface="Arial" panose="020B0604020202020204" pitchFamily="34" charset="0"/>
              </a:rPr>
              <a:t>approvisionnement de certains groupes d’articles ou de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marchandises</a:t>
            </a:r>
          </a:p>
          <a:p>
            <a:pPr marL="72000" indent="-171450">
              <a:spcBef>
                <a:spcPts val="0"/>
              </a:spcBef>
              <a:buClr>
                <a:srgbClr val="4F81BD"/>
              </a:buClr>
              <a:buSzPct val="100000"/>
              <a:buFont typeface="Arial" panose="020B0604020202020204" pitchFamily="34" charset="0"/>
              <a:buChar char="•"/>
            </a:pP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intervention </a:t>
            </a:r>
            <a:r>
              <a:rPr lang="fr-FR" altLang="en-US" dirty="0">
                <a:latin typeface="Arial" panose="020B0604020202020204" pitchFamily="34" charset="0"/>
                <a:ea typeface="ＭＳ Ｐゴシック" panose="020B0600070205080204" pitchFamily="34" charset="-128"/>
                <a:cs typeface="Arial" panose="020B0604020202020204" pitchFamily="34" charset="0"/>
              </a:rPr>
              <a:t>en tant que contact des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fournisseurs</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Pour </a:t>
            </a:r>
            <a:r>
              <a:rPr lang="fr-FR" altLang="en-US" dirty="0">
                <a:latin typeface="Arial" panose="020B0604020202020204" pitchFamily="34" charset="0"/>
                <a:ea typeface="ＭＳ Ｐゴシック" panose="020B0600070205080204" pitchFamily="34" charset="-128"/>
                <a:cs typeface="Arial" panose="020B0604020202020204" pitchFamily="34" charset="0"/>
              </a:rPr>
              <a:t>la CBG, les </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Groupes d’Acheteurs sont </a:t>
            </a:r>
            <a:r>
              <a:rPr lang="fr-FR" altLang="en-US" dirty="0">
                <a:latin typeface="Arial" panose="020B0604020202020204" pitchFamily="34" charset="0"/>
                <a:ea typeface="ＭＳ Ｐゴシック" panose="020B0600070205080204" pitchFamily="34" charset="-128"/>
                <a:cs typeface="Arial" panose="020B0604020202020204" pitchFamily="34" charset="0"/>
              </a:rPr>
              <a:t>les suivantes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ZLO </a:t>
            </a:r>
            <a:r>
              <a:rPr lang="fr-FR" altLang="en-US" sz="1100" dirty="0">
                <a:latin typeface="Arial" panose="020B0604020202020204" pitchFamily="34" charset="0"/>
                <a:ea typeface="ＭＳ Ｐゴシック" panose="020B0600070205080204" pitchFamily="34" charset="-128"/>
                <a:cs typeface="Arial" panose="020B0604020202020204" pitchFamily="34" charset="0"/>
              </a:rPr>
              <a:t>pour les Achats Locaux en Guinée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ZBL </a:t>
            </a:r>
            <a:r>
              <a:rPr lang="fr-FR" altLang="en-US" sz="1100" dirty="0">
                <a:latin typeface="Arial" panose="020B0604020202020204" pitchFamily="34" charset="0"/>
                <a:ea typeface="ＭＳ Ｐゴシック" panose="020B0600070205080204" pitchFamily="34" charset="-128"/>
                <a:cs typeface="Arial" panose="020B0604020202020204" pitchFamily="34" charset="0"/>
              </a:rPr>
              <a:t>pour les Achats Outre-Mer du bureau de Bruxelles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ZUS </a:t>
            </a:r>
            <a:r>
              <a:rPr lang="fr-FR" altLang="en-US" sz="1100" dirty="0">
                <a:latin typeface="Arial" panose="020B0604020202020204" pitchFamily="34" charset="0"/>
                <a:ea typeface="ＭＳ Ｐゴシック" panose="020B0600070205080204" pitchFamily="34" charset="-128"/>
                <a:cs typeface="Arial" panose="020B0604020202020204" pitchFamily="34" charset="0"/>
              </a:rPr>
              <a:t>pour les Achats Outre-Mer du bureau de Pittsburgh</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ZOM pour le pilotage Outre-Mer</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buClr>
                <a:srgbClr val="4F81BD"/>
              </a:buClr>
              <a:buSzPct val="100000"/>
            </a:pPr>
            <a:endParaRPr lang="fr-FR" altLang="en-US"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208003"/>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Groupe d’Acheteurs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209579"/>
            <a:ext cx="884968" cy="422288"/>
          </a:xfrm>
          <a:prstGeom prst="rect">
            <a:avLst/>
          </a:prstGeom>
        </p:spPr>
      </p:pic>
    </p:spTree>
    <p:extLst>
      <p:ext uri="{BB962C8B-B14F-4D97-AF65-F5344CB8AC3E}">
        <p14:creationId xmlns:p14="http://schemas.microsoft.com/office/powerpoint/2010/main" val="7753047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2124972"/>
            <a:ext cx="6172200" cy="497306"/>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Une Demande d’Achats (DA) SAP représente l’expression d’un besoin par un client interne, ce besoin devant être approvisionné depuis un fournisseur externe à la CBG.</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Parmi les informations que l’on retrouve dans une DA, nous avons :</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Code article et/ou une désignation</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quantité</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date de livraison souhaitée</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 groupe de marchandises</a:t>
            </a:r>
          </a:p>
          <a:p>
            <a:pPr marL="360000" indent="-184150">
              <a:spcBef>
                <a:spcPts val="0"/>
              </a:spcBef>
              <a:buClr>
                <a:srgbClr val="0070C0"/>
              </a:buClr>
              <a:buSzPct val="100000"/>
              <a:buFont typeface="Arial" panose="020B0604020202020204" pitchFamily="34" charset="0"/>
              <a:buChar char="•"/>
            </a:pPr>
            <a:r>
              <a:rPr lang="fr-FR" altLang="en-US" sz="1100" dirty="0" smtClean="0">
                <a:latin typeface="Arial" panose="020B0604020202020204" pitchFamily="34" charset="0"/>
                <a:ea typeface="ＭＳ Ｐゴシック" panose="020B0600070205080204" pitchFamily="34" charset="-128"/>
                <a:cs typeface="Arial" panose="020B0604020202020204" pitchFamily="34" charset="0"/>
              </a:rPr>
              <a:t>Une valorisation estimée (si non codifié) ou le Prix Moyen Pondéré</a:t>
            </a:r>
            <a:endParaRPr lang="fr-FR" altLang="en-US" sz="1100" dirty="0">
              <a:latin typeface="Arial" panose="020B0604020202020204" pitchFamily="34" charset="0"/>
              <a:ea typeface="ＭＳ Ｐゴシック" panose="020B0600070205080204" pitchFamily="34" charset="-128"/>
              <a:cs typeface="Arial" panose="020B0604020202020204" pitchFamily="34" charset="0"/>
            </a:endParaRP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Demande d’Achats</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543638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909531" y="2162646"/>
            <a:ext cx="1296000" cy="75485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a:solidFill>
                    <a:schemeClr val="bg1"/>
                  </a:solidFill>
                  <a:latin typeface="Arial" pitchFamily="34" charset="0"/>
                  <a:cs typeface="Arial" pitchFamily="34" charset="0"/>
                </a:rPr>
                <a:t>Créer </a:t>
              </a:r>
              <a:r>
                <a:rPr lang="fr-FR" sz="800" dirty="0" smtClean="0">
                  <a:solidFill>
                    <a:schemeClr val="bg1"/>
                  </a:solidFill>
                  <a:latin typeface="Arial" pitchFamily="34" charset="0"/>
                  <a:cs typeface="Arial" pitchFamily="34" charset="0"/>
                </a:rPr>
                <a:t>un RFQ</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ME41</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24" name="Connecteur en angle 23"/>
          <p:cNvCxnSpPr>
            <a:stCxn id="4" idx="3"/>
            <a:endCxn id="7" idx="1"/>
          </p:cNvCxnSpPr>
          <p:nvPr/>
        </p:nvCxnSpPr>
        <p:spPr>
          <a:xfrm>
            <a:off x="2205531" y="2324571"/>
            <a:ext cx="760094" cy="608333"/>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cxnSp>
        <p:nvCxnSpPr>
          <p:cNvPr id="38" name="Connecteur en angle 37"/>
          <p:cNvCxnSpPr>
            <a:stCxn id="4" idx="3"/>
            <a:endCxn id="5" idx="1"/>
          </p:cNvCxnSpPr>
          <p:nvPr/>
        </p:nvCxnSpPr>
        <p:spPr>
          <a:xfrm flipV="1">
            <a:off x="2205531" y="1734722"/>
            <a:ext cx="760094" cy="589849"/>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eur en angle 24"/>
          <p:cNvCxnSpPr>
            <a:stCxn id="5" idx="3"/>
            <a:endCxn id="8" idx="1"/>
          </p:cNvCxnSpPr>
          <p:nvPr/>
        </p:nvCxnSpPr>
        <p:spPr>
          <a:xfrm>
            <a:off x="4261625" y="1734722"/>
            <a:ext cx="784157" cy="1188766"/>
          </a:xfrm>
          <a:prstGeom prst="bentConnector3">
            <a:avLst>
              <a:gd name="adj1" fmla="val 50000"/>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42" name="Groupe 41"/>
          <p:cNvGrpSpPr/>
          <p:nvPr/>
        </p:nvGrpSpPr>
        <p:grpSpPr>
          <a:xfrm>
            <a:off x="2965625" y="1572797"/>
            <a:ext cx="1296000" cy="1946705"/>
            <a:chOff x="3827406" y="1979447"/>
            <a:chExt cx="1258269" cy="1946705"/>
          </a:xfrm>
        </p:grpSpPr>
        <p:sp>
          <p:nvSpPr>
            <p:cNvPr id="7" name="Rectangle 6"/>
            <p:cNvSpPr/>
            <p:nvPr/>
          </p:nvSpPr>
          <p:spPr>
            <a:xfrm>
              <a:off x="3827406" y="3177629"/>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Imprimer le </a:t>
              </a:r>
              <a:r>
                <a:rPr lang="fr-FR" sz="800" dirty="0" smtClean="0">
                  <a:solidFill>
                    <a:schemeClr val="bg1"/>
                  </a:solidFill>
                  <a:latin typeface="Arial" pitchFamily="34" charset="0"/>
                  <a:cs typeface="Arial" pitchFamily="34" charset="0"/>
                </a:rPr>
                <a:t>RFQ</a:t>
              </a:r>
              <a:endParaRPr lang="en-US" sz="800" dirty="0">
                <a:solidFill>
                  <a:schemeClr val="bg1"/>
                </a:solidFill>
                <a:latin typeface="Arial" pitchFamily="34" charset="0"/>
                <a:cs typeface="Arial" pitchFamily="34" charset="0"/>
              </a:endParaRPr>
            </a:p>
          </p:txBody>
        </p:sp>
        <p:sp>
          <p:nvSpPr>
            <p:cNvPr id="18" name="Rectangle 17"/>
            <p:cNvSpPr/>
            <p:nvPr/>
          </p:nvSpPr>
          <p:spPr>
            <a:xfrm>
              <a:off x="3827406" y="3501479"/>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ME9A</a:t>
              </a:r>
              <a:endParaRPr lang="en-US" sz="800" b="1" dirty="0">
                <a:solidFill>
                  <a:schemeClr val="bg1"/>
                </a:solidFill>
                <a:latin typeface="Arial" panose="020B0604020202020204" pitchFamily="34" charset="0"/>
                <a:cs typeface="Arial" panose="020B0604020202020204" pitchFamily="34" charset="0"/>
              </a:endParaRPr>
            </a:p>
          </p:txBody>
        </p:sp>
        <p:sp>
          <p:nvSpPr>
            <p:cNvPr id="19" name="Rectangle 18"/>
            <p:cNvSpPr/>
            <p:nvPr/>
          </p:nvSpPr>
          <p:spPr>
            <a:xfrm>
              <a:off x="3827406" y="3710152"/>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5" name="Rectangle 4"/>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Gérer un RFQ</a:t>
              </a:r>
              <a:endParaRPr lang="en-US" sz="800" dirty="0">
                <a:solidFill>
                  <a:schemeClr val="bg1"/>
                </a:solidFill>
                <a:latin typeface="Arial" pitchFamily="34" charset="0"/>
                <a:cs typeface="Arial" pitchFamily="34" charset="0"/>
              </a:endParaRPr>
            </a:p>
          </p:txBody>
        </p:sp>
        <p:sp>
          <p:nvSpPr>
            <p:cNvPr id="14" name="Rectangle 13"/>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ME47</a:t>
              </a:r>
              <a:endParaRPr lang="en-US" sz="800" b="1" dirty="0">
                <a:solidFill>
                  <a:schemeClr val="bg1"/>
                </a:solidFill>
                <a:latin typeface="Arial" panose="020B0604020202020204" pitchFamily="34" charset="0"/>
                <a:cs typeface="Arial" panose="020B0604020202020204" pitchFamily="34" charset="0"/>
              </a:endParaRPr>
            </a:p>
          </p:txBody>
        </p:sp>
        <p:sp>
          <p:nvSpPr>
            <p:cNvPr id="15" name="Rectangle 14"/>
            <p:cNvSpPr/>
            <p:nvPr/>
          </p:nvSpPr>
          <p:spPr>
            <a:xfrm>
              <a:off x="3827406" y="2519991"/>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sp>
        <p:nvSpPr>
          <p:cNvPr id="8" name="Rectangle 7"/>
          <p:cNvSpPr/>
          <p:nvPr/>
        </p:nvSpPr>
        <p:spPr>
          <a:xfrm>
            <a:off x="5045782" y="2761563"/>
            <a:ext cx="1296000"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Comparer les prix des offres</a:t>
            </a:r>
            <a:endParaRPr lang="en-US" sz="800" dirty="0">
              <a:solidFill>
                <a:schemeClr val="bg1"/>
              </a:solidFill>
              <a:latin typeface="Arial" pitchFamily="34" charset="0"/>
              <a:cs typeface="Arial" pitchFamily="34" charset="0"/>
            </a:endParaRPr>
          </a:p>
        </p:txBody>
      </p:sp>
      <p:sp>
        <p:nvSpPr>
          <p:cNvPr id="16" name="Rectangle 15"/>
          <p:cNvSpPr/>
          <p:nvPr/>
        </p:nvSpPr>
        <p:spPr>
          <a:xfrm>
            <a:off x="5045782" y="3085413"/>
            <a:ext cx="1296000"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ME49</a:t>
            </a:r>
            <a:endParaRPr lang="en-US" sz="800" b="1" dirty="0">
              <a:solidFill>
                <a:schemeClr val="bg1"/>
              </a:solidFill>
              <a:latin typeface="Arial" panose="020B0604020202020204" pitchFamily="34" charset="0"/>
              <a:cs typeface="Arial" panose="020B0604020202020204" pitchFamily="34" charset="0"/>
            </a:endParaRPr>
          </a:p>
        </p:txBody>
      </p:sp>
      <p:sp>
        <p:nvSpPr>
          <p:cNvPr id="17" name="Rectangle 16"/>
          <p:cNvSpPr/>
          <p:nvPr/>
        </p:nvSpPr>
        <p:spPr>
          <a:xfrm>
            <a:off x="5045782" y="3302107"/>
            <a:ext cx="1296000"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Client interne</a:t>
            </a:r>
            <a:endParaRPr lang="en-US" sz="800" dirty="0">
              <a:solidFill>
                <a:schemeClr val="tx1">
                  <a:lumMod val="50000"/>
                </a:schemeClr>
              </a:solidFill>
              <a:latin typeface="Arial" panose="020B0604020202020204" pitchFamily="34" charset="0"/>
              <a:cs typeface="Arial" panose="020B0604020202020204" pitchFamily="34" charset="0"/>
            </a:endParaRPr>
          </a:p>
        </p:txBody>
      </p:sp>
      <p:sp>
        <p:nvSpPr>
          <p:cNvPr id="44" name="Rectangle 43"/>
          <p:cNvSpPr/>
          <p:nvPr/>
        </p:nvSpPr>
        <p:spPr>
          <a:xfrm>
            <a:off x="5045782" y="1472767"/>
            <a:ext cx="1296000" cy="519544"/>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la liste des RFQ pour un numéro de soumission</a:t>
            </a:r>
            <a:endParaRPr lang="en-US" sz="800" dirty="0">
              <a:solidFill>
                <a:schemeClr val="bg1"/>
              </a:solidFill>
              <a:latin typeface="Arial" pitchFamily="34" charset="0"/>
              <a:cs typeface="Arial" pitchFamily="34" charset="0"/>
            </a:endParaRPr>
          </a:p>
        </p:txBody>
      </p:sp>
      <p:sp>
        <p:nvSpPr>
          <p:cNvPr id="45" name="Rectangle 44"/>
          <p:cNvSpPr/>
          <p:nvPr/>
        </p:nvSpPr>
        <p:spPr>
          <a:xfrm>
            <a:off x="5045782" y="1984097"/>
            <a:ext cx="1296000"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ME4S</a:t>
            </a:r>
            <a:endParaRPr lang="en-US" sz="800" b="1" dirty="0">
              <a:solidFill>
                <a:schemeClr val="bg1"/>
              </a:solidFill>
              <a:latin typeface="Arial" panose="020B0604020202020204" pitchFamily="34" charset="0"/>
              <a:cs typeface="Arial" panose="020B0604020202020204" pitchFamily="34" charset="0"/>
            </a:endParaRPr>
          </a:p>
        </p:txBody>
      </p:sp>
      <p:sp>
        <p:nvSpPr>
          <p:cNvPr id="46" name="Rectangle 45"/>
          <p:cNvSpPr/>
          <p:nvPr/>
        </p:nvSpPr>
        <p:spPr>
          <a:xfrm>
            <a:off x="5045782" y="2200791"/>
            <a:ext cx="1296000"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 / Client interne</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nvGrpSpPr>
          <p:cNvPr id="52" name="Groupe 51"/>
          <p:cNvGrpSpPr/>
          <p:nvPr/>
        </p:nvGrpSpPr>
        <p:grpSpPr>
          <a:xfrm>
            <a:off x="7077814" y="2765653"/>
            <a:ext cx="1296000" cy="756544"/>
            <a:chOff x="6700826" y="2529806"/>
            <a:chExt cx="1258269" cy="756544"/>
          </a:xfrm>
        </p:grpSpPr>
        <p:sp>
          <p:nvSpPr>
            <p:cNvPr id="53" name="Rectangle 52"/>
            <p:cNvSpPr/>
            <p:nvPr/>
          </p:nvSpPr>
          <p:spPr>
            <a:xfrm>
              <a:off x="6700826" y="2529806"/>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Rejeter les RFQ perdants</a:t>
              </a:r>
              <a:endParaRPr lang="en-US" sz="800" dirty="0">
                <a:solidFill>
                  <a:schemeClr val="bg1"/>
                </a:solidFill>
                <a:latin typeface="Arial" pitchFamily="34" charset="0"/>
                <a:cs typeface="Arial" pitchFamily="34" charset="0"/>
              </a:endParaRPr>
            </a:p>
          </p:txBody>
        </p:sp>
        <p:sp>
          <p:nvSpPr>
            <p:cNvPr id="54" name="Rectangle 53"/>
            <p:cNvSpPr/>
            <p:nvPr/>
          </p:nvSpPr>
          <p:spPr>
            <a:xfrm>
              <a:off x="6700826" y="2853656"/>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ME47</a:t>
              </a:r>
              <a:endParaRPr lang="en-US" sz="800" b="1" dirty="0">
                <a:solidFill>
                  <a:schemeClr val="bg1"/>
                </a:solidFill>
                <a:latin typeface="Arial" panose="020B0604020202020204" pitchFamily="34" charset="0"/>
                <a:cs typeface="Arial" panose="020B0604020202020204" pitchFamily="34" charset="0"/>
              </a:endParaRPr>
            </a:p>
          </p:txBody>
        </p:sp>
        <p:sp>
          <p:nvSpPr>
            <p:cNvPr id="55" name="Rectangle 54"/>
            <p:cNvSpPr/>
            <p:nvPr/>
          </p:nvSpPr>
          <p:spPr>
            <a:xfrm>
              <a:off x="6700826" y="3070350"/>
              <a:ext cx="1258269"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51" name="Connecteur droit 50"/>
          <p:cNvCxnSpPr>
            <a:stCxn id="8" idx="3"/>
            <a:endCxn id="53" idx="1"/>
          </p:cNvCxnSpPr>
          <p:nvPr/>
        </p:nvCxnSpPr>
        <p:spPr>
          <a:xfrm>
            <a:off x="6341782" y="2923488"/>
            <a:ext cx="736032" cy="4090"/>
          </a:xfrm>
          <a:prstGeom prst="line">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eur droit 56"/>
          <p:cNvCxnSpPr>
            <a:stCxn id="5" idx="3"/>
            <a:endCxn id="44" idx="1"/>
          </p:cNvCxnSpPr>
          <p:nvPr/>
        </p:nvCxnSpPr>
        <p:spPr>
          <a:xfrm flipV="1">
            <a:off x="4261625" y="1732539"/>
            <a:ext cx="784157" cy="2183"/>
          </a:xfrm>
          <a:prstGeom prst="line">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243670" y="1047011"/>
            <a:ext cx="3584642" cy="3246345"/>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a:t>ME41 - Créer </a:t>
            </a:r>
            <a:r>
              <a:rPr lang="fr-FR" altLang="en-US" dirty="0" smtClean="0"/>
              <a:t>un RFQ (avec référence à une Demande d’Achats) – 1/2</a:t>
            </a:r>
            <a:endParaRPr lang="en-US" altLang="en-US" dirty="0" smtClean="0"/>
          </a:p>
        </p:txBody>
      </p:sp>
      <p:sp>
        <p:nvSpPr>
          <p:cNvPr id="19" name="Rectangle 18"/>
          <p:cNvSpPr/>
          <p:nvPr/>
        </p:nvSpPr>
        <p:spPr>
          <a:xfrm>
            <a:off x="4805226" y="1257699"/>
            <a:ext cx="713655" cy="13396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5" name="Rectangle 24"/>
          <p:cNvSpPr/>
          <p:nvPr/>
        </p:nvSpPr>
        <p:spPr>
          <a:xfrm>
            <a:off x="5255394" y="2775346"/>
            <a:ext cx="263487" cy="1310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 name="Ellipse 6"/>
          <p:cNvSpPr/>
          <p:nvPr/>
        </p:nvSpPr>
        <p:spPr>
          <a:xfrm>
            <a:off x="5081901" y="27784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4" name="Ellipse 23"/>
          <p:cNvSpPr/>
          <p:nvPr/>
        </p:nvSpPr>
        <p:spPr>
          <a:xfrm>
            <a:off x="4625871" y="116711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nvGrpSpPr>
          <p:cNvPr id="33794" name="Groupe 33793"/>
          <p:cNvGrpSpPr/>
          <p:nvPr/>
        </p:nvGrpSpPr>
        <p:grpSpPr>
          <a:xfrm>
            <a:off x="487093" y="1549234"/>
            <a:ext cx="3194009" cy="2308324"/>
            <a:chOff x="425491" y="1232489"/>
            <a:chExt cx="3194009" cy="2308324"/>
          </a:xfrm>
        </p:grpSpPr>
        <p:sp>
          <p:nvSpPr>
            <p:cNvPr id="8" name="ZoneTexte 7"/>
            <p:cNvSpPr txBox="1"/>
            <p:nvPr/>
          </p:nvSpPr>
          <p:spPr>
            <a:xfrm>
              <a:off x="581025" y="1232489"/>
              <a:ext cx="3038475" cy="2308324"/>
            </a:xfrm>
            <a:prstGeom prst="rect">
              <a:avLst/>
            </a:prstGeom>
            <a:noFill/>
          </p:spPr>
          <p:txBody>
            <a:bodyPr wrap="square" rtlCol="0">
              <a:spAutoFit/>
            </a:bodyPr>
            <a:lstStyle/>
            <a:p>
              <a:r>
                <a:rPr lang="fr-FR" sz="1200" dirty="0" smtClean="0">
                  <a:solidFill>
                    <a:srgbClr val="4D4F53"/>
                  </a:solidFill>
                </a:rPr>
                <a:t>Indiquer un délai de soumission d’offre (date limite de réponse pour le fournisseur)</a:t>
              </a:r>
            </a:p>
            <a:p>
              <a:endParaRPr lang="fr-FR" sz="1200" dirty="0">
                <a:solidFill>
                  <a:srgbClr val="4D4F53"/>
                </a:solidFill>
              </a:endParaRPr>
            </a:p>
            <a:p>
              <a:r>
                <a:rPr lang="fr-FR" sz="1200" dirty="0" smtClean="0">
                  <a:solidFill>
                    <a:srgbClr val="4D4F53"/>
                  </a:solidFill>
                </a:rPr>
                <a:t>Choisir une Organisation d’Achats</a:t>
              </a:r>
            </a:p>
            <a:p>
              <a:endParaRPr lang="fr-FR" sz="1200" dirty="0">
                <a:solidFill>
                  <a:srgbClr val="4D4F53"/>
                </a:solidFill>
              </a:endParaRPr>
            </a:p>
            <a:p>
              <a:r>
                <a:rPr lang="fr-FR" sz="1200" dirty="0" smtClean="0">
                  <a:solidFill>
                    <a:srgbClr val="4D4F53"/>
                  </a:solidFill>
                </a:rPr>
                <a:t>Choisir un Groupe d’Acheteurs</a:t>
              </a:r>
            </a:p>
            <a:p>
              <a:endParaRPr lang="fr-FR" sz="1200" dirty="0">
                <a:solidFill>
                  <a:srgbClr val="4D4F53"/>
                </a:solidFill>
              </a:endParaRPr>
            </a:p>
            <a:p>
              <a:r>
                <a:rPr lang="fr-FR" sz="1200" dirty="0" smtClean="0">
                  <a:solidFill>
                    <a:srgbClr val="4D4F53"/>
                  </a:solidFill>
                </a:rPr>
                <a:t>Cliquer sur l’icone</a:t>
              </a:r>
            </a:p>
            <a:p>
              <a:endParaRPr lang="fr-FR" sz="1200" dirty="0">
                <a:solidFill>
                  <a:srgbClr val="4D4F53"/>
                </a:solidFill>
              </a:endParaRPr>
            </a:p>
            <a:p>
              <a:r>
                <a:rPr lang="fr-FR" sz="1200" dirty="0" smtClean="0">
                  <a:solidFill>
                    <a:srgbClr val="4D4F53"/>
                  </a:solidFill>
                </a:rPr>
                <a:t>Renseigner le numéro de la </a:t>
              </a:r>
              <a:r>
                <a:rPr lang="fr-FR" sz="1200" dirty="0" smtClean="0">
                  <a:solidFill>
                    <a:srgbClr val="4D4F53"/>
                  </a:solidFill>
                </a:rPr>
                <a:t>DA de référence</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Appuyer sur la touche «</a:t>
              </a:r>
              <a:r>
                <a:rPr lang="fr-FR" sz="1200" dirty="0" smtClean="0">
                  <a:solidFill>
                    <a:srgbClr val="4D4F53"/>
                  </a:solidFill>
                </a:rPr>
                <a:t> </a:t>
              </a:r>
              <a:r>
                <a:rPr lang="fr-FR" sz="1200" dirty="0" smtClean="0">
                  <a:solidFill>
                    <a:srgbClr val="4D4F53"/>
                  </a:solidFill>
                </a:rPr>
                <a:t>Entrée</a:t>
              </a:r>
              <a:r>
                <a:rPr lang="fr-FR" sz="1200" dirty="0" smtClean="0">
                  <a:solidFill>
                    <a:srgbClr val="4D4F53"/>
                  </a:solidFill>
                </a:rPr>
                <a:t> </a:t>
              </a:r>
              <a:r>
                <a:rPr lang="fr-FR" sz="1200" dirty="0" smtClean="0">
                  <a:solidFill>
                    <a:srgbClr val="4D4F53"/>
                  </a:solidFill>
                </a:rPr>
                <a:t>» ou </a:t>
              </a:r>
              <a:endParaRPr lang="fr-FR" sz="1200" dirty="0" smtClean="0">
                <a:solidFill>
                  <a:srgbClr val="4D4F53"/>
                </a:solidFill>
              </a:endParaRPr>
            </a:p>
          </p:txBody>
        </p:sp>
        <p:pic>
          <p:nvPicPr>
            <p:cNvPr id="28" name="Image 27"/>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842259" y="2560088"/>
              <a:ext cx="809625" cy="180975"/>
            </a:xfrm>
            <a:prstGeom prst="rect">
              <a:avLst/>
            </a:prstGeom>
            <a:ln>
              <a:solidFill>
                <a:schemeClr val="tx1"/>
              </a:solidFill>
            </a:ln>
            <a:effectLst>
              <a:outerShdw blurRad="50800" dist="38100" dir="2700000" algn="tl" rotWithShape="0">
                <a:prstClr val="black">
                  <a:alpha val="40000"/>
                </a:prstClr>
              </a:outerShdw>
            </a:effectLst>
          </p:spPr>
        </p:pic>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5600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4" name="Ellipse 43"/>
            <p:cNvSpPr/>
            <p:nvPr/>
          </p:nvSpPr>
          <p:spPr>
            <a:xfrm>
              <a:off x="425491" y="29132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5" name="Ellipse 44"/>
            <p:cNvSpPr/>
            <p:nvPr/>
          </p:nvSpPr>
          <p:spPr>
            <a:xfrm>
              <a:off x="425491" y="32744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grpSp>
      <p:sp>
        <p:nvSpPr>
          <p:cNvPr id="32" name="Rectangle 31"/>
          <p:cNvSpPr/>
          <p:nvPr/>
        </p:nvSpPr>
        <p:spPr>
          <a:xfrm>
            <a:off x="5256841" y="2226405"/>
            <a:ext cx="534358" cy="12168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Ellipse 32"/>
          <p:cNvSpPr/>
          <p:nvPr/>
        </p:nvSpPr>
        <p:spPr>
          <a:xfrm>
            <a:off x="5099746" y="2144124"/>
            <a:ext cx="156136" cy="155298"/>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Rectangle 33"/>
          <p:cNvSpPr/>
          <p:nvPr/>
        </p:nvSpPr>
        <p:spPr>
          <a:xfrm>
            <a:off x="5255394" y="2928478"/>
            <a:ext cx="263487" cy="13106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Ellipse 34"/>
          <p:cNvSpPr/>
          <p:nvPr/>
        </p:nvSpPr>
        <p:spPr>
          <a:xfrm>
            <a:off x="5081901" y="29316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40" name="Rectangle 39"/>
          <p:cNvSpPr/>
          <p:nvPr/>
        </p:nvSpPr>
        <p:spPr>
          <a:xfrm>
            <a:off x="6753918" y="1827614"/>
            <a:ext cx="437458" cy="10560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Ellipse 41"/>
          <p:cNvSpPr/>
          <p:nvPr/>
        </p:nvSpPr>
        <p:spPr>
          <a:xfrm>
            <a:off x="6574562" y="174063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6" name="Rectangle 45"/>
          <p:cNvSpPr/>
          <p:nvPr/>
        </p:nvSpPr>
        <p:spPr>
          <a:xfrm>
            <a:off x="7296843" y="4056132"/>
            <a:ext cx="170757" cy="14055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7117487" y="39790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pic>
        <p:nvPicPr>
          <p:cNvPr id="26" name="Image 25"/>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040062" y="3591209"/>
            <a:ext cx="166688" cy="169498"/>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996757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636892" y="1258338"/>
            <a:ext cx="3327177" cy="797458"/>
          </a:xfrm>
          <a:prstGeom prst="rect">
            <a:avLst/>
          </a:prstGeom>
          <a:ln>
            <a:solidFill>
              <a:schemeClr val="tx1"/>
            </a:solidFill>
          </a:ln>
          <a:effectLst>
            <a:outerShdw blurRad="50800" dist="38100" dir="2700000" algn="tl" rotWithShape="0">
              <a:prstClr val="black">
                <a:alpha val="40000"/>
              </a:prstClr>
            </a:outerShdw>
          </a:effectLst>
        </p:spPr>
      </p:pic>
      <p:sp>
        <p:nvSpPr>
          <p:cNvPr id="17" name="Rectangle 16"/>
          <p:cNvSpPr/>
          <p:nvPr/>
        </p:nvSpPr>
        <p:spPr>
          <a:xfrm>
            <a:off x="730944" y="1471729"/>
            <a:ext cx="679663" cy="17987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Rectangle 20"/>
          <p:cNvSpPr/>
          <p:nvPr/>
        </p:nvSpPr>
        <p:spPr>
          <a:xfrm>
            <a:off x="2926924" y="4011733"/>
            <a:ext cx="572040" cy="16913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20" name="Image 19"/>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58894" y="2255355"/>
            <a:ext cx="3418921" cy="2011456"/>
          </a:xfrm>
          <a:prstGeom prst="rect">
            <a:avLst/>
          </a:prstGeom>
          <a:ln>
            <a:solidFill>
              <a:schemeClr val="tx1"/>
            </a:solidFill>
          </a:ln>
          <a:effectLst>
            <a:outerShdw blurRad="50800" dist="38100" dir="2700000" algn="tl" rotWithShape="0">
              <a:prstClr val="black">
                <a:alpha val="40000"/>
              </a:prstClr>
            </a:outerShdw>
          </a:effectLst>
        </p:spPr>
      </p:pic>
      <p:sp>
        <p:nvSpPr>
          <p:cNvPr id="18" name="Rectangle 17"/>
          <p:cNvSpPr/>
          <p:nvPr/>
        </p:nvSpPr>
        <p:spPr>
          <a:xfrm>
            <a:off x="1105907" y="2427498"/>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0" name="Image 9"/>
          <p:cNvPicPr>
            <a:picLocks noChangeAspect="1"/>
          </p:cNvPicPr>
          <p:nvPr/>
        </p:nvPicPr>
        <p:blipFill rotWithShape="1">
          <a:blip r:embed="rId4" cstate="email">
            <a:extLst>
              <a:ext uri="{28A0092B-C50C-407E-A947-70E740481C1C}">
                <a14:useLocalDpi xmlns:a14="http://schemas.microsoft.com/office/drawing/2010/main" val="0"/>
              </a:ext>
            </a:extLst>
          </a:blip>
          <a:srcRect/>
          <a:stretch/>
        </p:blipFill>
        <p:spPr>
          <a:xfrm>
            <a:off x="1613429" y="2953038"/>
            <a:ext cx="2907758" cy="1509020"/>
          </a:xfrm>
          <a:prstGeom prst="rect">
            <a:avLst/>
          </a:prstGeom>
          <a:ln>
            <a:solidFill>
              <a:schemeClr val="tx1"/>
            </a:solidFill>
          </a:ln>
          <a:effectLst>
            <a:outerShdw blurRad="50800" dist="38100" dir="2700000" algn="tl" rotWithShape="0">
              <a:prstClr val="black">
                <a:alpha val="40000"/>
              </a:prstClr>
            </a:outerShdw>
          </a:effectLst>
        </p:spPr>
      </p:pic>
      <p:sp>
        <p:nvSpPr>
          <p:cNvPr id="19" name="Rectangle 18"/>
          <p:cNvSpPr/>
          <p:nvPr/>
        </p:nvSpPr>
        <p:spPr>
          <a:xfrm>
            <a:off x="1885682" y="3117561"/>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7" name="Image 6"/>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793440" y="3248048"/>
            <a:ext cx="3453565" cy="918999"/>
          </a:xfrm>
          <a:prstGeom prst="rect">
            <a:avLst/>
          </a:prstGeom>
          <a:ln>
            <a:solidFill>
              <a:schemeClr val="tx1"/>
            </a:solidFill>
          </a:ln>
          <a:effectLst>
            <a:outerShdw blurRad="50800" dist="38100" dir="2700000" algn="tl" rotWithShape="0">
              <a:prstClr val="black">
                <a:alpha val="40000"/>
              </a:prstClr>
            </a:outerShdw>
          </a:effectLst>
        </p:spPr>
      </p:pic>
      <p:pic>
        <p:nvPicPr>
          <p:cNvPr id="8" name="Image 7"/>
          <p:cNvPicPr>
            <a:picLocks noChangeAspect="1"/>
          </p:cNvPicPr>
          <p:nvPr/>
        </p:nvPicPr>
        <p:blipFill rotWithShape="1">
          <a:blip r:embed="rId6" cstate="email">
            <a:extLst>
              <a:ext uri="{28A0092B-C50C-407E-A947-70E740481C1C}">
                <a14:useLocalDpi xmlns:a14="http://schemas.microsoft.com/office/drawing/2010/main" val="0"/>
              </a:ext>
            </a:extLst>
          </a:blip>
          <a:srcRect/>
          <a:stretch/>
        </p:blipFill>
        <p:spPr>
          <a:xfrm>
            <a:off x="5657150" y="4266811"/>
            <a:ext cx="2589855" cy="222960"/>
          </a:xfrm>
          <a:prstGeom prst="rect">
            <a:avLst/>
          </a:prstGeom>
          <a:ln>
            <a:solidFill>
              <a:schemeClr val="tx1"/>
            </a:solidFill>
          </a:ln>
          <a:effectLst>
            <a:outerShdw blurRad="50800" dist="38100" dir="2700000" algn="tl" rotWithShape="0">
              <a:prstClr val="black">
                <a:alpha val="40000"/>
              </a:prstClr>
            </a:outerShdw>
          </a:effectLst>
        </p:spPr>
      </p:pic>
      <p:sp>
        <p:nvSpPr>
          <p:cNvPr id="22" name="Rectangle 21"/>
          <p:cNvSpPr/>
          <p:nvPr/>
        </p:nvSpPr>
        <p:spPr>
          <a:xfrm>
            <a:off x="766075" y="1830272"/>
            <a:ext cx="3197994" cy="13434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4033552" y="3872836"/>
            <a:ext cx="414967"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5479717" y="3952145"/>
            <a:ext cx="456464"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Ellipse 26"/>
          <p:cNvSpPr/>
          <p:nvPr/>
        </p:nvSpPr>
        <p:spPr>
          <a:xfrm>
            <a:off x="545348" y="18201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8" name="Ellipse 27"/>
          <p:cNvSpPr/>
          <p:nvPr/>
        </p:nvSpPr>
        <p:spPr>
          <a:xfrm>
            <a:off x="545348" y="148437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29" name="Ellipse 28"/>
          <p:cNvSpPr/>
          <p:nvPr/>
        </p:nvSpPr>
        <p:spPr>
          <a:xfrm>
            <a:off x="1100928" y="26631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30" name="Ellipse 29"/>
          <p:cNvSpPr/>
          <p:nvPr/>
        </p:nvSpPr>
        <p:spPr>
          <a:xfrm>
            <a:off x="4135873" y="366553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1" name="Ellipse 30"/>
          <p:cNvSpPr/>
          <p:nvPr/>
        </p:nvSpPr>
        <p:spPr>
          <a:xfrm>
            <a:off x="1885682" y="334364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2" name="Ellipse 31"/>
          <p:cNvSpPr/>
          <p:nvPr/>
        </p:nvSpPr>
        <p:spPr>
          <a:xfrm>
            <a:off x="5289988" y="39417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33" name="Ellipse 32"/>
          <p:cNvSpPr/>
          <p:nvPr/>
        </p:nvSpPr>
        <p:spPr>
          <a:xfrm>
            <a:off x="5446124" y="43278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cxnSp>
        <p:nvCxnSpPr>
          <p:cNvPr id="6" name="Connecteur en angle 5"/>
          <p:cNvCxnSpPr>
            <a:endCxn id="20" idx="0"/>
          </p:cNvCxnSpPr>
          <p:nvPr/>
        </p:nvCxnSpPr>
        <p:spPr>
          <a:xfrm>
            <a:off x="1410609" y="1539243"/>
            <a:ext cx="957746" cy="716112"/>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eur en angle 33"/>
          <p:cNvCxnSpPr>
            <a:stCxn id="18" idx="3"/>
            <a:endCxn id="10" idx="1"/>
          </p:cNvCxnSpPr>
          <p:nvPr/>
        </p:nvCxnSpPr>
        <p:spPr>
          <a:xfrm>
            <a:off x="1257064" y="2507913"/>
            <a:ext cx="356365" cy="1199635"/>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eur en angle 35"/>
          <p:cNvCxnSpPr>
            <a:stCxn id="19" idx="3"/>
            <a:endCxn id="7" idx="1"/>
          </p:cNvCxnSpPr>
          <p:nvPr/>
        </p:nvCxnSpPr>
        <p:spPr>
          <a:xfrm>
            <a:off x="2036839" y="3197976"/>
            <a:ext cx="2756601" cy="509572"/>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Connecteur en angle 42"/>
          <p:cNvCxnSpPr>
            <a:endCxn id="8" idx="0"/>
          </p:cNvCxnSpPr>
          <p:nvPr/>
        </p:nvCxnSpPr>
        <p:spPr>
          <a:xfrm>
            <a:off x="5942674" y="4019013"/>
            <a:ext cx="1009404" cy="247798"/>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ZoneTexte 46"/>
          <p:cNvSpPr txBox="1"/>
          <p:nvPr/>
        </p:nvSpPr>
        <p:spPr>
          <a:xfrm>
            <a:off x="4776520" y="1077585"/>
            <a:ext cx="4114318" cy="1869743"/>
          </a:xfrm>
          <a:prstGeom prst="rect">
            <a:avLst/>
          </a:prstGeom>
          <a:noFill/>
        </p:spPr>
        <p:txBody>
          <a:bodyPr wrap="square" rtlCol="0">
            <a:spAutoFit/>
          </a:bodyPr>
          <a:lstStyle/>
          <a:p>
            <a:pPr>
              <a:lnSpc>
                <a:spcPct val="150000"/>
              </a:lnSpc>
            </a:pPr>
            <a:r>
              <a:rPr lang="fr-FR" sz="1100" dirty="0" smtClean="0">
                <a:solidFill>
                  <a:srgbClr val="4D4F53"/>
                </a:solidFill>
              </a:rPr>
              <a:t>Sélectionner </a:t>
            </a:r>
            <a:r>
              <a:rPr lang="fr-FR" sz="1100" dirty="0" smtClean="0">
                <a:solidFill>
                  <a:srgbClr val="4D4F53"/>
                </a:solidFill>
              </a:rPr>
              <a:t>la/les ligne(s) à copier</a:t>
            </a:r>
            <a:endParaRPr lang="fr-FR" sz="1100" dirty="0" smtClean="0">
              <a:solidFill>
                <a:srgbClr val="4D4F53"/>
              </a:solidFill>
            </a:endParaRPr>
          </a:p>
          <a:p>
            <a:pPr>
              <a:lnSpc>
                <a:spcPct val="150000"/>
              </a:lnSpc>
            </a:pPr>
            <a:r>
              <a:rPr lang="fr-FR" sz="1100" dirty="0" smtClean="0">
                <a:solidFill>
                  <a:srgbClr val="4D4F53"/>
                </a:solidFill>
              </a:rPr>
              <a:t>Cliquer sur le bouton</a:t>
            </a:r>
          </a:p>
          <a:p>
            <a:pPr>
              <a:lnSpc>
                <a:spcPct val="150000"/>
              </a:lnSpc>
            </a:pPr>
            <a:r>
              <a:rPr lang="fr-FR" sz="1100" dirty="0" smtClean="0">
                <a:solidFill>
                  <a:srgbClr val="4D4F53"/>
                </a:solidFill>
              </a:rPr>
              <a:t>Vérifier les données et cliquer sur le bouton « Données d’en-tête »</a:t>
            </a:r>
          </a:p>
          <a:p>
            <a:pPr>
              <a:lnSpc>
                <a:spcPct val="150000"/>
              </a:lnSpc>
            </a:pPr>
            <a:r>
              <a:rPr lang="fr-FR" sz="1100" dirty="0" smtClean="0">
                <a:solidFill>
                  <a:srgbClr val="4D4F53"/>
                </a:solidFill>
              </a:rPr>
              <a:t>Saisir un Numéro de Soumission</a:t>
            </a:r>
          </a:p>
          <a:p>
            <a:pPr>
              <a:lnSpc>
                <a:spcPct val="150000"/>
              </a:lnSpc>
            </a:pPr>
            <a:r>
              <a:rPr lang="fr-FR" sz="1100" dirty="0" smtClean="0">
                <a:solidFill>
                  <a:srgbClr val="4D4F53"/>
                </a:solidFill>
              </a:rPr>
              <a:t>Cliquer sur le bouton « Données fournisseur »</a:t>
            </a:r>
          </a:p>
          <a:p>
            <a:pPr>
              <a:lnSpc>
                <a:spcPct val="150000"/>
              </a:lnSpc>
            </a:pPr>
            <a:r>
              <a:rPr lang="fr-FR" sz="1100" dirty="0" smtClean="0">
                <a:solidFill>
                  <a:srgbClr val="4D4F53"/>
                </a:solidFill>
              </a:rPr>
              <a:t>Sélectionner un </a:t>
            </a:r>
            <a:r>
              <a:rPr lang="fr-FR" sz="1100" dirty="0" smtClean="0">
                <a:solidFill>
                  <a:srgbClr val="4D4F53"/>
                </a:solidFill>
              </a:rPr>
              <a:t>fournisseur et appuyer sur la touche « Entrée »</a:t>
            </a:r>
            <a:endParaRPr lang="fr-FR" sz="1100" dirty="0" smtClean="0">
              <a:solidFill>
                <a:srgbClr val="4D4F53"/>
              </a:solidFill>
            </a:endParaRPr>
          </a:p>
          <a:p>
            <a:pPr>
              <a:lnSpc>
                <a:spcPct val="150000"/>
              </a:lnSpc>
            </a:pPr>
            <a:r>
              <a:rPr lang="fr-FR" sz="1100" dirty="0" smtClean="0">
                <a:solidFill>
                  <a:srgbClr val="4D4F53"/>
                </a:solidFill>
              </a:rPr>
              <a:t>Sauvegarder avec l’icône      : un message de confirmation apparaît</a:t>
            </a:r>
          </a:p>
        </p:txBody>
      </p:sp>
      <p:sp>
        <p:nvSpPr>
          <p:cNvPr id="49" name="Ellipse 48"/>
          <p:cNvSpPr/>
          <p:nvPr/>
        </p:nvSpPr>
        <p:spPr>
          <a:xfrm>
            <a:off x="4628930" y="11967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0" name="Ellipse 49"/>
          <p:cNvSpPr/>
          <p:nvPr/>
        </p:nvSpPr>
        <p:spPr>
          <a:xfrm>
            <a:off x="4628930" y="14473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1" name="Ellipse 50"/>
          <p:cNvSpPr/>
          <p:nvPr/>
        </p:nvSpPr>
        <p:spPr>
          <a:xfrm>
            <a:off x="4632245" y="16980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52" name="Ellipse 51"/>
          <p:cNvSpPr/>
          <p:nvPr/>
        </p:nvSpPr>
        <p:spPr>
          <a:xfrm>
            <a:off x="4637716" y="19487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53" name="Image 52"/>
          <p:cNvPicPr>
            <a:picLocks noChangeAspect="1"/>
          </p:cNvPicPr>
          <p:nvPr/>
        </p:nvPicPr>
        <p:blipFill rotWithShape="1">
          <a:blip r:embed="rId7">
            <a:extLst>
              <a:ext uri="{28A0092B-C50C-407E-A947-70E740481C1C}">
                <a14:useLocalDpi xmlns:a14="http://schemas.microsoft.com/office/drawing/2010/main" val="0"/>
              </a:ext>
            </a:extLst>
          </a:blip>
          <a:srcRect/>
          <a:stretch/>
        </p:blipFill>
        <p:spPr>
          <a:xfrm>
            <a:off x="6108562" y="1427441"/>
            <a:ext cx="623455" cy="159327"/>
          </a:xfrm>
          <a:prstGeom prst="rect">
            <a:avLst/>
          </a:prstGeom>
          <a:ln>
            <a:solidFill>
              <a:schemeClr val="tx1"/>
            </a:solidFill>
          </a:ln>
          <a:effectLst>
            <a:outerShdw blurRad="50800" dist="38100" dir="2700000" algn="tl" rotWithShape="0">
              <a:prstClr val="black">
                <a:alpha val="40000"/>
              </a:prstClr>
            </a:outerShdw>
          </a:effectLst>
        </p:spPr>
      </p:pic>
      <p:sp>
        <p:nvSpPr>
          <p:cNvPr id="58" name="Ellipse 57"/>
          <p:cNvSpPr/>
          <p:nvPr/>
        </p:nvSpPr>
        <p:spPr>
          <a:xfrm>
            <a:off x="4637716" y="21994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59" name="Ellipse 58"/>
          <p:cNvSpPr/>
          <p:nvPr/>
        </p:nvSpPr>
        <p:spPr>
          <a:xfrm>
            <a:off x="4637716" y="24501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60" name="Ellipse 59"/>
          <p:cNvSpPr/>
          <p:nvPr/>
        </p:nvSpPr>
        <p:spPr>
          <a:xfrm>
            <a:off x="4637716" y="270082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
        <p:nvSpPr>
          <p:cNvPr id="62"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ME41 - Créer </a:t>
            </a:r>
            <a:r>
              <a:rPr lang="fr-FR" altLang="en-US" dirty="0" smtClean="0"/>
              <a:t>un RFQ (avec référence à une Demande d’Achats) – 2/2</a:t>
            </a:r>
            <a:endParaRPr lang="en-US" altLang="en-US" dirty="0" smtClean="0"/>
          </a:p>
        </p:txBody>
      </p:sp>
      <p:pic>
        <p:nvPicPr>
          <p:cNvPr id="2" name="Image 1"/>
          <p:cNvPicPr>
            <a:picLocks noChangeAspect="1"/>
          </p:cNvPicPr>
          <p:nvPr/>
        </p:nvPicPr>
        <p:blipFill rotWithShape="1">
          <a:blip r:embed="rId8">
            <a:extLst>
              <a:ext uri="{28A0092B-C50C-407E-A947-70E740481C1C}">
                <a14:useLocalDpi xmlns:a14="http://schemas.microsoft.com/office/drawing/2010/main" val="0"/>
              </a:ext>
            </a:extLst>
          </a:blip>
          <a:srcRect/>
          <a:stretch/>
        </p:blipFill>
        <p:spPr>
          <a:xfrm>
            <a:off x="6298406" y="2705100"/>
            <a:ext cx="145257" cy="142875"/>
          </a:xfrm>
          <a:prstGeom prst="rect">
            <a:avLst/>
          </a:prstGeom>
        </p:spPr>
      </p:pic>
      <p:pic>
        <p:nvPicPr>
          <p:cNvPr id="37" name="Image 36"/>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8679604" y="1679185"/>
            <a:ext cx="211234" cy="175485"/>
          </a:xfrm>
          <a:prstGeom prst="rect">
            <a:avLst/>
          </a:prstGeom>
          <a:ln>
            <a:solidFill>
              <a:schemeClr val="tx1"/>
            </a:solidFill>
          </a:ln>
          <a:effectLst>
            <a:outerShdw blurRad="50800" dist="38100" dir="2700000" algn="tl" rotWithShape="0">
              <a:prstClr val="black">
                <a:alpha val="40000"/>
              </a:prstClr>
            </a:outerShdw>
          </a:effectLst>
        </p:spPr>
      </p:pic>
      <p:pic>
        <p:nvPicPr>
          <p:cNvPr id="38" name="Image 37"/>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7523463" y="2207012"/>
            <a:ext cx="153402" cy="139456"/>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488122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email">
            <a:extLst>
              <a:ext uri="{28A0092B-C50C-407E-A947-70E740481C1C}">
                <a14:useLocalDpi xmlns:a14="http://schemas.microsoft.com/office/drawing/2010/main" val="0"/>
              </a:ext>
            </a:extLst>
          </a:blip>
          <a:srcRect/>
          <a:stretch/>
        </p:blipFill>
        <p:spPr>
          <a:xfrm>
            <a:off x="4046528" y="1364398"/>
            <a:ext cx="2996257" cy="2431999"/>
          </a:xfrm>
          <a:prstGeom prst="rect">
            <a:avLst/>
          </a:prstGeom>
          <a:ln>
            <a:solidFill>
              <a:schemeClr val="tx1"/>
            </a:solidFill>
          </a:ln>
          <a:effectLst>
            <a:outerShdw blurRad="50800" dist="38100" dir="2700000" algn="tl" rotWithShape="0">
              <a:prstClr val="black">
                <a:alpha val="40000"/>
              </a:prstClr>
            </a:outerShdw>
          </a:effectLst>
        </p:spPr>
      </p:pic>
      <p:sp>
        <p:nvSpPr>
          <p:cNvPr id="18" name="Rectangle 17"/>
          <p:cNvSpPr/>
          <p:nvPr/>
        </p:nvSpPr>
        <p:spPr>
          <a:xfrm>
            <a:off x="5194722" y="3342738"/>
            <a:ext cx="257625"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0" name="Rectangle 19"/>
          <p:cNvSpPr/>
          <p:nvPr/>
        </p:nvSpPr>
        <p:spPr>
          <a:xfrm>
            <a:off x="5194722" y="3495138"/>
            <a:ext cx="257625"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1" name="Connecteur droit 20"/>
          <p:cNvCxnSpPr>
            <a:stCxn id="18" idx="3"/>
            <a:endCxn id="38" idx="1"/>
          </p:cNvCxnSpPr>
          <p:nvPr/>
        </p:nvCxnSpPr>
        <p:spPr>
          <a:xfrm flipV="1">
            <a:off x="5452347" y="1904986"/>
            <a:ext cx="1418730" cy="1510414"/>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a:stCxn id="20" idx="3"/>
            <a:endCxn id="39" idx="1"/>
          </p:cNvCxnSpPr>
          <p:nvPr/>
        </p:nvCxnSpPr>
        <p:spPr>
          <a:xfrm flipV="1">
            <a:off x="5452347" y="3432570"/>
            <a:ext cx="894048" cy="135230"/>
          </a:xfrm>
          <a:prstGeom prst="line">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88860" y="2708043"/>
            <a:ext cx="558905"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7" name="Ellipse 26"/>
          <p:cNvSpPr/>
          <p:nvPr/>
        </p:nvSpPr>
        <p:spPr>
          <a:xfrm>
            <a:off x="5015367" y="27082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8" name="Ellipse 27"/>
          <p:cNvSpPr/>
          <p:nvPr/>
        </p:nvSpPr>
        <p:spPr>
          <a:xfrm>
            <a:off x="5015367" y="334056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9" name="Ellipse 28"/>
          <p:cNvSpPr/>
          <p:nvPr/>
        </p:nvSpPr>
        <p:spPr>
          <a:xfrm>
            <a:off x="5015367" y="349350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nvGrpSpPr>
          <p:cNvPr id="31" name="Groupe 30"/>
          <p:cNvGrpSpPr/>
          <p:nvPr/>
        </p:nvGrpSpPr>
        <p:grpSpPr>
          <a:xfrm>
            <a:off x="487093" y="1773078"/>
            <a:ext cx="3194009" cy="1569660"/>
            <a:chOff x="425491" y="1232489"/>
            <a:chExt cx="3194009" cy="1569660"/>
          </a:xfrm>
        </p:grpSpPr>
        <p:sp>
          <p:nvSpPr>
            <p:cNvPr id="32" name="ZoneTexte 31"/>
            <p:cNvSpPr txBox="1"/>
            <p:nvPr/>
          </p:nvSpPr>
          <p:spPr>
            <a:xfrm>
              <a:off x="581025" y="1232489"/>
              <a:ext cx="3038475" cy="1569660"/>
            </a:xfrm>
            <a:prstGeom prst="rect">
              <a:avLst/>
            </a:prstGeom>
            <a:noFill/>
          </p:spPr>
          <p:txBody>
            <a:bodyPr wrap="square" rtlCol="0">
              <a:spAutoFit/>
            </a:bodyPr>
            <a:lstStyle/>
            <a:p>
              <a:r>
                <a:rPr lang="fr-FR" sz="1200" dirty="0" smtClean="0">
                  <a:solidFill>
                    <a:srgbClr val="4D4F53"/>
                  </a:solidFill>
                </a:rPr>
                <a:t>Indiquer un délai de soumission d’offre (date limite de réponse pour le fournisseur)</a:t>
              </a:r>
            </a:p>
            <a:p>
              <a:endParaRPr lang="fr-FR" sz="1200" dirty="0">
                <a:solidFill>
                  <a:srgbClr val="4D4F53"/>
                </a:solidFill>
              </a:endParaRPr>
            </a:p>
            <a:p>
              <a:r>
                <a:rPr lang="fr-FR" sz="1200" dirty="0" smtClean="0">
                  <a:solidFill>
                    <a:srgbClr val="4D4F53"/>
                  </a:solidFill>
                </a:rPr>
                <a:t>Choisir une Organisation d’Achats</a:t>
              </a:r>
            </a:p>
            <a:p>
              <a:endParaRPr lang="fr-FR" sz="1200" dirty="0">
                <a:solidFill>
                  <a:srgbClr val="4D4F53"/>
                </a:solidFill>
              </a:endParaRPr>
            </a:p>
            <a:p>
              <a:r>
                <a:rPr lang="fr-FR" sz="1200" dirty="0" smtClean="0">
                  <a:solidFill>
                    <a:srgbClr val="4D4F53"/>
                  </a:solidFill>
                </a:rPr>
                <a:t>Choisir un Groupe d’Acheteurs</a:t>
              </a:r>
            </a:p>
            <a:p>
              <a:endParaRPr lang="fr-FR" sz="1200" dirty="0">
                <a:solidFill>
                  <a:srgbClr val="4D4F53"/>
                </a:solidFill>
              </a:endParaRPr>
            </a:p>
            <a:p>
              <a:r>
                <a:rPr lang="fr-FR" sz="1200" dirty="0" smtClean="0">
                  <a:solidFill>
                    <a:srgbClr val="4D4F53"/>
                  </a:solidFill>
                </a:rPr>
                <a:t>Appuyer sur la touche Entrée</a:t>
              </a:r>
            </a:p>
          </p:txBody>
        </p:sp>
        <p:sp>
          <p:nvSpPr>
            <p:cNvPr id="34" name="Ellipse 33"/>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5" name="Ellipse 34"/>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6" name="Ellipse 35"/>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7" name="Ellipse 36"/>
            <p:cNvSpPr/>
            <p:nvPr/>
          </p:nvSpPr>
          <p:spPr>
            <a:xfrm>
              <a:off x="425491" y="25600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pic>
        <p:nvPicPr>
          <p:cNvPr id="38" name="Image 37"/>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a:off x="6871077" y="1272474"/>
            <a:ext cx="1021238" cy="1265024"/>
          </a:xfrm>
          <a:prstGeom prst="rect">
            <a:avLst/>
          </a:prstGeom>
          <a:ln>
            <a:solidFill>
              <a:schemeClr val="tx1"/>
            </a:solidFill>
          </a:ln>
          <a:effectLst>
            <a:outerShdw blurRad="50800" dist="38100" dir="2700000" algn="tl" rotWithShape="0">
              <a:prstClr val="black">
                <a:alpha val="40000"/>
              </a:prstClr>
            </a:outerShdw>
          </a:effectLst>
        </p:spPr>
      </p:pic>
      <p:pic>
        <p:nvPicPr>
          <p:cNvPr id="39" name="Image 38"/>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346395" y="2693816"/>
            <a:ext cx="2123631" cy="1477507"/>
          </a:xfrm>
          <a:prstGeom prst="rect">
            <a:avLst/>
          </a:prstGeom>
          <a:ln>
            <a:solidFill>
              <a:schemeClr val="tx1"/>
            </a:solidFill>
          </a:ln>
          <a:effectLst>
            <a:outerShdw blurRad="50800" dist="38100" dir="2700000" algn="tl" rotWithShape="0">
              <a:prstClr val="black">
                <a:alpha val="40000"/>
              </a:prstClr>
            </a:outerShdw>
          </a:effectLst>
        </p:spPr>
      </p:pic>
      <p:sp>
        <p:nvSpPr>
          <p:cNvPr id="40"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ME41 - Créer </a:t>
            </a:r>
            <a:r>
              <a:rPr lang="fr-FR" altLang="en-US" dirty="0" smtClean="0"/>
              <a:t>un RFQ sans référence – 1/3</a:t>
            </a:r>
            <a:endParaRPr lang="en-US" altLang="en-US" dirty="0" smtClean="0"/>
          </a:p>
        </p:txBody>
      </p:sp>
    </p:spTree>
    <p:extLst>
      <p:ext uri="{BB962C8B-B14F-4D97-AF65-F5344CB8AC3E}">
        <p14:creationId xmlns:p14="http://schemas.microsoft.com/office/powerpoint/2010/main" val="12063639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338820" y="2877793"/>
            <a:ext cx="4755703" cy="1370315"/>
          </a:xfrm>
          <a:prstGeom prst="rect">
            <a:avLst/>
          </a:prstGeom>
          <a:ln>
            <a:solidFill>
              <a:schemeClr val="tx1"/>
            </a:solidFill>
          </a:ln>
          <a:effectLst>
            <a:outerShdw blurRad="50800" dist="38100" dir="2700000" algn="tl" rotWithShape="0">
              <a:prstClr val="black">
                <a:alpha val="40000"/>
              </a:prstClr>
            </a:outerShdw>
          </a:effectLst>
        </p:spPr>
      </p:pic>
      <p:sp>
        <p:nvSpPr>
          <p:cNvPr id="10"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ME41 - Créer </a:t>
            </a:r>
            <a:r>
              <a:rPr lang="fr-FR" altLang="en-US" dirty="0" smtClean="0"/>
              <a:t>un RFQ sans référence – 2/3</a:t>
            </a:r>
            <a:endParaRPr lang="en-US" altLang="en-US" dirty="0" smtClean="0"/>
          </a:p>
        </p:txBody>
      </p:sp>
      <p:sp>
        <p:nvSpPr>
          <p:cNvPr id="8" name="Rectangle 7"/>
          <p:cNvSpPr/>
          <p:nvPr/>
        </p:nvSpPr>
        <p:spPr>
          <a:xfrm>
            <a:off x="753013" y="4128692"/>
            <a:ext cx="1563338"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 name="Ellipse 8"/>
          <p:cNvSpPr/>
          <p:nvPr/>
        </p:nvSpPr>
        <p:spPr>
          <a:xfrm>
            <a:off x="573170" y="41220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1" name="Rectangle 10"/>
          <p:cNvSpPr/>
          <p:nvPr/>
        </p:nvSpPr>
        <p:spPr>
          <a:xfrm>
            <a:off x="2714892" y="4128692"/>
            <a:ext cx="28118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Rectangle 13"/>
          <p:cNvSpPr/>
          <p:nvPr/>
        </p:nvSpPr>
        <p:spPr>
          <a:xfrm>
            <a:off x="2994667" y="4128692"/>
            <a:ext cx="14429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Rectangle 14"/>
          <p:cNvSpPr/>
          <p:nvPr/>
        </p:nvSpPr>
        <p:spPr>
          <a:xfrm>
            <a:off x="3907243" y="4128692"/>
            <a:ext cx="395079"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7" name="Rectangle 16"/>
          <p:cNvSpPr/>
          <p:nvPr/>
        </p:nvSpPr>
        <p:spPr>
          <a:xfrm>
            <a:off x="4812421" y="4122093"/>
            <a:ext cx="14429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8" name="Ellipse 17"/>
          <p:cNvSpPr/>
          <p:nvPr/>
        </p:nvSpPr>
        <p:spPr>
          <a:xfrm>
            <a:off x="2777414" y="43038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9" name="Ellipse 18"/>
          <p:cNvSpPr/>
          <p:nvPr/>
        </p:nvSpPr>
        <p:spPr>
          <a:xfrm>
            <a:off x="2996072" y="43038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0" name="Ellipse 19"/>
          <p:cNvSpPr/>
          <p:nvPr/>
        </p:nvSpPr>
        <p:spPr>
          <a:xfrm>
            <a:off x="3967229" y="43038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21" name="Ellipse 20"/>
          <p:cNvSpPr/>
          <p:nvPr/>
        </p:nvSpPr>
        <p:spPr>
          <a:xfrm>
            <a:off x="4806184" y="43038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22" name="Rectangle 21"/>
          <p:cNvSpPr/>
          <p:nvPr/>
        </p:nvSpPr>
        <p:spPr>
          <a:xfrm>
            <a:off x="1999371" y="3144849"/>
            <a:ext cx="14429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Ellipse 22"/>
          <p:cNvSpPr/>
          <p:nvPr/>
        </p:nvSpPr>
        <p:spPr>
          <a:xfrm>
            <a:off x="1812949" y="31356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nvGrpSpPr>
          <p:cNvPr id="24" name="Groupe 23"/>
          <p:cNvGrpSpPr/>
          <p:nvPr/>
        </p:nvGrpSpPr>
        <p:grpSpPr>
          <a:xfrm>
            <a:off x="5437369" y="1005981"/>
            <a:ext cx="3434641" cy="3416320"/>
            <a:chOff x="425491" y="1232489"/>
            <a:chExt cx="3194009" cy="3416320"/>
          </a:xfrm>
        </p:grpSpPr>
        <p:sp>
          <p:nvSpPr>
            <p:cNvPr id="25" name="ZoneTexte 24"/>
            <p:cNvSpPr txBox="1"/>
            <p:nvPr/>
          </p:nvSpPr>
          <p:spPr>
            <a:xfrm>
              <a:off x="581025" y="1232489"/>
              <a:ext cx="3038475" cy="3416320"/>
            </a:xfrm>
            <a:prstGeom prst="rect">
              <a:avLst/>
            </a:prstGeom>
            <a:noFill/>
          </p:spPr>
          <p:txBody>
            <a:bodyPr wrap="square" rtlCol="0">
              <a:spAutoFit/>
            </a:bodyPr>
            <a:lstStyle/>
            <a:p>
              <a:r>
                <a:rPr lang="fr-FR" sz="1200" dirty="0" smtClean="0">
                  <a:solidFill>
                    <a:srgbClr val="4D4F53"/>
                  </a:solidFill>
                </a:rPr>
                <a:t>Indiquer un code article ou une désignation (si non codifié)</a:t>
              </a:r>
            </a:p>
            <a:p>
              <a:endParaRPr lang="fr-FR" sz="1200" dirty="0">
                <a:solidFill>
                  <a:srgbClr val="4D4F53"/>
                </a:solidFill>
              </a:endParaRPr>
            </a:p>
            <a:p>
              <a:r>
                <a:rPr lang="fr-FR" sz="1200" dirty="0" smtClean="0">
                  <a:solidFill>
                    <a:srgbClr val="4D4F53"/>
                  </a:solidFill>
                </a:rPr>
                <a:t>Préciser la quantité demandée</a:t>
              </a:r>
            </a:p>
            <a:p>
              <a:endParaRPr lang="fr-FR" sz="1200" dirty="0">
                <a:solidFill>
                  <a:srgbClr val="4D4F53"/>
                </a:solidFill>
              </a:endParaRPr>
            </a:p>
            <a:p>
              <a:r>
                <a:rPr lang="fr-FR" sz="1200" dirty="0" smtClean="0">
                  <a:solidFill>
                    <a:srgbClr val="4D4F53"/>
                  </a:solidFill>
                </a:rPr>
                <a:t>Si l’article est non codifié, préciser l’unité</a:t>
              </a:r>
            </a:p>
            <a:p>
              <a:endParaRPr lang="fr-FR" sz="1200" dirty="0">
                <a:solidFill>
                  <a:srgbClr val="4D4F53"/>
                </a:solidFill>
              </a:endParaRPr>
            </a:p>
            <a:p>
              <a:r>
                <a:rPr lang="fr-FR" sz="1200" dirty="0" smtClean="0">
                  <a:solidFill>
                    <a:srgbClr val="4D4F53"/>
                  </a:solidFill>
                </a:rPr>
                <a:t>Si l’article est non codifié, préciser le Groupe de Marchandises</a:t>
              </a:r>
            </a:p>
            <a:p>
              <a:endParaRPr lang="fr-FR" sz="1200" dirty="0">
                <a:solidFill>
                  <a:srgbClr val="4D4F53"/>
                </a:solidFill>
              </a:endParaRPr>
            </a:p>
            <a:p>
              <a:r>
                <a:rPr lang="fr-FR" sz="1200" dirty="0" smtClean="0">
                  <a:solidFill>
                    <a:srgbClr val="4D4F53"/>
                  </a:solidFill>
                </a:rPr>
                <a:t>Il est possible de maintenir des textes au niveau du poste de RFQ en cliquant sur l’icône </a:t>
              </a:r>
            </a:p>
            <a:p>
              <a:endParaRPr lang="fr-FR" sz="1200" dirty="0">
                <a:solidFill>
                  <a:srgbClr val="4D4F53"/>
                </a:solidFill>
              </a:endParaRPr>
            </a:p>
            <a:p>
              <a:r>
                <a:rPr lang="fr-FR" sz="1200" dirty="0" smtClean="0">
                  <a:solidFill>
                    <a:srgbClr val="4D4F53"/>
                  </a:solidFill>
                </a:rPr>
                <a:t>Si un texte était </a:t>
              </a:r>
              <a:r>
                <a:rPr lang="fr-FR" sz="1200" dirty="0" smtClean="0">
                  <a:solidFill>
                    <a:srgbClr val="4D4F53"/>
                  </a:solidFill>
                </a:rPr>
                <a:t>maintenu </a:t>
              </a:r>
              <a:r>
                <a:rPr lang="fr-FR" sz="1200" dirty="0" smtClean="0">
                  <a:solidFill>
                    <a:srgbClr val="4D4F53"/>
                  </a:solidFill>
                </a:rPr>
                <a:t>dans l’article ou la Demande d’Achat de référence, il est proposé par défaut et modifiable. Sinon la saisie est libre</a:t>
              </a:r>
            </a:p>
            <a:p>
              <a:endParaRPr lang="fr-FR" sz="1200" dirty="0">
                <a:solidFill>
                  <a:srgbClr val="4D4F53"/>
                </a:solidFill>
              </a:endParaRPr>
            </a:p>
            <a:p>
              <a:r>
                <a:rPr lang="fr-FR" sz="1200" dirty="0" smtClean="0">
                  <a:solidFill>
                    <a:srgbClr val="4D4F53"/>
                  </a:solidFill>
                </a:rPr>
                <a:t>Si un texte est maintenu, </a:t>
              </a:r>
              <a:r>
                <a:rPr lang="fr-FR" sz="1200" dirty="0" smtClean="0">
                  <a:solidFill>
                    <a:srgbClr val="4D4F53"/>
                  </a:solidFill>
                </a:rPr>
                <a:t>ces icônes apparaissent</a:t>
              </a:r>
              <a:endParaRPr lang="fr-FR" sz="1200" dirty="0">
                <a:solidFill>
                  <a:srgbClr val="4D4F53"/>
                </a:solidFill>
              </a:endParaRPr>
            </a:p>
          </p:txBody>
        </p:sp>
        <p:sp>
          <p:nvSpPr>
            <p:cNvPr id="26" name="Ellipse 2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7" name="Ellipse 26"/>
            <p:cNvSpPr/>
            <p:nvPr/>
          </p:nvSpPr>
          <p:spPr>
            <a:xfrm>
              <a:off x="425491" y="18375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8" name="Ellipse 27"/>
            <p:cNvSpPr/>
            <p:nvPr/>
          </p:nvSpPr>
          <p:spPr>
            <a:xfrm>
              <a:off x="425491" y="21988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Ellipse 28"/>
            <p:cNvSpPr/>
            <p:nvPr/>
          </p:nvSpPr>
          <p:spPr>
            <a:xfrm>
              <a:off x="425491" y="25600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1" name="Ellipse 30"/>
            <p:cNvSpPr/>
            <p:nvPr/>
          </p:nvSpPr>
          <p:spPr>
            <a:xfrm>
              <a:off x="425491" y="312572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43" name="Ellipse 42"/>
            <p:cNvSpPr/>
            <p:nvPr/>
          </p:nvSpPr>
          <p:spPr>
            <a:xfrm>
              <a:off x="425491" y="36724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44" name="Ellipse 43"/>
            <p:cNvSpPr/>
            <p:nvPr/>
          </p:nvSpPr>
          <p:spPr>
            <a:xfrm>
              <a:off x="425491" y="43900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grpSp>
      <p:pic>
        <p:nvPicPr>
          <p:cNvPr id="30" name="Image 29"/>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156097" y="3076648"/>
            <a:ext cx="123826" cy="138113"/>
          </a:xfrm>
          <a:prstGeom prst="rect">
            <a:avLst/>
          </a:prstGeom>
          <a:ln>
            <a:solidFill>
              <a:schemeClr val="tx1"/>
            </a:solidFill>
          </a:ln>
          <a:effectLst>
            <a:outerShdw blurRad="50800" dist="38100" dir="2700000" algn="tl" rotWithShape="0">
              <a:prstClr val="black">
                <a:alpha val="40000"/>
              </a:prstClr>
            </a:outerShdw>
          </a:effectLst>
        </p:spPr>
      </p:pic>
      <p:pic>
        <p:nvPicPr>
          <p:cNvPr id="32" name="Image 31"/>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347218" y="1175518"/>
            <a:ext cx="2783896" cy="1660122"/>
          </a:xfrm>
          <a:prstGeom prst="rect">
            <a:avLst/>
          </a:prstGeom>
          <a:ln>
            <a:solidFill>
              <a:schemeClr val="tx1"/>
            </a:solidFill>
          </a:ln>
          <a:effectLst>
            <a:outerShdw blurRad="50800" dist="38100" dir="2700000" algn="tl" rotWithShape="0">
              <a:prstClr val="black">
                <a:alpha val="40000"/>
              </a:prstClr>
            </a:outerShdw>
          </a:effectLst>
        </p:spPr>
      </p:pic>
      <p:cxnSp>
        <p:nvCxnSpPr>
          <p:cNvPr id="34" name="Connecteur en angle 33"/>
          <p:cNvCxnSpPr>
            <a:stCxn id="22" idx="0"/>
            <a:endCxn id="32" idx="2"/>
          </p:cNvCxnSpPr>
          <p:nvPr/>
        </p:nvCxnSpPr>
        <p:spPr>
          <a:xfrm rot="5400000" flipH="1" flipV="1">
            <a:off x="2250737" y="2656420"/>
            <a:ext cx="309209" cy="667650"/>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838759" y="2410574"/>
            <a:ext cx="1709629" cy="24139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Rectangle 36"/>
          <p:cNvSpPr/>
          <p:nvPr/>
        </p:nvSpPr>
        <p:spPr>
          <a:xfrm>
            <a:off x="3743751" y="2516980"/>
            <a:ext cx="14429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Ellipse 37"/>
          <p:cNvSpPr/>
          <p:nvPr/>
        </p:nvSpPr>
        <p:spPr>
          <a:xfrm>
            <a:off x="2311280" y="220180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39" name="Ellipse 38"/>
          <p:cNvSpPr/>
          <p:nvPr/>
        </p:nvSpPr>
        <p:spPr>
          <a:xfrm>
            <a:off x="3745642" y="23239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Tree>
    <p:extLst>
      <p:ext uri="{BB962C8B-B14F-4D97-AF65-F5344CB8AC3E}">
        <p14:creationId xmlns:p14="http://schemas.microsoft.com/office/powerpoint/2010/main" val="33177079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60507" y="1146874"/>
            <a:ext cx="3253253" cy="1351017"/>
          </a:xfrm>
          <a:prstGeom prst="rect">
            <a:avLst/>
          </a:prstGeom>
          <a:ln>
            <a:solidFill>
              <a:schemeClr val="tx1"/>
            </a:solidFill>
          </a:ln>
          <a:effectLst>
            <a:outerShdw blurRad="50800" dist="38100" dir="2700000" algn="tl" rotWithShape="0">
              <a:prstClr val="black">
                <a:alpha val="40000"/>
              </a:prstClr>
            </a:outerShdw>
          </a:effectLst>
        </p:spPr>
      </p:pic>
      <p:sp>
        <p:nvSpPr>
          <p:cNvPr id="10" name="Titre 3"/>
          <p:cNvSpPr>
            <a:spLocks noGrp="1"/>
          </p:cNvSpPr>
          <p:nvPr>
            <p:ph type="title"/>
          </p:nvPr>
        </p:nvSpPr>
        <p:spPr>
          <a:xfrm>
            <a:off x="457200" y="206375"/>
            <a:ext cx="8229600" cy="857250"/>
          </a:xfrm>
        </p:spPr>
        <p:txBody>
          <a:bodyPr/>
          <a:lstStyle/>
          <a:p>
            <a:r>
              <a:rPr lang="fr-FR" altLang="en-US" sz="2400" dirty="0"/>
              <a:t>Mode opératoire</a:t>
            </a:r>
            <a:br>
              <a:rPr lang="fr-FR" altLang="en-US" sz="2400" dirty="0"/>
            </a:br>
            <a:r>
              <a:rPr lang="fr-FR" altLang="en-US" dirty="0"/>
              <a:t>ME41 - Créer </a:t>
            </a:r>
            <a:r>
              <a:rPr lang="fr-FR" altLang="en-US" dirty="0" smtClean="0"/>
              <a:t>un RFQ sans référence – 3/3</a:t>
            </a:r>
            <a:endParaRPr lang="en-US" altLang="en-US" dirty="0" smtClean="0"/>
          </a:p>
        </p:txBody>
      </p:sp>
      <p:sp>
        <p:nvSpPr>
          <p:cNvPr id="25" name="ZoneTexte 24"/>
          <p:cNvSpPr txBox="1"/>
          <p:nvPr/>
        </p:nvSpPr>
        <p:spPr>
          <a:xfrm>
            <a:off x="4894507" y="1745259"/>
            <a:ext cx="3845633" cy="1938992"/>
          </a:xfrm>
          <a:prstGeom prst="rect">
            <a:avLst/>
          </a:prstGeom>
          <a:noFill/>
        </p:spPr>
        <p:txBody>
          <a:bodyPr wrap="square" rtlCol="0">
            <a:spAutoFit/>
          </a:bodyPr>
          <a:lstStyle/>
          <a:p>
            <a:r>
              <a:rPr lang="fr-FR" sz="1200" dirty="0" smtClean="0">
                <a:solidFill>
                  <a:srgbClr val="4D4F53"/>
                </a:solidFill>
              </a:rPr>
              <a:t>Cliquer sur l’icône « Données d’en-tête »</a:t>
            </a:r>
          </a:p>
          <a:p>
            <a:endParaRPr lang="fr-FR" sz="1200" dirty="0">
              <a:solidFill>
                <a:srgbClr val="4D4F53"/>
              </a:solidFill>
            </a:endParaRPr>
          </a:p>
          <a:p>
            <a:r>
              <a:rPr lang="fr-FR" sz="1200" dirty="0" smtClean="0">
                <a:solidFill>
                  <a:srgbClr val="4D4F53"/>
                </a:solidFill>
              </a:rPr>
              <a:t>Saisir un numéro de soumission</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Cliquer </a:t>
            </a:r>
            <a:r>
              <a:rPr lang="fr-FR" sz="1200" dirty="0">
                <a:solidFill>
                  <a:srgbClr val="4D4F53"/>
                </a:solidFill>
              </a:rPr>
              <a:t>sur le bouton « Données fournisseur </a:t>
            </a:r>
            <a:r>
              <a:rPr lang="fr-FR" sz="1200" dirty="0" smtClean="0">
                <a:solidFill>
                  <a:srgbClr val="4D4F53"/>
                </a:solidFill>
              </a:rPr>
              <a:t>»</a:t>
            </a:r>
          </a:p>
          <a:p>
            <a:endParaRPr lang="fr-FR" sz="1200" dirty="0">
              <a:solidFill>
                <a:srgbClr val="4D4F53"/>
              </a:solidFill>
            </a:endParaRPr>
          </a:p>
          <a:p>
            <a:r>
              <a:rPr lang="fr-FR" sz="1200" dirty="0" smtClean="0">
                <a:solidFill>
                  <a:srgbClr val="4D4F53"/>
                </a:solidFill>
              </a:rPr>
              <a:t>Sélectionner </a:t>
            </a:r>
            <a:r>
              <a:rPr lang="fr-FR" sz="1200" dirty="0">
                <a:solidFill>
                  <a:srgbClr val="4D4F53"/>
                </a:solidFill>
              </a:rPr>
              <a:t>un </a:t>
            </a:r>
            <a:r>
              <a:rPr lang="fr-FR" sz="1200" dirty="0" smtClean="0">
                <a:solidFill>
                  <a:srgbClr val="4D4F53"/>
                </a:solidFill>
              </a:rPr>
              <a:t>fournisseur</a:t>
            </a:r>
          </a:p>
          <a:p>
            <a:endParaRPr lang="fr-FR" sz="1200" dirty="0">
              <a:solidFill>
                <a:srgbClr val="4D4F53"/>
              </a:solidFill>
            </a:endParaRPr>
          </a:p>
          <a:p>
            <a:r>
              <a:rPr lang="fr-FR" sz="1200" dirty="0" smtClean="0">
                <a:solidFill>
                  <a:srgbClr val="4D4F53"/>
                </a:solidFill>
              </a:rPr>
              <a:t>Sauvegarder avec l’icône     : un message de confirmation apparaît</a:t>
            </a:r>
            <a:endParaRPr lang="fr-FR" sz="1200" dirty="0">
              <a:solidFill>
                <a:srgbClr val="4D4F53"/>
              </a:solidFill>
            </a:endParaRPr>
          </a:p>
        </p:txBody>
      </p:sp>
      <p:sp>
        <p:nvSpPr>
          <p:cNvPr id="26" name="Ellipse 25"/>
          <p:cNvSpPr/>
          <p:nvPr/>
        </p:nvSpPr>
        <p:spPr>
          <a:xfrm>
            <a:off x="4727255" y="179988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7" name="Ellipse 26"/>
          <p:cNvSpPr/>
          <p:nvPr/>
        </p:nvSpPr>
        <p:spPr>
          <a:xfrm>
            <a:off x="4727255" y="216615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8" name="Ellipse 27"/>
          <p:cNvSpPr/>
          <p:nvPr/>
        </p:nvSpPr>
        <p:spPr>
          <a:xfrm>
            <a:off x="4727255" y="2527474"/>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Ellipse 28"/>
          <p:cNvSpPr/>
          <p:nvPr/>
        </p:nvSpPr>
        <p:spPr>
          <a:xfrm>
            <a:off x="4727255" y="2888699"/>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1" name="Ellipse 30"/>
          <p:cNvSpPr/>
          <p:nvPr/>
        </p:nvSpPr>
        <p:spPr>
          <a:xfrm>
            <a:off x="4727255" y="326270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32" name="Rectangle 31"/>
          <p:cNvSpPr/>
          <p:nvPr/>
        </p:nvSpPr>
        <p:spPr>
          <a:xfrm>
            <a:off x="1282175" y="1437842"/>
            <a:ext cx="144290" cy="1319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2323611" y="3033440"/>
            <a:ext cx="572040" cy="16913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4" name="Image 33"/>
          <p:cNvPicPr>
            <a:picLocks noChangeAspect="1"/>
          </p:cNvPicPr>
          <p:nvPr/>
        </p:nvPicPr>
        <p:blipFill rotWithShape="1">
          <a:blip r:embed="rId3" cstate="email">
            <a:extLst>
              <a:ext uri="{28A0092B-C50C-407E-A947-70E740481C1C}">
                <a14:useLocalDpi xmlns:a14="http://schemas.microsoft.com/office/drawing/2010/main" val="0"/>
              </a:ext>
            </a:extLst>
          </a:blip>
          <a:srcRect/>
          <a:stretch/>
        </p:blipFill>
        <p:spPr>
          <a:xfrm>
            <a:off x="1010116" y="1974745"/>
            <a:ext cx="2907758" cy="1509020"/>
          </a:xfrm>
          <a:prstGeom prst="rect">
            <a:avLst/>
          </a:prstGeom>
          <a:ln>
            <a:solidFill>
              <a:schemeClr val="tx1"/>
            </a:solidFill>
          </a:ln>
          <a:effectLst>
            <a:outerShdw blurRad="50800" dist="38100" dir="2700000" algn="tl" rotWithShape="0">
              <a:prstClr val="black">
                <a:alpha val="40000"/>
              </a:prstClr>
            </a:outerShdw>
          </a:effectLst>
        </p:spPr>
      </p:pic>
      <p:sp>
        <p:nvSpPr>
          <p:cNvPr id="35" name="Rectangle 34"/>
          <p:cNvSpPr/>
          <p:nvPr/>
        </p:nvSpPr>
        <p:spPr>
          <a:xfrm>
            <a:off x="1282369" y="2139268"/>
            <a:ext cx="151157" cy="160829"/>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Rectangle 35"/>
          <p:cNvSpPr/>
          <p:nvPr/>
        </p:nvSpPr>
        <p:spPr>
          <a:xfrm>
            <a:off x="3430239" y="2894543"/>
            <a:ext cx="414967"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7" name="Ellipse 36"/>
          <p:cNvSpPr/>
          <p:nvPr/>
        </p:nvSpPr>
        <p:spPr>
          <a:xfrm>
            <a:off x="3532560" y="26872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38" name="Ellipse 37"/>
          <p:cNvSpPr/>
          <p:nvPr/>
        </p:nvSpPr>
        <p:spPr>
          <a:xfrm>
            <a:off x="1104606" y="215273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5" name="Image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60507" y="3394442"/>
            <a:ext cx="3325737" cy="884984"/>
          </a:xfrm>
          <a:prstGeom prst="rect">
            <a:avLst/>
          </a:prstGeom>
          <a:ln>
            <a:solidFill>
              <a:schemeClr val="tx1"/>
            </a:solidFill>
          </a:ln>
          <a:effectLst>
            <a:outerShdw blurRad="50800" dist="38100" dir="2700000" algn="tl" rotWithShape="0">
              <a:prstClr val="black">
                <a:alpha val="40000"/>
              </a:prstClr>
            </a:outerShdw>
          </a:effectLst>
        </p:spPr>
      </p:pic>
      <p:sp>
        <p:nvSpPr>
          <p:cNvPr id="40" name="Ellipse 39"/>
          <p:cNvSpPr/>
          <p:nvPr/>
        </p:nvSpPr>
        <p:spPr>
          <a:xfrm>
            <a:off x="1095753" y="14205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6" name="Connecteur en angle 5"/>
          <p:cNvCxnSpPr>
            <a:stCxn id="32" idx="2"/>
            <a:endCxn id="34" idx="0"/>
          </p:cNvCxnSpPr>
          <p:nvPr/>
        </p:nvCxnSpPr>
        <p:spPr>
          <a:xfrm rot="16200000" flipH="1">
            <a:off x="1706688" y="1217438"/>
            <a:ext cx="404938" cy="1109675"/>
          </a:xfrm>
          <a:prstGeom prst="bentConnector3">
            <a:avLst>
              <a:gd name="adj1" fmla="val 50000"/>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eur en angle 12"/>
          <p:cNvCxnSpPr>
            <a:stCxn id="35" idx="2"/>
            <a:endCxn id="5" idx="0"/>
          </p:cNvCxnSpPr>
          <p:nvPr/>
        </p:nvCxnSpPr>
        <p:spPr>
          <a:xfrm rot="16200000" flipH="1">
            <a:off x="1043490" y="2614555"/>
            <a:ext cx="1094345" cy="465428"/>
          </a:xfrm>
          <a:prstGeom prst="bentConnector3">
            <a:avLst>
              <a:gd name="adj1" fmla="val 40948"/>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05433" y="4068023"/>
            <a:ext cx="456464" cy="1221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Ellipse 43"/>
          <p:cNvSpPr/>
          <p:nvPr/>
        </p:nvSpPr>
        <p:spPr>
          <a:xfrm>
            <a:off x="1287137" y="405180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45" name="Image 44"/>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6535467" y="3275641"/>
            <a:ext cx="145257" cy="142875"/>
          </a:xfrm>
          <a:prstGeom prst="rect">
            <a:avLst/>
          </a:prstGeom>
        </p:spPr>
      </p:pic>
      <p:pic>
        <p:nvPicPr>
          <p:cNvPr id="46" name="Image 45"/>
          <p:cNvPicPr>
            <a:picLocks noChangeAspect="1"/>
          </p:cNvPicPr>
          <p:nvPr/>
        </p:nvPicPr>
        <p:blipFill rotWithShape="1">
          <a:blip r:embed="rId6" cstate="email">
            <a:extLst>
              <a:ext uri="{28A0092B-C50C-407E-A947-70E740481C1C}">
                <a14:useLocalDpi xmlns:a14="http://schemas.microsoft.com/office/drawing/2010/main" val="0"/>
              </a:ext>
            </a:extLst>
          </a:blip>
          <a:srcRect/>
          <a:stretch/>
        </p:blipFill>
        <p:spPr>
          <a:xfrm>
            <a:off x="2191316" y="4171925"/>
            <a:ext cx="2589855" cy="222960"/>
          </a:xfrm>
          <a:prstGeom prst="rect">
            <a:avLst/>
          </a:prstGeom>
          <a:ln>
            <a:solidFill>
              <a:schemeClr val="tx1"/>
            </a:solidFill>
          </a:ln>
          <a:effectLst>
            <a:outerShdw blurRad="50800" dist="38100" dir="2700000" algn="tl" rotWithShape="0">
              <a:prstClr val="black">
                <a:alpha val="40000"/>
              </a:prstClr>
            </a:outerShdw>
          </a:effectLst>
        </p:spPr>
      </p:pic>
      <p:sp>
        <p:nvSpPr>
          <p:cNvPr id="47" name="Ellipse 46"/>
          <p:cNvSpPr/>
          <p:nvPr/>
        </p:nvSpPr>
        <p:spPr>
          <a:xfrm>
            <a:off x="4817086" y="42113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30" name="Image 29"/>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579224" y="1797599"/>
            <a:ext cx="211234" cy="175485"/>
          </a:xfrm>
          <a:prstGeom prst="rect">
            <a:avLst/>
          </a:prstGeom>
          <a:ln>
            <a:solidFill>
              <a:schemeClr val="tx1"/>
            </a:solidFill>
          </a:ln>
          <a:effectLst>
            <a:outerShdw blurRad="50800" dist="38100" dir="2700000" algn="tl" rotWithShape="0">
              <a:prstClr val="black">
                <a:alpha val="40000"/>
              </a:prstClr>
            </a:outerShdw>
          </a:effectLst>
        </p:spPr>
      </p:pic>
      <p:pic>
        <p:nvPicPr>
          <p:cNvPr id="39" name="Image 38"/>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872254" y="2541074"/>
            <a:ext cx="168742" cy="153402"/>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210519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737928"/>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RFQ en référence à une demande </a:t>
            </a:r>
            <a:r>
              <a:rPr lang="fr-FR" sz="1350" dirty="0" smtClean="0">
                <a:solidFill>
                  <a:srgbClr val="4F81BD"/>
                </a:solidFill>
                <a:latin typeface="Arial Narrow" pitchFamily="34" charset="0"/>
                <a:ea typeface="ＭＳ Ｐゴシック"/>
                <a:cs typeface="ＭＳ Ｐゴシック"/>
              </a:rPr>
              <a:t>d’achats</a:t>
            </a:r>
            <a:endParaRPr lang="fr-FR" sz="1350" dirty="0" smtClean="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3"/>
          <p:cNvSpPr>
            <a:spLocks noGrp="1"/>
          </p:cNvSpPr>
          <p:nvPr>
            <p:ph type="title"/>
          </p:nvPr>
        </p:nvSpPr>
        <p:spPr>
          <a:xfrm>
            <a:off x="457200" y="206375"/>
            <a:ext cx="8229600" cy="857250"/>
          </a:xfrm>
        </p:spPr>
        <p:txBody>
          <a:bodyPr>
            <a:normAutofit/>
          </a:bodyPr>
          <a:lstStyle/>
          <a:p>
            <a:r>
              <a:rPr lang="fr-FR" altLang="en-US" sz="2400" dirty="0"/>
              <a:t>Mode opératoire</a:t>
            </a:r>
            <a:br>
              <a:rPr lang="fr-FR" altLang="en-US" sz="2400" dirty="0"/>
            </a:br>
            <a:r>
              <a:rPr lang="fr-FR" altLang="en-US" dirty="0"/>
              <a:t>ME9A </a:t>
            </a:r>
            <a:r>
              <a:rPr lang="fr-FR" altLang="en-US" dirty="0" smtClean="0"/>
              <a:t>– Imprimer un formulaire de RFQ</a:t>
            </a:r>
            <a:endParaRPr lang="en-US" altLang="en-US" dirty="0" smtClean="0"/>
          </a:p>
        </p:txBody>
      </p:sp>
      <p:pic>
        <p:nvPicPr>
          <p:cNvPr id="5" name="Image 4"/>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164680" y="1130969"/>
            <a:ext cx="3692493" cy="2642184"/>
          </a:xfrm>
          <a:prstGeom prst="rect">
            <a:avLst/>
          </a:prstGeom>
          <a:ln>
            <a:solidFill>
              <a:schemeClr val="tx1"/>
            </a:solidFill>
          </a:ln>
          <a:effectLst>
            <a:outerShdw blurRad="50800" dist="38100" dir="2700000" algn="tl" rotWithShape="0">
              <a:prstClr val="black">
                <a:alpha val="40000"/>
              </a:prstClr>
            </a:outerShdw>
          </a:effectLst>
        </p:spPr>
      </p:pic>
      <p:sp>
        <p:nvSpPr>
          <p:cNvPr id="10" name="Rectangle 9"/>
          <p:cNvSpPr/>
          <p:nvPr/>
        </p:nvSpPr>
        <p:spPr>
          <a:xfrm>
            <a:off x="5668994" y="1692968"/>
            <a:ext cx="461905"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1" name="Rectangle 10"/>
          <p:cNvSpPr/>
          <p:nvPr/>
        </p:nvSpPr>
        <p:spPr>
          <a:xfrm>
            <a:off x="5652834" y="3324918"/>
            <a:ext cx="100524"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2" name="Ellipse 11"/>
          <p:cNvSpPr/>
          <p:nvPr/>
        </p:nvSpPr>
        <p:spPr>
          <a:xfrm>
            <a:off x="5452248" y="169607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3" name="Ellipse 12"/>
          <p:cNvSpPr/>
          <p:nvPr/>
        </p:nvSpPr>
        <p:spPr>
          <a:xfrm>
            <a:off x="5452248" y="33151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4" name="Rectangle 13"/>
          <p:cNvSpPr/>
          <p:nvPr/>
        </p:nvSpPr>
        <p:spPr>
          <a:xfrm>
            <a:off x="4188058" y="1330763"/>
            <a:ext cx="147177"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5" name="Ellipse 14"/>
          <p:cNvSpPr/>
          <p:nvPr/>
        </p:nvSpPr>
        <p:spPr>
          <a:xfrm>
            <a:off x="4415864" y="13215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9" name="Imag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6535" y="3582801"/>
            <a:ext cx="3905054" cy="881039"/>
          </a:xfrm>
          <a:prstGeom prst="rect">
            <a:avLst/>
          </a:prstGeom>
          <a:ln>
            <a:solidFill>
              <a:schemeClr val="tx1"/>
            </a:solidFill>
          </a:ln>
          <a:effectLst>
            <a:outerShdw blurRad="50800" dist="38100" dir="2700000" algn="tl" rotWithShape="0">
              <a:prstClr val="black">
                <a:alpha val="40000"/>
              </a:prstClr>
            </a:outerShdw>
          </a:effectLst>
        </p:spPr>
      </p:pic>
      <p:cxnSp>
        <p:nvCxnSpPr>
          <p:cNvPr id="17" name="Connecteur en angle 16"/>
          <p:cNvCxnSpPr>
            <a:stCxn id="14" idx="2"/>
            <a:endCxn id="9" idx="1"/>
          </p:cNvCxnSpPr>
          <p:nvPr/>
        </p:nvCxnSpPr>
        <p:spPr>
          <a:xfrm rot="16200000" flipH="1">
            <a:off x="3350474" y="2387259"/>
            <a:ext cx="2547235" cy="724888"/>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00824" y="4228539"/>
            <a:ext cx="147177" cy="1453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2" name="Rectangle 21"/>
          <p:cNvSpPr/>
          <p:nvPr/>
        </p:nvSpPr>
        <p:spPr>
          <a:xfrm>
            <a:off x="6504696" y="3596188"/>
            <a:ext cx="558908" cy="15985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Ellipse 22"/>
          <p:cNvSpPr/>
          <p:nvPr/>
        </p:nvSpPr>
        <p:spPr>
          <a:xfrm>
            <a:off x="4774716" y="421928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4" name="Ellipse 23"/>
          <p:cNvSpPr/>
          <p:nvPr/>
        </p:nvSpPr>
        <p:spPr>
          <a:xfrm>
            <a:off x="6736792" y="37918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nvGrpSpPr>
          <p:cNvPr id="25" name="Groupe 24"/>
          <p:cNvGrpSpPr/>
          <p:nvPr/>
        </p:nvGrpSpPr>
        <p:grpSpPr>
          <a:xfrm>
            <a:off x="487093" y="1541069"/>
            <a:ext cx="3194009" cy="2308324"/>
            <a:chOff x="487093" y="1773078"/>
            <a:chExt cx="3194009" cy="2308324"/>
          </a:xfrm>
        </p:grpSpPr>
        <p:sp>
          <p:nvSpPr>
            <p:cNvPr id="28" name="ZoneTexte 27"/>
            <p:cNvSpPr txBox="1"/>
            <p:nvPr/>
          </p:nvSpPr>
          <p:spPr>
            <a:xfrm>
              <a:off x="642627" y="1773078"/>
              <a:ext cx="3038475" cy="2308324"/>
            </a:xfrm>
            <a:prstGeom prst="rect">
              <a:avLst/>
            </a:prstGeom>
            <a:noFill/>
          </p:spPr>
          <p:txBody>
            <a:bodyPr wrap="square" rtlCol="0">
              <a:spAutoFit/>
            </a:bodyPr>
            <a:lstStyle/>
            <a:p>
              <a:r>
                <a:rPr lang="fr-FR" sz="1200" dirty="0" smtClean="0">
                  <a:solidFill>
                    <a:srgbClr val="4D4F53"/>
                  </a:solidFill>
                </a:rPr>
                <a:t>Indiquer le numéro du RFQ à imprimer</a:t>
              </a:r>
            </a:p>
            <a:p>
              <a:endParaRPr lang="fr-FR" sz="1200" dirty="0">
                <a:solidFill>
                  <a:srgbClr val="4D4F53"/>
                </a:solidFill>
              </a:endParaRPr>
            </a:p>
            <a:p>
              <a:r>
                <a:rPr lang="fr-FR" sz="1200" dirty="0" smtClean="0">
                  <a:solidFill>
                    <a:srgbClr val="4D4F53"/>
                  </a:solidFill>
                </a:rPr>
                <a:t>Choisir le statut de traitement :</a:t>
              </a:r>
              <a:br>
                <a:rPr lang="fr-FR" sz="1200" dirty="0" smtClean="0">
                  <a:solidFill>
                    <a:srgbClr val="4D4F53"/>
                  </a:solidFill>
                </a:rPr>
              </a:br>
              <a:r>
                <a:rPr lang="fr-FR" sz="1200" dirty="0" smtClean="0">
                  <a:solidFill>
                    <a:srgbClr val="4D4F53"/>
                  </a:solidFill>
                </a:rPr>
                <a:t>- 0 si première impression</a:t>
              </a:r>
            </a:p>
            <a:p>
              <a:r>
                <a:rPr lang="fr-FR" sz="1200" dirty="0" smtClean="0">
                  <a:solidFill>
                    <a:srgbClr val="4D4F53"/>
                  </a:solidFill>
                </a:rPr>
                <a:t>- 1 si </a:t>
              </a:r>
              <a:r>
                <a:rPr lang="fr-FR" sz="1200" dirty="0" smtClean="0">
                  <a:solidFill>
                    <a:srgbClr val="4D4F53"/>
                  </a:solidFill>
                </a:rPr>
                <a:t>réimpression</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Exécuter la transaction</a:t>
              </a:r>
            </a:p>
            <a:p>
              <a:endParaRPr lang="fr-FR" sz="1200" dirty="0">
                <a:solidFill>
                  <a:srgbClr val="4D4F53"/>
                </a:solidFill>
              </a:endParaRPr>
            </a:p>
            <a:p>
              <a:r>
                <a:rPr lang="fr-FR" sz="1200" dirty="0" smtClean="0">
                  <a:solidFill>
                    <a:srgbClr val="4D4F53"/>
                  </a:solidFill>
                </a:rPr>
                <a:t>Sélectionner la ligne correspondant au formulaire à imprimer (ZRFQ)</a:t>
              </a:r>
            </a:p>
            <a:p>
              <a:endParaRPr lang="fr-FR" sz="1200" dirty="0">
                <a:solidFill>
                  <a:srgbClr val="4D4F53"/>
                </a:solidFill>
              </a:endParaRPr>
            </a:p>
            <a:p>
              <a:r>
                <a:rPr lang="fr-FR" sz="1200" dirty="0" smtClean="0">
                  <a:solidFill>
                    <a:srgbClr val="4D4F53"/>
                  </a:solidFill>
                </a:rPr>
                <a:t>Cliquer sur </a:t>
              </a:r>
            </a:p>
          </p:txBody>
        </p:sp>
        <p:sp>
          <p:nvSpPr>
            <p:cNvPr id="29" name="Ellipse 28"/>
            <p:cNvSpPr/>
            <p:nvPr/>
          </p:nvSpPr>
          <p:spPr>
            <a:xfrm>
              <a:off x="487093" y="18276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0" name="Ellipse 29"/>
            <p:cNvSpPr/>
            <p:nvPr/>
          </p:nvSpPr>
          <p:spPr>
            <a:xfrm>
              <a:off x="487093" y="22062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1" name="Ellipse 30"/>
            <p:cNvSpPr/>
            <p:nvPr/>
          </p:nvSpPr>
          <p:spPr>
            <a:xfrm>
              <a:off x="487093" y="29351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2" name="Ellipse 31"/>
            <p:cNvSpPr/>
            <p:nvPr/>
          </p:nvSpPr>
          <p:spPr>
            <a:xfrm>
              <a:off x="487093" y="32963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33" name="Image 32"/>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485900" y="3869113"/>
              <a:ext cx="509588" cy="142876"/>
            </a:xfrm>
            <a:prstGeom prst="rect">
              <a:avLst/>
            </a:prstGeom>
            <a:ln>
              <a:solidFill>
                <a:schemeClr val="tx1"/>
              </a:solidFill>
            </a:ln>
            <a:effectLst>
              <a:outerShdw blurRad="50800" dist="38100" dir="2700000" algn="tl" rotWithShape="0">
                <a:prstClr val="black">
                  <a:alpha val="40000"/>
                </a:prstClr>
              </a:outerShdw>
            </a:effectLst>
          </p:spPr>
        </p:pic>
        <p:sp>
          <p:nvSpPr>
            <p:cNvPr id="34" name="Ellipse 33"/>
            <p:cNvSpPr/>
            <p:nvPr/>
          </p:nvSpPr>
          <p:spPr>
            <a:xfrm>
              <a:off x="487093" y="38493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27" name="Image 26"/>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208591" y="2703114"/>
            <a:ext cx="145795" cy="15213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447180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3"/>
          <p:cNvSpPr>
            <a:spLocks noGrp="1"/>
          </p:cNvSpPr>
          <p:nvPr>
            <p:ph type="title"/>
          </p:nvPr>
        </p:nvSpPr>
        <p:spPr>
          <a:xfrm>
            <a:off x="457200" y="206375"/>
            <a:ext cx="8229600" cy="857250"/>
          </a:xfrm>
        </p:spPr>
        <p:txBody>
          <a:bodyPr>
            <a:normAutofit/>
          </a:bodyPr>
          <a:lstStyle/>
          <a:p>
            <a:r>
              <a:rPr lang="fr-FR" altLang="en-US" sz="2400" dirty="0"/>
              <a:t>Mode opératoire</a:t>
            </a:r>
            <a:br>
              <a:rPr lang="fr-FR" altLang="en-US" sz="2400" dirty="0"/>
            </a:br>
            <a:r>
              <a:rPr lang="fr-FR" altLang="en-US" dirty="0" smtClean="0"/>
              <a:t>ME4S – Afficher a liste des RFQ pour un numéro de soumission</a:t>
            </a:r>
            <a:endParaRPr lang="en-US" altLang="en-US" dirty="0" smtClean="0"/>
          </a:p>
        </p:txBody>
      </p:sp>
      <p:pic>
        <p:nvPicPr>
          <p:cNvPr id="6" name="Image 5"/>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529390" y="1132550"/>
            <a:ext cx="3489158" cy="1434687"/>
          </a:xfrm>
          <a:prstGeom prst="rect">
            <a:avLst/>
          </a:prstGeom>
          <a:ln>
            <a:solidFill>
              <a:schemeClr val="tx1"/>
            </a:solidFill>
          </a:ln>
          <a:effectLst>
            <a:outerShdw blurRad="50800" dist="38100" dir="2700000" algn="tl" rotWithShape="0">
              <a:prstClr val="black">
                <a:alpha val="40000"/>
              </a:prstClr>
            </a:outerShdw>
          </a:effectLst>
        </p:spPr>
      </p:pic>
      <p:pic>
        <p:nvPicPr>
          <p:cNvPr id="10" name="Image 9"/>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159793" y="2481659"/>
            <a:ext cx="3207169" cy="1871266"/>
          </a:xfrm>
          <a:prstGeom prst="rect">
            <a:avLst/>
          </a:prstGeom>
          <a:ln>
            <a:solidFill>
              <a:schemeClr val="tx1"/>
            </a:solidFill>
          </a:ln>
          <a:effectLst>
            <a:outerShdw blurRad="50800" dist="38100" dir="2700000" algn="tl" rotWithShape="0">
              <a:prstClr val="black">
                <a:alpha val="40000"/>
              </a:prstClr>
            </a:outerShdw>
          </a:effectLst>
        </p:spPr>
      </p:pic>
      <p:sp>
        <p:nvSpPr>
          <p:cNvPr id="13" name="Rectangle 12"/>
          <p:cNvSpPr/>
          <p:nvPr/>
        </p:nvSpPr>
        <p:spPr>
          <a:xfrm>
            <a:off x="2131457" y="1617582"/>
            <a:ext cx="492681"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4" name="Ellipse 13"/>
          <p:cNvSpPr/>
          <p:nvPr/>
        </p:nvSpPr>
        <p:spPr>
          <a:xfrm>
            <a:off x="1914711" y="16206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5" name="Rectangle 14"/>
          <p:cNvSpPr/>
          <p:nvPr/>
        </p:nvSpPr>
        <p:spPr>
          <a:xfrm>
            <a:off x="599521" y="1384694"/>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6" name="Ellipse 15"/>
          <p:cNvSpPr/>
          <p:nvPr/>
        </p:nvSpPr>
        <p:spPr>
          <a:xfrm>
            <a:off x="785263" y="138469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cxnSp>
        <p:nvCxnSpPr>
          <p:cNvPr id="12" name="Connecteur en angle 11"/>
          <p:cNvCxnSpPr>
            <a:stCxn id="15" idx="2"/>
            <a:endCxn id="10" idx="1"/>
          </p:cNvCxnSpPr>
          <p:nvPr/>
        </p:nvCxnSpPr>
        <p:spPr>
          <a:xfrm rot="16200000" flipH="1">
            <a:off x="-28642" y="2228857"/>
            <a:ext cx="1888598" cy="488272"/>
          </a:xfrm>
          <a:prstGeom prst="bentConnector2">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ZoneTexte 19"/>
          <p:cNvSpPr txBox="1"/>
          <p:nvPr/>
        </p:nvSpPr>
        <p:spPr>
          <a:xfrm>
            <a:off x="5145746" y="1528694"/>
            <a:ext cx="3038475" cy="646331"/>
          </a:xfrm>
          <a:prstGeom prst="rect">
            <a:avLst/>
          </a:prstGeom>
          <a:noFill/>
        </p:spPr>
        <p:txBody>
          <a:bodyPr wrap="square" rtlCol="0">
            <a:spAutoFit/>
          </a:bodyPr>
          <a:lstStyle/>
          <a:p>
            <a:r>
              <a:rPr lang="fr-FR" sz="1200" dirty="0" smtClean="0">
                <a:solidFill>
                  <a:srgbClr val="4D4F53"/>
                </a:solidFill>
              </a:rPr>
              <a:t>Indiquer le numéro de soumission</a:t>
            </a:r>
          </a:p>
          <a:p>
            <a:endParaRPr lang="fr-FR" sz="1200" dirty="0">
              <a:solidFill>
                <a:srgbClr val="4D4F53"/>
              </a:solidFill>
            </a:endParaRPr>
          </a:p>
          <a:p>
            <a:r>
              <a:rPr lang="fr-FR" sz="1200" dirty="0" smtClean="0">
                <a:solidFill>
                  <a:srgbClr val="4D4F53"/>
                </a:solidFill>
              </a:rPr>
              <a:t>Exécuter la transaction</a:t>
            </a:r>
          </a:p>
        </p:txBody>
      </p:sp>
      <p:sp>
        <p:nvSpPr>
          <p:cNvPr id="21" name="Ellipse 20"/>
          <p:cNvSpPr/>
          <p:nvPr/>
        </p:nvSpPr>
        <p:spPr>
          <a:xfrm>
            <a:off x="4990212"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4990212" y="19619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7" name="ZoneTexte 26"/>
          <p:cNvSpPr txBox="1"/>
          <p:nvPr/>
        </p:nvSpPr>
        <p:spPr>
          <a:xfrm>
            <a:off x="4919404" y="2315279"/>
            <a:ext cx="3936340" cy="1200329"/>
          </a:xfrm>
          <a:prstGeom prst="rect">
            <a:avLst/>
          </a:prstGeom>
          <a:noFill/>
        </p:spPr>
        <p:txBody>
          <a:bodyPr wrap="square" rtlCol="0">
            <a:spAutoFit/>
          </a:bodyPr>
          <a:lstStyle/>
          <a:p>
            <a:r>
              <a:rPr lang="fr-FR" sz="1200" dirty="0" smtClean="0">
                <a:solidFill>
                  <a:srgbClr val="4D4F53"/>
                </a:solidFill>
              </a:rPr>
              <a:t>La liste des demandes d’offres correspondant au numéro de soumission apparaît.</a:t>
            </a:r>
          </a:p>
          <a:p>
            <a:r>
              <a:rPr lang="fr-FR" sz="1200" dirty="0" smtClean="0">
                <a:solidFill>
                  <a:srgbClr val="4D4F53"/>
                </a:solidFill>
              </a:rPr>
              <a:t>Parmi les informations, on trouve le prix proposé par le fournisseur (s’il a répondu).</a:t>
            </a:r>
          </a:p>
          <a:p>
            <a:endParaRPr lang="fr-FR" sz="1200" dirty="0">
              <a:solidFill>
                <a:srgbClr val="4D4F53"/>
              </a:solidFill>
            </a:endParaRPr>
          </a:p>
          <a:p>
            <a:r>
              <a:rPr lang="fr-FR" sz="1200" dirty="0" smtClean="0">
                <a:solidFill>
                  <a:srgbClr val="4D4F53"/>
                </a:solidFill>
              </a:rPr>
              <a:t>Il est possible d’ouvrir un RFQ en double cliquant sur la ligne</a:t>
            </a:r>
          </a:p>
        </p:txBody>
      </p:sp>
      <p:pic>
        <p:nvPicPr>
          <p:cNvPr id="17" name="Image 16"/>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710509" y="1964346"/>
            <a:ext cx="145795" cy="15213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712177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5037223" y="1175920"/>
            <a:ext cx="3793456" cy="2289175"/>
          </a:xfrm>
          <a:prstGeom prst="rect">
            <a:avLst/>
          </a:prstGeom>
          <a:ln>
            <a:solidFill>
              <a:schemeClr val="tx1"/>
            </a:solidFill>
          </a:ln>
          <a:effectLst>
            <a:outerShdw blurRad="50800" dist="38100" dir="2700000" algn="tl" rotWithShape="0">
              <a:prstClr val="black">
                <a:alpha val="40000"/>
              </a:prstClr>
            </a:outerShdw>
          </a:effectLst>
        </p:spPr>
      </p:pic>
      <p:sp>
        <p:nvSpPr>
          <p:cNvPr id="7" name="Titre 3"/>
          <p:cNvSpPr>
            <a:spLocks noGrp="1"/>
          </p:cNvSpPr>
          <p:nvPr>
            <p:ph type="title"/>
          </p:nvPr>
        </p:nvSpPr>
        <p:spPr>
          <a:xfrm>
            <a:off x="457200" y="206375"/>
            <a:ext cx="8229600" cy="857250"/>
          </a:xfrm>
        </p:spPr>
        <p:txBody>
          <a:bodyPr>
            <a:normAutofit/>
          </a:bodyPr>
          <a:lstStyle/>
          <a:p>
            <a:r>
              <a:rPr lang="fr-FR" altLang="en-US" sz="2400" dirty="0"/>
              <a:t>Mode opératoire</a:t>
            </a:r>
            <a:br>
              <a:rPr lang="fr-FR" altLang="en-US" sz="2400" dirty="0"/>
            </a:br>
            <a:r>
              <a:rPr lang="fr-FR" altLang="en-US" dirty="0" smtClean="0"/>
              <a:t>ME49 – Comparer les Offres fournisseur pour un numéro de soumission</a:t>
            </a:r>
            <a:endParaRPr lang="en-US" altLang="en-US" dirty="0" smtClean="0"/>
          </a:p>
        </p:txBody>
      </p:sp>
      <p:sp>
        <p:nvSpPr>
          <p:cNvPr id="9" name="Rectangle 8"/>
          <p:cNvSpPr/>
          <p:nvPr/>
        </p:nvSpPr>
        <p:spPr>
          <a:xfrm>
            <a:off x="6609210" y="1948952"/>
            <a:ext cx="492681"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0" name="Ellipse 9"/>
          <p:cNvSpPr/>
          <p:nvPr/>
        </p:nvSpPr>
        <p:spPr>
          <a:xfrm>
            <a:off x="6392464" y="19520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1" name="Rectangle 10"/>
          <p:cNvSpPr/>
          <p:nvPr/>
        </p:nvSpPr>
        <p:spPr>
          <a:xfrm>
            <a:off x="5143949" y="1439839"/>
            <a:ext cx="144000" cy="14400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2" name="Ellipse 11"/>
          <p:cNvSpPr/>
          <p:nvPr/>
        </p:nvSpPr>
        <p:spPr>
          <a:xfrm>
            <a:off x="5329691" y="143983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13" name="Connecteur en angle 12"/>
          <p:cNvCxnSpPr>
            <a:stCxn id="11" idx="1"/>
          </p:cNvCxnSpPr>
          <p:nvPr/>
        </p:nvCxnSpPr>
        <p:spPr>
          <a:xfrm rot="10800000" flipV="1">
            <a:off x="5101391" y="1511839"/>
            <a:ext cx="42559" cy="2117688"/>
          </a:xfrm>
          <a:prstGeom prst="bentConnector3">
            <a:avLst>
              <a:gd name="adj1" fmla="val 637137"/>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 name="Groupe 3"/>
          <p:cNvGrpSpPr/>
          <p:nvPr/>
        </p:nvGrpSpPr>
        <p:grpSpPr>
          <a:xfrm>
            <a:off x="527241" y="1368677"/>
            <a:ext cx="3194009" cy="1015663"/>
            <a:chOff x="4990212" y="1528694"/>
            <a:chExt cx="3194009" cy="1015663"/>
          </a:xfrm>
        </p:grpSpPr>
        <p:sp>
          <p:nvSpPr>
            <p:cNvPr id="14" name="ZoneTexte 13"/>
            <p:cNvSpPr txBox="1"/>
            <p:nvPr/>
          </p:nvSpPr>
          <p:spPr>
            <a:xfrm>
              <a:off x="5145746" y="1528694"/>
              <a:ext cx="3038475" cy="1015663"/>
            </a:xfrm>
            <a:prstGeom prst="rect">
              <a:avLst/>
            </a:prstGeom>
            <a:noFill/>
          </p:spPr>
          <p:txBody>
            <a:bodyPr wrap="square" rtlCol="0">
              <a:spAutoFit/>
            </a:bodyPr>
            <a:lstStyle/>
            <a:p>
              <a:r>
                <a:rPr lang="fr-FR" sz="1200" dirty="0" smtClean="0">
                  <a:solidFill>
                    <a:srgbClr val="4D4F53"/>
                  </a:solidFill>
                </a:rPr>
                <a:t>Saisir l’Organisation d’Achats en charge</a:t>
              </a:r>
            </a:p>
            <a:p>
              <a:endParaRPr lang="fr-FR" sz="1200" dirty="0">
                <a:solidFill>
                  <a:srgbClr val="4D4F53"/>
                </a:solidFill>
              </a:endParaRPr>
            </a:p>
            <a:p>
              <a:r>
                <a:rPr lang="fr-FR" sz="1200" dirty="0" smtClean="0">
                  <a:solidFill>
                    <a:srgbClr val="4D4F53"/>
                  </a:solidFill>
                </a:rPr>
                <a:t>Indiquer le numéro de soumission</a:t>
              </a:r>
            </a:p>
            <a:p>
              <a:endParaRPr lang="fr-FR" sz="1200" dirty="0">
                <a:solidFill>
                  <a:srgbClr val="4D4F53"/>
                </a:solidFill>
              </a:endParaRPr>
            </a:p>
            <a:p>
              <a:r>
                <a:rPr lang="fr-FR" sz="1200" dirty="0" smtClean="0">
                  <a:solidFill>
                    <a:srgbClr val="4D4F53"/>
                  </a:solidFill>
                </a:rPr>
                <a:t>Exécuter la transaction</a:t>
              </a:r>
            </a:p>
          </p:txBody>
        </p:sp>
        <p:sp>
          <p:nvSpPr>
            <p:cNvPr id="15" name="Ellipse 14"/>
            <p:cNvSpPr/>
            <p:nvPr/>
          </p:nvSpPr>
          <p:spPr>
            <a:xfrm>
              <a:off x="4990212" y="15833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6" name="Ellipse 15"/>
            <p:cNvSpPr/>
            <p:nvPr/>
          </p:nvSpPr>
          <p:spPr>
            <a:xfrm>
              <a:off x="4990212" y="19538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1" name="Ellipse 20"/>
            <p:cNvSpPr/>
            <p:nvPr/>
          </p:nvSpPr>
          <p:spPr>
            <a:xfrm>
              <a:off x="4990212" y="231691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sp>
        <p:nvSpPr>
          <p:cNvPr id="18" name="ZoneTexte 17"/>
          <p:cNvSpPr txBox="1"/>
          <p:nvPr/>
        </p:nvSpPr>
        <p:spPr>
          <a:xfrm>
            <a:off x="457200" y="2600333"/>
            <a:ext cx="3936340" cy="1384995"/>
          </a:xfrm>
          <a:prstGeom prst="rect">
            <a:avLst/>
          </a:prstGeom>
          <a:noFill/>
        </p:spPr>
        <p:txBody>
          <a:bodyPr wrap="square" rtlCol="0">
            <a:spAutoFit/>
          </a:bodyPr>
          <a:lstStyle/>
          <a:p>
            <a:r>
              <a:rPr lang="fr-FR" sz="1200" dirty="0" smtClean="0">
                <a:solidFill>
                  <a:srgbClr val="4D4F53"/>
                </a:solidFill>
              </a:rPr>
              <a:t>La liste des Offres correspondant au numéro de soumission apparaît.</a:t>
            </a:r>
          </a:p>
          <a:p>
            <a:r>
              <a:rPr lang="fr-FR" sz="1200" dirty="0" smtClean="0">
                <a:solidFill>
                  <a:srgbClr val="4D4F53"/>
                </a:solidFill>
              </a:rPr>
              <a:t>Parmi les informations, on trouve le prix proposé par le fournisseur (s’il a répondu).</a:t>
            </a:r>
          </a:p>
          <a:p>
            <a:r>
              <a:rPr lang="fr-FR" sz="1200" dirty="0" smtClean="0">
                <a:solidFill>
                  <a:srgbClr val="4D4F53"/>
                </a:solidFill>
              </a:rPr>
              <a:t>SAP propose un rang en se basant uniquement sur le critère prix. Il est important d’apporter de l’intelligence métier (conditions, etc.) avant de prendre la décision de la source.</a:t>
            </a:r>
          </a:p>
        </p:txBody>
      </p:sp>
      <p:sp>
        <p:nvSpPr>
          <p:cNvPr id="19" name="Ellipse 18"/>
          <p:cNvSpPr/>
          <p:nvPr/>
        </p:nvSpPr>
        <p:spPr>
          <a:xfrm>
            <a:off x="6392464" y="16417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0" name="Rectangle 19"/>
          <p:cNvSpPr/>
          <p:nvPr/>
        </p:nvSpPr>
        <p:spPr>
          <a:xfrm>
            <a:off x="6612295" y="1669775"/>
            <a:ext cx="229839"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1391" y="3196310"/>
            <a:ext cx="3555776" cy="1160566"/>
          </a:xfrm>
          <a:prstGeom prst="rect">
            <a:avLst/>
          </a:prstGeom>
          <a:ln>
            <a:solidFill>
              <a:schemeClr val="tx1"/>
            </a:solidFill>
          </a:ln>
          <a:effectLst>
            <a:outerShdw blurRad="50800" dist="38100" dir="2700000" algn="tl" rotWithShape="0">
              <a:prstClr val="black">
                <a:alpha val="40000"/>
              </a:prstClr>
            </a:outerShdw>
          </a:effectLst>
        </p:spPr>
      </p:pic>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240266" y="2168374"/>
            <a:ext cx="145795" cy="15213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493118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675930" y="1043860"/>
            <a:ext cx="3197518" cy="984982"/>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Imprimer le formulaire RFQ</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la liste des RFQ pour un numéro de soumission</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Comparer les prix des différents fournisseurs</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1" name="Groupe 30"/>
          <p:cNvGrpSpPr/>
          <p:nvPr/>
        </p:nvGrpSpPr>
        <p:grpSpPr>
          <a:xfrm>
            <a:off x="5174456" y="205978"/>
            <a:ext cx="3680275" cy="4299347"/>
            <a:chOff x="5174456" y="205978"/>
            <a:chExt cx="3680275" cy="4299347"/>
          </a:xfrm>
        </p:grpSpPr>
        <p:grpSp>
          <p:nvGrpSpPr>
            <p:cNvPr id="34" name="Groupe 33"/>
            <p:cNvGrpSpPr/>
            <p:nvPr/>
          </p:nvGrpSpPr>
          <p:grpSpPr>
            <a:xfrm>
              <a:off x="5174456" y="205978"/>
              <a:ext cx="3680275" cy="4299347"/>
              <a:chOff x="3707606" y="205978"/>
              <a:chExt cx="4105275" cy="4795838"/>
            </a:xfrm>
          </p:grpSpPr>
          <p:sp>
            <p:nvSpPr>
              <p:cNvPr id="37" name="Rectangle 36"/>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38" name="Connecteur droit 3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9" name="Connecteur droit 3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0" name="Connecteur droit 39"/>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5" name="Image 34"/>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6"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5429417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ME47 </a:t>
            </a:r>
            <a:r>
              <a:rPr lang="fr-FR" altLang="en-US" dirty="0"/>
              <a:t>– </a:t>
            </a:r>
            <a:r>
              <a:rPr lang="fr-FR" altLang="en-US" dirty="0" smtClean="0"/>
              <a:t>Gérer une Offre : Saisir l’Offre fournisseur dans un RFQ</a:t>
            </a:r>
            <a:endParaRPr lang="en-US" dirty="0"/>
          </a:p>
        </p:txBody>
      </p:sp>
      <p:pic>
        <p:nvPicPr>
          <p:cNvPr id="4" name="Image 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361950" y="1145571"/>
            <a:ext cx="1428750" cy="774936"/>
          </a:xfrm>
          <a:prstGeom prst="rect">
            <a:avLst/>
          </a:prstGeom>
          <a:ln>
            <a:solidFill>
              <a:schemeClr val="tx1"/>
            </a:solidFill>
          </a:ln>
          <a:effectLst>
            <a:outerShdw blurRad="50800" dist="38100" dir="2700000" algn="tl" rotWithShape="0">
              <a:prstClr val="black">
                <a:alpha val="40000"/>
              </a:prstClr>
            </a:outerShdw>
          </a:effectLst>
        </p:spPr>
      </p:pic>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377" y="1989032"/>
            <a:ext cx="4144126" cy="1069904"/>
          </a:xfrm>
          <a:prstGeom prst="rect">
            <a:avLst/>
          </a:prstGeom>
          <a:ln>
            <a:solidFill>
              <a:schemeClr val="tx1"/>
            </a:solidFill>
          </a:ln>
          <a:effectLst>
            <a:outerShdw blurRad="50800" dist="38100" dir="2700000" algn="tl" rotWithShape="0">
              <a:prstClr val="black">
                <a:alpha val="40000"/>
              </a:prstClr>
            </a:outerShdw>
          </a:effectLst>
        </p:spPr>
      </p:pic>
      <p:pic>
        <p:nvPicPr>
          <p:cNvPr id="5" name="Image 4"/>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364331" y="3124200"/>
            <a:ext cx="2852738" cy="1203960"/>
          </a:xfrm>
          <a:prstGeom prst="rect">
            <a:avLst/>
          </a:prstGeom>
          <a:ln>
            <a:solidFill>
              <a:schemeClr val="tx1"/>
            </a:solidFill>
          </a:ln>
          <a:effectLst>
            <a:outerShdw blurRad="50800" dist="38100" dir="2700000" algn="tl" rotWithShape="0">
              <a:prstClr val="black">
                <a:alpha val="40000"/>
              </a:prstClr>
            </a:outerShdw>
          </a:effectLst>
        </p:spPr>
      </p:pic>
      <p:sp>
        <p:nvSpPr>
          <p:cNvPr id="7" name="Rectangle 6"/>
          <p:cNvSpPr/>
          <p:nvPr/>
        </p:nvSpPr>
        <p:spPr>
          <a:xfrm>
            <a:off x="348290" y="1744992"/>
            <a:ext cx="1013786"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 name="Ellipse 8"/>
          <p:cNvSpPr/>
          <p:nvPr/>
        </p:nvSpPr>
        <p:spPr>
          <a:xfrm>
            <a:off x="1365290" y="17257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10" name="Connecteur en angle 9"/>
          <p:cNvCxnSpPr>
            <a:stCxn id="7" idx="1"/>
            <a:endCxn id="3" idx="1"/>
          </p:cNvCxnSpPr>
          <p:nvPr/>
        </p:nvCxnSpPr>
        <p:spPr>
          <a:xfrm rot="10800000" flipH="1" flipV="1">
            <a:off x="348289" y="1811048"/>
            <a:ext cx="318087" cy="712936"/>
          </a:xfrm>
          <a:prstGeom prst="bentConnector3">
            <a:avLst>
              <a:gd name="adj1" fmla="val -71867"/>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027928" y="2166637"/>
            <a:ext cx="148915"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14" name="Connecteur en angle 13"/>
          <p:cNvCxnSpPr>
            <a:stCxn id="12" idx="3"/>
            <a:endCxn id="5" idx="3"/>
          </p:cNvCxnSpPr>
          <p:nvPr/>
        </p:nvCxnSpPr>
        <p:spPr>
          <a:xfrm>
            <a:off x="2176843" y="2232693"/>
            <a:ext cx="1040226" cy="1493487"/>
          </a:xfrm>
          <a:prstGeom prst="bentConnector3">
            <a:avLst>
              <a:gd name="adj1" fmla="val 121976"/>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368540" y="4180907"/>
            <a:ext cx="1115165" cy="10918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18" name="Ellipse 17"/>
          <p:cNvSpPr/>
          <p:nvPr/>
        </p:nvSpPr>
        <p:spPr>
          <a:xfrm>
            <a:off x="1844040" y="215540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sp>
        <p:nvSpPr>
          <p:cNvPr id="19" name="Ellipse 18"/>
          <p:cNvSpPr/>
          <p:nvPr/>
        </p:nvSpPr>
        <p:spPr>
          <a:xfrm>
            <a:off x="2511457" y="415969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0" name="ZoneTexte 19"/>
          <p:cNvSpPr txBox="1"/>
          <p:nvPr/>
        </p:nvSpPr>
        <p:spPr>
          <a:xfrm>
            <a:off x="5354868" y="1797514"/>
            <a:ext cx="3331932" cy="1938992"/>
          </a:xfrm>
          <a:prstGeom prst="rect">
            <a:avLst/>
          </a:prstGeom>
          <a:noFill/>
        </p:spPr>
        <p:txBody>
          <a:bodyPr wrap="square" rtlCol="0">
            <a:spAutoFit/>
          </a:bodyPr>
          <a:lstStyle/>
          <a:p>
            <a:r>
              <a:rPr lang="fr-FR" sz="1200" dirty="0" smtClean="0">
                <a:solidFill>
                  <a:srgbClr val="4D4F53"/>
                </a:solidFill>
              </a:rPr>
              <a:t>Renseigner le numéro de RFQ sur lequel nous souhaitons renseigner la réponse fournisseur</a:t>
            </a:r>
          </a:p>
          <a:p>
            <a:endParaRPr lang="fr-FR" sz="1200" dirty="0">
              <a:solidFill>
                <a:srgbClr val="4D4F53"/>
              </a:solidFill>
            </a:endParaRPr>
          </a:p>
          <a:p>
            <a:r>
              <a:rPr lang="fr-FR" sz="1200" dirty="0" smtClean="0">
                <a:solidFill>
                  <a:srgbClr val="4D4F53"/>
                </a:solidFill>
              </a:rPr>
              <a:t>Cliquer sur l’icône « Conditions du poste »</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Saisir </a:t>
            </a:r>
            <a:r>
              <a:rPr lang="fr-FR" sz="1200" dirty="0" smtClean="0">
                <a:solidFill>
                  <a:srgbClr val="4D4F53"/>
                </a:solidFill>
              </a:rPr>
              <a:t>le prix du </a:t>
            </a:r>
            <a:r>
              <a:rPr lang="fr-FR" sz="1200" dirty="0" smtClean="0">
                <a:solidFill>
                  <a:srgbClr val="4D4F53"/>
                </a:solidFill>
              </a:rPr>
              <a:t>fournisseur dans la devise adéquate</a:t>
            </a:r>
          </a:p>
          <a:p>
            <a:endParaRPr lang="fr-FR" sz="1200" dirty="0">
              <a:solidFill>
                <a:srgbClr val="4D4F53"/>
              </a:solidFill>
            </a:endParaRPr>
          </a:p>
          <a:p>
            <a:r>
              <a:rPr lang="fr-FR" sz="1200" dirty="0" smtClean="0">
                <a:solidFill>
                  <a:srgbClr val="4D4F53"/>
                </a:solidFill>
              </a:rPr>
              <a:t>Sauvegarder avec l’icône      : </a:t>
            </a:r>
            <a:br>
              <a:rPr lang="fr-FR" sz="1200" dirty="0" smtClean="0">
                <a:solidFill>
                  <a:srgbClr val="4D4F53"/>
                </a:solidFill>
              </a:rPr>
            </a:br>
            <a:r>
              <a:rPr lang="fr-FR" sz="1200" dirty="0" smtClean="0">
                <a:solidFill>
                  <a:srgbClr val="4D4F53"/>
                </a:solidFill>
              </a:rPr>
              <a:t>un message de confirmation apparaît</a:t>
            </a:r>
            <a:endParaRPr lang="fr-FR" sz="1200" dirty="0">
              <a:solidFill>
                <a:srgbClr val="4D4F53"/>
              </a:solidFill>
            </a:endParaRPr>
          </a:p>
        </p:txBody>
      </p:sp>
      <p:sp>
        <p:nvSpPr>
          <p:cNvPr id="21" name="Ellipse 20"/>
          <p:cNvSpPr/>
          <p:nvPr/>
        </p:nvSpPr>
        <p:spPr>
          <a:xfrm>
            <a:off x="5186969" y="1852135"/>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2" name="Ellipse 21"/>
          <p:cNvSpPr/>
          <p:nvPr/>
        </p:nvSpPr>
        <p:spPr>
          <a:xfrm>
            <a:off x="5186969" y="240824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3" name="Ellipse 22"/>
          <p:cNvSpPr/>
          <p:nvPr/>
        </p:nvSpPr>
        <p:spPr>
          <a:xfrm>
            <a:off x="5186969" y="277739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26" name="Image 25"/>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7003805" y="3315143"/>
            <a:ext cx="159783" cy="157163"/>
          </a:xfrm>
          <a:prstGeom prst="rect">
            <a:avLst/>
          </a:prstGeom>
        </p:spPr>
      </p:pic>
      <p:pic>
        <p:nvPicPr>
          <p:cNvPr id="27" name="Imag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8411" y="2399112"/>
            <a:ext cx="190500" cy="190500"/>
          </a:xfrm>
          <a:prstGeom prst="rect">
            <a:avLst/>
          </a:prstGeom>
          <a:ln>
            <a:solidFill>
              <a:schemeClr val="tx1"/>
            </a:solidFill>
          </a:ln>
          <a:effectLst>
            <a:outerShdw blurRad="50800" dist="38100" dir="2700000" algn="tl" rotWithShape="0">
              <a:prstClr val="black">
                <a:alpha val="40000"/>
              </a:prstClr>
            </a:outerShdw>
          </a:effectLst>
        </p:spPr>
      </p:pic>
      <p:sp>
        <p:nvSpPr>
          <p:cNvPr id="28" name="Ellipse 27"/>
          <p:cNvSpPr/>
          <p:nvPr/>
        </p:nvSpPr>
        <p:spPr>
          <a:xfrm>
            <a:off x="5186969" y="3320396"/>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Tree>
    <p:extLst>
      <p:ext uri="{BB962C8B-B14F-4D97-AF65-F5344CB8AC3E}">
        <p14:creationId xmlns:p14="http://schemas.microsoft.com/office/powerpoint/2010/main" val="37273553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a:t>ME47 – Gérer une Offre : </a:t>
            </a:r>
            <a:r>
              <a:rPr lang="fr-FR" altLang="en-US" dirty="0" smtClean="0"/>
              <a:t>Rejeter les RFQ perdants</a:t>
            </a:r>
            <a:endParaRPr lang="en-US" dirty="0"/>
          </a:p>
        </p:txBody>
      </p:sp>
      <p:pic>
        <p:nvPicPr>
          <p:cNvPr id="4" name="Image 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14050" y="2358607"/>
            <a:ext cx="7684169" cy="1708484"/>
          </a:xfrm>
          <a:prstGeom prst="rect">
            <a:avLst/>
          </a:prstGeom>
          <a:ln>
            <a:solidFill>
              <a:schemeClr val="tx1"/>
            </a:solidFill>
          </a:ln>
          <a:effectLst>
            <a:outerShdw blurRad="50800" dist="38100" dir="2700000" algn="tl" rotWithShape="0">
              <a:prstClr val="black">
                <a:alpha val="40000"/>
              </a:prstClr>
            </a:outerShdw>
          </a:effectLst>
        </p:spPr>
      </p:pic>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57200" y="1331526"/>
            <a:ext cx="1428750" cy="774936"/>
          </a:xfrm>
          <a:prstGeom prst="rect">
            <a:avLst/>
          </a:prstGeom>
          <a:ln>
            <a:solidFill>
              <a:schemeClr val="tx1"/>
            </a:solidFill>
          </a:ln>
          <a:effectLst>
            <a:outerShdw blurRad="50800" dist="38100" dir="2700000" algn="tl" rotWithShape="0">
              <a:prstClr val="black">
                <a:alpha val="40000"/>
              </a:prstClr>
            </a:outerShdw>
          </a:effectLst>
        </p:spPr>
      </p:pic>
      <p:sp>
        <p:nvSpPr>
          <p:cNvPr id="6" name="Rectangle 5"/>
          <p:cNvSpPr/>
          <p:nvPr/>
        </p:nvSpPr>
        <p:spPr>
          <a:xfrm>
            <a:off x="443540" y="1930947"/>
            <a:ext cx="1013786" cy="13211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 name="Ellipse 6"/>
          <p:cNvSpPr/>
          <p:nvPr/>
        </p:nvSpPr>
        <p:spPr>
          <a:xfrm>
            <a:off x="1460540" y="191169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8" name="Rectangle 7"/>
          <p:cNvSpPr/>
          <p:nvPr/>
        </p:nvSpPr>
        <p:spPr>
          <a:xfrm>
            <a:off x="7928218" y="3705838"/>
            <a:ext cx="180188" cy="15985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 name="Ellipse 8"/>
          <p:cNvSpPr/>
          <p:nvPr/>
        </p:nvSpPr>
        <p:spPr>
          <a:xfrm>
            <a:off x="7752347" y="370085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cxnSp>
        <p:nvCxnSpPr>
          <p:cNvPr id="11" name="Connecteur en angle 10"/>
          <p:cNvCxnSpPr>
            <a:stCxn id="6" idx="1"/>
            <a:endCxn id="4" idx="1"/>
          </p:cNvCxnSpPr>
          <p:nvPr/>
        </p:nvCxnSpPr>
        <p:spPr>
          <a:xfrm rot="10800000" flipH="1" flipV="1">
            <a:off x="443540" y="1997003"/>
            <a:ext cx="270510" cy="1215846"/>
          </a:xfrm>
          <a:prstGeom prst="bentConnector3">
            <a:avLst>
              <a:gd name="adj1" fmla="val -59155"/>
            </a:avLst>
          </a:prstGeom>
          <a:ln w="127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ZoneTexte 13"/>
          <p:cNvSpPr txBox="1"/>
          <p:nvPr/>
        </p:nvSpPr>
        <p:spPr>
          <a:xfrm>
            <a:off x="2889290" y="1361826"/>
            <a:ext cx="5972770" cy="830997"/>
          </a:xfrm>
          <a:prstGeom prst="rect">
            <a:avLst/>
          </a:prstGeom>
          <a:noFill/>
        </p:spPr>
        <p:txBody>
          <a:bodyPr wrap="square" rtlCol="0">
            <a:spAutoFit/>
          </a:bodyPr>
          <a:lstStyle/>
          <a:p>
            <a:r>
              <a:rPr lang="fr-FR" sz="1200" dirty="0" smtClean="0">
                <a:solidFill>
                  <a:srgbClr val="4D4F53"/>
                </a:solidFill>
              </a:rPr>
              <a:t>Renseigner le numéro de RFQ </a:t>
            </a:r>
            <a:r>
              <a:rPr lang="fr-FR" sz="1200" dirty="0" smtClean="0">
                <a:solidFill>
                  <a:srgbClr val="4D4F53"/>
                </a:solidFill>
              </a:rPr>
              <a:t>que nous </a:t>
            </a:r>
            <a:r>
              <a:rPr lang="fr-FR" sz="1200" dirty="0" smtClean="0">
                <a:solidFill>
                  <a:srgbClr val="4D4F53"/>
                </a:solidFill>
              </a:rPr>
              <a:t>souhaitons </a:t>
            </a:r>
            <a:r>
              <a:rPr lang="fr-FR" sz="1200" dirty="0" smtClean="0">
                <a:solidFill>
                  <a:srgbClr val="4D4F53"/>
                </a:solidFill>
              </a:rPr>
              <a:t>rejeter et appuyer sur « Entrée »</a:t>
            </a:r>
            <a:endParaRPr lang="fr-FR" sz="1200" dirty="0" smtClean="0">
              <a:solidFill>
                <a:srgbClr val="4D4F53"/>
              </a:solidFill>
            </a:endParaRPr>
          </a:p>
          <a:p>
            <a:endParaRPr lang="fr-FR" sz="1200" dirty="0">
              <a:solidFill>
                <a:srgbClr val="4D4F53"/>
              </a:solidFill>
            </a:endParaRPr>
          </a:p>
          <a:p>
            <a:r>
              <a:rPr lang="fr-FR" sz="1200" dirty="0" smtClean="0">
                <a:solidFill>
                  <a:srgbClr val="4D4F53"/>
                </a:solidFill>
              </a:rPr>
              <a:t>Cliquer la case « </a:t>
            </a:r>
            <a:r>
              <a:rPr lang="fr-FR" sz="1200" dirty="0" smtClean="0">
                <a:solidFill>
                  <a:srgbClr val="4D4F53"/>
                </a:solidFill>
              </a:rPr>
              <a:t>Rejet » puis s</a:t>
            </a:r>
            <a:r>
              <a:rPr lang="fr-FR" sz="1200" dirty="0" smtClean="0">
                <a:solidFill>
                  <a:srgbClr val="4D4F53"/>
                </a:solidFill>
              </a:rPr>
              <a:t>auvegarder </a:t>
            </a:r>
            <a:r>
              <a:rPr lang="fr-FR" sz="1200" dirty="0" smtClean="0">
                <a:solidFill>
                  <a:srgbClr val="4D4F53"/>
                </a:solidFill>
              </a:rPr>
              <a:t>avec l’icône      : un message de confirmation apparaît</a:t>
            </a:r>
            <a:endParaRPr lang="fr-FR" sz="1200" dirty="0">
              <a:solidFill>
                <a:srgbClr val="4D4F53"/>
              </a:solidFill>
            </a:endParaRPr>
          </a:p>
        </p:txBody>
      </p:sp>
      <p:sp>
        <p:nvSpPr>
          <p:cNvPr id="15" name="Ellipse 14"/>
          <p:cNvSpPr/>
          <p:nvPr/>
        </p:nvSpPr>
        <p:spPr>
          <a:xfrm>
            <a:off x="2721391" y="1416447"/>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6" name="Ellipse 15"/>
          <p:cNvSpPr/>
          <p:nvPr/>
        </p:nvSpPr>
        <p:spPr>
          <a:xfrm>
            <a:off x="2721391" y="1787880"/>
            <a:ext cx="167899"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18" name="Image 17"/>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330617" y="1799818"/>
            <a:ext cx="132052" cy="129886"/>
          </a:xfrm>
          <a:prstGeom prst="rect">
            <a:avLst/>
          </a:prstGeom>
        </p:spPr>
      </p:pic>
    </p:spTree>
    <p:extLst>
      <p:ext uri="{BB962C8B-B14F-4D97-AF65-F5344CB8AC3E}">
        <p14:creationId xmlns:p14="http://schemas.microsoft.com/office/powerpoint/2010/main" val="28935420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774803" y="205978"/>
            <a:ext cx="3557833" cy="523220"/>
          </a:xfrm>
          <a:prstGeom prst="rect">
            <a:avLst/>
          </a:prstGeom>
          <a:noFill/>
        </p:spPr>
        <p:txBody>
          <a:bodyPr wrap="square" rtlCol="0">
            <a:spAutoFit/>
          </a:bodyPr>
          <a:lstStyle/>
          <a:p>
            <a:pPr algn="ctr"/>
            <a:r>
              <a:rPr lang="en-US" sz="2800" b="1" dirty="0" err="1">
                <a:solidFill>
                  <a:srgbClr val="4F81BD"/>
                </a:solidFill>
              </a:rPr>
              <a:t>Exercice</a:t>
            </a:r>
            <a:r>
              <a:rPr lang="en-US" sz="2800" b="1" dirty="0">
                <a:solidFill>
                  <a:srgbClr val="4F81BD"/>
                </a:solidFill>
              </a:rPr>
              <a:t> </a:t>
            </a:r>
            <a:r>
              <a:rPr lang="en-US" sz="2800" b="1" dirty="0" err="1" smtClean="0">
                <a:solidFill>
                  <a:srgbClr val="4F81BD"/>
                </a:solidFill>
              </a:rPr>
              <a:t>en</a:t>
            </a:r>
            <a:r>
              <a:rPr lang="en-US" sz="2800" b="1" dirty="0" smtClean="0">
                <a:solidFill>
                  <a:srgbClr val="4F81BD"/>
                </a:solidFill>
              </a:rPr>
              <a:t> </a:t>
            </a:r>
            <a:r>
              <a:rPr lang="en-US" sz="2800" b="1" dirty="0" err="1" smtClean="0">
                <a:solidFill>
                  <a:srgbClr val="4F81BD"/>
                </a:solidFill>
              </a:rPr>
              <a:t>autonomie</a:t>
            </a:r>
            <a:endParaRPr lang="en-US" sz="2800" b="1" dirty="0">
              <a:solidFill>
                <a:srgbClr val="4F81BD"/>
              </a:solidFill>
            </a:endParaRPr>
          </a:p>
        </p:txBody>
      </p:sp>
      <p:pic>
        <p:nvPicPr>
          <p:cNvPr id="35841" name="Image 358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92083" y="2749116"/>
            <a:ext cx="1719245" cy="1719245"/>
          </a:xfrm>
          <a:prstGeom prst="rect">
            <a:avLst/>
          </a:prstGeom>
        </p:spPr>
      </p:pic>
      <p:grpSp>
        <p:nvGrpSpPr>
          <p:cNvPr id="35844" name="Groupe 35843"/>
          <p:cNvGrpSpPr/>
          <p:nvPr/>
        </p:nvGrpSpPr>
        <p:grpSpPr>
          <a:xfrm>
            <a:off x="5174456" y="205978"/>
            <a:ext cx="3680275" cy="4299347"/>
            <a:chOff x="5174456" y="205978"/>
            <a:chExt cx="3680275" cy="4299347"/>
          </a:xfrm>
        </p:grpSpPr>
        <p:grpSp>
          <p:nvGrpSpPr>
            <p:cNvPr id="2" name="Groupe 1"/>
            <p:cNvGrpSpPr/>
            <p:nvPr/>
          </p:nvGrpSpPr>
          <p:grpSpPr>
            <a:xfrm>
              <a:off x="5174456" y="205978"/>
              <a:ext cx="3680275" cy="4299347"/>
              <a:chOff x="3707606" y="205978"/>
              <a:chExt cx="4105275" cy="4795838"/>
            </a:xfrm>
          </p:grpSpPr>
          <p:sp>
            <p:nvSpPr>
              <p:cNvPr id="6" name="Rectangle 5"/>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8" name="Connecteur droit 7"/>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Connecteur droit 1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 name="Connecteur droit 1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Connecteur droit 1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Connecteur droit 1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0" name="Connecteur droit 1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4" name="Connecteur droit 2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necteur droit 2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Connecteur droit 2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Connecteur droit 2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Connecteur droit 31"/>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Connecteur droit 32"/>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46" name="Image 45"/>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4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
        <p:nvSpPr>
          <p:cNvPr id="31" name="Text Box 3"/>
          <p:cNvSpPr txBox="1">
            <a:spLocks noChangeArrowheads="1"/>
          </p:cNvSpPr>
          <p:nvPr/>
        </p:nvSpPr>
        <p:spPr bwMode="auto">
          <a:xfrm>
            <a:off x="954960" y="1043860"/>
            <a:ext cx="3197518" cy="75645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Saisir la réponse fournisseur dans un RFQ</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Rejeter un </a:t>
            </a:r>
            <a:r>
              <a:rPr lang="fr-FR" sz="1350" dirty="0" smtClean="0">
                <a:solidFill>
                  <a:srgbClr val="4F81BD"/>
                </a:solidFill>
                <a:latin typeface="Arial Narrow" pitchFamily="34" charset="0"/>
                <a:ea typeface="ＭＳ Ｐゴシック"/>
                <a:cs typeface="ＭＳ Ｐゴシック"/>
              </a:rPr>
              <a:t>RFQ</a:t>
            </a:r>
            <a:endParaRPr lang="fr-FR" sz="1350" dirty="0" smtClean="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endParaRPr lang="fr-FR" sz="1350" dirty="0" smtClean="0">
              <a:solidFill>
                <a:srgbClr val="4F81BD"/>
              </a:solidFill>
              <a:latin typeface="Arial Narrow" pitchFamily="34" charset="0"/>
              <a:ea typeface="ＭＳ Ｐゴシック"/>
              <a:cs typeface="ＭＳ Ｐゴシック"/>
            </a:endParaRPr>
          </a:p>
        </p:txBody>
      </p:sp>
    </p:spTree>
    <p:extLst>
      <p:ext uri="{BB962C8B-B14F-4D97-AF65-F5344CB8AC3E}">
        <p14:creationId xmlns:p14="http://schemas.microsoft.com/office/powerpoint/2010/main" val="4025629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a:latin typeface="Arial" panose="020B0604020202020204" pitchFamily="34" charset="0"/>
                <a:ea typeface="ＭＳ Ｐゴシック" panose="020B0600070205080204" pitchFamily="34" charset="-128"/>
                <a:cs typeface="Arial" panose="020B0604020202020204" pitchFamily="34" charset="0"/>
              </a:rPr>
              <a:t>Le processus de création et de gestion des RFQ s’inscrit dans le processus d’Achats Indirects</a:t>
            </a:r>
          </a:p>
          <a:p>
            <a:pPr marL="171450" indent="-171450">
              <a:buClr>
                <a:srgbClr val="0070C0"/>
              </a:buClr>
              <a:buSzPct val="100000"/>
              <a:buFont typeface="Arial" panose="020B0604020202020204" pitchFamily="34" charset="0"/>
              <a:buChar char="•"/>
            </a:pPr>
            <a:r>
              <a:rPr lang="fr-FR" altLang="en-US" sz="1400" dirty="0">
                <a:latin typeface="Arial" panose="020B0604020202020204" pitchFamily="34" charset="0"/>
                <a:ea typeface="ＭＳ Ｐゴシック" panose="020B0600070205080204" pitchFamily="34" charset="-128"/>
                <a:cs typeface="Arial" panose="020B0604020202020204" pitchFamily="34" charset="0"/>
              </a:rPr>
              <a:t>Il est le document qui formalise la sollicitation de la CBG envers un fournisseur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externe</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Il permet le suivi de l’évolution du processus par le demandeur, et trace l’évolution du dossier au travers de la saisie des Offres, et du rejet des réponses non retenues</a:t>
            </a: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Enfin, le RFQ choisi sert de source d’information pour la création de la Commande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d’Achat et/ou d’un Contrat,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qui fait référence au RFQ et à la Demande d’Achat</a:t>
            </a: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VHEKTECQ7ECW-1532981086-4385</_dlc_DocId>
    <_dlc_DocIdUrl xmlns="f36dd47d-0b23-43fd-9b2d-c5346ffa1660">
      <Url>http://projets.cbg-guinee.com/erp/_layouts/15/DocIdRedir.aspx?ID=VHEKTECQ7ECW-1532981086-4385</Url>
      <Description>VHEKTECQ7ECW-1532981086-4385</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FE7DD0B-0BE8-4E24-A363-4DD0A01C5DCF}"/>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72FCF38D-96B4-4B19-82C3-F16E534F727A}"/>
</file>

<file path=customXml/itemProps4.xml><?xml version="1.0" encoding="utf-8"?>
<ds:datastoreItem xmlns:ds="http://schemas.openxmlformats.org/officeDocument/2006/customXml" ds:itemID="{913866F6-8F57-4BDB-9C69-E390D16F7386}"/>
</file>

<file path=docProps/app.xml><?xml version="1.0" encoding="utf-8"?>
<Properties xmlns="http://schemas.openxmlformats.org/officeDocument/2006/extended-properties" xmlns:vt="http://schemas.openxmlformats.org/officeDocument/2006/docPropsVTypes">
  <Template/>
  <TotalTime>0</TotalTime>
  <Words>1265</Words>
  <Application>Microsoft Office PowerPoint</Application>
  <PresentationFormat>Affichage à l'écran (16:9)</PresentationFormat>
  <Paragraphs>336</Paragraphs>
  <Slides>29</Slides>
  <Notes>9</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29</vt:i4>
      </vt:variant>
    </vt:vector>
  </HeadingPairs>
  <TitlesOfParts>
    <vt:vector size="37"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des Appels d’Offre</vt:lpstr>
      <vt:lpstr>Description du processus métier Un sous processus de la gestion des RFQ</vt:lpstr>
      <vt:lpstr>Le processus de RFQ</vt:lpstr>
      <vt:lpstr>Présentation PowerPoint</vt:lpstr>
      <vt:lpstr>Description des objets SAP</vt:lpstr>
      <vt:lpstr>Description des objets SAP</vt:lpstr>
      <vt:lpstr>Description des objets SAP</vt:lpstr>
      <vt:lpstr>Mode opératoire Présentation du mode opératoire dans SAP</vt:lpstr>
      <vt:lpstr>Mode opératoire ME41 - Créer un RFQ (avec référence à une Demande d’Achats) – 1/2</vt:lpstr>
      <vt:lpstr>Mode opératoire ME41 - Créer un RFQ (avec référence à une Demande d’Achats) – 2/2</vt:lpstr>
      <vt:lpstr>Mode opératoire ME41 - Créer un RFQ sans référence – 1/3</vt:lpstr>
      <vt:lpstr>Mode opératoire ME41 - Créer un RFQ sans référence – 2/3</vt:lpstr>
      <vt:lpstr>Mode opératoire ME41 - Créer un RFQ sans référence – 3/3</vt:lpstr>
      <vt:lpstr>Présentation PowerPoint</vt:lpstr>
      <vt:lpstr>Mode opératoire ME9A – Imprimer un formulaire de RFQ</vt:lpstr>
      <vt:lpstr>Mode opératoire ME4S – Afficher a liste des RFQ pour un numéro de soumission</vt:lpstr>
      <vt:lpstr>Mode opératoire ME49 – Comparer les Offres fournisseur pour un numéro de soumission</vt:lpstr>
      <vt:lpstr>Présentation PowerPoint</vt:lpstr>
      <vt:lpstr>Mode opératoire ME47 – Gérer une Offre : Saisir l’Offre fournisseur dans un RFQ</vt:lpstr>
      <vt:lpstr>Mode opératoire ME47 – Gérer une Offre : Rejeter les RFQ perdants</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3667</cp:revision>
  <cp:lastPrinted>2015-12-04T17:42:44Z</cp:lastPrinted>
  <dcterms:created xsi:type="dcterms:W3CDTF">2012-05-17T14:14:37Z</dcterms:created>
  <dcterms:modified xsi:type="dcterms:W3CDTF">2015-12-21T15:07:02Z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28a8d19a-282f-4d4b-8721-ce4805fca5bd</vt:lpwstr>
  </property>
</Properties>
</file>