
<file path=[Content_Types].xml><?xml version="1.0" encoding="utf-8"?>
<Types xmlns="http://schemas.openxmlformats.org/package/2006/content-types">
  <Default Extension="png" ContentType="image/png"/>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slides/slide15.xml" ContentType="application/vnd.openxmlformats-officedocument.presentationml.slide+xml"/>
  <Override PartName="/ppt/slides/slide16.xml" ContentType="application/vnd.openxmlformats-officedocument.presentationml.slide+xml"/>
  <Override PartName="/ppt/presentation.xml" ContentType="application/vnd.openxmlformats-officedocument.presentationml.presentation.main+xml"/>
  <Override PartName="/ppt/slides/slide1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7.xml" ContentType="application/vnd.openxmlformats-officedocument.presentationml.notesSlide+xml"/>
  <Override PartName="/ppt/notesSlides/notesSlide5.xml" ContentType="application/vnd.openxmlformats-officedocument.presentationml.notes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6.xml" ContentType="application/vnd.openxmlformats-officedocument.presentationml.notesSlide+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3.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21" r:id="rId4"/>
  </p:sldMasterIdLst>
  <p:notesMasterIdLst>
    <p:notesMasterId r:id="rId21"/>
  </p:notesMasterIdLst>
  <p:handoutMasterIdLst>
    <p:handoutMasterId r:id="rId22"/>
  </p:handoutMasterIdLst>
  <p:sldIdLst>
    <p:sldId id="685" r:id="rId5"/>
    <p:sldId id="686" r:id="rId6"/>
    <p:sldId id="687" r:id="rId7"/>
    <p:sldId id="688" r:id="rId8"/>
    <p:sldId id="723" r:id="rId9"/>
    <p:sldId id="724" r:id="rId10"/>
    <p:sldId id="806" r:id="rId11"/>
    <p:sldId id="765" r:id="rId12"/>
    <p:sldId id="808" r:id="rId13"/>
    <p:sldId id="809" r:id="rId14"/>
    <p:sldId id="810" r:id="rId15"/>
    <p:sldId id="811" r:id="rId16"/>
    <p:sldId id="699" r:id="rId17"/>
    <p:sldId id="725" r:id="rId18"/>
    <p:sldId id="710" r:id="rId19"/>
    <p:sldId id="728" r:id="rId20"/>
  </p:sldIdLst>
  <p:sldSz cx="9144000" cy="5143500" type="screen16x9"/>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49">
          <p15:clr>
            <a:srgbClr val="A4A3A4"/>
          </p15:clr>
        </p15:guide>
        <p15:guide id="2" orient="horz" pos="1880">
          <p15:clr>
            <a:srgbClr val="A4A3A4"/>
          </p15:clr>
        </p15:guide>
        <p15:guide id="3" orient="horz" pos="89">
          <p15:clr>
            <a:srgbClr val="A4A3A4"/>
          </p15:clr>
        </p15:guide>
        <p15:guide id="4" orient="horz" pos="480">
          <p15:clr>
            <a:srgbClr val="A4A3A4"/>
          </p15:clr>
        </p15:guide>
        <p15:guide id="5" orient="horz" pos="719">
          <p15:clr>
            <a:srgbClr val="A4A3A4"/>
          </p15:clr>
        </p15:guide>
        <p15:guide id="6" pos="178">
          <p15:clr>
            <a:srgbClr val="A4A3A4"/>
          </p15:clr>
        </p15:guide>
        <p15:guide id="7" pos="2881">
          <p15:clr>
            <a:srgbClr val="A4A3A4"/>
          </p15:clr>
        </p15:guide>
        <p15:guide id="8" pos="5575">
          <p15:clr>
            <a:srgbClr val="A4A3A4"/>
          </p15:clr>
        </p15:guide>
        <p15:guide id="9" orient="horz" pos="16">
          <p15:clr>
            <a:srgbClr val="A4A3A4"/>
          </p15:clr>
        </p15:guide>
        <p15:guide id="10" orient="horz" pos="67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24" userDrawn="1">
          <p15:clr>
            <a:srgbClr val="A4A3A4"/>
          </p15:clr>
        </p15:guide>
        <p15:guide id="3"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9BD3"/>
    <a:srgbClr val="D3D5FF"/>
    <a:srgbClr val="A7ABFF"/>
    <a:srgbClr val="C5C8FF"/>
    <a:srgbClr val="004376"/>
    <a:srgbClr val="4F81BD"/>
    <a:srgbClr val="F3F4FF"/>
    <a:srgbClr val="E7E8FF"/>
    <a:srgbClr val="FF0000"/>
    <a:srgbClr val="99FF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Style léger 3 - Accentuation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Style léger 2 - Accentuation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Style léger 1 - Accentuation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Style léger 1 - Accentuation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32" autoAdjust="0"/>
    <p:restoredTop sz="95565" autoAdjust="0"/>
  </p:normalViewPr>
  <p:slideViewPr>
    <p:cSldViewPr snapToGrid="0" snapToObjects="1">
      <p:cViewPr varScale="1">
        <p:scale>
          <a:sx n="123" d="100"/>
          <a:sy n="123" d="100"/>
        </p:scale>
        <p:origin x="360" y="108"/>
      </p:cViewPr>
      <p:guideLst>
        <p:guide orient="horz" pos="3049"/>
        <p:guide orient="horz" pos="1880"/>
        <p:guide orient="horz" pos="89"/>
        <p:guide orient="horz" pos="480"/>
        <p:guide orient="horz" pos="719"/>
        <p:guide pos="178"/>
        <p:guide pos="2881"/>
        <p:guide pos="5575"/>
        <p:guide orient="horz" pos="16"/>
        <p:guide orient="horz" pos="67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10746"/>
    </p:cViewPr>
  </p:sorterViewPr>
  <p:notesViewPr>
    <p:cSldViewPr snapToGrid="0" snapToObjects="1" showGuides="1">
      <p:cViewPr varScale="1">
        <p:scale>
          <a:sx n="50" d="100"/>
          <a:sy n="50" d="100"/>
        </p:scale>
        <p:origin x="-2952" y="-96"/>
      </p:cViewPr>
      <p:guideLst>
        <p:guide orient="horz" pos="3127"/>
        <p:guide pos="2124"/>
        <p:guide pos="214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customXml" Target="../customXml/item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en-US" dirty="0"/>
          </a:p>
        </p:txBody>
      </p:sp>
      <p:sp>
        <p:nvSpPr>
          <p:cNvPr id="3" name="Date Placeholder 2"/>
          <p:cNvSpPr>
            <a:spLocks noGrp="1"/>
          </p:cNvSpPr>
          <p:nvPr>
            <p:ph type="dt" sz="quarter" idx="1"/>
          </p:nvPr>
        </p:nvSpPr>
        <p:spPr>
          <a:xfrm>
            <a:off x="3850445" y="2"/>
            <a:ext cx="2945659" cy="496411"/>
          </a:xfrm>
          <a:prstGeom prst="rect">
            <a:avLst/>
          </a:prstGeom>
        </p:spPr>
        <p:txBody>
          <a:bodyPr vert="horz" lIns="91427" tIns="45714" rIns="91427" bIns="45714" rtlCol="0"/>
          <a:lstStyle>
            <a:lvl1pPr algn="r">
              <a:defRPr sz="1200"/>
            </a:lvl1pPr>
          </a:lstStyle>
          <a:p>
            <a:fld id="{4FCF4903-D1A4-F14A-B207-A0D2CC9D4B8B}" type="datetimeFigureOut">
              <a:rPr lang="en-US" smtClean="0"/>
              <a:t>1/24/2016</a:t>
            </a:fld>
            <a:endParaRPr lang="en-US" dirty="0"/>
          </a:p>
        </p:txBody>
      </p:sp>
      <p:sp>
        <p:nvSpPr>
          <p:cNvPr id="4" name="Footer Placeholder 3"/>
          <p:cNvSpPr>
            <a:spLocks noGrp="1"/>
          </p:cNvSpPr>
          <p:nvPr>
            <p:ph type="ftr" sz="quarter" idx="2"/>
          </p:nvPr>
        </p:nvSpPr>
        <p:spPr>
          <a:xfrm>
            <a:off x="1" y="9430093"/>
            <a:ext cx="2945659" cy="496411"/>
          </a:xfrm>
          <a:prstGeom prst="rect">
            <a:avLst/>
          </a:prstGeom>
        </p:spPr>
        <p:txBody>
          <a:bodyPr vert="horz" lIns="91427" tIns="45714" rIns="91427" bIns="45714"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50445" y="9430093"/>
            <a:ext cx="2945659" cy="496411"/>
          </a:xfrm>
          <a:prstGeom prst="rect">
            <a:avLst/>
          </a:prstGeom>
        </p:spPr>
        <p:txBody>
          <a:bodyPr vert="horz" lIns="91427" tIns="45714" rIns="91427" bIns="45714" rtlCol="0" anchor="b"/>
          <a:lstStyle>
            <a:lvl1pPr algn="r">
              <a:defRPr sz="1200"/>
            </a:lvl1pPr>
          </a:lstStyle>
          <a:p>
            <a:fld id="{B5DD393E-432A-C040-A9FC-9C0644B7F7DE}" type="slidenum">
              <a:rPr lang="en-US" smtClean="0"/>
              <a:t>‹N°›</a:t>
            </a:fld>
            <a:endParaRPr lang="en-US" dirty="0"/>
          </a:p>
        </p:txBody>
      </p:sp>
    </p:spTree>
    <p:extLst>
      <p:ext uri="{BB962C8B-B14F-4D97-AF65-F5344CB8AC3E}">
        <p14:creationId xmlns:p14="http://schemas.microsoft.com/office/powerpoint/2010/main" val="13172957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2"/>
            <a:ext cx="2945659" cy="496411"/>
          </a:xfrm>
          <a:prstGeom prst="rect">
            <a:avLst/>
          </a:prstGeom>
        </p:spPr>
        <p:txBody>
          <a:bodyPr vert="horz" lIns="91427" tIns="45714" rIns="91427" bIns="45714" rtlCol="0"/>
          <a:lstStyle>
            <a:lvl1pPr algn="l">
              <a:defRPr sz="1200"/>
            </a:lvl1pPr>
          </a:lstStyle>
          <a:p>
            <a:endParaRPr lang="de-DE" dirty="0"/>
          </a:p>
        </p:txBody>
      </p:sp>
      <p:sp>
        <p:nvSpPr>
          <p:cNvPr id="3" name="Datumsplatzhalter 2"/>
          <p:cNvSpPr>
            <a:spLocks noGrp="1"/>
          </p:cNvSpPr>
          <p:nvPr>
            <p:ph type="dt" idx="1"/>
          </p:nvPr>
        </p:nvSpPr>
        <p:spPr>
          <a:xfrm>
            <a:off x="3850445" y="2"/>
            <a:ext cx="2945659" cy="496411"/>
          </a:xfrm>
          <a:prstGeom prst="rect">
            <a:avLst/>
          </a:prstGeom>
        </p:spPr>
        <p:txBody>
          <a:bodyPr vert="horz" lIns="91427" tIns="45714" rIns="91427" bIns="45714" rtlCol="0"/>
          <a:lstStyle>
            <a:lvl1pPr algn="r">
              <a:defRPr sz="1200"/>
            </a:lvl1pPr>
          </a:lstStyle>
          <a:p>
            <a:fld id="{BC5B4241-C98F-4766-9E25-5F8403374385}" type="datetimeFigureOut">
              <a:rPr lang="de-DE" smtClean="0"/>
              <a:t>24.01.2016</a:t>
            </a:fld>
            <a:endParaRPr lang="de-DE" dirty="0"/>
          </a:p>
        </p:txBody>
      </p:sp>
      <p:sp>
        <p:nvSpPr>
          <p:cNvPr id="4" name="Folienbildplatzhalter 3"/>
          <p:cNvSpPr>
            <a:spLocks noGrp="1" noRot="1" noChangeAspect="1"/>
          </p:cNvSpPr>
          <p:nvPr>
            <p:ph type="sldImg" idx="2"/>
          </p:nvPr>
        </p:nvSpPr>
        <p:spPr>
          <a:xfrm>
            <a:off x="87313" y="742950"/>
            <a:ext cx="6623050" cy="3725863"/>
          </a:xfrm>
          <a:prstGeom prst="rect">
            <a:avLst/>
          </a:prstGeom>
          <a:noFill/>
          <a:ln w="12700">
            <a:solidFill>
              <a:prstClr val="black"/>
            </a:solidFill>
          </a:ln>
        </p:spPr>
        <p:txBody>
          <a:bodyPr vert="horz" lIns="91427" tIns="45714" rIns="91427" bIns="45714" rtlCol="0" anchor="ctr"/>
          <a:lstStyle/>
          <a:p>
            <a:endParaRPr lang="de-DE" dirty="0"/>
          </a:p>
        </p:txBody>
      </p:sp>
      <p:sp>
        <p:nvSpPr>
          <p:cNvPr id="5" name="Notizenplatzhalter 4"/>
          <p:cNvSpPr>
            <a:spLocks noGrp="1"/>
          </p:cNvSpPr>
          <p:nvPr>
            <p:ph type="body" sz="quarter" idx="3"/>
          </p:nvPr>
        </p:nvSpPr>
        <p:spPr>
          <a:xfrm>
            <a:off x="679768" y="4715907"/>
            <a:ext cx="5438140" cy="4467701"/>
          </a:xfrm>
          <a:prstGeom prst="rect">
            <a:avLst/>
          </a:prstGeom>
        </p:spPr>
        <p:txBody>
          <a:bodyPr vert="horz" lIns="91427" tIns="45714" rIns="91427" bIns="45714"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1" y="9430093"/>
            <a:ext cx="2945659" cy="496411"/>
          </a:xfrm>
          <a:prstGeom prst="rect">
            <a:avLst/>
          </a:prstGeom>
        </p:spPr>
        <p:txBody>
          <a:bodyPr vert="horz" lIns="91427" tIns="45714" rIns="91427" bIns="45714" rtlCol="0" anchor="b"/>
          <a:lstStyle>
            <a:lvl1pPr algn="l">
              <a:defRPr sz="1200"/>
            </a:lvl1pPr>
          </a:lstStyle>
          <a:p>
            <a:endParaRPr lang="de-DE" dirty="0"/>
          </a:p>
        </p:txBody>
      </p:sp>
      <p:sp>
        <p:nvSpPr>
          <p:cNvPr id="7" name="Foliennummernplatzhalter 6"/>
          <p:cNvSpPr>
            <a:spLocks noGrp="1"/>
          </p:cNvSpPr>
          <p:nvPr>
            <p:ph type="sldNum" sz="quarter" idx="5"/>
          </p:nvPr>
        </p:nvSpPr>
        <p:spPr>
          <a:xfrm>
            <a:off x="3850445" y="9430093"/>
            <a:ext cx="2945659" cy="496411"/>
          </a:xfrm>
          <a:prstGeom prst="rect">
            <a:avLst/>
          </a:prstGeom>
        </p:spPr>
        <p:txBody>
          <a:bodyPr vert="horz" lIns="91427" tIns="45714" rIns="91427" bIns="45714" rtlCol="0" anchor="b"/>
          <a:lstStyle>
            <a:lvl1pPr algn="r">
              <a:defRPr sz="1200"/>
            </a:lvl1pPr>
          </a:lstStyle>
          <a:p>
            <a:fld id="{3C26ED65-54EF-4DE1-A434-72CD553BB447}" type="slidenum">
              <a:rPr lang="de-DE" smtClean="0"/>
              <a:t>‹N°›</a:t>
            </a:fld>
            <a:endParaRPr lang="de-DE" dirty="0"/>
          </a:p>
        </p:txBody>
      </p:sp>
    </p:spTree>
    <p:extLst>
      <p:ext uri="{BB962C8B-B14F-4D97-AF65-F5344CB8AC3E}">
        <p14:creationId xmlns:p14="http://schemas.microsoft.com/office/powerpoint/2010/main" val="3562187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0DC2D5F1-E8F7-4A35-8262-7AB551301205}" type="slidenum">
              <a:rPr lang="en-US" altLang="en-US" sz="1200"/>
              <a:pPr/>
              <a:t>1</a:t>
            </a:fld>
            <a:endParaRPr lang="en-US" altLang="en-US" sz="1200"/>
          </a:p>
        </p:txBody>
      </p:sp>
    </p:spTree>
    <p:extLst>
      <p:ext uri="{BB962C8B-B14F-4D97-AF65-F5344CB8AC3E}">
        <p14:creationId xmlns:p14="http://schemas.microsoft.com/office/powerpoint/2010/main" val="1266647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2</a:t>
            </a:fld>
            <a:endParaRPr lang="en-US" altLang="en-US" sz="1200"/>
          </a:p>
        </p:txBody>
      </p:sp>
    </p:spTree>
    <p:extLst>
      <p:ext uri="{BB962C8B-B14F-4D97-AF65-F5344CB8AC3E}">
        <p14:creationId xmlns:p14="http://schemas.microsoft.com/office/powerpoint/2010/main" val="38855105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mtClean="0"/>
          </a:p>
        </p:txBody>
      </p:sp>
      <p:sp>
        <p:nvSpPr>
          <p:cNvPr id="50180" name="Espace réservé du numéro de diapositive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B9D49712-5491-4315-B1C4-B0196B1BBCDF}" type="slidenum">
              <a:rPr lang="en-US" altLang="en-US" sz="1200"/>
              <a:pPr/>
              <a:t>3</a:t>
            </a:fld>
            <a:endParaRPr lang="en-US" altLang="en-US" sz="1200"/>
          </a:p>
        </p:txBody>
      </p:sp>
    </p:spTree>
    <p:extLst>
      <p:ext uri="{BB962C8B-B14F-4D97-AF65-F5344CB8AC3E}">
        <p14:creationId xmlns:p14="http://schemas.microsoft.com/office/powerpoint/2010/main" val="211270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5</a:t>
            </a:fld>
            <a:endParaRPr lang="en-US" altLang="en-US" sz="1200"/>
          </a:p>
        </p:txBody>
      </p:sp>
    </p:spTree>
    <p:extLst>
      <p:ext uri="{BB962C8B-B14F-4D97-AF65-F5344CB8AC3E}">
        <p14:creationId xmlns:p14="http://schemas.microsoft.com/office/powerpoint/2010/main" val="22074908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6</a:t>
            </a:fld>
            <a:endParaRPr lang="en-US" altLang="en-US" sz="1200"/>
          </a:p>
        </p:txBody>
      </p:sp>
    </p:spTree>
    <p:extLst>
      <p:ext uri="{BB962C8B-B14F-4D97-AF65-F5344CB8AC3E}">
        <p14:creationId xmlns:p14="http://schemas.microsoft.com/office/powerpoint/2010/main" val="20876117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Espace réservé du numéro de diapositive 7"/>
          <p:cNvSpPr>
            <a:spLocks noGrp="1" noChangeArrowheads="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3BA47C35-6674-4405-BD11-53F5395FFC98}" type="slidenum">
              <a:rPr lang="fr-FR" altLang="en-US" sz="1200"/>
              <a:pPr/>
              <a:t>13</a:t>
            </a:fld>
            <a:endParaRPr lang="fr-FR" altLang="en-US" sz="1200"/>
          </a:p>
        </p:txBody>
      </p:sp>
      <p:sp>
        <p:nvSpPr>
          <p:cNvPr id="51203" name="Rectangle 2"/>
          <p:cNvSpPr>
            <a:spLocks noGrp="1" noRot="1" noChangeAspect="1" noChangeArrowheads="1" noTextEdit="1"/>
          </p:cNvSpPr>
          <p:nvPr>
            <p:ph type="sldImg"/>
          </p:nvPr>
        </p:nvSpPr>
        <p:spPr bwMode="auto">
          <a:xfrm>
            <a:off x="-676275" y="238125"/>
            <a:ext cx="8139113" cy="4579938"/>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sz="900" smtClean="0"/>
          </a:p>
        </p:txBody>
      </p:sp>
      <p:sp>
        <p:nvSpPr>
          <p:cNvPr id="3575812" name="Text Box 4"/>
          <p:cNvSpPr txBox="1">
            <a:spLocks noChangeArrowheads="1"/>
          </p:cNvSpPr>
          <p:nvPr/>
        </p:nvSpPr>
        <p:spPr bwMode="auto">
          <a:xfrm>
            <a:off x="653272" y="8579574"/>
            <a:ext cx="5485042" cy="1148540"/>
          </a:xfrm>
          <a:prstGeom prst="rect">
            <a:avLst/>
          </a:prstGeom>
          <a:noFill/>
          <a:ln w="6350" algn="ctr">
            <a:solidFill>
              <a:srgbClr val="0000FF"/>
            </a:solidFill>
            <a:miter lim="800000"/>
            <a:headEnd/>
            <a:tailEnd/>
          </a:ln>
          <a:effectLst/>
        </p:spPr>
        <p:txBody>
          <a:bodyPr lIns="93470" tIns="46734" rIns="93470" bIns="46734"/>
          <a:lstStyle/>
          <a:p>
            <a:pPr defTabSz="934326" eaLnBrk="0" hangingPunct="0">
              <a:spcBef>
                <a:spcPct val="50000"/>
              </a:spcBef>
              <a:defRPr/>
            </a:pPr>
            <a:r>
              <a:rPr kumimoji="1" lang="fr-FR" sz="1300" dirty="0">
                <a:ea typeface="ＭＳ Ｐゴシック"/>
                <a:cs typeface="ＭＳ Ｐゴシック"/>
              </a:rPr>
              <a:t>Notes pédagogiques :</a:t>
            </a: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r>
              <a:rPr lang="fr-FR" sz="1000" dirty="0">
                <a:ea typeface="ＭＳ Ｐゴシック"/>
                <a:cs typeface="ＭＳ Ｐゴシック"/>
              </a:rPr>
              <a:t> </a:t>
            </a:r>
          </a:p>
          <a:p>
            <a:pPr defTabSz="934326">
              <a:spcBef>
                <a:spcPct val="50000"/>
              </a:spcBef>
              <a:defRPr/>
            </a:pPr>
            <a:endParaRPr lang="fr-FR" sz="13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a:p>
            <a:pPr defTabSz="934326">
              <a:spcBef>
                <a:spcPct val="50000"/>
              </a:spcBef>
              <a:defRPr/>
            </a:pPr>
            <a:endParaRPr lang="fr-FR" sz="1100" dirty="0">
              <a:effectLst>
                <a:outerShdw blurRad="38100" dist="38100" dir="2700000" algn="tl">
                  <a:srgbClr val="C0C0C0"/>
                </a:outerShdw>
              </a:effectLst>
              <a:ea typeface="ＭＳ Ｐゴシック"/>
              <a:cs typeface="ＭＳ Ｐゴシック"/>
            </a:endParaRPr>
          </a:p>
        </p:txBody>
      </p:sp>
    </p:spTree>
    <p:extLst>
      <p:ext uri="{BB962C8B-B14F-4D97-AF65-F5344CB8AC3E}">
        <p14:creationId xmlns:p14="http://schemas.microsoft.com/office/powerpoint/2010/main" val="35996753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Espace réservé de l'image des diapositives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Espace réservé des commentaires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Espace réservé du numéro de diapositive 3"/>
          <p:cNvSpPr>
            <a:spLocks noGrp="1"/>
          </p:cNvSpPr>
          <p:nvPr>
            <p:ph type="sldNum" sz="quarter" idx="5"/>
          </p:nvPr>
        </p:nvSpPr>
        <p:spPr/>
        <p:txBody>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87E1D2F2-2630-4EB3-BBD8-E4C5A5D78B9F}" type="slidenum">
              <a:rPr lang="en-US" altLang="en-US" sz="1200"/>
              <a:pPr/>
              <a:t>14</a:t>
            </a:fld>
            <a:endParaRPr lang="en-US" altLang="en-US" sz="1200"/>
          </a:p>
        </p:txBody>
      </p:sp>
    </p:spTree>
    <p:extLst>
      <p:ext uri="{BB962C8B-B14F-4D97-AF65-F5344CB8AC3E}">
        <p14:creationId xmlns:p14="http://schemas.microsoft.com/office/powerpoint/2010/main" val="23828853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4" name="Titre 1"/>
          <p:cNvSpPr txBox="1">
            <a:spLocks/>
          </p:cNvSpPr>
          <p:nvPr userDrawn="1"/>
        </p:nvSpPr>
        <p:spPr>
          <a:xfrm>
            <a:off x="2635172" y="1556792"/>
            <a:ext cx="6294515" cy="1899915"/>
          </a:xfrm>
          <a:prstGeom prst="rect">
            <a:avLst/>
          </a:prstGeom>
        </p:spPr>
        <p:txBody>
          <a:bodyPr vert="horz" lIns="91440" tIns="45720" rIns="91440" bIns="45720" rtlCol="0" anchor="ctr">
            <a:normAutofit/>
          </a:bodyP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pPr algn="ctr"/>
            <a:endParaRPr lang="en-US" sz="3200" b="1" dirty="0">
              <a:solidFill>
                <a:srgbClr val="0070C0"/>
              </a:solidFill>
              <a:latin typeface="Arial" charset="0"/>
              <a:cs typeface="Arial" charset="0"/>
            </a:endParaRPr>
          </a:p>
        </p:txBody>
      </p:sp>
      <p:sp>
        <p:nvSpPr>
          <p:cNvPr id="6" name="Rectangle 5"/>
          <p:cNvSpPr/>
          <p:nvPr userDrawn="1"/>
        </p:nvSpPr>
        <p:spPr>
          <a:xfrm>
            <a:off x="285750" y="214313"/>
            <a:ext cx="8643938" cy="214312"/>
          </a:xfrm>
          <a:prstGeom prst="rect">
            <a:avLst/>
          </a:prstGeom>
          <a:solidFill>
            <a:srgbClr val="4F81BD"/>
          </a:solidFill>
          <a:ln w="25400" cap="flat" cmpd="sng" algn="ctr">
            <a:no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ndParaRP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5750" y="579967"/>
            <a:ext cx="1201016" cy="1207113"/>
          </a:xfrm>
          <a:prstGeom prst="rect">
            <a:avLst/>
          </a:prstGeom>
        </p:spPr>
      </p:pic>
    </p:spTree>
    <p:extLst>
      <p:ext uri="{BB962C8B-B14F-4D97-AF65-F5344CB8AC3E}">
        <p14:creationId xmlns:p14="http://schemas.microsoft.com/office/powerpoint/2010/main" val="393961612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TextBox 4"/>
          <p:cNvSpPr txBox="1"/>
          <p:nvPr/>
        </p:nvSpPr>
        <p:spPr>
          <a:xfrm>
            <a:off x="2027237" y="449794"/>
            <a:ext cx="6792912" cy="486965"/>
          </a:xfrm>
          <a:prstGeom prst="rect">
            <a:avLst/>
          </a:prstGeom>
          <a:noFill/>
        </p:spPr>
        <p:txBody>
          <a:bodyPr vert="horz" wrap="square" lIns="0" tIns="0" rIns="0" bIns="0" rtlCol="0" anchor="b" anchorCtr="0">
            <a:noAutofit/>
          </a:bodyPr>
          <a:lstStyle/>
          <a:p>
            <a:pPr defTabSz="389626"/>
            <a:r>
              <a:rPr lang="fr-FR" b="1" kern="1200" dirty="0" smtClean="0">
                <a:solidFill>
                  <a:srgbClr val="0070C0"/>
                </a:solidFill>
                <a:latin typeface="Calibri" pitchFamily="34" charset="0"/>
                <a:ea typeface="+mn-ea"/>
                <a:cs typeface="+mn-cs"/>
              </a:rPr>
              <a:t>Agenda de la réunion</a:t>
            </a:r>
            <a:endParaRPr lang="fr-FR" b="1" kern="1200" dirty="0">
              <a:solidFill>
                <a:srgbClr val="0070C0"/>
              </a:solidFill>
              <a:latin typeface="Calibri" pitchFamily="34" charset="0"/>
              <a:ea typeface="+mn-ea"/>
              <a:cs typeface="+mn-cs"/>
            </a:endParaRPr>
          </a:p>
        </p:txBody>
      </p:sp>
      <p:sp>
        <p:nvSpPr>
          <p:cNvPr id="7" name="Text Placeholder 7"/>
          <p:cNvSpPr>
            <a:spLocks noGrp="1"/>
          </p:cNvSpPr>
          <p:nvPr>
            <p:ph type="body" sz="quarter" idx="11"/>
          </p:nvPr>
        </p:nvSpPr>
        <p:spPr>
          <a:xfrm>
            <a:off x="2027238" y="1148415"/>
            <a:ext cx="6792913" cy="3334133"/>
          </a:xfrm>
        </p:spPr>
        <p:txBody>
          <a:bodyPr/>
          <a:lstStyle>
            <a:lvl1pPr marL="0" marR="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sz="1400"/>
            </a:lvl1pPr>
            <a:lvl2pPr marL="151521" marR="0"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sz="1400"/>
            </a:lvl2pPr>
            <a:lvl3pPr marL="308454" marR="0"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lang="en-US" sz="1400" kern="1200" noProof="0" dirty="0" smtClean="0">
                <a:solidFill>
                  <a:srgbClr val="4D4F53"/>
                </a:solidFill>
                <a:latin typeface="+mn-lt"/>
                <a:ea typeface="+mn-ea"/>
                <a:cs typeface="+mn-cs"/>
              </a:defRPr>
            </a:lvl3pPr>
            <a:lvl4pPr marL="457269" marR="0"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lang="en-US" sz="1400" kern="1200" noProof="0" dirty="0" smtClean="0">
                <a:solidFill>
                  <a:srgbClr val="4D4F53"/>
                </a:solidFill>
                <a:latin typeface="+mn-lt"/>
                <a:ea typeface="+mn-ea"/>
                <a:cs typeface="+mn-cs"/>
              </a:defRPr>
            </a:lvl4pPr>
          </a:lstStyle>
          <a:p>
            <a:pPr marL="0" marR="0" lvl="0" indent="0" algn="l" defTabSz="389626" rtl="0" eaLnBrk="1" fontAlgn="auto" latinLnBrk="0" hangingPunct="1">
              <a:lnSpc>
                <a:spcPct val="100000"/>
              </a:lnSpc>
              <a:spcBef>
                <a:spcPts val="1023"/>
              </a:spcBef>
              <a:spcAft>
                <a:spcPts val="256"/>
              </a:spcAft>
              <a:buClr>
                <a:prstClr val="white"/>
              </a:buClr>
              <a:buSzPct val="25000"/>
              <a:buFont typeface="Verdana" pitchFamily="34" charset="0"/>
              <a:buNone/>
              <a:tabLst/>
              <a:defRPr/>
            </a:pPr>
            <a:r>
              <a:rPr kumimoji="0" lang="fr-FR" sz="1200" b="0" i="0" u="none" strike="noStrike" kern="1200" cap="none" spc="0" normalizeH="0" baseline="0" noProof="0" dirty="0" smtClean="0">
                <a:ln>
                  <a:noFill/>
                </a:ln>
                <a:solidFill>
                  <a:srgbClr val="4D4F53"/>
                </a:solidFill>
                <a:effectLst/>
                <a:uLnTx/>
                <a:uFillTx/>
                <a:latin typeface="+mn-lt"/>
              </a:rPr>
              <a:t>Modifiez les styles du texte du masque</a:t>
            </a:r>
          </a:p>
          <a:p>
            <a:pPr marL="151521" marR="0" lvl="1" indent="-151521" algn="l" defTabSz="389626" rtl="0" eaLnBrk="1" fontAlgn="auto" latinLnBrk="0" hangingPunct="1">
              <a:lnSpc>
                <a:spcPct val="100000"/>
              </a:lnSpc>
              <a:spcBef>
                <a:spcPts val="256"/>
              </a:spcBef>
              <a:spcAft>
                <a:spcPts val="256"/>
              </a:spcAft>
              <a:buClr>
                <a:srgbClr val="A71930"/>
              </a:buClr>
              <a:buSzTx/>
              <a:buFont typeface="Arial"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Deuxième niveau</a:t>
            </a:r>
          </a:p>
          <a:p>
            <a:pPr marL="308454" marR="0" lvl="2" indent="-154227" algn="l" defTabSz="438329" rtl="0" eaLnBrk="1" fontAlgn="auto" latinLnBrk="0" hangingPunct="1">
              <a:lnSpc>
                <a:spcPct val="100000"/>
              </a:lnSpc>
              <a:spcBef>
                <a:spcPts val="256"/>
              </a:spcBef>
              <a:spcAft>
                <a:spcPts val="256"/>
              </a:spcAft>
              <a:buClr>
                <a:srgbClr val="A71930"/>
              </a:buClr>
              <a:buSzTx/>
              <a:buFont typeface="Calibri" pitchFamily="34" charset="0"/>
              <a:buChar char="−"/>
              <a:tabLst/>
              <a:defRPr/>
            </a:pPr>
            <a:r>
              <a:rPr kumimoji="0" lang="fr-FR" sz="1200" b="0" i="0" u="none" strike="noStrike" kern="1200" cap="none" spc="0" normalizeH="0" baseline="0" noProof="0" dirty="0" smtClean="0">
                <a:ln>
                  <a:noFill/>
                </a:ln>
                <a:solidFill>
                  <a:srgbClr val="4D4F53"/>
                </a:solidFill>
                <a:effectLst/>
                <a:uLnTx/>
                <a:uFillTx/>
                <a:latin typeface="+mn-lt"/>
              </a:rPr>
              <a:t>Troisième niveau</a:t>
            </a:r>
          </a:p>
          <a:p>
            <a:pPr marL="457269" marR="0" lvl="3" indent="-137992" algn="l" defTabSz="389626" rtl="0" eaLnBrk="1" fontAlgn="auto" latinLnBrk="0" hangingPunct="1">
              <a:lnSpc>
                <a:spcPct val="100000"/>
              </a:lnSpc>
              <a:spcBef>
                <a:spcPts val="256"/>
              </a:spcBef>
              <a:spcAft>
                <a:spcPts val="256"/>
              </a:spcAft>
              <a:buClr>
                <a:srgbClr val="A71930"/>
              </a:buClr>
              <a:buSzTx/>
              <a:buFont typeface="Courier New" pitchFamily="49" charset="0"/>
              <a:buChar char="o"/>
              <a:tabLst/>
              <a:defRPr/>
            </a:pPr>
            <a:r>
              <a:rPr kumimoji="0" lang="fr-FR" sz="1200" b="0" i="0" u="none" strike="noStrike" kern="1200" cap="none" spc="0" normalizeH="0" baseline="0" noProof="0" dirty="0" smtClean="0">
                <a:ln>
                  <a:noFill/>
                </a:ln>
                <a:solidFill>
                  <a:srgbClr val="4D4F53"/>
                </a:solidFill>
                <a:effectLst/>
                <a:uLnTx/>
                <a:uFillTx/>
                <a:latin typeface="+mn-lt"/>
              </a:rPr>
              <a:t>Quatrième niveau</a:t>
            </a:r>
          </a:p>
        </p:txBody>
      </p:sp>
      <p:pic>
        <p:nvPicPr>
          <p:cNvPr id="2" name="Imag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7266" y="693276"/>
            <a:ext cx="1201016" cy="1207113"/>
          </a:xfrm>
          <a:prstGeom prst="rect">
            <a:avLst/>
          </a:prstGeom>
        </p:spPr>
      </p:pic>
    </p:spTree>
    <p:extLst>
      <p:ext uri="{BB962C8B-B14F-4D97-AF65-F5344CB8AC3E}">
        <p14:creationId xmlns:p14="http://schemas.microsoft.com/office/powerpoint/2010/main" val="20618786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Cliquez pour modifier le style du titre</a:t>
            </a:r>
            <a:endParaRPr lang="fr-FR"/>
          </a:p>
        </p:txBody>
      </p:sp>
      <p:sp>
        <p:nvSpPr>
          <p:cNvPr id="3" name="Espace réservé du contenu 2"/>
          <p:cNvSpPr>
            <a:spLocks noGrp="1"/>
          </p:cNvSpPr>
          <p:nvPr>
            <p:ph idx="1"/>
          </p:nvPr>
        </p:nvSpPr>
        <p:spPr/>
        <p:txBody>
          <a:bodyPr/>
          <a:lstStyle/>
          <a:p>
            <a:pPr lvl="0"/>
            <a:r>
              <a:rPr lang="fr-FR" smtClean="0"/>
              <a:t>Cliquez pour 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a:xfrm>
            <a:off x="685800" y="4767263"/>
            <a:ext cx="1905000" cy="273844"/>
          </a:xfrm>
          <a:prstGeom prst="rect">
            <a:avLst/>
          </a:prstGeom>
        </p:spPr>
        <p:txBody>
          <a:bodyPr/>
          <a:lstStyle>
            <a:lvl1pPr>
              <a:defRPr>
                <a:ea typeface="ＭＳ Ｐゴシック"/>
                <a:cs typeface="ＭＳ Ｐゴシック"/>
              </a:defRPr>
            </a:lvl1pPr>
          </a:lstStyle>
          <a:p>
            <a:pPr>
              <a:defRPr/>
            </a:pPr>
            <a:fld id="{9AC7AD67-5214-4830-816B-BB68E584FB4D}" type="datetime1">
              <a:rPr lang="fr-FR"/>
              <a:pPr>
                <a:defRPr/>
              </a:pPr>
              <a:t>24/01/2016</a:t>
            </a:fld>
            <a:endParaRPr lang="fr-FR"/>
          </a:p>
        </p:txBody>
      </p:sp>
      <p:sp>
        <p:nvSpPr>
          <p:cNvPr id="5" name="Espace réservé du numéro de diapositive 5"/>
          <p:cNvSpPr>
            <a:spLocks noGrp="1"/>
          </p:cNvSpPr>
          <p:nvPr>
            <p:ph type="sldNum" sz="quarter" idx="11"/>
          </p:nvPr>
        </p:nvSpPr>
        <p:spPr>
          <a:xfrm>
            <a:off x="6553200" y="4767263"/>
            <a:ext cx="2133600" cy="273844"/>
          </a:xfrm>
          <a:prstGeom prst="rect">
            <a:avLst/>
          </a:prstGeom>
        </p:spPr>
        <p:txBody>
          <a:bodyPr/>
          <a:lstStyle>
            <a:lvl1pPr>
              <a:defRPr/>
            </a:lvl1pPr>
          </a:lstStyle>
          <a:p>
            <a:fld id="{4DF23832-6337-4957-A1E3-16FD0348C189}" type="slidenum">
              <a:rPr lang="fr-FR" altLang="en-US"/>
              <a:pPr/>
              <a:t>‹N°›</a:t>
            </a:fld>
            <a:endParaRPr lang="fr-FR" altLang="en-US"/>
          </a:p>
        </p:txBody>
      </p:sp>
      <p:sp>
        <p:nvSpPr>
          <p:cNvPr id="6" name="Espace réservé du pied de page 8"/>
          <p:cNvSpPr>
            <a:spLocks noGrp="1"/>
          </p:cNvSpPr>
          <p:nvPr>
            <p:ph type="ftr" sz="quarter" idx="12"/>
          </p:nvPr>
        </p:nvSpPr>
        <p:spPr>
          <a:xfrm>
            <a:off x="3124200" y="4767263"/>
            <a:ext cx="2895600" cy="273844"/>
          </a:xfrm>
          <a:prstGeom prst="rect">
            <a:avLst/>
          </a:prstGeom>
        </p:spPr>
        <p:txBody>
          <a:bodyPr/>
          <a:lstStyle>
            <a:lvl1pPr>
              <a:defRPr>
                <a:ea typeface="ＭＳ Ｐゴシック"/>
                <a:cs typeface="ＭＳ Ｐゴシック"/>
              </a:defRPr>
            </a:lvl1pPr>
          </a:lstStyle>
          <a:p>
            <a:pPr>
              <a:defRPr/>
            </a:pPr>
            <a:endParaRPr lang="en-US"/>
          </a:p>
        </p:txBody>
      </p:sp>
    </p:spTree>
    <p:extLst>
      <p:ext uri="{BB962C8B-B14F-4D97-AF65-F5344CB8AC3E}">
        <p14:creationId xmlns:p14="http://schemas.microsoft.com/office/powerpoint/2010/main" val="524224313"/>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25173570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830267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Text Placeholder 7"/>
          <p:cNvSpPr>
            <a:spLocks noGrp="1"/>
          </p:cNvSpPr>
          <p:nvPr>
            <p:ph type="body" idx="1"/>
          </p:nvPr>
        </p:nvSpPr>
        <p:spPr>
          <a:xfrm>
            <a:off x="2136912" y="1152525"/>
            <a:ext cx="6683237" cy="3240571"/>
          </a:xfrm>
          <a:prstGeom prst="rect">
            <a:avLst/>
          </a:prstGeom>
        </p:spPr>
        <p:txBody>
          <a:bodyPr vert="horz" lIns="0" tIns="0" rIns="0" bIns="0" rtlCol="0">
            <a:noAutofit/>
          </a:bodyPr>
          <a:lstStyle/>
          <a:p>
            <a:pPr lvl="0"/>
            <a:r>
              <a:rPr lang="fr-FR" noProof="0" dirty="0" smtClean="0"/>
              <a:t>Modifiez les styles du texte du masque</a:t>
            </a:r>
          </a:p>
          <a:p>
            <a:pPr lvl="1"/>
            <a:r>
              <a:rPr lang="fr-FR" noProof="0" dirty="0" smtClean="0"/>
              <a:t>Deuxième niveau</a:t>
            </a:r>
          </a:p>
          <a:p>
            <a:pPr lvl="2"/>
            <a:r>
              <a:rPr lang="fr-FR" noProof="0" dirty="0" smtClean="0"/>
              <a:t>Troisième niveau</a:t>
            </a:r>
          </a:p>
          <a:p>
            <a:pPr lvl="3"/>
            <a:r>
              <a:rPr lang="fr-FR" noProof="0" dirty="0" smtClean="0"/>
              <a:t>Quatrième niveau</a:t>
            </a:r>
          </a:p>
        </p:txBody>
      </p:sp>
      <p:sp>
        <p:nvSpPr>
          <p:cNvPr id="16" name="Text Placeholder 2"/>
          <p:cNvSpPr txBox="1">
            <a:spLocks/>
          </p:cNvSpPr>
          <p:nvPr/>
        </p:nvSpPr>
        <p:spPr>
          <a:xfrm>
            <a:off x="3108962" y="4873759"/>
            <a:ext cx="2926078" cy="158395"/>
          </a:xfrm>
          <a:prstGeom prst="rect">
            <a:avLst/>
          </a:prstGeom>
          <a:ln>
            <a:noFill/>
          </a:ln>
        </p:spPr>
        <p:txBody>
          <a:bodyPr vert="horz" lIns="0" tIns="0" rIns="0" bIns="0" anchor="b"/>
          <a:lstStyle>
            <a:lvl1pPr marL="0" marR="0" indent="0" algn="l" defTabSz="457200" rtl="0" eaLnBrk="1" fontAlgn="auto" latinLnBrk="0" hangingPunct="1">
              <a:lnSpc>
                <a:spcPct val="100000"/>
              </a:lnSpc>
              <a:spcBef>
                <a:spcPts val="0"/>
              </a:spcBef>
              <a:spcAft>
                <a:spcPts val="0"/>
              </a:spcAft>
              <a:buClrTx/>
              <a:buSzTx/>
              <a:buFontTx/>
              <a:buNone/>
              <a:tabLst/>
              <a:defRPr sz="800" kern="1200" baseline="0">
                <a:solidFill>
                  <a:schemeClr val="tx1">
                    <a:lumMod val="50000"/>
                    <a:lumOff val="50000"/>
                  </a:schemeClr>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fr-FR" dirty="0" smtClean="0">
                <a:solidFill>
                  <a:srgbClr val="8D817B"/>
                </a:solidFill>
              </a:rPr>
              <a:t>Confidentiel. © 2015 CBG | </a:t>
            </a:r>
            <a:fld id="{2E997FAD-17BD-C54D-93FE-DA7D4A487AFB}" type="slidenum">
              <a:rPr lang="fr-FR" smtClean="0">
                <a:solidFill>
                  <a:srgbClr val="8D817B"/>
                </a:solidFill>
              </a:rPr>
              <a:pPr algn="ctr"/>
              <a:t>‹N°›</a:t>
            </a:fld>
            <a:endParaRPr lang="fr-FR" dirty="0" smtClean="0">
              <a:solidFill>
                <a:srgbClr val="8D817B"/>
              </a:solidFill>
            </a:endParaRPr>
          </a:p>
        </p:txBody>
      </p:sp>
      <p:sp>
        <p:nvSpPr>
          <p:cNvPr id="19" name="Espace réservé du pied de page 8"/>
          <p:cNvSpPr txBox="1">
            <a:spLocks/>
          </p:cNvSpPr>
          <p:nvPr userDrawn="1"/>
        </p:nvSpPr>
        <p:spPr bwMode="auto">
          <a:xfrm>
            <a:off x="285750" y="4621127"/>
            <a:ext cx="4071938" cy="22066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fr-FR"/>
            </a:defPPr>
            <a:lvl1pPr algn="ctr" rtl="0" eaLnBrk="0" fontAlgn="base" hangingPunct="0">
              <a:spcBef>
                <a:spcPct val="0"/>
              </a:spcBef>
              <a:spcAft>
                <a:spcPct val="0"/>
              </a:spcAft>
              <a:defRPr sz="1200" kern="1200">
                <a:solidFill>
                  <a:schemeClr val="tx1"/>
                </a:solidFill>
                <a:latin typeface="Calibri" pitchFamily="34" charset="0"/>
                <a:ea typeface="+mn-ea"/>
                <a:cs typeface="+mn-cs"/>
              </a:defRPr>
            </a:lvl1pPr>
            <a:lvl2pPr marL="742950" indent="-285750" algn="l" rtl="0" eaLnBrk="0" fontAlgn="base" hangingPunct="0">
              <a:spcBef>
                <a:spcPct val="0"/>
              </a:spcBef>
              <a:spcAft>
                <a:spcPct val="0"/>
              </a:spcAft>
              <a:defRPr kern="1200">
                <a:solidFill>
                  <a:schemeClr val="tx1"/>
                </a:solidFill>
                <a:latin typeface="Calibri" pitchFamily="34" charset="0"/>
                <a:ea typeface="+mn-ea"/>
                <a:cs typeface="+mn-cs"/>
              </a:defRPr>
            </a:lvl2pPr>
            <a:lvl3pPr marL="1143000" indent="-228600" algn="l" rtl="0" eaLnBrk="0" fontAlgn="base" hangingPunct="0">
              <a:spcBef>
                <a:spcPct val="0"/>
              </a:spcBef>
              <a:spcAft>
                <a:spcPct val="0"/>
              </a:spcAft>
              <a:defRPr kern="1200">
                <a:solidFill>
                  <a:schemeClr val="tx1"/>
                </a:solidFill>
                <a:latin typeface="Calibri" pitchFamily="34" charset="0"/>
                <a:ea typeface="+mn-ea"/>
                <a:cs typeface="+mn-cs"/>
              </a:defRPr>
            </a:lvl3pPr>
            <a:lvl4pPr marL="1600200" indent="-228600" algn="l" rtl="0" eaLnBrk="0" fontAlgn="base" hangingPunct="0">
              <a:spcBef>
                <a:spcPct val="0"/>
              </a:spcBef>
              <a:spcAft>
                <a:spcPct val="0"/>
              </a:spcAft>
              <a:defRPr kern="1200">
                <a:solidFill>
                  <a:schemeClr val="tx1"/>
                </a:solidFill>
                <a:latin typeface="Calibri" pitchFamily="34" charset="0"/>
                <a:ea typeface="+mn-ea"/>
                <a:cs typeface="+mn-cs"/>
              </a:defRPr>
            </a:lvl4pPr>
            <a:lvl5pPr marL="2057400" indent="-228600" algn="l" rtl="0" eaLnBrk="0" fontAlgn="base" hangingPunct="0">
              <a:spcBef>
                <a:spcPct val="0"/>
              </a:spcBef>
              <a:spcAft>
                <a:spcPct val="0"/>
              </a:spcAft>
              <a:defRPr kern="1200">
                <a:solidFill>
                  <a:schemeClr val="tx1"/>
                </a:solidFill>
                <a:latin typeface="Calibri" pitchFamily="34" charset="0"/>
                <a:ea typeface="+mn-ea"/>
                <a:cs typeface="+mn-cs"/>
              </a:defRPr>
            </a:lvl5pPr>
            <a:lvl6pPr marL="25146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6pPr>
            <a:lvl7pPr marL="29718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7pPr>
            <a:lvl8pPr marL="34290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8pPr>
            <a:lvl9pPr marL="3886200" indent="-228600" algn="l" defTabSz="914400" rtl="0" eaLnBrk="0" fontAlgn="base" latinLnBrk="0" hangingPunct="0">
              <a:spcBef>
                <a:spcPct val="0"/>
              </a:spcBef>
              <a:spcAft>
                <a:spcPct val="0"/>
              </a:spcAft>
              <a:defRPr kern="1200">
                <a:solidFill>
                  <a:schemeClr val="tx1"/>
                </a:solidFill>
                <a:latin typeface="Calibri" pitchFamily="34" charset="0"/>
                <a:ea typeface="+mn-ea"/>
                <a:cs typeface="+mn-cs"/>
              </a:defRPr>
            </a:lvl9pPr>
          </a:lstStyle>
          <a:p>
            <a:pPr defTabSz="914400" eaLnBrk="1" hangingPunct="1"/>
            <a:r>
              <a:rPr lang="fr-FR" sz="900" dirty="0" smtClean="0">
                <a:solidFill>
                  <a:srgbClr val="0070C0"/>
                </a:solidFill>
                <a:latin typeface="Arial" charset="0"/>
                <a:cs typeface="Arial" charset="0"/>
              </a:rPr>
              <a:t>Ce document est la propriété de la CBG - This document is property of CBG</a:t>
            </a:r>
            <a:endParaRPr lang="en-US" sz="900" dirty="0">
              <a:solidFill>
                <a:srgbClr val="0070C0"/>
              </a:solidFill>
              <a:latin typeface="Arial" charset="0"/>
              <a:cs typeface="Arial" charset="0"/>
            </a:endParaRPr>
          </a:p>
        </p:txBody>
      </p:sp>
      <p:sp>
        <p:nvSpPr>
          <p:cNvPr id="2" name="Espace réservé du titre 1"/>
          <p:cNvSpPr>
            <a:spLocks noGrp="1"/>
          </p:cNvSpPr>
          <p:nvPr>
            <p:ph type="title"/>
          </p:nvPr>
        </p:nvSpPr>
        <p:spPr>
          <a:xfrm>
            <a:off x="457200" y="206375"/>
            <a:ext cx="8229600" cy="857250"/>
          </a:xfrm>
          <a:prstGeom prst="rect">
            <a:avLst/>
          </a:prstGeom>
        </p:spPr>
        <p:txBody>
          <a:bodyPr vert="horz" lIns="91440" tIns="45720" rIns="91440" bIns="45720" rtlCol="0" anchor="ctr">
            <a:normAutofit/>
          </a:bodyPr>
          <a:lstStyle/>
          <a:p>
            <a:r>
              <a:rPr lang="fr-FR" smtClean="0"/>
              <a:t>Modifiez le style du titre</a:t>
            </a:r>
            <a:endParaRPr lang="en-US"/>
          </a:p>
        </p:txBody>
      </p:sp>
      <p:pic>
        <p:nvPicPr>
          <p:cNvPr id="3" name="Image 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249561" y="4556923"/>
            <a:ext cx="8644877" cy="48772"/>
          </a:xfrm>
          <a:prstGeom prst="rect">
            <a:avLst/>
          </a:prstGeom>
        </p:spPr>
      </p:pic>
    </p:spTree>
    <p:extLst>
      <p:ext uri="{BB962C8B-B14F-4D97-AF65-F5344CB8AC3E}">
        <p14:creationId xmlns:p14="http://schemas.microsoft.com/office/powerpoint/2010/main" val="3195152109"/>
      </p:ext>
    </p:extLst>
  </p:cSld>
  <p:clrMap bg1="lt1" tx1="dk1" bg2="lt2" tx2="dk2" accent1="accent1" accent2="accent2" accent3="accent3" accent4="accent4" accent5="accent5" accent6="accent6" hlink="hlink" folHlink="folHlink"/>
  <p:sldLayoutIdLst>
    <p:sldLayoutId id="2147484153" r:id="rId1"/>
    <p:sldLayoutId id="2147484122" r:id="rId2"/>
    <p:sldLayoutId id="2147484155" r:id="rId3"/>
    <p:sldLayoutId id="2147484156" r:id="rId4"/>
    <p:sldLayoutId id="2147484157" r:id="rId5"/>
  </p:sldLayoutIdLst>
  <p:timing>
    <p:tnLst>
      <p:par>
        <p:cTn id="1" dur="indefinite" restart="never" nodeType="tmRoot"/>
      </p:par>
    </p:tnLst>
  </p:timing>
  <p:txStyles>
    <p:title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p:titleStyle>
    <p:bodyStyle>
      <a:lvl1pPr marL="0" indent="0" algn="l" defTabSz="389626" rtl="0" eaLnBrk="1" latinLnBrk="0" hangingPunct="1">
        <a:spcBef>
          <a:spcPts val="1023"/>
        </a:spcBef>
        <a:spcAft>
          <a:spcPts val="256"/>
        </a:spcAft>
        <a:buClr>
          <a:schemeClr val="bg1"/>
        </a:buClr>
        <a:buSzPct val="25000"/>
        <a:buFont typeface="Verdana" pitchFamily="34" charset="0"/>
        <a:buNone/>
        <a:defRPr lang="en-GB" sz="1200" b="0" kern="1200" noProof="0" smtClean="0">
          <a:solidFill>
            <a:srgbClr val="4D4F53"/>
          </a:solidFill>
          <a:latin typeface="+mn-lt"/>
          <a:ea typeface="+mn-ea"/>
          <a:cs typeface="+mn-cs"/>
        </a:defRPr>
      </a:lvl1pPr>
      <a:lvl2pPr marL="151521" indent="-151521" algn="l" defTabSz="389626" rtl="0" eaLnBrk="1" latinLnBrk="0" hangingPunct="1">
        <a:spcBef>
          <a:spcPts val="256"/>
        </a:spcBef>
        <a:spcAft>
          <a:spcPts val="256"/>
        </a:spcAft>
        <a:buClr>
          <a:schemeClr val="bg2"/>
        </a:buClr>
        <a:buFont typeface="Arial" pitchFamily="34" charset="0"/>
        <a:buChar char="•"/>
        <a:defRPr lang="en-GB" sz="1200" kern="1200" noProof="0" smtClean="0">
          <a:solidFill>
            <a:srgbClr val="4D4F53"/>
          </a:solidFill>
          <a:latin typeface="+mn-lt"/>
          <a:ea typeface="+mn-ea"/>
          <a:cs typeface="+mn-cs"/>
        </a:defRPr>
      </a:lvl2pPr>
      <a:lvl3pPr marL="308454" indent="-154227" algn="l" defTabSz="438329" rtl="0" eaLnBrk="1" latinLnBrk="0" hangingPunct="1">
        <a:spcBef>
          <a:spcPts val="256"/>
        </a:spcBef>
        <a:spcAft>
          <a:spcPts val="256"/>
        </a:spcAft>
        <a:buClr>
          <a:schemeClr val="bg2"/>
        </a:buClr>
        <a:buFont typeface="Calibri" pitchFamily="34" charset="0"/>
        <a:buChar char="−"/>
        <a:defRPr lang="en-GB" sz="1200" kern="1200" noProof="0" smtClean="0">
          <a:solidFill>
            <a:srgbClr val="4D4F53"/>
          </a:solidFill>
          <a:latin typeface="+mn-lt"/>
          <a:ea typeface="+mn-ea"/>
          <a:cs typeface="+mn-cs"/>
        </a:defRPr>
      </a:lvl3pPr>
      <a:lvl4pPr marL="457269" indent="-137992" algn="l" defTabSz="389626" rtl="0" eaLnBrk="1" latinLnBrk="0" hangingPunct="1">
        <a:spcBef>
          <a:spcPts val="256"/>
        </a:spcBef>
        <a:spcAft>
          <a:spcPts val="256"/>
        </a:spcAft>
        <a:buClr>
          <a:schemeClr val="bg2"/>
        </a:buClr>
        <a:buFont typeface="Courier New" pitchFamily="49" charset="0"/>
        <a:buChar char="o"/>
        <a:tabLst/>
        <a:defRPr lang="en-GB" sz="1200" kern="1200" noProof="0" smtClean="0">
          <a:solidFill>
            <a:srgbClr val="4D4F53"/>
          </a:solidFill>
          <a:latin typeface="+mn-lt"/>
          <a:ea typeface="+mn-ea"/>
          <a:cs typeface="+mn-cs"/>
        </a:defRPr>
      </a:lvl4pPr>
      <a:lvl5pPr marL="692668" indent="-140698" algn="l" defTabSz="389626" rtl="0" eaLnBrk="1" latinLnBrk="0" hangingPunct="1">
        <a:spcBef>
          <a:spcPts val="0"/>
        </a:spcBef>
        <a:buClr>
          <a:srgbClr val="D52B1E"/>
        </a:buClr>
        <a:buFont typeface="Calibri" pitchFamily="34" charset="0"/>
        <a:buChar char="-"/>
        <a:tabLst/>
        <a:defRPr lang="en-GB" sz="900" kern="1200" noProof="0">
          <a:solidFill>
            <a:srgbClr val="4D4F53"/>
          </a:solidFill>
          <a:latin typeface="+mn-lt"/>
          <a:ea typeface="+mn-ea"/>
          <a:cs typeface="+mn-cs"/>
        </a:defRPr>
      </a:lvl5pPr>
      <a:lvl6pPr marL="2142942" indent="-194813" algn="l" defTabSz="389626" rtl="0" eaLnBrk="1" latinLnBrk="0" hangingPunct="1">
        <a:spcBef>
          <a:spcPct val="20000"/>
        </a:spcBef>
        <a:buFont typeface="Arial"/>
        <a:buChar char="•"/>
        <a:defRPr sz="1700" kern="1200">
          <a:solidFill>
            <a:schemeClr val="tx1"/>
          </a:solidFill>
          <a:latin typeface="+mn-lt"/>
          <a:ea typeface="+mn-ea"/>
          <a:cs typeface="+mn-cs"/>
        </a:defRPr>
      </a:lvl6pPr>
      <a:lvl7pPr marL="2532568" indent="-194813" algn="l" defTabSz="389626" rtl="0" eaLnBrk="1" latinLnBrk="0" hangingPunct="1">
        <a:spcBef>
          <a:spcPct val="20000"/>
        </a:spcBef>
        <a:buFont typeface="Arial"/>
        <a:buChar char="•"/>
        <a:defRPr sz="1700" kern="1200">
          <a:solidFill>
            <a:schemeClr val="tx1"/>
          </a:solidFill>
          <a:latin typeface="+mn-lt"/>
          <a:ea typeface="+mn-ea"/>
          <a:cs typeface="+mn-cs"/>
        </a:defRPr>
      </a:lvl7pPr>
      <a:lvl8pPr marL="2922194" indent="-194813" algn="l" defTabSz="389626" rtl="0" eaLnBrk="1" latinLnBrk="0" hangingPunct="1">
        <a:spcBef>
          <a:spcPct val="20000"/>
        </a:spcBef>
        <a:buFont typeface="Arial"/>
        <a:buChar char="•"/>
        <a:defRPr sz="1700" kern="1200">
          <a:solidFill>
            <a:schemeClr val="tx1"/>
          </a:solidFill>
          <a:latin typeface="+mn-lt"/>
          <a:ea typeface="+mn-ea"/>
          <a:cs typeface="+mn-cs"/>
        </a:defRPr>
      </a:lvl8pPr>
      <a:lvl9pPr marL="3311820" indent="-194813" algn="l" defTabSz="389626" rtl="0" eaLnBrk="1" latinLnBrk="0" hangingPunct="1">
        <a:spcBef>
          <a:spcPct val="20000"/>
        </a:spcBef>
        <a:buFont typeface="Arial"/>
        <a:buChar char="•"/>
        <a:defRPr sz="1700" kern="1200">
          <a:solidFill>
            <a:schemeClr val="tx1"/>
          </a:solidFill>
          <a:latin typeface="+mn-lt"/>
          <a:ea typeface="+mn-ea"/>
          <a:cs typeface="+mn-cs"/>
        </a:defRPr>
      </a:lvl9pPr>
    </p:bodyStyle>
    <p:otherStyle>
      <a:defPPr>
        <a:defRPr lang="en-US"/>
      </a:defPPr>
      <a:lvl1pPr marL="0" algn="l" defTabSz="389626" rtl="0" eaLnBrk="1" latinLnBrk="0" hangingPunct="1">
        <a:defRPr sz="1500" kern="1200">
          <a:solidFill>
            <a:schemeClr val="tx1"/>
          </a:solidFill>
          <a:latin typeface="+mn-lt"/>
          <a:ea typeface="+mn-ea"/>
          <a:cs typeface="+mn-cs"/>
        </a:defRPr>
      </a:lvl1pPr>
      <a:lvl2pPr marL="389626" algn="l" defTabSz="389626" rtl="0" eaLnBrk="1" latinLnBrk="0" hangingPunct="1">
        <a:defRPr sz="1500" kern="1200">
          <a:solidFill>
            <a:schemeClr val="tx1"/>
          </a:solidFill>
          <a:latin typeface="+mn-lt"/>
          <a:ea typeface="+mn-ea"/>
          <a:cs typeface="+mn-cs"/>
        </a:defRPr>
      </a:lvl2pPr>
      <a:lvl3pPr marL="779252" algn="l" defTabSz="389626" rtl="0" eaLnBrk="1" latinLnBrk="0" hangingPunct="1">
        <a:defRPr sz="1500" kern="1200">
          <a:solidFill>
            <a:schemeClr val="tx1"/>
          </a:solidFill>
          <a:latin typeface="+mn-lt"/>
          <a:ea typeface="+mn-ea"/>
          <a:cs typeface="+mn-cs"/>
        </a:defRPr>
      </a:lvl3pPr>
      <a:lvl4pPr marL="1168878" algn="l" defTabSz="389626" rtl="0" eaLnBrk="1" latinLnBrk="0" hangingPunct="1">
        <a:defRPr sz="1500" kern="1200">
          <a:solidFill>
            <a:schemeClr val="tx1"/>
          </a:solidFill>
          <a:latin typeface="+mn-lt"/>
          <a:ea typeface="+mn-ea"/>
          <a:cs typeface="+mn-cs"/>
        </a:defRPr>
      </a:lvl4pPr>
      <a:lvl5pPr marL="1558503" algn="l" defTabSz="389626" rtl="0" eaLnBrk="1" latinLnBrk="0" hangingPunct="1">
        <a:defRPr sz="1500" kern="1200">
          <a:solidFill>
            <a:schemeClr val="tx1"/>
          </a:solidFill>
          <a:latin typeface="+mn-lt"/>
          <a:ea typeface="+mn-ea"/>
          <a:cs typeface="+mn-cs"/>
        </a:defRPr>
      </a:lvl5pPr>
      <a:lvl6pPr marL="1948129" algn="l" defTabSz="389626" rtl="0" eaLnBrk="1" latinLnBrk="0" hangingPunct="1">
        <a:defRPr sz="1500" kern="1200">
          <a:solidFill>
            <a:schemeClr val="tx1"/>
          </a:solidFill>
          <a:latin typeface="+mn-lt"/>
          <a:ea typeface="+mn-ea"/>
          <a:cs typeface="+mn-cs"/>
        </a:defRPr>
      </a:lvl6pPr>
      <a:lvl7pPr marL="2337755" algn="l" defTabSz="389626" rtl="0" eaLnBrk="1" latinLnBrk="0" hangingPunct="1">
        <a:defRPr sz="1500" kern="1200">
          <a:solidFill>
            <a:schemeClr val="tx1"/>
          </a:solidFill>
          <a:latin typeface="+mn-lt"/>
          <a:ea typeface="+mn-ea"/>
          <a:cs typeface="+mn-cs"/>
        </a:defRPr>
      </a:lvl7pPr>
      <a:lvl8pPr marL="2727381" algn="l" defTabSz="389626" rtl="0" eaLnBrk="1" latinLnBrk="0" hangingPunct="1">
        <a:defRPr sz="1500" kern="1200">
          <a:solidFill>
            <a:schemeClr val="tx1"/>
          </a:solidFill>
          <a:latin typeface="+mn-lt"/>
          <a:ea typeface="+mn-ea"/>
          <a:cs typeface="+mn-cs"/>
        </a:defRPr>
      </a:lvl8pPr>
      <a:lvl9pPr marL="3117007" algn="l" defTabSz="389626"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5.png"/><Relationship Id="rId10" Type="http://schemas.openxmlformats.org/officeDocument/2006/relationships/image" Target="../media/image18.png"/><Relationship Id="rId4" Type="http://schemas.openxmlformats.org/officeDocument/2006/relationships/image" Target="../media/image14.png"/><Relationship Id="rId9"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21.wmf"/></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p:cNvSpPr txBox="1">
            <a:spLocks/>
          </p:cNvSpPr>
          <p:nvPr/>
        </p:nvSpPr>
        <p:spPr>
          <a:xfrm>
            <a:off x="2635173" y="1556792"/>
            <a:ext cx="5817244" cy="1899915"/>
          </a:xfrm>
          <a:prstGeom prst="rect">
            <a:avLst/>
          </a:prstGeom>
        </p:spPr>
        <p:txBody>
          <a:bodyPr anchor="ctr"/>
          <a:lstStyle>
            <a:lvl1pPr marL="0" indent="0" algn="l" defTabSz="389626" rtl="0" eaLnBrk="1" latinLnBrk="0" hangingPunct="1">
              <a:spcBef>
                <a:spcPct val="0"/>
              </a:spcBef>
              <a:spcAft>
                <a:spcPts val="0"/>
              </a:spcAft>
              <a:buFont typeface="Arial" pitchFamily="34" charset="0"/>
              <a:buNone/>
              <a:defRPr lang="fr-FR" sz="1900" b="0" kern="1200" baseline="0" smtClean="0">
                <a:solidFill>
                  <a:srgbClr val="4D4F53"/>
                </a:solidFill>
                <a:latin typeface="+mj-lt"/>
                <a:ea typeface="+mn-ea"/>
                <a:cs typeface="+mn-cs"/>
              </a:defRPr>
            </a:lvl1pPr>
          </a:lstStyle>
          <a:p>
            <a:r>
              <a:rPr lang="fr-FR" sz="2800" b="1" dirty="0">
                <a:solidFill>
                  <a:srgbClr val="0070C0"/>
                </a:solidFill>
                <a:latin typeface="Arial" charset="0"/>
                <a:cs typeface="Arial" charset="0"/>
              </a:rPr>
              <a:t>Formation </a:t>
            </a:r>
            <a:r>
              <a:rPr lang="fr-FR" sz="2800" b="1" dirty="0" smtClean="0">
                <a:solidFill>
                  <a:srgbClr val="0070C0"/>
                </a:solidFill>
                <a:latin typeface="Arial" charset="0"/>
                <a:cs typeface="Arial" charset="0"/>
              </a:rPr>
              <a:t>Utilisateurs- FINANCE </a:t>
            </a:r>
            <a:r>
              <a:rPr lang="fr-FR" sz="3200" b="1" dirty="0" smtClean="0">
                <a:solidFill>
                  <a:srgbClr val="0070C0"/>
                </a:solidFill>
                <a:latin typeface="Arial" charset="0"/>
                <a:cs typeface="Arial" charset="0"/>
              </a:rPr>
              <a:t/>
            </a:r>
            <a:br>
              <a:rPr lang="fr-FR" sz="3200" b="1" dirty="0" smtClean="0">
                <a:solidFill>
                  <a:srgbClr val="0070C0"/>
                </a:solidFill>
                <a:latin typeface="Arial" charset="0"/>
                <a:cs typeface="Arial" charset="0"/>
              </a:rPr>
            </a:br>
            <a:r>
              <a:rPr lang="fr-FR" sz="2000" b="1" dirty="0" smtClean="0">
                <a:solidFill>
                  <a:srgbClr val="0070C0"/>
                </a:solidFill>
                <a:latin typeface="Arial" charset="0"/>
                <a:cs typeface="Arial" charset="0"/>
              </a:rPr>
              <a:t>Module 02.02</a:t>
            </a:r>
            <a:r>
              <a:rPr lang="fr-FR" sz="2000" b="1" dirty="0">
                <a:solidFill>
                  <a:srgbClr val="0070C0"/>
                </a:solidFill>
                <a:latin typeface="Arial" charset="0"/>
                <a:cs typeface="Arial" charset="0"/>
              </a:rPr>
              <a:t/>
            </a:r>
            <a:br>
              <a:rPr lang="fr-FR" sz="2000" b="1" dirty="0">
                <a:solidFill>
                  <a:srgbClr val="0070C0"/>
                </a:solidFill>
                <a:latin typeface="Arial" charset="0"/>
                <a:cs typeface="Arial" charset="0"/>
              </a:rPr>
            </a:br>
            <a:r>
              <a:rPr lang="fr-FR" sz="2000" b="1" dirty="0" smtClean="0">
                <a:solidFill>
                  <a:srgbClr val="0070C0"/>
                </a:solidFill>
                <a:latin typeface="Arial" charset="0"/>
                <a:cs typeface="Arial" charset="0"/>
              </a:rPr>
              <a:t>Gestion des comptes généraux</a:t>
            </a:r>
            <a:endParaRPr lang="fr-FR" sz="1800" dirty="0" smtClean="0">
              <a:solidFill>
                <a:srgbClr val="0070C0"/>
              </a:solidFill>
              <a:latin typeface="Arial" charset="0"/>
              <a:cs typeface="Arial" charset="0"/>
            </a:endParaRPr>
          </a:p>
        </p:txBody>
      </p:sp>
      <p:sp>
        <p:nvSpPr>
          <p:cNvPr id="21506" name="Rectangle 2"/>
          <p:cNvSpPr>
            <a:spLocks noGrp="1"/>
          </p:cNvSpPr>
          <p:nvPr>
            <p:ph type="ctrTitle" idx="4294967295"/>
          </p:nvPr>
        </p:nvSpPr>
        <p:spPr>
          <a:xfrm>
            <a:off x="6245817" y="4002921"/>
            <a:ext cx="2772366" cy="708563"/>
          </a:xfrm>
        </p:spPr>
        <p:txBody>
          <a:bodyPr>
            <a:normAutofit/>
          </a:bodyPr>
          <a:lstStyle/>
          <a:p>
            <a:pPr algn="r" defTabSz="457200"/>
            <a:r>
              <a:rPr lang="fr-FR" altLang="en-US" sz="1800" dirty="0" smtClean="0">
                <a:solidFill>
                  <a:schemeClr val="tx1"/>
                </a:solidFill>
                <a:latin typeface="Arial" charset="0"/>
              </a:rPr>
              <a:t>Kamsar, le 19.01.2016</a:t>
            </a:r>
            <a:endParaRPr lang="en-US" altLang="en-US" sz="1800" dirty="0">
              <a:solidFill>
                <a:schemeClr val="tx1"/>
              </a:solidFill>
              <a:latin typeface="Arial" charset="0"/>
            </a:endParaRPr>
          </a:p>
        </p:txBody>
      </p:sp>
    </p:spTree>
    <p:extLst>
      <p:ext uri="{BB962C8B-B14F-4D97-AF65-F5344CB8AC3E}">
        <p14:creationId xmlns:p14="http://schemas.microsoft.com/office/powerpoint/2010/main" val="21254742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343258"/>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Objectif 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 </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2</a:t>
            </a:fld>
            <a:endParaRPr lang="fr-FR" altLang="en-US" sz="750"/>
          </a:p>
        </p:txBody>
      </p:sp>
    </p:spTree>
    <p:extLst>
      <p:ext uri="{BB962C8B-B14F-4D97-AF65-F5344CB8AC3E}">
        <p14:creationId xmlns:p14="http://schemas.microsoft.com/office/powerpoint/2010/main" val="5447704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fr-FR" altLang="en-US" dirty="0" smtClean="0"/>
              <a:t>Objectifs de la formation</a:t>
            </a:r>
            <a:endParaRPr lang="fr-FR" altLang="en-US" dirty="0"/>
          </a:p>
        </p:txBody>
      </p:sp>
      <p:sp>
        <p:nvSpPr>
          <p:cNvPr id="23555" name="Slide Number Placeholder 3"/>
          <p:cNvSpPr>
            <a:spLocks noGrp="1"/>
          </p:cNvSpPr>
          <p:nvPr>
            <p:ph type="sldNum" sz="quarter" idx="4294967295"/>
          </p:nvPr>
        </p:nvSpPr>
        <p:spPr bwMode="auto">
          <a:xfrm>
            <a:off x="7543800" y="4767263"/>
            <a:ext cx="16002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6376B89C-69A1-4AA7-8B55-052D6C772B02}" type="slidenum">
              <a:rPr lang="en-US" altLang="en-US" sz="750"/>
              <a:pPr eaLnBrk="1" hangingPunct="1"/>
              <a:t>3</a:t>
            </a:fld>
            <a:endParaRPr lang="en-US" altLang="en-US" sz="750"/>
          </a:p>
        </p:txBody>
      </p:sp>
      <p:sp>
        <p:nvSpPr>
          <p:cNvPr id="5" name="Rectangle 4"/>
          <p:cNvSpPr/>
          <p:nvPr/>
        </p:nvSpPr>
        <p:spPr>
          <a:xfrm>
            <a:off x="1763272" y="1312720"/>
            <a:ext cx="4589859" cy="601073"/>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72000" bIns="72000" spcCol="180000" anchor="ctr"/>
          <a:lstStyle/>
          <a:p>
            <a:pPr marL="67866"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Savoir gérer les données de base des comptes généraux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endParaRPr lang="fr-FR" sz="900" dirty="0">
              <a:solidFill>
                <a:schemeClr val="tx1"/>
              </a:solidFill>
              <a:latin typeface="Arial" pitchFamily="34" charset="0"/>
              <a:cs typeface="Arial" pitchFamily="34" charset="0"/>
            </a:endParaRPr>
          </a:p>
        </p:txBody>
      </p:sp>
      <p:sp>
        <p:nvSpPr>
          <p:cNvPr id="7" name="Rectangle 6"/>
          <p:cNvSpPr/>
          <p:nvPr/>
        </p:nvSpPr>
        <p:spPr>
          <a:xfrm>
            <a:off x="1763272" y="3707367"/>
            <a:ext cx="4589859" cy="513778"/>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tIns="216000" spcCol="180000" anchor="ctr"/>
          <a:lstStyle/>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Gestion des données des comptes généraux</a:t>
            </a:r>
            <a:endParaRPr lang="fr-FR" sz="900" dirty="0">
              <a:solidFill>
                <a:schemeClr val="tx1"/>
              </a:solidFill>
              <a:latin typeface="Arial" pitchFamily="34" charset="0"/>
              <a:cs typeface="Arial" pitchFamily="34" charset="0"/>
            </a:endParaRPr>
          </a:p>
          <a:p>
            <a:pPr marL="0" lvl="1" eaLnBrk="0" hangingPunct="0">
              <a:spcBef>
                <a:spcPts val="225"/>
              </a:spcBef>
              <a:buClr>
                <a:srgbClr val="4F81BD"/>
              </a:buClr>
              <a:defRPr/>
            </a:pPr>
            <a:endParaRPr lang="fr-FR" sz="900" dirty="0">
              <a:solidFill>
                <a:schemeClr val="tx1"/>
              </a:solidFill>
              <a:latin typeface="Arial" pitchFamily="34" charset="0"/>
              <a:cs typeface="Arial" pitchFamily="34" charset="0"/>
            </a:endParaRPr>
          </a:p>
          <a:p>
            <a:pPr marL="0" lvl="1" eaLnBrk="0" hangingPunct="0">
              <a:spcBef>
                <a:spcPts val="225"/>
              </a:spcBef>
              <a:buClr>
                <a:srgbClr val="4F81BD"/>
              </a:buClr>
              <a:defRPr/>
            </a:pPr>
            <a:endParaRPr lang="fr-FR" sz="900" dirty="0">
              <a:solidFill>
                <a:schemeClr val="tx1"/>
              </a:solidFill>
              <a:latin typeface="Arial" pitchFamily="34" charset="0"/>
              <a:cs typeface="Arial" pitchFamily="34" charset="0"/>
            </a:endParaRPr>
          </a:p>
          <a:p>
            <a:pPr marL="0" lvl="1" eaLnBrk="0" hangingPunct="0">
              <a:spcBef>
                <a:spcPts val="225"/>
              </a:spcBef>
              <a:buClr>
                <a:srgbClr val="4F81BD"/>
              </a:buClr>
              <a:defRPr/>
            </a:pPr>
            <a:endParaRPr lang="fr-FR" sz="900" dirty="0">
              <a:solidFill>
                <a:schemeClr val="tx1"/>
              </a:solidFill>
              <a:latin typeface="Arial" pitchFamily="34" charset="0"/>
              <a:cs typeface="Arial" pitchFamily="34" charset="0"/>
            </a:endParaRPr>
          </a:p>
          <a:p>
            <a:pPr marL="67866" lvl="1" indent="-67866" eaLnBrk="0" hangingPunct="0">
              <a:spcBef>
                <a:spcPts val="225"/>
              </a:spcBef>
              <a:buClr>
                <a:srgbClr val="4F81BD"/>
              </a:buClr>
              <a:buFont typeface="Arial" charset="0"/>
              <a:buChar char="•"/>
              <a:defRPr/>
            </a:pPr>
            <a:endParaRPr lang="fr-FR" sz="900" dirty="0" smtClean="0">
              <a:solidFill>
                <a:schemeClr val="tx1"/>
              </a:solidFill>
              <a:latin typeface="Arial" pitchFamily="34" charset="0"/>
              <a:cs typeface="Arial" pitchFamily="34" charset="0"/>
            </a:endParaRPr>
          </a:p>
        </p:txBody>
      </p:sp>
      <p:sp>
        <p:nvSpPr>
          <p:cNvPr id="11" name="Rectangle 10"/>
          <p:cNvSpPr/>
          <p:nvPr/>
        </p:nvSpPr>
        <p:spPr>
          <a:xfrm>
            <a:off x="1763272" y="3407285"/>
            <a:ext cx="1932004"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Contenu de la formation</a:t>
            </a:r>
          </a:p>
        </p:txBody>
      </p:sp>
      <p:sp>
        <p:nvSpPr>
          <p:cNvPr id="12" name="Rectangle 11"/>
          <p:cNvSpPr/>
          <p:nvPr/>
        </p:nvSpPr>
        <p:spPr>
          <a:xfrm>
            <a:off x="1752317" y="1012639"/>
            <a:ext cx="755335" cy="300082"/>
          </a:xfrm>
          <a:prstGeom prst="rect">
            <a:avLst/>
          </a:prstGeom>
          <a:noFill/>
        </p:spPr>
        <p:txBody>
          <a:bodyPr wrap="none">
            <a:spAutoFit/>
          </a:bodyPr>
          <a:lstStyle/>
          <a:p>
            <a:pPr algn="ctr" eaLnBrk="0" hangingPunct="0">
              <a:spcBef>
                <a:spcPct val="20000"/>
              </a:spcBef>
              <a:buFont typeface="Arial" charset="0"/>
              <a:buNone/>
              <a:defRPr/>
            </a:pPr>
            <a:r>
              <a:rPr lang="fr-FR" sz="1350" b="1" dirty="0" smtClean="0">
                <a:solidFill>
                  <a:srgbClr val="4F81BD"/>
                </a:solidFill>
                <a:cs typeface="Arial" pitchFamily="34" charset="0"/>
              </a:rPr>
              <a:t>Objectif</a:t>
            </a:r>
            <a:endParaRPr lang="fr-FR" sz="1350" b="1" dirty="0">
              <a:solidFill>
                <a:srgbClr val="4F81BD"/>
              </a:solidFill>
              <a:cs typeface="Arial" pitchFamily="34" charset="0"/>
            </a:endParaRPr>
          </a:p>
        </p:txBody>
      </p:sp>
      <p:grpSp>
        <p:nvGrpSpPr>
          <p:cNvPr id="14" name="Groupe 13"/>
          <p:cNvGrpSpPr/>
          <p:nvPr/>
        </p:nvGrpSpPr>
        <p:grpSpPr>
          <a:xfrm>
            <a:off x="6481687" y="1016233"/>
            <a:ext cx="1905739" cy="897560"/>
            <a:chOff x="6704410" y="1016233"/>
            <a:chExt cx="1528579" cy="897560"/>
          </a:xfrm>
        </p:grpSpPr>
        <p:sp>
          <p:nvSpPr>
            <p:cNvPr id="8" name="Rectangle 7"/>
            <p:cNvSpPr/>
            <p:nvPr/>
          </p:nvSpPr>
          <p:spPr>
            <a:xfrm>
              <a:off x="6748280" y="1316481"/>
              <a:ext cx="1484709" cy="597312"/>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a:solidFill>
                    <a:schemeClr val="tx1"/>
                  </a:solidFill>
                  <a:latin typeface="Arial" pitchFamily="34" charset="0"/>
                  <a:cs typeface="Arial" pitchFamily="34" charset="0"/>
                </a:rPr>
                <a:t>2</a:t>
              </a:r>
              <a:r>
                <a:rPr lang="fr-FR" sz="900" dirty="0" smtClean="0">
                  <a:solidFill>
                    <a:schemeClr val="tx1"/>
                  </a:solidFill>
                  <a:latin typeface="Arial" pitchFamily="34" charset="0"/>
                  <a:cs typeface="Arial" pitchFamily="34" charset="0"/>
                </a:rPr>
                <a:t> Heure</a:t>
              </a:r>
              <a:endParaRPr lang="fr-FR" sz="900" dirty="0">
                <a:solidFill>
                  <a:schemeClr val="tx1"/>
                </a:solidFill>
                <a:latin typeface="Arial" pitchFamily="34" charset="0"/>
                <a:cs typeface="Arial" pitchFamily="34" charset="0"/>
              </a:endParaRPr>
            </a:p>
          </p:txBody>
        </p:sp>
        <p:sp>
          <p:nvSpPr>
            <p:cNvPr id="17" name="Rectangle 16"/>
            <p:cNvSpPr/>
            <p:nvPr/>
          </p:nvSpPr>
          <p:spPr>
            <a:xfrm>
              <a:off x="6704410" y="1016233"/>
              <a:ext cx="61875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Durée</a:t>
              </a:r>
            </a:p>
          </p:txBody>
        </p:sp>
      </p:grpSp>
      <p:grpSp>
        <p:nvGrpSpPr>
          <p:cNvPr id="10" name="Groupe 9"/>
          <p:cNvGrpSpPr/>
          <p:nvPr/>
        </p:nvGrpSpPr>
        <p:grpSpPr>
          <a:xfrm>
            <a:off x="6475133" y="2059733"/>
            <a:ext cx="1913909" cy="1201612"/>
            <a:chOff x="6697857" y="2111948"/>
            <a:chExt cx="1535132" cy="1201612"/>
          </a:xfrm>
        </p:grpSpPr>
        <p:sp>
          <p:nvSpPr>
            <p:cNvPr id="6" name="Rectangle 5"/>
            <p:cNvSpPr/>
            <p:nvPr/>
          </p:nvSpPr>
          <p:spPr>
            <a:xfrm>
              <a:off x="6748280" y="2412030"/>
              <a:ext cx="1484709" cy="901530"/>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généraux</a:t>
              </a:r>
            </a:p>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Comptables fournisseurs   </a:t>
              </a:r>
            </a:p>
            <a:p>
              <a:pPr eaLnBrk="0" hangingPunct="0">
                <a:spcBef>
                  <a:spcPts val="225"/>
                </a:spcBef>
                <a:buClr>
                  <a:srgbClr val="4F81BD"/>
                </a:buClr>
                <a:defRPr/>
              </a:pPr>
              <a:endParaRPr lang="fr-FR" sz="900" dirty="0" smtClean="0">
                <a:solidFill>
                  <a:schemeClr val="tx1"/>
                </a:solidFill>
                <a:latin typeface="Arial" pitchFamily="34" charset="0"/>
                <a:cs typeface="Arial" pitchFamily="34" charset="0"/>
              </a:endParaRPr>
            </a:p>
          </p:txBody>
        </p:sp>
        <p:sp>
          <p:nvSpPr>
            <p:cNvPr id="18" name="Rectangle 17"/>
            <p:cNvSpPr/>
            <p:nvPr/>
          </p:nvSpPr>
          <p:spPr>
            <a:xfrm>
              <a:off x="6697857" y="2111948"/>
              <a:ext cx="997389"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Public cible</a:t>
              </a:r>
            </a:p>
          </p:txBody>
        </p:sp>
      </p:grpSp>
      <p:grpSp>
        <p:nvGrpSpPr>
          <p:cNvPr id="15" name="Groupe 14"/>
          <p:cNvGrpSpPr/>
          <p:nvPr/>
        </p:nvGrpSpPr>
        <p:grpSpPr>
          <a:xfrm>
            <a:off x="6474246" y="3407285"/>
            <a:ext cx="1915016" cy="813860"/>
            <a:chOff x="6696969" y="3407285"/>
            <a:chExt cx="1536020" cy="813860"/>
          </a:xfrm>
        </p:grpSpPr>
        <p:sp>
          <p:nvSpPr>
            <p:cNvPr id="13" name="Rectangle 12"/>
            <p:cNvSpPr/>
            <p:nvPr/>
          </p:nvSpPr>
          <p:spPr>
            <a:xfrm>
              <a:off x="6748280" y="3689526"/>
              <a:ext cx="1484709" cy="531619"/>
            </a:xfrm>
            <a:prstGeom prst="rect">
              <a:avLst/>
            </a:prstGeom>
            <a:gradFill>
              <a:gsLst>
                <a:gs pos="0">
                  <a:srgbClr val="A7ABFF"/>
                </a:gs>
                <a:gs pos="35000">
                  <a:srgbClr val="C5C8FF"/>
                </a:gs>
                <a:gs pos="100000">
                  <a:srgbClr val="F3F4FF"/>
                </a:gs>
              </a:gsLst>
            </a:gradFill>
            <a:ln/>
          </p:spPr>
          <p:style>
            <a:lnRef idx="1">
              <a:schemeClr val="accent4"/>
            </a:lnRef>
            <a:fillRef idx="2">
              <a:schemeClr val="accent4"/>
            </a:fillRef>
            <a:effectRef idx="1">
              <a:schemeClr val="accent4"/>
            </a:effectRef>
            <a:fontRef idx="minor">
              <a:schemeClr val="dk1"/>
            </a:fontRef>
          </p:style>
          <p:txBody>
            <a:bodyPr anchor="ctr"/>
            <a:lstStyle/>
            <a:p>
              <a:pPr marL="67866" indent="-67866" eaLnBrk="0" hangingPunct="0">
                <a:spcBef>
                  <a:spcPts val="225"/>
                </a:spcBef>
                <a:buClr>
                  <a:srgbClr val="4F81BD"/>
                </a:buClr>
                <a:buFont typeface="Arial" charset="0"/>
                <a:buChar char="•"/>
                <a:defRPr/>
              </a:pPr>
              <a:r>
                <a:rPr lang="fr-FR" sz="900" dirty="0" smtClean="0">
                  <a:solidFill>
                    <a:schemeClr val="tx1"/>
                  </a:solidFill>
                  <a:latin typeface="Arial" pitchFamily="34" charset="0"/>
                  <a:cs typeface="Arial" pitchFamily="34" charset="0"/>
                </a:rPr>
                <a:t>Introduction à SAP</a:t>
              </a:r>
              <a:endParaRPr lang="fr-FR" sz="900" dirty="0">
                <a:solidFill>
                  <a:schemeClr val="tx1"/>
                </a:solidFill>
                <a:latin typeface="Arial" pitchFamily="34" charset="0"/>
                <a:cs typeface="Arial" pitchFamily="34" charset="0"/>
              </a:endParaRPr>
            </a:p>
          </p:txBody>
        </p:sp>
        <p:sp>
          <p:nvSpPr>
            <p:cNvPr id="20" name="Rectangle 19"/>
            <p:cNvSpPr/>
            <p:nvPr/>
          </p:nvSpPr>
          <p:spPr>
            <a:xfrm>
              <a:off x="6696969" y="3407285"/>
              <a:ext cx="918201" cy="300082"/>
            </a:xfrm>
            <a:prstGeom prst="rect">
              <a:avLst/>
            </a:prstGeom>
          </p:spPr>
          <p:txBody>
            <a:bodyPr wrap="none">
              <a:spAutoFit/>
            </a:bodyPr>
            <a:lstStyle/>
            <a:p>
              <a:pPr algn="ctr" eaLnBrk="0" hangingPunct="0">
                <a:spcBef>
                  <a:spcPct val="20000"/>
                </a:spcBef>
                <a:buFont typeface="Arial" charset="0"/>
                <a:buNone/>
                <a:defRPr/>
              </a:pPr>
              <a:r>
                <a:rPr lang="fr-FR" sz="1350" b="1" dirty="0">
                  <a:solidFill>
                    <a:srgbClr val="4F81BD"/>
                  </a:solidFill>
                  <a:cs typeface="Arial" pitchFamily="34" charset="0"/>
                </a:rPr>
                <a:t>Pré-requis</a:t>
              </a:r>
            </a:p>
          </p:txBody>
        </p:sp>
      </p:grpSp>
      <p:pic>
        <p:nvPicPr>
          <p:cNvPr id="9" name="Imag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5761" y="2571750"/>
            <a:ext cx="1737511" cy="1731414"/>
          </a:xfrm>
          <a:prstGeom prst="rect">
            <a:avLst/>
          </a:prstGeom>
        </p:spPr>
      </p:pic>
    </p:spTree>
    <p:extLst>
      <p:ext uri="{BB962C8B-B14F-4D97-AF65-F5344CB8AC3E}">
        <p14:creationId xmlns:p14="http://schemas.microsoft.com/office/powerpoint/2010/main" val="15319219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re 2"/>
          <p:cNvSpPr>
            <a:spLocks noGrp="1"/>
          </p:cNvSpPr>
          <p:nvPr>
            <p:ph type="title"/>
          </p:nvPr>
        </p:nvSpPr>
        <p:spPr/>
        <p:txBody>
          <a:bodyPr>
            <a:normAutofit/>
          </a:bodyPr>
          <a:lstStyle/>
          <a:p>
            <a:r>
              <a:rPr lang="fr-FR" altLang="en-US" dirty="0"/>
              <a:t>Agenda : 2h00</a:t>
            </a:r>
            <a:endParaRPr lang="en-US" altLang="en-US" dirty="0"/>
          </a:p>
        </p:txBody>
      </p:sp>
      <p:graphicFrame>
        <p:nvGraphicFramePr>
          <p:cNvPr id="6" name="Espace réservé du contenu 5"/>
          <p:cNvGraphicFramePr>
            <a:graphicFrameLocks noGrp="1"/>
          </p:cNvGraphicFramePr>
          <p:nvPr>
            <p:ph idx="1"/>
            <p:extLst>
              <p:ext uri="{D42A27DB-BD31-4B8C-83A1-F6EECF244321}">
                <p14:modId xmlns:p14="http://schemas.microsoft.com/office/powerpoint/2010/main" val="2937443542"/>
              </p:ext>
            </p:extLst>
          </p:nvPr>
        </p:nvGraphicFramePr>
        <p:xfrm>
          <a:off x="2758033" y="1291506"/>
          <a:ext cx="3627934" cy="1967902"/>
        </p:xfrm>
        <a:graphic>
          <a:graphicData uri="http://schemas.openxmlformats.org/drawingml/2006/table">
            <a:tbl>
              <a:tblPr firstRow="1" bandRow="1">
                <a:tableStyleId>{5C22544A-7EE6-4342-B048-85BDC9FD1C3A}</a:tableStyleId>
              </a:tblPr>
              <a:tblGrid>
                <a:gridCol w="1125910"/>
                <a:gridCol w="2502024"/>
              </a:tblGrid>
              <a:tr h="309310">
                <a:tc>
                  <a:txBody>
                    <a:bodyPr/>
                    <a:lstStyle/>
                    <a:p>
                      <a:pPr algn="ctr"/>
                      <a:r>
                        <a:rPr lang="fr-FR" sz="900" dirty="0" smtClean="0"/>
                        <a:t>Horaire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c>
                  <a:txBody>
                    <a:bodyPr/>
                    <a:lstStyle/>
                    <a:p>
                      <a:pPr algn="ctr">
                        <a:lnSpc>
                          <a:spcPct val="100000"/>
                        </a:lnSpc>
                        <a:spcBef>
                          <a:spcPts val="0"/>
                        </a:spcBef>
                        <a:spcAft>
                          <a:spcPts val="0"/>
                        </a:spcAft>
                      </a:pPr>
                      <a:r>
                        <a:rPr lang="fr-FR" sz="900" dirty="0" smtClean="0"/>
                        <a:t>Agenda Matinée</a:t>
                      </a:r>
                      <a:endParaRPr lang="en-US" sz="900" dirty="0">
                        <a:solidFill>
                          <a:schemeClr val="bg1"/>
                        </a:solidFill>
                        <a:latin typeface="Arial" pitchFamily="34" charset="0"/>
                        <a:cs typeface="Arial" pitchFamily="34" charset="0"/>
                      </a:endParaRPr>
                    </a:p>
                  </a:txBody>
                  <a:tcPr marL="68566" marR="68566" marT="34292" marB="34292" anchor="ctr">
                    <a:solidFill>
                      <a:srgbClr val="4F81BD"/>
                    </a:solidFill>
                  </a:tcPr>
                </a:tc>
              </a:tr>
              <a:tr h="436472">
                <a:tc>
                  <a:txBody>
                    <a:bodyPr/>
                    <a:lstStyle/>
                    <a:p>
                      <a:pPr algn="ctr"/>
                      <a:r>
                        <a:rPr lang="fr-FR" sz="900" dirty="0" smtClean="0"/>
                        <a:t>8h00 – 8h20</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c>
                  <a:txBody>
                    <a:bodyPr/>
                    <a:lstStyle/>
                    <a:p>
                      <a:pPr>
                        <a:lnSpc>
                          <a:spcPct val="100000"/>
                        </a:lnSpc>
                        <a:spcBef>
                          <a:spcPts val="0"/>
                        </a:spcBef>
                        <a:spcAft>
                          <a:spcPts val="0"/>
                        </a:spcAft>
                      </a:pPr>
                      <a:r>
                        <a:rPr lang="fr-FR" sz="900" dirty="0" smtClean="0"/>
                        <a:t>Accueil / Introduction : 5 min</a:t>
                      </a:r>
                    </a:p>
                    <a:p>
                      <a:pPr>
                        <a:lnSpc>
                          <a:spcPct val="100000"/>
                        </a:lnSpc>
                        <a:spcBef>
                          <a:spcPts val="0"/>
                        </a:spcBef>
                        <a:spcAft>
                          <a:spcPts val="0"/>
                        </a:spcAft>
                      </a:pPr>
                      <a:r>
                        <a:rPr lang="fr-FR" sz="900" dirty="0" smtClean="0"/>
                        <a:t>Présentation des</a:t>
                      </a:r>
                      <a:r>
                        <a:rPr lang="fr-FR" sz="900" baseline="0" dirty="0" smtClean="0"/>
                        <a:t> p</a:t>
                      </a:r>
                      <a:r>
                        <a:rPr lang="fr-FR" sz="900" dirty="0" smtClean="0"/>
                        <a:t>rocessus : 15 min</a:t>
                      </a:r>
                      <a:endParaRPr lang="en-US" sz="900" dirty="0">
                        <a:solidFill>
                          <a:schemeClr val="bg1"/>
                        </a:solidFill>
                        <a:latin typeface="Arial" pitchFamily="34" charset="0"/>
                        <a:cs typeface="Arial" pitchFamily="34" charset="0"/>
                      </a:endParaRPr>
                    </a:p>
                  </a:txBody>
                  <a:tcPr marL="68566" marR="68566" marT="34292" marB="34292" anchor="ctr">
                    <a:solidFill>
                      <a:srgbClr val="E7E8FF"/>
                    </a:solidFill>
                  </a:tcPr>
                </a:tc>
              </a:tr>
              <a:tr h="611060">
                <a:tc>
                  <a:txBody>
                    <a:bodyPr/>
                    <a:lstStyle/>
                    <a:p>
                      <a:pPr algn="ctr"/>
                      <a:r>
                        <a:rPr lang="fr-FR" sz="900" dirty="0" smtClean="0"/>
                        <a:t>8h20 – 9h30</a:t>
                      </a:r>
                      <a:endParaRPr lang="fr-FR" sz="900" dirty="0" smtClean="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a:lnSpc>
                          <a:spcPct val="100000"/>
                        </a:lnSpc>
                        <a:spcBef>
                          <a:spcPts val="0"/>
                        </a:spcBef>
                        <a:spcAft>
                          <a:spcPts val="0"/>
                        </a:spcAft>
                      </a:pPr>
                      <a:r>
                        <a:rPr lang="fr-FR" sz="900" dirty="0" smtClean="0"/>
                        <a:t>La représentation des</a:t>
                      </a:r>
                      <a:r>
                        <a:rPr lang="fr-FR" sz="900" baseline="0" dirty="0" smtClean="0"/>
                        <a:t> processus</a:t>
                      </a:r>
                      <a:endParaRPr lang="fr-FR" sz="900" dirty="0" smtClean="0"/>
                    </a:p>
                    <a:p>
                      <a:pPr marL="177800" indent="-177800">
                        <a:lnSpc>
                          <a:spcPct val="100000"/>
                        </a:lnSpc>
                        <a:spcBef>
                          <a:spcPts val="0"/>
                        </a:spcBef>
                        <a:spcAft>
                          <a:spcPts val="0"/>
                        </a:spcAft>
                        <a:buFont typeface="Arial" pitchFamily="34" charset="0"/>
                        <a:buChar char="•"/>
                      </a:pPr>
                      <a:r>
                        <a:rPr lang="fr-FR" sz="900" dirty="0" smtClean="0"/>
                        <a:t>Présentation : 20 min</a:t>
                      </a:r>
                    </a:p>
                    <a:p>
                      <a:pPr marL="177800" indent="-177800">
                        <a:lnSpc>
                          <a:spcPct val="100000"/>
                        </a:lnSpc>
                        <a:spcBef>
                          <a:spcPts val="0"/>
                        </a:spcBef>
                        <a:spcAft>
                          <a:spcPts val="0"/>
                        </a:spcAft>
                        <a:buFont typeface="Arial" pitchFamily="34" charset="0"/>
                        <a:buChar char="•"/>
                      </a:pPr>
                      <a:r>
                        <a:rPr lang="fr-FR" sz="900" dirty="0" smtClean="0"/>
                        <a:t>Exercice dirigé</a:t>
                      </a:r>
                      <a:r>
                        <a:rPr lang="fr-FR" sz="900" baseline="0" dirty="0" smtClean="0"/>
                        <a:t> : 50 min</a:t>
                      </a:r>
                      <a:endParaRPr lang="fr-FR" sz="900" baseline="0" dirty="0" smtClean="0">
                        <a:solidFill>
                          <a:schemeClr val="bg1"/>
                        </a:solidFill>
                        <a:latin typeface="Arial" pitchFamily="34" charset="0"/>
                        <a:cs typeface="Arial" pitchFamily="34" charset="0"/>
                      </a:endParaRPr>
                    </a:p>
                  </a:txBody>
                  <a:tcPr marL="68566" marR="68566" marT="34292" marB="34292" anchor="ctr">
                    <a:solidFill>
                      <a:srgbClr val="F3F4FF"/>
                    </a:solidFill>
                  </a:tcPr>
                </a:tc>
              </a:tr>
              <a:tr h="611060">
                <a:tc>
                  <a:txBody>
                    <a:bodyPr/>
                    <a:lstStyle/>
                    <a:p>
                      <a:pPr algn="ctr"/>
                      <a:r>
                        <a:rPr lang="fr-FR" sz="900" dirty="0" smtClean="0"/>
                        <a:t>9h30 – 10h00</a:t>
                      </a:r>
                      <a:endParaRPr lang="en-US" sz="900" dirty="0">
                        <a:solidFill>
                          <a:schemeClr val="bg1"/>
                        </a:solidFill>
                        <a:latin typeface="Arial" pitchFamily="34" charset="0"/>
                        <a:cs typeface="Arial" pitchFamily="34" charset="0"/>
                      </a:endParaRPr>
                    </a:p>
                  </a:txBody>
                  <a:tcPr marL="68566" marR="68566" marT="34292" marB="34292" anchor="ctr">
                    <a:solidFill>
                      <a:srgbClr val="F3F4FF"/>
                    </a:solidFill>
                  </a:tcPr>
                </a:tc>
                <a:tc>
                  <a:txBody>
                    <a:bodyPr/>
                    <a:lstStyle/>
                    <a:p>
                      <a:pPr marL="177800" indent="-177800">
                        <a:lnSpc>
                          <a:spcPct val="100000"/>
                        </a:lnSpc>
                        <a:spcBef>
                          <a:spcPts val="0"/>
                        </a:spcBef>
                        <a:spcAft>
                          <a:spcPts val="0"/>
                        </a:spcAft>
                        <a:buFont typeface="Arial" pitchFamily="34" charset="0"/>
                        <a:buNone/>
                      </a:pPr>
                      <a:r>
                        <a:rPr lang="fr-FR" sz="900" baseline="0" dirty="0" smtClean="0"/>
                        <a:t>Question et libre échange </a:t>
                      </a:r>
                    </a:p>
                  </a:txBody>
                  <a:tcPr marL="68566" marR="68566" marT="34292" marB="34292" anchor="ctr">
                    <a:solidFill>
                      <a:srgbClr val="F3F4FF"/>
                    </a:solidFill>
                  </a:tcPr>
                </a:tc>
              </a:tr>
            </a:tbl>
          </a:graphicData>
        </a:graphic>
      </p:graphicFrame>
      <p:pic>
        <p:nvPicPr>
          <p:cNvPr id="5" name="Imag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68173" y="1953491"/>
            <a:ext cx="2120785" cy="2392972"/>
          </a:xfrm>
          <a:prstGeom prst="rect">
            <a:avLst/>
          </a:prstGeom>
        </p:spPr>
      </p:pic>
    </p:spTree>
    <p:extLst>
      <p:ext uri="{BB962C8B-B14F-4D97-AF65-F5344CB8AC3E}">
        <p14:creationId xmlns:p14="http://schemas.microsoft.com/office/powerpoint/2010/main" val="41803714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172068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rPr>
              <a:t>Description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du processus (Voir document </a:t>
            </a:r>
            <a:r>
              <a:rPr lang="fr-FR" altLang="en-US" dirty="0" err="1"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excel</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 </a:t>
            </a:r>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joint P.15)  </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 opératoire</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5</a:t>
            </a:fld>
            <a:endParaRPr lang="fr-FR" altLang="en-US" sz="750"/>
          </a:p>
        </p:txBody>
      </p:sp>
    </p:spTree>
    <p:extLst>
      <p:ext uri="{BB962C8B-B14F-4D97-AF65-F5344CB8AC3E}">
        <p14:creationId xmlns:p14="http://schemas.microsoft.com/office/powerpoint/2010/main" val="16752797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09723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 </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Mode opératoire</a:t>
            </a:r>
            <a:endParaRPr lang="fr-FR"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Synthèse et point d’attention </a:t>
            </a:r>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6</a:t>
            </a:fld>
            <a:endParaRPr lang="fr-FR" altLang="en-US" sz="750"/>
          </a:p>
        </p:txBody>
      </p:sp>
    </p:spTree>
    <p:extLst>
      <p:ext uri="{BB962C8B-B14F-4D97-AF65-F5344CB8AC3E}">
        <p14:creationId xmlns:p14="http://schemas.microsoft.com/office/powerpoint/2010/main" val="2687509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re 3"/>
          <p:cNvSpPr>
            <a:spLocks noGrp="1"/>
          </p:cNvSpPr>
          <p:nvPr>
            <p:ph type="title"/>
          </p:nvPr>
        </p:nvSpPr>
        <p:spPr/>
        <p:txBody>
          <a:bodyPr>
            <a:normAutofit/>
          </a:bodyPr>
          <a:lstStyle/>
          <a:p>
            <a:r>
              <a:rPr lang="fr-FR" altLang="en-US" sz="2400" dirty="0" smtClean="0"/>
              <a:t>Mode opératoire</a:t>
            </a:r>
            <a:br>
              <a:rPr lang="fr-FR" altLang="en-US" sz="2400" dirty="0" smtClean="0"/>
            </a:br>
            <a:r>
              <a:rPr lang="fr-FR" altLang="en-US" dirty="0" smtClean="0"/>
              <a:t>Présentation du mode opératoire dans SAP</a:t>
            </a:r>
            <a:endParaRPr lang="en-US" altLang="en-US" dirty="0" smtClean="0"/>
          </a:p>
        </p:txBody>
      </p:sp>
      <p:sp>
        <p:nvSpPr>
          <p:cNvPr id="32792" name="Espace réservé du numéro de diapositive 33"/>
          <p:cNvSpPr>
            <a:spLocks noGrp="1"/>
          </p:cNvSpPr>
          <p:nvPr>
            <p:ph type="sldNum" sz="quarter" idx="11"/>
          </p:nvPr>
        </p:nvSpPr>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fld id="{1961261D-50EE-437A-BA51-3E7588D0C470}" type="slidenum">
              <a:rPr lang="fr-FR" altLang="en-US" smtClean="0">
                <a:solidFill>
                  <a:srgbClr val="4D4F53"/>
                </a:solidFill>
              </a:rPr>
              <a:pPr/>
              <a:t>7</a:t>
            </a:fld>
            <a:endParaRPr lang="fr-FR" altLang="en-US">
              <a:solidFill>
                <a:srgbClr val="4D4F53"/>
              </a:solidFill>
            </a:endParaRPr>
          </a:p>
        </p:txBody>
      </p:sp>
      <p:grpSp>
        <p:nvGrpSpPr>
          <p:cNvPr id="49" name="Groupe 48"/>
          <p:cNvGrpSpPr/>
          <p:nvPr/>
        </p:nvGrpSpPr>
        <p:grpSpPr>
          <a:xfrm>
            <a:off x="814126" y="2175754"/>
            <a:ext cx="1421605" cy="756917"/>
            <a:chOff x="1507778" y="2276353"/>
            <a:chExt cx="1258269" cy="754857"/>
          </a:xfrm>
        </p:grpSpPr>
        <p:sp>
          <p:nvSpPr>
            <p:cNvPr id="4" name="Rectangle 3"/>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prstClr val="white"/>
                  </a:solidFill>
                  <a:latin typeface="Arial" pitchFamily="34" charset="0"/>
                  <a:cs typeface="Arial" pitchFamily="34" charset="0"/>
                </a:rPr>
                <a:t>Créer un compte général dans le Plan Comptable</a:t>
              </a:r>
              <a:endParaRPr lang="en-US" sz="800" dirty="0">
                <a:solidFill>
                  <a:prstClr val="white"/>
                </a:solidFill>
                <a:latin typeface="Arial" pitchFamily="34" charset="0"/>
                <a:cs typeface="Arial" pitchFamily="34" charset="0"/>
              </a:endParaRPr>
            </a:p>
          </p:txBody>
        </p:sp>
        <p:sp>
          <p:nvSpPr>
            <p:cNvPr id="12" name="Rectangle 11"/>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prstClr val="white"/>
                  </a:solidFill>
                  <a:latin typeface="Arial" panose="020B0604020202020204" pitchFamily="34" charset="0"/>
                  <a:cs typeface="Arial" panose="020B0604020202020204" pitchFamily="34" charset="0"/>
                </a:rPr>
                <a:t>FSP0</a:t>
              </a:r>
              <a:endParaRPr lang="en-US" sz="800" b="1" dirty="0">
                <a:solidFill>
                  <a:prstClr val="white"/>
                </a:solidFill>
                <a:latin typeface="Arial" panose="020B0604020202020204" pitchFamily="34" charset="0"/>
                <a:cs typeface="Arial" panose="020B0604020202020204" pitchFamily="34" charset="0"/>
              </a:endParaRPr>
            </a:p>
          </p:txBody>
        </p:sp>
        <p:sp>
          <p:nvSpPr>
            <p:cNvPr id="13" name="Rectangle 1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smtClean="0">
                  <a:solidFill>
                    <a:srgbClr val="4D4F53">
                      <a:lumMod val="50000"/>
                    </a:srgbClr>
                  </a:solidFill>
                  <a:latin typeface="Arial" panose="020B0604020202020204" pitchFamily="34" charset="0"/>
                  <a:cs typeface="Arial" panose="020B0604020202020204" pitchFamily="34" charset="0"/>
                </a:rPr>
                <a:t>Gestionnaire système</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39" name="Groupe 38"/>
          <p:cNvGrpSpPr/>
          <p:nvPr/>
        </p:nvGrpSpPr>
        <p:grpSpPr>
          <a:xfrm>
            <a:off x="2565267" y="2160586"/>
            <a:ext cx="1296000" cy="756917"/>
            <a:chOff x="1507778" y="2274293"/>
            <a:chExt cx="1258269" cy="756917"/>
          </a:xfrm>
        </p:grpSpPr>
        <p:sp>
          <p:nvSpPr>
            <p:cNvPr id="40" name="Rectangle 39"/>
            <p:cNvSpPr/>
            <p:nvPr/>
          </p:nvSpPr>
          <p:spPr>
            <a:xfrm>
              <a:off x="1507778" y="227429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Créer un compte général dans la société</a:t>
              </a:r>
              <a:endParaRPr lang="en-US" sz="800" dirty="0">
                <a:solidFill>
                  <a:schemeClr val="bg1"/>
                </a:solidFill>
                <a:latin typeface="Arial" pitchFamily="34" charset="0"/>
                <a:cs typeface="Arial" pitchFamily="34" charset="0"/>
              </a:endParaRPr>
            </a:p>
          </p:txBody>
        </p:sp>
        <p:sp>
          <p:nvSpPr>
            <p:cNvPr id="41" name="Rectangle 40"/>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FSS0</a:t>
              </a:r>
              <a:endParaRPr lang="en-US" sz="800" b="1" dirty="0">
                <a:solidFill>
                  <a:schemeClr val="bg1"/>
                </a:solidFill>
                <a:latin typeface="Arial" panose="020B0604020202020204" pitchFamily="34" charset="0"/>
                <a:cs typeface="Arial" panose="020B0604020202020204" pitchFamily="34" charset="0"/>
              </a:endParaRPr>
            </a:p>
          </p:txBody>
        </p:sp>
        <p:sp>
          <p:nvSpPr>
            <p:cNvPr id="43" name="Rectangle 42"/>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Gestionnaire système</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47" name="Groupe 46"/>
          <p:cNvGrpSpPr/>
          <p:nvPr/>
        </p:nvGrpSpPr>
        <p:grpSpPr>
          <a:xfrm>
            <a:off x="4122846" y="2165706"/>
            <a:ext cx="1296000" cy="754857"/>
            <a:chOff x="1507778" y="2276353"/>
            <a:chExt cx="1258269" cy="754857"/>
          </a:xfrm>
        </p:grpSpPr>
        <p:sp>
          <p:nvSpPr>
            <p:cNvPr id="48" name="Rectangle 47"/>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Modifier un compte général dans la société </a:t>
              </a:r>
              <a:endParaRPr lang="en-US" sz="800" dirty="0">
                <a:solidFill>
                  <a:schemeClr val="bg1"/>
                </a:solidFill>
                <a:latin typeface="Arial" pitchFamily="34" charset="0"/>
                <a:cs typeface="Arial" pitchFamily="34" charset="0"/>
              </a:endParaRPr>
            </a:p>
          </p:txBody>
        </p:sp>
        <p:sp>
          <p:nvSpPr>
            <p:cNvPr id="50" name="Rectangle 4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FSS0</a:t>
              </a:r>
              <a:endParaRPr lang="en-US" sz="800" b="1" dirty="0">
                <a:solidFill>
                  <a:schemeClr val="bg1"/>
                </a:solidFill>
                <a:latin typeface="Arial" panose="020B0604020202020204" pitchFamily="34" charset="0"/>
                <a:cs typeface="Arial" panose="020B0604020202020204" pitchFamily="34" charset="0"/>
              </a:endParaRPr>
            </a:p>
          </p:txBody>
        </p:sp>
        <p:sp>
          <p:nvSpPr>
            <p:cNvPr id="56" name="Rectangle 55"/>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Gestionnaire système</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grpSp>
        <p:nvGrpSpPr>
          <p:cNvPr id="58" name="Groupe 57"/>
          <p:cNvGrpSpPr/>
          <p:nvPr/>
        </p:nvGrpSpPr>
        <p:grpSpPr>
          <a:xfrm>
            <a:off x="5680425" y="2160586"/>
            <a:ext cx="1625536" cy="754857"/>
            <a:chOff x="1507778" y="2276353"/>
            <a:chExt cx="1258269" cy="754857"/>
          </a:xfrm>
        </p:grpSpPr>
        <p:sp>
          <p:nvSpPr>
            <p:cNvPr id="59" name="Rectangle 58"/>
            <p:cNvSpPr/>
            <p:nvPr/>
          </p:nvSpPr>
          <p:spPr>
            <a:xfrm>
              <a:off x="1507778" y="2276353"/>
              <a:ext cx="1258269" cy="323850"/>
            </a:xfrm>
            <a:prstGeom prst="rect">
              <a:avLst/>
            </a:prstGeom>
            <a:solidFill>
              <a:srgbClr val="002060"/>
            </a:solidFill>
            <a:ln w="95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dirty="0" smtClean="0">
                  <a:solidFill>
                    <a:schemeClr val="bg1"/>
                  </a:solidFill>
                  <a:latin typeface="Arial" pitchFamily="34" charset="0"/>
                  <a:cs typeface="Arial" pitchFamily="34" charset="0"/>
                </a:rPr>
                <a:t>Bloquer un compte général dans la société ou dans le Plan Comptable </a:t>
              </a:r>
              <a:endParaRPr lang="en-US" sz="800" dirty="0">
                <a:solidFill>
                  <a:schemeClr val="bg1"/>
                </a:solidFill>
                <a:latin typeface="Arial" pitchFamily="34" charset="0"/>
                <a:cs typeface="Arial" pitchFamily="34" charset="0"/>
              </a:endParaRPr>
            </a:p>
          </p:txBody>
        </p:sp>
        <p:sp>
          <p:nvSpPr>
            <p:cNvPr id="60" name="Rectangle 59"/>
            <p:cNvSpPr/>
            <p:nvPr/>
          </p:nvSpPr>
          <p:spPr>
            <a:xfrm>
              <a:off x="1507778" y="2600203"/>
              <a:ext cx="1258269" cy="215504"/>
            </a:xfrm>
            <a:prstGeom prst="rect">
              <a:avLst/>
            </a:prstGeom>
            <a:solidFill>
              <a:srgbClr val="0070C0"/>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r>
                <a:rPr lang="fr-FR" sz="800" b="1" dirty="0" smtClean="0">
                  <a:solidFill>
                    <a:schemeClr val="bg1"/>
                  </a:solidFill>
                  <a:latin typeface="Arial" panose="020B0604020202020204" pitchFamily="34" charset="0"/>
                  <a:cs typeface="Arial" panose="020B0604020202020204" pitchFamily="34" charset="0"/>
                </a:rPr>
                <a:t>FSS0 / FSP0</a:t>
              </a:r>
              <a:endParaRPr lang="en-US" sz="800" b="1" dirty="0">
                <a:solidFill>
                  <a:schemeClr val="bg1"/>
                </a:solidFill>
                <a:latin typeface="Arial" panose="020B0604020202020204" pitchFamily="34" charset="0"/>
                <a:cs typeface="Arial" panose="020B0604020202020204" pitchFamily="34" charset="0"/>
              </a:endParaRPr>
            </a:p>
          </p:txBody>
        </p:sp>
        <p:sp>
          <p:nvSpPr>
            <p:cNvPr id="61" name="Rectangle 60"/>
            <p:cNvSpPr/>
            <p:nvPr/>
          </p:nvSpPr>
          <p:spPr>
            <a:xfrm>
              <a:off x="1507778" y="2815707"/>
              <a:ext cx="1258269" cy="215503"/>
            </a:xfrm>
            <a:prstGeom prst="rect">
              <a:avLst/>
            </a:prstGeom>
            <a:solidFill>
              <a:srgbClr val="D3D5FF"/>
            </a:solidFill>
            <a:ln w="9525">
              <a:solidFill>
                <a:schemeClr val="accent1">
                  <a:lumMod val="50000"/>
                </a:schemeClr>
              </a:solidFill>
            </a:ln>
          </p:spPr>
          <p:style>
            <a:lnRef idx="1">
              <a:schemeClr val="accent1"/>
            </a:lnRef>
            <a:fillRef idx="3">
              <a:schemeClr val="accent1"/>
            </a:fillRef>
            <a:effectRef idx="2">
              <a:schemeClr val="accent1"/>
            </a:effectRef>
            <a:fontRef idx="minor">
              <a:schemeClr val="lt1"/>
            </a:fontRef>
          </p:style>
          <p:txBody>
            <a:bodyPr anchor="ctr"/>
            <a:lstStyle/>
            <a:p>
              <a:pPr algn="ctr"/>
              <a:r>
                <a:rPr lang="fr-FR" sz="800" dirty="0">
                  <a:solidFill>
                    <a:srgbClr val="4D4F53">
                      <a:lumMod val="50000"/>
                    </a:srgbClr>
                  </a:solidFill>
                  <a:latin typeface="Arial" panose="020B0604020202020204" pitchFamily="34" charset="0"/>
                  <a:cs typeface="Arial" panose="020B0604020202020204" pitchFamily="34" charset="0"/>
                </a:rPr>
                <a:t>Gestionnaire système</a:t>
              </a:r>
              <a:endParaRPr lang="en-US" sz="800" dirty="0">
                <a:solidFill>
                  <a:srgbClr val="4D4F53">
                    <a:lumMod val="50000"/>
                  </a:srgbClr>
                </a:solidFill>
                <a:latin typeface="Arial" panose="020B0604020202020204" pitchFamily="34" charset="0"/>
                <a:cs typeface="Arial" panose="020B0604020202020204" pitchFamily="34" charset="0"/>
              </a:endParaRPr>
            </a:p>
          </p:txBody>
        </p:sp>
      </p:grpSp>
      <p:cxnSp>
        <p:nvCxnSpPr>
          <p:cNvPr id="30" name="Connecteur droit 29"/>
          <p:cNvCxnSpPr/>
          <p:nvPr/>
        </p:nvCxnSpPr>
        <p:spPr>
          <a:xfrm>
            <a:off x="2231311" y="2606194"/>
            <a:ext cx="338377" cy="4090"/>
          </a:xfrm>
          <a:prstGeom prst="line">
            <a:avLst/>
          </a:prstGeom>
          <a:ln>
            <a:solidFill>
              <a:srgbClr val="4F81BD"/>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pic>
        <p:nvPicPr>
          <p:cNvPr id="5" name="Image 4"/>
          <p:cNvPicPr>
            <a:picLocks noChangeAspect="1"/>
          </p:cNvPicPr>
          <p:nvPr/>
        </p:nvPicPr>
        <p:blipFill>
          <a:blip r:embed="rId2"/>
          <a:stretch>
            <a:fillRect/>
          </a:stretch>
        </p:blipFill>
        <p:spPr>
          <a:xfrm>
            <a:off x="354395" y="3326205"/>
            <a:ext cx="1170533" cy="1249788"/>
          </a:xfrm>
          <a:prstGeom prst="rect">
            <a:avLst/>
          </a:prstGeom>
        </p:spPr>
      </p:pic>
    </p:spTree>
    <p:extLst>
      <p:ext uri="{BB962C8B-B14F-4D97-AF65-F5344CB8AC3E}">
        <p14:creationId xmlns:p14="http://schemas.microsoft.com/office/powerpoint/2010/main" val="1802471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comptes généraux 1/5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b="1" dirty="0" smtClean="0">
                <a:cs typeface="Arial" panose="020B0604020202020204" pitchFamily="34" charset="0"/>
              </a:rPr>
              <a:t>Création d’un compte général : </a:t>
            </a:r>
          </a:p>
          <a:p>
            <a:r>
              <a:rPr lang="fr-FR" dirty="0" smtClean="0">
                <a:cs typeface="Arial" panose="020B0604020202020204" pitchFamily="34" charset="0"/>
              </a:rPr>
              <a:t>Depuis le menu SAP : Gestion Comptable / Comptabilité Financière / Grand Livre / Données de base / Comptes Généraux /Traitement individuel / FSS0 – Dans la société</a:t>
            </a:r>
          </a:p>
          <a:p>
            <a:r>
              <a:rPr lang="fr-FR" dirty="0" smtClean="0">
                <a:cs typeface="Arial" panose="020B0604020202020204" pitchFamily="34" charset="0"/>
              </a:rPr>
              <a:t>Dans le cas de la CBG, les comptes seront repris de l’ancien système et créés dans le nouveau par copie au niveau du plan comptable. Les plus utilisés seront créés dans la société. Une demande spécifique de création de compte dans la société peut intervenir. Dans ce cas, il faut d’abord vérifier qu’il existe bien dans le plan comptable. Le plan comptable étant le référentiel. </a:t>
            </a:r>
          </a:p>
          <a:p>
            <a:r>
              <a:rPr lang="fr-FR" dirty="0" smtClean="0">
                <a:cs typeface="Arial" panose="020B0604020202020204" pitchFamily="34" charset="0"/>
              </a:rPr>
              <a:t>Lancer la transaction FSS0 :   							Renseigner le compte à créer  </a:t>
            </a:r>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8</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573578" y="2983424"/>
            <a:ext cx="3713700" cy="1498572"/>
          </a:xfrm>
          <a:prstGeom prst="rect">
            <a:avLst/>
          </a:prstGeom>
        </p:spPr>
      </p:pic>
      <p:pic>
        <p:nvPicPr>
          <p:cNvPr id="8" name="Image 7"/>
          <p:cNvPicPr>
            <a:picLocks noChangeAspect="1"/>
          </p:cNvPicPr>
          <p:nvPr/>
        </p:nvPicPr>
        <p:blipFill>
          <a:blip r:embed="rId3"/>
          <a:stretch>
            <a:fillRect/>
          </a:stretch>
        </p:blipFill>
        <p:spPr>
          <a:xfrm>
            <a:off x="4572000" y="2725763"/>
            <a:ext cx="310923" cy="353599"/>
          </a:xfrm>
          <a:prstGeom prst="rect">
            <a:avLst/>
          </a:prstGeom>
        </p:spPr>
      </p:pic>
      <p:pic>
        <p:nvPicPr>
          <p:cNvPr id="9" name="Image 8"/>
          <p:cNvPicPr>
            <a:picLocks noChangeAspect="1"/>
          </p:cNvPicPr>
          <p:nvPr/>
        </p:nvPicPr>
        <p:blipFill>
          <a:blip r:embed="rId3"/>
          <a:stretch>
            <a:fillRect/>
          </a:stretch>
        </p:blipFill>
        <p:spPr>
          <a:xfrm>
            <a:off x="1681087" y="3079362"/>
            <a:ext cx="310923" cy="353599"/>
          </a:xfrm>
          <a:prstGeom prst="rect">
            <a:avLst/>
          </a:prstGeom>
        </p:spPr>
      </p:pic>
    </p:spTree>
    <p:extLst>
      <p:ext uri="{BB962C8B-B14F-4D97-AF65-F5344CB8AC3E}">
        <p14:creationId xmlns:p14="http://schemas.microsoft.com/office/powerpoint/2010/main" val="1102331642"/>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comptes généraux 2/5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									Renseigner toutes les zones obligatoires dans les différents onglets. 											Aucune création de compte ne sera validée s’il manque une donnée </a:t>
            </a:r>
            <a:r>
              <a:rPr lang="fr-FR" dirty="0" err="1" smtClean="0">
                <a:cs typeface="Arial" panose="020B0604020202020204" pitchFamily="34" charset="0"/>
              </a:rPr>
              <a:t>obliga</a:t>
            </a:r>
            <a:r>
              <a:rPr lang="fr-FR" dirty="0" smtClean="0">
                <a:cs typeface="Arial" panose="020B0604020202020204" pitchFamily="34" charset="0"/>
              </a:rPr>
              <a:t>-</a:t>
            </a:r>
          </a:p>
          <a:p>
            <a:r>
              <a:rPr lang="fr-FR" dirty="0">
                <a:cs typeface="Arial" panose="020B0604020202020204" pitchFamily="34" charset="0"/>
              </a:rPr>
              <a:t>	</a:t>
            </a:r>
            <a:r>
              <a:rPr lang="fr-FR" dirty="0" smtClean="0">
                <a:cs typeface="Arial" panose="020B0604020202020204" pitchFamily="34" charset="0"/>
              </a:rPr>
              <a:t>								</a:t>
            </a:r>
            <a:r>
              <a:rPr lang="fr-FR" dirty="0" err="1" smtClean="0">
                <a:cs typeface="Arial" panose="020B0604020202020204" pitchFamily="34" charset="0"/>
              </a:rPr>
              <a:t>toire</a:t>
            </a:r>
            <a:r>
              <a:rPr lang="fr-FR" dirty="0" smtClean="0">
                <a:cs typeface="Arial" panose="020B0604020202020204" pitchFamily="34" charset="0"/>
              </a:rPr>
              <a:t>.   </a:t>
            </a:r>
          </a:p>
          <a:p>
            <a:r>
              <a:rPr lang="fr-FR" dirty="0">
                <a:cs typeface="Arial" panose="020B0604020202020204" pitchFamily="34" charset="0"/>
              </a:rPr>
              <a:t>	</a:t>
            </a:r>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9</a:t>
            </a:fld>
            <a:endParaRPr lang="fr-FR" altLang="en-US" sz="750">
              <a:solidFill>
                <a:srgbClr val="000000"/>
              </a:solidFill>
            </a:endParaRPr>
          </a:p>
        </p:txBody>
      </p:sp>
      <p:pic>
        <p:nvPicPr>
          <p:cNvPr id="3" name="Image 2"/>
          <p:cNvPicPr>
            <a:picLocks noChangeAspect="1"/>
          </p:cNvPicPr>
          <p:nvPr/>
        </p:nvPicPr>
        <p:blipFill>
          <a:blip r:embed="rId2"/>
          <a:stretch>
            <a:fillRect/>
          </a:stretch>
        </p:blipFill>
        <p:spPr>
          <a:xfrm>
            <a:off x="573578" y="1152525"/>
            <a:ext cx="3104504" cy="1913154"/>
          </a:xfrm>
          <a:prstGeom prst="rect">
            <a:avLst/>
          </a:prstGeom>
        </p:spPr>
      </p:pic>
      <p:pic>
        <p:nvPicPr>
          <p:cNvPr id="6" name="Image 5"/>
          <p:cNvPicPr>
            <a:picLocks noChangeAspect="1"/>
          </p:cNvPicPr>
          <p:nvPr/>
        </p:nvPicPr>
        <p:blipFill>
          <a:blip r:embed="rId3"/>
          <a:stretch>
            <a:fillRect/>
          </a:stretch>
        </p:blipFill>
        <p:spPr>
          <a:xfrm>
            <a:off x="3812104" y="1121990"/>
            <a:ext cx="310923" cy="353599"/>
          </a:xfrm>
          <a:prstGeom prst="rect">
            <a:avLst/>
          </a:prstGeom>
        </p:spPr>
      </p:pic>
      <p:pic>
        <p:nvPicPr>
          <p:cNvPr id="10" name="Image 9"/>
          <p:cNvPicPr>
            <a:picLocks noChangeAspect="1"/>
          </p:cNvPicPr>
          <p:nvPr/>
        </p:nvPicPr>
        <p:blipFill>
          <a:blip r:embed="rId3"/>
          <a:stretch>
            <a:fillRect/>
          </a:stretch>
        </p:blipFill>
        <p:spPr>
          <a:xfrm>
            <a:off x="2231277" y="1829262"/>
            <a:ext cx="310923" cy="353599"/>
          </a:xfrm>
          <a:prstGeom prst="rect">
            <a:avLst/>
          </a:prstGeom>
        </p:spPr>
      </p:pic>
    </p:spTree>
    <p:extLst>
      <p:ext uri="{BB962C8B-B14F-4D97-AF65-F5344CB8AC3E}">
        <p14:creationId xmlns:p14="http://schemas.microsoft.com/office/powerpoint/2010/main" val="2591777300"/>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comptes généraux 3/5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La modification d’un compte général dans la société se fait par la même transaction de création. </a:t>
            </a:r>
          </a:p>
          <a:p>
            <a:r>
              <a:rPr lang="fr-FR" dirty="0" smtClean="0">
                <a:cs typeface="Arial" panose="020B0604020202020204" pitchFamily="34" charset="0"/>
              </a:rPr>
              <a:t>Lancer la transaction FSS0 : </a:t>
            </a:r>
          </a:p>
          <a:p>
            <a:r>
              <a:rPr lang="fr-FR" dirty="0">
                <a:cs typeface="Arial" panose="020B0604020202020204" pitchFamily="34" charset="0"/>
              </a:rPr>
              <a:t>	</a:t>
            </a:r>
            <a:r>
              <a:rPr lang="fr-FR" dirty="0" smtClean="0">
                <a:cs typeface="Arial" panose="020B0604020202020204" pitchFamily="34" charset="0"/>
              </a:rPr>
              <a:t>								Aller dans le menu Compte général / Modifier </a:t>
            </a:r>
          </a:p>
          <a:p>
            <a:r>
              <a:rPr lang="fr-FR" dirty="0">
                <a:cs typeface="Arial" panose="020B0604020202020204" pitchFamily="34" charset="0"/>
              </a:rPr>
              <a:t>	</a:t>
            </a:r>
            <a:r>
              <a:rPr lang="fr-FR" dirty="0" smtClean="0">
                <a:cs typeface="Arial" panose="020B0604020202020204" pitchFamily="34" charset="0"/>
              </a:rPr>
              <a:t>								Faites la modification puis sauvegarder la modification.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10</a:t>
            </a:fld>
            <a:endParaRPr lang="fr-FR" altLang="en-US" sz="750">
              <a:solidFill>
                <a:srgbClr val="000000"/>
              </a:solidFill>
            </a:endParaRPr>
          </a:p>
        </p:txBody>
      </p:sp>
      <p:pic>
        <p:nvPicPr>
          <p:cNvPr id="4" name="Image 3"/>
          <p:cNvPicPr>
            <a:picLocks noChangeAspect="1"/>
          </p:cNvPicPr>
          <p:nvPr/>
        </p:nvPicPr>
        <p:blipFill>
          <a:blip r:embed="rId2"/>
          <a:stretch>
            <a:fillRect/>
          </a:stretch>
        </p:blipFill>
        <p:spPr>
          <a:xfrm>
            <a:off x="573578" y="1712563"/>
            <a:ext cx="3087553" cy="2696705"/>
          </a:xfrm>
          <a:prstGeom prst="rect">
            <a:avLst/>
          </a:prstGeom>
        </p:spPr>
      </p:pic>
      <p:pic>
        <p:nvPicPr>
          <p:cNvPr id="5" name="Image 4"/>
          <p:cNvPicPr>
            <a:picLocks noChangeAspect="1"/>
          </p:cNvPicPr>
          <p:nvPr/>
        </p:nvPicPr>
        <p:blipFill>
          <a:blip r:embed="rId3"/>
          <a:stretch>
            <a:fillRect/>
          </a:stretch>
        </p:blipFill>
        <p:spPr>
          <a:xfrm>
            <a:off x="1479610" y="1689777"/>
            <a:ext cx="310923" cy="353599"/>
          </a:xfrm>
          <a:prstGeom prst="rect">
            <a:avLst/>
          </a:prstGeom>
        </p:spPr>
      </p:pic>
      <p:pic>
        <p:nvPicPr>
          <p:cNvPr id="7" name="Image 6"/>
          <p:cNvPicPr>
            <a:picLocks noChangeAspect="1"/>
          </p:cNvPicPr>
          <p:nvPr/>
        </p:nvPicPr>
        <p:blipFill>
          <a:blip r:embed="rId4"/>
          <a:stretch>
            <a:fillRect/>
          </a:stretch>
        </p:blipFill>
        <p:spPr>
          <a:xfrm>
            <a:off x="3780151" y="1791540"/>
            <a:ext cx="310923" cy="359695"/>
          </a:xfrm>
          <a:prstGeom prst="rect">
            <a:avLst/>
          </a:prstGeom>
        </p:spPr>
      </p:pic>
      <p:pic>
        <p:nvPicPr>
          <p:cNvPr id="8" name="Image 7"/>
          <p:cNvPicPr>
            <a:picLocks noChangeAspect="1"/>
          </p:cNvPicPr>
          <p:nvPr/>
        </p:nvPicPr>
        <p:blipFill>
          <a:blip r:embed="rId5"/>
          <a:stretch>
            <a:fillRect/>
          </a:stretch>
        </p:blipFill>
        <p:spPr>
          <a:xfrm>
            <a:off x="3780629" y="2151235"/>
            <a:ext cx="310923" cy="353599"/>
          </a:xfrm>
          <a:prstGeom prst="rect">
            <a:avLst/>
          </a:prstGeom>
        </p:spPr>
      </p:pic>
      <p:pic>
        <p:nvPicPr>
          <p:cNvPr id="9" name="Image 8"/>
          <p:cNvPicPr>
            <a:picLocks noChangeAspect="1"/>
          </p:cNvPicPr>
          <p:nvPr/>
        </p:nvPicPr>
        <p:blipFill>
          <a:blip r:embed="rId6"/>
          <a:stretch>
            <a:fillRect/>
          </a:stretch>
        </p:blipFill>
        <p:spPr>
          <a:xfrm>
            <a:off x="2250303" y="1866576"/>
            <a:ext cx="317019" cy="353599"/>
          </a:xfrm>
          <a:prstGeom prst="rect">
            <a:avLst/>
          </a:prstGeom>
        </p:spPr>
      </p:pic>
    </p:spTree>
    <p:extLst>
      <p:ext uri="{BB962C8B-B14F-4D97-AF65-F5344CB8AC3E}">
        <p14:creationId xmlns:p14="http://schemas.microsoft.com/office/powerpoint/2010/main" val="963399033"/>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comptes généraux 4/5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 blocage d’un compte général dans la société se fait par la même transaction de création. </a:t>
            </a:r>
          </a:p>
          <a:p>
            <a:r>
              <a:rPr lang="fr-FR" dirty="0" smtClean="0">
                <a:cs typeface="Arial" panose="020B0604020202020204" pitchFamily="34" charset="0"/>
              </a:rPr>
              <a:t>Lancer la transaction FSS0 : </a:t>
            </a:r>
          </a:p>
          <a:p>
            <a:r>
              <a:rPr lang="fr-FR" dirty="0">
                <a:cs typeface="Arial" panose="020B0604020202020204" pitchFamily="34" charset="0"/>
              </a:rPr>
              <a:t>	</a:t>
            </a:r>
            <a:r>
              <a:rPr lang="fr-FR" dirty="0" smtClean="0">
                <a:cs typeface="Arial" panose="020B0604020202020204" pitchFamily="34" charset="0"/>
              </a:rPr>
              <a:t>								Aller dans le menu Compte général / Bloquer </a:t>
            </a:r>
          </a:p>
          <a:p>
            <a:r>
              <a:rPr lang="fr-FR" dirty="0">
                <a:cs typeface="Arial" panose="020B0604020202020204" pitchFamily="34" charset="0"/>
              </a:rPr>
              <a:t>	</a:t>
            </a:r>
            <a:r>
              <a:rPr lang="fr-FR" dirty="0" smtClean="0">
                <a:cs typeface="Arial" panose="020B0604020202020204" pitchFamily="34" charset="0"/>
              </a:rPr>
              <a:t>								Apposer une coche au niveau Blocage comptabilisation</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Puis sauvegarder </a:t>
            </a:r>
            <a:r>
              <a:rPr lang="fr-FR" dirty="0" smtClean="0">
                <a:cs typeface="Arial" panose="020B0604020202020204" pitchFamily="34" charset="0"/>
              </a:rPr>
              <a:t>le blocage.  </a:t>
            </a:r>
          </a:p>
          <a:p>
            <a:r>
              <a:rPr lang="fr-FR" dirty="0">
                <a:cs typeface="Arial" panose="020B0604020202020204" pitchFamily="34" charset="0"/>
              </a:rPr>
              <a:t>	</a:t>
            </a:r>
            <a:r>
              <a:rPr lang="fr-FR" dirty="0" smtClean="0">
                <a:cs typeface="Arial" panose="020B0604020202020204" pitchFamily="34" charset="0"/>
              </a:rPr>
              <a:t>								Un compte bloqué à la comptabilisation peut toujours être consulté ! </a:t>
            </a:r>
          </a:p>
          <a:p>
            <a:r>
              <a:rPr lang="fr-FR" dirty="0">
                <a:cs typeface="Arial" panose="020B0604020202020204" pitchFamily="34" charset="0"/>
              </a:rPr>
              <a:t>	</a:t>
            </a:r>
            <a:r>
              <a:rPr lang="fr-FR" dirty="0" smtClean="0">
                <a:cs typeface="Arial" panose="020B0604020202020204" pitchFamily="34" charset="0"/>
              </a:rPr>
              <a:t>								C’est seulement la comptabilisation qui est impossible là-dessus.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11</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3775081" y="1825244"/>
            <a:ext cx="310923" cy="359695"/>
          </a:xfrm>
          <a:prstGeom prst="rect">
            <a:avLst/>
          </a:prstGeom>
        </p:spPr>
      </p:pic>
      <p:pic>
        <p:nvPicPr>
          <p:cNvPr id="8" name="Image 7"/>
          <p:cNvPicPr>
            <a:picLocks noChangeAspect="1"/>
          </p:cNvPicPr>
          <p:nvPr/>
        </p:nvPicPr>
        <p:blipFill>
          <a:blip r:embed="rId3"/>
          <a:stretch>
            <a:fillRect/>
          </a:stretch>
        </p:blipFill>
        <p:spPr>
          <a:xfrm>
            <a:off x="3780629" y="2151235"/>
            <a:ext cx="310923" cy="353599"/>
          </a:xfrm>
          <a:prstGeom prst="rect">
            <a:avLst/>
          </a:prstGeom>
        </p:spPr>
      </p:pic>
      <p:pic>
        <p:nvPicPr>
          <p:cNvPr id="3" name="Image 2"/>
          <p:cNvPicPr>
            <a:picLocks noChangeAspect="1"/>
          </p:cNvPicPr>
          <p:nvPr/>
        </p:nvPicPr>
        <p:blipFill>
          <a:blip r:embed="rId4"/>
          <a:stretch>
            <a:fillRect/>
          </a:stretch>
        </p:blipFill>
        <p:spPr>
          <a:xfrm>
            <a:off x="560294" y="1825244"/>
            <a:ext cx="2665224" cy="2656752"/>
          </a:xfrm>
          <a:prstGeom prst="rect">
            <a:avLst/>
          </a:prstGeom>
        </p:spPr>
      </p:pic>
      <p:pic>
        <p:nvPicPr>
          <p:cNvPr id="6" name="Image 5"/>
          <p:cNvPicPr>
            <a:picLocks noChangeAspect="1"/>
          </p:cNvPicPr>
          <p:nvPr/>
        </p:nvPicPr>
        <p:blipFill>
          <a:blip r:embed="rId5"/>
          <a:stretch>
            <a:fillRect/>
          </a:stretch>
        </p:blipFill>
        <p:spPr>
          <a:xfrm>
            <a:off x="1425365" y="1825244"/>
            <a:ext cx="310923" cy="353599"/>
          </a:xfrm>
          <a:prstGeom prst="rect">
            <a:avLst/>
          </a:prstGeom>
        </p:spPr>
      </p:pic>
      <p:pic>
        <p:nvPicPr>
          <p:cNvPr id="10" name="Image 9"/>
          <p:cNvPicPr>
            <a:picLocks noChangeAspect="1"/>
          </p:cNvPicPr>
          <p:nvPr/>
        </p:nvPicPr>
        <p:blipFill>
          <a:blip r:embed="rId6"/>
          <a:stretch>
            <a:fillRect/>
          </a:stretch>
        </p:blipFill>
        <p:spPr>
          <a:xfrm>
            <a:off x="1809775" y="4208108"/>
            <a:ext cx="317019" cy="353599"/>
          </a:xfrm>
          <a:prstGeom prst="rect">
            <a:avLst/>
          </a:prstGeom>
        </p:spPr>
      </p:pic>
      <p:pic>
        <p:nvPicPr>
          <p:cNvPr id="11" name="Image 10"/>
          <p:cNvPicPr>
            <a:picLocks noChangeAspect="1"/>
          </p:cNvPicPr>
          <p:nvPr/>
        </p:nvPicPr>
        <p:blipFill>
          <a:blip r:embed="rId7"/>
          <a:stretch>
            <a:fillRect/>
          </a:stretch>
        </p:blipFill>
        <p:spPr>
          <a:xfrm>
            <a:off x="3787817" y="2504059"/>
            <a:ext cx="317019" cy="353599"/>
          </a:xfrm>
          <a:prstGeom prst="rect">
            <a:avLst/>
          </a:prstGeom>
        </p:spPr>
      </p:pic>
      <p:pic>
        <p:nvPicPr>
          <p:cNvPr id="12" name="Image 11"/>
          <p:cNvPicPr>
            <a:picLocks noChangeAspect="1"/>
          </p:cNvPicPr>
          <p:nvPr/>
        </p:nvPicPr>
        <p:blipFill>
          <a:blip r:embed="rId7"/>
          <a:stretch>
            <a:fillRect/>
          </a:stretch>
        </p:blipFill>
        <p:spPr>
          <a:xfrm>
            <a:off x="2236532" y="2119925"/>
            <a:ext cx="317019" cy="353599"/>
          </a:xfrm>
          <a:prstGeom prst="rect">
            <a:avLst/>
          </a:prstGeom>
        </p:spPr>
      </p:pic>
    </p:spTree>
    <p:extLst>
      <p:ext uri="{BB962C8B-B14F-4D97-AF65-F5344CB8AC3E}">
        <p14:creationId xmlns:p14="http://schemas.microsoft.com/office/powerpoint/2010/main" val="1335934568"/>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re 4"/>
          <p:cNvSpPr>
            <a:spLocks noGrp="1"/>
          </p:cNvSpPr>
          <p:nvPr>
            <p:ph type="title"/>
          </p:nvPr>
        </p:nvSpPr>
        <p:spPr/>
        <p:txBody>
          <a:bodyPr>
            <a:normAutofit fontScale="90000"/>
          </a:bodyPr>
          <a:lstStyle/>
          <a:p>
            <a:r>
              <a:rPr lang="fr-FR" altLang="en-US" sz="2700" dirty="0">
                <a:cs typeface="Arial" panose="020B0604020202020204" pitchFamily="34" charset="0"/>
              </a:rPr>
              <a:t>M</a:t>
            </a:r>
            <a:r>
              <a:rPr lang="fr-FR" altLang="en-US" sz="2700" dirty="0" smtClean="0">
                <a:cs typeface="Arial" panose="020B0604020202020204" pitchFamily="34" charset="0"/>
              </a:rPr>
              <a:t>ode </a:t>
            </a:r>
            <a:r>
              <a:rPr lang="fr-FR" altLang="en-US" sz="2700" dirty="0">
                <a:cs typeface="Arial" panose="020B0604020202020204" pitchFamily="34" charset="0"/>
              </a:rPr>
              <a:t>opératoire dans </a:t>
            </a:r>
            <a:r>
              <a:rPr lang="fr-FR" altLang="en-US" sz="2700" dirty="0" smtClean="0">
                <a:cs typeface="Arial" panose="020B0604020202020204" pitchFamily="34" charset="0"/>
              </a:rPr>
              <a:t>SAP pour la gestion </a:t>
            </a:r>
            <a:r>
              <a:rPr lang="fr-FR" altLang="en-US" sz="2700" dirty="0">
                <a:cs typeface="Arial" panose="020B0604020202020204" pitchFamily="34" charset="0"/>
              </a:rPr>
              <a:t>des données de base </a:t>
            </a:r>
            <a:r>
              <a:rPr lang="fr-FR" altLang="en-US" sz="2700" dirty="0" smtClean="0">
                <a:cs typeface="Arial" panose="020B0604020202020204" pitchFamily="34" charset="0"/>
              </a:rPr>
              <a:t>des comptes généraux 5/5</a:t>
            </a:r>
            <a:r>
              <a:rPr lang="fr-FR" altLang="en-US" dirty="0" smtClean="0">
                <a:latin typeface="Arial" panose="020B0604020202020204" pitchFamily="34" charset="0"/>
                <a:cs typeface="Arial" panose="020B0604020202020204" pitchFamily="34" charset="0"/>
              </a:rPr>
              <a:t/>
            </a:r>
            <a:br>
              <a:rPr lang="fr-FR" altLang="en-US" dirty="0" smtClean="0">
                <a:latin typeface="Arial" panose="020B0604020202020204" pitchFamily="34" charset="0"/>
                <a:cs typeface="Arial" panose="020B0604020202020204" pitchFamily="34" charset="0"/>
              </a:rPr>
            </a:br>
            <a:endParaRPr lang="en-US" altLang="en-US" dirty="0" smtClean="0">
              <a:latin typeface="Arial" panose="020B0604020202020204" pitchFamily="34" charset="0"/>
              <a:cs typeface="Arial" panose="020B0604020202020204" pitchFamily="34" charset="0"/>
            </a:endParaRPr>
          </a:p>
        </p:txBody>
      </p:sp>
      <p:sp>
        <p:nvSpPr>
          <p:cNvPr id="2" name="Espace réservé du contenu 1"/>
          <p:cNvSpPr>
            <a:spLocks noGrp="1"/>
          </p:cNvSpPr>
          <p:nvPr>
            <p:ph idx="1"/>
          </p:nvPr>
        </p:nvSpPr>
        <p:spPr>
          <a:xfrm>
            <a:off x="573578" y="1152525"/>
            <a:ext cx="8246571" cy="3329471"/>
          </a:xfrm>
        </p:spPr>
        <p:txBody>
          <a:bodyPr/>
          <a:lstStyle/>
          <a:p>
            <a:r>
              <a:rPr lang="fr-FR" dirty="0" smtClean="0">
                <a:cs typeface="Arial" panose="020B0604020202020204" pitchFamily="34" charset="0"/>
              </a:rPr>
              <a:t>Le blocage d’un compte général est aussi faisable au niveau du plan comptable. </a:t>
            </a:r>
          </a:p>
          <a:p>
            <a:r>
              <a:rPr lang="fr-FR" dirty="0" smtClean="0">
                <a:cs typeface="Arial" panose="020B0604020202020204" pitchFamily="34" charset="0"/>
              </a:rPr>
              <a:t>Lancer la transaction FSP0 : </a:t>
            </a:r>
          </a:p>
          <a:p>
            <a:r>
              <a:rPr lang="fr-FR" dirty="0">
                <a:cs typeface="Arial" panose="020B0604020202020204" pitchFamily="34" charset="0"/>
              </a:rPr>
              <a:t>	</a:t>
            </a:r>
            <a:r>
              <a:rPr lang="fr-FR" dirty="0" smtClean="0">
                <a:cs typeface="Arial" panose="020B0604020202020204" pitchFamily="34" charset="0"/>
              </a:rPr>
              <a:t>								Renseigner le compte général à bloquer  </a:t>
            </a:r>
          </a:p>
          <a:p>
            <a:r>
              <a:rPr lang="fr-FR" dirty="0">
                <a:cs typeface="Arial" panose="020B0604020202020204" pitchFamily="34" charset="0"/>
              </a:rPr>
              <a:t>	</a:t>
            </a:r>
            <a:r>
              <a:rPr lang="fr-FR" dirty="0" smtClean="0">
                <a:cs typeface="Arial" panose="020B0604020202020204" pitchFamily="34" charset="0"/>
              </a:rPr>
              <a:t>								Aller dans le menu compte général / Bloquer  </a:t>
            </a:r>
          </a:p>
          <a:p>
            <a:r>
              <a:rPr lang="fr-FR" dirty="0">
                <a:cs typeface="Arial" panose="020B0604020202020204" pitchFamily="34" charset="0"/>
              </a:rPr>
              <a:t>	</a:t>
            </a:r>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Apposer le type de blocage souhaité.  </a:t>
            </a:r>
          </a:p>
          <a:p>
            <a:r>
              <a:rPr lang="fr-FR" dirty="0">
                <a:cs typeface="Arial" panose="020B0604020202020204" pitchFamily="34" charset="0"/>
              </a:rPr>
              <a:t>	</a:t>
            </a:r>
            <a:r>
              <a:rPr lang="fr-FR" dirty="0" smtClean="0">
                <a:cs typeface="Arial" panose="020B0604020202020204" pitchFamily="34" charset="0"/>
              </a:rPr>
              <a:t>								Sauvegarder le blocage. </a:t>
            </a:r>
          </a:p>
          <a:p>
            <a:r>
              <a:rPr lang="fr-FR" dirty="0">
                <a:cs typeface="Arial" panose="020B0604020202020204" pitchFamily="34" charset="0"/>
              </a:rPr>
              <a:t>	</a:t>
            </a:r>
            <a:r>
              <a:rPr lang="fr-FR" dirty="0" smtClean="0">
                <a:cs typeface="Arial" panose="020B0604020202020204" pitchFamily="34" charset="0"/>
              </a:rPr>
              <a:t>								Un compte bloqué à la comptabilisation peut toujours être consulté ! </a:t>
            </a:r>
          </a:p>
          <a:p>
            <a:r>
              <a:rPr lang="fr-FR" dirty="0">
                <a:cs typeface="Arial" panose="020B0604020202020204" pitchFamily="34" charset="0"/>
              </a:rPr>
              <a:t>	</a:t>
            </a:r>
            <a:r>
              <a:rPr lang="fr-FR" dirty="0" smtClean="0">
                <a:cs typeface="Arial" panose="020B0604020202020204" pitchFamily="34" charset="0"/>
              </a:rPr>
              <a:t>								C’est seulement la comptabilisation qui est impossible là-dessus.  </a:t>
            </a:r>
          </a:p>
          <a:p>
            <a:r>
              <a:rPr lang="fr-FR" dirty="0">
                <a:cs typeface="Arial" panose="020B0604020202020204" pitchFamily="34" charset="0"/>
              </a:rPr>
              <a:t>	</a:t>
            </a:r>
            <a:r>
              <a:rPr lang="fr-FR" dirty="0" smtClean="0">
                <a:cs typeface="Arial" panose="020B0604020202020204" pitchFamily="34" charset="0"/>
              </a:rPr>
              <a:t>								</a:t>
            </a:r>
          </a:p>
          <a:p>
            <a:r>
              <a:rPr lang="fr-FR" dirty="0" smtClean="0">
                <a:cs typeface="Arial" panose="020B0604020202020204" pitchFamily="34" charset="0"/>
              </a:rPr>
              <a:t>									</a:t>
            </a:r>
            <a:r>
              <a:rPr lang="fr-FR" dirty="0">
                <a:cs typeface="Arial" panose="020B0604020202020204" pitchFamily="34" charset="0"/>
              </a:rPr>
              <a:t>	</a:t>
            </a:r>
            <a:r>
              <a:rPr lang="fr-FR" dirty="0" smtClean="0">
                <a:cs typeface="Arial" panose="020B0604020202020204" pitchFamily="34" charset="0"/>
              </a:rPr>
              <a:t>									</a:t>
            </a:r>
            <a:endParaRPr lang="fr-FR" dirty="0" smtClean="0">
              <a:latin typeface="Arial" panose="020B0604020202020204" pitchFamily="34" charset="0"/>
              <a:cs typeface="Arial" panose="020B0604020202020204" pitchFamily="34" charset="0"/>
            </a:endParaRPr>
          </a:p>
          <a:p>
            <a:endParaRPr lang="fr-FR" dirty="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endParaRPr lang="fr-FR" dirty="0" smtClean="0">
              <a:latin typeface="Arial" panose="020B0604020202020204" pitchFamily="34" charset="0"/>
              <a:cs typeface="Arial" panose="020B0604020202020204" pitchFamily="34" charset="0"/>
            </a:endParaRPr>
          </a:p>
          <a:p>
            <a:r>
              <a:rPr lang="fr-FR" dirty="0" smtClean="0">
                <a:latin typeface="Arial" panose="020B0604020202020204" pitchFamily="34" charset="0"/>
                <a:cs typeface="Arial" panose="020B0604020202020204" pitchFamily="34" charset="0"/>
              </a:rPr>
              <a:t>  </a:t>
            </a:r>
          </a:p>
        </p:txBody>
      </p:sp>
      <p:sp>
        <p:nvSpPr>
          <p:cNvPr id="27651" name="Espace réservé du numéro de diapositive 3"/>
          <p:cNvSpPr>
            <a:spLocks noGrp="1"/>
          </p:cNvSpPr>
          <p:nvPr>
            <p:ph type="sldNum" sz="quarter" idx="11"/>
          </p:nvPr>
        </p:nvSpPr>
        <p:spPr bwMode="auto">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9045599E-B090-49ED-B582-AA1CEBC4CC0D}" type="slidenum">
              <a:rPr lang="fr-FR" altLang="en-US" sz="750">
                <a:solidFill>
                  <a:srgbClr val="000000"/>
                </a:solidFill>
              </a:rPr>
              <a:pPr eaLnBrk="1" hangingPunct="1"/>
              <a:t>12</a:t>
            </a:fld>
            <a:endParaRPr lang="fr-FR" altLang="en-US" sz="750">
              <a:solidFill>
                <a:srgbClr val="000000"/>
              </a:solidFill>
            </a:endParaRPr>
          </a:p>
        </p:txBody>
      </p:sp>
      <p:pic>
        <p:nvPicPr>
          <p:cNvPr id="7" name="Image 6"/>
          <p:cNvPicPr>
            <a:picLocks noChangeAspect="1"/>
          </p:cNvPicPr>
          <p:nvPr/>
        </p:nvPicPr>
        <p:blipFill>
          <a:blip r:embed="rId2"/>
          <a:stretch>
            <a:fillRect/>
          </a:stretch>
        </p:blipFill>
        <p:spPr>
          <a:xfrm>
            <a:off x="3775081" y="1825244"/>
            <a:ext cx="310923" cy="359695"/>
          </a:xfrm>
          <a:prstGeom prst="rect">
            <a:avLst/>
          </a:prstGeom>
        </p:spPr>
      </p:pic>
      <p:pic>
        <p:nvPicPr>
          <p:cNvPr id="8" name="Image 7"/>
          <p:cNvPicPr>
            <a:picLocks noChangeAspect="1"/>
          </p:cNvPicPr>
          <p:nvPr/>
        </p:nvPicPr>
        <p:blipFill>
          <a:blip r:embed="rId3"/>
          <a:stretch>
            <a:fillRect/>
          </a:stretch>
        </p:blipFill>
        <p:spPr>
          <a:xfrm>
            <a:off x="3780629" y="2151235"/>
            <a:ext cx="310923" cy="353599"/>
          </a:xfrm>
          <a:prstGeom prst="rect">
            <a:avLst/>
          </a:prstGeom>
        </p:spPr>
      </p:pic>
      <p:pic>
        <p:nvPicPr>
          <p:cNvPr id="11" name="Image 10"/>
          <p:cNvPicPr>
            <a:picLocks noChangeAspect="1"/>
          </p:cNvPicPr>
          <p:nvPr/>
        </p:nvPicPr>
        <p:blipFill>
          <a:blip r:embed="rId4"/>
          <a:stretch>
            <a:fillRect/>
          </a:stretch>
        </p:blipFill>
        <p:spPr>
          <a:xfrm>
            <a:off x="3787817" y="2504059"/>
            <a:ext cx="317019" cy="353599"/>
          </a:xfrm>
          <a:prstGeom prst="rect">
            <a:avLst/>
          </a:prstGeom>
        </p:spPr>
      </p:pic>
      <p:pic>
        <p:nvPicPr>
          <p:cNvPr id="4" name="Image 3"/>
          <p:cNvPicPr>
            <a:picLocks noChangeAspect="1"/>
          </p:cNvPicPr>
          <p:nvPr/>
        </p:nvPicPr>
        <p:blipFill>
          <a:blip r:embed="rId5"/>
          <a:stretch>
            <a:fillRect/>
          </a:stretch>
        </p:blipFill>
        <p:spPr>
          <a:xfrm>
            <a:off x="571280" y="1763250"/>
            <a:ext cx="3055324" cy="2718745"/>
          </a:xfrm>
          <a:prstGeom prst="rect">
            <a:avLst/>
          </a:prstGeom>
        </p:spPr>
      </p:pic>
      <p:pic>
        <p:nvPicPr>
          <p:cNvPr id="5" name="Image 4"/>
          <p:cNvPicPr>
            <a:picLocks noChangeAspect="1"/>
          </p:cNvPicPr>
          <p:nvPr/>
        </p:nvPicPr>
        <p:blipFill>
          <a:blip r:embed="rId6"/>
          <a:stretch>
            <a:fillRect/>
          </a:stretch>
        </p:blipFill>
        <p:spPr>
          <a:xfrm>
            <a:off x="2059717" y="2842622"/>
            <a:ext cx="310923" cy="353599"/>
          </a:xfrm>
          <a:prstGeom prst="rect">
            <a:avLst/>
          </a:prstGeom>
        </p:spPr>
      </p:pic>
      <p:pic>
        <p:nvPicPr>
          <p:cNvPr id="9" name="Image 8"/>
          <p:cNvPicPr>
            <a:picLocks noChangeAspect="1"/>
          </p:cNvPicPr>
          <p:nvPr/>
        </p:nvPicPr>
        <p:blipFill>
          <a:blip r:embed="rId7"/>
          <a:stretch>
            <a:fillRect/>
          </a:stretch>
        </p:blipFill>
        <p:spPr>
          <a:xfrm>
            <a:off x="1577301" y="1831802"/>
            <a:ext cx="317019" cy="353599"/>
          </a:xfrm>
          <a:prstGeom prst="rect">
            <a:avLst/>
          </a:prstGeom>
        </p:spPr>
      </p:pic>
      <p:pic>
        <p:nvPicPr>
          <p:cNvPr id="14" name="Image 13"/>
          <p:cNvPicPr>
            <a:picLocks noChangeAspect="1"/>
          </p:cNvPicPr>
          <p:nvPr/>
        </p:nvPicPr>
        <p:blipFill>
          <a:blip r:embed="rId8"/>
          <a:stretch>
            <a:fillRect/>
          </a:stretch>
        </p:blipFill>
        <p:spPr>
          <a:xfrm flipV="1">
            <a:off x="764959" y="3869899"/>
            <a:ext cx="1381555" cy="523870"/>
          </a:xfrm>
          <a:prstGeom prst="rect">
            <a:avLst/>
          </a:prstGeom>
        </p:spPr>
      </p:pic>
      <p:pic>
        <p:nvPicPr>
          <p:cNvPr id="15" name="Image 14"/>
          <p:cNvPicPr>
            <a:picLocks noChangeAspect="1"/>
          </p:cNvPicPr>
          <p:nvPr/>
        </p:nvPicPr>
        <p:blipFill>
          <a:blip r:embed="rId9"/>
          <a:stretch>
            <a:fillRect/>
          </a:stretch>
        </p:blipFill>
        <p:spPr>
          <a:xfrm>
            <a:off x="2104241" y="3955034"/>
            <a:ext cx="317019" cy="353599"/>
          </a:xfrm>
          <a:prstGeom prst="rect">
            <a:avLst/>
          </a:prstGeom>
        </p:spPr>
      </p:pic>
      <p:pic>
        <p:nvPicPr>
          <p:cNvPr id="16" name="Image 15"/>
          <p:cNvPicPr>
            <a:picLocks noChangeAspect="1"/>
          </p:cNvPicPr>
          <p:nvPr/>
        </p:nvPicPr>
        <p:blipFill>
          <a:blip r:embed="rId10"/>
          <a:stretch>
            <a:fillRect/>
          </a:stretch>
        </p:blipFill>
        <p:spPr>
          <a:xfrm>
            <a:off x="3795005" y="2857658"/>
            <a:ext cx="317019" cy="359695"/>
          </a:xfrm>
          <a:prstGeom prst="rect">
            <a:avLst/>
          </a:prstGeom>
        </p:spPr>
      </p:pic>
      <p:pic>
        <p:nvPicPr>
          <p:cNvPr id="17" name="Image 16"/>
          <p:cNvPicPr>
            <a:picLocks noChangeAspect="1"/>
          </p:cNvPicPr>
          <p:nvPr/>
        </p:nvPicPr>
        <p:blipFill>
          <a:blip r:embed="rId10"/>
          <a:stretch>
            <a:fillRect/>
          </a:stretch>
        </p:blipFill>
        <p:spPr>
          <a:xfrm>
            <a:off x="2443442" y="2143607"/>
            <a:ext cx="317019" cy="359695"/>
          </a:xfrm>
          <a:prstGeom prst="rect">
            <a:avLst/>
          </a:prstGeom>
        </p:spPr>
      </p:pic>
    </p:spTree>
    <p:extLst>
      <p:ext uri="{BB962C8B-B14F-4D97-AF65-F5344CB8AC3E}">
        <p14:creationId xmlns:p14="http://schemas.microsoft.com/office/powerpoint/2010/main" val="354197490"/>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1173955" y="1058111"/>
            <a:ext cx="3063507" cy="1899078"/>
          </a:xfrm>
          <a:prstGeom prst="rect">
            <a:avLst/>
          </a:prstGeom>
          <a:noFill/>
          <a:ln w="12700" algn="ctr">
            <a:noFill/>
            <a:miter lim="800000"/>
            <a:headEnd/>
            <a:tailEnd/>
          </a:ln>
        </p:spPr>
        <p:txBody>
          <a:bodyPr wrap="square" lIns="67500" tIns="35100" rIns="67500" bIns="35100">
            <a:spAutoFit/>
          </a:bodyPr>
          <a:lstStyle/>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Créer un compte général</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Modifier puis bloquer ce dernier compte à la comptabilisation</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Saisir une pièce via la FB50 sur ce compte bloqué</a:t>
            </a:r>
          </a:p>
          <a:p>
            <a:pPr marL="135731" indent="-135731">
              <a:lnSpc>
                <a:spcPct val="110000"/>
              </a:lnSpc>
              <a:buFont typeface="Wingdings" pitchFamily="2" charset="2"/>
              <a:buChar char="§"/>
              <a:defRPr/>
            </a:pPr>
            <a:r>
              <a:rPr lang="fr-FR" sz="1350" dirty="0" smtClean="0">
                <a:solidFill>
                  <a:srgbClr val="4F81BD"/>
                </a:solidFill>
                <a:latin typeface="Arial Narrow" pitchFamily="34" charset="0"/>
                <a:ea typeface="ＭＳ Ｐゴシック"/>
                <a:cs typeface="ＭＳ Ｐゴシック"/>
              </a:rPr>
              <a:t>Afficher le compte bloqué via la FBL3N</a:t>
            </a:r>
          </a:p>
          <a:p>
            <a:pPr>
              <a:lnSpc>
                <a:spcPct val="110000"/>
              </a:lnSpc>
              <a:defRPr/>
            </a:pPr>
            <a:endParaRPr lang="fr-FR" sz="1350" dirty="0" smtClean="0">
              <a:solidFill>
                <a:srgbClr val="4F81BD"/>
              </a:solidFill>
              <a:latin typeface="Arial Narrow" pitchFamily="34" charset="0"/>
              <a:ea typeface="ＭＳ Ｐゴシック"/>
              <a:cs typeface="ＭＳ Ｐゴシック"/>
            </a:endParaRPr>
          </a:p>
          <a:p>
            <a:pPr marL="135731" indent="-135731">
              <a:lnSpc>
                <a:spcPct val="110000"/>
              </a:lnSpc>
              <a:buFont typeface="Wingdings" pitchFamily="2" charset="2"/>
              <a:buChar char="§"/>
              <a:defRPr/>
            </a:pPr>
            <a:endParaRPr lang="fr-FR" sz="1350" dirty="0">
              <a:solidFill>
                <a:srgbClr val="4F81BD"/>
              </a:solidFill>
              <a:latin typeface="Arial Narrow" pitchFamily="34" charset="0"/>
              <a:ea typeface="ＭＳ Ｐゴシック"/>
              <a:cs typeface="ＭＳ Ｐゴシック"/>
            </a:endParaRPr>
          </a:p>
        </p:txBody>
      </p:sp>
      <p:sp>
        <p:nvSpPr>
          <p:cNvPr id="3" name="ZoneTexte 2"/>
          <p:cNvSpPr txBox="1"/>
          <p:nvPr/>
        </p:nvSpPr>
        <p:spPr>
          <a:xfrm>
            <a:off x="1116295" y="205978"/>
            <a:ext cx="2316788" cy="523220"/>
          </a:xfrm>
          <a:prstGeom prst="rect">
            <a:avLst/>
          </a:prstGeom>
          <a:noFill/>
        </p:spPr>
        <p:txBody>
          <a:bodyPr wrap="none" rtlCol="0">
            <a:spAutoFit/>
          </a:bodyPr>
          <a:lstStyle/>
          <a:p>
            <a:r>
              <a:rPr lang="en-US" sz="2800" b="1" dirty="0" err="1">
                <a:solidFill>
                  <a:srgbClr val="4F81BD"/>
                </a:solidFill>
              </a:rPr>
              <a:t>Exercice</a:t>
            </a:r>
            <a:r>
              <a:rPr lang="en-US" sz="2800" b="1" dirty="0">
                <a:solidFill>
                  <a:srgbClr val="4F81BD"/>
                </a:solidFill>
              </a:rPr>
              <a:t> </a:t>
            </a:r>
            <a:r>
              <a:rPr lang="en-US" sz="2800" b="1" dirty="0" err="1">
                <a:solidFill>
                  <a:srgbClr val="4F81BD"/>
                </a:solidFill>
              </a:rPr>
              <a:t>dirigé</a:t>
            </a:r>
            <a:endParaRPr lang="en-US" sz="2800" b="1" dirty="0">
              <a:solidFill>
                <a:srgbClr val="4F81BD"/>
              </a:solidFill>
            </a:endParaRPr>
          </a:p>
        </p:txBody>
      </p:sp>
      <p:pic>
        <p:nvPicPr>
          <p:cNvPr id="34" name="Image 3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399562"/>
            <a:ext cx="3120189" cy="2156460"/>
          </a:xfrm>
          <a:prstGeom prst="rect">
            <a:avLst/>
          </a:prstGeom>
        </p:spPr>
      </p:pic>
      <p:grpSp>
        <p:nvGrpSpPr>
          <p:cNvPr id="35" name="Groupe 34"/>
          <p:cNvGrpSpPr/>
          <p:nvPr/>
        </p:nvGrpSpPr>
        <p:grpSpPr>
          <a:xfrm>
            <a:off x="5174456" y="205978"/>
            <a:ext cx="3680275" cy="4299347"/>
            <a:chOff x="5174456" y="205978"/>
            <a:chExt cx="3680275" cy="4299347"/>
          </a:xfrm>
        </p:grpSpPr>
        <p:grpSp>
          <p:nvGrpSpPr>
            <p:cNvPr id="36" name="Groupe 35"/>
            <p:cNvGrpSpPr/>
            <p:nvPr/>
          </p:nvGrpSpPr>
          <p:grpSpPr>
            <a:xfrm>
              <a:off x="5174456" y="205978"/>
              <a:ext cx="3680275" cy="4299347"/>
              <a:chOff x="3707606" y="205978"/>
              <a:chExt cx="4105275" cy="4795838"/>
            </a:xfrm>
          </p:grpSpPr>
          <p:sp>
            <p:nvSpPr>
              <p:cNvPr id="39" name="Rectangle 38"/>
              <p:cNvSpPr/>
              <p:nvPr/>
            </p:nvSpPr>
            <p:spPr>
              <a:xfrm>
                <a:off x="3707606" y="205978"/>
                <a:ext cx="4105275" cy="4795838"/>
              </a:xfrm>
              <a:prstGeom prst="rect">
                <a:avLst/>
              </a:prstGeom>
              <a:solidFill>
                <a:schemeClr val="bg1"/>
              </a:solidFill>
              <a:ln w="22225">
                <a:solidFill>
                  <a:schemeClr val="accent1">
                    <a:lumMod val="50000"/>
                  </a:schemeClr>
                </a:solidFill>
              </a:ln>
              <a:effectLst/>
            </p:spPr>
            <p:style>
              <a:lnRef idx="1">
                <a:schemeClr val="accent1"/>
              </a:lnRef>
              <a:fillRef idx="3">
                <a:schemeClr val="accent1"/>
              </a:fillRef>
              <a:effectRef idx="2">
                <a:schemeClr val="accent1"/>
              </a:effectRef>
              <a:fontRef idx="minor">
                <a:schemeClr val="lt1"/>
              </a:fontRef>
            </p:style>
            <p:txBody>
              <a:bodyPr/>
              <a:lstStyle/>
              <a:p>
                <a:pPr>
                  <a:defRPr/>
                </a:pPr>
                <a:endParaRPr lang="fr-FR" sz="1350" b="1" u="sng" dirty="0">
                  <a:solidFill>
                    <a:schemeClr val="tx1"/>
                  </a:solidFill>
                </a:endParaRPr>
              </a:p>
              <a:p>
                <a:pPr>
                  <a:defRPr/>
                </a:pPr>
                <a:endParaRPr lang="en-US" sz="1350" b="1" u="sng" dirty="0">
                  <a:solidFill>
                    <a:schemeClr val="tx1"/>
                  </a:solidFill>
                </a:endParaRPr>
              </a:p>
            </p:txBody>
          </p:sp>
          <p:cxnSp>
            <p:nvCxnSpPr>
              <p:cNvPr id="40" name="Connecteur droit 39"/>
              <p:cNvCxnSpPr/>
              <p:nvPr/>
            </p:nvCxnSpPr>
            <p:spPr>
              <a:xfrm>
                <a:off x="3815953" y="11406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1" name="Connecteur droit 40"/>
              <p:cNvCxnSpPr/>
              <p:nvPr/>
            </p:nvCxnSpPr>
            <p:spPr>
              <a:xfrm>
                <a:off x="3815953" y="13620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2" name="Connecteur droit 41"/>
              <p:cNvCxnSpPr/>
              <p:nvPr/>
            </p:nvCxnSpPr>
            <p:spPr>
              <a:xfrm>
                <a:off x="3821906" y="24562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3" name="Connecteur droit 42"/>
              <p:cNvCxnSpPr/>
              <p:nvPr/>
            </p:nvCxnSpPr>
            <p:spPr>
              <a:xfrm>
                <a:off x="3821906" y="26777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4" name="Connecteur droit 43"/>
              <p:cNvCxnSpPr/>
              <p:nvPr/>
            </p:nvCxnSpPr>
            <p:spPr>
              <a:xfrm>
                <a:off x="3821906" y="1590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5" name="Connecteur droit 44"/>
              <p:cNvCxnSpPr/>
              <p:nvPr/>
            </p:nvCxnSpPr>
            <p:spPr>
              <a:xfrm>
                <a:off x="3821906" y="18121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6" name="Connecteur droit 45"/>
              <p:cNvCxnSpPr/>
              <p:nvPr/>
            </p:nvCxnSpPr>
            <p:spPr>
              <a:xfrm>
                <a:off x="3821906" y="20276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7" name="Connecteur droit 46"/>
              <p:cNvCxnSpPr/>
              <p:nvPr/>
            </p:nvCxnSpPr>
            <p:spPr>
              <a:xfrm>
                <a:off x="3821906" y="22490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8" name="Connecteur droit 47"/>
              <p:cNvCxnSpPr/>
              <p:nvPr/>
            </p:nvCxnSpPr>
            <p:spPr>
              <a:xfrm>
                <a:off x="3821906" y="2893219"/>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49" name="Connecteur droit 48"/>
              <p:cNvCxnSpPr/>
              <p:nvPr/>
            </p:nvCxnSpPr>
            <p:spPr>
              <a:xfrm>
                <a:off x="3821906" y="31146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0" name="Connecteur droit 49"/>
              <p:cNvCxnSpPr/>
              <p:nvPr/>
            </p:nvCxnSpPr>
            <p:spPr>
              <a:xfrm>
                <a:off x="3827860" y="4208860"/>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1" name="Connecteur droit 50"/>
              <p:cNvCxnSpPr/>
              <p:nvPr/>
            </p:nvCxnSpPr>
            <p:spPr>
              <a:xfrm>
                <a:off x="3827860" y="4430317"/>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2" name="Connecteur droit 51"/>
              <p:cNvCxnSpPr/>
              <p:nvPr/>
            </p:nvCxnSpPr>
            <p:spPr>
              <a:xfrm>
                <a:off x="3827860" y="3343275"/>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3" name="Connecteur droit 52"/>
              <p:cNvCxnSpPr/>
              <p:nvPr/>
            </p:nvCxnSpPr>
            <p:spPr>
              <a:xfrm>
                <a:off x="3827860" y="3564731"/>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4" name="Connecteur droit 53"/>
              <p:cNvCxnSpPr/>
              <p:nvPr/>
            </p:nvCxnSpPr>
            <p:spPr>
              <a:xfrm>
                <a:off x="3827860" y="3780235"/>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5" name="Connecteur droit 54"/>
              <p:cNvCxnSpPr/>
              <p:nvPr/>
            </p:nvCxnSpPr>
            <p:spPr>
              <a:xfrm>
                <a:off x="3827860" y="4001692"/>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6" name="Connecteur droit 55"/>
              <p:cNvCxnSpPr/>
              <p:nvPr/>
            </p:nvCxnSpPr>
            <p:spPr>
              <a:xfrm>
                <a:off x="3827860" y="461963"/>
                <a:ext cx="3827861"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7" name="Connecteur droit 56"/>
              <p:cNvCxnSpPr/>
              <p:nvPr/>
            </p:nvCxnSpPr>
            <p:spPr>
              <a:xfrm>
                <a:off x="3827860" y="682229"/>
                <a:ext cx="3827859" cy="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8" name="Connecteur droit 57"/>
              <p:cNvCxnSpPr/>
              <p:nvPr/>
            </p:nvCxnSpPr>
            <p:spPr>
              <a:xfrm>
                <a:off x="3827860" y="909638"/>
                <a:ext cx="3833813" cy="1191"/>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59" name="Connecteur droit 58"/>
              <p:cNvCxnSpPr/>
              <p:nvPr/>
            </p:nvCxnSpPr>
            <p:spPr>
              <a:xfrm>
                <a:off x="3821906" y="4661298"/>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60" name="Connecteur droit 59"/>
              <p:cNvCxnSpPr/>
              <p:nvPr/>
            </p:nvCxnSpPr>
            <p:spPr>
              <a:xfrm>
                <a:off x="3821906" y="4882754"/>
                <a:ext cx="3833813" cy="1190"/>
              </a:xfrm>
              <a:prstGeom prst="line">
                <a:avLst/>
              </a:prstGeom>
              <a:ln w="3175">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grpSp>
        <p:pic>
          <p:nvPicPr>
            <p:cNvPr id="37" name="Image 36"/>
            <p:cNvPicPr>
              <a:picLocks noChangeAspect="1"/>
            </p:cNvPicPr>
            <p:nvPr/>
          </p:nvPicPr>
          <p:blipFill>
            <a:blip r:embed="rId4">
              <a:clrChange>
                <a:clrFrom>
                  <a:srgbClr val="000000">
                    <a:alpha val="0"/>
                  </a:srgbClr>
                </a:clrFrom>
                <a:clrTo>
                  <a:srgbClr val="000000">
                    <a:alpha val="0"/>
                  </a:srgbClr>
                </a:clrTo>
              </a:clrChange>
              <a:extLst>
                <a:ext uri="{28A0092B-C50C-407E-A947-70E740481C1C}">
                  <a14:useLocalDpi xmlns:a14="http://schemas.microsoft.com/office/drawing/2010/main" val="0"/>
                </a:ext>
              </a:extLst>
            </a:blip>
            <a:stretch>
              <a:fillRect/>
            </a:stretch>
          </p:blipFill>
          <p:spPr>
            <a:xfrm>
              <a:off x="7850414" y="257643"/>
              <a:ext cx="909117" cy="922754"/>
            </a:xfrm>
            <a:prstGeom prst="rect">
              <a:avLst/>
            </a:prstGeom>
          </p:spPr>
        </p:pic>
        <p:sp>
          <p:nvSpPr>
            <p:cNvPr id="38" name="ZoneTexte 36"/>
            <p:cNvSpPr txBox="1">
              <a:spLocks noChangeArrowheads="1"/>
            </p:cNvSpPr>
            <p:nvPr/>
          </p:nvSpPr>
          <p:spPr bwMode="auto">
            <a:xfrm rot="21212387">
              <a:off x="7848414" y="443461"/>
              <a:ext cx="969572" cy="707886"/>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1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1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1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1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pPr eaLnBrk="1" hangingPunct="1"/>
              <a:r>
                <a:rPr lang="fr-FR" altLang="en-US" sz="800" b="1" dirty="0">
                  <a:solidFill>
                    <a:schemeClr val="bg1"/>
                  </a:solidFill>
                  <a:latin typeface="+mn-lt"/>
                </a:rPr>
                <a:t>La présentation détaillée du pas à pas est retrouvée dans le guide utilisateur</a:t>
              </a:r>
              <a:endParaRPr lang="en-US" altLang="en-US" sz="800" b="1" dirty="0">
                <a:solidFill>
                  <a:schemeClr val="bg1"/>
                </a:solidFill>
                <a:latin typeface="+mn-lt"/>
              </a:endParaRPr>
            </a:p>
          </p:txBody>
        </p:sp>
      </p:grpSp>
    </p:spTree>
    <p:extLst>
      <p:ext uri="{BB962C8B-B14F-4D97-AF65-F5344CB8AC3E}">
        <p14:creationId xmlns:p14="http://schemas.microsoft.com/office/powerpoint/2010/main" val="154869185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40194" y="2482247"/>
            <a:ext cx="5407819" cy="377429"/>
          </a:xfrm>
          <a:prstGeom prst="rect">
            <a:avLst/>
          </a:prstGeom>
          <a:solidFill>
            <a:srgbClr val="4C9BD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eaLnBrk="0" hangingPunct="0">
              <a:spcBef>
                <a:spcPct val="20000"/>
              </a:spcBef>
              <a:buFont typeface="Arial" charset="0"/>
              <a:buChar char="•"/>
              <a:defRPr/>
            </a:pPr>
            <a:endParaRPr lang="en-US" sz="1350" dirty="0"/>
          </a:p>
        </p:txBody>
      </p:sp>
      <p:sp>
        <p:nvSpPr>
          <p:cNvPr id="22532" name="Rectangle 3"/>
          <p:cNvSpPr>
            <a:spLocks noGrp="1"/>
          </p:cNvSpPr>
          <p:nvPr>
            <p:ph type="body" sz="quarter" idx="11"/>
          </p:nvPr>
        </p:nvSpPr>
        <p:spPr>
          <a:xfrm>
            <a:off x="2027238" y="1429152"/>
            <a:ext cx="6792913" cy="1482490"/>
          </a:xfrm>
        </p:spPr>
        <p:txBody>
          <a:bodyPr/>
          <a:lstStyle/>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Objectif </a:t>
            </a:r>
            <a:r>
              <a:rPr lang="fr-FR" altLang="en-US" dirty="0">
                <a:latin typeface="Arial" panose="020B0604020202020204" pitchFamily="34" charset="0"/>
                <a:ea typeface="ＭＳ Ｐゴシック" panose="020B0600070205080204" pitchFamily="34" charset="-128"/>
                <a:cs typeface="Arial" panose="020B0604020202020204" pitchFamily="34" charset="0"/>
              </a:rPr>
              <a:t>de la formation</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Description du processus métier</a:t>
            </a:r>
          </a:p>
          <a:p>
            <a:pPr eaLnBrk="1" hangingPunct="1"/>
            <a:r>
              <a:rPr lang="fr-FR" altLang="en-US" dirty="0" smtClean="0">
                <a:latin typeface="Arial" panose="020B0604020202020204" pitchFamily="34" charset="0"/>
                <a:ea typeface="ＭＳ Ｐゴシック" panose="020B0600070205080204" pitchFamily="34" charset="-128"/>
                <a:cs typeface="Arial" panose="020B0604020202020204" pitchFamily="34" charset="0"/>
              </a:rPr>
              <a:t>Modes opératoires</a:t>
            </a:r>
          </a:p>
          <a:p>
            <a:pPr eaLnBrk="1" hangingPunct="1"/>
            <a:r>
              <a:rPr lang="fr-FR" altLang="en-US" dirty="0" smtClean="0">
                <a:solidFill>
                  <a:schemeClr val="bg1"/>
                </a:solidFill>
                <a:latin typeface="Arial" panose="020B0604020202020204" pitchFamily="34" charset="0"/>
                <a:ea typeface="ＭＳ Ｐゴシック" panose="020B0600070205080204" pitchFamily="34" charset="-128"/>
                <a:cs typeface="Arial" panose="020B0604020202020204" pitchFamily="34" charset="0"/>
              </a:rPr>
              <a:t>Synthèse et point d’attention</a:t>
            </a:r>
            <a:endParaRPr lang="en-US" altLang="en-US" dirty="0">
              <a:solidFill>
                <a:schemeClr val="bg1"/>
              </a:solidFill>
              <a:latin typeface="Arial" panose="020B0604020202020204" pitchFamily="34" charset="0"/>
              <a:ea typeface="ＭＳ Ｐゴシック" panose="020B0600070205080204" pitchFamily="34" charset="-128"/>
              <a:cs typeface="Arial" panose="020B0604020202020204" pitchFamily="34" charset="0"/>
            </a:endParaRPr>
          </a:p>
          <a:p>
            <a:pPr eaLnBrk="1" hangingPunct="1"/>
            <a:endParaRPr lang="en-US" altLang="en-US"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22533" name="Espace réservé du numéro de diapositive 5"/>
          <p:cNvSpPr>
            <a:spLocks noGrp="1"/>
          </p:cNvSpPr>
          <p:nvPr>
            <p:ph type="sldNum" sz="quarter" idx="4294967295"/>
          </p:nvPr>
        </p:nvSpPr>
        <p:spPr bwMode="auto">
          <a:xfrm>
            <a:off x="7010400" y="4767263"/>
            <a:ext cx="2133600" cy="2746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EF79A081-4D2A-45D5-B5B5-C79C45E3A58B}" type="slidenum">
              <a:rPr lang="fr-FR" altLang="en-US" sz="750"/>
              <a:pPr eaLnBrk="1" hangingPunct="1"/>
              <a:t>14</a:t>
            </a:fld>
            <a:endParaRPr lang="fr-FR" altLang="en-US" sz="750"/>
          </a:p>
        </p:txBody>
      </p:sp>
    </p:spTree>
    <p:extLst>
      <p:ext uri="{BB962C8B-B14F-4D97-AF65-F5344CB8AC3E}">
        <p14:creationId xmlns:p14="http://schemas.microsoft.com/office/powerpoint/2010/main" val="27203342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re 1"/>
          <p:cNvSpPr>
            <a:spLocks noGrp="1"/>
          </p:cNvSpPr>
          <p:nvPr>
            <p:ph type="title"/>
          </p:nvPr>
        </p:nvSpPr>
        <p:spPr/>
        <p:txBody>
          <a:bodyPr>
            <a:normAutofit/>
          </a:bodyPr>
          <a:lstStyle/>
          <a:p>
            <a:r>
              <a:rPr lang="fr-FR" altLang="en-US" sz="2400" dirty="0" smtClean="0">
                <a:ea typeface="ＭＳ Ｐゴシック" panose="020B0600070205080204" pitchFamily="34" charset="-128"/>
                <a:cs typeface="Arial" panose="020B0604020202020204" pitchFamily="34" charset="0"/>
              </a:rPr>
              <a:t>Synthèse</a:t>
            </a:r>
            <a:endParaRPr lang="en-US" altLang="en-US" sz="2400" dirty="0" smtClean="0">
              <a:ea typeface="ＭＳ Ｐゴシック" panose="020B0600070205080204" pitchFamily="34" charset="-128"/>
              <a:cs typeface="Arial" panose="020B0604020202020204" pitchFamily="34" charset="0"/>
            </a:endParaRPr>
          </a:p>
        </p:txBody>
      </p:sp>
      <p:sp>
        <p:nvSpPr>
          <p:cNvPr id="46083" name="Espace réservé du contenu 2"/>
          <p:cNvSpPr>
            <a:spLocks noGrp="1"/>
          </p:cNvSpPr>
          <p:nvPr>
            <p:ph idx="1"/>
          </p:nvPr>
        </p:nvSpPr>
        <p:spPr>
          <a:xfrm>
            <a:off x="457200" y="1063625"/>
            <a:ext cx="8229600" cy="1946275"/>
          </a:xfrm>
        </p:spPr>
        <p:txBody>
          <a:bodyPr/>
          <a:lstStyle/>
          <a:p>
            <a:pPr marL="171450" indent="-171450">
              <a:buClr>
                <a:srgbClr val="0070C0"/>
              </a:buClr>
              <a:buSzPct val="100000"/>
              <a:buFont typeface="Arial" panose="020B0604020202020204" pitchFamily="34" charset="0"/>
              <a:buChar char="•"/>
            </a:pPr>
            <a:endParaRPr lang="fr-FR" altLang="en-US" sz="1400" dirty="0">
              <a:latin typeface="Arial" panose="020B0604020202020204" pitchFamily="34" charset="0"/>
              <a:ea typeface="ＭＳ Ｐゴシック" panose="020B0600070205080204" pitchFamily="34" charset="-128"/>
              <a:cs typeface="Arial" panose="020B0604020202020204" pitchFamily="34" charset="0"/>
            </a:endParaRPr>
          </a:p>
          <a:p>
            <a:pPr marL="171450" indent="-171450">
              <a:buClr>
                <a:srgbClr val="0070C0"/>
              </a:buClr>
              <a:buSzPct val="100000"/>
              <a:buFont typeface="Arial" panose="020B0604020202020204" pitchFamily="34" charset="0"/>
              <a:buChar char="•"/>
            </a:pPr>
            <a:r>
              <a:rPr lang="fr-FR" dirty="0"/>
              <a:t>L</a:t>
            </a:r>
            <a:r>
              <a:rPr lang="fr-FR" dirty="0" smtClean="0"/>
              <a:t>e </a:t>
            </a:r>
            <a:r>
              <a:rPr lang="fr-FR" dirty="0"/>
              <a:t>gestionnaire du système responsable du référentiel </a:t>
            </a:r>
            <a:r>
              <a:rPr lang="fr-FR" dirty="0" smtClean="0"/>
              <a:t>des comptes généraux </a:t>
            </a:r>
            <a:r>
              <a:rPr lang="fr-FR" dirty="0"/>
              <a:t>est le </a:t>
            </a:r>
            <a:r>
              <a:rPr lang="fr-FR" dirty="0" smtClean="0"/>
              <a:t>garant </a:t>
            </a:r>
            <a:r>
              <a:rPr lang="fr-FR" dirty="0"/>
              <a:t>de la cohérence et de l’unicité des </a:t>
            </a:r>
            <a:r>
              <a:rPr lang="fr-FR" dirty="0" smtClean="0"/>
              <a:t>données. De sa vigilance dépend la complétude des saisies qui seront effectuées. </a:t>
            </a:r>
            <a:endParaRPr lang="fr-FR" dirty="0" smtClean="0"/>
          </a:p>
          <a:p>
            <a:pPr marL="171450" indent="-171450">
              <a:buClr>
                <a:srgbClr val="0070C0"/>
              </a:buClr>
              <a:buSzPct val="100000"/>
              <a:buFont typeface="Arial" panose="020B0604020202020204" pitchFamily="34" charset="0"/>
              <a:buChar char="•"/>
            </a:pPr>
            <a:endParaRPr lang="fr-FR" dirty="0"/>
          </a:p>
          <a:p>
            <a:pPr marL="171450" indent="-171450">
              <a:buClr>
                <a:srgbClr val="0070C0"/>
              </a:buClr>
              <a:buSzPct val="100000"/>
              <a:buFont typeface="Arial" panose="020B0604020202020204" pitchFamily="34" charset="0"/>
              <a:buChar char="•"/>
            </a:pPr>
            <a:endParaRPr lang="fr-FR" dirty="0" smtClean="0"/>
          </a:p>
          <a:p>
            <a:pPr marL="171450" indent="-171450">
              <a:buClr>
                <a:srgbClr val="0070C0"/>
              </a:buClr>
              <a:buSzPct val="100000"/>
              <a:buFont typeface="Arial" panose="020B0604020202020204" pitchFamily="34" charset="0"/>
              <a:buChar char="•"/>
            </a:pPr>
            <a:r>
              <a:rPr lang="fr-FR" dirty="0" smtClean="0"/>
              <a:t>Fichiers de description du processus  </a:t>
            </a:r>
            <a:endParaRPr lang="ru-RU" dirty="0"/>
          </a:p>
          <a:p>
            <a:pPr marL="171450" indent="-171450">
              <a:buClr>
                <a:srgbClr val="0070C0"/>
              </a:buClr>
              <a:buSzPct val="100000"/>
              <a:buFont typeface="Arial" panose="020B0604020202020204" pitchFamily="34" charset="0"/>
              <a:buChar char="•"/>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a:p>
            <a:pPr>
              <a:buClr>
                <a:srgbClr val="0070C0"/>
              </a:buClr>
              <a:buSzPct val="100000"/>
            </a:pPr>
            <a:endParaRPr lang="fr-FR" altLang="en-US" sz="1400" dirty="0" smtClean="0">
              <a:latin typeface="Arial" panose="020B0604020202020204" pitchFamily="34" charset="0"/>
              <a:ea typeface="ＭＳ Ｐゴシック" panose="020B0600070205080204" pitchFamily="34" charset="-128"/>
              <a:cs typeface="Arial" panose="020B0604020202020204" pitchFamily="34" charset="0"/>
            </a:endParaRPr>
          </a:p>
        </p:txBody>
      </p:sp>
      <p:sp>
        <p:nvSpPr>
          <p:cNvPr id="46084" name="Espace réservé du numéro de diapositive 3"/>
          <p:cNvSpPr>
            <a:spLocks noGrp="1"/>
          </p:cNvSpPr>
          <p:nvPr>
            <p:ph type="sldNum"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50">
                <a:solidFill>
                  <a:schemeClr val="tx1"/>
                </a:solidFill>
                <a:latin typeface="Arial" panose="020B0604020202020204" pitchFamily="34" charset="0"/>
                <a:ea typeface="ＭＳ Ｐゴシック" panose="020B0600070205080204" pitchFamily="34" charset="-128"/>
              </a:defRPr>
            </a:lvl1pPr>
            <a:lvl2pPr marL="557213" indent="-214313" eaLnBrk="0" hangingPunct="0">
              <a:defRPr sz="1050">
                <a:solidFill>
                  <a:schemeClr val="tx1"/>
                </a:solidFill>
                <a:latin typeface="Arial" panose="020B0604020202020204" pitchFamily="34" charset="0"/>
                <a:ea typeface="ＭＳ Ｐゴシック" panose="020B0600070205080204" pitchFamily="34" charset="-128"/>
              </a:defRPr>
            </a:lvl2pPr>
            <a:lvl3pPr marL="857250" indent="-171450" eaLnBrk="0" hangingPunct="0">
              <a:defRPr sz="1050">
                <a:solidFill>
                  <a:schemeClr val="tx1"/>
                </a:solidFill>
                <a:latin typeface="Arial" panose="020B0604020202020204" pitchFamily="34" charset="0"/>
                <a:ea typeface="ＭＳ Ｐゴシック" panose="020B0600070205080204" pitchFamily="34" charset="-128"/>
              </a:defRPr>
            </a:lvl3pPr>
            <a:lvl4pPr marL="1200150" indent="-171450" eaLnBrk="0" hangingPunct="0">
              <a:defRPr sz="1050">
                <a:solidFill>
                  <a:schemeClr val="tx1"/>
                </a:solidFill>
                <a:latin typeface="Arial" panose="020B0604020202020204" pitchFamily="34" charset="0"/>
                <a:ea typeface="ＭＳ Ｐゴシック" panose="020B0600070205080204" pitchFamily="34" charset="-128"/>
              </a:defRPr>
            </a:lvl4pPr>
            <a:lvl5pPr marL="1543050" indent="-171450" eaLnBrk="0" hangingPunct="0">
              <a:defRPr sz="1050">
                <a:solidFill>
                  <a:schemeClr val="tx1"/>
                </a:solidFill>
                <a:latin typeface="Arial" panose="020B0604020202020204" pitchFamily="34" charset="0"/>
                <a:ea typeface="ＭＳ Ｐゴシック" panose="020B0600070205080204" pitchFamily="34" charset="-128"/>
              </a:defRPr>
            </a:lvl5pPr>
            <a:lvl6pPr marL="18859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6pPr>
            <a:lvl7pPr marL="22288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7pPr>
            <a:lvl8pPr marL="25717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8pPr>
            <a:lvl9pPr marL="2914650" indent="-171450" defTabSz="342900" eaLnBrk="0" fontAlgn="base" hangingPunct="0">
              <a:spcBef>
                <a:spcPct val="0"/>
              </a:spcBef>
              <a:spcAft>
                <a:spcPct val="0"/>
              </a:spcAft>
              <a:defRPr sz="1050">
                <a:solidFill>
                  <a:schemeClr val="tx1"/>
                </a:solidFill>
                <a:latin typeface="Arial" panose="020B0604020202020204" pitchFamily="34" charset="0"/>
                <a:ea typeface="ＭＳ Ｐゴシック" panose="020B0600070205080204" pitchFamily="34" charset="-128"/>
              </a:defRPr>
            </a:lvl9pPr>
          </a:lstStyle>
          <a:p>
            <a:pPr eaLnBrk="1" hangingPunct="1"/>
            <a:fld id="{36DFBA8F-B79A-4011-8444-03085D4A6CB3}" type="slidenum">
              <a:rPr lang="fr-FR" altLang="en-US" sz="750"/>
              <a:pPr eaLnBrk="1" hangingPunct="1"/>
              <a:t>15</a:t>
            </a:fld>
            <a:endParaRPr lang="fr-FR" altLang="en-US" sz="750"/>
          </a:p>
        </p:txBody>
      </p:sp>
      <p:graphicFrame>
        <p:nvGraphicFramePr>
          <p:cNvPr id="2" name="Objet 1"/>
          <p:cNvGraphicFramePr>
            <a:graphicFrameLocks noChangeAspect="1"/>
          </p:cNvGraphicFramePr>
          <p:nvPr>
            <p:extLst>
              <p:ext uri="{D42A27DB-BD31-4B8C-83A1-F6EECF244321}">
                <p14:modId xmlns:p14="http://schemas.microsoft.com/office/powerpoint/2010/main" val="3617444198"/>
              </p:ext>
            </p:extLst>
          </p:nvPr>
        </p:nvGraphicFramePr>
        <p:xfrm>
          <a:off x="720671" y="3095625"/>
          <a:ext cx="914400" cy="771525"/>
        </p:xfrm>
        <a:graphic>
          <a:graphicData uri="http://schemas.openxmlformats.org/presentationml/2006/ole">
            <mc:AlternateContent xmlns:mc="http://schemas.openxmlformats.org/markup-compatibility/2006">
              <mc:Choice xmlns:v="urn:schemas-microsoft-com:vml" Requires="v">
                <p:oleObj spid="_x0000_s1026" name="Worksheet" showAsIcon="1" r:id="rId3" imgW="914400" imgH="771480" progId="Excel.Sheet.12">
                  <p:embed/>
                </p:oleObj>
              </mc:Choice>
              <mc:Fallback>
                <p:oleObj name="Worksheet" showAsIcon="1" r:id="rId3" imgW="914400" imgH="771480" progId="Excel.Sheet.12">
                  <p:embed/>
                  <p:pic>
                    <p:nvPicPr>
                      <p:cNvPr id="0" name=""/>
                      <p:cNvPicPr/>
                      <p:nvPr/>
                    </p:nvPicPr>
                    <p:blipFill>
                      <a:blip r:embed="rId4"/>
                      <a:stretch>
                        <a:fillRect/>
                      </a:stretch>
                    </p:blipFill>
                    <p:spPr>
                      <a:xfrm>
                        <a:off x="720671" y="3095625"/>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74620286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normAutofit/>
          </a:bodyPr>
          <a:lstStyle/>
          <a:p>
            <a:r>
              <a:rPr lang="fr-FR" sz="2400" dirty="0" smtClean="0"/>
              <a:t>Des questions ?</a:t>
            </a:r>
            <a:endParaRPr lang="fr-FR" sz="2400" dirty="0"/>
          </a:p>
        </p:txBody>
      </p:sp>
      <p:pic>
        <p:nvPicPr>
          <p:cNvPr id="6" name="Imag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0984" y="1370734"/>
            <a:ext cx="2402032" cy="2402032"/>
          </a:xfrm>
          <a:prstGeom prst="rect">
            <a:avLst/>
          </a:prstGeom>
        </p:spPr>
      </p:pic>
    </p:spTree>
    <p:extLst>
      <p:ext uri="{BB962C8B-B14F-4D97-AF65-F5344CB8AC3E}">
        <p14:creationId xmlns:p14="http://schemas.microsoft.com/office/powerpoint/2010/main" val="2100485143"/>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plateBE_FR">
  <a:themeElements>
    <a:clrScheme name="BearingPoint Colors">
      <a:dk1>
        <a:srgbClr val="4D4F53"/>
      </a:dk1>
      <a:lt1>
        <a:sysClr val="window" lastClr="FFFFFF"/>
      </a:lt1>
      <a:dk2>
        <a:srgbClr val="D52B1E"/>
      </a:dk2>
      <a:lt2>
        <a:srgbClr val="A71930"/>
      </a:lt2>
      <a:accent1>
        <a:srgbClr val="AA546E"/>
      </a:accent1>
      <a:accent2>
        <a:srgbClr val="C68D9E"/>
      </a:accent2>
      <a:accent3>
        <a:srgbClr val="8D1B3D"/>
      </a:accent3>
      <a:accent4>
        <a:srgbClr val="D7D3C7"/>
      </a:accent4>
      <a:accent5>
        <a:srgbClr val="B7B1A9"/>
      </a:accent5>
      <a:accent6>
        <a:srgbClr val="8D817B"/>
      </a:accent6>
      <a:hlink>
        <a:srgbClr val="8D817B"/>
      </a:hlink>
      <a:folHlink>
        <a:srgbClr val="8D1B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rgbClr val="4D4F53"/>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4D4F53"/>
            </a:solidFill>
          </a:defRPr>
        </a:defPPr>
      </a:lstStyle>
      <a:style>
        <a:lnRef idx="1">
          <a:schemeClr val="accent1"/>
        </a:lnRef>
        <a:fillRef idx="3">
          <a:schemeClr val="accent1"/>
        </a:fillRef>
        <a:effectRef idx="2">
          <a:schemeClr val="accent1"/>
        </a:effectRef>
        <a:fontRef idx="minor">
          <a:schemeClr val="lt1"/>
        </a:fontRef>
      </a:style>
    </a:spDef>
    <a:lnDef>
      <a:spPr>
        <a:ln w="12700">
          <a:solidFill>
            <a:srgbClr val="FF0000"/>
          </a:solidFill>
          <a:headEnd type="none" w="med" len="med"/>
          <a:tailEnd type="triangl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sz="1200" dirty="0" smtClean="0">
            <a:solidFill>
              <a:srgbClr val="4D4F53"/>
            </a:solidFill>
          </a:defRPr>
        </a:defPPr>
      </a:lstStyle>
    </a:txDef>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f36dd47d-0b23-43fd-9b2d-c5346ffa1660">VHEKTECQ7ECW-1532981086-4829</_dlc_DocId>
    <_dlc_DocIdUrl xmlns="f36dd47d-0b23-43fd-9b2d-c5346ffa1660">
      <Url>http://projets.cbg-guinee.com/erp/_layouts/15/DocIdRedir.aspx?ID=VHEKTECQ7ECW-1532981086-4829</Url>
      <Description>VHEKTECQ7ECW-1532981086-4829</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EC8D0F09C22B4C4AB25CA30ADC8FDF91" ma:contentTypeVersion="2" ma:contentTypeDescription="Crée un document." ma:contentTypeScope="" ma:versionID="72e47ee22b0a05bccb747741f0dfd966">
  <xsd:schema xmlns:xsd="http://www.w3.org/2001/XMLSchema" xmlns:xs="http://www.w3.org/2001/XMLSchema" xmlns:p="http://schemas.microsoft.com/office/2006/metadata/properties" xmlns:ns1="http://schemas.microsoft.com/sharepoint/v3" xmlns:ns2="f36dd47d-0b23-43fd-9b2d-c5346ffa1660" xmlns:ns3="8114c5be-486c-4333-8697-9f01d178dfef" targetNamespace="http://schemas.microsoft.com/office/2006/metadata/properties" ma:root="true" ma:fieldsID="ea25618cdfce53ad0a4816dcfb004e4a" ns1:_="" ns2:_="" ns3:_="">
    <xsd:import namespace="http://schemas.microsoft.com/sharepoint/v3"/>
    <xsd:import namespace="f36dd47d-0b23-43fd-9b2d-c5346ffa1660"/>
    <xsd:import namespace="8114c5be-486c-4333-8697-9f01d178dfef"/>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Date de début de planification" ma:description="La colonne de site Date de début de planification est créée par la fonctionnalité de publication. Elle permet de spécifier les date et heure auxquelles cette page apparaîtra la première fois aux visiteurs du site." ma:internalName="PublishingStartDate">
      <xsd:simpleType>
        <xsd:restriction base="dms:Unknown"/>
      </xsd:simpleType>
    </xsd:element>
    <xsd:element name="PublishingExpirationDate" ma:index="9" nillable="true" ma:displayName="Date de fin de planification" ma:description="La colonne de site Date de fin de planification est créée par la fonctionnalité de publication. Elle permet de spécifier les date et heure auxquelles cette page n'apparaîtra plus aux visiteurs du sit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36dd47d-0b23-43fd-9b2d-c5346ffa1660" elementFormDefault="qualified">
    <xsd:import namespace="http://schemas.microsoft.com/office/2006/documentManagement/types"/>
    <xsd:import namespace="http://schemas.microsoft.com/office/infopath/2007/PartnerControls"/>
    <xsd:element name="_dlc_DocId" ma:index="10" nillable="true" ma:displayName="Valeur d’ID de document" ma:description="Valeur de l’ID de document affecté à cet élément." ma:internalName="_dlc_DocId" ma:readOnly="true">
      <xsd:simpleType>
        <xsd:restriction base="dms:Text"/>
      </xsd:simpleType>
    </xsd:element>
    <xsd:element name="_dlc_DocIdUrl" ma:index="11" nillable="true" ma:displayName="ID de document" ma:description="Lien permanent vers ce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Conserver l’ID" ma:description="Conserver l’ID lors de l’ajout."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114c5be-486c-4333-8697-9f01d178dfef" elementFormDefault="qualified">
    <xsd:import namespace="http://schemas.microsoft.com/office/2006/documentManagement/types"/>
    <xsd:import namespace="http://schemas.microsoft.com/office/infopath/2007/PartnerControls"/>
    <xsd:element name="SharedWithUsers" ma:index="13" nillable="true" ma:displayName="Partagé avec"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600DDE-CFDB-43D3-8491-F4B1A9FCBA62}"/>
</file>

<file path=customXml/itemProps2.xml><?xml version="1.0" encoding="utf-8"?>
<ds:datastoreItem xmlns:ds="http://schemas.openxmlformats.org/officeDocument/2006/customXml" ds:itemID="{6B08D313-DD74-49B0-B6A4-96BD802D9198}"/>
</file>

<file path=customXml/itemProps3.xml><?xml version="1.0" encoding="utf-8"?>
<ds:datastoreItem xmlns:ds="http://schemas.openxmlformats.org/officeDocument/2006/customXml" ds:itemID="{DFE7DD0B-0BE8-4E24-A363-4DD0A01C5DCF}"/>
</file>

<file path=customXml/itemProps4.xml><?xml version="1.0" encoding="utf-8"?>
<ds:datastoreItem xmlns:ds="http://schemas.openxmlformats.org/officeDocument/2006/customXml" ds:itemID="{08F5C96F-F109-4924-8705-BD1538B3DEAA}"/>
</file>

<file path=docProps/app.xml><?xml version="1.0" encoding="utf-8"?>
<Properties xmlns="http://schemas.openxmlformats.org/officeDocument/2006/extended-properties" xmlns:vt="http://schemas.openxmlformats.org/officeDocument/2006/docPropsVTypes">
  <Template/>
  <TotalTime>0</TotalTime>
  <Words>560</Words>
  <Application>Microsoft Office PowerPoint</Application>
  <PresentationFormat>Affichage à l'écran (16:9)</PresentationFormat>
  <Paragraphs>165</Paragraphs>
  <Slides>16</Slides>
  <Notes>7</Notes>
  <HiddenSlides>0</HiddenSlides>
  <MMClips>0</MMClips>
  <ScaleCrop>false</ScaleCrop>
  <HeadingPairs>
    <vt:vector size="8" baseType="variant">
      <vt:variant>
        <vt:lpstr>Polices utilisées</vt:lpstr>
      </vt:variant>
      <vt:variant>
        <vt:i4>7</vt:i4>
      </vt:variant>
      <vt:variant>
        <vt:lpstr>Thème</vt:lpstr>
      </vt:variant>
      <vt:variant>
        <vt:i4>1</vt:i4>
      </vt:variant>
      <vt:variant>
        <vt:lpstr>Serveurs OLE incorporés</vt:lpstr>
      </vt:variant>
      <vt:variant>
        <vt:i4>1</vt:i4>
      </vt:variant>
      <vt:variant>
        <vt:lpstr>Titres des diapositives</vt:lpstr>
      </vt:variant>
      <vt:variant>
        <vt:i4>16</vt:i4>
      </vt:variant>
    </vt:vector>
  </HeadingPairs>
  <TitlesOfParts>
    <vt:vector size="25" baseType="lpstr">
      <vt:lpstr>ＭＳ Ｐゴシック</vt:lpstr>
      <vt:lpstr>Arial</vt:lpstr>
      <vt:lpstr>Arial Narrow</vt:lpstr>
      <vt:lpstr>Calibri</vt:lpstr>
      <vt:lpstr>Courier New</vt:lpstr>
      <vt:lpstr>Verdana</vt:lpstr>
      <vt:lpstr>Wingdings</vt:lpstr>
      <vt:lpstr>TemplateBE_FR</vt:lpstr>
      <vt:lpstr>Microsoft Excel Worksheet</vt:lpstr>
      <vt:lpstr>Kamsar, le 19.01.2016</vt:lpstr>
      <vt:lpstr>Présentation PowerPoint</vt:lpstr>
      <vt:lpstr>Objectifs de la formation</vt:lpstr>
      <vt:lpstr>Agenda : 2h00</vt:lpstr>
      <vt:lpstr>Présentation PowerPoint</vt:lpstr>
      <vt:lpstr>Présentation PowerPoint</vt:lpstr>
      <vt:lpstr>Mode opératoire Présentation du mode opératoire dans SAP</vt:lpstr>
      <vt:lpstr>Mode opératoire dans SAP pour la gestion des données de base des comptes généraux 1/5 </vt:lpstr>
      <vt:lpstr>Mode opératoire dans SAP pour la gestion des données de base des comptes généraux 2/5 </vt:lpstr>
      <vt:lpstr>Mode opératoire dans SAP pour la gestion des données de base des comptes généraux 3/5 </vt:lpstr>
      <vt:lpstr>Mode opératoire dans SAP pour la gestion des données de base des comptes généraux 4/5 </vt:lpstr>
      <vt:lpstr>Mode opératoire dans SAP pour la gestion des données de base des comptes généraux 5/5 </vt:lpstr>
      <vt:lpstr>Présentation PowerPoint</vt:lpstr>
      <vt:lpstr>Présentation PowerPoint</vt:lpstr>
      <vt:lpstr>Synthèse</vt:lpstr>
      <vt:lpstr>Des questions ?</vt:lpstr>
    </vt:vector>
  </TitlesOfParts>
  <Company>FutureBrand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CBG - Comité Projet</dc:title>
  <dc:creator>BearingPoint</dc:creator>
  <cp:lastModifiedBy>Ogoundele, Jean Yves (CE)</cp:lastModifiedBy>
  <cp:revision>3872</cp:revision>
  <cp:lastPrinted>2016-01-18T10:07:55Z</cp:lastPrinted>
  <dcterms:created xsi:type="dcterms:W3CDTF">2012-05-17T14:14:37Z</dcterms:created>
  <dcterms:modified xsi:type="dcterms:W3CDTF">2016-01-24T12:42:17Z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0x010100EC8D0F09C22B4C4AB25CA30ADC8FDF91</vt:lpwstr>
  </property>
  <property fmtid="{D5CDD505-2E9C-101B-9397-08002B2CF9AE}" pid="3" name="Order">
    <vt:r8>9600</vt:r8>
  </property>
  <property fmtid="{D5CDD505-2E9C-101B-9397-08002B2CF9AE}" pid="4" name="_dlc_DocIdItemGuid">
    <vt:lpwstr>2cd089ba-92b3-4c4d-978a-667c22d5c75b</vt:lpwstr>
  </property>
</Properties>
</file>