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slides/slide25.xml" ContentType="application/vnd.openxmlformats-officedocument.presentationml.slide+xml"/>
  <Override PartName="/ppt/slides/slide26.xml" ContentType="application/vnd.openxmlformats-officedocument.presentationml.slide+xml"/>
  <Override PartName="/ppt/presentation.xml" ContentType="application/vnd.openxmlformats-officedocument.presentationml.presentation.main+xml"/>
  <Override PartName="/ppt/slides/slide24.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3.xml" ContentType="application/vnd.openxmlformats-officedocument.presentationml.slide+xml"/>
  <Override PartName="/ppt/slides/slide23.xml" ContentType="application/vnd.openxmlformats-officedocument.presentationml.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slideMasters/slideMaster1.xml" ContentType="application/vnd.openxmlformats-officedocument.presentationml.slideMaster+xml"/>
  <Override PartName="/ppt/notesSlides/notesSlide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1.xml" ContentType="application/vnd.openxmlformats-officedocument.presentationml.notesSlid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xml" ContentType="application/vnd.openxmlformats-officedocument.presentationml.slideLayout+xml"/>
  <Override PartName="/ppt/theme/theme2.xml" ContentType="application/vnd.openxmlformats-officedocument.them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3.xml" ContentType="application/vnd.openxmlformats-officedocument.customXmlProperties+xml"/>
  <Override PartName="/customXml/itemProps2.xml" ContentType="application/vnd.openxmlformats-officedocument.customXmlProperties+xml"/>
  <Override PartName="/customXml/itemProps1.xml" ContentType="application/vnd.openxmlformats-officedocument.customXml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21" r:id="rId4"/>
  </p:sldMasterIdLst>
  <p:notesMasterIdLst>
    <p:notesMasterId r:id="rId31"/>
  </p:notesMasterIdLst>
  <p:handoutMasterIdLst>
    <p:handoutMasterId r:id="rId32"/>
  </p:handoutMasterIdLst>
  <p:sldIdLst>
    <p:sldId id="685" r:id="rId5"/>
    <p:sldId id="686" r:id="rId6"/>
    <p:sldId id="687" r:id="rId7"/>
    <p:sldId id="723" r:id="rId8"/>
    <p:sldId id="691" r:id="rId9"/>
    <p:sldId id="692" r:id="rId10"/>
    <p:sldId id="693" r:id="rId11"/>
    <p:sldId id="694" r:id="rId12"/>
    <p:sldId id="724" r:id="rId13"/>
    <p:sldId id="729" r:id="rId14"/>
    <p:sldId id="731" r:id="rId15"/>
    <p:sldId id="730" r:id="rId16"/>
    <p:sldId id="696" r:id="rId17"/>
    <p:sldId id="733" r:id="rId18"/>
    <p:sldId id="740" r:id="rId19"/>
    <p:sldId id="739" r:id="rId20"/>
    <p:sldId id="741" r:id="rId21"/>
    <p:sldId id="742" r:id="rId22"/>
    <p:sldId id="699" r:id="rId23"/>
    <p:sldId id="743" r:id="rId24"/>
    <p:sldId id="744" r:id="rId25"/>
    <p:sldId id="745" r:id="rId26"/>
    <p:sldId id="738" r:id="rId27"/>
    <p:sldId id="725" r:id="rId28"/>
    <p:sldId id="710" r:id="rId29"/>
    <p:sldId id="728" r:id="rId30"/>
  </p:sldIdLst>
  <p:sldSz cx="9144000" cy="5143500" type="screen16x9"/>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49">
          <p15:clr>
            <a:srgbClr val="A4A3A4"/>
          </p15:clr>
        </p15:guide>
        <p15:guide id="2" orient="horz" pos="1880">
          <p15:clr>
            <a:srgbClr val="A4A3A4"/>
          </p15:clr>
        </p15:guide>
        <p15:guide id="3" orient="horz" pos="89">
          <p15:clr>
            <a:srgbClr val="A4A3A4"/>
          </p15:clr>
        </p15:guide>
        <p15:guide id="4" orient="horz" pos="480">
          <p15:clr>
            <a:srgbClr val="A4A3A4"/>
          </p15:clr>
        </p15:guide>
        <p15:guide id="5" orient="horz" pos="719">
          <p15:clr>
            <a:srgbClr val="A4A3A4"/>
          </p15:clr>
        </p15:guide>
        <p15:guide id="6" pos="178">
          <p15:clr>
            <a:srgbClr val="A4A3A4"/>
          </p15:clr>
        </p15:guide>
        <p15:guide id="7" pos="2881">
          <p15:clr>
            <a:srgbClr val="A4A3A4"/>
          </p15:clr>
        </p15:guide>
        <p15:guide id="8" pos="5575">
          <p15:clr>
            <a:srgbClr val="A4A3A4"/>
          </p15:clr>
        </p15:guide>
        <p15:guide id="9" orient="horz" pos="16">
          <p15:clr>
            <a:srgbClr val="A4A3A4"/>
          </p15:clr>
        </p15:guide>
        <p15:guide id="10" orient="horz" pos="671">
          <p15:clr>
            <a:srgbClr val="A4A3A4"/>
          </p15:clr>
        </p15:guide>
      </p15:sldGuideLst>
    </p:ext>
    <p:ext uri="{2D200454-40CA-4A62-9FC3-DE9A4176ACB9}">
      <p15:notesGuideLst xmlns:p15="http://schemas.microsoft.com/office/powerpoint/2012/main">
        <p15:guide id="1" orient="horz" pos="2928" userDrawn="1">
          <p15:clr>
            <a:srgbClr val="A4A3A4"/>
          </p15:clr>
        </p15:guide>
        <p15:guide id="2" pos="2190" userDrawn="1">
          <p15:clr>
            <a:srgbClr val="A4A3A4"/>
          </p15:clr>
        </p15:guide>
        <p15:guide id="3" pos="2209"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F5050"/>
    <a:srgbClr val="004376"/>
    <a:srgbClr val="F3F4FF"/>
    <a:srgbClr val="D3D5FF"/>
    <a:srgbClr val="A7ABFF"/>
    <a:srgbClr val="C5C8FF"/>
    <a:srgbClr val="4F81BD"/>
    <a:srgbClr val="E7E8FF"/>
    <a:srgbClr val="4C9BD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4B1156A-380E-4F78-BDF5-A606A8083BF9}" styleName="Style moyen 4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Style moyen 4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Style moyen 4 - Accentuation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D083AE6-46FA-4A59-8FB0-9F97EB10719F}" styleName="Style léger 3 - Accentuation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Style léger 2 - Accentuation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7AC3CCA-C797-4891-BE02-D94E43425B78}" styleName="Style moyen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Style léger 1 - Accentuation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Style léger 1 - Accentuation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062" autoAdjust="0"/>
    <p:restoredTop sz="95565" autoAdjust="0"/>
  </p:normalViewPr>
  <p:slideViewPr>
    <p:cSldViewPr snapToGrid="0" snapToObjects="1">
      <p:cViewPr varScale="1">
        <p:scale>
          <a:sx n="119" d="100"/>
          <a:sy n="119" d="100"/>
        </p:scale>
        <p:origin x="174" y="96"/>
      </p:cViewPr>
      <p:guideLst>
        <p:guide orient="horz" pos="3049"/>
        <p:guide orient="horz" pos="1880"/>
        <p:guide orient="horz" pos="89"/>
        <p:guide orient="horz" pos="480"/>
        <p:guide orient="horz" pos="719"/>
        <p:guide pos="178"/>
        <p:guide pos="2881"/>
        <p:guide pos="5575"/>
        <p:guide orient="horz" pos="16"/>
        <p:guide orient="horz" pos="67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20" d="100"/>
        <a:sy n="120" d="100"/>
      </p:scale>
      <p:origin x="0" y="10746"/>
    </p:cViewPr>
  </p:sorterViewPr>
  <p:notesViewPr>
    <p:cSldViewPr snapToGrid="0" snapToObjects="1" showGuides="1">
      <p:cViewPr varScale="1">
        <p:scale>
          <a:sx n="50" d="100"/>
          <a:sy n="50" d="100"/>
        </p:scale>
        <p:origin x="-2952" y="-96"/>
      </p:cViewPr>
      <p:guideLst>
        <p:guide orient="horz" pos="2928"/>
        <p:guide pos="2190"/>
        <p:guide pos="2209"/>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37" Type="http://schemas.openxmlformats.org/officeDocument/2006/relationships/customXml" Target="../customXml/item4.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2"/>
            <a:ext cx="3037840" cy="464820"/>
          </a:xfrm>
          <a:prstGeom prst="rect">
            <a:avLst/>
          </a:prstGeom>
        </p:spPr>
        <p:txBody>
          <a:bodyPr vert="horz" lIns="90577" tIns="45289" rIns="90577" bIns="45289" rtlCol="0"/>
          <a:lstStyle>
            <a:lvl1pPr algn="l">
              <a:defRPr sz="1200"/>
            </a:lvl1pPr>
          </a:lstStyle>
          <a:p>
            <a:endParaRPr lang="en-US" dirty="0"/>
          </a:p>
        </p:txBody>
      </p:sp>
      <p:sp>
        <p:nvSpPr>
          <p:cNvPr id="3" name="Date Placeholder 2"/>
          <p:cNvSpPr>
            <a:spLocks noGrp="1"/>
          </p:cNvSpPr>
          <p:nvPr>
            <p:ph type="dt" sz="quarter" idx="1"/>
          </p:nvPr>
        </p:nvSpPr>
        <p:spPr>
          <a:xfrm>
            <a:off x="3970940" y="2"/>
            <a:ext cx="3037840" cy="464820"/>
          </a:xfrm>
          <a:prstGeom prst="rect">
            <a:avLst/>
          </a:prstGeom>
        </p:spPr>
        <p:txBody>
          <a:bodyPr vert="horz" lIns="90577" tIns="45289" rIns="90577" bIns="45289" rtlCol="0"/>
          <a:lstStyle>
            <a:lvl1pPr algn="r">
              <a:defRPr sz="1200"/>
            </a:lvl1pPr>
          </a:lstStyle>
          <a:p>
            <a:fld id="{4FCF4903-D1A4-F14A-B207-A0D2CC9D4B8B}" type="datetimeFigureOut">
              <a:rPr lang="en-US" smtClean="0"/>
              <a:t>12/21/2015</a:t>
            </a:fld>
            <a:endParaRPr lang="en-US" dirty="0"/>
          </a:p>
        </p:txBody>
      </p:sp>
      <p:sp>
        <p:nvSpPr>
          <p:cNvPr id="4" name="Footer Placeholder 3"/>
          <p:cNvSpPr>
            <a:spLocks noGrp="1"/>
          </p:cNvSpPr>
          <p:nvPr>
            <p:ph type="ftr" sz="quarter" idx="2"/>
          </p:nvPr>
        </p:nvSpPr>
        <p:spPr>
          <a:xfrm>
            <a:off x="1" y="8829968"/>
            <a:ext cx="3037840" cy="464820"/>
          </a:xfrm>
          <a:prstGeom prst="rect">
            <a:avLst/>
          </a:prstGeom>
        </p:spPr>
        <p:txBody>
          <a:bodyPr vert="horz" lIns="90577" tIns="45289" rIns="90577" bIns="45289"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40" y="8829968"/>
            <a:ext cx="3037840" cy="464820"/>
          </a:xfrm>
          <a:prstGeom prst="rect">
            <a:avLst/>
          </a:prstGeom>
        </p:spPr>
        <p:txBody>
          <a:bodyPr vert="horz" lIns="90577" tIns="45289" rIns="90577" bIns="45289" rtlCol="0" anchor="b"/>
          <a:lstStyle>
            <a:lvl1pPr algn="r">
              <a:defRPr sz="1200"/>
            </a:lvl1pPr>
          </a:lstStyle>
          <a:p>
            <a:fld id="{B5DD393E-432A-C040-A9FC-9C0644B7F7DE}" type="slidenum">
              <a:rPr lang="en-US" smtClean="0"/>
              <a:t>‹N°›</a:t>
            </a:fld>
            <a:endParaRPr lang="en-US" dirty="0"/>
          </a:p>
        </p:txBody>
      </p:sp>
    </p:spTree>
    <p:extLst>
      <p:ext uri="{BB962C8B-B14F-4D97-AF65-F5344CB8AC3E}">
        <p14:creationId xmlns:p14="http://schemas.microsoft.com/office/powerpoint/2010/main" val="13172957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2"/>
            <a:ext cx="3037840" cy="464820"/>
          </a:xfrm>
          <a:prstGeom prst="rect">
            <a:avLst/>
          </a:prstGeom>
        </p:spPr>
        <p:txBody>
          <a:bodyPr vert="horz" lIns="90577" tIns="45289" rIns="90577" bIns="45289" rtlCol="0"/>
          <a:lstStyle>
            <a:lvl1pPr algn="l">
              <a:defRPr sz="1200"/>
            </a:lvl1pPr>
          </a:lstStyle>
          <a:p>
            <a:endParaRPr lang="de-DE" dirty="0"/>
          </a:p>
        </p:txBody>
      </p:sp>
      <p:sp>
        <p:nvSpPr>
          <p:cNvPr id="3" name="Datumsplatzhalter 2"/>
          <p:cNvSpPr>
            <a:spLocks noGrp="1"/>
          </p:cNvSpPr>
          <p:nvPr>
            <p:ph type="dt" idx="1"/>
          </p:nvPr>
        </p:nvSpPr>
        <p:spPr>
          <a:xfrm>
            <a:off x="3970940" y="2"/>
            <a:ext cx="3037840" cy="464820"/>
          </a:xfrm>
          <a:prstGeom prst="rect">
            <a:avLst/>
          </a:prstGeom>
        </p:spPr>
        <p:txBody>
          <a:bodyPr vert="horz" lIns="90577" tIns="45289" rIns="90577" bIns="45289" rtlCol="0"/>
          <a:lstStyle>
            <a:lvl1pPr algn="r">
              <a:defRPr sz="1200"/>
            </a:lvl1pPr>
          </a:lstStyle>
          <a:p>
            <a:fld id="{BC5B4241-C98F-4766-9E25-5F8403374385}" type="datetimeFigureOut">
              <a:rPr lang="de-DE" smtClean="0"/>
              <a:t>21.12.2015</a:t>
            </a:fld>
            <a:endParaRPr lang="de-DE" dirty="0"/>
          </a:p>
        </p:txBody>
      </p:sp>
      <p:sp>
        <p:nvSpPr>
          <p:cNvPr id="4" name="Folienbildplatzhalter 3"/>
          <p:cNvSpPr>
            <a:spLocks noGrp="1" noRot="1" noChangeAspect="1"/>
          </p:cNvSpPr>
          <p:nvPr>
            <p:ph type="sldImg" idx="2"/>
          </p:nvPr>
        </p:nvSpPr>
        <p:spPr>
          <a:xfrm>
            <a:off x="406400" y="695325"/>
            <a:ext cx="6197600" cy="3487738"/>
          </a:xfrm>
          <a:prstGeom prst="rect">
            <a:avLst/>
          </a:prstGeom>
          <a:noFill/>
          <a:ln w="12700">
            <a:solidFill>
              <a:prstClr val="black"/>
            </a:solidFill>
          </a:ln>
        </p:spPr>
        <p:txBody>
          <a:bodyPr vert="horz" lIns="90577" tIns="45289" rIns="90577" bIns="45289" rtlCol="0" anchor="ctr"/>
          <a:lstStyle/>
          <a:p>
            <a:endParaRPr lang="de-DE" dirty="0"/>
          </a:p>
        </p:txBody>
      </p:sp>
      <p:sp>
        <p:nvSpPr>
          <p:cNvPr id="5" name="Notizenplatzhalter 4"/>
          <p:cNvSpPr>
            <a:spLocks noGrp="1"/>
          </p:cNvSpPr>
          <p:nvPr>
            <p:ph type="body" sz="quarter" idx="3"/>
          </p:nvPr>
        </p:nvSpPr>
        <p:spPr>
          <a:xfrm>
            <a:off x="701041" y="4415790"/>
            <a:ext cx="5608320" cy="4183380"/>
          </a:xfrm>
          <a:prstGeom prst="rect">
            <a:avLst/>
          </a:prstGeom>
        </p:spPr>
        <p:txBody>
          <a:bodyPr vert="horz" lIns="90577" tIns="45289" rIns="90577" bIns="45289" rtlCol="0"/>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6" name="Fußzeilenplatzhalter 5"/>
          <p:cNvSpPr>
            <a:spLocks noGrp="1"/>
          </p:cNvSpPr>
          <p:nvPr>
            <p:ph type="ftr" sz="quarter" idx="4"/>
          </p:nvPr>
        </p:nvSpPr>
        <p:spPr>
          <a:xfrm>
            <a:off x="1" y="8829968"/>
            <a:ext cx="3037840" cy="464820"/>
          </a:xfrm>
          <a:prstGeom prst="rect">
            <a:avLst/>
          </a:prstGeom>
        </p:spPr>
        <p:txBody>
          <a:bodyPr vert="horz" lIns="90577" tIns="45289" rIns="90577" bIns="45289" rtlCol="0" anchor="b"/>
          <a:lstStyle>
            <a:lvl1pPr algn="l">
              <a:defRPr sz="1200"/>
            </a:lvl1pPr>
          </a:lstStyle>
          <a:p>
            <a:endParaRPr lang="de-DE" dirty="0"/>
          </a:p>
        </p:txBody>
      </p:sp>
      <p:sp>
        <p:nvSpPr>
          <p:cNvPr id="7" name="Foliennummernplatzhalter 6"/>
          <p:cNvSpPr>
            <a:spLocks noGrp="1"/>
          </p:cNvSpPr>
          <p:nvPr>
            <p:ph type="sldNum" sz="quarter" idx="5"/>
          </p:nvPr>
        </p:nvSpPr>
        <p:spPr>
          <a:xfrm>
            <a:off x="3970940" y="8829968"/>
            <a:ext cx="3037840" cy="464820"/>
          </a:xfrm>
          <a:prstGeom prst="rect">
            <a:avLst/>
          </a:prstGeom>
        </p:spPr>
        <p:txBody>
          <a:bodyPr vert="horz" lIns="90577" tIns="45289" rIns="90577" bIns="45289" rtlCol="0" anchor="b"/>
          <a:lstStyle>
            <a:lvl1pPr algn="r">
              <a:defRPr sz="1200"/>
            </a:lvl1pPr>
          </a:lstStyle>
          <a:p>
            <a:fld id="{3C26ED65-54EF-4DE1-A434-72CD553BB447}" type="slidenum">
              <a:rPr lang="de-DE" smtClean="0"/>
              <a:t>‹N°›</a:t>
            </a:fld>
            <a:endParaRPr lang="de-DE" dirty="0"/>
          </a:p>
        </p:txBody>
      </p:sp>
    </p:spTree>
    <p:extLst>
      <p:ext uri="{BB962C8B-B14F-4D97-AF65-F5344CB8AC3E}">
        <p14:creationId xmlns:p14="http://schemas.microsoft.com/office/powerpoint/2010/main" val="35621871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6041" indent="-283093" eaLnBrk="0" hangingPunct="0">
              <a:defRPr sz="1400">
                <a:solidFill>
                  <a:schemeClr val="tx1"/>
                </a:solidFill>
                <a:latin typeface="Arial" panose="020B0604020202020204" pitchFamily="34" charset="0"/>
                <a:ea typeface="ＭＳ Ｐゴシック" panose="020B0600070205080204" pitchFamily="34" charset="-128"/>
              </a:defRPr>
            </a:lvl2pPr>
            <a:lvl3pPr marL="1132370" indent="-226474" eaLnBrk="0" hangingPunct="0">
              <a:defRPr sz="1400">
                <a:solidFill>
                  <a:schemeClr val="tx1"/>
                </a:solidFill>
                <a:latin typeface="Arial" panose="020B0604020202020204" pitchFamily="34" charset="0"/>
                <a:ea typeface="ＭＳ Ｐゴシック" panose="020B0600070205080204" pitchFamily="34" charset="-128"/>
              </a:defRPr>
            </a:lvl3pPr>
            <a:lvl4pPr marL="1585318" indent="-226474" eaLnBrk="0" hangingPunct="0">
              <a:defRPr sz="1400">
                <a:solidFill>
                  <a:schemeClr val="tx1"/>
                </a:solidFill>
                <a:latin typeface="Arial" panose="020B0604020202020204" pitchFamily="34" charset="0"/>
                <a:ea typeface="ＭＳ Ｐゴシック" panose="020B0600070205080204" pitchFamily="34" charset="-128"/>
              </a:defRPr>
            </a:lvl4pPr>
            <a:lvl5pPr marL="2038266" indent="-226474" eaLnBrk="0" hangingPunct="0">
              <a:defRPr sz="1400">
                <a:solidFill>
                  <a:schemeClr val="tx1"/>
                </a:solidFill>
                <a:latin typeface="Arial" panose="020B0604020202020204" pitchFamily="34" charset="0"/>
                <a:ea typeface="ＭＳ Ｐゴシック" panose="020B0600070205080204" pitchFamily="34" charset="-128"/>
              </a:defRPr>
            </a:lvl5pPr>
            <a:lvl6pPr marL="2491214"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4162"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7110"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50058"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0DC2D5F1-E8F7-4A35-8262-7AB551301205}" type="slidenum">
              <a:rPr lang="en-US" altLang="en-US" sz="1200"/>
              <a:pPr/>
              <a:t>1</a:t>
            </a:fld>
            <a:endParaRPr lang="en-US" altLang="en-US" sz="1200"/>
          </a:p>
        </p:txBody>
      </p:sp>
    </p:spTree>
    <p:extLst>
      <p:ext uri="{BB962C8B-B14F-4D97-AF65-F5344CB8AC3E}">
        <p14:creationId xmlns:p14="http://schemas.microsoft.com/office/powerpoint/2010/main" val="12666472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6041" indent="-283093" eaLnBrk="0" hangingPunct="0">
              <a:defRPr sz="1400">
                <a:solidFill>
                  <a:schemeClr val="tx1"/>
                </a:solidFill>
                <a:latin typeface="Arial" panose="020B0604020202020204" pitchFamily="34" charset="0"/>
                <a:ea typeface="ＭＳ Ｐゴシック" panose="020B0600070205080204" pitchFamily="34" charset="-128"/>
              </a:defRPr>
            </a:lvl2pPr>
            <a:lvl3pPr marL="1132370" indent="-226474" eaLnBrk="0" hangingPunct="0">
              <a:defRPr sz="1400">
                <a:solidFill>
                  <a:schemeClr val="tx1"/>
                </a:solidFill>
                <a:latin typeface="Arial" panose="020B0604020202020204" pitchFamily="34" charset="0"/>
                <a:ea typeface="ＭＳ Ｐゴシック" panose="020B0600070205080204" pitchFamily="34" charset="-128"/>
              </a:defRPr>
            </a:lvl3pPr>
            <a:lvl4pPr marL="1585318" indent="-226474" eaLnBrk="0" hangingPunct="0">
              <a:defRPr sz="1400">
                <a:solidFill>
                  <a:schemeClr val="tx1"/>
                </a:solidFill>
                <a:latin typeface="Arial" panose="020B0604020202020204" pitchFamily="34" charset="0"/>
                <a:ea typeface="ＭＳ Ｐゴシック" panose="020B0600070205080204" pitchFamily="34" charset="-128"/>
              </a:defRPr>
            </a:lvl4pPr>
            <a:lvl5pPr marL="2038266" indent="-226474" eaLnBrk="0" hangingPunct="0">
              <a:defRPr sz="1400">
                <a:solidFill>
                  <a:schemeClr val="tx1"/>
                </a:solidFill>
                <a:latin typeface="Arial" panose="020B0604020202020204" pitchFamily="34" charset="0"/>
                <a:ea typeface="ＭＳ Ｐゴシック" panose="020B0600070205080204" pitchFamily="34" charset="-128"/>
              </a:defRPr>
            </a:lvl5pPr>
            <a:lvl6pPr marL="2491214"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4162"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7110"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50058"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2</a:t>
            </a:fld>
            <a:endParaRPr lang="en-US" altLang="en-US" sz="1200"/>
          </a:p>
        </p:txBody>
      </p:sp>
    </p:spTree>
    <p:extLst>
      <p:ext uri="{BB962C8B-B14F-4D97-AF65-F5344CB8AC3E}">
        <p14:creationId xmlns:p14="http://schemas.microsoft.com/office/powerpoint/2010/main" val="3885510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5018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6041" indent="-283093" eaLnBrk="0" hangingPunct="0">
              <a:defRPr sz="1400">
                <a:solidFill>
                  <a:schemeClr val="tx1"/>
                </a:solidFill>
                <a:latin typeface="Arial" panose="020B0604020202020204" pitchFamily="34" charset="0"/>
                <a:ea typeface="ＭＳ Ｐゴシック" panose="020B0600070205080204" pitchFamily="34" charset="-128"/>
              </a:defRPr>
            </a:lvl2pPr>
            <a:lvl3pPr marL="1132370" indent="-226474" eaLnBrk="0" hangingPunct="0">
              <a:defRPr sz="1400">
                <a:solidFill>
                  <a:schemeClr val="tx1"/>
                </a:solidFill>
                <a:latin typeface="Arial" panose="020B0604020202020204" pitchFamily="34" charset="0"/>
                <a:ea typeface="ＭＳ Ｐゴシック" panose="020B0600070205080204" pitchFamily="34" charset="-128"/>
              </a:defRPr>
            </a:lvl3pPr>
            <a:lvl4pPr marL="1585318" indent="-226474" eaLnBrk="0" hangingPunct="0">
              <a:defRPr sz="1400">
                <a:solidFill>
                  <a:schemeClr val="tx1"/>
                </a:solidFill>
                <a:latin typeface="Arial" panose="020B0604020202020204" pitchFamily="34" charset="0"/>
                <a:ea typeface="ＭＳ Ｐゴシック" panose="020B0600070205080204" pitchFamily="34" charset="-128"/>
              </a:defRPr>
            </a:lvl4pPr>
            <a:lvl5pPr marL="2038266" indent="-226474" eaLnBrk="0" hangingPunct="0">
              <a:defRPr sz="1400">
                <a:solidFill>
                  <a:schemeClr val="tx1"/>
                </a:solidFill>
                <a:latin typeface="Arial" panose="020B0604020202020204" pitchFamily="34" charset="0"/>
                <a:ea typeface="ＭＳ Ｐゴシック" panose="020B0600070205080204" pitchFamily="34" charset="-128"/>
              </a:defRPr>
            </a:lvl5pPr>
            <a:lvl6pPr marL="2491214"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4162"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7110"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50058"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B9D49712-5491-4315-B1C4-B0196B1BBCDF}" type="slidenum">
              <a:rPr lang="en-US" altLang="en-US" sz="1200"/>
              <a:pPr/>
              <a:t>3</a:t>
            </a:fld>
            <a:endParaRPr lang="en-US" altLang="en-US" sz="1200"/>
          </a:p>
        </p:txBody>
      </p:sp>
    </p:spTree>
    <p:extLst>
      <p:ext uri="{BB962C8B-B14F-4D97-AF65-F5344CB8AC3E}">
        <p14:creationId xmlns:p14="http://schemas.microsoft.com/office/powerpoint/2010/main" val="2112702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6041" indent="-283093" eaLnBrk="0" hangingPunct="0">
              <a:defRPr sz="1400">
                <a:solidFill>
                  <a:schemeClr val="tx1"/>
                </a:solidFill>
                <a:latin typeface="Arial" panose="020B0604020202020204" pitchFamily="34" charset="0"/>
                <a:ea typeface="ＭＳ Ｐゴシック" panose="020B0600070205080204" pitchFamily="34" charset="-128"/>
              </a:defRPr>
            </a:lvl2pPr>
            <a:lvl3pPr marL="1132370" indent="-226474" eaLnBrk="0" hangingPunct="0">
              <a:defRPr sz="1400">
                <a:solidFill>
                  <a:schemeClr val="tx1"/>
                </a:solidFill>
                <a:latin typeface="Arial" panose="020B0604020202020204" pitchFamily="34" charset="0"/>
                <a:ea typeface="ＭＳ Ｐゴシック" panose="020B0600070205080204" pitchFamily="34" charset="-128"/>
              </a:defRPr>
            </a:lvl3pPr>
            <a:lvl4pPr marL="1585318" indent="-226474" eaLnBrk="0" hangingPunct="0">
              <a:defRPr sz="1400">
                <a:solidFill>
                  <a:schemeClr val="tx1"/>
                </a:solidFill>
                <a:latin typeface="Arial" panose="020B0604020202020204" pitchFamily="34" charset="0"/>
                <a:ea typeface="ＭＳ Ｐゴシック" panose="020B0600070205080204" pitchFamily="34" charset="-128"/>
              </a:defRPr>
            </a:lvl4pPr>
            <a:lvl5pPr marL="2038266" indent="-226474" eaLnBrk="0" hangingPunct="0">
              <a:defRPr sz="1400">
                <a:solidFill>
                  <a:schemeClr val="tx1"/>
                </a:solidFill>
                <a:latin typeface="Arial" panose="020B0604020202020204" pitchFamily="34" charset="0"/>
                <a:ea typeface="ＭＳ Ｐゴシック" panose="020B0600070205080204" pitchFamily="34" charset="-128"/>
              </a:defRPr>
            </a:lvl5pPr>
            <a:lvl6pPr marL="2491214"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4162"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7110"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50058"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4</a:t>
            </a:fld>
            <a:endParaRPr lang="en-US" altLang="en-US" sz="1200"/>
          </a:p>
        </p:txBody>
      </p:sp>
    </p:spTree>
    <p:extLst>
      <p:ext uri="{BB962C8B-B14F-4D97-AF65-F5344CB8AC3E}">
        <p14:creationId xmlns:p14="http://schemas.microsoft.com/office/powerpoint/2010/main" val="2207490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6041" indent="-283093" eaLnBrk="0" hangingPunct="0">
              <a:defRPr sz="1400">
                <a:solidFill>
                  <a:schemeClr val="tx1"/>
                </a:solidFill>
                <a:latin typeface="Arial" panose="020B0604020202020204" pitchFamily="34" charset="0"/>
                <a:ea typeface="ＭＳ Ｐゴシック" panose="020B0600070205080204" pitchFamily="34" charset="-128"/>
              </a:defRPr>
            </a:lvl2pPr>
            <a:lvl3pPr marL="1132370" indent="-226474" eaLnBrk="0" hangingPunct="0">
              <a:defRPr sz="1400">
                <a:solidFill>
                  <a:schemeClr val="tx1"/>
                </a:solidFill>
                <a:latin typeface="Arial" panose="020B0604020202020204" pitchFamily="34" charset="0"/>
                <a:ea typeface="ＭＳ Ｐゴシック" panose="020B0600070205080204" pitchFamily="34" charset="-128"/>
              </a:defRPr>
            </a:lvl3pPr>
            <a:lvl4pPr marL="1585318" indent="-226474" eaLnBrk="0" hangingPunct="0">
              <a:defRPr sz="1400">
                <a:solidFill>
                  <a:schemeClr val="tx1"/>
                </a:solidFill>
                <a:latin typeface="Arial" panose="020B0604020202020204" pitchFamily="34" charset="0"/>
                <a:ea typeface="ＭＳ Ｐゴシック" panose="020B0600070205080204" pitchFamily="34" charset="-128"/>
              </a:defRPr>
            </a:lvl4pPr>
            <a:lvl5pPr marL="2038266" indent="-226474" eaLnBrk="0" hangingPunct="0">
              <a:defRPr sz="1400">
                <a:solidFill>
                  <a:schemeClr val="tx1"/>
                </a:solidFill>
                <a:latin typeface="Arial" panose="020B0604020202020204" pitchFamily="34" charset="0"/>
                <a:ea typeface="ＭＳ Ｐゴシック" panose="020B0600070205080204" pitchFamily="34" charset="-128"/>
              </a:defRPr>
            </a:lvl5pPr>
            <a:lvl6pPr marL="2491214"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4162"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7110"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50058"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9</a:t>
            </a:fld>
            <a:endParaRPr lang="en-US" altLang="en-US" sz="1200"/>
          </a:p>
        </p:txBody>
      </p:sp>
    </p:spTree>
    <p:extLst>
      <p:ext uri="{BB962C8B-B14F-4D97-AF65-F5344CB8AC3E}">
        <p14:creationId xmlns:p14="http://schemas.microsoft.com/office/powerpoint/2010/main" val="20876117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7"/>
          <p:cNvSpPr>
            <a:spLocks noGrp="1" noChangeArrowheads="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6041" indent="-283093" eaLnBrk="0" hangingPunct="0">
              <a:defRPr sz="1400">
                <a:solidFill>
                  <a:schemeClr val="tx1"/>
                </a:solidFill>
                <a:latin typeface="Arial" panose="020B0604020202020204" pitchFamily="34" charset="0"/>
                <a:ea typeface="ＭＳ Ｐゴシック" panose="020B0600070205080204" pitchFamily="34" charset="-128"/>
              </a:defRPr>
            </a:lvl2pPr>
            <a:lvl3pPr marL="1132370" indent="-226474" eaLnBrk="0" hangingPunct="0">
              <a:defRPr sz="1400">
                <a:solidFill>
                  <a:schemeClr val="tx1"/>
                </a:solidFill>
                <a:latin typeface="Arial" panose="020B0604020202020204" pitchFamily="34" charset="0"/>
                <a:ea typeface="ＭＳ Ｐゴシック" panose="020B0600070205080204" pitchFamily="34" charset="-128"/>
              </a:defRPr>
            </a:lvl3pPr>
            <a:lvl4pPr marL="1585318" indent="-226474" eaLnBrk="0" hangingPunct="0">
              <a:defRPr sz="1400">
                <a:solidFill>
                  <a:schemeClr val="tx1"/>
                </a:solidFill>
                <a:latin typeface="Arial" panose="020B0604020202020204" pitchFamily="34" charset="0"/>
                <a:ea typeface="ＭＳ Ｐゴシック" panose="020B0600070205080204" pitchFamily="34" charset="-128"/>
              </a:defRPr>
            </a:lvl4pPr>
            <a:lvl5pPr marL="2038266" indent="-226474" eaLnBrk="0" hangingPunct="0">
              <a:defRPr sz="1400">
                <a:solidFill>
                  <a:schemeClr val="tx1"/>
                </a:solidFill>
                <a:latin typeface="Arial" panose="020B0604020202020204" pitchFamily="34" charset="0"/>
                <a:ea typeface="ＭＳ Ｐゴシック" panose="020B0600070205080204" pitchFamily="34" charset="-128"/>
              </a:defRPr>
            </a:lvl5pPr>
            <a:lvl6pPr marL="2491214"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4162"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7110"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50058"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BA47C35-6674-4405-BD11-53F5395FFC98}" type="slidenum">
              <a:rPr lang="fr-FR" altLang="en-US" sz="1200"/>
              <a:pPr/>
              <a:t>19</a:t>
            </a:fld>
            <a:endParaRPr lang="fr-FR" altLang="en-US" sz="1200"/>
          </a:p>
        </p:txBody>
      </p:sp>
      <p:sp>
        <p:nvSpPr>
          <p:cNvPr id="51203" name="Rectangle 2"/>
          <p:cNvSpPr>
            <a:spLocks noGrp="1" noRot="1" noChangeAspect="1" noChangeArrowheads="1" noTextEdit="1"/>
          </p:cNvSpPr>
          <p:nvPr>
            <p:ph type="sldImg"/>
          </p:nvPr>
        </p:nvSpPr>
        <p:spPr bwMode="auto">
          <a:xfrm>
            <a:off x="-311150" y="223838"/>
            <a:ext cx="7621588" cy="4287837"/>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z="900"/>
          </a:p>
        </p:txBody>
      </p:sp>
      <p:sp>
        <p:nvSpPr>
          <p:cNvPr id="3575812" name="Text Box 4"/>
          <p:cNvSpPr txBox="1">
            <a:spLocks noChangeArrowheads="1"/>
          </p:cNvSpPr>
          <p:nvPr/>
        </p:nvSpPr>
        <p:spPr bwMode="auto">
          <a:xfrm>
            <a:off x="673716" y="8033576"/>
            <a:ext cx="5656689" cy="1075448"/>
          </a:xfrm>
          <a:prstGeom prst="rect">
            <a:avLst/>
          </a:prstGeom>
          <a:noFill/>
          <a:ln w="6350" algn="ctr">
            <a:solidFill>
              <a:srgbClr val="0000FF"/>
            </a:solidFill>
            <a:miter lim="800000"/>
            <a:headEnd/>
            <a:tailEnd/>
          </a:ln>
          <a:effectLst/>
        </p:spPr>
        <p:txBody>
          <a:bodyPr lIns="92601" tIns="46299" rIns="92601" bIns="46299"/>
          <a:lstStyle/>
          <a:p>
            <a:pPr defTabSz="925637" eaLnBrk="0" hangingPunct="0">
              <a:spcBef>
                <a:spcPct val="50000"/>
              </a:spcBef>
              <a:defRPr/>
            </a:pPr>
            <a:r>
              <a:rPr kumimoji="1" lang="fr-FR" sz="1300" dirty="0">
                <a:ea typeface="ＭＳ Ｐゴシック"/>
                <a:cs typeface="ＭＳ Ｐゴシック"/>
              </a:rPr>
              <a:t>Notes pédagogiques :</a:t>
            </a:r>
            <a:endParaRPr lang="fr-FR" sz="1300" dirty="0">
              <a:effectLst>
                <a:outerShdw blurRad="38100" dist="38100" dir="2700000" algn="tl">
                  <a:srgbClr val="C0C0C0"/>
                </a:outerShdw>
              </a:effectLst>
              <a:ea typeface="ＭＳ Ｐゴシック"/>
              <a:cs typeface="ＭＳ Ｐゴシック"/>
            </a:endParaRPr>
          </a:p>
          <a:p>
            <a:pPr defTabSz="925637">
              <a:spcBef>
                <a:spcPct val="50000"/>
              </a:spcBef>
              <a:defRPr/>
            </a:pPr>
            <a:r>
              <a:rPr lang="fr-FR" sz="1000" dirty="0">
                <a:ea typeface="ＭＳ Ｐゴシック"/>
                <a:cs typeface="ＭＳ Ｐゴシック"/>
              </a:rPr>
              <a:t> </a:t>
            </a:r>
          </a:p>
          <a:p>
            <a:pPr defTabSz="925637">
              <a:spcBef>
                <a:spcPct val="50000"/>
              </a:spcBef>
              <a:defRPr/>
            </a:pPr>
            <a:endParaRPr lang="fr-FR" sz="1300" dirty="0">
              <a:effectLst>
                <a:outerShdw blurRad="38100" dist="38100" dir="2700000" algn="tl">
                  <a:srgbClr val="C0C0C0"/>
                </a:outerShdw>
              </a:effectLst>
              <a:ea typeface="ＭＳ Ｐゴシック"/>
              <a:cs typeface="ＭＳ Ｐゴシック"/>
            </a:endParaRPr>
          </a:p>
          <a:p>
            <a:pPr defTabSz="925637">
              <a:spcBef>
                <a:spcPct val="50000"/>
              </a:spcBef>
              <a:defRPr/>
            </a:pPr>
            <a:endParaRPr lang="fr-FR" sz="1100" dirty="0">
              <a:effectLst>
                <a:outerShdw blurRad="38100" dist="38100" dir="2700000" algn="tl">
                  <a:srgbClr val="C0C0C0"/>
                </a:outerShdw>
              </a:effectLst>
              <a:ea typeface="ＭＳ Ｐゴシック"/>
              <a:cs typeface="ＭＳ Ｐゴシック"/>
            </a:endParaRPr>
          </a:p>
          <a:p>
            <a:pPr defTabSz="925637">
              <a:spcBef>
                <a:spcPct val="50000"/>
              </a:spcBef>
              <a:defRPr/>
            </a:pPr>
            <a:endParaRPr lang="fr-FR" sz="1100" dirty="0">
              <a:effectLst>
                <a:outerShdw blurRad="38100" dist="38100" dir="2700000" algn="tl">
                  <a:srgbClr val="C0C0C0"/>
                </a:outerShdw>
              </a:effectLst>
              <a:ea typeface="ＭＳ Ｐゴシック"/>
              <a:cs typeface="ＭＳ Ｐゴシック"/>
            </a:endParaRPr>
          </a:p>
        </p:txBody>
      </p:sp>
    </p:spTree>
    <p:extLst>
      <p:ext uri="{BB962C8B-B14F-4D97-AF65-F5344CB8AC3E}">
        <p14:creationId xmlns:p14="http://schemas.microsoft.com/office/powerpoint/2010/main" val="35996753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7"/>
          <p:cNvSpPr>
            <a:spLocks noGrp="1" noChangeArrowheads="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6041" indent="-283093" eaLnBrk="0" hangingPunct="0">
              <a:defRPr sz="1400">
                <a:solidFill>
                  <a:schemeClr val="tx1"/>
                </a:solidFill>
                <a:latin typeface="Arial" panose="020B0604020202020204" pitchFamily="34" charset="0"/>
                <a:ea typeface="ＭＳ Ｐゴシック" panose="020B0600070205080204" pitchFamily="34" charset="-128"/>
              </a:defRPr>
            </a:lvl2pPr>
            <a:lvl3pPr marL="1132370" indent="-226474" eaLnBrk="0" hangingPunct="0">
              <a:defRPr sz="1400">
                <a:solidFill>
                  <a:schemeClr val="tx1"/>
                </a:solidFill>
                <a:latin typeface="Arial" panose="020B0604020202020204" pitchFamily="34" charset="0"/>
                <a:ea typeface="ＭＳ Ｐゴシック" panose="020B0600070205080204" pitchFamily="34" charset="-128"/>
              </a:defRPr>
            </a:lvl3pPr>
            <a:lvl4pPr marL="1585318" indent="-226474" eaLnBrk="0" hangingPunct="0">
              <a:defRPr sz="1400">
                <a:solidFill>
                  <a:schemeClr val="tx1"/>
                </a:solidFill>
                <a:latin typeface="Arial" panose="020B0604020202020204" pitchFamily="34" charset="0"/>
                <a:ea typeface="ＭＳ Ｐゴシック" panose="020B0600070205080204" pitchFamily="34" charset="-128"/>
              </a:defRPr>
            </a:lvl4pPr>
            <a:lvl5pPr marL="2038266" indent="-226474" eaLnBrk="0" hangingPunct="0">
              <a:defRPr sz="1400">
                <a:solidFill>
                  <a:schemeClr val="tx1"/>
                </a:solidFill>
                <a:latin typeface="Arial" panose="020B0604020202020204" pitchFamily="34" charset="0"/>
                <a:ea typeface="ＭＳ Ｐゴシック" panose="020B0600070205080204" pitchFamily="34" charset="-128"/>
              </a:defRPr>
            </a:lvl5pPr>
            <a:lvl6pPr marL="2491214"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4162"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7110"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50058"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BA47C35-6674-4405-BD11-53F5395FFC98}" type="slidenum">
              <a:rPr lang="fr-FR" altLang="en-US" sz="1200"/>
              <a:pPr/>
              <a:t>23</a:t>
            </a:fld>
            <a:endParaRPr lang="fr-FR" altLang="en-US" sz="1200"/>
          </a:p>
        </p:txBody>
      </p:sp>
      <p:sp>
        <p:nvSpPr>
          <p:cNvPr id="51203" name="Rectangle 2"/>
          <p:cNvSpPr>
            <a:spLocks noGrp="1" noRot="1" noChangeAspect="1" noChangeArrowheads="1" noTextEdit="1"/>
          </p:cNvSpPr>
          <p:nvPr>
            <p:ph type="sldImg"/>
          </p:nvPr>
        </p:nvSpPr>
        <p:spPr bwMode="auto">
          <a:xfrm>
            <a:off x="-311150" y="223838"/>
            <a:ext cx="7621588" cy="4287837"/>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z="900"/>
          </a:p>
        </p:txBody>
      </p:sp>
      <p:sp>
        <p:nvSpPr>
          <p:cNvPr id="3575812" name="Text Box 4"/>
          <p:cNvSpPr txBox="1">
            <a:spLocks noChangeArrowheads="1"/>
          </p:cNvSpPr>
          <p:nvPr/>
        </p:nvSpPr>
        <p:spPr bwMode="auto">
          <a:xfrm>
            <a:off x="673716" y="8033576"/>
            <a:ext cx="5656689" cy="1075448"/>
          </a:xfrm>
          <a:prstGeom prst="rect">
            <a:avLst/>
          </a:prstGeom>
          <a:noFill/>
          <a:ln w="6350" algn="ctr">
            <a:solidFill>
              <a:srgbClr val="0000FF"/>
            </a:solidFill>
            <a:miter lim="800000"/>
            <a:headEnd/>
            <a:tailEnd/>
          </a:ln>
          <a:effectLst/>
        </p:spPr>
        <p:txBody>
          <a:bodyPr lIns="92601" tIns="46299" rIns="92601" bIns="46299"/>
          <a:lstStyle/>
          <a:p>
            <a:pPr defTabSz="925637" eaLnBrk="0" hangingPunct="0">
              <a:spcBef>
                <a:spcPct val="50000"/>
              </a:spcBef>
              <a:defRPr/>
            </a:pPr>
            <a:r>
              <a:rPr kumimoji="1" lang="fr-FR" sz="1300" dirty="0">
                <a:ea typeface="ＭＳ Ｐゴシック"/>
                <a:cs typeface="ＭＳ Ｐゴシック"/>
              </a:rPr>
              <a:t>Notes pédagogiques :</a:t>
            </a:r>
            <a:endParaRPr lang="fr-FR" sz="1300" dirty="0">
              <a:effectLst>
                <a:outerShdw blurRad="38100" dist="38100" dir="2700000" algn="tl">
                  <a:srgbClr val="C0C0C0"/>
                </a:outerShdw>
              </a:effectLst>
              <a:ea typeface="ＭＳ Ｐゴシック"/>
              <a:cs typeface="ＭＳ Ｐゴシック"/>
            </a:endParaRPr>
          </a:p>
          <a:p>
            <a:pPr defTabSz="925637">
              <a:spcBef>
                <a:spcPct val="50000"/>
              </a:spcBef>
              <a:defRPr/>
            </a:pPr>
            <a:r>
              <a:rPr lang="fr-FR" sz="1000" dirty="0">
                <a:ea typeface="ＭＳ Ｐゴシック"/>
                <a:cs typeface="ＭＳ Ｐゴシック"/>
              </a:rPr>
              <a:t> </a:t>
            </a:r>
          </a:p>
          <a:p>
            <a:pPr defTabSz="925637">
              <a:spcBef>
                <a:spcPct val="50000"/>
              </a:spcBef>
              <a:defRPr/>
            </a:pPr>
            <a:endParaRPr lang="fr-FR" sz="1300" dirty="0">
              <a:effectLst>
                <a:outerShdw blurRad="38100" dist="38100" dir="2700000" algn="tl">
                  <a:srgbClr val="C0C0C0"/>
                </a:outerShdw>
              </a:effectLst>
              <a:ea typeface="ＭＳ Ｐゴシック"/>
              <a:cs typeface="ＭＳ Ｐゴシック"/>
            </a:endParaRPr>
          </a:p>
          <a:p>
            <a:pPr defTabSz="925637">
              <a:spcBef>
                <a:spcPct val="50000"/>
              </a:spcBef>
              <a:defRPr/>
            </a:pPr>
            <a:endParaRPr lang="fr-FR" sz="1100" dirty="0">
              <a:effectLst>
                <a:outerShdw blurRad="38100" dist="38100" dir="2700000" algn="tl">
                  <a:srgbClr val="C0C0C0"/>
                </a:outerShdw>
              </a:effectLst>
              <a:ea typeface="ＭＳ Ｐゴシック"/>
              <a:cs typeface="ＭＳ Ｐゴシック"/>
            </a:endParaRPr>
          </a:p>
          <a:p>
            <a:pPr defTabSz="925637">
              <a:spcBef>
                <a:spcPct val="50000"/>
              </a:spcBef>
              <a:defRPr/>
            </a:pPr>
            <a:endParaRPr lang="fr-FR" sz="1100" dirty="0">
              <a:effectLst>
                <a:outerShdw blurRad="38100" dist="38100" dir="2700000" algn="tl">
                  <a:srgbClr val="C0C0C0"/>
                </a:outerShdw>
              </a:effectLst>
              <a:ea typeface="ＭＳ Ｐゴシック"/>
              <a:cs typeface="ＭＳ Ｐゴシック"/>
            </a:endParaRPr>
          </a:p>
        </p:txBody>
      </p:sp>
    </p:spTree>
    <p:extLst>
      <p:ext uri="{BB962C8B-B14F-4D97-AF65-F5344CB8AC3E}">
        <p14:creationId xmlns:p14="http://schemas.microsoft.com/office/powerpoint/2010/main" val="29306974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36041" indent="-283093" eaLnBrk="0" hangingPunct="0">
              <a:defRPr sz="1400">
                <a:solidFill>
                  <a:schemeClr val="tx1"/>
                </a:solidFill>
                <a:latin typeface="Arial" panose="020B0604020202020204" pitchFamily="34" charset="0"/>
                <a:ea typeface="ＭＳ Ｐゴシック" panose="020B0600070205080204" pitchFamily="34" charset="-128"/>
              </a:defRPr>
            </a:lvl2pPr>
            <a:lvl3pPr marL="1132370" indent="-226474" eaLnBrk="0" hangingPunct="0">
              <a:defRPr sz="1400">
                <a:solidFill>
                  <a:schemeClr val="tx1"/>
                </a:solidFill>
                <a:latin typeface="Arial" panose="020B0604020202020204" pitchFamily="34" charset="0"/>
                <a:ea typeface="ＭＳ Ｐゴシック" panose="020B0600070205080204" pitchFamily="34" charset="-128"/>
              </a:defRPr>
            </a:lvl3pPr>
            <a:lvl4pPr marL="1585318" indent="-226474" eaLnBrk="0" hangingPunct="0">
              <a:defRPr sz="1400">
                <a:solidFill>
                  <a:schemeClr val="tx1"/>
                </a:solidFill>
                <a:latin typeface="Arial" panose="020B0604020202020204" pitchFamily="34" charset="0"/>
                <a:ea typeface="ＭＳ Ｐゴシック" panose="020B0600070205080204" pitchFamily="34" charset="-128"/>
              </a:defRPr>
            </a:lvl4pPr>
            <a:lvl5pPr marL="2038266" indent="-226474" eaLnBrk="0" hangingPunct="0">
              <a:defRPr sz="1400">
                <a:solidFill>
                  <a:schemeClr val="tx1"/>
                </a:solidFill>
                <a:latin typeface="Arial" panose="020B0604020202020204" pitchFamily="34" charset="0"/>
                <a:ea typeface="ＭＳ Ｐゴシック" panose="020B0600070205080204" pitchFamily="34" charset="-128"/>
              </a:defRPr>
            </a:lvl5pPr>
            <a:lvl6pPr marL="2491214"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44162"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397110"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50058" indent="-226474" defTabSz="452948"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24</a:t>
            </a:fld>
            <a:endParaRPr lang="en-US" altLang="en-US" sz="1200"/>
          </a:p>
        </p:txBody>
      </p:sp>
    </p:spTree>
    <p:extLst>
      <p:ext uri="{BB962C8B-B14F-4D97-AF65-F5344CB8AC3E}">
        <p14:creationId xmlns:p14="http://schemas.microsoft.com/office/powerpoint/2010/main" val="23828853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4" name="Titre 1"/>
          <p:cNvSpPr txBox="1">
            <a:spLocks/>
          </p:cNvSpPr>
          <p:nvPr userDrawn="1"/>
        </p:nvSpPr>
        <p:spPr>
          <a:xfrm>
            <a:off x="2635172" y="1556792"/>
            <a:ext cx="6294515" cy="1899915"/>
          </a:xfrm>
          <a:prstGeom prst="rect">
            <a:avLst/>
          </a:prstGeom>
        </p:spPr>
        <p:txBody>
          <a:bodyPr vert="horz" lIns="91440" tIns="45720" rIns="91440" bIns="45720" rtlCol="0" anchor="ctr">
            <a:normAutofit/>
          </a:bodyP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pPr algn="ctr"/>
            <a:endParaRPr lang="en-US" sz="3200" b="1" dirty="0">
              <a:solidFill>
                <a:srgbClr val="0070C0"/>
              </a:solidFill>
              <a:latin typeface="Arial" charset="0"/>
              <a:cs typeface="Arial" charset="0"/>
            </a:endParaRPr>
          </a:p>
        </p:txBody>
      </p:sp>
      <p:sp>
        <p:nvSpPr>
          <p:cNvPr id="6" name="Rectangle 5"/>
          <p:cNvSpPr/>
          <p:nvPr userDrawn="1"/>
        </p:nvSpPr>
        <p:spPr>
          <a:xfrm>
            <a:off x="285750" y="214313"/>
            <a:ext cx="8643938" cy="214312"/>
          </a:xfrm>
          <a:prstGeom prst="rect">
            <a:avLst/>
          </a:prstGeom>
          <a:solidFill>
            <a:srgbClr val="4F81BD"/>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ndParaRP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5750" y="579967"/>
            <a:ext cx="1201016" cy="1207113"/>
          </a:xfrm>
          <a:prstGeom prst="rect">
            <a:avLst/>
          </a:prstGeom>
        </p:spPr>
      </p:pic>
    </p:spTree>
    <p:extLst>
      <p:ext uri="{BB962C8B-B14F-4D97-AF65-F5344CB8AC3E}">
        <p14:creationId xmlns:p14="http://schemas.microsoft.com/office/powerpoint/2010/main" val="393961612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TextBox 4"/>
          <p:cNvSpPr txBox="1"/>
          <p:nvPr/>
        </p:nvSpPr>
        <p:spPr>
          <a:xfrm>
            <a:off x="2027237" y="449794"/>
            <a:ext cx="6792912" cy="486965"/>
          </a:xfrm>
          <a:prstGeom prst="rect">
            <a:avLst/>
          </a:prstGeom>
          <a:noFill/>
        </p:spPr>
        <p:txBody>
          <a:bodyPr vert="horz" wrap="square" lIns="0" tIns="0" rIns="0" bIns="0" rtlCol="0" anchor="b" anchorCtr="0">
            <a:noAutofit/>
          </a:bodyPr>
          <a:lstStyle/>
          <a:p>
            <a:pPr defTabSz="389626"/>
            <a:r>
              <a:rPr lang="fr-FR" b="1" kern="1200" dirty="0" smtClean="0">
                <a:solidFill>
                  <a:srgbClr val="0070C0"/>
                </a:solidFill>
                <a:latin typeface="Calibri" pitchFamily="34" charset="0"/>
                <a:ea typeface="+mn-ea"/>
                <a:cs typeface="+mn-cs"/>
              </a:rPr>
              <a:t>Agenda de la réunion</a:t>
            </a:r>
            <a:endParaRPr lang="fr-FR" b="1" kern="1200" dirty="0">
              <a:solidFill>
                <a:srgbClr val="0070C0"/>
              </a:solidFill>
              <a:latin typeface="Calibri" pitchFamily="34" charset="0"/>
              <a:ea typeface="+mn-ea"/>
              <a:cs typeface="+mn-cs"/>
            </a:endParaRPr>
          </a:p>
        </p:txBody>
      </p:sp>
      <p:sp>
        <p:nvSpPr>
          <p:cNvPr id="7" name="Text Placeholder 7"/>
          <p:cNvSpPr>
            <a:spLocks noGrp="1"/>
          </p:cNvSpPr>
          <p:nvPr>
            <p:ph type="body" sz="quarter" idx="11"/>
          </p:nvPr>
        </p:nvSpPr>
        <p:spPr>
          <a:xfrm>
            <a:off x="2027238" y="1148415"/>
            <a:ext cx="6792913" cy="3334133"/>
          </a:xfrm>
        </p:spPr>
        <p:txBody>
          <a:bodyPr/>
          <a:lstStyle>
            <a:lvl1pPr marL="0" marR="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sz="1400"/>
            </a:lvl1pPr>
            <a:lvl2pPr marL="151521" marR="0"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sz="1400"/>
            </a:lvl2pPr>
            <a:lvl3pPr marL="308454" marR="0"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lang="en-US" sz="1400" kern="1200" noProof="0" dirty="0" smtClean="0">
                <a:solidFill>
                  <a:srgbClr val="4D4F53"/>
                </a:solidFill>
                <a:latin typeface="+mn-lt"/>
                <a:ea typeface="+mn-ea"/>
                <a:cs typeface="+mn-cs"/>
              </a:defRPr>
            </a:lvl3pPr>
            <a:lvl4pPr marL="457269" marR="0"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lang="en-US" sz="1400" kern="1200" noProof="0" dirty="0" smtClean="0">
                <a:solidFill>
                  <a:srgbClr val="4D4F53"/>
                </a:solidFill>
                <a:latin typeface="+mn-lt"/>
                <a:ea typeface="+mn-ea"/>
                <a:cs typeface="+mn-cs"/>
              </a:defRPr>
            </a:lvl4pPr>
          </a:lstStyle>
          <a:p>
            <a:pPr marL="0" marR="0" lvl="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a:pPr>
            <a:r>
              <a:rPr kumimoji="0" lang="fr-FR" sz="1200" b="0" i="0" u="none" strike="noStrike" kern="1200" cap="none" spc="0" normalizeH="0" baseline="0" noProof="0" dirty="0" smtClean="0">
                <a:ln>
                  <a:noFill/>
                </a:ln>
                <a:solidFill>
                  <a:srgbClr val="4D4F53"/>
                </a:solidFill>
                <a:effectLst/>
                <a:uLnTx/>
                <a:uFillTx/>
                <a:latin typeface="+mn-lt"/>
              </a:rPr>
              <a:t>Modifiez les styles du texte du masque</a:t>
            </a:r>
          </a:p>
          <a:p>
            <a:pPr marL="151521" marR="0" lvl="1"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Deuxième niveau</a:t>
            </a:r>
          </a:p>
          <a:p>
            <a:pPr marL="308454" marR="0" lvl="2"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Troisième niveau</a:t>
            </a:r>
          </a:p>
          <a:p>
            <a:pPr marL="457269" marR="0" lvl="3"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a:pPr>
            <a:r>
              <a:rPr kumimoji="0" lang="fr-FR" sz="1200" b="0" i="0" u="none" strike="noStrike" kern="1200" cap="none" spc="0" normalizeH="0" baseline="0" noProof="0" dirty="0" smtClean="0">
                <a:ln>
                  <a:noFill/>
                </a:ln>
                <a:solidFill>
                  <a:srgbClr val="4D4F53"/>
                </a:solidFill>
                <a:effectLst/>
                <a:uLnTx/>
                <a:uFillTx/>
                <a:latin typeface="+mn-lt"/>
              </a:rPr>
              <a:t>Quatrième niveau</a:t>
            </a: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7266" y="693276"/>
            <a:ext cx="1201016" cy="1207113"/>
          </a:xfrm>
          <a:prstGeom prst="rect">
            <a:avLst/>
          </a:prstGeom>
        </p:spPr>
      </p:pic>
    </p:spTree>
    <p:extLst>
      <p:ext uri="{BB962C8B-B14F-4D97-AF65-F5344CB8AC3E}">
        <p14:creationId xmlns:p14="http://schemas.microsoft.com/office/powerpoint/2010/main" val="20618786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a:xfrm>
            <a:off x="685800" y="4767263"/>
            <a:ext cx="1905000" cy="273844"/>
          </a:xfrm>
          <a:prstGeom prst="rect">
            <a:avLst/>
          </a:prstGeom>
        </p:spPr>
        <p:txBody>
          <a:bodyPr/>
          <a:lstStyle>
            <a:lvl1pPr>
              <a:defRPr>
                <a:ea typeface="ＭＳ Ｐゴシック"/>
                <a:cs typeface="ＭＳ Ｐゴシック"/>
              </a:defRPr>
            </a:lvl1pPr>
          </a:lstStyle>
          <a:p>
            <a:pPr>
              <a:defRPr/>
            </a:pPr>
            <a:fld id="{9AC7AD67-5214-4830-816B-BB68E584FB4D}" type="datetime1">
              <a:rPr lang="fr-FR"/>
              <a:pPr>
                <a:defRPr/>
              </a:pPr>
              <a:t>21/12/2015</a:t>
            </a:fld>
            <a:endParaRPr lang="fr-FR"/>
          </a:p>
        </p:txBody>
      </p:sp>
      <p:sp>
        <p:nvSpPr>
          <p:cNvPr id="5" name="Espace réservé du numéro de diapositive 5"/>
          <p:cNvSpPr>
            <a:spLocks noGrp="1"/>
          </p:cNvSpPr>
          <p:nvPr>
            <p:ph type="sldNum" sz="quarter" idx="11"/>
          </p:nvPr>
        </p:nvSpPr>
        <p:spPr>
          <a:xfrm>
            <a:off x="6553200" y="4767263"/>
            <a:ext cx="2133600" cy="273844"/>
          </a:xfrm>
          <a:prstGeom prst="rect">
            <a:avLst/>
          </a:prstGeom>
        </p:spPr>
        <p:txBody>
          <a:bodyPr/>
          <a:lstStyle>
            <a:lvl1pPr>
              <a:defRPr/>
            </a:lvl1pPr>
          </a:lstStyle>
          <a:p>
            <a:fld id="{4DF23832-6337-4957-A1E3-16FD0348C189}" type="slidenum">
              <a:rPr lang="fr-FR" altLang="en-US"/>
              <a:pPr/>
              <a:t>‹N°›</a:t>
            </a:fld>
            <a:endParaRPr lang="fr-FR" altLang="en-US"/>
          </a:p>
        </p:txBody>
      </p:sp>
      <p:sp>
        <p:nvSpPr>
          <p:cNvPr id="6" name="Espace réservé du pied de page 8"/>
          <p:cNvSpPr>
            <a:spLocks noGrp="1"/>
          </p:cNvSpPr>
          <p:nvPr>
            <p:ph type="ftr" sz="quarter" idx="12"/>
          </p:nvPr>
        </p:nvSpPr>
        <p:spPr>
          <a:xfrm>
            <a:off x="3124200" y="4767263"/>
            <a:ext cx="2895600" cy="273844"/>
          </a:xfrm>
          <a:prstGeom prst="rect">
            <a:avLst/>
          </a:prstGeom>
        </p:spPr>
        <p:txBody>
          <a:bodyPr/>
          <a:lstStyle>
            <a:lvl1pPr>
              <a:defRPr>
                <a:ea typeface="ＭＳ Ｐゴシック"/>
                <a:cs typeface="ＭＳ Ｐゴシック"/>
              </a:defRPr>
            </a:lvl1pPr>
          </a:lstStyle>
          <a:p>
            <a:pPr>
              <a:defRPr/>
            </a:pPr>
            <a:endParaRPr lang="en-US"/>
          </a:p>
        </p:txBody>
      </p:sp>
    </p:spTree>
    <p:extLst>
      <p:ext uri="{BB962C8B-B14F-4D97-AF65-F5344CB8AC3E}">
        <p14:creationId xmlns:p14="http://schemas.microsoft.com/office/powerpoint/2010/main" val="524224313"/>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25173570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8302674"/>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Text Placeholder 7"/>
          <p:cNvSpPr>
            <a:spLocks noGrp="1"/>
          </p:cNvSpPr>
          <p:nvPr>
            <p:ph type="body" idx="1"/>
          </p:nvPr>
        </p:nvSpPr>
        <p:spPr>
          <a:xfrm>
            <a:off x="2136912" y="1152525"/>
            <a:ext cx="6683237" cy="3240571"/>
          </a:xfrm>
          <a:prstGeom prst="rect">
            <a:avLst/>
          </a:prstGeom>
        </p:spPr>
        <p:txBody>
          <a:bodyPr vert="horz" lIns="0" tIns="0" rIns="0" bIns="0" rtlCol="0">
            <a:noAutofit/>
          </a:bodyPr>
          <a:lstStyle/>
          <a:p>
            <a:pPr lvl="0"/>
            <a:r>
              <a:rPr lang="fr-FR" noProof="0" dirty="0" smtClean="0"/>
              <a:t>Modifiez les styles du texte du masque</a:t>
            </a:r>
          </a:p>
          <a:p>
            <a:pPr lvl="1"/>
            <a:r>
              <a:rPr lang="fr-FR" noProof="0" dirty="0" smtClean="0"/>
              <a:t>Deuxième niveau</a:t>
            </a:r>
          </a:p>
          <a:p>
            <a:pPr lvl="2"/>
            <a:r>
              <a:rPr lang="fr-FR" noProof="0" dirty="0" smtClean="0"/>
              <a:t>Troisième niveau</a:t>
            </a:r>
          </a:p>
          <a:p>
            <a:pPr lvl="3"/>
            <a:r>
              <a:rPr lang="fr-FR" noProof="0" dirty="0" smtClean="0"/>
              <a:t>Quatrième niveau</a:t>
            </a:r>
          </a:p>
        </p:txBody>
      </p:sp>
      <p:sp>
        <p:nvSpPr>
          <p:cNvPr id="16" name="Text Placeholder 2"/>
          <p:cNvSpPr txBox="1">
            <a:spLocks/>
          </p:cNvSpPr>
          <p:nvPr/>
        </p:nvSpPr>
        <p:spPr>
          <a:xfrm>
            <a:off x="3108962" y="4873759"/>
            <a:ext cx="2926078" cy="158395"/>
          </a:xfrm>
          <a:prstGeom prst="rect">
            <a:avLst/>
          </a:prstGeom>
          <a:ln>
            <a:noFill/>
          </a:ln>
        </p:spPr>
        <p:txBody>
          <a:bodyPr vert="horz" lIns="0" tIns="0" rIns="0" bIns="0" anchor="b"/>
          <a:lstStyle>
            <a:lvl1pPr marL="0" marR="0" indent="0" algn="l" defTabSz="457200" rtl="0" eaLnBrk="1" fontAlgn="auto" latinLnBrk="0" hangingPunct="1">
              <a:lnSpc>
                <a:spcPct val="100000"/>
              </a:lnSpc>
              <a:spcBef>
                <a:spcPts val="0"/>
              </a:spcBef>
              <a:spcAft>
                <a:spcPts val="0"/>
              </a:spcAft>
              <a:buClrTx/>
              <a:buSzTx/>
              <a:buFontTx/>
              <a:buNone/>
              <a:tabLst/>
              <a:defRPr sz="800" kern="1200" baseline="0">
                <a:solidFill>
                  <a:schemeClr val="tx1">
                    <a:lumMod val="50000"/>
                    <a:lumOff val="50000"/>
                  </a:schemeClr>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fr-FR" dirty="0" smtClean="0">
                <a:solidFill>
                  <a:srgbClr val="8D817B"/>
                </a:solidFill>
              </a:rPr>
              <a:t>Confidentiel. © 2015 CBG | </a:t>
            </a:r>
            <a:fld id="{2E997FAD-17BD-C54D-93FE-DA7D4A487AFB}" type="slidenum">
              <a:rPr lang="fr-FR" smtClean="0">
                <a:solidFill>
                  <a:srgbClr val="8D817B"/>
                </a:solidFill>
              </a:rPr>
              <a:pPr algn="ctr"/>
              <a:t>‹N°›</a:t>
            </a:fld>
            <a:endParaRPr lang="fr-FR" dirty="0" smtClean="0">
              <a:solidFill>
                <a:srgbClr val="8D817B"/>
              </a:solidFill>
            </a:endParaRPr>
          </a:p>
        </p:txBody>
      </p:sp>
      <p:sp>
        <p:nvSpPr>
          <p:cNvPr id="19" name="Espace réservé du pied de page 8"/>
          <p:cNvSpPr txBox="1">
            <a:spLocks/>
          </p:cNvSpPr>
          <p:nvPr userDrawn="1"/>
        </p:nvSpPr>
        <p:spPr bwMode="auto">
          <a:xfrm>
            <a:off x="285750" y="4621127"/>
            <a:ext cx="4071938" cy="2206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defPPr>
              <a:defRPr lang="fr-FR"/>
            </a:defPPr>
            <a:lvl1pPr algn="ctr" rtl="0" eaLnBrk="0" fontAlgn="base" hangingPunct="0">
              <a:spcBef>
                <a:spcPct val="0"/>
              </a:spcBef>
              <a:spcAft>
                <a:spcPct val="0"/>
              </a:spcAft>
              <a:defRPr sz="1200" kern="1200">
                <a:solidFill>
                  <a:schemeClr val="tx1"/>
                </a:solidFill>
                <a:latin typeface="Calibri" pitchFamily="34" charset="0"/>
                <a:ea typeface="+mn-ea"/>
                <a:cs typeface="+mn-cs"/>
              </a:defRPr>
            </a:lvl1pPr>
            <a:lvl2pPr marL="742950" indent="-285750" algn="l" rtl="0" eaLnBrk="0" fontAlgn="base" hangingPunct="0">
              <a:spcBef>
                <a:spcPct val="0"/>
              </a:spcBef>
              <a:spcAft>
                <a:spcPct val="0"/>
              </a:spcAft>
              <a:defRPr kern="1200">
                <a:solidFill>
                  <a:schemeClr val="tx1"/>
                </a:solidFill>
                <a:latin typeface="Calibri" pitchFamily="34" charset="0"/>
                <a:ea typeface="+mn-ea"/>
                <a:cs typeface="+mn-cs"/>
              </a:defRPr>
            </a:lvl2pPr>
            <a:lvl3pPr marL="1143000" indent="-228600" algn="l" rtl="0" eaLnBrk="0" fontAlgn="base" hangingPunct="0">
              <a:spcBef>
                <a:spcPct val="0"/>
              </a:spcBef>
              <a:spcAft>
                <a:spcPct val="0"/>
              </a:spcAft>
              <a:defRPr kern="1200">
                <a:solidFill>
                  <a:schemeClr val="tx1"/>
                </a:solidFill>
                <a:latin typeface="Calibri" pitchFamily="34" charset="0"/>
                <a:ea typeface="+mn-ea"/>
                <a:cs typeface="+mn-cs"/>
              </a:defRPr>
            </a:lvl3pPr>
            <a:lvl4pPr marL="1600200" indent="-228600" algn="l" rtl="0" eaLnBrk="0" fontAlgn="base" hangingPunct="0">
              <a:spcBef>
                <a:spcPct val="0"/>
              </a:spcBef>
              <a:spcAft>
                <a:spcPct val="0"/>
              </a:spcAft>
              <a:defRPr kern="1200">
                <a:solidFill>
                  <a:schemeClr val="tx1"/>
                </a:solidFill>
                <a:latin typeface="Calibri" pitchFamily="34" charset="0"/>
                <a:ea typeface="+mn-ea"/>
                <a:cs typeface="+mn-cs"/>
              </a:defRPr>
            </a:lvl4pPr>
            <a:lvl5pPr marL="2057400" indent="-228600" algn="l" rtl="0" eaLnBrk="0" fontAlgn="base" hangingPunct="0">
              <a:spcBef>
                <a:spcPct val="0"/>
              </a:spcBef>
              <a:spcAft>
                <a:spcPct val="0"/>
              </a:spcAft>
              <a:defRPr kern="1200">
                <a:solidFill>
                  <a:schemeClr val="tx1"/>
                </a:solidFill>
                <a:latin typeface="Calibri" pitchFamily="34" charset="0"/>
                <a:ea typeface="+mn-ea"/>
                <a:cs typeface="+mn-cs"/>
              </a:defRPr>
            </a:lvl5pPr>
            <a:lvl6pPr marL="25146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6pPr>
            <a:lvl7pPr marL="29718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7pPr>
            <a:lvl8pPr marL="34290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8pPr>
            <a:lvl9pPr marL="38862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9pPr>
          </a:lstStyle>
          <a:p>
            <a:pPr defTabSz="914400" eaLnBrk="1" hangingPunct="1"/>
            <a:r>
              <a:rPr lang="fr-FR" sz="900" dirty="0" smtClean="0">
                <a:solidFill>
                  <a:srgbClr val="0070C0"/>
                </a:solidFill>
                <a:latin typeface="Arial" charset="0"/>
                <a:cs typeface="Arial" charset="0"/>
              </a:rPr>
              <a:t>Ce document est la propriété de la CBG - This document is property of CBG</a:t>
            </a:r>
            <a:endParaRPr lang="en-US" sz="900" dirty="0">
              <a:solidFill>
                <a:srgbClr val="0070C0"/>
              </a:solidFill>
              <a:latin typeface="Arial" charset="0"/>
              <a:cs typeface="Arial" charset="0"/>
            </a:endParaRPr>
          </a:p>
        </p:txBody>
      </p:sp>
      <p:sp>
        <p:nvSpPr>
          <p:cNvPr id="2" name="Espace réservé du titre 1"/>
          <p:cNvSpPr>
            <a:spLocks noGrp="1"/>
          </p:cNvSpPr>
          <p:nvPr>
            <p:ph type="title"/>
          </p:nvPr>
        </p:nvSpPr>
        <p:spPr>
          <a:xfrm>
            <a:off x="457200" y="206375"/>
            <a:ext cx="8229600" cy="857250"/>
          </a:xfrm>
          <a:prstGeom prst="rect">
            <a:avLst/>
          </a:prstGeom>
        </p:spPr>
        <p:txBody>
          <a:bodyPr vert="horz" lIns="91440" tIns="45720" rIns="91440" bIns="45720" rtlCol="0" anchor="ctr">
            <a:normAutofit/>
          </a:bodyPr>
          <a:lstStyle/>
          <a:p>
            <a:r>
              <a:rPr lang="fr-FR" smtClean="0"/>
              <a:t>Modifiez le style du titre</a:t>
            </a:r>
            <a:endParaRPr lang="en-US"/>
          </a:p>
        </p:txBody>
      </p:sp>
      <p:pic>
        <p:nvPicPr>
          <p:cNvPr id="3" name="Image 2"/>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249561" y="4556923"/>
            <a:ext cx="8644877" cy="48772"/>
          </a:xfrm>
          <a:prstGeom prst="rect">
            <a:avLst/>
          </a:prstGeom>
        </p:spPr>
      </p:pic>
    </p:spTree>
    <p:extLst>
      <p:ext uri="{BB962C8B-B14F-4D97-AF65-F5344CB8AC3E}">
        <p14:creationId xmlns:p14="http://schemas.microsoft.com/office/powerpoint/2010/main" val="3195152109"/>
      </p:ext>
    </p:extLst>
  </p:cSld>
  <p:clrMap bg1="lt1" tx1="dk1" bg2="lt2" tx2="dk2" accent1="accent1" accent2="accent2" accent3="accent3" accent4="accent4" accent5="accent5" accent6="accent6" hlink="hlink" folHlink="folHlink"/>
  <p:sldLayoutIdLst>
    <p:sldLayoutId id="2147484153" r:id="rId1"/>
    <p:sldLayoutId id="2147484122" r:id="rId2"/>
    <p:sldLayoutId id="2147484155" r:id="rId3"/>
    <p:sldLayoutId id="2147484156" r:id="rId4"/>
    <p:sldLayoutId id="2147484157" r:id="rId5"/>
  </p:sldLayoutIdLst>
  <p:timing>
    <p:tnLst>
      <p:par>
        <p:cTn id="1" dur="indefinite" restart="never" nodeType="tmRoot"/>
      </p:par>
    </p:tnLst>
  </p:timing>
  <p:txStyles>
    <p:title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p:titleStyle>
    <p:bodyStyle>
      <a:lvl1pPr marL="0" indent="0" algn="l" defTabSz="389626" rtl="0" eaLnBrk="1" latinLnBrk="0" hangingPunct="1">
        <a:spcBef>
          <a:spcPts val="1023"/>
        </a:spcBef>
        <a:spcAft>
          <a:spcPts val="256"/>
        </a:spcAft>
        <a:buClr>
          <a:schemeClr val="bg1"/>
        </a:buClr>
        <a:buSzPct val="25000"/>
        <a:buFont typeface="Verdana" pitchFamily="34" charset="0"/>
        <a:buNone/>
        <a:defRPr lang="en-GB" sz="1200" b="0" kern="1200" noProof="0" smtClean="0">
          <a:solidFill>
            <a:srgbClr val="4D4F53"/>
          </a:solidFill>
          <a:latin typeface="+mn-lt"/>
          <a:ea typeface="+mn-ea"/>
          <a:cs typeface="+mn-cs"/>
        </a:defRPr>
      </a:lvl1pPr>
      <a:lvl2pPr marL="151521" indent="-151521" algn="l" defTabSz="389626" rtl="0" eaLnBrk="1" latinLnBrk="0" hangingPunct="1">
        <a:spcBef>
          <a:spcPts val="256"/>
        </a:spcBef>
        <a:spcAft>
          <a:spcPts val="256"/>
        </a:spcAft>
        <a:buClr>
          <a:schemeClr val="bg2"/>
        </a:buClr>
        <a:buFont typeface="Arial" pitchFamily="34" charset="0"/>
        <a:buChar char="•"/>
        <a:defRPr lang="en-GB" sz="1200" kern="1200" noProof="0" smtClean="0">
          <a:solidFill>
            <a:srgbClr val="4D4F53"/>
          </a:solidFill>
          <a:latin typeface="+mn-lt"/>
          <a:ea typeface="+mn-ea"/>
          <a:cs typeface="+mn-cs"/>
        </a:defRPr>
      </a:lvl2pPr>
      <a:lvl3pPr marL="308454" indent="-154227" algn="l" defTabSz="438329" rtl="0" eaLnBrk="1" latinLnBrk="0" hangingPunct="1">
        <a:spcBef>
          <a:spcPts val="256"/>
        </a:spcBef>
        <a:spcAft>
          <a:spcPts val="256"/>
        </a:spcAft>
        <a:buClr>
          <a:schemeClr val="bg2"/>
        </a:buClr>
        <a:buFont typeface="Calibri" pitchFamily="34" charset="0"/>
        <a:buChar char="−"/>
        <a:defRPr lang="en-GB" sz="1200" kern="1200" noProof="0" smtClean="0">
          <a:solidFill>
            <a:srgbClr val="4D4F53"/>
          </a:solidFill>
          <a:latin typeface="+mn-lt"/>
          <a:ea typeface="+mn-ea"/>
          <a:cs typeface="+mn-cs"/>
        </a:defRPr>
      </a:lvl3pPr>
      <a:lvl4pPr marL="457269" indent="-137992" algn="l" defTabSz="389626" rtl="0" eaLnBrk="1" latinLnBrk="0" hangingPunct="1">
        <a:spcBef>
          <a:spcPts val="256"/>
        </a:spcBef>
        <a:spcAft>
          <a:spcPts val="256"/>
        </a:spcAft>
        <a:buClr>
          <a:schemeClr val="bg2"/>
        </a:buClr>
        <a:buFont typeface="Courier New" pitchFamily="49" charset="0"/>
        <a:buChar char="o"/>
        <a:tabLst/>
        <a:defRPr lang="en-GB" sz="1200" kern="1200" noProof="0" smtClean="0">
          <a:solidFill>
            <a:srgbClr val="4D4F53"/>
          </a:solidFill>
          <a:latin typeface="+mn-lt"/>
          <a:ea typeface="+mn-ea"/>
          <a:cs typeface="+mn-cs"/>
        </a:defRPr>
      </a:lvl4pPr>
      <a:lvl5pPr marL="692668" indent="-140698" algn="l" defTabSz="389626" rtl="0" eaLnBrk="1" latinLnBrk="0" hangingPunct="1">
        <a:spcBef>
          <a:spcPts val="0"/>
        </a:spcBef>
        <a:buClr>
          <a:srgbClr val="D52B1E"/>
        </a:buClr>
        <a:buFont typeface="Calibri" pitchFamily="34" charset="0"/>
        <a:buChar char="-"/>
        <a:tabLst/>
        <a:defRPr lang="en-GB" sz="900" kern="1200" noProof="0">
          <a:solidFill>
            <a:srgbClr val="4D4F53"/>
          </a:solidFill>
          <a:latin typeface="+mn-lt"/>
          <a:ea typeface="+mn-ea"/>
          <a:cs typeface="+mn-cs"/>
        </a:defRPr>
      </a:lvl5pPr>
      <a:lvl6pPr marL="2142942" indent="-194813" algn="l" defTabSz="389626" rtl="0" eaLnBrk="1" latinLnBrk="0" hangingPunct="1">
        <a:spcBef>
          <a:spcPct val="20000"/>
        </a:spcBef>
        <a:buFont typeface="Arial"/>
        <a:buChar char="•"/>
        <a:defRPr sz="1700" kern="1200">
          <a:solidFill>
            <a:schemeClr val="tx1"/>
          </a:solidFill>
          <a:latin typeface="+mn-lt"/>
          <a:ea typeface="+mn-ea"/>
          <a:cs typeface="+mn-cs"/>
        </a:defRPr>
      </a:lvl6pPr>
      <a:lvl7pPr marL="2532568" indent="-194813" algn="l" defTabSz="389626" rtl="0" eaLnBrk="1" latinLnBrk="0" hangingPunct="1">
        <a:spcBef>
          <a:spcPct val="20000"/>
        </a:spcBef>
        <a:buFont typeface="Arial"/>
        <a:buChar char="•"/>
        <a:defRPr sz="1700" kern="1200">
          <a:solidFill>
            <a:schemeClr val="tx1"/>
          </a:solidFill>
          <a:latin typeface="+mn-lt"/>
          <a:ea typeface="+mn-ea"/>
          <a:cs typeface="+mn-cs"/>
        </a:defRPr>
      </a:lvl7pPr>
      <a:lvl8pPr marL="2922194" indent="-194813" algn="l" defTabSz="389626" rtl="0" eaLnBrk="1" latinLnBrk="0" hangingPunct="1">
        <a:spcBef>
          <a:spcPct val="20000"/>
        </a:spcBef>
        <a:buFont typeface="Arial"/>
        <a:buChar char="•"/>
        <a:defRPr sz="1700" kern="1200">
          <a:solidFill>
            <a:schemeClr val="tx1"/>
          </a:solidFill>
          <a:latin typeface="+mn-lt"/>
          <a:ea typeface="+mn-ea"/>
          <a:cs typeface="+mn-cs"/>
        </a:defRPr>
      </a:lvl8pPr>
      <a:lvl9pPr marL="3311820" indent="-194813" algn="l" defTabSz="389626" rtl="0" eaLnBrk="1" latinLnBrk="0" hangingPunct="1">
        <a:spcBef>
          <a:spcPct val="20000"/>
        </a:spcBef>
        <a:buFont typeface="Arial"/>
        <a:buChar char="•"/>
        <a:defRPr sz="1700" kern="1200">
          <a:solidFill>
            <a:schemeClr val="tx1"/>
          </a:solidFill>
          <a:latin typeface="+mn-lt"/>
          <a:ea typeface="+mn-ea"/>
          <a:cs typeface="+mn-cs"/>
        </a:defRPr>
      </a:lvl9pPr>
    </p:bodyStyle>
    <p:otherStyle>
      <a:defPPr>
        <a:defRPr lang="en-US"/>
      </a:defPPr>
      <a:lvl1pPr marL="0" algn="l" defTabSz="389626" rtl="0" eaLnBrk="1" latinLnBrk="0" hangingPunct="1">
        <a:defRPr sz="1500" kern="1200">
          <a:solidFill>
            <a:schemeClr val="tx1"/>
          </a:solidFill>
          <a:latin typeface="+mn-lt"/>
          <a:ea typeface="+mn-ea"/>
          <a:cs typeface="+mn-cs"/>
        </a:defRPr>
      </a:lvl1pPr>
      <a:lvl2pPr marL="389626" algn="l" defTabSz="389626" rtl="0" eaLnBrk="1" latinLnBrk="0" hangingPunct="1">
        <a:defRPr sz="1500" kern="1200">
          <a:solidFill>
            <a:schemeClr val="tx1"/>
          </a:solidFill>
          <a:latin typeface="+mn-lt"/>
          <a:ea typeface="+mn-ea"/>
          <a:cs typeface="+mn-cs"/>
        </a:defRPr>
      </a:lvl2pPr>
      <a:lvl3pPr marL="779252" algn="l" defTabSz="389626" rtl="0" eaLnBrk="1" latinLnBrk="0" hangingPunct="1">
        <a:defRPr sz="1500" kern="1200">
          <a:solidFill>
            <a:schemeClr val="tx1"/>
          </a:solidFill>
          <a:latin typeface="+mn-lt"/>
          <a:ea typeface="+mn-ea"/>
          <a:cs typeface="+mn-cs"/>
        </a:defRPr>
      </a:lvl3pPr>
      <a:lvl4pPr marL="1168878" algn="l" defTabSz="389626" rtl="0" eaLnBrk="1" latinLnBrk="0" hangingPunct="1">
        <a:defRPr sz="1500" kern="1200">
          <a:solidFill>
            <a:schemeClr val="tx1"/>
          </a:solidFill>
          <a:latin typeface="+mn-lt"/>
          <a:ea typeface="+mn-ea"/>
          <a:cs typeface="+mn-cs"/>
        </a:defRPr>
      </a:lvl4pPr>
      <a:lvl5pPr marL="1558503" algn="l" defTabSz="389626" rtl="0" eaLnBrk="1" latinLnBrk="0" hangingPunct="1">
        <a:defRPr sz="1500" kern="1200">
          <a:solidFill>
            <a:schemeClr val="tx1"/>
          </a:solidFill>
          <a:latin typeface="+mn-lt"/>
          <a:ea typeface="+mn-ea"/>
          <a:cs typeface="+mn-cs"/>
        </a:defRPr>
      </a:lvl5pPr>
      <a:lvl6pPr marL="1948129" algn="l" defTabSz="389626" rtl="0" eaLnBrk="1" latinLnBrk="0" hangingPunct="1">
        <a:defRPr sz="1500" kern="1200">
          <a:solidFill>
            <a:schemeClr val="tx1"/>
          </a:solidFill>
          <a:latin typeface="+mn-lt"/>
          <a:ea typeface="+mn-ea"/>
          <a:cs typeface="+mn-cs"/>
        </a:defRPr>
      </a:lvl6pPr>
      <a:lvl7pPr marL="2337755" algn="l" defTabSz="389626" rtl="0" eaLnBrk="1" latinLnBrk="0" hangingPunct="1">
        <a:defRPr sz="1500" kern="1200">
          <a:solidFill>
            <a:schemeClr val="tx1"/>
          </a:solidFill>
          <a:latin typeface="+mn-lt"/>
          <a:ea typeface="+mn-ea"/>
          <a:cs typeface="+mn-cs"/>
        </a:defRPr>
      </a:lvl7pPr>
      <a:lvl8pPr marL="2727381" algn="l" defTabSz="389626" rtl="0" eaLnBrk="1" latinLnBrk="0" hangingPunct="1">
        <a:defRPr sz="1500" kern="1200">
          <a:solidFill>
            <a:schemeClr val="tx1"/>
          </a:solidFill>
          <a:latin typeface="+mn-lt"/>
          <a:ea typeface="+mn-ea"/>
          <a:cs typeface="+mn-cs"/>
        </a:defRPr>
      </a:lvl8pPr>
      <a:lvl9pPr marL="3117007" algn="l" defTabSz="389626"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p:cNvSpPr txBox="1">
            <a:spLocks/>
          </p:cNvSpPr>
          <p:nvPr/>
        </p:nvSpPr>
        <p:spPr>
          <a:xfrm>
            <a:off x="2635173" y="1556792"/>
            <a:ext cx="5817244" cy="1899915"/>
          </a:xfrm>
          <a:prstGeom prst="rect">
            <a:avLst/>
          </a:prstGeom>
        </p:spPr>
        <p:txBody>
          <a:bodyPr anchor="ct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r>
              <a:rPr lang="fr-FR" sz="2800" b="1" dirty="0">
                <a:solidFill>
                  <a:srgbClr val="0070C0"/>
                </a:solidFill>
                <a:latin typeface="Arial" charset="0"/>
                <a:cs typeface="Arial" charset="0"/>
              </a:rPr>
              <a:t>Formation </a:t>
            </a:r>
            <a:r>
              <a:rPr lang="fr-FR" sz="2800" b="1" dirty="0" smtClean="0">
                <a:solidFill>
                  <a:srgbClr val="0070C0"/>
                </a:solidFill>
                <a:latin typeface="Arial" charset="0"/>
                <a:cs typeface="Arial" charset="0"/>
              </a:rPr>
              <a:t>Utilisateurs- Achats </a:t>
            </a:r>
            <a:r>
              <a:rPr lang="fr-FR" sz="3200" b="1" dirty="0" smtClean="0">
                <a:solidFill>
                  <a:srgbClr val="0070C0"/>
                </a:solidFill>
                <a:latin typeface="Arial" charset="0"/>
                <a:cs typeface="Arial" charset="0"/>
              </a:rPr>
              <a:t/>
            </a:r>
            <a:br>
              <a:rPr lang="fr-FR" sz="3200" b="1" dirty="0" smtClean="0">
                <a:solidFill>
                  <a:srgbClr val="0070C0"/>
                </a:solidFill>
                <a:latin typeface="Arial" charset="0"/>
                <a:cs typeface="Arial" charset="0"/>
              </a:rPr>
            </a:br>
            <a:r>
              <a:rPr lang="fr-FR" sz="2000" b="1" dirty="0" smtClean="0">
                <a:solidFill>
                  <a:srgbClr val="0070C0"/>
                </a:solidFill>
                <a:latin typeface="Arial" charset="0"/>
                <a:cs typeface="Arial" charset="0"/>
              </a:rPr>
              <a:t>Module Gestion </a:t>
            </a:r>
            <a:r>
              <a:rPr lang="fr-FR" sz="2000" b="1" dirty="0" smtClean="0">
                <a:solidFill>
                  <a:srgbClr val="0070C0"/>
                </a:solidFill>
                <a:latin typeface="Arial" charset="0"/>
                <a:cs typeface="Arial" charset="0"/>
              </a:rPr>
              <a:t>du MRP</a:t>
            </a:r>
            <a:endParaRPr lang="fr-FR" sz="1800" dirty="0" smtClean="0">
              <a:solidFill>
                <a:srgbClr val="0070C0"/>
              </a:solidFill>
              <a:latin typeface="Arial" charset="0"/>
              <a:cs typeface="Arial" charset="0"/>
            </a:endParaRPr>
          </a:p>
        </p:txBody>
      </p:sp>
    </p:spTree>
    <p:extLst>
      <p:ext uri="{BB962C8B-B14F-4D97-AF65-F5344CB8AC3E}">
        <p14:creationId xmlns:p14="http://schemas.microsoft.com/office/powerpoint/2010/main" val="21254742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343258"/>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5447704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fr-FR" altLang="en-US" dirty="0" smtClean="0"/>
              <a:t>Objectifs de la formation</a:t>
            </a:r>
            <a:endParaRPr lang="fr-FR" altLang="en-US" dirty="0"/>
          </a:p>
        </p:txBody>
      </p:sp>
      <p:sp>
        <p:nvSpPr>
          <p:cNvPr id="5" name="Rectangle 4"/>
          <p:cNvSpPr/>
          <p:nvPr/>
        </p:nvSpPr>
        <p:spPr>
          <a:xfrm>
            <a:off x="1763272" y="1312720"/>
            <a:ext cx="4589859" cy="897481"/>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72000" bIns="72000" spcCol="180000"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Pouvoir gérer un MRP qui génère des demandes d’achat automatiquement une fois par semaine, selon le besoin et les paramètres définis dans le système</a:t>
            </a:r>
          </a:p>
        </p:txBody>
      </p:sp>
      <p:sp>
        <p:nvSpPr>
          <p:cNvPr id="7" name="Rectangle 6"/>
          <p:cNvSpPr/>
          <p:nvPr/>
        </p:nvSpPr>
        <p:spPr>
          <a:xfrm>
            <a:off x="1763272" y="2571750"/>
            <a:ext cx="4589859" cy="1646351"/>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216000" spcCol="180000" anchor="ctr"/>
          <a:lstStyle/>
          <a:p>
            <a:pPr marL="67866" lvl="1"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Gérer les sources de réapprovisionnement</a:t>
            </a:r>
          </a:p>
          <a:p>
            <a:pPr marL="67866" lvl="1"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Gérer les données du MRP</a:t>
            </a:r>
          </a:p>
          <a:p>
            <a:pPr marL="67866" lvl="1"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Lancement manuel du MRP</a:t>
            </a:r>
          </a:p>
          <a:p>
            <a:pPr marL="67866" lvl="1"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Visualiser les demandes d’achats générées par le MRP</a:t>
            </a:r>
            <a:endParaRPr lang="fr-FR" sz="900" dirty="0">
              <a:solidFill>
                <a:schemeClr val="tx1"/>
              </a:solidFill>
              <a:latin typeface="Arial" pitchFamily="34" charset="0"/>
              <a:cs typeface="Arial" pitchFamily="34" charset="0"/>
            </a:endParaRPr>
          </a:p>
        </p:txBody>
      </p:sp>
      <p:sp>
        <p:nvSpPr>
          <p:cNvPr id="11" name="Rectangle 10"/>
          <p:cNvSpPr/>
          <p:nvPr/>
        </p:nvSpPr>
        <p:spPr>
          <a:xfrm>
            <a:off x="1661664" y="2268099"/>
            <a:ext cx="1932004"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Contenu de la formation</a:t>
            </a:r>
          </a:p>
        </p:txBody>
      </p:sp>
      <p:sp>
        <p:nvSpPr>
          <p:cNvPr id="12" name="Rectangle 11"/>
          <p:cNvSpPr/>
          <p:nvPr/>
        </p:nvSpPr>
        <p:spPr>
          <a:xfrm>
            <a:off x="1718686" y="1012639"/>
            <a:ext cx="822597" cy="300082"/>
          </a:xfrm>
          <a:prstGeom prst="rect">
            <a:avLst/>
          </a:prstGeom>
          <a:noFill/>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Objectifs</a:t>
            </a:r>
          </a:p>
        </p:txBody>
      </p:sp>
      <p:grpSp>
        <p:nvGrpSpPr>
          <p:cNvPr id="14" name="Groupe 13"/>
          <p:cNvGrpSpPr/>
          <p:nvPr/>
        </p:nvGrpSpPr>
        <p:grpSpPr>
          <a:xfrm>
            <a:off x="6481687" y="1016233"/>
            <a:ext cx="1905739" cy="897560"/>
            <a:chOff x="6704410" y="1016233"/>
            <a:chExt cx="1528579" cy="897560"/>
          </a:xfrm>
        </p:grpSpPr>
        <p:sp>
          <p:nvSpPr>
            <p:cNvPr id="8" name="Rectangle 7"/>
            <p:cNvSpPr/>
            <p:nvPr/>
          </p:nvSpPr>
          <p:spPr>
            <a:xfrm>
              <a:off x="6748280" y="1316481"/>
              <a:ext cx="1484709" cy="597312"/>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a:solidFill>
                    <a:schemeClr val="tx1"/>
                  </a:solidFill>
                  <a:latin typeface="Arial" pitchFamily="34" charset="0"/>
                  <a:cs typeface="Arial" pitchFamily="34" charset="0"/>
                </a:rPr>
                <a:t>2 Heures</a:t>
              </a:r>
            </a:p>
          </p:txBody>
        </p:sp>
        <p:sp>
          <p:nvSpPr>
            <p:cNvPr id="17" name="Rectangle 16"/>
            <p:cNvSpPr/>
            <p:nvPr/>
          </p:nvSpPr>
          <p:spPr>
            <a:xfrm>
              <a:off x="6704410" y="1016233"/>
              <a:ext cx="61875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Durée</a:t>
              </a:r>
            </a:p>
          </p:txBody>
        </p:sp>
      </p:grpSp>
      <p:grpSp>
        <p:nvGrpSpPr>
          <p:cNvPr id="10" name="Groupe 9"/>
          <p:cNvGrpSpPr/>
          <p:nvPr/>
        </p:nvGrpSpPr>
        <p:grpSpPr>
          <a:xfrm>
            <a:off x="6475133" y="2059733"/>
            <a:ext cx="1913909" cy="1201612"/>
            <a:chOff x="6697857" y="2111948"/>
            <a:chExt cx="1535132" cy="1201612"/>
          </a:xfrm>
        </p:grpSpPr>
        <p:sp>
          <p:nvSpPr>
            <p:cNvPr id="6" name="Rectangle 5"/>
            <p:cNvSpPr/>
            <p:nvPr/>
          </p:nvSpPr>
          <p:spPr>
            <a:xfrm>
              <a:off x="6748280" y="2412030"/>
              <a:ext cx="1484709" cy="901530"/>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Acheteurs locaux</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Bureau des Achats Industriels</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Acheteurs Outre-Mer</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Bureau d’approvisionnement</a:t>
              </a:r>
              <a:endParaRPr lang="fr-FR" sz="900" dirty="0">
                <a:solidFill>
                  <a:schemeClr val="tx1"/>
                </a:solidFill>
                <a:latin typeface="Arial" pitchFamily="34" charset="0"/>
                <a:cs typeface="Arial" pitchFamily="34" charset="0"/>
              </a:endParaRPr>
            </a:p>
          </p:txBody>
        </p:sp>
        <p:sp>
          <p:nvSpPr>
            <p:cNvPr id="18" name="Rectangle 17"/>
            <p:cNvSpPr/>
            <p:nvPr/>
          </p:nvSpPr>
          <p:spPr>
            <a:xfrm>
              <a:off x="6697857" y="2111948"/>
              <a:ext cx="99738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Public cible</a:t>
              </a:r>
            </a:p>
          </p:txBody>
        </p:sp>
      </p:grpSp>
      <p:grpSp>
        <p:nvGrpSpPr>
          <p:cNvPr id="15" name="Groupe 14"/>
          <p:cNvGrpSpPr/>
          <p:nvPr/>
        </p:nvGrpSpPr>
        <p:grpSpPr>
          <a:xfrm>
            <a:off x="6474246" y="3407285"/>
            <a:ext cx="1915016" cy="813860"/>
            <a:chOff x="6696969" y="3407285"/>
            <a:chExt cx="1536020" cy="813860"/>
          </a:xfrm>
        </p:grpSpPr>
        <p:sp>
          <p:nvSpPr>
            <p:cNvPr id="13" name="Rectangle 12"/>
            <p:cNvSpPr/>
            <p:nvPr/>
          </p:nvSpPr>
          <p:spPr>
            <a:xfrm>
              <a:off x="6748280" y="3689526"/>
              <a:ext cx="1484709" cy="531619"/>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Introduction à SAP</a:t>
              </a:r>
              <a:endParaRPr lang="fr-FR" sz="900" dirty="0">
                <a:solidFill>
                  <a:schemeClr val="tx1"/>
                </a:solidFill>
                <a:latin typeface="Arial" pitchFamily="34" charset="0"/>
                <a:cs typeface="Arial" pitchFamily="34" charset="0"/>
              </a:endParaRPr>
            </a:p>
          </p:txBody>
        </p:sp>
        <p:sp>
          <p:nvSpPr>
            <p:cNvPr id="20" name="Rectangle 19"/>
            <p:cNvSpPr/>
            <p:nvPr/>
          </p:nvSpPr>
          <p:spPr>
            <a:xfrm>
              <a:off x="6696969" y="3407285"/>
              <a:ext cx="918201"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Pré-requis</a:t>
              </a:r>
            </a:p>
          </p:txBody>
        </p:sp>
      </p:grpSp>
      <p:pic>
        <p:nvPicPr>
          <p:cNvPr id="9" name="Image 8"/>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5761" y="2571750"/>
            <a:ext cx="1737511" cy="1731414"/>
          </a:xfrm>
          <a:prstGeom prst="rect">
            <a:avLst/>
          </a:prstGeom>
        </p:spPr>
      </p:pic>
    </p:spTree>
    <p:extLst>
      <p:ext uri="{BB962C8B-B14F-4D97-AF65-F5344CB8AC3E}">
        <p14:creationId xmlns:p14="http://schemas.microsoft.com/office/powerpoint/2010/main" val="15319219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72068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67527976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lstStyle/>
          <a:p>
            <a:r>
              <a:rPr lang="fr-FR" altLang="en-US" sz="2400" dirty="0" smtClean="0"/>
              <a:t>Description du processus métier</a:t>
            </a:r>
            <a:r>
              <a:rPr lang="fr-FR" altLang="en-US" dirty="0" smtClean="0"/>
              <a:t/>
            </a:r>
            <a:br>
              <a:rPr lang="fr-FR" altLang="en-US" dirty="0" smtClean="0"/>
            </a:br>
            <a:r>
              <a:rPr lang="fr-FR" altLang="en-US" dirty="0" smtClean="0"/>
              <a:t>Les enjeux du processus</a:t>
            </a:r>
            <a:endParaRPr lang="en-US" altLang="en-US" dirty="0" smtClean="0"/>
          </a:p>
        </p:txBody>
      </p:sp>
      <p:sp>
        <p:nvSpPr>
          <p:cNvPr id="2" name="Espace réservé du contenu 1"/>
          <p:cNvSpPr>
            <a:spLocks noGrp="1"/>
          </p:cNvSpPr>
          <p:nvPr>
            <p:ph idx="1"/>
          </p:nvPr>
        </p:nvSpPr>
        <p:spPr>
          <a:xfrm>
            <a:off x="573578" y="1152525"/>
            <a:ext cx="8246571" cy="3240571"/>
          </a:xfrm>
        </p:spPr>
        <p:txBody>
          <a:bodyPr/>
          <a:lstStyle/>
          <a:p>
            <a:r>
              <a:rPr lang="fr-FR" dirty="0" smtClean="0"/>
              <a:t>La gestion du MRP, qui n’est autre que la planification des besoins, s’inscrit dans le cadre du processus d’achats direct. Ce processus permet :</a:t>
            </a:r>
          </a:p>
          <a:p>
            <a:r>
              <a:rPr lang="fr-FR" b="1" dirty="0" smtClean="0">
                <a:solidFill>
                  <a:srgbClr val="0070C0"/>
                </a:solidFill>
              </a:rPr>
              <a:t>Pour les Achats</a:t>
            </a:r>
          </a:p>
          <a:p>
            <a:pPr marL="171450" indent="-171450">
              <a:buClr>
                <a:srgbClr val="0070C0"/>
              </a:buClr>
              <a:buSzPct val="100000"/>
              <a:buFont typeface="Arial" panose="020B0604020202020204" pitchFamily="34" charset="0"/>
              <a:buChar char="•"/>
            </a:pPr>
            <a:r>
              <a:rPr lang="fr-FR" dirty="0"/>
              <a:t>De planifier les réapprovisionnements en fonctions des paramètres de planification </a:t>
            </a:r>
            <a:r>
              <a:rPr lang="fr-FR" dirty="0" smtClean="0"/>
              <a:t>des articles</a:t>
            </a:r>
          </a:p>
          <a:p>
            <a:pPr marL="171450" indent="-171450">
              <a:buClr>
                <a:srgbClr val="0070C0"/>
              </a:buClr>
              <a:buSzPct val="100000"/>
              <a:buFont typeface="Arial" panose="020B0604020202020204" pitchFamily="34" charset="0"/>
              <a:buChar char="•"/>
            </a:pPr>
            <a:r>
              <a:rPr lang="fr-FR" dirty="0" smtClean="0"/>
              <a:t>De réduire les ruptures de stock à la CBG</a:t>
            </a:r>
          </a:p>
          <a:p>
            <a:pPr marL="171450" indent="-171450">
              <a:buClr>
                <a:srgbClr val="0070C0"/>
              </a:buClr>
              <a:buSzPct val="100000"/>
              <a:buFont typeface="Arial" panose="020B0604020202020204" pitchFamily="34" charset="0"/>
              <a:buChar char="•"/>
            </a:pPr>
            <a:r>
              <a:rPr lang="fr-FR" dirty="0" smtClean="0"/>
              <a:t>De réduire la quantité de stock à la CBG</a:t>
            </a:r>
          </a:p>
        </p:txBody>
      </p:sp>
    </p:spTree>
    <p:extLst>
      <p:ext uri="{BB962C8B-B14F-4D97-AF65-F5344CB8AC3E}">
        <p14:creationId xmlns:p14="http://schemas.microsoft.com/office/powerpoint/2010/main" val="1028002946"/>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3304734" y="1773937"/>
            <a:ext cx="1487553" cy="1877731"/>
          </a:xfrm>
          <a:prstGeom prst="rect">
            <a:avLst/>
          </a:prstGeom>
        </p:spPr>
      </p:pic>
      <p:sp>
        <p:nvSpPr>
          <p:cNvPr id="28674" name="Titre 1"/>
          <p:cNvSpPr>
            <a:spLocks noGrp="1"/>
          </p:cNvSpPr>
          <p:nvPr>
            <p:ph type="title"/>
          </p:nvPr>
        </p:nvSpPr>
        <p:spPr/>
        <p:txBody>
          <a:bodyPr/>
          <a:lstStyle/>
          <a:p>
            <a:r>
              <a:rPr lang="fr-FR" altLang="en-US" sz="2400" dirty="0" smtClean="0"/>
              <a:t>Description du processus métier</a:t>
            </a:r>
            <a:r>
              <a:rPr lang="fr-FR" altLang="en-US" dirty="0" smtClean="0"/>
              <a:t/>
            </a:r>
            <a:br>
              <a:rPr lang="fr-FR" altLang="en-US" dirty="0" smtClean="0"/>
            </a:br>
            <a:r>
              <a:rPr lang="fr-FR" altLang="en-US" dirty="0" smtClean="0"/>
              <a:t>Gestion du MRP</a:t>
            </a:r>
            <a:endParaRPr lang="en-US" altLang="en-US" dirty="0" smtClean="0"/>
          </a:p>
        </p:txBody>
      </p:sp>
      <p:sp>
        <p:nvSpPr>
          <p:cNvPr id="28675" name="Espace réservé du numéro de diapositive 3"/>
          <p:cNvSpPr>
            <a:spLocks noGrp="1"/>
          </p:cNvSpPr>
          <p:nvPr>
            <p:ph type="sldNum" sz="quarter" idx="4294967295"/>
          </p:nvPr>
        </p:nvSpPr>
        <p:spPr>
          <a:xfrm>
            <a:off x="7010400" y="4767263"/>
            <a:ext cx="2133600" cy="274637"/>
          </a:xfrm>
          <a:prstGeom prst="rect">
            <a:avLst/>
          </a:prstGeom>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fld id="{B5E4A77F-B84E-41D2-B4CA-28AF5FFC85A6}" type="slidenum">
              <a:rPr lang="fr-FR" altLang="en-US" smtClean="0"/>
              <a:pPr/>
              <a:t>6</a:t>
            </a:fld>
            <a:endParaRPr lang="fr-FR" altLang="en-US"/>
          </a:p>
        </p:txBody>
      </p:sp>
      <p:sp>
        <p:nvSpPr>
          <p:cNvPr id="28678" name="AutoShape 6"/>
          <p:cNvSpPr>
            <a:spLocks noChangeArrowheads="1"/>
          </p:cNvSpPr>
          <p:nvPr/>
        </p:nvSpPr>
        <p:spPr bwMode="auto">
          <a:xfrm>
            <a:off x="1613861" y="1534837"/>
            <a:ext cx="1570434" cy="478201"/>
          </a:xfrm>
          <a:prstGeom prst="wedgeRoundRectCallout">
            <a:avLst>
              <a:gd name="adj1" fmla="val 56951"/>
              <a:gd name="adj2" fmla="val 99742"/>
              <a:gd name="adj3" fmla="val 16667"/>
            </a:avLst>
          </a:prstGeom>
          <a:ln>
            <a:headEnd type="none" w="sm" len="sm"/>
            <a:tailEnd type="none" w="sm" len="sm"/>
          </a:ln>
        </p:spPr>
        <p:style>
          <a:lnRef idx="0">
            <a:schemeClr val="accent4"/>
          </a:lnRef>
          <a:fillRef idx="3">
            <a:schemeClr val="accent4"/>
          </a:fillRef>
          <a:effectRef idx="3">
            <a:schemeClr val="accent4"/>
          </a:effectRef>
          <a:fontRef idx="minor">
            <a:schemeClr val="lt1"/>
          </a:fontRef>
        </p:style>
        <p:txBody>
          <a:bodyPr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spcBef>
                <a:spcPts val="225"/>
              </a:spcBef>
            </a:pPr>
            <a:r>
              <a:rPr lang="fr-FR" altLang="en-US" sz="1050" dirty="0">
                <a:cs typeface="Arial" panose="020B0604020202020204" pitchFamily="34" charset="0"/>
              </a:rPr>
              <a:t>Quand dois-je </a:t>
            </a:r>
            <a:r>
              <a:rPr lang="fr-FR" altLang="en-US" sz="1050" dirty="0" smtClean="0">
                <a:cs typeface="Arial" panose="020B0604020202020204" pitchFamily="34" charset="0"/>
              </a:rPr>
              <a:t>lancer le MRP ?</a:t>
            </a:r>
            <a:endParaRPr lang="fr-FR" altLang="en-US" sz="1050" dirty="0">
              <a:cs typeface="Arial" panose="020B0604020202020204" pitchFamily="34" charset="0"/>
            </a:endParaRPr>
          </a:p>
        </p:txBody>
      </p:sp>
      <p:sp>
        <p:nvSpPr>
          <p:cNvPr id="28679" name="AutoShape 7"/>
          <p:cNvSpPr>
            <a:spLocks noChangeArrowheads="1"/>
          </p:cNvSpPr>
          <p:nvPr/>
        </p:nvSpPr>
        <p:spPr bwMode="auto">
          <a:xfrm>
            <a:off x="1450182" y="3506175"/>
            <a:ext cx="1647825" cy="656973"/>
          </a:xfrm>
          <a:prstGeom prst="wedgeRoundRectCallout">
            <a:avLst>
              <a:gd name="adj1" fmla="val 51847"/>
              <a:gd name="adj2" fmla="val -107324"/>
              <a:gd name="adj3" fmla="val 16667"/>
            </a:avLst>
          </a:prstGeom>
          <a:gradFill>
            <a:gsLst>
              <a:gs pos="0">
                <a:srgbClr val="0070C0"/>
              </a:gs>
              <a:gs pos="100000">
                <a:srgbClr val="4F81BD"/>
              </a:gs>
            </a:gsLst>
          </a:gradFill>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ts val="225"/>
              </a:spcBef>
            </a:pPr>
            <a:r>
              <a:rPr lang="fr-FR" altLang="en-US" sz="1050" dirty="0" smtClean="0">
                <a:solidFill>
                  <a:schemeClr val="bg1"/>
                </a:solidFill>
                <a:cs typeface="Arial" panose="020B0604020202020204" pitchFamily="34" charset="0"/>
              </a:rPr>
              <a:t>Quelles sont les données nécessaires d’un MRP ?</a:t>
            </a:r>
            <a:endParaRPr lang="fr-FR" altLang="en-US" sz="1050" dirty="0">
              <a:solidFill>
                <a:schemeClr val="bg1"/>
              </a:solidFill>
              <a:cs typeface="Arial" panose="020B0604020202020204" pitchFamily="34" charset="0"/>
            </a:endParaRPr>
          </a:p>
        </p:txBody>
      </p:sp>
      <p:sp>
        <p:nvSpPr>
          <p:cNvPr id="28680" name="AutoShape 9"/>
          <p:cNvSpPr>
            <a:spLocks noChangeArrowheads="1"/>
          </p:cNvSpPr>
          <p:nvPr/>
        </p:nvSpPr>
        <p:spPr bwMode="auto">
          <a:xfrm>
            <a:off x="5205740" y="2308117"/>
            <a:ext cx="2806264" cy="478201"/>
          </a:xfrm>
          <a:prstGeom prst="wedgeRoundRectCallout">
            <a:avLst>
              <a:gd name="adj1" fmla="val -67236"/>
              <a:gd name="adj2" fmla="val -61064"/>
              <a:gd name="adj3" fmla="val 16667"/>
            </a:avLst>
          </a:prstGeom>
          <a:ln>
            <a:headEnd type="none" w="sm" len="sm"/>
            <a:tailEnd type="none" w="sm" len="sm"/>
          </a:ln>
        </p:spPr>
        <p:style>
          <a:lnRef idx="0">
            <a:schemeClr val="accent3"/>
          </a:lnRef>
          <a:fillRef idx="3">
            <a:schemeClr val="accent3"/>
          </a:fillRef>
          <a:effectRef idx="3">
            <a:schemeClr val="accent3"/>
          </a:effectRef>
          <a:fontRef idx="minor">
            <a:schemeClr val="lt1"/>
          </a:fontRef>
        </p:style>
        <p:txBody>
          <a:bodyPr wrap="square"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ts val="225"/>
              </a:spcBef>
            </a:pPr>
            <a:r>
              <a:rPr lang="fr-FR" altLang="en-US" sz="1050" dirty="0" smtClean="0">
                <a:solidFill>
                  <a:schemeClr val="bg1"/>
                </a:solidFill>
              </a:rPr>
              <a:t>Le MRP sera lancé d’une manière automatique</a:t>
            </a:r>
            <a:endParaRPr lang="fr-FR" altLang="en-US" sz="1050" dirty="0">
              <a:solidFill>
                <a:schemeClr val="bg1"/>
              </a:solidFill>
            </a:endParaRPr>
          </a:p>
        </p:txBody>
      </p:sp>
      <p:sp>
        <p:nvSpPr>
          <p:cNvPr id="28681" name="AutoShape 12"/>
          <p:cNvSpPr>
            <a:spLocks noChangeArrowheads="1"/>
          </p:cNvSpPr>
          <p:nvPr/>
        </p:nvSpPr>
        <p:spPr bwMode="auto">
          <a:xfrm>
            <a:off x="4888041" y="1655707"/>
            <a:ext cx="2701669" cy="299429"/>
          </a:xfrm>
          <a:prstGeom prst="wedgeRoundRectCallout">
            <a:avLst>
              <a:gd name="adj1" fmla="val -55845"/>
              <a:gd name="adj2" fmla="val 45226"/>
              <a:gd name="adj3" fmla="val 16667"/>
            </a:avLst>
          </a:prstGeom>
          <a:ln>
            <a:headEnd type="none" w="sm" len="sm"/>
            <a:tailEnd type="none" w="sm" len="sm"/>
          </a:ln>
        </p:spPr>
        <p:style>
          <a:lnRef idx="0">
            <a:schemeClr val="accent4"/>
          </a:lnRef>
          <a:fillRef idx="3">
            <a:schemeClr val="accent4"/>
          </a:fillRef>
          <a:effectRef idx="3">
            <a:schemeClr val="accent4"/>
          </a:effectRef>
          <a:fontRef idx="minor">
            <a:schemeClr val="lt1"/>
          </a:fontRef>
        </p:style>
        <p:txBody>
          <a:bodyPr wrap="square"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ts val="225"/>
              </a:spcBef>
            </a:pPr>
            <a:r>
              <a:rPr lang="fr-FR" altLang="en-US" sz="1050" dirty="0" smtClean="0"/>
              <a:t>Le MRP sera lancé une fois par semaine </a:t>
            </a:r>
            <a:endParaRPr lang="fr-FR" altLang="en-US" sz="1050" dirty="0"/>
          </a:p>
        </p:txBody>
      </p:sp>
      <p:sp>
        <p:nvSpPr>
          <p:cNvPr id="28682" name="AutoShape 6"/>
          <p:cNvSpPr>
            <a:spLocks noChangeArrowheads="1"/>
          </p:cNvSpPr>
          <p:nvPr/>
        </p:nvSpPr>
        <p:spPr bwMode="auto">
          <a:xfrm>
            <a:off x="1739947" y="2484250"/>
            <a:ext cx="1151334" cy="478201"/>
          </a:xfrm>
          <a:prstGeom prst="wedgeRoundRectCallout">
            <a:avLst>
              <a:gd name="adj1" fmla="val 86777"/>
              <a:gd name="adj2" fmla="val -38901"/>
              <a:gd name="adj3" fmla="val 16667"/>
            </a:avLst>
          </a:prstGeom>
          <a:ln>
            <a:headEnd type="none" w="sm" len="sm"/>
            <a:tailEnd type="none" w="sm" len="sm"/>
          </a:ln>
        </p:spPr>
        <p:style>
          <a:lnRef idx="0">
            <a:schemeClr val="accent3"/>
          </a:lnRef>
          <a:fillRef idx="3">
            <a:schemeClr val="accent3"/>
          </a:fillRef>
          <a:effectRef idx="3">
            <a:schemeClr val="accent3"/>
          </a:effectRef>
          <a:fontRef idx="minor">
            <a:schemeClr val="lt1"/>
          </a:fontRef>
        </p:style>
        <p:txBody>
          <a:bodyPr lIns="54000" tIns="54000" rIns="54000" bIns="54000" anchor="ctr">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ts val="225"/>
              </a:spcBef>
            </a:pPr>
            <a:r>
              <a:rPr lang="fr-FR" altLang="en-US" sz="1050" dirty="0">
                <a:solidFill>
                  <a:schemeClr val="bg1"/>
                </a:solidFill>
                <a:cs typeface="Arial" panose="020B0604020202020204" pitchFamily="34" charset="0"/>
              </a:rPr>
              <a:t>Qui doit </a:t>
            </a:r>
            <a:r>
              <a:rPr lang="fr-FR" altLang="en-US" sz="1050" dirty="0" smtClean="0">
                <a:solidFill>
                  <a:schemeClr val="bg1"/>
                </a:solidFill>
                <a:cs typeface="Arial" panose="020B0604020202020204" pitchFamily="34" charset="0"/>
              </a:rPr>
              <a:t>lancer le MRP ?</a:t>
            </a:r>
            <a:endParaRPr lang="fr-FR" altLang="en-US" sz="1050" dirty="0">
              <a:solidFill>
                <a:schemeClr val="bg1"/>
              </a:solidFill>
              <a:cs typeface="Arial" panose="020B0604020202020204" pitchFamily="34" charset="0"/>
            </a:endParaRPr>
          </a:p>
        </p:txBody>
      </p:sp>
      <p:sp>
        <p:nvSpPr>
          <p:cNvPr id="28685" name="AutoShape 10"/>
          <p:cNvSpPr>
            <a:spLocks noChangeArrowheads="1"/>
          </p:cNvSpPr>
          <p:nvPr/>
        </p:nvSpPr>
        <p:spPr bwMode="auto">
          <a:xfrm>
            <a:off x="5312709" y="3071009"/>
            <a:ext cx="2648962" cy="1372063"/>
          </a:xfrm>
          <a:prstGeom prst="wedgeRoundRectCallout">
            <a:avLst>
              <a:gd name="adj1" fmla="val -69746"/>
              <a:gd name="adj2" fmla="val -39699"/>
              <a:gd name="adj3" fmla="val 16667"/>
            </a:avLst>
          </a:prstGeom>
          <a:gradFill>
            <a:gsLst>
              <a:gs pos="0">
                <a:srgbClr val="0070C0"/>
              </a:gs>
              <a:gs pos="100000">
                <a:srgbClr val="4F81BD"/>
              </a:gs>
            </a:gsLst>
          </a:gradFill>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wrap="square" lIns="54000" tIns="54000" rIns="54000" bIns="54000" anchor="ctr">
            <a:spAutoFit/>
          </a:bodyPr>
          <a:lstStyle/>
          <a:p>
            <a:pPr marL="171450" indent="-171450" eaLnBrk="0" hangingPunct="0">
              <a:buFont typeface="Arial" panose="020B0604020202020204" pitchFamily="34" charset="0"/>
              <a:buChar char="•"/>
            </a:pPr>
            <a:r>
              <a:rPr lang="fr-FR" sz="105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Les données renseignées dans les  vues « Planification des besoins » des fiches articles</a:t>
            </a:r>
          </a:p>
          <a:p>
            <a:pPr marL="171450" indent="-171450" eaLnBrk="0" hangingPunct="0">
              <a:buFont typeface="Arial" panose="020B0604020202020204" pitchFamily="34" charset="0"/>
              <a:buChar char="•"/>
            </a:pPr>
            <a:r>
              <a:rPr lang="fr-FR" sz="105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Les fiches info-achats</a:t>
            </a:r>
          </a:p>
          <a:p>
            <a:pPr marL="171450" indent="-171450" eaLnBrk="0" hangingPunct="0">
              <a:buFont typeface="Arial" panose="020B0604020202020204" pitchFamily="34" charset="0"/>
              <a:buChar char="•"/>
            </a:pPr>
            <a:r>
              <a:rPr lang="fr-FR" sz="105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Les répertoires des sources d’approvisionnement</a:t>
            </a:r>
          </a:p>
          <a:p>
            <a:pPr marL="171450" indent="-171450" eaLnBrk="0" hangingPunct="0">
              <a:buFont typeface="Arial" panose="020B0604020202020204" pitchFamily="34" charset="0"/>
              <a:buChar char="•"/>
            </a:pPr>
            <a:r>
              <a:rPr lang="fr-FR" sz="105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Le stock disponible</a:t>
            </a:r>
            <a:endParaRPr lang="en-US" sz="1050"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572544412"/>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062823" y="1379621"/>
            <a:ext cx="2048434" cy="1524132"/>
          </a:xfrm>
          <a:prstGeom prst="rect">
            <a:avLst/>
          </a:prstGeom>
        </p:spPr>
      </p:pic>
      <p:sp>
        <p:nvSpPr>
          <p:cNvPr id="29698" name="Titre 1"/>
          <p:cNvSpPr>
            <a:spLocks noGrp="1"/>
          </p:cNvSpPr>
          <p:nvPr>
            <p:ph type="title"/>
          </p:nvPr>
        </p:nvSpPr>
        <p:spPr/>
        <p:txBody>
          <a:bodyPr/>
          <a:lstStyle/>
          <a:p>
            <a:r>
              <a:rPr lang="fr-FR" altLang="en-US" sz="2400" dirty="0" smtClean="0"/>
              <a:t>Description du processus métier</a:t>
            </a:r>
            <a:br>
              <a:rPr lang="fr-FR" altLang="en-US" sz="2400" dirty="0" smtClean="0"/>
            </a:br>
            <a:r>
              <a:rPr lang="fr-FR" altLang="en-US" dirty="0" smtClean="0"/>
              <a:t>Un sous processus de la gestion du MRP</a:t>
            </a:r>
            <a:endParaRPr lang="en-US" altLang="en-US" dirty="0" smtClean="0"/>
          </a:p>
        </p:txBody>
      </p:sp>
      <p:sp>
        <p:nvSpPr>
          <p:cNvPr id="20" name="Rectangle à coins arrondis 19"/>
          <p:cNvSpPr/>
          <p:nvPr/>
        </p:nvSpPr>
        <p:spPr>
          <a:xfrm>
            <a:off x="4355243" y="1090135"/>
            <a:ext cx="2874704" cy="478201"/>
          </a:xfrm>
          <a:prstGeom prst="wedgeRoundRectCallout">
            <a:avLst>
              <a:gd name="adj1" fmla="val -64419"/>
              <a:gd name="adj2" fmla="val 51026"/>
              <a:gd name="adj3" fmla="val 16667"/>
            </a:avLst>
          </a:prstGeom>
          <a:gradFill>
            <a:gsLst>
              <a:gs pos="0">
                <a:srgbClr val="0070C0"/>
              </a:gs>
              <a:gs pos="100000">
                <a:srgbClr val="4F81BD"/>
              </a:gs>
            </a:gsLst>
          </a:gradFill>
          <a:ln>
            <a:headEnd type="none" w="sm" len="sm"/>
            <a:tailEnd type="none" w="sm" len="sm"/>
          </a:ln>
        </p:spPr>
        <p:style>
          <a:lnRef idx="0">
            <a:schemeClr val="accent2"/>
          </a:lnRef>
          <a:fillRef idx="3">
            <a:schemeClr val="accent2"/>
          </a:fillRef>
          <a:effectRef idx="3">
            <a:schemeClr val="accent2"/>
          </a:effectRef>
          <a:fontRef idx="minor">
            <a:schemeClr val="lt1"/>
          </a:fontRef>
        </p:style>
        <p:txBody>
          <a:bodyPr wrap="square" lIns="54000" tIns="54000" rIns="54000" bIns="54000" anchor="ctr">
            <a:spAutoFit/>
          </a:bodyPr>
          <a:lstStyle/>
          <a:p>
            <a:pPr marL="171450" indent="-171450">
              <a:spcBef>
                <a:spcPts val="225"/>
              </a:spcBef>
              <a:buFont typeface="Arial" panose="020B0604020202020204" pitchFamily="34" charset="0"/>
              <a:buChar char="•"/>
            </a:pPr>
            <a:r>
              <a:rPr lang="fr-FR" sz="1050" dirty="0">
                <a:solidFill>
                  <a:schemeClr val="bg1"/>
                </a:solidFill>
                <a:latin typeface="Arial" panose="020B0604020202020204" pitchFamily="34" charset="0"/>
                <a:ea typeface="ＭＳ Ｐゴシック" panose="020B0600070205080204" pitchFamily="34" charset="-128"/>
              </a:rPr>
              <a:t>La gestion </a:t>
            </a:r>
            <a:r>
              <a:rPr lang="fr-FR" sz="1050" dirty="0" smtClean="0">
                <a:solidFill>
                  <a:schemeClr val="bg1"/>
                </a:solidFill>
                <a:latin typeface="Arial" panose="020B0604020202020204" pitchFamily="34" charset="0"/>
                <a:ea typeface="ＭＳ Ｐゴシック" panose="020B0600070205080204" pitchFamily="34" charset="-128"/>
              </a:rPr>
              <a:t>du MRP fait partie du processus des Achats directs</a:t>
            </a:r>
          </a:p>
        </p:txBody>
      </p:sp>
      <p:grpSp>
        <p:nvGrpSpPr>
          <p:cNvPr id="2" name="Groupe 1"/>
          <p:cNvGrpSpPr/>
          <p:nvPr/>
        </p:nvGrpSpPr>
        <p:grpSpPr>
          <a:xfrm>
            <a:off x="1989045" y="3019724"/>
            <a:ext cx="1691553" cy="990156"/>
            <a:chOff x="1395487" y="3019724"/>
            <a:chExt cx="1691553" cy="990156"/>
          </a:xfrm>
        </p:grpSpPr>
        <p:sp>
          <p:nvSpPr>
            <p:cNvPr id="29701" name="AutoShape 17"/>
            <p:cNvSpPr>
              <a:spLocks noChangeArrowheads="1"/>
            </p:cNvSpPr>
            <p:nvPr/>
          </p:nvSpPr>
          <p:spPr bwMode="auto">
            <a:xfrm>
              <a:off x="1395487" y="3019724"/>
              <a:ext cx="1691553" cy="400050"/>
            </a:xfrm>
            <a:prstGeom prst="chevron">
              <a:avLst>
                <a:gd name="adj" fmla="val 28704"/>
              </a:avLst>
            </a:prstGeom>
            <a:solidFill>
              <a:srgbClr val="0070C0"/>
            </a:solidFill>
            <a:ln w="12700" algn="ctr">
              <a:solidFill>
                <a:srgbClr val="004376"/>
              </a:solidFill>
              <a:miter lim="800000"/>
              <a:headEnd/>
              <a:tailEnd/>
            </a:ln>
          </p:spPr>
          <p:txBody>
            <a:bodyPr lIns="0" tIns="68580" rIns="108000" bIns="68580" anchor="ctr"/>
            <a:lstStyle>
              <a:lvl1pPr marL="93663"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r>
                <a:rPr lang="fr-FR" altLang="ko-KR" sz="800" b="1" dirty="0" smtClean="0">
                  <a:solidFill>
                    <a:schemeClr val="bg1"/>
                  </a:solidFill>
                  <a:latin typeface="Verdana" panose="020B0604030504040204" pitchFamily="34" charset="0"/>
                  <a:cs typeface="Arial" panose="020B0604020202020204" pitchFamily="34" charset="0"/>
                </a:rPr>
                <a:t>Gestion des données MRP des articles</a:t>
              </a:r>
              <a:endParaRPr lang="fr-FR" altLang="ko-KR" sz="800" b="1" dirty="0">
                <a:solidFill>
                  <a:schemeClr val="bg1"/>
                </a:solidFill>
                <a:latin typeface="Verdana" panose="020B0604030504040204" pitchFamily="34" charset="0"/>
                <a:cs typeface="Arial" panose="020B0604020202020204" pitchFamily="34" charset="0"/>
              </a:endParaRPr>
            </a:p>
          </p:txBody>
        </p:sp>
        <p:sp>
          <p:nvSpPr>
            <p:cNvPr id="29702" name="AutoShape 18"/>
            <p:cNvSpPr>
              <a:spLocks noChangeArrowheads="1"/>
            </p:cNvSpPr>
            <p:nvPr/>
          </p:nvSpPr>
          <p:spPr bwMode="auto">
            <a:xfrm>
              <a:off x="1396679" y="3609830"/>
              <a:ext cx="1689924" cy="400050"/>
            </a:xfrm>
            <a:prstGeom prst="chevron">
              <a:avLst>
                <a:gd name="adj" fmla="val 28676"/>
              </a:avLst>
            </a:prstGeom>
            <a:solidFill>
              <a:srgbClr val="0070C0"/>
            </a:solidFill>
            <a:ln w="12700" algn="ctr">
              <a:solidFill>
                <a:srgbClr val="004376"/>
              </a:solidFill>
              <a:miter lim="800000"/>
              <a:headEnd/>
              <a:tailEnd/>
            </a:ln>
          </p:spPr>
          <p:txBody>
            <a:bodyPr lIns="0" tIns="68580" rIns="108000" bIns="68580" anchor="ctr"/>
            <a:lstStyle>
              <a:lvl1pPr marL="93663"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r>
                <a:rPr lang="fr-FR" altLang="ko-KR" sz="800" b="1" dirty="0" smtClean="0">
                  <a:solidFill>
                    <a:schemeClr val="bg1"/>
                  </a:solidFill>
                  <a:latin typeface="Verdana" panose="020B0604030504040204" pitchFamily="34" charset="0"/>
                  <a:cs typeface="Arial" panose="020B0604020202020204" pitchFamily="34" charset="0"/>
                </a:rPr>
                <a:t>Gestion des sources d’approvisionnement</a:t>
              </a:r>
              <a:endParaRPr lang="fr-FR" altLang="ko-KR" sz="800" b="1" dirty="0">
                <a:solidFill>
                  <a:schemeClr val="bg1"/>
                </a:solidFill>
                <a:latin typeface="Verdana" panose="020B0604030504040204" pitchFamily="34" charset="0"/>
                <a:cs typeface="Arial" panose="020B0604020202020204" pitchFamily="34" charset="0"/>
              </a:endParaRPr>
            </a:p>
          </p:txBody>
        </p:sp>
      </p:grpSp>
      <p:sp>
        <p:nvSpPr>
          <p:cNvPr id="9" name="AutoShape 18"/>
          <p:cNvSpPr>
            <a:spLocks noChangeArrowheads="1"/>
          </p:cNvSpPr>
          <p:nvPr/>
        </p:nvSpPr>
        <p:spPr bwMode="auto">
          <a:xfrm>
            <a:off x="3741515" y="3305030"/>
            <a:ext cx="1689924" cy="400050"/>
          </a:xfrm>
          <a:prstGeom prst="chevron">
            <a:avLst>
              <a:gd name="adj" fmla="val 28676"/>
            </a:avLst>
          </a:prstGeom>
          <a:solidFill>
            <a:srgbClr val="0070C0"/>
          </a:solidFill>
          <a:ln w="12700" algn="ctr">
            <a:solidFill>
              <a:srgbClr val="004376"/>
            </a:solidFill>
            <a:miter lim="800000"/>
            <a:headEnd/>
            <a:tailEnd/>
          </a:ln>
        </p:spPr>
        <p:txBody>
          <a:bodyPr lIns="0" tIns="68580" rIns="108000" bIns="68580" anchor="ctr"/>
          <a:lstStyle>
            <a:lvl1pPr marL="93663"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r>
              <a:rPr lang="fr-FR" altLang="ko-KR" sz="800" b="1" dirty="0" smtClean="0">
                <a:solidFill>
                  <a:schemeClr val="bg1"/>
                </a:solidFill>
                <a:latin typeface="Verdana" panose="020B0604030504040204" pitchFamily="34" charset="0"/>
                <a:cs typeface="Arial" panose="020B0604020202020204" pitchFamily="34" charset="0"/>
              </a:rPr>
              <a:t>MRP </a:t>
            </a:r>
            <a:r>
              <a:rPr lang="fr-FR" altLang="ko-KR" sz="800" b="1" dirty="0" err="1" smtClean="0">
                <a:solidFill>
                  <a:schemeClr val="bg1"/>
                </a:solidFill>
                <a:latin typeface="Verdana" panose="020B0604030504040204" pitchFamily="34" charset="0"/>
                <a:cs typeface="Arial" panose="020B0604020202020204" pitchFamily="34" charset="0"/>
              </a:rPr>
              <a:t>run</a:t>
            </a:r>
            <a:r>
              <a:rPr lang="fr-FR" altLang="ko-KR" sz="800" b="1" dirty="0" smtClean="0">
                <a:solidFill>
                  <a:schemeClr val="bg1"/>
                </a:solidFill>
                <a:latin typeface="Verdana" panose="020B0604030504040204" pitchFamily="34" charset="0"/>
                <a:cs typeface="Arial" panose="020B0604020202020204" pitchFamily="34" charset="0"/>
              </a:rPr>
              <a:t> (automatique)</a:t>
            </a:r>
            <a:endParaRPr lang="fr-FR" altLang="ko-KR" sz="800" b="1" dirty="0">
              <a:solidFill>
                <a:schemeClr val="bg1"/>
              </a:solidFill>
              <a:latin typeface="Verdana" panose="020B0604030504040204" pitchFamily="34" charset="0"/>
              <a:cs typeface="Arial" panose="020B0604020202020204" pitchFamily="34" charset="0"/>
            </a:endParaRPr>
          </a:p>
        </p:txBody>
      </p:sp>
      <p:sp>
        <p:nvSpPr>
          <p:cNvPr id="10" name="AutoShape 18"/>
          <p:cNvSpPr>
            <a:spLocks noChangeArrowheads="1"/>
          </p:cNvSpPr>
          <p:nvPr/>
        </p:nvSpPr>
        <p:spPr bwMode="auto">
          <a:xfrm>
            <a:off x="5492357" y="3305030"/>
            <a:ext cx="1689924" cy="400050"/>
          </a:xfrm>
          <a:prstGeom prst="chevron">
            <a:avLst>
              <a:gd name="adj" fmla="val 28676"/>
            </a:avLst>
          </a:prstGeom>
          <a:solidFill>
            <a:srgbClr val="0070C0"/>
          </a:solidFill>
          <a:ln w="12700" algn="ctr">
            <a:solidFill>
              <a:srgbClr val="004376"/>
            </a:solidFill>
            <a:miter lim="800000"/>
            <a:headEnd/>
            <a:tailEnd/>
          </a:ln>
        </p:spPr>
        <p:txBody>
          <a:bodyPr lIns="0" tIns="68580" rIns="108000" bIns="68580" anchor="ctr"/>
          <a:lstStyle>
            <a:lvl1pPr marL="93663"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algn="ctr"/>
            <a:r>
              <a:rPr lang="fr-FR" altLang="ko-KR" sz="800" b="1" dirty="0" smtClean="0">
                <a:solidFill>
                  <a:schemeClr val="bg1"/>
                </a:solidFill>
                <a:latin typeface="Verdana" panose="020B0604030504040204" pitchFamily="34" charset="0"/>
                <a:cs typeface="Arial" panose="020B0604020202020204" pitchFamily="34" charset="0"/>
              </a:rPr>
              <a:t>Génération automatique des demandes d’achat</a:t>
            </a:r>
            <a:endParaRPr lang="fr-FR" altLang="ko-KR" sz="800" b="1" dirty="0">
              <a:solidFill>
                <a:schemeClr val="bg1"/>
              </a:solidFill>
              <a:latin typeface="Verdana" panose="020B0604030504040204" pitchFamily="34" charset="0"/>
              <a:cs typeface="Arial" panose="020B0604020202020204" pitchFamily="34" charset="0"/>
            </a:endParaRPr>
          </a:p>
        </p:txBody>
      </p:sp>
    </p:spTree>
    <p:extLst>
      <p:ext uri="{BB962C8B-B14F-4D97-AF65-F5344CB8AC3E}">
        <p14:creationId xmlns:p14="http://schemas.microsoft.com/office/powerpoint/2010/main" val="178853090"/>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re 4"/>
          <p:cNvSpPr>
            <a:spLocks noGrp="1"/>
          </p:cNvSpPr>
          <p:nvPr>
            <p:ph type="title"/>
          </p:nvPr>
        </p:nvSpPr>
        <p:spPr/>
        <p:txBody>
          <a:bodyPr>
            <a:normAutofit/>
          </a:bodyPr>
          <a:lstStyle/>
          <a:p>
            <a:r>
              <a:rPr lang="fr-FR" altLang="en-US" sz="2400" dirty="0" smtClean="0"/>
              <a:t>Le processus de gestion du MRP, dans le cadre des achats directs</a:t>
            </a:r>
            <a:endParaRPr lang="en-US" altLang="en-US" sz="2400" dirty="0" smtClean="0"/>
          </a:p>
        </p:txBody>
      </p:sp>
      <p:pic>
        <p:nvPicPr>
          <p:cNvPr id="4" name="Image 3"/>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8856" y="851006"/>
            <a:ext cx="6886286" cy="3489614"/>
          </a:xfrm>
          <a:prstGeom prst="rect">
            <a:avLst/>
          </a:prstGeom>
          <a:noFill/>
        </p:spPr>
      </p:pic>
      <p:sp>
        <p:nvSpPr>
          <p:cNvPr id="2" name="Rectangle 1"/>
          <p:cNvSpPr/>
          <p:nvPr/>
        </p:nvSpPr>
        <p:spPr>
          <a:xfrm>
            <a:off x="1556814" y="934827"/>
            <a:ext cx="1939636" cy="1034741"/>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6" name="Rectangle 5"/>
          <p:cNvSpPr/>
          <p:nvPr/>
        </p:nvSpPr>
        <p:spPr>
          <a:xfrm>
            <a:off x="6658089" y="4391487"/>
            <a:ext cx="476022" cy="13716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 name="ZoneTexte 2"/>
          <p:cNvSpPr txBox="1"/>
          <p:nvPr/>
        </p:nvSpPr>
        <p:spPr>
          <a:xfrm>
            <a:off x="7286625" y="4321570"/>
            <a:ext cx="1400173" cy="276999"/>
          </a:xfrm>
          <a:prstGeom prst="rect">
            <a:avLst/>
          </a:prstGeom>
          <a:noFill/>
        </p:spPr>
        <p:txBody>
          <a:bodyPr wrap="square" rtlCol="0">
            <a:spAutoFit/>
          </a:bodyPr>
          <a:lstStyle/>
          <a:p>
            <a:r>
              <a:rPr lang="fr-FR" sz="1200" dirty="0" smtClean="0">
                <a:solidFill>
                  <a:srgbClr val="4D4F53"/>
                </a:solidFill>
              </a:rPr>
              <a:t>Focus formation</a:t>
            </a:r>
            <a:endParaRPr lang="en-US" sz="1200" dirty="0" smtClean="0">
              <a:solidFill>
                <a:srgbClr val="4D4F53"/>
              </a:solidFill>
            </a:endParaRPr>
          </a:p>
        </p:txBody>
      </p:sp>
    </p:spTree>
    <p:extLst>
      <p:ext uri="{BB962C8B-B14F-4D97-AF65-F5344CB8AC3E}">
        <p14:creationId xmlns:p14="http://schemas.microsoft.com/office/powerpoint/2010/main" val="419295775"/>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09723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68750923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Titre 3"/>
          <p:cNvSpPr>
            <a:spLocks noGrp="1"/>
          </p:cNvSpPr>
          <p:nvPr>
            <p:ph type="title"/>
          </p:nvPr>
        </p:nvSpPr>
        <p:spPr/>
        <p:txBody>
          <a:bodyPr/>
          <a:lstStyle/>
          <a:p>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a:t>
            </a:r>
          </a:p>
        </p:txBody>
      </p:sp>
      <p:sp>
        <p:nvSpPr>
          <p:cNvPr id="4" name="Rectangle 3"/>
          <p:cNvSpPr/>
          <p:nvPr/>
        </p:nvSpPr>
        <p:spPr>
          <a:xfrm>
            <a:off x="1485900" y="1438025"/>
            <a:ext cx="6001941" cy="423863"/>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defRPr/>
            </a:pPr>
            <a:r>
              <a:rPr lang="fr-FR" sz="1350" b="1" dirty="0" smtClean="0">
                <a:solidFill>
                  <a:schemeClr val="bg1"/>
                </a:solidFill>
                <a:latin typeface="Arial" pitchFamily="34" charset="0"/>
                <a:cs typeface="Arial" pitchFamily="34" charset="0"/>
              </a:rPr>
              <a:t>MRP</a:t>
            </a:r>
            <a:endParaRPr lang="en-US" sz="1350" b="1" dirty="0">
              <a:solidFill>
                <a:schemeClr val="bg1"/>
              </a:solidFill>
              <a:latin typeface="Arial" pitchFamily="34" charset="0"/>
              <a:cs typeface="Arial" pitchFamily="34" charset="0"/>
            </a:endParaRPr>
          </a:p>
        </p:txBody>
      </p:sp>
      <p:sp>
        <p:nvSpPr>
          <p:cNvPr id="36868" name="Espace réservé du contenu 4"/>
          <p:cNvSpPr>
            <a:spLocks noGrp="1"/>
          </p:cNvSpPr>
          <p:nvPr>
            <p:ph idx="1"/>
          </p:nvPr>
        </p:nvSpPr>
        <p:spPr>
          <a:xfrm>
            <a:off x="1485900" y="2151774"/>
            <a:ext cx="6172200" cy="545432"/>
          </a:xfrm>
        </p:spPr>
        <p:txBody>
          <a:bodyPr/>
          <a:lstStyle/>
          <a:p>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Le </a:t>
            </a:r>
            <a:r>
              <a:rPr lang="fr-FR" altLang="en-US" dirty="0" err="1">
                <a:latin typeface="Arial" panose="020B0604020202020204" pitchFamily="34" charset="0"/>
                <a:ea typeface="ＭＳ Ｐゴシック" panose="020B0600070205080204" pitchFamily="34" charset="-128"/>
                <a:cs typeface="Arial" panose="020B0604020202020204" pitchFamily="34" charset="0"/>
              </a:rPr>
              <a:t>material</a:t>
            </a:r>
            <a:r>
              <a:rPr lang="fr-FR" altLang="en-US" dirty="0">
                <a:latin typeface="Arial" panose="020B0604020202020204" pitchFamily="34" charset="0"/>
                <a:ea typeface="ＭＳ Ｐゴシック" panose="020B0600070205080204" pitchFamily="34" charset="-128"/>
                <a:cs typeface="Arial" panose="020B0604020202020204" pitchFamily="34" charset="0"/>
              </a:rPr>
              <a:t> </a:t>
            </a:r>
            <a:r>
              <a:rPr lang="fr-FR" altLang="en-US" dirty="0" err="1">
                <a:latin typeface="Arial" panose="020B0604020202020204" pitchFamily="34" charset="0"/>
                <a:ea typeface="ＭＳ Ｐゴシック" panose="020B0600070205080204" pitchFamily="34" charset="-128"/>
                <a:cs typeface="Arial" panose="020B0604020202020204" pitchFamily="34" charset="0"/>
              </a:rPr>
              <a:t>requirement</a:t>
            </a:r>
            <a:r>
              <a:rPr lang="fr-FR" altLang="en-US" dirty="0">
                <a:latin typeface="Arial" panose="020B0604020202020204" pitchFamily="34" charset="0"/>
                <a:ea typeface="ＭＳ Ｐゴシック" panose="020B0600070205080204" pitchFamily="34" charset="-128"/>
                <a:cs typeface="Arial" panose="020B0604020202020204" pitchFamily="34" charset="0"/>
              </a:rPr>
              <a:t> planning (MRP) ou en français, la planification des besoins en composants, est une aide pour la planification du réapprovisionnement du stock. </a:t>
            </a:r>
            <a:endParaRPr lang="fr-FR" altLang="en-US" dirty="0" smtClean="0">
              <a:latin typeface="Arial" panose="020B0604020202020204" pitchFamily="34" charset="0"/>
              <a:ea typeface="ＭＳ Ｐゴシック" panose="020B0600070205080204" pitchFamily="34" charset="-128"/>
              <a:cs typeface="Arial" panose="020B0604020202020204" pitchFamily="34" charset="0"/>
            </a:endParaRPr>
          </a:p>
          <a:p>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Il permet</a:t>
            </a:r>
            <a:r>
              <a:rPr lang="fr-FR" altLang="en-US" dirty="0">
                <a:latin typeface="Arial" panose="020B0604020202020204" pitchFamily="34" charset="0"/>
                <a:ea typeface="ＭＳ Ｐゴシック" panose="020B0600070205080204" pitchFamily="34" charset="-128"/>
                <a:cs typeface="Arial" panose="020B0604020202020204" pitchFamily="34" charset="0"/>
              </a:rPr>
              <a:t>, sur un horizon temporel, de comparer le stock disponible et prévisionnel à la demande, et de suggérer les demandes de réapprovisionnement adéquates</a:t>
            </a:r>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a:t>
            </a:r>
          </a:p>
          <a:p>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Pour la CBG, le MRP tournera automatiquement une fois par semaine. Il restera cependant possible pour les approvisionneurs de lancer manuellement un calcul en cas de besoin.</a:t>
            </a:r>
          </a:p>
        </p:txBody>
      </p:sp>
      <p:pic>
        <p:nvPicPr>
          <p:cNvPr id="2" name="Image 1"/>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444945" y="1439601"/>
            <a:ext cx="884968" cy="422288"/>
          </a:xfrm>
          <a:prstGeom prst="rect">
            <a:avLst/>
          </a:prstGeom>
        </p:spPr>
      </p:pic>
    </p:spTree>
    <p:extLst>
      <p:ext uri="{BB962C8B-B14F-4D97-AF65-F5344CB8AC3E}">
        <p14:creationId xmlns:p14="http://schemas.microsoft.com/office/powerpoint/2010/main" val="371032603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Titre 3"/>
          <p:cNvSpPr>
            <a:spLocks noGrp="1"/>
          </p:cNvSpPr>
          <p:nvPr>
            <p:ph type="title"/>
          </p:nvPr>
        </p:nvSpPr>
        <p:spPr/>
        <p:txBody>
          <a:bodyPr/>
          <a:lstStyle/>
          <a:p>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a:t>
            </a:r>
          </a:p>
        </p:txBody>
      </p:sp>
      <p:sp>
        <p:nvSpPr>
          <p:cNvPr id="36868" name="Espace réservé du contenu 4"/>
          <p:cNvSpPr>
            <a:spLocks noGrp="1"/>
          </p:cNvSpPr>
          <p:nvPr>
            <p:ph idx="1"/>
          </p:nvPr>
        </p:nvSpPr>
        <p:spPr>
          <a:xfrm>
            <a:off x="1485900" y="1988614"/>
            <a:ext cx="6172200" cy="497306"/>
          </a:xfrm>
        </p:spPr>
        <p:txBody>
          <a:bodyPr/>
          <a:lstStyle/>
          <a:p>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Le </a:t>
            </a:r>
            <a:r>
              <a:rPr lang="fr-FR" altLang="en-US" dirty="0">
                <a:latin typeface="Arial" panose="020B0604020202020204" pitchFamily="34" charset="0"/>
                <a:ea typeface="ＭＳ Ｐゴシック" panose="020B0600070205080204" pitchFamily="34" charset="-128"/>
                <a:cs typeface="Arial" panose="020B0604020202020204" pitchFamily="34" charset="0"/>
              </a:rPr>
              <a:t>répertoire des sources d'approvisionnement est utilisé pour gérer les sources d'approvisionnement. </a:t>
            </a:r>
            <a:endParaRPr lang="fr-FR" altLang="en-US" dirty="0" smtClean="0">
              <a:latin typeface="Arial" panose="020B0604020202020204" pitchFamily="34" charset="0"/>
              <a:ea typeface="ＭＳ Ｐゴシック" panose="020B0600070205080204" pitchFamily="34" charset="-128"/>
              <a:cs typeface="Arial" panose="020B0604020202020204" pitchFamily="34" charset="0"/>
            </a:endParaRPr>
          </a:p>
          <a:p>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Il </a:t>
            </a:r>
            <a:r>
              <a:rPr lang="fr-FR" altLang="en-US" dirty="0">
                <a:latin typeface="Arial" panose="020B0604020202020204" pitchFamily="34" charset="0"/>
                <a:ea typeface="ＭＳ Ｐゴシック" panose="020B0600070205080204" pitchFamily="34" charset="-128"/>
                <a:cs typeface="Arial" panose="020B0604020202020204" pitchFamily="34" charset="0"/>
              </a:rPr>
              <a:t>spécifie les sources d’approvisionnement autorisées (et interdites) d'un article pour une certaine division pendant une période prédéfinie. </a:t>
            </a:r>
            <a:endParaRPr lang="fr-FR" altLang="en-US" dirty="0" smtClean="0">
              <a:latin typeface="Arial" panose="020B0604020202020204" pitchFamily="34" charset="0"/>
              <a:ea typeface="ＭＳ Ｐゴシック" panose="020B0600070205080204" pitchFamily="34" charset="-128"/>
              <a:cs typeface="Arial" panose="020B0604020202020204" pitchFamily="34" charset="0"/>
            </a:endParaRPr>
          </a:p>
          <a:p>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Le </a:t>
            </a:r>
            <a:r>
              <a:rPr lang="fr-FR" altLang="en-US" dirty="0">
                <a:latin typeface="Arial" panose="020B0604020202020204" pitchFamily="34" charset="0"/>
                <a:ea typeface="ＭＳ Ｐゴシック" panose="020B0600070205080204" pitchFamily="34" charset="-128"/>
                <a:cs typeface="Arial" panose="020B0604020202020204" pitchFamily="34" charset="0"/>
              </a:rPr>
              <a:t>répertoire des sources d'approvisionnement sert par exemple à définir une source d'approvisionnement comme « fixe ». </a:t>
            </a:r>
            <a:endParaRPr lang="fr-FR" altLang="en-US" dirty="0" smtClean="0">
              <a:latin typeface="Arial" panose="020B0604020202020204" pitchFamily="34" charset="0"/>
              <a:ea typeface="ＭＳ Ｐゴシック" panose="020B0600070205080204" pitchFamily="34" charset="-128"/>
              <a:cs typeface="Arial" panose="020B0604020202020204" pitchFamily="34" charset="0"/>
            </a:endParaRPr>
          </a:p>
          <a:p>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Ces </a:t>
            </a:r>
            <a:r>
              <a:rPr lang="fr-FR" altLang="en-US" dirty="0">
                <a:latin typeface="Arial" panose="020B0604020202020204" pitchFamily="34" charset="0"/>
                <a:ea typeface="ＭＳ Ｐゴシック" panose="020B0600070205080204" pitchFamily="34" charset="-128"/>
                <a:cs typeface="Arial" panose="020B0604020202020204" pitchFamily="34" charset="0"/>
              </a:rPr>
              <a:t>sources sont considérées comme préférentielles pendant une certaine période. (Par exemple, le fournisseur attitré pour l'article 1 est Michel et Cie pendant le premier trimestre et Meunier pendant le deuxième trimestre de l'exercice.) . </a:t>
            </a:r>
            <a:endParaRPr lang="fr-FR"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7" name="Rectangle 6"/>
          <p:cNvSpPr/>
          <p:nvPr/>
        </p:nvSpPr>
        <p:spPr>
          <a:xfrm>
            <a:off x="1485900" y="1402556"/>
            <a:ext cx="6001941" cy="423863"/>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defRPr/>
            </a:pPr>
            <a:r>
              <a:rPr lang="fr-FR" sz="1350" b="1" dirty="0" smtClean="0">
                <a:solidFill>
                  <a:schemeClr val="bg1"/>
                </a:solidFill>
                <a:latin typeface="Arial" pitchFamily="34" charset="0"/>
                <a:cs typeface="Arial" pitchFamily="34" charset="0"/>
              </a:rPr>
              <a:t>Source d’approvisionnement</a:t>
            </a:r>
            <a:endParaRPr lang="en-US" sz="1350" b="1" dirty="0">
              <a:solidFill>
                <a:schemeClr val="bg1"/>
              </a:solidFill>
              <a:latin typeface="Arial" pitchFamily="34" charset="0"/>
              <a:cs typeface="Arial" pitchFamily="34" charset="0"/>
            </a:endParaRPr>
          </a:p>
        </p:txBody>
      </p:sp>
      <p:pic>
        <p:nvPicPr>
          <p:cNvPr id="8" name="Image 7"/>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444945" y="1404132"/>
            <a:ext cx="884968" cy="422288"/>
          </a:xfrm>
          <a:prstGeom prst="rect">
            <a:avLst/>
          </a:prstGeom>
        </p:spPr>
      </p:pic>
    </p:spTree>
    <p:extLst>
      <p:ext uri="{BB962C8B-B14F-4D97-AF65-F5344CB8AC3E}">
        <p14:creationId xmlns:p14="http://schemas.microsoft.com/office/powerpoint/2010/main" val="301988796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Titre 3"/>
          <p:cNvSpPr>
            <a:spLocks noGrp="1"/>
          </p:cNvSpPr>
          <p:nvPr>
            <p:ph type="title"/>
          </p:nvPr>
        </p:nvSpPr>
        <p:spPr/>
        <p:txBody>
          <a:bodyPr/>
          <a:lstStyle/>
          <a:p>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a:t>
            </a:r>
          </a:p>
        </p:txBody>
      </p:sp>
      <p:sp>
        <p:nvSpPr>
          <p:cNvPr id="36868" name="Espace réservé du contenu 4"/>
          <p:cNvSpPr>
            <a:spLocks noGrp="1"/>
          </p:cNvSpPr>
          <p:nvPr>
            <p:ph idx="1"/>
          </p:nvPr>
        </p:nvSpPr>
        <p:spPr>
          <a:xfrm>
            <a:off x="1485900" y="1922063"/>
            <a:ext cx="6172200" cy="1236371"/>
          </a:xfrm>
        </p:spPr>
        <p:txBody>
          <a:bodyPr/>
          <a:lstStyle/>
          <a:p>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La </a:t>
            </a:r>
            <a:r>
              <a:rPr lang="fr-FR" altLang="en-US" dirty="0">
                <a:latin typeface="Arial" panose="020B0604020202020204" pitchFamily="34" charset="0"/>
                <a:ea typeface="ＭＳ Ｐゴシック" panose="020B0600070205080204" pitchFamily="34" charset="-128"/>
                <a:cs typeface="Arial" panose="020B0604020202020204" pitchFamily="34" charset="0"/>
              </a:rPr>
              <a:t>commande de transfert est un objet SAP qui permet de transférer le stock d’une division à une autre division. </a:t>
            </a:r>
            <a:endParaRPr lang="fr-FR" altLang="en-US" dirty="0" smtClean="0">
              <a:latin typeface="Arial" panose="020B0604020202020204" pitchFamily="34" charset="0"/>
              <a:ea typeface="ＭＳ Ｐゴシック" panose="020B0600070205080204" pitchFamily="34" charset="-128"/>
              <a:cs typeface="Arial" panose="020B0604020202020204" pitchFamily="34" charset="0"/>
            </a:endParaRPr>
          </a:p>
          <a:p>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Dans </a:t>
            </a:r>
            <a:r>
              <a:rPr lang="fr-FR" altLang="en-US" dirty="0">
                <a:latin typeface="Arial" panose="020B0604020202020204" pitchFamily="34" charset="0"/>
                <a:ea typeface="ＭＳ Ｐゴシック" panose="020B0600070205080204" pitchFamily="34" charset="-128"/>
                <a:cs typeface="Arial" panose="020B0604020202020204" pitchFamily="34" charset="0"/>
              </a:rPr>
              <a:t>le cas de la CBG, cette commande de transfert servira notamment à transférer le stock de l’entrepôt en transit OM à l’entrepôt en Guinée.</a:t>
            </a:r>
          </a:p>
          <a:p>
            <a:endParaRPr lang="fr-FR"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7" name="Rectangle 6"/>
          <p:cNvSpPr/>
          <p:nvPr/>
        </p:nvSpPr>
        <p:spPr>
          <a:xfrm>
            <a:off x="1485900" y="1208003"/>
            <a:ext cx="6001941" cy="423863"/>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defRPr/>
            </a:pPr>
            <a:r>
              <a:rPr lang="fr-FR" sz="1350" b="1" dirty="0" smtClean="0">
                <a:solidFill>
                  <a:schemeClr val="bg1"/>
                </a:solidFill>
                <a:latin typeface="Arial" pitchFamily="34" charset="0"/>
                <a:cs typeface="Arial" pitchFamily="34" charset="0"/>
              </a:rPr>
              <a:t>Commande de transfert</a:t>
            </a:r>
            <a:endParaRPr lang="en-US" sz="1350" b="1" dirty="0">
              <a:solidFill>
                <a:schemeClr val="bg1"/>
              </a:solidFill>
              <a:latin typeface="Arial" pitchFamily="34" charset="0"/>
              <a:cs typeface="Arial" pitchFamily="34" charset="0"/>
            </a:endParaRPr>
          </a:p>
        </p:txBody>
      </p:sp>
      <p:pic>
        <p:nvPicPr>
          <p:cNvPr id="8" name="Image 7"/>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444945" y="1209579"/>
            <a:ext cx="884968" cy="422288"/>
          </a:xfrm>
          <a:prstGeom prst="rect">
            <a:avLst/>
          </a:prstGeom>
        </p:spPr>
      </p:pic>
    </p:spTree>
    <p:extLst>
      <p:ext uri="{BB962C8B-B14F-4D97-AF65-F5344CB8AC3E}">
        <p14:creationId xmlns:p14="http://schemas.microsoft.com/office/powerpoint/2010/main" val="428562863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re 3"/>
          <p:cNvSpPr>
            <a:spLocks noGrp="1"/>
          </p:cNvSpPr>
          <p:nvPr>
            <p:ph type="title"/>
          </p:nvPr>
        </p:nvSpPr>
        <p:spPr/>
        <p:txBody>
          <a:bodyPr>
            <a:normAutofit/>
          </a:bodyPr>
          <a:lstStyle/>
          <a:p>
            <a:r>
              <a:rPr lang="fr-FR" altLang="en-US" sz="2400" dirty="0" smtClean="0"/>
              <a:t>Mode opératoire</a:t>
            </a:r>
            <a:br>
              <a:rPr lang="fr-FR" altLang="en-US" sz="2400" dirty="0" smtClean="0"/>
            </a:br>
            <a:r>
              <a:rPr lang="fr-FR" altLang="en-US" dirty="0" smtClean="0"/>
              <a:t>Présentation du mode opératoire dans SAP</a:t>
            </a:r>
            <a:endParaRPr lang="en-US" altLang="en-US" dirty="0" smtClean="0"/>
          </a:p>
        </p:txBody>
      </p:sp>
      <p:grpSp>
        <p:nvGrpSpPr>
          <p:cNvPr id="49" name="Groupe 48"/>
          <p:cNvGrpSpPr/>
          <p:nvPr/>
        </p:nvGrpSpPr>
        <p:grpSpPr>
          <a:xfrm>
            <a:off x="567740" y="1813850"/>
            <a:ext cx="1296000" cy="831626"/>
            <a:chOff x="1507778" y="2276353"/>
            <a:chExt cx="1258269" cy="831626"/>
          </a:xfrm>
        </p:grpSpPr>
        <p:sp>
          <p:nvSpPr>
            <p:cNvPr id="4" name="Rectangle 3"/>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schemeClr val="bg1"/>
                  </a:solidFill>
                  <a:latin typeface="Arial" pitchFamily="34" charset="0"/>
                  <a:cs typeface="Arial" pitchFamily="34" charset="0"/>
                </a:rPr>
                <a:t>Gérer les sources de réapprovisionnement</a:t>
              </a:r>
              <a:endParaRPr lang="en-US" sz="800" dirty="0">
                <a:solidFill>
                  <a:schemeClr val="bg1"/>
                </a:solidFill>
                <a:latin typeface="Arial" pitchFamily="34" charset="0"/>
                <a:cs typeface="Arial" pitchFamily="34" charset="0"/>
              </a:endParaRPr>
            </a:p>
          </p:txBody>
        </p:sp>
        <p:sp>
          <p:nvSpPr>
            <p:cNvPr id="12" name="Rectangle 11"/>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schemeClr val="bg1"/>
                  </a:solidFill>
                  <a:latin typeface="Arial" panose="020B0604020202020204" pitchFamily="34" charset="0"/>
                  <a:cs typeface="Arial" panose="020B0604020202020204" pitchFamily="34" charset="0"/>
                </a:rPr>
                <a:t>ME01</a:t>
              </a:r>
              <a:endParaRPr lang="en-US" sz="800" b="1" dirty="0">
                <a:solidFill>
                  <a:schemeClr val="bg1"/>
                </a:solidFill>
                <a:latin typeface="Arial" panose="020B0604020202020204" pitchFamily="34" charset="0"/>
                <a:cs typeface="Arial" panose="020B0604020202020204" pitchFamily="34" charset="0"/>
              </a:endParaRPr>
            </a:p>
          </p:txBody>
        </p:sp>
        <p:sp>
          <p:nvSpPr>
            <p:cNvPr id="13" name="Rectangle 12"/>
            <p:cNvSpPr/>
            <p:nvPr/>
          </p:nvSpPr>
          <p:spPr>
            <a:xfrm>
              <a:off x="1507778" y="2815707"/>
              <a:ext cx="1258269" cy="292272"/>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latin typeface="Arial" panose="020B0604020202020204" pitchFamily="34" charset="0"/>
                  <a:cs typeface="Arial" panose="020B0604020202020204" pitchFamily="34" charset="0"/>
                </a:rPr>
                <a:t>Acheteur</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grpSp>
        <p:nvGrpSpPr>
          <p:cNvPr id="2" name="Groupe 1"/>
          <p:cNvGrpSpPr/>
          <p:nvPr/>
        </p:nvGrpSpPr>
        <p:grpSpPr>
          <a:xfrm>
            <a:off x="275964" y="3270647"/>
            <a:ext cx="1076325" cy="1160860"/>
            <a:chOff x="610285" y="3065860"/>
            <a:chExt cx="1076325" cy="1160860"/>
          </a:xfrm>
        </p:grpSpPr>
        <p:sp>
          <p:nvSpPr>
            <p:cNvPr id="27" name="Rectangle 26"/>
            <p:cNvSpPr/>
            <p:nvPr/>
          </p:nvSpPr>
          <p:spPr bwMode="auto">
            <a:xfrm>
              <a:off x="736491" y="3319464"/>
              <a:ext cx="807244" cy="253603"/>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25" dirty="0">
                  <a:solidFill>
                    <a:schemeClr val="bg1"/>
                  </a:solidFill>
                  <a:latin typeface="Arial" pitchFamily="34" charset="0"/>
                  <a:cs typeface="Arial" pitchFamily="34" charset="0"/>
                </a:rPr>
                <a:t>Action</a:t>
              </a:r>
              <a:endParaRPr lang="en-US" sz="825" dirty="0">
                <a:solidFill>
                  <a:schemeClr val="bg1"/>
                </a:solidFill>
                <a:latin typeface="Arial" pitchFamily="34" charset="0"/>
                <a:cs typeface="Arial" pitchFamily="34" charset="0"/>
              </a:endParaRPr>
            </a:p>
          </p:txBody>
        </p:sp>
        <p:sp>
          <p:nvSpPr>
            <p:cNvPr id="28" name="Rectangle 27"/>
            <p:cNvSpPr/>
            <p:nvPr/>
          </p:nvSpPr>
          <p:spPr bwMode="auto">
            <a:xfrm>
              <a:off x="736491" y="3573067"/>
              <a:ext cx="807244" cy="167879"/>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675" b="1" dirty="0">
                  <a:solidFill>
                    <a:schemeClr val="bg1"/>
                  </a:solidFill>
                  <a:latin typeface="Arial Narrow" pitchFamily="34" charset="0"/>
                </a:rPr>
                <a:t>Transaction SAP</a:t>
              </a:r>
              <a:endParaRPr lang="en-US" sz="675" b="1" dirty="0">
                <a:solidFill>
                  <a:schemeClr val="bg1"/>
                </a:solidFill>
                <a:latin typeface="Arial Narrow" pitchFamily="34" charset="0"/>
              </a:endParaRPr>
            </a:p>
          </p:txBody>
        </p:sp>
        <p:sp>
          <p:nvSpPr>
            <p:cNvPr id="29" name="Rectangle 28"/>
            <p:cNvSpPr/>
            <p:nvPr/>
          </p:nvSpPr>
          <p:spPr bwMode="auto">
            <a:xfrm>
              <a:off x="736491" y="3740945"/>
              <a:ext cx="807244" cy="169069"/>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675" dirty="0">
                  <a:solidFill>
                    <a:schemeClr val="tx1">
                      <a:lumMod val="50000"/>
                    </a:schemeClr>
                  </a:solidFill>
                  <a:latin typeface="Arial Narrow" pitchFamily="34" charset="0"/>
                </a:rPr>
                <a:t>Acteurs</a:t>
              </a:r>
              <a:endParaRPr lang="en-US" sz="675" dirty="0">
                <a:solidFill>
                  <a:schemeClr val="tx1">
                    <a:lumMod val="50000"/>
                  </a:schemeClr>
                </a:solidFill>
                <a:latin typeface="Arial Narrow" pitchFamily="34" charset="0"/>
              </a:endParaRPr>
            </a:p>
          </p:txBody>
        </p:sp>
        <p:cxnSp>
          <p:nvCxnSpPr>
            <p:cNvPr id="30" name="Connecteur droit avec flèche 29"/>
            <p:cNvCxnSpPr/>
            <p:nvPr/>
          </p:nvCxnSpPr>
          <p:spPr bwMode="auto">
            <a:xfrm>
              <a:off x="736491" y="4079082"/>
              <a:ext cx="260747" cy="1190"/>
            </a:xfrm>
            <a:prstGeom prst="straightConnector1">
              <a:avLst/>
            </a:prstGeom>
            <a:ln>
              <a:solidFill>
                <a:srgbClr val="4F81BD"/>
              </a:solidFill>
              <a:tailEnd type="arrow"/>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bwMode="auto">
            <a:xfrm>
              <a:off x="1035730" y="3999310"/>
              <a:ext cx="583814" cy="219291"/>
            </a:xfrm>
            <a:prstGeom prst="rect">
              <a:avLst/>
            </a:prstGeom>
          </p:spPr>
          <p:txBody>
            <a:bodyPr wrap="none">
              <a:spAutoFit/>
            </a:bodyPr>
            <a:lstStyle/>
            <a:p>
              <a:pPr algn="ctr">
                <a:defRPr/>
              </a:pPr>
              <a:r>
                <a:rPr lang="fr-FR" sz="825" dirty="0">
                  <a:solidFill>
                    <a:prstClr val="black"/>
                  </a:solidFill>
                  <a:latin typeface="Arial Narrow" pitchFamily="34" charset="0"/>
                </a:rPr>
                <a:t>Lien direct</a:t>
              </a:r>
              <a:endParaRPr lang="en-US" sz="825" dirty="0">
                <a:solidFill>
                  <a:prstClr val="black"/>
                </a:solidFill>
                <a:latin typeface="Arial Narrow" pitchFamily="34" charset="0"/>
              </a:endParaRPr>
            </a:p>
          </p:txBody>
        </p:sp>
        <p:sp>
          <p:nvSpPr>
            <p:cNvPr id="32" name="Rectangle 31"/>
            <p:cNvSpPr/>
            <p:nvPr/>
          </p:nvSpPr>
          <p:spPr bwMode="auto">
            <a:xfrm>
              <a:off x="610285" y="3065860"/>
              <a:ext cx="1076325" cy="1160860"/>
            </a:xfrm>
            <a:prstGeom prst="rect">
              <a:avLst/>
            </a:prstGeom>
            <a:noFill/>
            <a:ln w="317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900" dirty="0">
                <a:solidFill>
                  <a:schemeClr val="tx1"/>
                </a:solidFill>
              </a:endParaRPr>
            </a:p>
          </p:txBody>
        </p:sp>
        <p:sp>
          <p:nvSpPr>
            <p:cNvPr id="33" name="Rectangle 32"/>
            <p:cNvSpPr/>
            <p:nvPr/>
          </p:nvSpPr>
          <p:spPr bwMode="auto">
            <a:xfrm>
              <a:off x="610285" y="3065860"/>
              <a:ext cx="1076325" cy="230832"/>
            </a:xfrm>
            <a:prstGeom prst="rect">
              <a:avLst/>
            </a:prstGeom>
          </p:spPr>
          <p:txBody>
            <a:bodyPr>
              <a:spAutoFit/>
            </a:bodyPr>
            <a:lstStyle/>
            <a:p>
              <a:pPr algn="ctr">
                <a:defRPr/>
              </a:pPr>
              <a:r>
                <a:rPr lang="fr-FR" sz="900" b="1" dirty="0">
                  <a:solidFill>
                    <a:prstClr val="black"/>
                  </a:solidFill>
                  <a:cs typeface="Arial" pitchFamily="34" charset="0"/>
                </a:rPr>
                <a:t>Légende</a:t>
              </a:r>
              <a:endParaRPr lang="en-US" sz="900" b="1" dirty="0">
                <a:solidFill>
                  <a:prstClr val="black"/>
                </a:solidFill>
                <a:cs typeface="Arial" pitchFamily="34" charset="0"/>
              </a:endParaRPr>
            </a:p>
          </p:txBody>
        </p:sp>
      </p:grpSp>
      <p:grpSp>
        <p:nvGrpSpPr>
          <p:cNvPr id="42" name="Groupe 41"/>
          <p:cNvGrpSpPr/>
          <p:nvPr/>
        </p:nvGrpSpPr>
        <p:grpSpPr>
          <a:xfrm>
            <a:off x="2274417" y="1813591"/>
            <a:ext cx="1296000" cy="832144"/>
            <a:chOff x="3827406" y="1979447"/>
            <a:chExt cx="1258269" cy="832144"/>
          </a:xfrm>
        </p:grpSpPr>
        <p:sp>
          <p:nvSpPr>
            <p:cNvPr id="5" name="Rectangle 4"/>
            <p:cNvSpPr/>
            <p:nvPr/>
          </p:nvSpPr>
          <p:spPr>
            <a:xfrm>
              <a:off x="3827406" y="1979447"/>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schemeClr val="bg1"/>
                  </a:solidFill>
                  <a:latin typeface="Arial" pitchFamily="34" charset="0"/>
                  <a:cs typeface="Arial" pitchFamily="34" charset="0"/>
                </a:rPr>
                <a:t>Gérer les données MRP</a:t>
              </a:r>
              <a:endParaRPr lang="en-US" sz="800" dirty="0">
                <a:solidFill>
                  <a:schemeClr val="bg1"/>
                </a:solidFill>
                <a:latin typeface="Arial" pitchFamily="34" charset="0"/>
                <a:cs typeface="Arial" pitchFamily="34" charset="0"/>
              </a:endParaRPr>
            </a:p>
          </p:txBody>
        </p:sp>
        <p:sp>
          <p:nvSpPr>
            <p:cNvPr id="14" name="Rectangle 13"/>
            <p:cNvSpPr/>
            <p:nvPr/>
          </p:nvSpPr>
          <p:spPr>
            <a:xfrm>
              <a:off x="3827406" y="2303297"/>
              <a:ext cx="1258269" cy="216000"/>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schemeClr val="bg1"/>
                  </a:solidFill>
                  <a:latin typeface="Arial" panose="020B0604020202020204" pitchFamily="34" charset="0"/>
                  <a:cs typeface="Arial" panose="020B0604020202020204" pitchFamily="34" charset="0"/>
                </a:rPr>
                <a:t>MM02</a:t>
              </a:r>
              <a:endParaRPr lang="en-US" sz="800" b="1" dirty="0">
                <a:solidFill>
                  <a:schemeClr val="bg1"/>
                </a:solidFill>
                <a:latin typeface="Arial" panose="020B0604020202020204" pitchFamily="34" charset="0"/>
                <a:cs typeface="Arial" panose="020B0604020202020204" pitchFamily="34" charset="0"/>
              </a:endParaRPr>
            </a:p>
          </p:txBody>
        </p:sp>
        <p:sp>
          <p:nvSpPr>
            <p:cNvPr id="15" name="Rectangle 14"/>
            <p:cNvSpPr/>
            <p:nvPr/>
          </p:nvSpPr>
          <p:spPr>
            <a:xfrm>
              <a:off x="3827406" y="2519991"/>
              <a:ext cx="1258269" cy="291600"/>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latin typeface="Arial" panose="020B0604020202020204" pitchFamily="34" charset="0"/>
                  <a:cs typeface="Arial" panose="020B0604020202020204" pitchFamily="34" charset="0"/>
                </a:rPr>
                <a:t>Bureau de Standardisation</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grpSp>
        <p:nvGrpSpPr>
          <p:cNvPr id="39" name="Groupe 38"/>
          <p:cNvGrpSpPr/>
          <p:nvPr/>
        </p:nvGrpSpPr>
        <p:grpSpPr>
          <a:xfrm>
            <a:off x="3981094" y="1813591"/>
            <a:ext cx="1296000" cy="832144"/>
            <a:chOff x="3827406" y="1979447"/>
            <a:chExt cx="1258269" cy="832144"/>
          </a:xfrm>
        </p:grpSpPr>
        <p:sp>
          <p:nvSpPr>
            <p:cNvPr id="40" name="Rectangle 39"/>
            <p:cNvSpPr/>
            <p:nvPr/>
          </p:nvSpPr>
          <p:spPr>
            <a:xfrm>
              <a:off x="3827406" y="1979447"/>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schemeClr val="bg1"/>
                  </a:solidFill>
                  <a:latin typeface="Arial" pitchFamily="34" charset="0"/>
                  <a:cs typeface="Arial" pitchFamily="34" charset="0"/>
                </a:rPr>
                <a:t>Afficher l’état dynamique des stocks</a:t>
              </a:r>
              <a:endParaRPr lang="en-US" sz="800" dirty="0">
                <a:solidFill>
                  <a:schemeClr val="bg1"/>
                </a:solidFill>
                <a:latin typeface="Arial" pitchFamily="34" charset="0"/>
                <a:cs typeface="Arial" pitchFamily="34" charset="0"/>
              </a:endParaRPr>
            </a:p>
          </p:txBody>
        </p:sp>
        <p:sp>
          <p:nvSpPr>
            <p:cNvPr id="41" name="Rectangle 40"/>
            <p:cNvSpPr/>
            <p:nvPr/>
          </p:nvSpPr>
          <p:spPr>
            <a:xfrm>
              <a:off x="3827406" y="2303297"/>
              <a:ext cx="1258269" cy="216000"/>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schemeClr val="bg1"/>
                  </a:solidFill>
                  <a:latin typeface="Arial" panose="020B0604020202020204" pitchFamily="34" charset="0"/>
                  <a:cs typeface="Arial" panose="020B0604020202020204" pitchFamily="34" charset="0"/>
                </a:rPr>
                <a:t>MD04</a:t>
              </a:r>
              <a:endParaRPr lang="en-US" sz="800" b="1" dirty="0">
                <a:solidFill>
                  <a:schemeClr val="bg1"/>
                </a:solidFill>
                <a:latin typeface="Arial" panose="020B0604020202020204" pitchFamily="34" charset="0"/>
                <a:cs typeface="Arial" panose="020B0604020202020204" pitchFamily="34" charset="0"/>
              </a:endParaRPr>
            </a:p>
          </p:txBody>
        </p:sp>
        <p:sp>
          <p:nvSpPr>
            <p:cNvPr id="43" name="Rectangle 42"/>
            <p:cNvSpPr/>
            <p:nvPr/>
          </p:nvSpPr>
          <p:spPr>
            <a:xfrm>
              <a:off x="3827406" y="2519991"/>
              <a:ext cx="1258269" cy="291600"/>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latin typeface="Arial" panose="020B0604020202020204" pitchFamily="34" charset="0"/>
                  <a:cs typeface="Arial" panose="020B0604020202020204" pitchFamily="34" charset="0"/>
                </a:rPr>
                <a:t>Approvisionneur</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grpSp>
        <p:nvGrpSpPr>
          <p:cNvPr id="24" name="Groupe 23"/>
          <p:cNvGrpSpPr/>
          <p:nvPr/>
        </p:nvGrpSpPr>
        <p:grpSpPr>
          <a:xfrm>
            <a:off x="7394447" y="1813591"/>
            <a:ext cx="1296000" cy="832144"/>
            <a:chOff x="3827406" y="1979447"/>
            <a:chExt cx="1258269" cy="832144"/>
          </a:xfrm>
        </p:grpSpPr>
        <p:sp>
          <p:nvSpPr>
            <p:cNvPr id="25" name="Rectangle 24"/>
            <p:cNvSpPr/>
            <p:nvPr/>
          </p:nvSpPr>
          <p:spPr>
            <a:xfrm>
              <a:off x="3827406" y="1979447"/>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schemeClr val="bg1"/>
                  </a:solidFill>
                  <a:latin typeface="Arial" pitchFamily="34" charset="0"/>
                  <a:cs typeface="Arial" pitchFamily="34" charset="0"/>
                </a:rPr>
                <a:t>Vérifier les Demandes d’achats </a:t>
              </a:r>
              <a:endParaRPr lang="en-US" sz="800" dirty="0">
                <a:solidFill>
                  <a:schemeClr val="bg1"/>
                </a:solidFill>
                <a:latin typeface="Arial" pitchFamily="34" charset="0"/>
                <a:cs typeface="Arial" pitchFamily="34" charset="0"/>
              </a:endParaRPr>
            </a:p>
          </p:txBody>
        </p:sp>
        <p:sp>
          <p:nvSpPr>
            <p:cNvPr id="26" name="Rectangle 25"/>
            <p:cNvSpPr/>
            <p:nvPr/>
          </p:nvSpPr>
          <p:spPr>
            <a:xfrm>
              <a:off x="3827406" y="2303297"/>
              <a:ext cx="1258269" cy="216000"/>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schemeClr val="bg1"/>
                  </a:solidFill>
                  <a:latin typeface="Arial" panose="020B0604020202020204" pitchFamily="34" charset="0"/>
                  <a:cs typeface="Arial" panose="020B0604020202020204" pitchFamily="34" charset="0"/>
                </a:rPr>
                <a:t>MD04</a:t>
              </a:r>
              <a:endParaRPr lang="en-US" sz="800" b="1" dirty="0">
                <a:solidFill>
                  <a:schemeClr val="bg1"/>
                </a:solidFill>
                <a:latin typeface="Arial" panose="020B0604020202020204" pitchFamily="34" charset="0"/>
                <a:cs typeface="Arial" panose="020B0604020202020204" pitchFamily="34" charset="0"/>
              </a:endParaRPr>
            </a:p>
          </p:txBody>
        </p:sp>
        <p:sp>
          <p:nvSpPr>
            <p:cNvPr id="34" name="Rectangle 33"/>
            <p:cNvSpPr/>
            <p:nvPr/>
          </p:nvSpPr>
          <p:spPr>
            <a:xfrm>
              <a:off x="3827406" y="2519991"/>
              <a:ext cx="1258269" cy="291600"/>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latin typeface="Arial" panose="020B0604020202020204" pitchFamily="34" charset="0"/>
                  <a:cs typeface="Arial" panose="020B0604020202020204" pitchFamily="34" charset="0"/>
                </a:rPr>
                <a:t>Approvisionneur</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cxnSp>
        <p:nvCxnSpPr>
          <p:cNvPr id="6" name="Connecteur droit avec flèche 5"/>
          <p:cNvCxnSpPr>
            <a:stCxn id="4" idx="3"/>
            <a:endCxn id="5" idx="1"/>
          </p:cNvCxnSpPr>
          <p:nvPr/>
        </p:nvCxnSpPr>
        <p:spPr>
          <a:xfrm flipV="1">
            <a:off x="1863740" y="1975516"/>
            <a:ext cx="410677" cy="259"/>
          </a:xfrm>
          <a:prstGeom prst="straightConnector1">
            <a:avLst/>
          </a:prstGeom>
          <a:ln w="12700">
            <a:solidFill>
              <a:srgbClr val="004376"/>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35" name="Connecteur droit avec flèche 34"/>
          <p:cNvCxnSpPr>
            <a:stCxn id="5" idx="3"/>
            <a:endCxn id="40" idx="1"/>
          </p:cNvCxnSpPr>
          <p:nvPr/>
        </p:nvCxnSpPr>
        <p:spPr>
          <a:xfrm>
            <a:off x="3570417" y="1975516"/>
            <a:ext cx="410677" cy="0"/>
          </a:xfrm>
          <a:prstGeom prst="straightConnector1">
            <a:avLst/>
          </a:prstGeom>
          <a:ln w="12700">
            <a:solidFill>
              <a:srgbClr val="004376"/>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36" name="Connecteur droit avec flèche 35"/>
          <p:cNvCxnSpPr>
            <a:stCxn id="40" idx="3"/>
            <a:endCxn id="38" idx="1"/>
          </p:cNvCxnSpPr>
          <p:nvPr/>
        </p:nvCxnSpPr>
        <p:spPr>
          <a:xfrm>
            <a:off x="5277094" y="1975516"/>
            <a:ext cx="410677" cy="0"/>
          </a:xfrm>
          <a:prstGeom prst="straightConnector1">
            <a:avLst/>
          </a:prstGeom>
          <a:ln w="12700">
            <a:solidFill>
              <a:srgbClr val="004376"/>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grpSp>
        <p:nvGrpSpPr>
          <p:cNvPr id="37" name="Groupe 36"/>
          <p:cNvGrpSpPr/>
          <p:nvPr/>
        </p:nvGrpSpPr>
        <p:grpSpPr>
          <a:xfrm>
            <a:off x="5687771" y="1813591"/>
            <a:ext cx="1296000" cy="832144"/>
            <a:chOff x="3827406" y="1979447"/>
            <a:chExt cx="1258269" cy="832144"/>
          </a:xfrm>
        </p:grpSpPr>
        <p:sp>
          <p:nvSpPr>
            <p:cNvPr id="38" name="Rectangle 37"/>
            <p:cNvSpPr/>
            <p:nvPr/>
          </p:nvSpPr>
          <p:spPr>
            <a:xfrm>
              <a:off x="3827406" y="1979447"/>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schemeClr val="bg1"/>
                  </a:solidFill>
                  <a:latin typeface="Arial" pitchFamily="34" charset="0"/>
                  <a:cs typeface="Arial" pitchFamily="34" charset="0"/>
                </a:rPr>
                <a:t>Lancer le MRP</a:t>
              </a:r>
              <a:endParaRPr lang="en-US" sz="800" dirty="0">
                <a:solidFill>
                  <a:schemeClr val="bg1"/>
                </a:solidFill>
                <a:latin typeface="Arial" pitchFamily="34" charset="0"/>
                <a:cs typeface="Arial" pitchFamily="34" charset="0"/>
              </a:endParaRPr>
            </a:p>
          </p:txBody>
        </p:sp>
        <p:sp>
          <p:nvSpPr>
            <p:cNvPr id="44" name="Rectangle 43"/>
            <p:cNvSpPr/>
            <p:nvPr/>
          </p:nvSpPr>
          <p:spPr>
            <a:xfrm>
              <a:off x="3827406" y="2303297"/>
              <a:ext cx="1258269" cy="216000"/>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schemeClr val="bg1"/>
                  </a:solidFill>
                  <a:latin typeface="Arial" panose="020B0604020202020204" pitchFamily="34" charset="0"/>
                  <a:cs typeface="Arial" panose="020B0604020202020204" pitchFamily="34" charset="0"/>
                </a:rPr>
                <a:t>MD02</a:t>
              </a:r>
              <a:endParaRPr lang="en-US" sz="800" b="1" dirty="0">
                <a:solidFill>
                  <a:schemeClr val="bg1"/>
                </a:solidFill>
                <a:latin typeface="Arial" panose="020B0604020202020204" pitchFamily="34" charset="0"/>
                <a:cs typeface="Arial" panose="020B0604020202020204" pitchFamily="34" charset="0"/>
              </a:endParaRPr>
            </a:p>
          </p:txBody>
        </p:sp>
        <p:sp>
          <p:nvSpPr>
            <p:cNvPr id="45" name="Rectangle 44"/>
            <p:cNvSpPr/>
            <p:nvPr/>
          </p:nvSpPr>
          <p:spPr>
            <a:xfrm>
              <a:off x="3827406" y="2519991"/>
              <a:ext cx="1258269" cy="291600"/>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chemeClr val="tx1">
                      <a:lumMod val="50000"/>
                    </a:schemeClr>
                  </a:solidFill>
                  <a:latin typeface="Arial" panose="020B0604020202020204" pitchFamily="34" charset="0"/>
                  <a:cs typeface="Arial" panose="020B0604020202020204" pitchFamily="34" charset="0"/>
                </a:rPr>
                <a:t>Automatique / Approvisionneur</a:t>
              </a:r>
              <a:endParaRPr lang="en-US" sz="800" dirty="0">
                <a:solidFill>
                  <a:schemeClr val="tx1">
                    <a:lumMod val="50000"/>
                  </a:schemeClr>
                </a:solidFill>
                <a:latin typeface="Arial" panose="020B0604020202020204" pitchFamily="34" charset="0"/>
                <a:cs typeface="Arial" panose="020B0604020202020204" pitchFamily="34" charset="0"/>
              </a:endParaRPr>
            </a:p>
          </p:txBody>
        </p:sp>
      </p:grpSp>
      <p:cxnSp>
        <p:nvCxnSpPr>
          <p:cNvPr id="46" name="Connecteur droit avec flèche 45"/>
          <p:cNvCxnSpPr>
            <a:stCxn id="38" idx="3"/>
            <a:endCxn id="25" idx="1"/>
          </p:cNvCxnSpPr>
          <p:nvPr/>
        </p:nvCxnSpPr>
        <p:spPr>
          <a:xfrm>
            <a:off x="6983771" y="1975516"/>
            <a:ext cx="410676" cy="0"/>
          </a:xfrm>
          <a:prstGeom prst="straightConnector1">
            <a:avLst/>
          </a:prstGeom>
          <a:ln w="12700">
            <a:solidFill>
              <a:srgbClr val="004376"/>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3856392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a:blip r:embed="rId2"/>
          <a:stretch>
            <a:fillRect/>
          </a:stretch>
        </p:blipFill>
        <p:spPr>
          <a:xfrm>
            <a:off x="4872541" y="3308404"/>
            <a:ext cx="3241792" cy="1009035"/>
          </a:xfrm>
          <a:prstGeom prst="rect">
            <a:avLst/>
          </a:prstGeom>
          <a:ln>
            <a:solidFill>
              <a:schemeClr val="tx1"/>
            </a:solidFill>
          </a:ln>
          <a:effectLst>
            <a:outerShdw blurRad="50800" dist="38100" dir="2700000" algn="tl" rotWithShape="0">
              <a:prstClr val="black">
                <a:alpha val="40000"/>
              </a:prstClr>
            </a:outerShdw>
          </a:effectLst>
        </p:spPr>
      </p:pic>
      <p:pic>
        <p:nvPicPr>
          <p:cNvPr id="7" name="Image 6"/>
          <p:cNvPicPr>
            <a:picLocks noChangeAspect="1"/>
          </p:cNvPicPr>
          <p:nvPr/>
        </p:nvPicPr>
        <p:blipFill rotWithShape="1">
          <a:blip r:embed="rId3"/>
          <a:srcRect r="16926" b="11504"/>
          <a:stretch/>
        </p:blipFill>
        <p:spPr>
          <a:xfrm>
            <a:off x="420570" y="2398560"/>
            <a:ext cx="4800627" cy="1055600"/>
          </a:xfrm>
          <a:prstGeom prst="rect">
            <a:avLst/>
          </a:prstGeom>
          <a:ln>
            <a:solidFill>
              <a:schemeClr val="tx1"/>
            </a:solidFill>
          </a:ln>
          <a:effectLst>
            <a:outerShdw blurRad="50800" dist="38100" dir="2700000" algn="tl" rotWithShape="0">
              <a:prstClr val="black">
                <a:alpha val="40000"/>
              </a:prstClr>
            </a:outerShdw>
          </a:effectLst>
        </p:spPr>
      </p:pic>
      <p:pic>
        <p:nvPicPr>
          <p:cNvPr id="2" name="Image 1"/>
          <p:cNvPicPr>
            <a:picLocks noChangeAspect="1"/>
          </p:cNvPicPr>
          <p:nvPr/>
        </p:nvPicPr>
        <p:blipFill>
          <a:blip r:embed="rId4"/>
          <a:stretch>
            <a:fillRect/>
          </a:stretch>
        </p:blipFill>
        <p:spPr>
          <a:xfrm>
            <a:off x="457045" y="1317677"/>
            <a:ext cx="2176453" cy="1017255"/>
          </a:xfrm>
          <a:prstGeom prst="rect">
            <a:avLst/>
          </a:prstGeom>
          <a:ln>
            <a:solidFill>
              <a:schemeClr val="tx1"/>
            </a:solidFill>
          </a:ln>
          <a:effectLst>
            <a:outerShdw blurRad="50800" dist="38100" dir="2700000" algn="tl" rotWithShape="0">
              <a:prstClr val="black">
                <a:alpha val="40000"/>
              </a:prstClr>
            </a:outerShdw>
          </a:effectLst>
        </p:spPr>
      </p:pic>
      <p:sp>
        <p:nvSpPr>
          <p:cNvPr id="33795" name="Titre 3"/>
          <p:cNvSpPr>
            <a:spLocks noGrp="1"/>
          </p:cNvSpPr>
          <p:nvPr>
            <p:ph type="title"/>
          </p:nvPr>
        </p:nvSpPr>
        <p:spPr/>
        <p:txBody>
          <a:bodyPr/>
          <a:lstStyle/>
          <a:p>
            <a:r>
              <a:rPr lang="fr-FR" altLang="en-US" sz="2400" dirty="0"/>
              <a:t>Mode opératoire</a:t>
            </a:r>
            <a:br>
              <a:rPr lang="fr-FR" altLang="en-US" sz="2400" dirty="0"/>
            </a:br>
            <a:r>
              <a:rPr lang="fr-FR" altLang="en-US" dirty="0" smtClean="0"/>
              <a:t>ME01 – Création d’une source d’approvisionnement</a:t>
            </a:r>
            <a:endParaRPr lang="en-US" altLang="en-US" dirty="0" smtClean="0"/>
          </a:p>
        </p:txBody>
      </p:sp>
      <p:grpSp>
        <p:nvGrpSpPr>
          <p:cNvPr id="33794" name="Groupe 33793"/>
          <p:cNvGrpSpPr/>
          <p:nvPr/>
        </p:nvGrpSpPr>
        <p:grpSpPr>
          <a:xfrm>
            <a:off x="5418432" y="1063625"/>
            <a:ext cx="3730604" cy="1938992"/>
            <a:chOff x="425491" y="1232489"/>
            <a:chExt cx="3730604" cy="1938992"/>
          </a:xfrm>
        </p:grpSpPr>
        <p:sp>
          <p:nvSpPr>
            <p:cNvPr id="8" name="ZoneTexte 7"/>
            <p:cNvSpPr txBox="1"/>
            <p:nvPr/>
          </p:nvSpPr>
          <p:spPr>
            <a:xfrm>
              <a:off x="581024" y="1232489"/>
              <a:ext cx="3575071" cy="1938992"/>
            </a:xfrm>
            <a:prstGeom prst="rect">
              <a:avLst/>
            </a:prstGeom>
            <a:noFill/>
          </p:spPr>
          <p:txBody>
            <a:bodyPr wrap="square" rtlCol="0">
              <a:spAutoFit/>
            </a:bodyPr>
            <a:lstStyle/>
            <a:p>
              <a:r>
                <a:rPr lang="fr-FR" sz="1200" dirty="0" smtClean="0">
                  <a:solidFill>
                    <a:srgbClr val="4D4F53"/>
                  </a:solidFill>
                </a:rPr>
                <a:t>Renseigner l’article concerné</a:t>
              </a:r>
            </a:p>
            <a:p>
              <a:endParaRPr lang="fr-FR" sz="1200" dirty="0">
                <a:solidFill>
                  <a:srgbClr val="4D4F53"/>
                </a:solidFill>
              </a:endParaRPr>
            </a:p>
            <a:p>
              <a:r>
                <a:rPr lang="fr-FR" sz="1200" dirty="0" smtClean="0">
                  <a:solidFill>
                    <a:srgbClr val="4D4F53"/>
                  </a:solidFill>
                </a:rPr>
                <a:t>Renseigner la division et cliquer « Entrer »</a:t>
              </a:r>
            </a:p>
            <a:p>
              <a:endParaRPr lang="fr-FR" sz="1200" dirty="0" smtClean="0">
                <a:solidFill>
                  <a:srgbClr val="4D4F53"/>
                </a:solidFill>
              </a:endParaRPr>
            </a:p>
            <a:p>
              <a:r>
                <a:rPr lang="fr-FR" sz="1200" dirty="0" smtClean="0">
                  <a:solidFill>
                    <a:srgbClr val="4D4F53"/>
                  </a:solidFill>
                </a:rPr>
                <a:t>Renseigner les dates, le fournisseur et l’organisation commerciale</a:t>
              </a:r>
            </a:p>
            <a:p>
              <a:endParaRPr lang="fr-FR" sz="1200" dirty="0">
                <a:solidFill>
                  <a:srgbClr val="4D4F53"/>
                </a:solidFill>
              </a:endParaRPr>
            </a:p>
            <a:p>
              <a:r>
                <a:rPr lang="fr-FR" sz="1200" dirty="0" smtClean="0">
                  <a:solidFill>
                    <a:srgbClr val="4D4F53"/>
                  </a:solidFill>
                </a:rPr>
                <a:t>Saisir un le code « 1 » pour l’utilisation du répertoire</a:t>
              </a:r>
            </a:p>
            <a:p>
              <a:endParaRPr lang="fr-FR" sz="1200" dirty="0" smtClean="0">
                <a:solidFill>
                  <a:srgbClr val="4D4F53"/>
                </a:solidFill>
              </a:endParaRPr>
            </a:p>
            <a:p>
              <a:r>
                <a:rPr lang="fr-FR" sz="1200" dirty="0" smtClean="0">
                  <a:solidFill>
                    <a:srgbClr val="4D4F53"/>
                  </a:solidFill>
                </a:rPr>
                <a:t>Cliquer        pour sauvegarder</a:t>
              </a:r>
            </a:p>
          </p:txBody>
        </p:sp>
        <p:sp>
          <p:nvSpPr>
            <p:cNvPr id="36" name="Ellipse 35"/>
            <p:cNvSpPr/>
            <p:nvPr/>
          </p:nvSpPr>
          <p:spPr>
            <a:xfrm>
              <a:off x="425491" y="12871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37" name="Ellipse 36"/>
            <p:cNvSpPr/>
            <p:nvPr/>
          </p:nvSpPr>
          <p:spPr>
            <a:xfrm>
              <a:off x="425491" y="167175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38" name="Ellipse 37"/>
            <p:cNvSpPr/>
            <p:nvPr/>
          </p:nvSpPr>
          <p:spPr>
            <a:xfrm>
              <a:off x="425491" y="204428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39" name="Ellipse 38"/>
            <p:cNvSpPr/>
            <p:nvPr/>
          </p:nvSpPr>
          <p:spPr>
            <a:xfrm>
              <a:off x="425491" y="257872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59" name="Ellipse 58"/>
            <p:cNvSpPr/>
            <p:nvPr/>
          </p:nvSpPr>
          <p:spPr>
            <a:xfrm>
              <a:off x="425491" y="294064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grpSp>
      <p:sp>
        <p:nvSpPr>
          <p:cNvPr id="33" name="Rectangle 32"/>
          <p:cNvSpPr/>
          <p:nvPr/>
        </p:nvSpPr>
        <p:spPr>
          <a:xfrm>
            <a:off x="1123343" y="1998183"/>
            <a:ext cx="492499" cy="10736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4" name="Rectangle 33"/>
          <p:cNvSpPr/>
          <p:nvPr/>
        </p:nvSpPr>
        <p:spPr>
          <a:xfrm>
            <a:off x="1120760" y="2136789"/>
            <a:ext cx="226020" cy="107471"/>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5" name="Rectangle 44"/>
          <p:cNvSpPr/>
          <p:nvPr/>
        </p:nvSpPr>
        <p:spPr>
          <a:xfrm>
            <a:off x="533833" y="3253952"/>
            <a:ext cx="1699756" cy="12327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6" name="Rectangle 45"/>
          <p:cNvSpPr/>
          <p:nvPr/>
        </p:nvSpPr>
        <p:spPr>
          <a:xfrm>
            <a:off x="4872540" y="3959024"/>
            <a:ext cx="2870533" cy="155016"/>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7" name="Ellipse 46"/>
          <p:cNvSpPr/>
          <p:nvPr/>
        </p:nvSpPr>
        <p:spPr>
          <a:xfrm>
            <a:off x="1665767" y="1950972"/>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48" name="Ellipse 47"/>
          <p:cNvSpPr/>
          <p:nvPr/>
        </p:nvSpPr>
        <p:spPr>
          <a:xfrm>
            <a:off x="971531" y="211088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53" name="Ellipse 52"/>
          <p:cNvSpPr/>
          <p:nvPr/>
        </p:nvSpPr>
        <p:spPr>
          <a:xfrm>
            <a:off x="377697" y="3222651"/>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cxnSp>
        <p:nvCxnSpPr>
          <p:cNvPr id="6" name="Connecteur en angle 5"/>
          <p:cNvCxnSpPr>
            <a:stCxn id="2" idx="3"/>
            <a:endCxn id="7" idx="0"/>
          </p:cNvCxnSpPr>
          <p:nvPr/>
        </p:nvCxnSpPr>
        <p:spPr>
          <a:xfrm>
            <a:off x="2633498" y="1826305"/>
            <a:ext cx="187386" cy="572255"/>
          </a:xfrm>
          <a:prstGeom prst="bentConnector2">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41" name="Connecteur en angle 40"/>
          <p:cNvCxnSpPr>
            <a:stCxn id="57" idx="2"/>
            <a:endCxn id="46" idx="1"/>
          </p:cNvCxnSpPr>
          <p:nvPr/>
        </p:nvCxnSpPr>
        <p:spPr>
          <a:xfrm rot="16200000" flipH="1">
            <a:off x="4421121" y="3585113"/>
            <a:ext cx="656480" cy="246357"/>
          </a:xfrm>
          <a:prstGeom prst="bentConnector2">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4561356" y="3256778"/>
            <a:ext cx="129653" cy="12327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58" name="Ellipse 57"/>
          <p:cNvSpPr/>
          <p:nvPr/>
        </p:nvSpPr>
        <p:spPr>
          <a:xfrm>
            <a:off x="4383784" y="3222651"/>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pic>
        <p:nvPicPr>
          <p:cNvPr id="16" name="Image 15"/>
          <p:cNvPicPr>
            <a:picLocks noChangeAspect="1"/>
          </p:cNvPicPr>
          <p:nvPr/>
        </p:nvPicPr>
        <p:blipFill rotWithShape="1">
          <a:blip r:embed="rId5"/>
          <a:srcRect l="1" t="11905" r="22839"/>
          <a:stretch/>
        </p:blipFill>
        <p:spPr>
          <a:xfrm>
            <a:off x="6138863" y="2777341"/>
            <a:ext cx="198438" cy="176212"/>
          </a:xfrm>
          <a:prstGeom prst="rect">
            <a:avLst/>
          </a:prstGeom>
        </p:spPr>
      </p:pic>
    </p:spTree>
    <p:extLst>
      <p:ext uri="{BB962C8B-B14F-4D97-AF65-F5344CB8AC3E}">
        <p14:creationId xmlns:p14="http://schemas.microsoft.com/office/powerpoint/2010/main" val="6196313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e 2"/>
          <p:cNvGrpSpPr/>
          <p:nvPr/>
        </p:nvGrpSpPr>
        <p:grpSpPr>
          <a:xfrm>
            <a:off x="480830" y="1976618"/>
            <a:ext cx="3182955" cy="2801215"/>
            <a:chOff x="480830" y="1976618"/>
            <a:chExt cx="3182955" cy="2801215"/>
          </a:xfrm>
        </p:grpSpPr>
        <p:pic>
          <p:nvPicPr>
            <p:cNvPr id="18" name="Image 17"/>
            <p:cNvPicPr>
              <a:picLocks noChangeAspect="1"/>
            </p:cNvPicPr>
            <p:nvPr/>
          </p:nvPicPr>
          <p:blipFill>
            <a:blip r:embed="rId2"/>
            <a:stretch>
              <a:fillRect/>
            </a:stretch>
          </p:blipFill>
          <p:spPr>
            <a:xfrm>
              <a:off x="480830" y="1976618"/>
              <a:ext cx="3182955" cy="2801215"/>
            </a:xfrm>
            <a:prstGeom prst="rect">
              <a:avLst/>
            </a:prstGeom>
            <a:ln>
              <a:solidFill>
                <a:schemeClr val="tx1"/>
              </a:solidFill>
            </a:ln>
            <a:effectLst>
              <a:outerShdw blurRad="50800" dist="38100" dir="2700000" algn="tl" rotWithShape="0">
                <a:prstClr val="black">
                  <a:alpha val="40000"/>
                </a:prstClr>
              </a:outerShdw>
            </a:effectLst>
          </p:spPr>
        </p:pic>
        <p:pic>
          <p:nvPicPr>
            <p:cNvPr id="2" name="Image 1"/>
            <p:cNvPicPr>
              <a:picLocks noChangeAspect="1"/>
            </p:cNvPicPr>
            <p:nvPr/>
          </p:nvPicPr>
          <p:blipFill>
            <a:blip r:embed="rId3"/>
            <a:stretch>
              <a:fillRect/>
            </a:stretch>
          </p:blipFill>
          <p:spPr>
            <a:xfrm>
              <a:off x="1368602" y="3328030"/>
              <a:ext cx="122957" cy="112265"/>
            </a:xfrm>
            <a:prstGeom prst="rect">
              <a:avLst/>
            </a:prstGeom>
            <a:ln>
              <a:solidFill>
                <a:schemeClr val="tx1"/>
              </a:solidFill>
            </a:ln>
            <a:effectLst>
              <a:outerShdw blurRad="50800" dist="38100" dir="2700000" algn="tl" rotWithShape="0">
                <a:prstClr val="black">
                  <a:alpha val="40000"/>
                </a:prstClr>
              </a:outerShdw>
            </a:effectLst>
          </p:spPr>
        </p:pic>
      </p:grpSp>
      <p:pic>
        <p:nvPicPr>
          <p:cNvPr id="4" name="Image 3"/>
          <p:cNvPicPr>
            <a:picLocks noChangeAspect="1"/>
          </p:cNvPicPr>
          <p:nvPr/>
        </p:nvPicPr>
        <p:blipFill rotWithShape="1">
          <a:blip r:embed="rId4"/>
          <a:srcRect t="43251"/>
          <a:stretch/>
        </p:blipFill>
        <p:spPr>
          <a:xfrm>
            <a:off x="610436" y="1057521"/>
            <a:ext cx="1865685" cy="524805"/>
          </a:xfrm>
          <a:prstGeom prst="rect">
            <a:avLst/>
          </a:prstGeom>
          <a:ln>
            <a:solidFill>
              <a:schemeClr val="tx1"/>
            </a:solidFill>
          </a:ln>
          <a:effectLst>
            <a:outerShdw blurRad="50800" dist="38100" dir="2700000" algn="tl" rotWithShape="0">
              <a:prstClr val="black">
                <a:alpha val="40000"/>
              </a:prstClr>
            </a:outerShdw>
          </a:effectLst>
        </p:spPr>
      </p:pic>
      <p:pic>
        <p:nvPicPr>
          <p:cNvPr id="5" name="Image 4"/>
          <p:cNvPicPr>
            <a:picLocks noChangeAspect="1"/>
          </p:cNvPicPr>
          <p:nvPr/>
        </p:nvPicPr>
        <p:blipFill>
          <a:blip r:embed="rId5"/>
          <a:stretch>
            <a:fillRect/>
          </a:stretch>
        </p:blipFill>
        <p:spPr>
          <a:xfrm>
            <a:off x="1895756" y="1136054"/>
            <a:ext cx="2123225" cy="674227"/>
          </a:xfrm>
          <a:prstGeom prst="rect">
            <a:avLst/>
          </a:prstGeom>
          <a:ln>
            <a:solidFill>
              <a:schemeClr val="tx1"/>
            </a:solidFill>
          </a:ln>
          <a:effectLst>
            <a:outerShdw blurRad="50800" dist="38100" dir="2700000" algn="tl" rotWithShape="0">
              <a:prstClr val="black">
                <a:alpha val="40000"/>
              </a:prstClr>
            </a:outerShdw>
          </a:effectLst>
        </p:spPr>
      </p:pic>
      <p:sp>
        <p:nvSpPr>
          <p:cNvPr id="33795" name="Titre 3"/>
          <p:cNvSpPr>
            <a:spLocks noGrp="1"/>
          </p:cNvSpPr>
          <p:nvPr>
            <p:ph type="title"/>
          </p:nvPr>
        </p:nvSpPr>
        <p:spPr/>
        <p:txBody>
          <a:bodyPr/>
          <a:lstStyle/>
          <a:p>
            <a:r>
              <a:rPr lang="fr-FR" altLang="en-US" sz="2400" dirty="0"/>
              <a:t>Mode opératoire</a:t>
            </a:r>
            <a:br>
              <a:rPr lang="fr-FR" altLang="en-US" sz="2400" dirty="0"/>
            </a:br>
            <a:r>
              <a:rPr lang="fr-FR" altLang="en-US" dirty="0" smtClean="0"/>
              <a:t>MM02 – Vérifier les données MRP de l’article (1/4)</a:t>
            </a:r>
            <a:endParaRPr lang="en-US" altLang="en-US" dirty="0" smtClean="0"/>
          </a:p>
        </p:txBody>
      </p:sp>
      <p:grpSp>
        <p:nvGrpSpPr>
          <p:cNvPr id="33794" name="Groupe 33793"/>
          <p:cNvGrpSpPr/>
          <p:nvPr/>
        </p:nvGrpSpPr>
        <p:grpSpPr>
          <a:xfrm>
            <a:off x="5418432" y="1063625"/>
            <a:ext cx="3730604" cy="3416320"/>
            <a:chOff x="425491" y="1232489"/>
            <a:chExt cx="3730604" cy="3416320"/>
          </a:xfrm>
        </p:grpSpPr>
        <p:sp>
          <p:nvSpPr>
            <p:cNvPr id="8" name="ZoneTexte 7"/>
            <p:cNvSpPr txBox="1"/>
            <p:nvPr/>
          </p:nvSpPr>
          <p:spPr>
            <a:xfrm>
              <a:off x="581024" y="1232489"/>
              <a:ext cx="3575071" cy="3416320"/>
            </a:xfrm>
            <a:prstGeom prst="rect">
              <a:avLst/>
            </a:prstGeom>
            <a:noFill/>
          </p:spPr>
          <p:txBody>
            <a:bodyPr wrap="square" rtlCol="0">
              <a:spAutoFit/>
            </a:bodyPr>
            <a:lstStyle/>
            <a:p>
              <a:r>
                <a:rPr lang="fr-FR" sz="1200" dirty="0" smtClean="0">
                  <a:solidFill>
                    <a:srgbClr val="4D4F53"/>
                  </a:solidFill>
                </a:rPr>
                <a:t>Renseigner l’article concerné et cliquer « Entrer »</a:t>
              </a:r>
            </a:p>
            <a:p>
              <a:endParaRPr lang="fr-FR" sz="1200" dirty="0">
                <a:solidFill>
                  <a:srgbClr val="4D4F53"/>
                </a:solidFill>
              </a:endParaRPr>
            </a:p>
            <a:p>
              <a:r>
                <a:rPr lang="fr-FR" sz="1200" dirty="0" smtClean="0">
                  <a:solidFill>
                    <a:srgbClr val="4D4F53"/>
                  </a:solidFill>
                </a:rPr>
                <a:t>Choisir les 4 vues de « planification des besoins »</a:t>
              </a:r>
            </a:p>
            <a:p>
              <a:endParaRPr lang="fr-FR" sz="1200" dirty="0" smtClean="0">
                <a:solidFill>
                  <a:srgbClr val="4D4F53"/>
                </a:solidFill>
              </a:endParaRPr>
            </a:p>
            <a:p>
              <a:r>
                <a:rPr lang="fr-FR" sz="1200" dirty="0" smtClean="0">
                  <a:solidFill>
                    <a:srgbClr val="4D4F53"/>
                  </a:solidFill>
                </a:rPr>
                <a:t>Cliquer sur </a:t>
              </a:r>
            </a:p>
            <a:p>
              <a:endParaRPr lang="fr-FR" sz="1200" dirty="0">
                <a:solidFill>
                  <a:srgbClr val="4D4F53"/>
                </a:solidFill>
              </a:endParaRPr>
            </a:p>
            <a:p>
              <a:r>
                <a:rPr lang="fr-FR" sz="1200" dirty="0" smtClean="0">
                  <a:solidFill>
                    <a:srgbClr val="4D4F53"/>
                  </a:solidFill>
                </a:rPr>
                <a:t>Vérifier la division et cliquer « Entrer »</a:t>
              </a:r>
            </a:p>
            <a:p>
              <a:endParaRPr lang="fr-FR" sz="1200" dirty="0" smtClean="0">
                <a:solidFill>
                  <a:srgbClr val="4D4F53"/>
                </a:solidFill>
              </a:endParaRPr>
            </a:p>
            <a:p>
              <a:r>
                <a:rPr lang="fr-FR" sz="1200" dirty="0" smtClean="0">
                  <a:solidFill>
                    <a:srgbClr val="4D4F53"/>
                  </a:solidFill>
                </a:rPr>
                <a:t>Vérifier le groupe de planification</a:t>
              </a:r>
            </a:p>
            <a:p>
              <a:endParaRPr lang="fr-FR" sz="1200" dirty="0">
                <a:solidFill>
                  <a:srgbClr val="4D4F53"/>
                </a:solidFill>
              </a:endParaRPr>
            </a:p>
            <a:p>
              <a:r>
                <a:rPr lang="fr-FR" sz="1200" dirty="0" smtClean="0">
                  <a:solidFill>
                    <a:srgbClr val="4D4F53"/>
                  </a:solidFill>
                </a:rPr>
                <a:t>Vérifier le groupe d’acheteurs</a:t>
              </a:r>
            </a:p>
            <a:p>
              <a:endParaRPr lang="fr-FR" sz="1200" dirty="0">
                <a:solidFill>
                  <a:srgbClr val="4D4F53"/>
                </a:solidFill>
              </a:endParaRPr>
            </a:p>
            <a:p>
              <a:r>
                <a:rPr lang="fr-FR" sz="1200" dirty="0" smtClean="0">
                  <a:solidFill>
                    <a:srgbClr val="4D4F53"/>
                  </a:solidFill>
                </a:rPr>
                <a:t>Vérifier le type de planification et le point de commande</a:t>
              </a:r>
            </a:p>
            <a:p>
              <a:endParaRPr lang="fr-FR" sz="1200" dirty="0" smtClean="0">
                <a:solidFill>
                  <a:srgbClr val="4D4F53"/>
                </a:solidFill>
              </a:endParaRPr>
            </a:p>
            <a:p>
              <a:r>
                <a:rPr lang="fr-FR" sz="1200" dirty="0" smtClean="0">
                  <a:solidFill>
                    <a:srgbClr val="4D4F53"/>
                  </a:solidFill>
                </a:rPr>
                <a:t>Vérifier la clé de calcul</a:t>
              </a:r>
              <a:endParaRPr lang="fr-FR" sz="1200" dirty="0">
                <a:solidFill>
                  <a:srgbClr val="4D4F53"/>
                </a:solidFill>
              </a:endParaRPr>
            </a:p>
            <a:p>
              <a:endParaRPr lang="fr-FR" sz="1200" dirty="0" smtClean="0">
                <a:solidFill>
                  <a:srgbClr val="4D4F53"/>
                </a:solidFill>
              </a:endParaRPr>
            </a:p>
            <a:p>
              <a:r>
                <a:rPr lang="fr-FR" sz="1200" dirty="0" smtClean="0">
                  <a:solidFill>
                    <a:srgbClr val="4D4F53"/>
                  </a:solidFill>
                </a:rPr>
                <a:t>Vérifier les données de lot et du stock</a:t>
              </a:r>
            </a:p>
          </p:txBody>
        </p:sp>
        <p:sp>
          <p:nvSpPr>
            <p:cNvPr id="36" name="Ellipse 35"/>
            <p:cNvSpPr/>
            <p:nvPr/>
          </p:nvSpPr>
          <p:spPr>
            <a:xfrm>
              <a:off x="425491" y="12871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37" name="Ellipse 36"/>
            <p:cNvSpPr/>
            <p:nvPr/>
          </p:nvSpPr>
          <p:spPr>
            <a:xfrm>
              <a:off x="425491" y="167175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38" name="Ellipse 37"/>
            <p:cNvSpPr/>
            <p:nvPr/>
          </p:nvSpPr>
          <p:spPr>
            <a:xfrm>
              <a:off x="425491" y="204428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39" name="Ellipse 38"/>
            <p:cNvSpPr/>
            <p:nvPr/>
          </p:nvSpPr>
          <p:spPr>
            <a:xfrm>
              <a:off x="425491" y="241322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59" name="Ellipse 58"/>
            <p:cNvSpPr/>
            <p:nvPr/>
          </p:nvSpPr>
          <p:spPr>
            <a:xfrm>
              <a:off x="425491" y="274561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sp>
          <p:nvSpPr>
            <p:cNvPr id="54" name="Ellipse 53"/>
            <p:cNvSpPr/>
            <p:nvPr/>
          </p:nvSpPr>
          <p:spPr>
            <a:xfrm>
              <a:off x="425491" y="313346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6</a:t>
              </a:r>
            </a:p>
          </p:txBody>
        </p:sp>
        <p:sp>
          <p:nvSpPr>
            <p:cNvPr id="55" name="Ellipse 54"/>
            <p:cNvSpPr/>
            <p:nvPr/>
          </p:nvSpPr>
          <p:spPr>
            <a:xfrm>
              <a:off x="425491" y="347168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sp>
          <p:nvSpPr>
            <p:cNvPr id="56" name="Ellipse 55"/>
            <p:cNvSpPr/>
            <p:nvPr/>
          </p:nvSpPr>
          <p:spPr>
            <a:xfrm>
              <a:off x="436252" y="403256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8</a:t>
              </a:r>
            </a:p>
          </p:txBody>
        </p:sp>
        <p:sp>
          <p:nvSpPr>
            <p:cNvPr id="60" name="Ellipse 59"/>
            <p:cNvSpPr/>
            <p:nvPr/>
          </p:nvSpPr>
          <p:spPr>
            <a:xfrm>
              <a:off x="436252" y="4416741"/>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9</a:t>
              </a:r>
            </a:p>
          </p:txBody>
        </p:sp>
      </p:grpSp>
      <p:sp>
        <p:nvSpPr>
          <p:cNvPr id="33" name="Rectangle 32"/>
          <p:cNvSpPr/>
          <p:nvPr/>
        </p:nvSpPr>
        <p:spPr>
          <a:xfrm>
            <a:off x="1254635" y="1173926"/>
            <a:ext cx="579451" cy="10736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4" name="Rectangle 33"/>
          <p:cNvSpPr/>
          <p:nvPr/>
        </p:nvSpPr>
        <p:spPr>
          <a:xfrm>
            <a:off x="2171125" y="1251302"/>
            <a:ext cx="921058" cy="49200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7" name="Ellipse 46"/>
          <p:cNvSpPr/>
          <p:nvPr/>
        </p:nvSpPr>
        <p:spPr>
          <a:xfrm>
            <a:off x="1032663" y="112671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48" name="Ellipse 47"/>
          <p:cNvSpPr/>
          <p:nvPr/>
        </p:nvSpPr>
        <p:spPr>
          <a:xfrm>
            <a:off x="2021896" y="122539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57" name="Rectangle 56"/>
          <p:cNvSpPr/>
          <p:nvPr/>
        </p:nvSpPr>
        <p:spPr>
          <a:xfrm>
            <a:off x="2908920" y="2731325"/>
            <a:ext cx="304544" cy="12327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58" name="Ellipse 57"/>
          <p:cNvSpPr/>
          <p:nvPr/>
        </p:nvSpPr>
        <p:spPr>
          <a:xfrm>
            <a:off x="2731348" y="269719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5</a:t>
            </a:r>
          </a:p>
        </p:txBody>
      </p:sp>
      <p:pic>
        <p:nvPicPr>
          <p:cNvPr id="15" name="Image 14"/>
          <p:cNvPicPr>
            <a:picLocks noChangeAspect="1"/>
          </p:cNvPicPr>
          <p:nvPr/>
        </p:nvPicPr>
        <p:blipFill>
          <a:blip r:embed="rId6"/>
          <a:stretch>
            <a:fillRect/>
          </a:stretch>
        </p:blipFill>
        <p:spPr>
          <a:xfrm>
            <a:off x="6384794" y="1855072"/>
            <a:ext cx="190500" cy="190500"/>
          </a:xfrm>
          <a:prstGeom prst="rect">
            <a:avLst/>
          </a:prstGeom>
        </p:spPr>
      </p:pic>
      <p:pic>
        <p:nvPicPr>
          <p:cNvPr id="17" name="Image 16"/>
          <p:cNvPicPr>
            <a:picLocks noChangeAspect="1"/>
          </p:cNvPicPr>
          <p:nvPr/>
        </p:nvPicPr>
        <p:blipFill>
          <a:blip r:embed="rId7"/>
          <a:stretch>
            <a:fillRect/>
          </a:stretch>
        </p:blipFill>
        <p:spPr>
          <a:xfrm>
            <a:off x="3329190" y="1429153"/>
            <a:ext cx="1392543" cy="500025"/>
          </a:xfrm>
          <a:prstGeom prst="rect">
            <a:avLst/>
          </a:prstGeom>
          <a:ln>
            <a:solidFill>
              <a:schemeClr val="tx1"/>
            </a:solidFill>
          </a:ln>
          <a:effectLst>
            <a:outerShdw blurRad="50800" dist="38100" dir="2700000" algn="tl" rotWithShape="0">
              <a:prstClr val="black">
                <a:alpha val="40000"/>
              </a:prstClr>
            </a:outerShdw>
          </a:effectLst>
        </p:spPr>
      </p:pic>
      <p:sp>
        <p:nvSpPr>
          <p:cNvPr id="45" name="Rectangle 44"/>
          <p:cNvSpPr/>
          <p:nvPr/>
        </p:nvSpPr>
        <p:spPr>
          <a:xfrm>
            <a:off x="3324636" y="1750779"/>
            <a:ext cx="931352" cy="12327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53" name="Ellipse 52"/>
          <p:cNvSpPr/>
          <p:nvPr/>
        </p:nvSpPr>
        <p:spPr>
          <a:xfrm>
            <a:off x="3214683" y="171947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40" name="Rectangle 39"/>
          <p:cNvSpPr/>
          <p:nvPr/>
        </p:nvSpPr>
        <p:spPr>
          <a:xfrm>
            <a:off x="1345434" y="3318064"/>
            <a:ext cx="665597" cy="24656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2" name="Ellipse 41"/>
          <p:cNvSpPr/>
          <p:nvPr/>
        </p:nvSpPr>
        <p:spPr>
          <a:xfrm>
            <a:off x="1167863" y="328393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7</a:t>
            </a:r>
          </a:p>
        </p:txBody>
      </p:sp>
      <p:sp>
        <p:nvSpPr>
          <p:cNvPr id="43" name="Rectangle 42"/>
          <p:cNvSpPr/>
          <p:nvPr/>
        </p:nvSpPr>
        <p:spPr>
          <a:xfrm>
            <a:off x="1345435" y="3904785"/>
            <a:ext cx="304544" cy="12327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4" name="Ellipse 43"/>
          <p:cNvSpPr/>
          <p:nvPr/>
        </p:nvSpPr>
        <p:spPr>
          <a:xfrm>
            <a:off x="1167863" y="387065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8</a:t>
            </a:r>
          </a:p>
        </p:txBody>
      </p:sp>
      <p:sp>
        <p:nvSpPr>
          <p:cNvPr id="49" name="Rectangle 48"/>
          <p:cNvSpPr/>
          <p:nvPr/>
        </p:nvSpPr>
        <p:spPr>
          <a:xfrm>
            <a:off x="1345435" y="4052402"/>
            <a:ext cx="2318349" cy="237657"/>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50" name="Ellipse 49"/>
          <p:cNvSpPr/>
          <p:nvPr/>
        </p:nvSpPr>
        <p:spPr>
          <a:xfrm>
            <a:off x="3699977" y="401827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9</a:t>
            </a:r>
          </a:p>
        </p:txBody>
      </p:sp>
      <p:sp>
        <p:nvSpPr>
          <p:cNvPr id="51" name="Rectangle 50"/>
          <p:cNvSpPr/>
          <p:nvPr/>
        </p:nvSpPr>
        <p:spPr>
          <a:xfrm>
            <a:off x="1301545" y="2850241"/>
            <a:ext cx="304544" cy="12327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52" name="Ellipse 51"/>
          <p:cNvSpPr/>
          <p:nvPr/>
        </p:nvSpPr>
        <p:spPr>
          <a:xfrm>
            <a:off x="1641912" y="281611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6</a:t>
            </a:r>
          </a:p>
        </p:txBody>
      </p:sp>
    </p:spTree>
    <p:extLst>
      <p:ext uri="{BB962C8B-B14F-4D97-AF65-F5344CB8AC3E}">
        <p14:creationId xmlns:p14="http://schemas.microsoft.com/office/powerpoint/2010/main" val="90892018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Image 20"/>
          <p:cNvPicPr>
            <a:picLocks noChangeAspect="1"/>
          </p:cNvPicPr>
          <p:nvPr/>
        </p:nvPicPr>
        <p:blipFill>
          <a:blip r:embed="rId2"/>
          <a:stretch>
            <a:fillRect/>
          </a:stretch>
        </p:blipFill>
        <p:spPr>
          <a:xfrm>
            <a:off x="781001" y="1101942"/>
            <a:ext cx="3767394" cy="3258765"/>
          </a:xfrm>
          <a:prstGeom prst="rect">
            <a:avLst/>
          </a:prstGeom>
          <a:ln>
            <a:solidFill>
              <a:schemeClr val="tx1"/>
            </a:solidFill>
          </a:ln>
          <a:effectLst>
            <a:outerShdw blurRad="50800" dist="38100" dir="2700000" algn="tl" rotWithShape="0">
              <a:prstClr val="black">
                <a:alpha val="40000"/>
              </a:prstClr>
            </a:outerShdw>
          </a:effectLst>
        </p:spPr>
      </p:pic>
      <p:sp>
        <p:nvSpPr>
          <p:cNvPr id="33795" name="Titre 3"/>
          <p:cNvSpPr>
            <a:spLocks noGrp="1"/>
          </p:cNvSpPr>
          <p:nvPr>
            <p:ph type="title"/>
          </p:nvPr>
        </p:nvSpPr>
        <p:spPr/>
        <p:txBody>
          <a:bodyPr/>
          <a:lstStyle/>
          <a:p>
            <a:r>
              <a:rPr lang="fr-FR" altLang="en-US" sz="2400" dirty="0"/>
              <a:t>Mode opératoire</a:t>
            </a:r>
            <a:br>
              <a:rPr lang="fr-FR" altLang="en-US" sz="2400" dirty="0"/>
            </a:br>
            <a:r>
              <a:rPr lang="fr-FR" altLang="en-US" dirty="0" smtClean="0"/>
              <a:t>MM02 – Vérifier les données MRP de l’article (2/4)</a:t>
            </a:r>
            <a:endParaRPr lang="en-US" altLang="en-US" dirty="0" smtClean="0"/>
          </a:p>
        </p:txBody>
      </p:sp>
      <p:sp>
        <p:nvSpPr>
          <p:cNvPr id="8" name="ZoneTexte 7"/>
          <p:cNvSpPr txBox="1"/>
          <p:nvPr/>
        </p:nvSpPr>
        <p:spPr>
          <a:xfrm>
            <a:off x="5182521" y="1756122"/>
            <a:ext cx="3575071" cy="1569660"/>
          </a:xfrm>
          <a:prstGeom prst="rect">
            <a:avLst/>
          </a:prstGeom>
          <a:noFill/>
        </p:spPr>
        <p:txBody>
          <a:bodyPr wrap="square" rtlCol="0">
            <a:spAutoFit/>
          </a:bodyPr>
          <a:lstStyle/>
          <a:p>
            <a:r>
              <a:rPr lang="fr-FR" sz="1200" dirty="0" smtClean="0">
                <a:solidFill>
                  <a:srgbClr val="4D4F53"/>
                </a:solidFill>
              </a:rPr>
              <a:t>Cliquer sur l’onglet</a:t>
            </a:r>
          </a:p>
          <a:p>
            <a:endParaRPr lang="fr-FR" sz="1200" dirty="0">
              <a:solidFill>
                <a:srgbClr val="4D4F53"/>
              </a:solidFill>
            </a:endParaRPr>
          </a:p>
          <a:p>
            <a:r>
              <a:rPr lang="fr-FR" sz="1200" dirty="0" smtClean="0">
                <a:solidFill>
                  <a:srgbClr val="4D4F53"/>
                </a:solidFill>
              </a:rPr>
              <a:t>Vérifier le type approvisionnement « Externe </a:t>
            </a:r>
            <a:r>
              <a:rPr lang="fr-FR" sz="1200" dirty="0" smtClean="0">
                <a:solidFill>
                  <a:srgbClr val="4D4F53"/>
                </a:solidFill>
              </a:rPr>
              <a:t>» et le type d’Approvisionnement spécial</a:t>
            </a:r>
            <a:endParaRPr lang="fr-FR" sz="1200" dirty="0" smtClean="0">
              <a:solidFill>
                <a:srgbClr val="4D4F53"/>
              </a:solidFill>
            </a:endParaRPr>
          </a:p>
          <a:p>
            <a:endParaRPr lang="fr-FR" sz="1200" dirty="0" smtClean="0">
              <a:solidFill>
                <a:srgbClr val="4D4F53"/>
              </a:solidFill>
            </a:endParaRPr>
          </a:p>
          <a:p>
            <a:r>
              <a:rPr lang="fr-FR" sz="1200" dirty="0" smtClean="0">
                <a:solidFill>
                  <a:srgbClr val="4D4F53"/>
                </a:solidFill>
              </a:rPr>
              <a:t>Vérifier le magasin pour </a:t>
            </a:r>
            <a:r>
              <a:rPr lang="fr-FR" sz="1200" dirty="0" err="1" smtClean="0">
                <a:solidFill>
                  <a:srgbClr val="4D4F53"/>
                </a:solidFill>
              </a:rPr>
              <a:t>appro</a:t>
            </a:r>
            <a:r>
              <a:rPr lang="fr-FR" sz="1200" dirty="0" smtClean="0">
                <a:solidFill>
                  <a:srgbClr val="4D4F53"/>
                </a:solidFill>
              </a:rPr>
              <a:t> externe</a:t>
            </a:r>
          </a:p>
          <a:p>
            <a:endParaRPr lang="fr-FR" sz="1200" dirty="0">
              <a:solidFill>
                <a:srgbClr val="4D4F53"/>
              </a:solidFill>
            </a:endParaRPr>
          </a:p>
          <a:p>
            <a:r>
              <a:rPr lang="fr-FR" sz="1200" dirty="0" smtClean="0">
                <a:solidFill>
                  <a:srgbClr val="4D4F53"/>
                </a:solidFill>
              </a:rPr>
              <a:t>Vérifier le délai prévisionnel de livraison</a:t>
            </a:r>
          </a:p>
        </p:txBody>
      </p:sp>
      <p:sp>
        <p:nvSpPr>
          <p:cNvPr id="36" name="Ellipse 35"/>
          <p:cNvSpPr/>
          <p:nvPr/>
        </p:nvSpPr>
        <p:spPr>
          <a:xfrm>
            <a:off x="5026988" y="181074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37" name="Ellipse 36"/>
          <p:cNvSpPr/>
          <p:nvPr/>
        </p:nvSpPr>
        <p:spPr>
          <a:xfrm>
            <a:off x="5026988" y="2195383"/>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38" name="Ellipse 37"/>
          <p:cNvSpPr/>
          <p:nvPr/>
        </p:nvSpPr>
        <p:spPr>
          <a:xfrm>
            <a:off x="5026988" y="273051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39" name="Ellipse 38"/>
          <p:cNvSpPr/>
          <p:nvPr/>
        </p:nvSpPr>
        <p:spPr>
          <a:xfrm>
            <a:off x="5026988" y="309945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sp>
        <p:nvSpPr>
          <p:cNvPr id="33" name="Rectangle 32"/>
          <p:cNvSpPr/>
          <p:nvPr/>
        </p:nvSpPr>
        <p:spPr>
          <a:xfrm>
            <a:off x="1937937" y="1173926"/>
            <a:ext cx="869128" cy="10736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4" name="Rectangle 33"/>
          <p:cNvSpPr/>
          <p:nvPr/>
        </p:nvSpPr>
        <p:spPr>
          <a:xfrm>
            <a:off x="1715965" y="1906929"/>
            <a:ext cx="156136" cy="28845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7" name="Ellipse 46"/>
          <p:cNvSpPr/>
          <p:nvPr/>
        </p:nvSpPr>
        <p:spPr>
          <a:xfrm>
            <a:off x="1715965" y="112671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48" name="Ellipse 47"/>
          <p:cNvSpPr/>
          <p:nvPr/>
        </p:nvSpPr>
        <p:spPr>
          <a:xfrm>
            <a:off x="1566736" y="188102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45" name="Rectangle 44"/>
          <p:cNvSpPr/>
          <p:nvPr/>
        </p:nvSpPr>
        <p:spPr>
          <a:xfrm>
            <a:off x="3457953" y="2313265"/>
            <a:ext cx="273349" cy="12327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53" name="Ellipse 52"/>
          <p:cNvSpPr/>
          <p:nvPr/>
        </p:nvSpPr>
        <p:spPr>
          <a:xfrm>
            <a:off x="3348000" y="228196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61" name="Rectangle 60"/>
          <p:cNvSpPr/>
          <p:nvPr/>
        </p:nvSpPr>
        <p:spPr>
          <a:xfrm>
            <a:off x="3464256" y="2967160"/>
            <a:ext cx="304544" cy="12327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62" name="Ellipse 61"/>
          <p:cNvSpPr/>
          <p:nvPr/>
        </p:nvSpPr>
        <p:spPr>
          <a:xfrm>
            <a:off x="3309148" y="281002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pic>
        <p:nvPicPr>
          <p:cNvPr id="22" name="Image 21"/>
          <p:cNvPicPr>
            <a:picLocks noChangeAspect="1"/>
          </p:cNvPicPr>
          <p:nvPr/>
        </p:nvPicPr>
        <p:blipFill>
          <a:blip r:embed="rId3"/>
          <a:stretch>
            <a:fillRect/>
          </a:stretch>
        </p:blipFill>
        <p:spPr>
          <a:xfrm>
            <a:off x="6500846" y="1810743"/>
            <a:ext cx="1181100" cy="190500"/>
          </a:xfrm>
          <a:prstGeom prst="rect">
            <a:avLst/>
          </a:prstGeom>
        </p:spPr>
      </p:pic>
    </p:spTree>
    <p:extLst>
      <p:ext uri="{BB962C8B-B14F-4D97-AF65-F5344CB8AC3E}">
        <p14:creationId xmlns:p14="http://schemas.microsoft.com/office/powerpoint/2010/main" val="166204761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853493" y="1173926"/>
            <a:ext cx="3392643" cy="3209839"/>
          </a:xfrm>
          <a:prstGeom prst="rect">
            <a:avLst/>
          </a:prstGeom>
          <a:ln>
            <a:solidFill>
              <a:schemeClr val="tx1"/>
            </a:solidFill>
          </a:ln>
          <a:effectLst>
            <a:outerShdw blurRad="50800" dist="38100" dir="2700000" algn="tl" rotWithShape="0">
              <a:prstClr val="black">
                <a:alpha val="40000"/>
              </a:prstClr>
            </a:outerShdw>
          </a:effectLst>
        </p:spPr>
      </p:pic>
      <p:sp>
        <p:nvSpPr>
          <p:cNvPr id="33795" name="Titre 3"/>
          <p:cNvSpPr>
            <a:spLocks noGrp="1"/>
          </p:cNvSpPr>
          <p:nvPr>
            <p:ph type="title"/>
          </p:nvPr>
        </p:nvSpPr>
        <p:spPr/>
        <p:txBody>
          <a:bodyPr/>
          <a:lstStyle/>
          <a:p>
            <a:r>
              <a:rPr lang="fr-FR" altLang="en-US" sz="2400" dirty="0"/>
              <a:t>Mode opératoire</a:t>
            </a:r>
            <a:br>
              <a:rPr lang="fr-FR" altLang="en-US" sz="2400" dirty="0"/>
            </a:br>
            <a:r>
              <a:rPr lang="fr-FR" altLang="en-US" dirty="0" smtClean="0"/>
              <a:t>MM02 – Vérifier les données MRP de l’article (3/4)</a:t>
            </a:r>
            <a:endParaRPr lang="en-US" altLang="en-US" dirty="0" smtClean="0"/>
          </a:p>
        </p:txBody>
      </p:sp>
      <p:grpSp>
        <p:nvGrpSpPr>
          <p:cNvPr id="33794" name="Groupe 33793"/>
          <p:cNvGrpSpPr/>
          <p:nvPr/>
        </p:nvGrpSpPr>
        <p:grpSpPr>
          <a:xfrm>
            <a:off x="5026988" y="1756122"/>
            <a:ext cx="3730604" cy="1384995"/>
            <a:chOff x="425491" y="1232489"/>
            <a:chExt cx="3730604" cy="1384995"/>
          </a:xfrm>
        </p:grpSpPr>
        <p:sp>
          <p:nvSpPr>
            <p:cNvPr id="8" name="ZoneTexte 7"/>
            <p:cNvSpPr txBox="1"/>
            <p:nvPr/>
          </p:nvSpPr>
          <p:spPr>
            <a:xfrm>
              <a:off x="581024" y="1232489"/>
              <a:ext cx="3575071" cy="1384995"/>
            </a:xfrm>
            <a:prstGeom prst="rect">
              <a:avLst/>
            </a:prstGeom>
            <a:noFill/>
          </p:spPr>
          <p:txBody>
            <a:bodyPr wrap="square" rtlCol="0">
              <a:spAutoFit/>
            </a:bodyPr>
            <a:lstStyle/>
            <a:p>
              <a:r>
                <a:rPr lang="fr-FR" sz="1200" dirty="0" smtClean="0">
                  <a:solidFill>
                    <a:srgbClr val="4D4F53"/>
                  </a:solidFill>
                </a:rPr>
                <a:t>Cliquer sur l’onglet</a:t>
              </a:r>
            </a:p>
            <a:p>
              <a:endParaRPr lang="fr-FR" sz="1200" dirty="0">
                <a:solidFill>
                  <a:srgbClr val="4D4F53"/>
                </a:solidFill>
              </a:endParaRPr>
            </a:p>
            <a:p>
              <a:r>
                <a:rPr lang="fr-FR" sz="1200" dirty="0" smtClean="0">
                  <a:solidFill>
                    <a:srgbClr val="4D4F53"/>
                  </a:solidFill>
                </a:rPr>
                <a:t>Vérifier l’indicateur période</a:t>
              </a:r>
            </a:p>
            <a:p>
              <a:endParaRPr lang="fr-FR" sz="1200" dirty="0" smtClean="0">
                <a:solidFill>
                  <a:srgbClr val="4D4F53"/>
                </a:solidFill>
              </a:endParaRPr>
            </a:p>
            <a:p>
              <a:r>
                <a:rPr lang="fr-FR" sz="1200" dirty="0" smtClean="0">
                  <a:solidFill>
                    <a:srgbClr val="4D4F53"/>
                  </a:solidFill>
                </a:rPr>
                <a:t>Vérifier le groupe de stratégie</a:t>
              </a:r>
            </a:p>
            <a:p>
              <a:endParaRPr lang="fr-FR" sz="1200" dirty="0">
                <a:solidFill>
                  <a:srgbClr val="4D4F53"/>
                </a:solidFill>
              </a:endParaRPr>
            </a:p>
            <a:p>
              <a:r>
                <a:rPr lang="fr-FR" sz="1200" dirty="0" smtClean="0">
                  <a:solidFill>
                    <a:srgbClr val="4D4F53"/>
                  </a:solidFill>
                </a:rPr>
                <a:t>Vérifier le contrôle de disponibilité</a:t>
              </a:r>
            </a:p>
          </p:txBody>
        </p:sp>
        <p:sp>
          <p:nvSpPr>
            <p:cNvPr id="36" name="Ellipse 35"/>
            <p:cNvSpPr/>
            <p:nvPr/>
          </p:nvSpPr>
          <p:spPr>
            <a:xfrm>
              <a:off x="425491" y="12871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37" name="Ellipse 36"/>
            <p:cNvSpPr/>
            <p:nvPr/>
          </p:nvSpPr>
          <p:spPr>
            <a:xfrm>
              <a:off x="425491" y="167175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38" name="Ellipse 37"/>
            <p:cNvSpPr/>
            <p:nvPr/>
          </p:nvSpPr>
          <p:spPr>
            <a:xfrm>
              <a:off x="425491" y="204428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39" name="Ellipse 38"/>
            <p:cNvSpPr/>
            <p:nvPr/>
          </p:nvSpPr>
          <p:spPr>
            <a:xfrm>
              <a:off x="425491" y="241322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grpSp>
      <p:sp>
        <p:nvSpPr>
          <p:cNvPr id="33" name="Rectangle 32"/>
          <p:cNvSpPr/>
          <p:nvPr/>
        </p:nvSpPr>
        <p:spPr>
          <a:xfrm>
            <a:off x="1872101" y="1582696"/>
            <a:ext cx="869128" cy="10736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4" name="Rectangle 33"/>
          <p:cNvSpPr/>
          <p:nvPr/>
        </p:nvSpPr>
        <p:spPr>
          <a:xfrm>
            <a:off x="1715965" y="2263865"/>
            <a:ext cx="151679" cy="16698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7" name="Ellipse 46"/>
          <p:cNvSpPr/>
          <p:nvPr/>
        </p:nvSpPr>
        <p:spPr>
          <a:xfrm>
            <a:off x="1650129" y="153548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48" name="Ellipse 47"/>
          <p:cNvSpPr/>
          <p:nvPr/>
        </p:nvSpPr>
        <p:spPr>
          <a:xfrm>
            <a:off x="1566736" y="223795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45" name="Rectangle 44"/>
          <p:cNvSpPr/>
          <p:nvPr/>
        </p:nvSpPr>
        <p:spPr>
          <a:xfrm>
            <a:off x="1721400" y="2630816"/>
            <a:ext cx="169728" cy="12327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53" name="Ellipse 52"/>
          <p:cNvSpPr/>
          <p:nvPr/>
        </p:nvSpPr>
        <p:spPr>
          <a:xfrm>
            <a:off x="1559637" y="2599515"/>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61" name="Rectangle 60"/>
          <p:cNvSpPr/>
          <p:nvPr/>
        </p:nvSpPr>
        <p:spPr>
          <a:xfrm>
            <a:off x="1724262" y="3456561"/>
            <a:ext cx="156278" cy="123274"/>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62" name="Ellipse 61"/>
          <p:cNvSpPr/>
          <p:nvPr/>
        </p:nvSpPr>
        <p:spPr>
          <a:xfrm>
            <a:off x="1942939" y="3456561"/>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pic>
        <p:nvPicPr>
          <p:cNvPr id="3" name="Image 2"/>
          <p:cNvPicPr>
            <a:picLocks noChangeAspect="1"/>
          </p:cNvPicPr>
          <p:nvPr/>
        </p:nvPicPr>
        <p:blipFill>
          <a:blip r:embed="rId3"/>
          <a:stretch>
            <a:fillRect/>
          </a:stretch>
        </p:blipFill>
        <p:spPr>
          <a:xfrm>
            <a:off x="6529162" y="1810743"/>
            <a:ext cx="1467036" cy="221845"/>
          </a:xfrm>
          <a:prstGeom prst="rect">
            <a:avLst/>
          </a:prstGeom>
        </p:spPr>
      </p:pic>
    </p:spTree>
    <p:extLst>
      <p:ext uri="{BB962C8B-B14F-4D97-AF65-F5344CB8AC3E}">
        <p14:creationId xmlns:p14="http://schemas.microsoft.com/office/powerpoint/2010/main" val="323562729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a:blip r:embed="rId2"/>
          <a:stretch>
            <a:fillRect/>
          </a:stretch>
        </p:blipFill>
        <p:spPr>
          <a:xfrm>
            <a:off x="414563" y="1288098"/>
            <a:ext cx="4176661" cy="2738901"/>
          </a:xfrm>
          <a:prstGeom prst="rect">
            <a:avLst/>
          </a:prstGeom>
          <a:ln>
            <a:solidFill>
              <a:schemeClr val="tx1"/>
            </a:solidFill>
          </a:ln>
          <a:effectLst>
            <a:outerShdw blurRad="50800" dist="38100" dir="2700000" algn="tl" rotWithShape="0">
              <a:prstClr val="black">
                <a:alpha val="40000"/>
              </a:prstClr>
            </a:outerShdw>
          </a:effectLst>
        </p:spPr>
      </p:pic>
      <p:sp>
        <p:nvSpPr>
          <p:cNvPr id="33795" name="Titre 3"/>
          <p:cNvSpPr>
            <a:spLocks noGrp="1"/>
          </p:cNvSpPr>
          <p:nvPr>
            <p:ph type="title"/>
          </p:nvPr>
        </p:nvSpPr>
        <p:spPr/>
        <p:txBody>
          <a:bodyPr/>
          <a:lstStyle/>
          <a:p>
            <a:r>
              <a:rPr lang="fr-FR" altLang="en-US" sz="2400" dirty="0"/>
              <a:t>Mode opératoire</a:t>
            </a:r>
            <a:br>
              <a:rPr lang="fr-FR" altLang="en-US" sz="2400" dirty="0"/>
            </a:br>
            <a:r>
              <a:rPr lang="fr-FR" altLang="en-US" dirty="0" smtClean="0"/>
              <a:t>MM02 – Vérifier les données MRP de l’article (4/4)</a:t>
            </a:r>
            <a:endParaRPr lang="en-US" altLang="en-US" dirty="0" smtClean="0"/>
          </a:p>
        </p:txBody>
      </p:sp>
      <p:grpSp>
        <p:nvGrpSpPr>
          <p:cNvPr id="33794" name="Groupe 33793"/>
          <p:cNvGrpSpPr/>
          <p:nvPr/>
        </p:nvGrpSpPr>
        <p:grpSpPr>
          <a:xfrm>
            <a:off x="5026988" y="1756122"/>
            <a:ext cx="3730604" cy="646331"/>
            <a:chOff x="425491" y="1232489"/>
            <a:chExt cx="3730604" cy="646331"/>
          </a:xfrm>
        </p:grpSpPr>
        <p:sp>
          <p:nvSpPr>
            <p:cNvPr id="8" name="ZoneTexte 7"/>
            <p:cNvSpPr txBox="1"/>
            <p:nvPr/>
          </p:nvSpPr>
          <p:spPr>
            <a:xfrm>
              <a:off x="581024" y="1232489"/>
              <a:ext cx="3575071" cy="646331"/>
            </a:xfrm>
            <a:prstGeom prst="rect">
              <a:avLst/>
            </a:prstGeom>
            <a:noFill/>
          </p:spPr>
          <p:txBody>
            <a:bodyPr wrap="square" rtlCol="0">
              <a:spAutoFit/>
            </a:bodyPr>
            <a:lstStyle/>
            <a:p>
              <a:r>
                <a:rPr lang="fr-FR" sz="1200" dirty="0" smtClean="0">
                  <a:solidFill>
                    <a:srgbClr val="4D4F53"/>
                  </a:solidFill>
                </a:rPr>
                <a:t>Cliquer sur l’onglet</a:t>
              </a:r>
            </a:p>
            <a:p>
              <a:endParaRPr lang="fr-FR" sz="1200" dirty="0">
                <a:solidFill>
                  <a:srgbClr val="4D4F53"/>
                </a:solidFill>
              </a:endParaRPr>
            </a:p>
            <a:p>
              <a:r>
                <a:rPr lang="fr-FR" sz="1200" dirty="0" smtClean="0">
                  <a:solidFill>
                    <a:srgbClr val="4D4F53"/>
                  </a:solidFill>
                </a:rPr>
                <a:t>Vérifier </a:t>
              </a:r>
              <a:r>
                <a:rPr lang="fr-FR" sz="1200" dirty="0" smtClean="0">
                  <a:solidFill>
                    <a:srgbClr val="4D4F53"/>
                  </a:solidFill>
                </a:rPr>
                <a:t>la valeur du champ Individuel/Collectif</a:t>
              </a:r>
              <a:endParaRPr lang="fr-FR" sz="1200" dirty="0" smtClean="0">
                <a:solidFill>
                  <a:srgbClr val="4D4F53"/>
                </a:solidFill>
              </a:endParaRPr>
            </a:p>
          </p:txBody>
        </p:sp>
        <p:sp>
          <p:nvSpPr>
            <p:cNvPr id="36" name="Ellipse 35"/>
            <p:cNvSpPr/>
            <p:nvPr/>
          </p:nvSpPr>
          <p:spPr>
            <a:xfrm>
              <a:off x="425491" y="12871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37" name="Ellipse 36"/>
            <p:cNvSpPr/>
            <p:nvPr/>
          </p:nvSpPr>
          <p:spPr>
            <a:xfrm>
              <a:off x="425491" y="167175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grpSp>
      <p:sp>
        <p:nvSpPr>
          <p:cNvPr id="33" name="Rectangle 32"/>
          <p:cNvSpPr/>
          <p:nvPr/>
        </p:nvSpPr>
        <p:spPr>
          <a:xfrm>
            <a:off x="1788708" y="1339742"/>
            <a:ext cx="869128" cy="15457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4" name="Rectangle 33"/>
          <p:cNvSpPr/>
          <p:nvPr/>
        </p:nvSpPr>
        <p:spPr>
          <a:xfrm>
            <a:off x="1490896" y="2349958"/>
            <a:ext cx="151679" cy="16698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7" name="Ellipse 46"/>
          <p:cNvSpPr/>
          <p:nvPr/>
        </p:nvSpPr>
        <p:spPr>
          <a:xfrm>
            <a:off x="1566736" y="1339742"/>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48" name="Ellipse 47"/>
          <p:cNvSpPr/>
          <p:nvPr/>
        </p:nvSpPr>
        <p:spPr>
          <a:xfrm>
            <a:off x="1341667" y="2324049"/>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pic>
        <p:nvPicPr>
          <p:cNvPr id="2" name="Image 1"/>
          <p:cNvPicPr>
            <a:picLocks noChangeAspect="1"/>
          </p:cNvPicPr>
          <p:nvPr/>
        </p:nvPicPr>
        <p:blipFill>
          <a:blip r:embed="rId3"/>
          <a:stretch>
            <a:fillRect/>
          </a:stretch>
        </p:blipFill>
        <p:spPr>
          <a:xfrm>
            <a:off x="6511925" y="1764205"/>
            <a:ext cx="1581150" cy="247650"/>
          </a:xfrm>
          <a:prstGeom prst="rect">
            <a:avLst/>
          </a:prstGeom>
        </p:spPr>
      </p:pic>
    </p:spTree>
    <p:extLst>
      <p:ext uri="{BB962C8B-B14F-4D97-AF65-F5344CB8AC3E}">
        <p14:creationId xmlns:p14="http://schemas.microsoft.com/office/powerpoint/2010/main" val="320226694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Text Box 3"/>
          <p:cNvSpPr txBox="1">
            <a:spLocks noChangeArrowheads="1"/>
          </p:cNvSpPr>
          <p:nvPr/>
        </p:nvSpPr>
        <p:spPr bwMode="auto">
          <a:xfrm>
            <a:off x="1173956" y="1058111"/>
            <a:ext cx="2201466" cy="1213506"/>
          </a:xfrm>
          <a:prstGeom prst="rect">
            <a:avLst/>
          </a:prstGeom>
          <a:noFill/>
          <a:ln w="12700" algn="ctr">
            <a:noFill/>
            <a:miter lim="800000"/>
            <a:headEnd/>
            <a:tailEnd/>
          </a:ln>
        </p:spPr>
        <p:txBody>
          <a:bodyPr lIns="67500" tIns="35100" rIns="67500" bIns="35100">
            <a:spAutoFit/>
          </a:bodyPr>
          <a:lstStyle/>
          <a:p>
            <a:pPr>
              <a:lnSpc>
                <a:spcPct val="110000"/>
              </a:lnSpc>
              <a:buFont typeface="Wingdings" pitchFamily="2" charset="2"/>
              <a:buNone/>
              <a:defRPr/>
            </a:pPr>
            <a:endParaRPr lang="fr-FR" sz="1350" dirty="0">
              <a:solidFill>
                <a:srgbClr val="4F81BD"/>
              </a:solidFill>
              <a:latin typeface="Arial Narrow" pitchFamily="34" charset="0"/>
              <a:ea typeface="ＭＳ Ｐゴシック"/>
              <a:cs typeface="ＭＳ Ｐゴシック"/>
            </a:endParaRPr>
          </a:p>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Créer une source d’approvisionnement</a:t>
            </a:r>
          </a:p>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Vérifier les données MRP d’un article géré en achats directs</a:t>
            </a:r>
            <a:endParaRPr lang="fr-FR" sz="1350" dirty="0">
              <a:solidFill>
                <a:srgbClr val="4F81BD"/>
              </a:solidFill>
              <a:latin typeface="Arial Narrow" pitchFamily="34" charset="0"/>
              <a:ea typeface="ＭＳ Ｐゴシック"/>
              <a:cs typeface="ＭＳ Ｐゴシック"/>
            </a:endParaRPr>
          </a:p>
        </p:txBody>
      </p:sp>
      <p:sp>
        <p:nvSpPr>
          <p:cNvPr id="3" name="ZoneTexte 2"/>
          <p:cNvSpPr txBox="1"/>
          <p:nvPr/>
        </p:nvSpPr>
        <p:spPr>
          <a:xfrm>
            <a:off x="1116295" y="205978"/>
            <a:ext cx="2316788" cy="523220"/>
          </a:xfrm>
          <a:prstGeom prst="rect">
            <a:avLst/>
          </a:prstGeom>
          <a:noFill/>
        </p:spPr>
        <p:txBody>
          <a:bodyPr wrap="none" rtlCol="0">
            <a:spAutoFit/>
          </a:bodyPr>
          <a:lstStyle/>
          <a:p>
            <a:r>
              <a:rPr lang="en-US" sz="2800" b="1" dirty="0" err="1">
                <a:solidFill>
                  <a:srgbClr val="4F81BD"/>
                </a:solidFill>
              </a:rPr>
              <a:t>Exercice</a:t>
            </a:r>
            <a:r>
              <a:rPr lang="en-US" sz="2800" b="1" dirty="0">
                <a:solidFill>
                  <a:srgbClr val="4F81BD"/>
                </a:solidFill>
              </a:rPr>
              <a:t> </a:t>
            </a:r>
            <a:r>
              <a:rPr lang="en-US" sz="2800" b="1" dirty="0" err="1">
                <a:solidFill>
                  <a:srgbClr val="4F81BD"/>
                </a:solidFill>
              </a:rPr>
              <a:t>dirigé</a:t>
            </a:r>
            <a:endParaRPr lang="en-US" sz="2800" b="1" dirty="0">
              <a:solidFill>
                <a:srgbClr val="4F81BD"/>
              </a:solidFill>
            </a:endParaRPr>
          </a:p>
        </p:txBody>
      </p:sp>
      <p:pic>
        <p:nvPicPr>
          <p:cNvPr id="34" name="Image 3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399562"/>
            <a:ext cx="3120189" cy="2156460"/>
          </a:xfrm>
          <a:prstGeom prst="rect">
            <a:avLst/>
          </a:prstGeom>
        </p:spPr>
      </p:pic>
      <p:grpSp>
        <p:nvGrpSpPr>
          <p:cNvPr id="35" name="Groupe 34"/>
          <p:cNvGrpSpPr/>
          <p:nvPr/>
        </p:nvGrpSpPr>
        <p:grpSpPr>
          <a:xfrm>
            <a:off x="5174456" y="205978"/>
            <a:ext cx="3680275" cy="4299347"/>
            <a:chOff x="5174456" y="205978"/>
            <a:chExt cx="3680275" cy="4299347"/>
          </a:xfrm>
        </p:grpSpPr>
        <p:grpSp>
          <p:nvGrpSpPr>
            <p:cNvPr id="36" name="Groupe 35"/>
            <p:cNvGrpSpPr/>
            <p:nvPr/>
          </p:nvGrpSpPr>
          <p:grpSpPr>
            <a:xfrm>
              <a:off x="5174456" y="205978"/>
              <a:ext cx="3680275" cy="4299347"/>
              <a:chOff x="3707606" y="205978"/>
              <a:chExt cx="4105275" cy="4795838"/>
            </a:xfrm>
          </p:grpSpPr>
          <p:sp>
            <p:nvSpPr>
              <p:cNvPr id="39" name="Rectangle 38"/>
              <p:cNvSpPr/>
              <p:nvPr/>
            </p:nvSpPr>
            <p:spPr>
              <a:xfrm>
                <a:off x="3707606" y="205978"/>
                <a:ext cx="4105275" cy="4795838"/>
              </a:xfrm>
              <a:prstGeom prst="rect">
                <a:avLst/>
              </a:prstGeom>
              <a:solidFill>
                <a:schemeClr val="bg1"/>
              </a:solidFill>
              <a:ln w="222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lstStyle/>
              <a:p>
                <a:pPr>
                  <a:defRPr/>
                </a:pPr>
                <a:endParaRPr lang="fr-FR" sz="1350" b="1" u="sng" dirty="0">
                  <a:solidFill>
                    <a:schemeClr val="tx1"/>
                  </a:solidFill>
                </a:endParaRPr>
              </a:p>
              <a:p>
                <a:pPr>
                  <a:defRPr/>
                </a:pPr>
                <a:endParaRPr lang="en-US" sz="1350" b="1" u="sng" dirty="0">
                  <a:solidFill>
                    <a:schemeClr val="tx1"/>
                  </a:solidFill>
                </a:endParaRPr>
              </a:p>
            </p:txBody>
          </p:sp>
          <p:cxnSp>
            <p:nvCxnSpPr>
              <p:cNvPr id="40" name="Connecteur droit 39"/>
              <p:cNvCxnSpPr/>
              <p:nvPr/>
            </p:nvCxnSpPr>
            <p:spPr>
              <a:xfrm>
                <a:off x="3815953" y="11406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1" name="Connecteur droit 40"/>
              <p:cNvCxnSpPr/>
              <p:nvPr/>
            </p:nvCxnSpPr>
            <p:spPr>
              <a:xfrm>
                <a:off x="3815953" y="13620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2" name="Connecteur droit 41"/>
              <p:cNvCxnSpPr/>
              <p:nvPr/>
            </p:nvCxnSpPr>
            <p:spPr>
              <a:xfrm>
                <a:off x="3821906" y="24562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3" name="Connecteur droit 42"/>
              <p:cNvCxnSpPr/>
              <p:nvPr/>
            </p:nvCxnSpPr>
            <p:spPr>
              <a:xfrm>
                <a:off x="3821906" y="26777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4" name="Connecteur droit 43"/>
              <p:cNvCxnSpPr/>
              <p:nvPr/>
            </p:nvCxnSpPr>
            <p:spPr>
              <a:xfrm>
                <a:off x="3821906" y="1590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5" name="Connecteur droit 44"/>
              <p:cNvCxnSpPr/>
              <p:nvPr/>
            </p:nvCxnSpPr>
            <p:spPr>
              <a:xfrm>
                <a:off x="3821906" y="18121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6" name="Connecteur droit 45"/>
              <p:cNvCxnSpPr/>
              <p:nvPr/>
            </p:nvCxnSpPr>
            <p:spPr>
              <a:xfrm>
                <a:off x="3821906" y="20276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7" name="Connecteur droit 46"/>
              <p:cNvCxnSpPr/>
              <p:nvPr/>
            </p:nvCxnSpPr>
            <p:spPr>
              <a:xfrm>
                <a:off x="3821906" y="22490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8" name="Connecteur droit 47"/>
              <p:cNvCxnSpPr/>
              <p:nvPr/>
            </p:nvCxnSpPr>
            <p:spPr>
              <a:xfrm>
                <a:off x="3821906" y="28932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9" name="Connecteur droit 48"/>
              <p:cNvCxnSpPr/>
              <p:nvPr/>
            </p:nvCxnSpPr>
            <p:spPr>
              <a:xfrm>
                <a:off x="3821906" y="3114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0" name="Connecteur droit 49"/>
              <p:cNvCxnSpPr/>
              <p:nvPr/>
            </p:nvCxnSpPr>
            <p:spPr>
              <a:xfrm>
                <a:off x="3827860" y="42088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1" name="Connecteur droit 50"/>
              <p:cNvCxnSpPr/>
              <p:nvPr/>
            </p:nvCxnSpPr>
            <p:spPr>
              <a:xfrm>
                <a:off x="3827860" y="44303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2" name="Connecteur droit 51"/>
              <p:cNvCxnSpPr/>
              <p:nvPr/>
            </p:nvCxnSpPr>
            <p:spPr>
              <a:xfrm>
                <a:off x="3827860" y="33432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3" name="Connecteur droit 52"/>
              <p:cNvCxnSpPr/>
              <p:nvPr/>
            </p:nvCxnSpPr>
            <p:spPr>
              <a:xfrm>
                <a:off x="3827860" y="35647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4" name="Connecteur droit 53"/>
              <p:cNvCxnSpPr/>
              <p:nvPr/>
            </p:nvCxnSpPr>
            <p:spPr>
              <a:xfrm>
                <a:off x="3827860" y="37802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5" name="Connecteur droit 54"/>
              <p:cNvCxnSpPr/>
              <p:nvPr/>
            </p:nvCxnSpPr>
            <p:spPr>
              <a:xfrm>
                <a:off x="3827860" y="40016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6" name="Connecteur droit 55"/>
              <p:cNvCxnSpPr/>
              <p:nvPr/>
            </p:nvCxnSpPr>
            <p:spPr>
              <a:xfrm>
                <a:off x="3827860" y="461963"/>
                <a:ext cx="3827861"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7" name="Connecteur droit 56"/>
              <p:cNvCxnSpPr/>
              <p:nvPr/>
            </p:nvCxnSpPr>
            <p:spPr>
              <a:xfrm>
                <a:off x="3827860" y="682229"/>
                <a:ext cx="3827859"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8" name="Connecteur droit 57"/>
              <p:cNvCxnSpPr/>
              <p:nvPr/>
            </p:nvCxnSpPr>
            <p:spPr>
              <a:xfrm>
                <a:off x="3827860" y="909638"/>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9" name="Connecteur droit 58"/>
              <p:cNvCxnSpPr/>
              <p:nvPr/>
            </p:nvCxnSpPr>
            <p:spPr>
              <a:xfrm>
                <a:off x="3821906" y="4661298"/>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60" name="Connecteur droit 59"/>
              <p:cNvCxnSpPr/>
              <p:nvPr/>
            </p:nvCxnSpPr>
            <p:spPr>
              <a:xfrm>
                <a:off x="3821906" y="4882754"/>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grpSp>
        <p:pic>
          <p:nvPicPr>
            <p:cNvPr id="37" name="Image 36"/>
            <p:cNvPicPr>
              <a:picLocks noChangeAspect="1"/>
            </p:cNvPicPr>
            <p:nvPr/>
          </p:nvPicPr>
          <p:blipFill>
            <a:blip r:embed="rId4">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7850414" y="257643"/>
              <a:ext cx="909117" cy="922754"/>
            </a:xfrm>
            <a:prstGeom prst="rect">
              <a:avLst/>
            </a:prstGeom>
          </p:spPr>
        </p:pic>
        <p:sp>
          <p:nvSpPr>
            <p:cNvPr id="38" name="ZoneTexte 36"/>
            <p:cNvSpPr txBox="1">
              <a:spLocks noChangeArrowheads="1"/>
            </p:cNvSpPr>
            <p:nvPr/>
          </p:nvSpPr>
          <p:spPr bwMode="auto">
            <a:xfrm rot="21212387">
              <a:off x="7848414" y="443461"/>
              <a:ext cx="969572" cy="707886"/>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r>
                <a:rPr lang="fr-FR" altLang="en-US" sz="800" b="1" dirty="0">
                  <a:solidFill>
                    <a:schemeClr val="bg1"/>
                  </a:solidFill>
                  <a:latin typeface="+mn-lt"/>
                </a:rPr>
                <a:t>La présentation détaillée du pas à pas est retrouvée dans le guide utilisateur</a:t>
              </a:r>
              <a:endParaRPr lang="en-US" altLang="en-US" sz="800" b="1" dirty="0">
                <a:solidFill>
                  <a:schemeClr val="bg1"/>
                </a:solidFill>
                <a:latin typeface="+mn-lt"/>
              </a:endParaRPr>
            </a:p>
          </p:txBody>
        </p:sp>
      </p:grpSp>
    </p:spTree>
    <p:extLst>
      <p:ext uri="{BB962C8B-B14F-4D97-AF65-F5344CB8AC3E}">
        <p14:creationId xmlns:p14="http://schemas.microsoft.com/office/powerpoint/2010/main" val="154869185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p:cNvPicPr>
            <a:picLocks noChangeAspect="1"/>
          </p:cNvPicPr>
          <p:nvPr/>
        </p:nvPicPr>
        <p:blipFill>
          <a:blip r:embed="rId2"/>
          <a:stretch>
            <a:fillRect/>
          </a:stretch>
        </p:blipFill>
        <p:spPr>
          <a:xfrm>
            <a:off x="432486" y="1667674"/>
            <a:ext cx="1494698" cy="1075323"/>
          </a:xfrm>
          <a:prstGeom prst="rect">
            <a:avLst/>
          </a:prstGeom>
          <a:ln>
            <a:solidFill>
              <a:schemeClr val="tx1"/>
            </a:solidFill>
          </a:ln>
          <a:effectLst>
            <a:outerShdw blurRad="50800" dist="38100" dir="2700000" algn="tl" rotWithShape="0">
              <a:prstClr val="black">
                <a:alpha val="40000"/>
              </a:prstClr>
            </a:outerShdw>
          </a:effectLst>
        </p:spPr>
      </p:pic>
      <p:sp>
        <p:nvSpPr>
          <p:cNvPr id="33795" name="Titre 3"/>
          <p:cNvSpPr>
            <a:spLocks noGrp="1"/>
          </p:cNvSpPr>
          <p:nvPr>
            <p:ph type="title"/>
          </p:nvPr>
        </p:nvSpPr>
        <p:spPr/>
        <p:txBody>
          <a:bodyPr/>
          <a:lstStyle/>
          <a:p>
            <a:r>
              <a:rPr lang="fr-FR" altLang="en-US" sz="2400" dirty="0"/>
              <a:t>Mode opératoire</a:t>
            </a:r>
            <a:br>
              <a:rPr lang="fr-FR" altLang="en-US" sz="2400" dirty="0"/>
            </a:br>
            <a:r>
              <a:rPr lang="fr-FR" altLang="en-US" dirty="0" smtClean="0"/>
              <a:t>MD04 – Afficher l’état dynamique des stocks</a:t>
            </a:r>
            <a:endParaRPr lang="en-US" altLang="en-US" dirty="0" smtClean="0"/>
          </a:p>
        </p:txBody>
      </p:sp>
      <p:grpSp>
        <p:nvGrpSpPr>
          <p:cNvPr id="33794" name="Groupe 33793"/>
          <p:cNvGrpSpPr/>
          <p:nvPr/>
        </p:nvGrpSpPr>
        <p:grpSpPr>
          <a:xfrm>
            <a:off x="5026988" y="1432956"/>
            <a:ext cx="3730604" cy="646331"/>
            <a:chOff x="425491" y="1232489"/>
            <a:chExt cx="3730604" cy="646331"/>
          </a:xfrm>
        </p:grpSpPr>
        <p:sp>
          <p:nvSpPr>
            <p:cNvPr id="8" name="ZoneTexte 7"/>
            <p:cNvSpPr txBox="1"/>
            <p:nvPr/>
          </p:nvSpPr>
          <p:spPr>
            <a:xfrm>
              <a:off x="581024" y="1232489"/>
              <a:ext cx="3575071" cy="646331"/>
            </a:xfrm>
            <a:prstGeom prst="rect">
              <a:avLst/>
            </a:prstGeom>
            <a:noFill/>
          </p:spPr>
          <p:txBody>
            <a:bodyPr wrap="square" rtlCol="0">
              <a:spAutoFit/>
            </a:bodyPr>
            <a:lstStyle/>
            <a:p>
              <a:r>
                <a:rPr lang="fr-FR" sz="1200" dirty="0" smtClean="0">
                  <a:solidFill>
                    <a:srgbClr val="4D4F53"/>
                  </a:solidFill>
                </a:rPr>
                <a:t>Renseigner l’article et la division, cliquer « Entrer »</a:t>
              </a:r>
            </a:p>
            <a:p>
              <a:endParaRPr lang="fr-FR" sz="1200" dirty="0">
                <a:solidFill>
                  <a:srgbClr val="4D4F53"/>
                </a:solidFill>
              </a:endParaRPr>
            </a:p>
            <a:p>
              <a:r>
                <a:rPr lang="fr-FR" sz="1200" dirty="0" smtClean="0">
                  <a:solidFill>
                    <a:srgbClr val="4D4F53"/>
                  </a:solidFill>
                </a:rPr>
                <a:t>Vérifier la projection </a:t>
              </a:r>
              <a:r>
                <a:rPr lang="fr-FR" sz="1200" dirty="0" smtClean="0">
                  <a:solidFill>
                    <a:srgbClr val="4D4F53"/>
                  </a:solidFill>
                </a:rPr>
                <a:t>dynamique du stock</a:t>
              </a:r>
              <a:endParaRPr lang="fr-FR" sz="1200" dirty="0" smtClean="0">
                <a:solidFill>
                  <a:srgbClr val="4D4F53"/>
                </a:solidFill>
              </a:endParaRPr>
            </a:p>
          </p:txBody>
        </p:sp>
        <p:sp>
          <p:nvSpPr>
            <p:cNvPr id="36" name="Ellipse 35"/>
            <p:cNvSpPr/>
            <p:nvPr/>
          </p:nvSpPr>
          <p:spPr>
            <a:xfrm>
              <a:off x="425491" y="12871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37" name="Ellipse 36"/>
            <p:cNvSpPr/>
            <p:nvPr/>
          </p:nvSpPr>
          <p:spPr>
            <a:xfrm>
              <a:off x="425491" y="167175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grpSp>
      <p:sp>
        <p:nvSpPr>
          <p:cNvPr id="33" name="Rectangle 32"/>
          <p:cNvSpPr/>
          <p:nvPr/>
        </p:nvSpPr>
        <p:spPr>
          <a:xfrm>
            <a:off x="1075600" y="2167821"/>
            <a:ext cx="522541" cy="23539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7" name="Ellipse 46"/>
          <p:cNvSpPr/>
          <p:nvPr/>
        </p:nvSpPr>
        <p:spPr>
          <a:xfrm>
            <a:off x="853627" y="2096252"/>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pic>
        <p:nvPicPr>
          <p:cNvPr id="5" name="Image 4"/>
          <p:cNvPicPr>
            <a:picLocks noChangeAspect="1"/>
          </p:cNvPicPr>
          <p:nvPr/>
        </p:nvPicPr>
        <p:blipFill>
          <a:blip r:embed="rId3"/>
          <a:stretch>
            <a:fillRect/>
          </a:stretch>
        </p:blipFill>
        <p:spPr>
          <a:xfrm>
            <a:off x="690652" y="2531702"/>
            <a:ext cx="4218989" cy="1164399"/>
          </a:xfrm>
          <a:prstGeom prst="rect">
            <a:avLst/>
          </a:prstGeom>
          <a:ln>
            <a:solidFill>
              <a:schemeClr val="tx1"/>
            </a:solidFill>
          </a:ln>
          <a:effectLst>
            <a:outerShdw blurRad="50800" dist="38100" dir="2700000" algn="tl" rotWithShape="0">
              <a:prstClr val="black">
                <a:alpha val="40000"/>
              </a:prstClr>
            </a:outerShdw>
          </a:effectLst>
        </p:spPr>
      </p:pic>
      <p:cxnSp>
        <p:nvCxnSpPr>
          <p:cNvPr id="18" name="Connecteur en angle 17"/>
          <p:cNvCxnSpPr>
            <a:stCxn id="6" idx="3"/>
            <a:endCxn id="5" idx="0"/>
          </p:cNvCxnSpPr>
          <p:nvPr/>
        </p:nvCxnSpPr>
        <p:spPr>
          <a:xfrm>
            <a:off x="1927184" y="2205336"/>
            <a:ext cx="872963" cy="326366"/>
          </a:xfrm>
          <a:prstGeom prst="bentConnector2">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12" name="Ellipse 11"/>
          <p:cNvSpPr/>
          <p:nvPr/>
        </p:nvSpPr>
        <p:spPr>
          <a:xfrm>
            <a:off x="534516" y="2959326"/>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Tree>
    <p:extLst>
      <p:ext uri="{BB962C8B-B14F-4D97-AF65-F5344CB8AC3E}">
        <p14:creationId xmlns:p14="http://schemas.microsoft.com/office/powerpoint/2010/main" val="24937308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p:cNvPicPr>
            <a:picLocks noChangeAspect="1"/>
          </p:cNvPicPr>
          <p:nvPr/>
        </p:nvPicPr>
        <p:blipFill>
          <a:blip r:embed="rId2"/>
          <a:stretch>
            <a:fillRect/>
          </a:stretch>
        </p:blipFill>
        <p:spPr>
          <a:xfrm>
            <a:off x="887847" y="1039195"/>
            <a:ext cx="3145319" cy="2876488"/>
          </a:xfrm>
          <a:prstGeom prst="rect">
            <a:avLst/>
          </a:prstGeom>
          <a:ln>
            <a:solidFill>
              <a:schemeClr val="tx1"/>
            </a:solidFill>
          </a:ln>
          <a:effectLst>
            <a:outerShdw blurRad="50800" dist="38100" dir="2700000" algn="tl" rotWithShape="0">
              <a:prstClr val="black">
                <a:alpha val="40000"/>
              </a:prstClr>
            </a:outerShdw>
          </a:effectLst>
        </p:spPr>
      </p:pic>
      <p:sp>
        <p:nvSpPr>
          <p:cNvPr id="33795" name="Titre 3"/>
          <p:cNvSpPr>
            <a:spLocks noGrp="1"/>
          </p:cNvSpPr>
          <p:nvPr>
            <p:ph type="title"/>
          </p:nvPr>
        </p:nvSpPr>
        <p:spPr/>
        <p:txBody>
          <a:bodyPr/>
          <a:lstStyle/>
          <a:p>
            <a:r>
              <a:rPr lang="fr-FR" altLang="en-US" sz="2400" dirty="0"/>
              <a:t>Mode opératoire</a:t>
            </a:r>
            <a:br>
              <a:rPr lang="fr-FR" altLang="en-US" sz="2400" dirty="0"/>
            </a:br>
            <a:r>
              <a:rPr lang="fr-FR" altLang="en-US" dirty="0" smtClean="0"/>
              <a:t>MD02 – Lancement du MRP</a:t>
            </a:r>
            <a:endParaRPr lang="en-US" altLang="en-US" dirty="0" smtClean="0"/>
          </a:p>
        </p:txBody>
      </p:sp>
      <p:grpSp>
        <p:nvGrpSpPr>
          <p:cNvPr id="33794" name="Groupe 33793"/>
          <p:cNvGrpSpPr/>
          <p:nvPr/>
        </p:nvGrpSpPr>
        <p:grpSpPr>
          <a:xfrm>
            <a:off x="5026988" y="444946"/>
            <a:ext cx="3730604" cy="1384995"/>
            <a:chOff x="425491" y="1232489"/>
            <a:chExt cx="3730604" cy="1384995"/>
          </a:xfrm>
        </p:grpSpPr>
        <p:sp>
          <p:nvSpPr>
            <p:cNvPr id="8" name="ZoneTexte 7"/>
            <p:cNvSpPr txBox="1"/>
            <p:nvPr/>
          </p:nvSpPr>
          <p:spPr>
            <a:xfrm>
              <a:off x="581024" y="1232489"/>
              <a:ext cx="3575071" cy="1384995"/>
            </a:xfrm>
            <a:prstGeom prst="rect">
              <a:avLst/>
            </a:prstGeom>
            <a:noFill/>
          </p:spPr>
          <p:txBody>
            <a:bodyPr wrap="square" rtlCol="0">
              <a:spAutoFit/>
            </a:bodyPr>
            <a:lstStyle/>
            <a:p>
              <a:r>
                <a:rPr lang="fr-FR" sz="1200" dirty="0" smtClean="0">
                  <a:solidFill>
                    <a:srgbClr val="4D4F53"/>
                  </a:solidFill>
                </a:rPr>
                <a:t>Renseigner l’article et la division, cliquer « Entrer »</a:t>
              </a:r>
            </a:p>
            <a:p>
              <a:endParaRPr lang="fr-FR" sz="1200" dirty="0">
                <a:solidFill>
                  <a:srgbClr val="4D4F53"/>
                </a:solidFill>
              </a:endParaRPr>
            </a:p>
            <a:p>
              <a:r>
                <a:rPr lang="fr-FR" sz="1200" dirty="0" smtClean="0">
                  <a:solidFill>
                    <a:srgbClr val="4D4F53"/>
                  </a:solidFill>
                </a:rPr>
                <a:t>Renseigner « 1 » Créer demande d’achat</a:t>
              </a:r>
            </a:p>
            <a:p>
              <a:endParaRPr lang="fr-FR" sz="1200" dirty="0">
                <a:solidFill>
                  <a:srgbClr val="4D4F53"/>
                </a:solidFill>
              </a:endParaRPr>
            </a:p>
            <a:p>
              <a:r>
                <a:rPr lang="fr-FR" sz="1200" dirty="0" smtClean="0">
                  <a:solidFill>
                    <a:srgbClr val="4D4F53"/>
                  </a:solidFill>
                </a:rPr>
                <a:t>Cliquer sur entrer, un message de vérification apparaît</a:t>
              </a:r>
            </a:p>
            <a:p>
              <a:endParaRPr lang="fr-FR" sz="1200" dirty="0">
                <a:solidFill>
                  <a:srgbClr val="4D4F53"/>
                </a:solidFill>
              </a:endParaRPr>
            </a:p>
            <a:p>
              <a:r>
                <a:rPr lang="fr-FR" sz="1200" dirty="0" smtClean="0">
                  <a:solidFill>
                    <a:srgbClr val="4D4F53"/>
                  </a:solidFill>
                </a:rPr>
                <a:t>Cliquer sur entrer pour lancer le MRP</a:t>
              </a:r>
            </a:p>
          </p:txBody>
        </p:sp>
        <p:sp>
          <p:nvSpPr>
            <p:cNvPr id="36" name="Ellipse 35"/>
            <p:cNvSpPr/>
            <p:nvPr/>
          </p:nvSpPr>
          <p:spPr>
            <a:xfrm>
              <a:off x="425491" y="12871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37" name="Ellipse 36"/>
            <p:cNvSpPr/>
            <p:nvPr/>
          </p:nvSpPr>
          <p:spPr>
            <a:xfrm>
              <a:off x="425491" y="167175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25" name="Ellipse 24"/>
            <p:cNvSpPr/>
            <p:nvPr/>
          </p:nvSpPr>
          <p:spPr>
            <a:xfrm>
              <a:off x="425491" y="2012451"/>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26" name="Ellipse 25"/>
            <p:cNvSpPr/>
            <p:nvPr/>
          </p:nvSpPr>
          <p:spPr>
            <a:xfrm>
              <a:off x="425491" y="2397091"/>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4</a:t>
              </a:r>
            </a:p>
          </p:txBody>
        </p:sp>
      </p:grpSp>
      <p:sp>
        <p:nvSpPr>
          <p:cNvPr id="33" name="Rectangle 32"/>
          <p:cNvSpPr/>
          <p:nvPr/>
        </p:nvSpPr>
        <p:spPr>
          <a:xfrm>
            <a:off x="1828694" y="2375881"/>
            <a:ext cx="137601" cy="17685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7" name="Ellipse 46"/>
          <p:cNvSpPr/>
          <p:nvPr/>
        </p:nvSpPr>
        <p:spPr>
          <a:xfrm>
            <a:off x="1548956" y="2275042"/>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2</a:t>
            </a:r>
          </a:p>
        </p:txBody>
      </p:sp>
      <p:pic>
        <p:nvPicPr>
          <p:cNvPr id="9" name="Image 8"/>
          <p:cNvPicPr>
            <a:picLocks noChangeAspect="1"/>
          </p:cNvPicPr>
          <p:nvPr/>
        </p:nvPicPr>
        <p:blipFill>
          <a:blip r:embed="rId3"/>
          <a:stretch>
            <a:fillRect/>
          </a:stretch>
        </p:blipFill>
        <p:spPr>
          <a:xfrm>
            <a:off x="4463813" y="2123553"/>
            <a:ext cx="2568333" cy="2932699"/>
          </a:xfrm>
          <a:prstGeom prst="rect">
            <a:avLst/>
          </a:prstGeom>
          <a:ln>
            <a:solidFill>
              <a:schemeClr val="tx1"/>
            </a:solidFill>
          </a:ln>
          <a:effectLst>
            <a:outerShdw blurRad="50800" dist="38100" dir="2700000" algn="tl" rotWithShape="0">
              <a:prstClr val="black">
                <a:alpha val="40000"/>
              </a:prstClr>
            </a:outerShdw>
          </a:effectLst>
        </p:spPr>
      </p:pic>
      <p:pic>
        <p:nvPicPr>
          <p:cNvPr id="10" name="Image 9"/>
          <p:cNvPicPr>
            <a:picLocks noChangeAspect="1"/>
          </p:cNvPicPr>
          <p:nvPr/>
        </p:nvPicPr>
        <p:blipFill>
          <a:blip r:embed="rId4"/>
          <a:stretch>
            <a:fillRect/>
          </a:stretch>
        </p:blipFill>
        <p:spPr>
          <a:xfrm>
            <a:off x="1474980" y="4117610"/>
            <a:ext cx="1981200" cy="295275"/>
          </a:xfrm>
          <a:prstGeom prst="rect">
            <a:avLst/>
          </a:prstGeom>
          <a:ln>
            <a:solidFill>
              <a:schemeClr val="tx1"/>
            </a:solidFill>
          </a:ln>
          <a:effectLst>
            <a:outerShdw blurRad="50800" dist="38100" dir="2700000" algn="tl" rotWithShape="0">
              <a:prstClr val="black">
                <a:alpha val="40000"/>
              </a:prstClr>
            </a:outerShdw>
          </a:effectLst>
        </p:spPr>
      </p:pic>
      <p:cxnSp>
        <p:nvCxnSpPr>
          <p:cNvPr id="12" name="Connecteur en angle 11"/>
          <p:cNvCxnSpPr>
            <a:stCxn id="10" idx="3"/>
            <a:endCxn id="9" idx="1"/>
          </p:cNvCxnSpPr>
          <p:nvPr/>
        </p:nvCxnSpPr>
        <p:spPr>
          <a:xfrm flipV="1">
            <a:off x="3456180" y="3589903"/>
            <a:ext cx="1007633" cy="675345"/>
          </a:xfrm>
          <a:prstGeom prst="bentConnector3">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9" name="Connecteur en angle 18"/>
          <p:cNvCxnSpPr>
            <a:stCxn id="7" idx="2"/>
            <a:endCxn id="10" idx="0"/>
          </p:cNvCxnSpPr>
          <p:nvPr/>
        </p:nvCxnSpPr>
        <p:spPr>
          <a:xfrm rot="16200000" flipH="1">
            <a:off x="2362080" y="4014109"/>
            <a:ext cx="201927" cy="5073"/>
          </a:xfrm>
          <a:prstGeom prst="bentConnector3">
            <a:avLst>
              <a:gd name="adj1" fmla="val 50000"/>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28" name="Ellipse 27"/>
          <p:cNvSpPr/>
          <p:nvPr/>
        </p:nvSpPr>
        <p:spPr>
          <a:xfrm>
            <a:off x="1241702" y="418796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3</a:t>
            </a:r>
          </a:p>
        </p:txBody>
      </p:sp>
      <p:sp>
        <p:nvSpPr>
          <p:cNvPr id="29" name="Rectangle 28"/>
          <p:cNvSpPr/>
          <p:nvPr/>
        </p:nvSpPr>
        <p:spPr>
          <a:xfrm>
            <a:off x="1828694" y="1476750"/>
            <a:ext cx="766225" cy="28737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30" name="Ellipse 29"/>
          <p:cNvSpPr/>
          <p:nvPr/>
        </p:nvSpPr>
        <p:spPr>
          <a:xfrm>
            <a:off x="1548956" y="1375911"/>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20" name="Rectangle 19"/>
          <p:cNvSpPr/>
          <p:nvPr/>
        </p:nvSpPr>
        <p:spPr>
          <a:xfrm>
            <a:off x="7248525" y="2429616"/>
            <a:ext cx="1752600" cy="980333"/>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1200" dirty="0" smtClean="0">
                <a:solidFill>
                  <a:srgbClr val="4D4F53"/>
                </a:solidFill>
              </a:rPr>
              <a:t>Remarque : </a:t>
            </a:r>
          </a:p>
          <a:p>
            <a:pPr algn="ctr"/>
            <a:r>
              <a:rPr lang="fr-FR" sz="1200" dirty="0" smtClean="0">
                <a:solidFill>
                  <a:srgbClr val="4D4F53"/>
                </a:solidFill>
              </a:rPr>
              <a:t>Cette étape sera réalisée automatiquement par le système une fois par semaine</a:t>
            </a:r>
            <a:endParaRPr lang="en-US" sz="1200" dirty="0" err="1" smtClean="0">
              <a:solidFill>
                <a:srgbClr val="4D4F53"/>
              </a:solidFill>
            </a:endParaRPr>
          </a:p>
        </p:txBody>
      </p:sp>
    </p:spTree>
    <p:extLst>
      <p:ext uri="{BB962C8B-B14F-4D97-AF65-F5344CB8AC3E}">
        <p14:creationId xmlns:p14="http://schemas.microsoft.com/office/powerpoint/2010/main" val="57328040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p:cNvPicPr>
            <a:picLocks noChangeAspect="1"/>
          </p:cNvPicPr>
          <p:nvPr/>
        </p:nvPicPr>
        <p:blipFill>
          <a:blip r:embed="rId2"/>
          <a:stretch>
            <a:fillRect/>
          </a:stretch>
        </p:blipFill>
        <p:spPr>
          <a:xfrm>
            <a:off x="432486" y="1432956"/>
            <a:ext cx="1494698" cy="1075323"/>
          </a:xfrm>
          <a:prstGeom prst="rect">
            <a:avLst/>
          </a:prstGeom>
          <a:ln>
            <a:solidFill>
              <a:schemeClr val="tx1"/>
            </a:solidFill>
          </a:ln>
          <a:effectLst>
            <a:outerShdw blurRad="50800" dist="38100" dir="2700000" algn="tl" rotWithShape="0">
              <a:prstClr val="black">
                <a:alpha val="40000"/>
              </a:prstClr>
            </a:outerShdw>
          </a:effectLst>
        </p:spPr>
      </p:pic>
      <p:sp>
        <p:nvSpPr>
          <p:cNvPr id="33795" name="Titre 3"/>
          <p:cNvSpPr>
            <a:spLocks noGrp="1"/>
          </p:cNvSpPr>
          <p:nvPr>
            <p:ph type="title"/>
          </p:nvPr>
        </p:nvSpPr>
        <p:spPr/>
        <p:txBody>
          <a:bodyPr/>
          <a:lstStyle/>
          <a:p>
            <a:r>
              <a:rPr lang="fr-FR" altLang="en-US" sz="2400" dirty="0"/>
              <a:t>Mode opératoire</a:t>
            </a:r>
            <a:br>
              <a:rPr lang="fr-FR" altLang="en-US" sz="2400" dirty="0"/>
            </a:br>
            <a:r>
              <a:rPr lang="fr-FR" altLang="en-US" dirty="0" smtClean="0"/>
              <a:t>MD04 – Afficher l’état dynamique des stocks</a:t>
            </a:r>
            <a:endParaRPr lang="en-US" altLang="en-US" dirty="0" smtClean="0"/>
          </a:p>
        </p:txBody>
      </p:sp>
      <p:grpSp>
        <p:nvGrpSpPr>
          <p:cNvPr id="33794" name="Groupe 33793"/>
          <p:cNvGrpSpPr/>
          <p:nvPr/>
        </p:nvGrpSpPr>
        <p:grpSpPr>
          <a:xfrm>
            <a:off x="5183124" y="1780437"/>
            <a:ext cx="3730604" cy="830997"/>
            <a:chOff x="425491" y="1232489"/>
            <a:chExt cx="3730604" cy="830997"/>
          </a:xfrm>
        </p:grpSpPr>
        <p:sp>
          <p:nvSpPr>
            <p:cNvPr id="8" name="ZoneTexte 7"/>
            <p:cNvSpPr txBox="1"/>
            <p:nvPr/>
          </p:nvSpPr>
          <p:spPr>
            <a:xfrm>
              <a:off x="581024" y="1232489"/>
              <a:ext cx="3575071" cy="830997"/>
            </a:xfrm>
            <a:prstGeom prst="rect">
              <a:avLst/>
            </a:prstGeom>
            <a:noFill/>
          </p:spPr>
          <p:txBody>
            <a:bodyPr wrap="square" rtlCol="0">
              <a:spAutoFit/>
            </a:bodyPr>
            <a:lstStyle/>
            <a:p>
              <a:r>
                <a:rPr lang="fr-FR" sz="1200" dirty="0" smtClean="0">
                  <a:solidFill>
                    <a:srgbClr val="4D4F53"/>
                  </a:solidFill>
                </a:rPr>
                <a:t>Renseigner l’article et la division, cliquer « Entrer »</a:t>
              </a:r>
            </a:p>
            <a:p>
              <a:endParaRPr lang="fr-FR" sz="1200" dirty="0">
                <a:solidFill>
                  <a:srgbClr val="4D4F53"/>
                </a:solidFill>
              </a:endParaRPr>
            </a:p>
            <a:p>
              <a:r>
                <a:rPr lang="fr-FR" sz="1200" dirty="0" smtClean="0">
                  <a:solidFill>
                    <a:srgbClr val="4D4F53"/>
                  </a:solidFill>
                </a:rPr>
                <a:t>Vérifier la projection du stock dynamique : la DA a été créée automatiquement</a:t>
              </a:r>
            </a:p>
          </p:txBody>
        </p:sp>
        <p:sp>
          <p:nvSpPr>
            <p:cNvPr id="36" name="Ellipse 35"/>
            <p:cNvSpPr/>
            <p:nvPr/>
          </p:nvSpPr>
          <p:spPr>
            <a:xfrm>
              <a:off x="425491" y="128711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sp>
          <p:nvSpPr>
            <p:cNvPr id="37" name="Ellipse 36"/>
            <p:cNvSpPr/>
            <p:nvPr/>
          </p:nvSpPr>
          <p:spPr>
            <a:xfrm>
              <a:off x="425491" y="1671750"/>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grpSp>
      <p:sp>
        <p:nvSpPr>
          <p:cNvPr id="33" name="Rectangle 32"/>
          <p:cNvSpPr/>
          <p:nvPr/>
        </p:nvSpPr>
        <p:spPr>
          <a:xfrm>
            <a:off x="1075600" y="1933103"/>
            <a:ext cx="522541" cy="23539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err="1" smtClean="0">
              <a:solidFill>
                <a:srgbClr val="4D4F53"/>
              </a:solidFill>
            </a:endParaRPr>
          </a:p>
        </p:txBody>
      </p:sp>
      <p:sp>
        <p:nvSpPr>
          <p:cNvPr id="47" name="Ellipse 46"/>
          <p:cNvSpPr/>
          <p:nvPr/>
        </p:nvSpPr>
        <p:spPr>
          <a:xfrm>
            <a:off x="853627" y="1861534"/>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smtClean="0">
                <a:solidFill>
                  <a:schemeClr val="bg1"/>
                </a:solidFill>
              </a:rPr>
              <a:t>1</a:t>
            </a:r>
          </a:p>
        </p:txBody>
      </p:sp>
      <p:cxnSp>
        <p:nvCxnSpPr>
          <p:cNvPr id="18" name="Connecteur en angle 17"/>
          <p:cNvCxnSpPr>
            <a:stCxn id="6" idx="3"/>
            <a:endCxn id="2" idx="0"/>
          </p:cNvCxnSpPr>
          <p:nvPr/>
        </p:nvCxnSpPr>
        <p:spPr>
          <a:xfrm>
            <a:off x="1927184" y="1970618"/>
            <a:ext cx="872963" cy="503057"/>
          </a:xfrm>
          <a:prstGeom prst="bentConnector2">
            <a:avLst/>
          </a:prstGeom>
          <a:ln w="12700">
            <a:solidFill>
              <a:srgbClr val="FF0000"/>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pic>
        <p:nvPicPr>
          <p:cNvPr id="2" name="Image 1"/>
          <p:cNvPicPr>
            <a:picLocks noChangeAspect="1"/>
          </p:cNvPicPr>
          <p:nvPr/>
        </p:nvPicPr>
        <p:blipFill>
          <a:blip r:embed="rId3"/>
          <a:stretch>
            <a:fillRect/>
          </a:stretch>
        </p:blipFill>
        <p:spPr>
          <a:xfrm>
            <a:off x="590358" y="2473675"/>
            <a:ext cx="4419577" cy="1188232"/>
          </a:xfrm>
          <a:prstGeom prst="rect">
            <a:avLst/>
          </a:prstGeom>
          <a:ln>
            <a:solidFill>
              <a:schemeClr val="tx1"/>
            </a:solidFill>
          </a:ln>
          <a:effectLst>
            <a:outerShdw blurRad="50800" dist="38100" dir="2700000" algn="tl" rotWithShape="0">
              <a:prstClr val="black">
                <a:alpha val="40000"/>
              </a:prstClr>
            </a:outerShdw>
          </a:effectLst>
        </p:spPr>
      </p:pic>
      <p:sp>
        <p:nvSpPr>
          <p:cNvPr id="12" name="Ellipse 11"/>
          <p:cNvSpPr/>
          <p:nvPr/>
        </p:nvSpPr>
        <p:spPr>
          <a:xfrm>
            <a:off x="512290" y="3313298"/>
            <a:ext cx="156136" cy="154575"/>
          </a:xfrm>
          <a:prstGeom prst="ellipse">
            <a:avLst/>
          </a:prstGeom>
          <a:solidFill>
            <a:srgbClr val="FF0000"/>
          </a:solidFill>
          <a:ln/>
          <a:scene3d>
            <a:camera prst="orthographicFront">
              <a:rot lat="0" lon="0" rev="0"/>
            </a:camera>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900" b="1" dirty="0">
                <a:solidFill>
                  <a:schemeClr val="bg1"/>
                </a:solidFill>
              </a:rPr>
              <a:t>2</a:t>
            </a:r>
            <a:endParaRPr lang="fr-FR" sz="900" b="1" dirty="0" smtClean="0">
              <a:solidFill>
                <a:schemeClr val="bg1"/>
              </a:solidFill>
            </a:endParaRPr>
          </a:p>
        </p:txBody>
      </p:sp>
      <p:sp>
        <p:nvSpPr>
          <p:cNvPr id="5" name="Rectangle 4"/>
          <p:cNvSpPr/>
          <p:nvPr/>
        </p:nvSpPr>
        <p:spPr>
          <a:xfrm>
            <a:off x="668426" y="3313298"/>
            <a:ext cx="3752810" cy="154575"/>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fr-FR" sz="1200" dirty="0" err="1" smtClean="0">
              <a:solidFill>
                <a:srgbClr val="4D4F53"/>
              </a:solidFill>
            </a:endParaRPr>
          </a:p>
        </p:txBody>
      </p:sp>
    </p:spTree>
    <p:extLst>
      <p:ext uri="{BB962C8B-B14F-4D97-AF65-F5344CB8AC3E}">
        <p14:creationId xmlns:p14="http://schemas.microsoft.com/office/powerpoint/2010/main" val="108056090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Text Box 3"/>
          <p:cNvSpPr txBox="1">
            <a:spLocks noChangeArrowheads="1"/>
          </p:cNvSpPr>
          <p:nvPr/>
        </p:nvSpPr>
        <p:spPr bwMode="auto">
          <a:xfrm>
            <a:off x="1173956" y="1058111"/>
            <a:ext cx="2201466" cy="756458"/>
          </a:xfrm>
          <a:prstGeom prst="rect">
            <a:avLst/>
          </a:prstGeom>
          <a:noFill/>
          <a:ln w="12700" algn="ctr">
            <a:noFill/>
            <a:miter lim="800000"/>
            <a:headEnd/>
            <a:tailEnd/>
          </a:ln>
        </p:spPr>
        <p:txBody>
          <a:bodyPr lIns="67500" tIns="35100" rIns="67500" bIns="35100">
            <a:spAutoFit/>
          </a:bodyPr>
          <a:lstStyle/>
          <a:p>
            <a:pPr>
              <a:lnSpc>
                <a:spcPct val="110000"/>
              </a:lnSpc>
              <a:buFont typeface="Wingdings" pitchFamily="2" charset="2"/>
              <a:buNone/>
              <a:defRPr/>
            </a:pPr>
            <a:endParaRPr lang="fr-FR" sz="1350" dirty="0">
              <a:solidFill>
                <a:srgbClr val="4F81BD"/>
              </a:solidFill>
              <a:latin typeface="Arial Narrow" pitchFamily="34" charset="0"/>
              <a:ea typeface="ＭＳ Ｐゴシック"/>
              <a:cs typeface="ＭＳ Ｐゴシック"/>
            </a:endParaRPr>
          </a:p>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Lancer le MRP pour un article donné</a:t>
            </a:r>
            <a:endParaRPr lang="fr-FR" sz="1350" dirty="0">
              <a:solidFill>
                <a:srgbClr val="4F81BD"/>
              </a:solidFill>
              <a:latin typeface="Arial Narrow" pitchFamily="34" charset="0"/>
              <a:ea typeface="ＭＳ Ｐゴシック"/>
              <a:cs typeface="ＭＳ Ｐゴシック"/>
            </a:endParaRPr>
          </a:p>
        </p:txBody>
      </p:sp>
      <p:sp>
        <p:nvSpPr>
          <p:cNvPr id="3" name="ZoneTexte 2"/>
          <p:cNvSpPr txBox="1"/>
          <p:nvPr/>
        </p:nvSpPr>
        <p:spPr>
          <a:xfrm>
            <a:off x="1116295" y="205978"/>
            <a:ext cx="2316788" cy="523220"/>
          </a:xfrm>
          <a:prstGeom prst="rect">
            <a:avLst/>
          </a:prstGeom>
          <a:noFill/>
        </p:spPr>
        <p:txBody>
          <a:bodyPr wrap="none" rtlCol="0">
            <a:spAutoFit/>
          </a:bodyPr>
          <a:lstStyle/>
          <a:p>
            <a:r>
              <a:rPr lang="en-US" sz="2800" b="1" dirty="0" err="1">
                <a:solidFill>
                  <a:srgbClr val="4F81BD"/>
                </a:solidFill>
              </a:rPr>
              <a:t>Exercice</a:t>
            </a:r>
            <a:r>
              <a:rPr lang="en-US" sz="2800" b="1" dirty="0">
                <a:solidFill>
                  <a:srgbClr val="4F81BD"/>
                </a:solidFill>
              </a:rPr>
              <a:t> </a:t>
            </a:r>
            <a:r>
              <a:rPr lang="en-US" sz="2800" b="1" dirty="0" err="1">
                <a:solidFill>
                  <a:srgbClr val="4F81BD"/>
                </a:solidFill>
              </a:rPr>
              <a:t>dirigé</a:t>
            </a:r>
            <a:endParaRPr lang="en-US" sz="2800" b="1" dirty="0">
              <a:solidFill>
                <a:srgbClr val="4F81BD"/>
              </a:solidFill>
            </a:endParaRPr>
          </a:p>
        </p:txBody>
      </p:sp>
      <p:pic>
        <p:nvPicPr>
          <p:cNvPr id="34" name="Image 3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399562"/>
            <a:ext cx="3120189" cy="2156460"/>
          </a:xfrm>
          <a:prstGeom prst="rect">
            <a:avLst/>
          </a:prstGeom>
        </p:spPr>
      </p:pic>
      <p:grpSp>
        <p:nvGrpSpPr>
          <p:cNvPr id="35" name="Groupe 34"/>
          <p:cNvGrpSpPr/>
          <p:nvPr/>
        </p:nvGrpSpPr>
        <p:grpSpPr>
          <a:xfrm>
            <a:off x="5174456" y="205978"/>
            <a:ext cx="3680275" cy="4299347"/>
            <a:chOff x="5174456" y="205978"/>
            <a:chExt cx="3680275" cy="4299347"/>
          </a:xfrm>
        </p:grpSpPr>
        <p:grpSp>
          <p:nvGrpSpPr>
            <p:cNvPr id="36" name="Groupe 35"/>
            <p:cNvGrpSpPr/>
            <p:nvPr/>
          </p:nvGrpSpPr>
          <p:grpSpPr>
            <a:xfrm>
              <a:off x="5174456" y="205978"/>
              <a:ext cx="3680275" cy="4299347"/>
              <a:chOff x="3707606" y="205978"/>
              <a:chExt cx="4105275" cy="4795838"/>
            </a:xfrm>
          </p:grpSpPr>
          <p:sp>
            <p:nvSpPr>
              <p:cNvPr id="39" name="Rectangle 38"/>
              <p:cNvSpPr/>
              <p:nvPr/>
            </p:nvSpPr>
            <p:spPr>
              <a:xfrm>
                <a:off x="3707606" y="205978"/>
                <a:ext cx="4105275" cy="4795838"/>
              </a:xfrm>
              <a:prstGeom prst="rect">
                <a:avLst/>
              </a:prstGeom>
              <a:solidFill>
                <a:schemeClr val="bg1"/>
              </a:solidFill>
              <a:ln w="222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lstStyle/>
              <a:p>
                <a:pPr>
                  <a:defRPr/>
                </a:pPr>
                <a:endParaRPr lang="fr-FR" sz="1350" b="1" u="sng" dirty="0">
                  <a:solidFill>
                    <a:schemeClr val="tx1"/>
                  </a:solidFill>
                </a:endParaRPr>
              </a:p>
              <a:p>
                <a:pPr>
                  <a:defRPr/>
                </a:pPr>
                <a:endParaRPr lang="en-US" sz="1350" b="1" u="sng" dirty="0">
                  <a:solidFill>
                    <a:schemeClr val="tx1"/>
                  </a:solidFill>
                </a:endParaRPr>
              </a:p>
            </p:txBody>
          </p:sp>
          <p:cxnSp>
            <p:nvCxnSpPr>
              <p:cNvPr id="40" name="Connecteur droit 39"/>
              <p:cNvCxnSpPr/>
              <p:nvPr/>
            </p:nvCxnSpPr>
            <p:spPr>
              <a:xfrm>
                <a:off x="3815953" y="11406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1" name="Connecteur droit 40"/>
              <p:cNvCxnSpPr/>
              <p:nvPr/>
            </p:nvCxnSpPr>
            <p:spPr>
              <a:xfrm>
                <a:off x="3815953" y="13620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2" name="Connecteur droit 41"/>
              <p:cNvCxnSpPr/>
              <p:nvPr/>
            </p:nvCxnSpPr>
            <p:spPr>
              <a:xfrm>
                <a:off x="3821906" y="24562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3" name="Connecteur droit 42"/>
              <p:cNvCxnSpPr/>
              <p:nvPr/>
            </p:nvCxnSpPr>
            <p:spPr>
              <a:xfrm>
                <a:off x="3821906" y="26777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4" name="Connecteur droit 43"/>
              <p:cNvCxnSpPr/>
              <p:nvPr/>
            </p:nvCxnSpPr>
            <p:spPr>
              <a:xfrm>
                <a:off x="3821906" y="1590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5" name="Connecteur droit 44"/>
              <p:cNvCxnSpPr/>
              <p:nvPr/>
            </p:nvCxnSpPr>
            <p:spPr>
              <a:xfrm>
                <a:off x="3821906" y="18121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6" name="Connecteur droit 45"/>
              <p:cNvCxnSpPr/>
              <p:nvPr/>
            </p:nvCxnSpPr>
            <p:spPr>
              <a:xfrm>
                <a:off x="3821906" y="20276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7" name="Connecteur droit 46"/>
              <p:cNvCxnSpPr/>
              <p:nvPr/>
            </p:nvCxnSpPr>
            <p:spPr>
              <a:xfrm>
                <a:off x="3821906" y="22490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8" name="Connecteur droit 47"/>
              <p:cNvCxnSpPr/>
              <p:nvPr/>
            </p:nvCxnSpPr>
            <p:spPr>
              <a:xfrm>
                <a:off x="3821906" y="28932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9" name="Connecteur droit 48"/>
              <p:cNvCxnSpPr/>
              <p:nvPr/>
            </p:nvCxnSpPr>
            <p:spPr>
              <a:xfrm>
                <a:off x="3821906" y="3114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0" name="Connecteur droit 49"/>
              <p:cNvCxnSpPr/>
              <p:nvPr/>
            </p:nvCxnSpPr>
            <p:spPr>
              <a:xfrm>
                <a:off x="3827860" y="42088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1" name="Connecteur droit 50"/>
              <p:cNvCxnSpPr/>
              <p:nvPr/>
            </p:nvCxnSpPr>
            <p:spPr>
              <a:xfrm>
                <a:off x="3827860" y="44303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2" name="Connecteur droit 51"/>
              <p:cNvCxnSpPr/>
              <p:nvPr/>
            </p:nvCxnSpPr>
            <p:spPr>
              <a:xfrm>
                <a:off x="3827860" y="33432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3" name="Connecteur droit 52"/>
              <p:cNvCxnSpPr/>
              <p:nvPr/>
            </p:nvCxnSpPr>
            <p:spPr>
              <a:xfrm>
                <a:off x="3827860" y="35647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4" name="Connecteur droit 53"/>
              <p:cNvCxnSpPr/>
              <p:nvPr/>
            </p:nvCxnSpPr>
            <p:spPr>
              <a:xfrm>
                <a:off x="3827860" y="37802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5" name="Connecteur droit 54"/>
              <p:cNvCxnSpPr/>
              <p:nvPr/>
            </p:nvCxnSpPr>
            <p:spPr>
              <a:xfrm>
                <a:off x="3827860" y="40016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6" name="Connecteur droit 55"/>
              <p:cNvCxnSpPr/>
              <p:nvPr/>
            </p:nvCxnSpPr>
            <p:spPr>
              <a:xfrm>
                <a:off x="3827860" y="461963"/>
                <a:ext cx="3827861"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7" name="Connecteur droit 56"/>
              <p:cNvCxnSpPr/>
              <p:nvPr/>
            </p:nvCxnSpPr>
            <p:spPr>
              <a:xfrm>
                <a:off x="3827860" y="682229"/>
                <a:ext cx="3827859"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8" name="Connecteur droit 57"/>
              <p:cNvCxnSpPr/>
              <p:nvPr/>
            </p:nvCxnSpPr>
            <p:spPr>
              <a:xfrm>
                <a:off x="3827860" y="909638"/>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9" name="Connecteur droit 58"/>
              <p:cNvCxnSpPr/>
              <p:nvPr/>
            </p:nvCxnSpPr>
            <p:spPr>
              <a:xfrm>
                <a:off x="3821906" y="4661298"/>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60" name="Connecteur droit 59"/>
              <p:cNvCxnSpPr/>
              <p:nvPr/>
            </p:nvCxnSpPr>
            <p:spPr>
              <a:xfrm>
                <a:off x="3821906" y="4882754"/>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grpSp>
        <p:pic>
          <p:nvPicPr>
            <p:cNvPr id="37" name="Image 36"/>
            <p:cNvPicPr>
              <a:picLocks noChangeAspect="1"/>
            </p:cNvPicPr>
            <p:nvPr/>
          </p:nvPicPr>
          <p:blipFill>
            <a:blip r:embed="rId4">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7850414" y="257643"/>
              <a:ext cx="909117" cy="922754"/>
            </a:xfrm>
            <a:prstGeom prst="rect">
              <a:avLst/>
            </a:prstGeom>
          </p:spPr>
        </p:pic>
        <p:sp>
          <p:nvSpPr>
            <p:cNvPr id="38" name="ZoneTexte 36"/>
            <p:cNvSpPr txBox="1">
              <a:spLocks noChangeArrowheads="1"/>
            </p:cNvSpPr>
            <p:nvPr/>
          </p:nvSpPr>
          <p:spPr bwMode="auto">
            <a:xfrm rot="21212387">
              <a:off x="7848414" y="443461"/>
              <a:ext cx="969572" cy="707886"/>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r>
                <a:rPr lang="fr-FR" altLang="en-US" sz="800" b="1" dirty="0">
                  <a:solidFill>
                    <a:schemeClr val="bg1"/>
                  </a:solidFill>
                  <a:latin typeface="+mn-lt"/>
                </a:rPr>
                <a:t>La présentation détaillée du pas à pas est retrouvée dans le guide utilisateur</a:t>
              </a:r>
              <a:endParaRPr lang="en-US" altLang="en-US" sz="800" b="1" dirty="0">
                <a:solidFill>
                  <a:schemeClr val="bg1"/>
                </a:solidFill>
                <a:latin typeface="+mn-lt"/>
              </a:endParaRPr>
            </a:p>
          </p:txBody>
        </p:sp>
      </p:grpSp>
    </p:spTree>
    <p:extLst>
      <p:ext uri="{BB962C8B-B14F-4D97-AF65-F5344CB8AC3E}">
        <p14:creationId xmlns:p14="http://schemas.microsoft.com/office/powerpoint/2010/main" val="419078259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48224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a:latin typeface="Arial" panose="020B0604020202020204" pitchFamily="34" charset="0"/>
                <a:ea typeface="ＭＳ Ｐゴシック" panose="020B0600070205080204" pitchFamily="34" charset="-128"/>
                <a:cs typeface="Arial" panose="020B0604020202020204" pitchFamily="34" charset="0"/>
              </a:rPr>
              <a:t>Objectifs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des objets SAP &amp; Mode opératoire</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72033426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re 1"/>
          <p:cNvSpPr>
            <a:spLocks noGrp="1"/>
          </p:cNvSpPr>
          <p:nvPr>
            <p:ph type="title"/>
          </p:nvPr>
        </p:nvSpPr>
        <p:spPr/>
        <p:txBody>
          <a:bodyPr>
            <a:normAutofit/>
          </a:bodyPr>
          <a:lstStyle/>
          <a:p>
            <a:r>
              <a:rPr lang="fr-FR" altLang="en-US" sz="2400" dirty="0" smtClean="0">
                <a:latin typeface="Arial" panose="020B0604020202020204" pitchFamily="34" charset="0"/>
                <a:ea typeface="ＭＳ Ｐゴシック" panose="020B0600070205080204" pitchFamily="34" charset="-128"/>
                <a:cs typeface="Arial" panose="020B0604020202020204" pitchFamily="34" charset="0"/>
              </a:rPr>
              <a:t>Synthèse</a:t>
            </a:r>
            <a:endParaRPr lang="en-US" altLang="en-US" sz="2400"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46083" name="Espace réservé du contenu 2"/>
          <p:cNvSpPr>
            <a:spLocks noGrp="1"/>
          </p:cNvSpPr>
          <p:nvPr>
            <p:ph idx="1"/>
          </p:nvPr>
        </p:nvSpPr>
        <p:spPr>
          <a:xfrm>
            <a:off x="457200" y="1063625"/>
            <a:ext cx="8229600" cy="1946275"/>
          </a:xfrm>
        </p:spPr>
        <p:txBody>
          <a:bodyPr/>
          <a:lstStyle/>
          <a:p>
            <a:pPr marL="171450" indent="-171450">
              <a:buClr>
                <a:srgbClr val="0070C0"/>
              </a:buClr>
              <a:buSzPct val="100000"/>
              <a:buFont typeface="Arial" panose="020B0604020202020204" pitchFamily="34" charset="0"/>
              <a:buChar char="•"/>
            </a:pPr>
            <a:r>
              <a:rPr lang="fr-FR" sz="1400" dirty="0" smtClean="0">
                <a:latin typeface="Arial" panose="020B0604020202020204" pitchFamily="34" charset="0"/>
                <a:ea typeface="ＭＳ Ｐゴシック" panose="020B0600070205080204" pitchFamily="34" charset="-128"/>
                <a:cs typeface="Arial" panose="020B0604020202020204" pitchFamily="34" charset="0"/>
              </a:rPr>
              <a:t>Le processus gestion du MRP s’inscrit dans le cadre du processus des achats </a:t>
            </a:r>
            <a:r>
              <a:rPr lang="fr-FR" sz="1400" dirty="0" smtClean="0">
                <a:latin typeface="Arial" panose="020B0604020202020204" pitchFamily="34" charset="0"/>
                <a:ea typeface="ＭＳ Ｐゴシック" panose="020B0600070205080204" pitchFamily="34" charset="-128"/>
                <a:cs typeface="Arial" panose="020B0604020202020204" pitchFamily="34" charset="0"/>
              </a:rPr>
              <a:t>directs ou </a:t>
            </a:r>
            <a:r>
              <a:rPr lang="fr-FR" sz="1400" dirty="0" err="1" smtClean="0">
                <a:latin typeface="Arial" panose="020B0604020202020204" pitchFamily="34" charset="0"/>
                <a:ea typeface="ＭＳ Ｐゴシック" panose="020B0600070205080204" pitchFamily="34" charset="-128"/>
                <a:cs typeface="Arial" panose="020B0604020202020204" pitchFamily="34" charset="0"/>
              </a:rPr>
              <a:t>réappro</a:t>
            </a:r>
            <a:endParaRPr lang="fr-FR" sz="1400" dirty="0" smtClean="0">
              <a:latin typeface="Arial" panose="020B0604020202020204" pitchFamily="34" charset="0"/>
              <a:ea typeface="ＭＳ Ｐゴシック" panose="020B0600070205080204" pitchFamily="34" charset="-128"/>
              <a:cs typeface="Arial" panose="020B0604020202020204" pitchFamily="34" charset="0"/>
            </a:endParaRPr>
          </a:p>
          <a:p>
            <a:pPr marL="171450" indent="-171450">
              <a:buClr>
                <a:srgbClr val="0070C0"/>
              </a:buClr>
              <a:buSzPct val="100000"/>
              <a:buFont typeface="Arial" panose="020B0604020202020204" pitchFamily="34" charset="0"/>
              <a:buChar char="•"/>
            </a:pPr>
            <a:r>
              <a:rPr lang="fr-FR" sz="1400" dirty="0" smtClean="0">
                <a:latin typeface="Arial" panose="020B0604020202020204" pitchFamily="34" charset="0"/>
                <a:ea typeface="ＭＳ Ｐゴシック" panose="020B0600070205080204" pitchFamily="34" charset="-128"/>
                <a:cs typeface="Arial" panose="020B0604020202020204" pitchFamily="34" charset="0"/>
              </a:rPr>
              <a:t>A l’aide des données renseignées dans l’article et dans les sources d’approvisionnement, le MRP lance les demandes d’achat afin de compléter le stock manquant.</a:t>
            </a:r>
            <a:endParaRPr lang="en-US" sz="1400" dirty="0">
              <a:latin typeface="Arial" panose="020B0604020202020204" pitchFamily="34" charset="0"/>
              <a:ea typeface="ＭＳ Ｐゴシック" panose="020B0600070205080204" pitchFamily="34" charset="-128"/>
              <a:cs typeface="Arial" panose="020B0604020202020204" pitchFamily="34" charset="0"/>
            </a:endParaRPr>
          </a:p>
          <a:p>
            <a:pPr marL="171450" indent="-171450">
              <a:buClr>
                <a:srgbClr val="0070C0"/>
              </a:buClr>
              <a:buSzPct val="100000"/>
              <a:buFont typeface="Arial" panose="020B0604020202020204" pitchFamily="34" charset="0"/>
              <a:buChar char="•"/>
            </a:pPr>
            <a:r>
              <a:rPr lang="fr-FR" altLang="en-US" sz="1400" dirty="0" smtClean="0">
                <a:latin typeface="Arial" panose="020B0604020202020204" pitchFamily="34" charset="0"/>
                <a:ea typeface="ＭＳ Ｐゴシック" panose="020B0600070205080204" pitchFamily="34" charset="-128"/>
                <a:cs typeface="Arial" panose="020B0604020202020204" pitchFamily="34" charset="0"/>
              </a:rPr>
              <a:t>Ces demandes d’achats doivent être converties en commande d’achats ou des commandes de transferts, avant d’être envoyées aux fournisseurs. Cette étape sera </a:t>
            </a:r>
            <a:r>
              <a:rPr lang="fr-FR" altLang="en-US" sz="1400" smtClean="0">
                <a:latin typeface="Arial" panose="020B0604020202020204" pitchFamily="34" charset="0"/>
                <a:ea typeface="ＭＳ Ｐゴシック" panose="020B0600070205080204" pitchFamily="34" charset="-128"/>
                <a:cs typeface="Arial" panose="020B0604020202020204" pitchFamily="34" charset="0"/>
              </a:rPr>
              <a:t>détaillée </a:t>
            </a:r>
            <a:r>
              <a:rPr lang="fr-FR" altLang="en-US" sz="1400" smtClean="0">
                <a:latin typeface="Arial" panose="020B0604020202020204" pitchFamily="34" charset="0"/>
                <a:ea typeface="ＭＳ Ｐゴシック" panose="020B0600070205080204" pitchFamily="34" charset="-128"/>
                <a:cs typeface="Arial" panose="020B0604020202020204" pitchFamily="34" charset="0"/>
              </a:rPr>
              <a:t>dans </a:t>
            </a:r>
            <a:r>
              <a:rPr lang="fr-FR" altLang="en-US" sz="1400" smtClean="0">
                <a:latin typeface="Arial" panose="020B0604020202020204" pitchFamily="34" charset="0"/>
                <a:ea typeface="ＭＳ Ｐゴシック" panose="020B0600070205080204" pitchFamily="34" charset="-128"/>
                <a:cs typeface="Arial" panose="020B0604020202020204" pitchFamily="34" charset="0"/>
              </a:rPr>
              <a:t>le </a:t>
            </a:r>
            <a:r>
              <a:rPr lang="fr-FR" altLang="en-US" sz="1400" dirty="0" smtClean="0">
                <a:latin typeface="Arial" panose="020B0604020202020204" pitchFamily="34" charset="0"/>
                <a:ea typeface="ＭＳ Ｐゴシック" panose="020B0600070205080204" pitchFamily="34" charset="-128"/>
                <a:cs typeface="Arial" panose="020B0604020202020204" pitchFamily="34" charset="0"/>
              </a:rPr>
              <a:t>processus achats</a:t>
            </a:r>
            <a:endParaRPr lang="fr-FR" altLang="en-US" sz="1400" dirty="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74620286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normAutofit/>
          </a:bodyPr>
          <a:lstStyle/>
          <a:p>
            <a:r>
              <a:rPr lang="fr-FR" sz="2400" dirty="0" smtClean="0"/>
              <a:t>Des questions ?</a:t>
            </a:r>
            <a:endParaRPr lang="fr-FR" sz="2400"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0984" y="1370734"/>
            <a:ext cx="2402032" cy="2402032"/>
          </a:xfrm>
          <a:prstGeom prst="rect">
            <a:avLst/>
          </a:prstGeom>
        </p:spPr>
      </p:pic>
    </p:spTree>
    <p:extLst>
      <p:ext uri="{BB962C8B-B14F-4D97-AF65-F5344CB8AC3E}">
        <p14:creationId xmlns:p14="http://schemas.microsoft.com/office/powerpoint/2010/main" val="2100485143"/>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plateBE_FR">
  <a:themeElements>
    <a:clrScheme name="BearingPoint Colors">
      <a:dk1>
        <a:srgbClr val="4D4F53"/>
      </a:dk1>
      <a:lt1>
        <a:sysClr val="window" lastClr="FFFFFF"/>
      </a:lt1>
      <a:dk2>
        <a:srgbClr val="D52B1E"/>
      </a:dk2>
      <a:lt2>
        <a:srgbClr val="A71930"/>
      </a:lt2>
      <a:accent1>
        <a:srgbClr val="AA546E"/>
      </a:accent1>
      <a:accent2>
        <a:srgbClr val="C68D9E"/>
      </a:accent2>
      <a:accent3>
        <a:srgbClr val="8D1B3D"/>
      </a:accent3>
      <a:accent4>
        <a:srgbClr val="D7D3C7"/>
      </a:accent4>
      <a:accent5>
        <a:srgbClr val="B7B1A9"/>
      </a:accent5>
      <a:accent6>
        <a:srgbClr val="8D817B"/>
      </a:accent6>
      <a:hlink>
        <a:srgbClr val="8D817B"/>
      </a:hlink>
      <a:folHlink>
        <a:srgbClr val="8D1B3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9050">
          <a:solidFill>
            <a:srgbClr val="FF0000"/>
          </a:solid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err="1" smtClean="0">
            <a:solidFill>
              <a:srgbClr val="4D4F53"/>
            </a:solidFill>
          </a:defRPr>
        </a:defPPr>
      </a:lstStyle>
      <a:style>
        <a:lnRef idx="1">
          <a:schemeClr val="accent1"/>
        </a:lnRef>
        <a:fillRef idx="3">
          <a:schemeClr val="accent1"/>
        </a:fillRef>
        <a:effectRef idx="2">
          <a:schemeClr val="accent1"/>
        </a:effectRef>
        <a:fontRef idx="minor">
          <a:schemeClr val="lt1"/>
        </a:fontRef>
      </a:style>
    </a:spDef>
    <a:lnDef>
      <a:spPr>
        <a:ln w="12700">
          <a:solidFill>
            <a:srgbClr val="FF0000"/>
          </a:solidFill>
          <a:headEnd type="none" w="med" len="med"/>
          <a:tailEnd type="triangl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sz="1200" dirty="0" smtClean="0">
            <a:solidFill>
              <a:srgbClr val="4D4F53"/>
            </a:solidFill>
          </a:defRPr>
        </a:defPPr>
      </a:lstStyle>
    </a:txDef>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_dlc_DocId xmlns="f36dd47d-0b23-43fd-9b2d-c5346ffa1660">VHEKTECQ7ECW-1532981086-4388</_dlc_DocId>
    <_dlc_DocIdUrl xmlns="f36dd47d-0b23-43fd-9b2d-c5346ffa1660">
      <Url>http://extranet.cbg-guinee.com/erp/_layouts/15/DocIdRedir.aspx?ID=VHEKTECQ7ECW-1532981086-4388</Url>
      <Description>VHEKTECQ7ECW-1532981086-4388</Description>
    </_dlc_DocIdUrl>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C8D0F09C22B4C4AB25CA30ADC8FDF91" ma:contentTypeVersion="2" ma:contentTypeDescription="Crée un document." ma:contentTypeScope="" ma:versionID="72e47ee22b0a05bccb747741f0dfd966">
  <xsd:schema xmlns:xsd="http://www.w3.org/2001/XMLSchema" xmlns:xs="http://www.w3.org/2001/XMLSchema" xmlns:p="http://schemas.microsoft.com/office/2006/metadata/properties" xmlns:ns1="http://schemas.microsoft.com/sharepoint/v3" xmlns:ns2="f36dd47d-0b23-43fd-9b2d-c5346ffa1660" xmlns:ns3="8114c5be-486c-4333-8697-9f01d178dfef" targetNamespace="http://schemas.microsoft.com/office/2006/metadata/properties" ma:root="true" ma:fieldsID="ea25618cdfce53ad0a4816dcfb004e4a" ns1:_="" ns2:_="" ns3:_="">
    <xsd:import namespace="http://schemas.microsoft.com/sharepoint/v3"/>
    <xsd:import namespace="f36dd47d-0b23-43fd-9b2d-c5346ffa1660"/>
    <xsd:import namespace="8114c5be-486c-4333-8697-9f01d178dfef"/>
    <xsd:element name="properties">
      <xsd:complexType>
        <xsd:sequence>
          <xsd:element name="documentManagement">
            <xsd:complexType>
              <xsd:all>
                <xsd:element ref="ns1:PublishingStartDate" minOccurs="0"/>
                <xsd:element ref="ns1:PublishingExpirationDate" minOccurs="0"/>
                <xsd:element ref="ns2:_dlc_DocId" minOccurs="0"/>
                <xsd:element ref="ns2:_dlc_DocIdUrl" minOccurs="0"/>
                <xsd:element ref="ns2:_dlc_DocIdPersistId"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Date de début de planification" ma:description="La colonne de site Date de début de planification est créée par la fonctionnalité de publication. Elle permet de spécifier les date et heure auxquelles cette page apparaîtra la première fois aux visiteurs du site." ma:internalName="PublishingStartDate">
      <xsd:simpleType>
        <xsd:restriction base="dms:Unknown"/>
      </xsd:simpleType>
    </xsd:element>
    <xsd:element name="PublishingExpirationDate" ma:index="9" nillable="true" ma:displayName="Date de fin de planification" ma:description="La colonne de site Date de fin de planification est créée par la fonctionnalité de publication. Elle permet de spécifier les date et heure auxquelles cette page n'apparaîtra plus aux visiteurs du sit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36dd47d-0b23-43fd-9b2d-c5346ffa1660" elementFormDefault="qualified">
    <xsd:import namespace="http://schemas.microsoft.com/office/2006/documentManagement/types"/>
    <xsd:import namespace="http://schemas.microsoft.com/office/infopath/2007/PartnerControls"/>
    <xsd:element name="_dlc_DocId" ma:index="10" nillable="true" ma:displayName="Valeur d’ID de document" ma:description="Valeur de l’ID de document affecté à cet élément." ma:internalName="_dlc_DocId" ma:readOnly="true">
      <xsd:simpleType>
        <xsd:restriction base="dms:Text"/>
      </xsd:simpleType>
    </xsd:element>
    <xsd:element name="_dlc_DocIdUrl" ma:index="11"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2" nillable="true" ma:displayName="Conserver l’ID" ma:description="Conserver l’ID lors de l’ajout."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8114c5be-486c-4333-8697-9f01d178dfef" elementFormDefault="qualified">
    <xsd:import namespace="http://schemas.microsoft.com/office/2006/documentManagement/types"/>
    <xsd:import namespace="http://schemas.microsoft.com/office/infopath/2007/PartnerControls"/>
    <xsd:element name="SharedWithUsers" ma:index="13" nillable="true" ma:displayName="Partagé avec"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DFE7DD0B-0BE8-4E24-A363-4DD0A01C5DCF}"/>
</file>

<file path=customXml/itemProps2.xml><?xml version="1.0" encoding="utf-8"?>
<ds:datastoreItem xmlns:ds="http://schemas.openxmlformats.org/officeDocument/2006/customXml" ds:itemID="{6B08D313-DD74-49B0-B6A4-96BD802D9198}"/>
</file>

<file path=customXml/itemProps3.xml><?xml version="1.0" encoding="utf-8"?>
<ds:datastoreItem xmlns:ds="http://schemas.openxmlformats.org/officeDocument/2006/customXml" ds:itemID="{9FD1A725-E368-4AE9-A36D-D0142BD85338}"/>
</file>

<file path=customXml/itemProps4.xml><?xml version="1.0" encoding="utf-8"?>
<ds:datastoreItem xmlns:ds="http://schemas.openxmlformats.org/officeDocument/2006/customXml" ds:itemID="{4107C77F-82D7-415B-8339-1A5287ACAE5D}"/>
</file>

<file path=docProps/app.xml><?xml version="1.0" encoding="utf-8"?>
<Properties xmlns="http://schemas.openxmlformats.org/officeDocument/2006/extended-properties" xmlns:vt="http://schemas.openxmlformats.org/officeDocument/2006/docPropsVTypes">
  <Template/>
  <TotalTime>0</TotalTime>
  <Words>895</Words>
  <Application>Microsoft Office PowerPoint</Application>
  <PresentationFormat>Affichage à l'écran (16:9)</PresentationFormat>
  <Paragraphs>250</Paragraphs>
  <Slides>26</Slides>
  <Notes>8</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26</vt:i4>
      </vt:variant>
    </vt:vector>
  </HeadingPairs>
  <TitlesOfParts>
    <vt:vector size="34" baseType="lpstr">
      <vt:lpstr>ＭＳ Ｐゴシック</vt:lpstr>
      <vt:lpstr>Arial</vt:lpstr>
      <vt:lpstr>Arial Narrow</vt:lpstr>
      <vt:lpstr>Calibri</vt:lpstr>
      <vt:lpstr>Courier New</vt:lpstr>
      <vt:lpstr>Verdana</vt:lpstr>
      <vt:lpstr>Wingdings</vt:lpstr>
      <vt:lpstr>TemplateBE_FR</vt:lpstr>
      <vt:lpstr>Présentation PowerPoint</vt:lpstr>
      <vt:lpstr>Présentation PowerPoint</vt:lpstr>
      <vt:lpstr>Objectifs de la formation</vt:lpstr>
      <vt:lpstr>Présentation PowerPoint</vt:lpstr>
      <vt:lpstr>Description du processus métier Les enjeux du processus</vt:lpstr>
      <vt:lpstr>Description du processus métier Gestion du MRP</vt:lpstr>
      <vt:lpstr>Description du processus métier Un sous processus de la gestion du MRP</vt:lpstr>
      <vt:lpstr>Le processus de gestion du MRP, dans le cadre des achats directs</vt:lpstr>
      <vt:lpstr>Présentation PowerPoint</vt:lpstr>
      <vt:lpstr>Description des objets SAP</vt:lpstr>
      <vt:lpstr>Description des objets SAP</vt:lpstr>
      <vt:lpstr>Description des objets SAP</vt:lpstr>
      <vt:lpstr>Mode opératoire Présentation du mode opératoire dans SAP</vt:lpstr>
      <vt:lpstr>Mode opératoire ME01 – Création d’une source d’approvisionnement</vt:lpstr>
      <vt:lpstr>Mode opératoire MM02 – Vérifier les données MRP de l’article (1/4)</vt:lpstr>
      <vt:lpstr>Mode opératoire MM02 – Vérifier les données MRP de l’article (2/4)</vt:lpstr>
      <vt:lpstr>Mode opératoire MM02 – Vérifier les données MRP de l’article (3/4)</vt:lpstr>
      <vt:lpstr>Mode opératoire MM02 – Vérifier les données MRP de l’article (4/4)</vt:lpstr>
      <vt:lpstr>Présentation PowerPoint</vt:lpstr>
      <vt:lpstr>Mode opératoire MD04 – Afficher l’état dynamique des stocks</vt:lpstr>
      <vt:lpstr>Mode opératoire MD02 – Lancement du MRP</vt:lpstr>
      <vt:lpstr>Mode opératoire MD04 – Afficher l’état dynamique des stocks</vt:lpstr>
      <vt:lpstr>Présentation PowerPoint</vt:lpstr>
      <vt:lpstr>Présentation PowerPoint</vt:lpstr>
      <vt:lpstr>Synthèse</vt:lpstr>
      <vt:lpstr>Des questions ?</vt:lpstr>
    </vt:vector>
  </TitlesOfParts>
  <Company>FutureBrand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CBG - Comité Projet</dc:title>
  <dc:creator>BearingPoint</dc:creator>
  <cp:lastModifiedBy>Sardou, Yann</cp:lastModifiedBy>
  <cp:revision>3724</cp:revision>
  <cp:lastPrinted>2015-12-09T16:53:20Z</cp:lastPrinted>
  <dcterms:created xsi:type="dcterms:W3CDTF">2012-05-17T14:14:37Z</dcterms:created>
  <dcterms:modified xsi:type="dcterms:W3CDTF">2015-12-21T15:02:17Z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0x010100EC8D0F09C22B4C4AB25CA30ADC8FDF91</vt:lpwstr>
  </property>
  <property fmtid="{D5CDD505-2E9C-101B-9397-08002B2CF9AE}" pid="3" name="Order">
    <vt:r8>9600</vt:r8>
  </property>
  <property fmtid="{D5CDD505-2E9C-101B-9397-08002B2CF9AE}" pid="4" name="_dlc_DocIdItemGuid">
    <vt:lpwstr>0c53518a-5661-4077-88f7-fa82b7c923cd</vt:lpwstr>
  </property>
</Properties>
</file>