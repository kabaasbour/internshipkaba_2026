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s/slide2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1.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2"/>
  </p:notesMasterIdLst>
  <p:handoutMasterIdLst>
    <p:handoutMasterId r:id="rId33"/>
  </p:handoutMasterIdLst>
  <p:sldIdLst>
    <p:sldId id="685" r:id="rId5"/>
    <p:sldId id="686" r:id="rId6"/>
    <p:sldId id="687" r:id="rId7"/>
    <p:sldId id="688" r:id="rId8"/>
    <p:sldId id="723" r:id="rId9"/>
    <p:sldId id="691" r:id="rId10"/>
    <p:sldId id="692" r:id="rId11"/>
    <p:sldId id="694" r:id="rId12"/>
    <p:sldId id="724" r:id="rId13"/>
    <p:sldId id="696" r:id="rId14"/>
    <p:sldId id="751" r:id="rId15"/>
    <p:sldId id="768" r:id="rId16"/>
    <p:sldId id="773" r:id="rId17"/>
    <p:sldId id="774" r:id="rId18"/>
    <p:sldId id="775" r:id="rId19"/>
    <p:sldId id="755" r:id="rId20"/>
    <p:sldId id="776" r:id="rId21"/>
    <p:sldId id="756" r:id="rId22"/>
    <p:sldId id="777" r:id="rId23"/>
    <p:sldId id="778" r:id="rId24"/>
    <p:sldId id="779" r:id="rId25"/>
    <p:sldId id="780" r:id="rId26"/>
    <p:sldId id="782" r:id="rId27"/>
    <p:sldId id="745" r:id="rId28"/>
    <p:sldId id="725" r:id="rId29"/>
    <p:sldId id="710" r:id="rId30"/>
    <p:sldId id="728" r:id="rId31"/>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87411" autoAdjust="0"/>
  </p:normalViewPr>
  <p:slideViewPr>
    <p:cSldViewPr snapToGrid="0" snapToObjects="1">
      <p:cViewPr varScale="1">
        <p:scale>
          <a:sx n="135" d="100"/>
          <a:sy n="135" d="100"/>
        </p:scale>
        <p:origin x="144" y="180"/>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12/9/2015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09.12.2015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8</a:t>
            </a:fld>
            <a:endParaRPr lang="de-DE" dirty="0"/>
          </a:p>
        </p:txBody>
      </p:sp>
    </p:spTree>
    <p:extLst>
      <p:ext uri="{BB962C8B-B14F-4D97-AF65-F5344CB8AC3E}">
        <p14:creationId xmlns:p14="http://schemas.microsoft.com/office/powerpoint/2010/main" val="9958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11</a:t>
            </a:fld>
            <a:endParaRPr lang="de-DE" dirty="0"/>
          </a:p>
        </p:txBody>
      </p:sp>
    </p:spTree>
    <p:extLst>
      <p:ext uri="{BB962C8B-B14F-4D97-AF65-F5344CB8AC3E}">
        <p14:creationId xmlns:p14="http://schemas.microsoft.com/office/powerpoint/2010/main" val="1832093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12</a:t>
            </a:fld>
            <a:endParaRPr lang="de-DE" dirty="0"/>
          </a:p>
        </p:txBody>
      </p:sp>
    </p:spTree>
    <p:extLst>
      <p:ext uri="{BB962C8B-B14F-4D97-AF65-F5344CB8AC3E}">
        <p14:creationId xmlns:p14="http://schemas.microsoft.com/office/powerpoint/2010/main" val="523619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24</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018779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25</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09/12/2015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Logistique</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Module02.01</a:t>
            </a:r>
          </a:p>
          <a:p>
            <a:r>
              <a:rPr lang="fr-FR" sz="2000" b="1" dirty="0" smtClean="0">
                <a:solidFill>
                  <a:srgbClr val="0070C0"/>
                </a:solidFill>
                <a:latin typeface="Arial" charset="0"/>
                <a:cs typeface="Arial" charset="0"/>
              </a:rPr>
              <a:t>Réception locale</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Tracer le stock d’un article pendant le processus de réception</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Réceptionner un article en référence à une commande d’achat locale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Traiter le cas WM lors de la réception</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Effectuer une entrée de marchandises en référence à une commande d’achat locale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un ordre de transfert (gestion WM) et le confirmer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Visualiser le stock pendant la réception pour MM et WM </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 40</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Guinée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Coordonnateur magasin</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1h40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49499927"/>
              </p:ext>
            </p:extLst>
          </p:nvPr>
        </p:nvGraphicFramePr>
        <p:xfrm>
          <a:off x="2758033" y="1291506"/>
          <a:ext cx="3627934" cy="2142491"/>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8h10 – 8h20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Structure organisationnelle</a:t>
                      </a:r>
                    </a:p>
                    <a:p>
                      <a:pPr marL="177800" indent="-177800">
                        <a:lnSpc>
                          <a:spcPct val="100000"/>
                        </a:lnSpc>
                        <a:spcBef>
                          <a:spcPts val="0"/>
                        </a:spcBef>
                        <a:spcAft>
                          <a:spcPts val="0"/>
                        </a:spcAft>
                        <a:buFont typeface="Arial" pitchFamily="34" charset="0"/>
                        <a:buChar char="•"/>
                      </a:pPr>
                      <a:r>
                        <a:rPr lang="fr-FR" sz="900" dirty="0" smtClean="0"/>
                        <a:t>Présentation : 10 min</a:t>
                      </a:r>
                    </a:p>
                  </a:txBody>
                  <a:tcPr marL="68566" marR="68566" marT="34292" marB="34292" anchor="ctr">
                    <a:solidFill>
                      <a:srgbClr val="F3F4FF"/>
                    </a:solidFill>
                  </a:tcPr>
                </a:tc>
              </a:tr>
              <a:tr h="785649">
                <a:tc>
                  <a:txBody>
                    <a:bodyPr/>
                    <a:lstStyle/>
                    <a:p>
                      <a:pPr algn="ctr"/>
                      <a:r>
                        <a:rPr lang="fr-FR" sz="900" dirty="0" smtClean="0"/>
                        <a:t>8h20 – 9h40</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Le poste</a:t>
                      </a:r>
                      <a:r>
                        <a:rPr lang="fr-FR" sz="900" baseline="0" dirty="0" smtClean="0"/>
                        <a:t> </a:t>
                      </a:r>
                      <a:r>
                        <a:rPr lang="fr-FR" sz="900" dirty="0" smtClean="0"/>
                        <a:t>de</a:t>
                      </a:r>
                      <a:r>
                        <a:rPr lang="fr-FR" sz="900" baseline="0" dirty="0" smtClean="0"/>
                        <a:t> travail</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40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40 min</a:t>
                      </a:r>
                    </a:p>
                  </a:txBody>
                  <a:tcPr marL="68566" marR="68566" marT="34292" marB="34292" anchor="ctr">
                    <a:solidFill>
                      <a:srgbClr val="E7E8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CA" dirty="0"/>
              <a:t>On appelle réception locale toute réception qui est faite en </a:t>
            </a:r>
            <a:r>
              <a:rPr lang="fr-CA" dirty="0" smtClean="0"/>
              <a:t>Guinée (que ce soit à </a:t>
            </a:r>
            <a:r>
              <a:rPr lang="fr-CA" dirty="0" err="1"/>
              <a:t>Kamsar</a:t>
            </a:r>
            <a:r>
              <a:rPr lang="fr-CA" dirty="0"/>
              <a:t>, Conakry ou encore </a:t>
            </a:r>
            <a:r>
              <a:rPr lang="fr-CA" dirty="0" err="1" smtClean="0"/>
              <a:t>Sangarédi</a:t>
            </a:r>
            <a:r>
              <a:rPr lang="fr-CA" dirty="0" smtClean="0"/>
              <a:t>).</a:t>
            </a:r>
          </a:p>
          <a:p>
            <a:r>
              <a:rPr lang="fr-CA" dirty="0"/>
              <a:t>Lorsque les articles sont de provenance locale, le processus de douanes n’est pas requis. Le magasinier effectue directement une réception en référence à la Commande d’Achats. Si le magasin de réception ne correspond pas au magasin cible, alors un transfert est nécessaire.</a:t>
            </a:r>
            <a:endParaRPr lang="en-US" dirty="0"/>
          </a:p>
          <a:p>
            <a:r>
              <a:rPr lang="fr-CA" dirty="0"/>
              <a:t>Il est à noter que dans SAP, la génération des numéros de lots se fait lors de la première réception des articles de provenance externe. C’est également à ce moment qu’il est conseillé de saisir les informations additionnelles requises au niveau des lots pour des raisons de gestion / traçabilité (quantité, numéro de lot fournisseur, date de péremption, etc.)</a:t>
            </a:r>
            <a:endParaRPr lang="en-US" dirty="0"/>
          </a:p>
          <a:p>
            <a:r>
              <a:rPr lang="fr-CA" dirty="0" smtClean="0"/>
              <a:t>L’action unitaire dans SAP d’«</a:t>
            </a:r>
            <a:r>
              <a:rPr lang="fr-CA" dirty="0"/>
              <a:t> entrée en stock » </a:t>
            </a:r>
            <a:r>
              <a:rPr lang="fr-CA" dirty="0" smtClean="0"/>
              <a:t>reprend les </a:t>
            </a:r>
            <a:r>
              <a:rPr lang="fr-CA" dirty="0"/>
              <a:t>éléments de processus suivants  </a:t>
            </a:r>
            <a:r>
              <a:rPr lang="fr-CA" dirty="0" smtClean="0"/>
              <a:t>: déballage</a:t>
            </a:r>
            <a:r>
              <a:rPr lang="en-US" dirty="0" smtClean="0"/>
              <a:t>, </a:t>
            </a:r>
            <a:r>
              <a:rPr lang="fr-CA" dirty="0" smtClean="0"/>
              <a:t>comptage </a:t>
            </a:r>
            <a:r>
              <a:rPr lang="fr-CA" dirty="0"/>
              <a:t>et division des quantités reçues par lot </a:t>
            </a:r>
            <a:r>
              <a:rPr lang="fr-CA" dirty="0" smtClean="0"/>
              <a:t>fournisseur</a:t>
            </a:r>
            <a:r>
              <a:rPr lang="en-US" dirty="0" smtClean="0"/>
              <a:t>, </a:t>
            </a:r>
            <a:r>
              <a:rPr lang="fr-CA" dirty="0"/>
              <a:t>s</a:t>
            </a:r>
            <a:r>
              <a:rPr lang="fr-CA" dirty="0" smtClean="0"/>
              <a:t>aisie </a:t>
            </a:r>
            <a:r>
              <a:rPr lang="fr-CA" dirty="0"/>
              <a:t>des informations additionnelles par </a:t>
            </a:r>
            <a:r>
              <a:rPr lang="fr-CA" dirty="0" smtClean="0"/>
              <a:t>lot</a:t>
            </a:r>
            <a:r>
              <a:rPr lang="en-US" dirty="0" smtClean="0"/>
              <a:t>, </a:t>
            </a:r>
            <a:r>
              <a:rPr lang="fr-CA" dirty="0"/>
              <a:t>m</a:t>
            </a:r>
            <a:r>
              <a:rPr lang="fr-CA" dirty="0" smtClean="0"/>
              <a:t>ise </a:t>
            </a:r>
            <a:r>
              <a:rPr lang="fr-CA" dirty="0"/>
              <a:t>en </a:t>
            </a:r>
            <a:r>
              <a:rPr lang="fr-CA" dirty="0" smtClean="0"/>
              <a:t>stock.</a:t>
            </a:r>
            <a:r>
              <a:rPr lang="fr-CA" dirty="0"/>
              <a:t> </a:t>
            </a:r>
            <a:endParaRPr lang="en-US" dirty="0"/>
          </a:p>
          <a:p>
            <a:r>
              <a:rPr lang="fr-CA" dirty="0"/>
              <a:t>Dans le cas où le magasin serait géré sous WM, la réception des articles se fait sur une zone de </a:t>
            </a:r>
            <a:r>
              <a:rPr lang="fr-CA" dirty="0" smtClean="0"/>
              <a:t>réception (type de magasin temporaire 9**). </a:t>
            </a:r>
            <a:r>
              <a:rPr lang="fr-CA" dirty="0"/>
              <a:t>Le magasinier doit ensuite créer puis confirmer un ordre de transfert afin de modéliser dans SAP l’opération de rangement des articles depuis la zone de déballage vers l’adresse physique de stockage dans le magasin WM.</a:t>
            </a:r>
            <a:endParaRPr lang="en-US" dirty="0"/>
          </a:p>
          <a:p>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Réception locale</a:t>
            </a:r>
            <a:endParaRPr lang="en-US" altLang="en-US" dirty="0" smtClean="0"/>
          </a:p>
        </p:txBody>
      </p:sp>
      <p:sp>
        <p:nvSpPr>
          <p:cNvPr id="28678" name="AutoShape 6"/>
          <p:cNvSpPr>
            <a:spLocks noChangeArrowheads="1"/>
          </p:cNvSpPr>
          <p:nvPr/>
        </p:nvSpPr>
        <p:spPr bwMode="auto">
          <a:xfrm>
            <a:off x="1613861" y="1403853"/>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effectuer une réception locale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smtClean="0">
                <a:solidFill>
                  <a:schemeClr val="bg1"/>
                </a:solidFill>
                <a:cs typeface="Arial" panose="020B0604020202020204" pitchFamily="34" charset="0"/>
              </a:rPr>
              <a:t>Que trouve t-on dans le processus de réception locale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487546"/>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magasiniers </a:t>
            </a:r>
          </a:p>
        </p:txBody>
      </p:sp>
      <p:sp>
        <p:nvSpPr>
          <p:cNvPr id="28681" name="AutoShape 12"/>
          <p:cNvSpPr>
            <a:spLocks noChangeArrowheads="1"/>
          </p:cNvSpPr>
          <p:nvPr/>
        </p:nvSpPr>
        <p:spPr bwMode="auto">
          <a:xfrm>
            <a:off x="5011609" y="1305094"/>
            <a:ext cx="2701669" cy="656973"/>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Quand on reçoit une commande d’achat locale (de Guinée) et que l’on souhaite faire l’entrée en stock des marchandises</a:t>
            </a:r>
            <a:endParaRPr lang="fr-FR" altLang="en-US" sz="1050" dirty="0"/>
          </a:p>
        </p:txBody>
      </p:sp>
      <p:sp>
        <p:nvSpPr>
          <p:cNvPr id="28682" name="AutoShape 6"/>
          <p:cNvSpPr>
            <a:spLocks noChangeArrowheads="1"/>
          </p:cNvSpPr>
          <p:nvPr/>
        </p:nvSpPr>
        <p:spPr bwMode="auto">
          <a:xfrm>
            <a:off x="1231921" y="2382891"/>
            <a:ext cx="1666915" cy="478201"/>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effectuer les réceptions locales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2999106"/>
            <a:ext cx="3281294" cy="1428816"/>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L’étape d’entrée de marchandises en référence à une commande d’achat </a:t>
            </a:r>
          </a:p>
          <a:p>
            <a:pPr eaLnBrk="1" hangingPunct="1">
              <a:spcBef>
                <a:spcPts val="225"/>
              </a:spcBef>
              <a:buFont typeface="Arial" panose="020B0604020202020204" pitchFamily="34" charset="0"/>
              <a:buChar char="•"/>
            </a:pPr>
            <a:r>
              <a:rPr lang="fr-FR" altLang="en-US" sz="1050" dirty="0" smtClean="0">
                <a:solidFill>
                  <a:schemeClr val="bg1"/>
                </a:solidFill>
              </a:rPr>
              <a:t>Pour un magasin des destination WM : la création et confirmation d’un ordre de transfert (afin de ranger la marchandise dans l’emplacement cible)</a:t>
            </a:r>
          </a:p>
          <a:p>
            <a:pPr eaLnBrk="1" hangingPunct="1">
              <a:spcBef>
                <a:spcPts val="225"/>
              </a:spcBef>
              <a:buFont typeface="Arial" panose="020B0604020202020204" pitchFamily="34" charset="0"/>
              <a:buChar char="•"/>
            </a:pPr>
            <a:r>
              <a:rPr lang="fr-FR" altLang="en-US" sz="1050" dirty="0" smtClean="0">
                <a:solidFill>
                  <a:schemeClr val="bg1"/>
                </a:solidFill>
              </a:rPr>
              <a:t>Les transactions d’état de stock MM et WM</a:t>
            </a: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altLang="en-US" sz="2000" dirty="0"/>
              <a:t>Description du processus </a:t>
            </a:r>
            <a:r>
              <a:rPr lang="fr-FR" altLang="en-US" sz="2000" dirty="0" smtClean="0"/>
              <a:t>métier</a:t>
            </a:r>
            <a:endParaRPr lang="en-US" dirty="0"/>
          </a:p>
        </p:txBody>
      </p:sp>
      <p:sp>
        <p:nvSpPr>
          <p:cNvPr id="5" name="Titre 4"/>
          <p:cNvSpPr txBox="1">
            <a:spLocks/>
          </p:cNvSpPr>
          <p:nvPr/>
        </p:nvSpPr>
        <p:spPr>
          <a:xfrm>
            <a:off x="609600" y="358775"/>
            <a:ext cx="8229600" cy="857250"/>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endParaRPr lang="fr-FR" altLang="en-US" dirty="0"/>
          </a:p>
        </p:txBody>
      </p:sp>
      <p:pic>
        <p:nvPicPr>
          <p:cNvPr id="7" name="Image 6"/>
          <p:cNvPicPr/>
          <p:nvPr/>
        </p:nvPicPr>
        <p:blipFill>
          <a:blip r:embed="rId3">
            <a:extLst>
              <a:ext uri="{28A0092B-C50C-407E-A947-70E740481C1C}">
                <a14:useLocalDpi xmlns:a14="http://schemas.microsoft.com/office/drawing/2010/main" val="0"/>
              </a:ext>
            </a:extLst>
          </a:blip>
          <a:srcRect/>
          <a:stretch>
            <a:fillRect/>
          </a:stretch>
        </p:blipFill>
        <p:spPr bwMode="auto">
          <a:xfrm>
            <a:off x="1600200" y="801511"/>
            <a:ext cx="5943600" cy="3540478"/>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 	</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9" name="Groupe 8"/>
          <p:cNvGrpSpPr/>
          <p:nvPr/>
        </p:nvGrpSpPr>
        <p:grpSpPr>
          <a:xfrm>
            <a:off x="2994562" y="1317228"/>
            <a:ext cx="1260475" cy="791750"/>
            <a:chOff x="2712380" y="1745885"/>
            <a:chExt cx="1260475" cy="791750"/>
          </a:xfrm>
        </p:grpSpPr>
        <p:sp>
          <p:nvSpPr>
            <p:cNvPr id="50" name="Rectangle 49"/>
            <p:cNvSpPr/>
            <p:nvPr/>
          </p:nvSpPr>
          <p:spPr bwMode="auto">
            <a:xfrm>
              <a:off x="2712380" y="1745885"/>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Visualiser le stock entré dans MM</a:t>
              </a:r>
              <a:endParaRPr lang="en-US" sz="800" dirty="0">
                <a:solidFill>
                  <a:schemeClr val="bg1"/>
                </a:solidFill>
                <a:latin typeface="Arial" pitchFamily="34" charset="0"/>
                <a:cs typeface="Arial" pitchFamily="34" charset="0"/>
              </a:endParaRPr>
            </a:p>
          </p:txBody>
        </p:sp>
        <p:sp>
          <p:nvSpPr>
            <p:cNvPr id="51" name="Rectangle 50"/>
            <p:cNvSpPr/>
            <p:nvPr/>
          </p:nvSpPr>
          <p:spPr bwMode="auto">
            <a:xfrm>
              <a:off x="2712380" y="2104298"/>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MMBE</a:t>
              </a:r>
              <a:endParaRPr lang="en-US" sz="800" b="1" dirty="0">
                <a:solidFill>
                  <a:schemeClr val="bg1"/>
                </a:solidFill>
                <a:latin typeface="Arial" panose="020B0604020202020204" pitchFamily="34" charset="0"/>
                <a:cs typeface="Arial" panose="020B0604020202020204" pitchFamily="34" charset="0"/>
              </a:endParaRPr>
            </a:p>
          </p:txBody>
        </p:sp>
        <p:sp>
          <p:nvSpPr>
            <p:cNvPr id="52" name="Rectangle 51"/>
            <p:cNvSpPr/>
            <p:nvPr/>
          </p:nvSpPr>
          <p:spPr bwMode="auto">
            <a:xfrm>
              <a:off x="2712380" y="2321635"/>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7" name="Groupe 6"/>
          <p:cNvGrpSpPr/>
          <p:nvPr/>
        </p:nvGrpSpPr>
        <p:grpSpPr>
          <a:xfrm>
            <a:off x="4622558" y="1308807"/>
            <a:ext cx="1260475" cy="808593"/>
            <a:chOff x="5977868" y="1744298"/>
            <a:chExt cx="1260475" cy="808593"/>
          </a:xfrm>
        </p:grpSpPr>
        <p:sp>
          <p:nvSpPr>
            <p:cNvPr id="62" name="Rectangle 61"/>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Imprimer les étiquettes des lots et le formulaire bon de réception</a:t>
              </a:r>
              <a:endParaRPr lang="en-US" sz="800" dirty="0">
                <a:solidFill>
                  <a:schemeClr val="bg1"/>
                </a:solidFill>
                <a:latin typeface="Arial" pitchFamily="34" charset="0"/>
                <a:cs typeface="Arial" pitchFamily="34" charset="0"/>
              </a:endParaRPr>
            </a:p>
          </p:txBody>
        </p:sp>
        <p:sp>
          <p:nvSpPr>
            <p:cNvPr id="63" name="Rectangle 62"/>
            <p:cNvSpPr/>
            <p:nvPr/>
          </p:nvSpPr>
          <p:spPr bwMode="auto">
            <a:xfrm>
              <a:off x="5977868" y="2112780"/>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MB90</a:t>
              </a:r>
              <a:endParaRPr lang="en-US" sz="800" b="1" dirty="0">
                <a:solidFill>
                  <a:schemeClr val="bg1"/>
                </a:solidFill>
                <a:latin typeface="Arial" panose="020B0604020202020204" pitchFamily="34" charset="0"/>
                <a:cs typeface="Arial" panose="020B0604020202020204" pitchFamily="34" charset="0"/>
              </a:endParaRPr>
            </a:p>
          </p:txBody>
        </p:sp>
        <p:sp>
          <p:nvSpPr>
            <p:cNvPr id="64" name="Rectangle 63"/>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5" name="Groupe 4"/>
          <p:cNvGrpSpPr/>
          <p:nvPr/>
        </p:nvGrpSpPr>
        <p:grpSpPr>
          <a:xfrm>
            <a:off x="6250554" y="1312692"/>
            <a:ext cx="1260475" cy="800823"/>
            <a:chOff x="7609818" y="1744298"/>
            <a:chExt cx="1260475" cy="800823"/>
          </a:xfrm>
        </p:grpSpPr>
        <p:sp>
          <p:nvSpPr>
            <p:cNvPr id="58" name="Rectangle 57"/>
            <p:cNvSpPr/>
            <p:nvPr/>
          </p:nvSpPr>
          <p:spPr bwMode="auto">
            <a:xfrm>
              <a:off x="760981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Imprimer l’ordre de transfert pour faire le prélèvement physique</a:t>
              </a:r>
              <a:endParaRPr lang="en-US" sz="800" dirty="0">
                <a:solidFill>
                  <a:schemeClr val="bg1"/>
                </a:solidFill>
                <a:latin typeface="Arial" pitchFamily="34" charset="0"/>
                <a:cs typeface="Arial" pitchFamily="34" charset="0"/>
              </a:endParaRPr>
            </a:p>
          </p:txBody>
        </p:sp>
        <p:sp>
          <p:nvSpPr>
            <p:cNvPr id="59" name="Rectangle 58"/>
            <p:cNvSpPr/>
            <p:nvPr/>
          </p:nvSpPr>
          <p:spPr bwMode="auto">
            <a:xfrm>
              <a:off x="7609818" y="2103455"/>
              <a:ext cx="1260475" cy="216000"/>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LT31</a:t>
              </a:r>
              <a:endParaRPr lang="en-US" sz="800" b="1" dirty="0">
                <a:solidFill>
                  <a:schemeClr val="bg1"/>
                </a:solidFill>
                <a:latin typeface="Arial" panose="020B0604020202020204" pitchFamily="34" charset="0"/>
                <a:cs typeface="Arial" panose="020B0604020202020204" pitchFamily="34" charset="0"/>
              </a:endParaRPr>
            </a:p>
          </p:txBody>
        </p:sp>
        <p:sp>
          <p:nvSpPr>
            <p:cNvPr id="60" name="Rectangle 59"/>
            <p:cNvSpPr/>
            <p:nvPr/>
          </p:nvSpPr>
          <p:spPr bwMode="auto">
            <a:xfrm>
              <a:off x="7609818" y="232912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Planificateur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87" name="Connecteur en angle 86"/>
          <p:cNvCxnSpPr>
            <a:stCxn id="50" idx="3"/>
            <a:endCxn id="62" idx="1"/>
          </p:cNvCxnSpPr>
          <p:nvPr/>
        </p:nvCxnSpPr>
        <p:spPr>
          <a:xfrm flipV="1">
            <a:off x="4255037" y="1488807"/>
            <a:ext cx="367521" cy="8421"/>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783" name="Connecteur droit avec flèche 32782"/>
          <p:cNvCxnSpPr>
            <a:stCxn id="62" idx="3"/>
            <a:endCxn id="58" idx="1"/>
          </p:cNvCxnSpPr>
          <p:nvPr/>
        </p:nvCxnSpPr>
        <p:spPr>
          <a:xfrm>
            <a:off x="5883033" y="1488807"/>
            <a:ext cx="367521" cy="3885"/>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3" name="Groupe 52"/>
          <p:cNvGrpSpPr/>
          <p:nvPr/>
        </p:nvGrpSpPr>
        <p:grpSpPr>
          <a:xfrm>
            <a:off x="1366566" y="1317228"/>
            <a:ext cx="1260475" cy="791750"/>
            <a:chOff x="2712380" y="1745885"/>
            <a:chExt cx="1260475" cy="791750"/>
          </a:xfrm>
        </p:grpSpPr>
        <p:sp>
          <p:nvSpPr>
            <p:cNvPr id="57" name="Rectangle 56"/>
            <p:cNvSpPr/>
            <p:nvPr/>
          </p:nvSpPr>
          <p:spPr bwMode="auto">
            <a:xfrm>
              <a:off x="2712380" y="1745885"/>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Effectuer l’entrée de marchandises et créer l’ordre de transfert</a:t>
              </a:r>
              <a:endParaRPr lang="en-US" sz="800" dirty="0">
                <a:solidFill>
                  <a:schemeClr val="bg1"/>
                </a:solidFill>
                <a:latin typeface="Arial" pitchFamily="34" charset="0"/>
                <a:cs typeface="Arial" pitchFamily="34" charset="0"/>
              </a:endParaRPr>
            </a:p>
          </p:txBody>
        </p:sp>
        <p:sp>
          <p:nvSpPr>
            <p:cNvPr id="61" name="Rectangle 60"/>
            <p:cNvSpPr/>
            <p:nvPr/>
          </p:nvSpPr>
          <p:spPr bwMode="auto">
            <a:xfrm>
              <a:off x="2712380" y="2104298"/>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MIGO</a:t>
              </a:r>
              <a:endParaRPr lang="en-US" sz="800" b="1" dirty="0">
                <a:solidFill>
                  <a:schemeClr val="bg1"/>
                </a:solidFill>
                <a:latin typeface="Arial" panose="020B0604020202020204" pitchFamily="34" charset="0"/>
                <a:cs typeface="Arial" panose="020B0604020202020204" pitchFamily="34" charset="0"/>
              </a:endParaRPr>
            </a:p>
          </p:txBody>
        </p:sp>
        <p:sp>
          <p:nvSpPr>
            <p:cNvPr id="67" name="Rectangle 66"/>
            <p:cNvSpPr/>
            <p:nvPr/>
          </p:nvSpPr>
          <p:spPr bwMode="auto">
            <a:xfrm>
              <a:off x="2712380" y="2321635"/>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72" name="Connecteur en angle 71"/>
          <p:cNvCxnSpPr>
            <a:stCxn id="57" idx="3"/>
            <a:endCxn id="50" idx="1"/>
          </p:cNvCxnSpPr>
          <p:nvPr/>
        </p:nvCxnSpPr>
        <p:spPr>
          <a:xfrm>
            <a:off x="2627041" y="1497228"/>
            <a:ext cx="367521"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95" name="Groupe 94"/>
          <p:cNvGrpSpPr/>
          <p:nvPr/>
        </p:nvGrpSpPr>
        <p:grpSpPr>
          <a:xfrm>
            <a:off x="2080161" y="3011842"/>
            <a:ext cx="1260475" cy="808593"/>
            <a:chOff x="5977868" y="1744298"/>
            <a:chExt cx="1260475" cy="808593"/>
          </a:xfrm>
        </p:grpSpPr>
        <p:sp>
          <p:nvSpPr>
            <p:cNvPr id="96" name="Rectangle 95"/>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Visualiser le stock entrée dans la zone de réception WM</a:t>
              </a:r>
              <a:endParaRPr lang="en-US" sz="800" dirty="0">
                <a:solidFill>
                  <a:schemeClr val="bg1"/>
                </a:solidFill>
                <a:latin typeface="Arial" pitchFamily="34" charset="0"/>
                <a:cs typeface="Arial" pitchFamily="34" charset="0"/>
              </a:endParaRPr>
            </a:p>
          </p:txBody>
        </p:sp>
        <p:sp>
          <p:nvSpPr>
            <p:cNvPr id="97" name="Rectangle 96"/>
            <p:cNvSpPr/>
            <p:nvPr/>
          </p:nvSpPr>
          <p:spPr bwMode="auto">
            <a:xfrm>
              <a:off x="5977868" y="2112780"/>
              <a:ext cx="1260475" cy="216000"/>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LS24</a:t>
              </a:r>
              <a:endParaRPr lang="en-US" sz="800" b="1" dirty="0">
                <a:solidFill>
                  <a:schemeClr val="bg1"/>
                </a:solidFill>
                <a:latin typeface="Arial" panose="020B0604020202020204" pitchFamily="34" charset="0"/>
                <a:cs typeface="Arial" panose="020B0604020202020204" pitchFamily="34" charset="0"/>
              </a:endParaRPr>
            </a:p>
          </p:txBody>
        </p:sp>
        <p:sp>
          <p:nvSpPr>
            <p:cNvPr id="98" name="Rectangle 97"/>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103" name="Connecteur en angle 86"/>
          <p:cNvCxnSpPr>
            <a:stCxn id="60" idx="2"/>
            <a:endCxn id="96" idx="0"/>
          </p:cNvCxnSpPr>
          <p:nvPr/>
        </p:nvCxnSpPr>
        <p:spPr>
          <a:xfrm rot="5400000">
            <a:off x="4346433" y="477482"/>
            <a:ext cx="898327" cy="4170393"/>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35" name="Groupe 34"/>
          <p:cNvGrpSpPr/>
          <p:nvPr/>
        </p:nvGrpSpPr>
        <p:grpSpPr>
          <a:xfrm>
            <a:off x="3708157" y="3011842"/>
            <a:ext cx="1260475" cy="791750"/>
            <a:chOff x="2712380" y="1745885"/>
            <a:chExt cx="1260475" cy="791750"/>
          </a:xfrm>
        </p:grpSpPr>
        <p:sp>
          <p:nvSpPr>
            <p:cNvPr id="36" name="Rectangle 35"/>
            <p:cNvSpPr/>
            <p:nvPr/>
          </p:nvSpPr>
          <p:spPr bwMode="auto">
            <a:xfrm>
              <a:off x="2712380" y="1745885"/>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Confirmer l’ordre de transfert</a:t>
              </a:r>
            </a:p>
          </p:txBody>
        </p:sp>
        <p:sp>
          <p:nvSpPr>
            <p:cNvPr id="37" name="Rectangle 36"/>
            <p:cNvSpPr/>
            <p:nvPr/>
          </p:nvSpPr>
          <p:spPr bwMode="auto">
            <a:xfrm>
              <a:off x="2712380" y="2104298"/>
              <a:ext cx="1260475" cy="216000"/>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LT22</a:t>
              </a:r>
              <a:endParaRPr lang="en-US" sz="800" b="1" dirty="0">
                <a:solidFill>
                  <a:schemeClr val="bg1"/>
                </a:solidFill>
                <a:latin typeface="Arial" panose="020B0604020202020204" pitchFamily="34" charset="0"/>
                <a:cs typeface="Arial" panose="020B0604020202020204" pitchFamily="34" charset="0"/>
              </a:endParaRPr>
            </a:p>
          </p:txBody>
        </p:sp>
        <p:sp>
          <p:nvSpPr>
            <p:cNvPr id="38" name="Rectangle 37"/>
            <p:cNvSpPr/>
            <p:nvPr/>
          </p:nvSpPr>
          <p:spPr bwMode="auto">
            <a:xfrm>
              <a:off x="2712380" y="2321635"/>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5336153" y="3003421"/>
            <a:ext cx="1260475" cy="808593"/>
            <a:chOff x="5977868" y="1744298"/>
            <a:chExt cx="1260475" cy="808593"/>
          </a:xfrm>
        </p:grpSpPr>
        <p:sp>
          <p:nvSpPr>
            <p:cNvPr id="40" name="Rectangle 39"/>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Visualiser le stock rangé dans l’emplacement WM</a:t>
              </a:r>
              <a:endParaRPr lang="en-US" sz="800" dirty="0">
                <a:solidFill>
                  <a:schemeClr val="bg1"/>
                </a:solidFill>
                <a:latin typeface="Arial" pitchFamily="34" charset="0"/>
                <a:cs typeface="Arial" pitchFamily="34" charset="0"/>
              </a:endParaRPr>
            </a:p>
          </p:txBody>
        </p:sp>
        <p:sp>
          <p:nvSpPr>
            <p:cNvPr id="41" name="Rectangle 40"/>
            <p:cNvSpPr/>
            <p:nvPr/>
          </p:nvSpPr>
          <p:spPr bwMode="auto">
            <a:xfrm>
              <a:off x="5977868" y="2112780"/>
              <a:ext cx="1260475" cy="216000"/>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LS24</a:t>
              </a:r>
              <a:endParaRPr lang="en-US" sz="800" b="1" dirty="0">
                <a:solidFill>
                  <a:schemeClr val="bg1"/>
                </a:solidFill>
                <a:latin typeface="Arial" panose="020B0604020202020204" pitchFamily="34" charset="0"/>
                <a:cs typeface="Arial" panose="020B0604020202020204" pitchFamily="34" charset="0"/>
              </a:endParaRPr>
            </a:p>
          </p:txBody>
        </p:sp>
        <p:sp>
          <p:nvSpPr>
            <p:cNvPr id="42" name="Rectangle 41"/>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47" name="Connecteur en angle 86"/>
          <p:cNvCxnSpPr>
            <a:stCxn id="36" idx="3"/>
            <a:endCxn id="40" idx="1"/>
          </p:cNvCxnSpPr>
          <p:nvPr/>
        </p:nvCxnSpPr>
        <p:spPr>
          <a:xfrm flipV="1">
            <a:off x="4968632" y="3183421"/>
            <a:ext cx="367521" cy="8421"/>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eur en angle 86"/>
          <p:cNvCxnSpPr>
            <a:stCxn id="96" idx="3"/>
            <a:endCxn id="36" idx="1"/>
          </p:cNvCxnSpPr>
          <p:nvPr/>
        </p:nvCxnSpPr>
        <p:spPr>
          <a:xfrm>
            <a:off x="3340636" y="3191842"/>
            <a:ext cx="367521"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Groupe 44"/>
          <p:cNvGrpSpPr/>
          <p:nvPr/>
        </p:nvGrpSpPr>
        <p:grpSpPr>
          <a:xfrm>
            <a:off x="6964149" y="3011532"/>
            <a:ext cx="1260475" cy="808593"/>
            <a:chOff x="5977868" y="1744298"/>
            <a:chExt cx="1260475" cy="808593"/>
          </a:xfrm>
        </p:grpSpPr>
        <p:sp>
          <p:nvSpPr>
            <p:cNvPr id="46" name="Rectangle 45"/>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Vérifier les documents comptables</a:t>
              </a:r>
              <a:endParaRPr lang="en-US" sz="800" dirty="0">
                <a:solidFill>
                  <a:schemeClr val="bg1"/>
                </a:solidFill>
                <a:latin typeface="Arial" pitchFamily="34" charset="0"/>
                <a:cs typeface="Arial" pitchFamily="34" charset="0"/>
              </a:endParaRPr>
            </a:p>
          </p:txBody>
        </p:sp>
        <p:sp>
          <p:nvSpPr>
            <p:cNvPr id="48" name="Rectangle 47"/>
            <p:cNvSpPr/>
            <p:nvPr/>
          </p:nvSpPr>
          <p:spPr bwMode="auto">
            <a:xfrm>
              <a:off x="5977868" y="2112780"/>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MB03</a:t>
              </a:r>
              <a:endParaRPr lang="en-US" sz="800" b="1" dirty="0">
                <a:solidFill>
                  <a:schemeClr val="bg1"/>
                </a:solidFill>
                <a:latin typeface="Arial" panose="020B0604020202020204" pitchFamily="34" charset="0"/>
                <a:cs typeface="Arial" panose="020B0604020202020204" pitchFamily="34" charset="0"/>
              </a:endParaRPr>
            </a:p>
          </p:txBody>
        </p:sp>
        <p:sp>
          <p:nvSpPr>
            <p:cNvPr id="49" name="Rectangle 48"/>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54" name="Connecteur en angle 86"/>
          <p:cNvCxnSpPr>
            <a:endCxn id="46" idx="1"/>
          </p:cNvCxnSpPr>
          <p:nvPr/>
        </p:nvCxnSpPr>
        <p:spPr>
          <a:xfrm flipV="1">
            <a:off x="6596628" y="3191532"/>
            <a:ext cx="367521" cy="8421"/>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a:fillRect/>
          </a:stretch>
        </p:blipFill>
        <p:spPr>
          <a:xfrm>
            <a:off x="212438" y="972403"/>
            <a:ext cx="4819156" cy="3792392"/>
          </a:xfrm>
          <a:prstGeom prst="rect">
            <a:avLst/>
          </a:prstGeom>
        </p:spPr>
      </p:pic>
      <p:sp>
        <p:nvSpPr>
          <p:cNvPr id="33795" name="Titre 3"/>
          <p:cNvSpPr>
            <a:spLocks noGrp="1"/>
          </p:cNvSpPr>
          <p:nvPr>
            <p:ph type="title"/>
          </p:nvPr>
        </p:nvSpPr>
        <p:spPr>
          <a:xfrm>
            <a:off x="341870" y="158265"/>
            <a:ext cx="8229600" cy="857250"/>
          </a:xfrm>
        </p:spPr>
        <p:txBody>
          <a:bodyPr/>
          <a:lstStyle/>
          <a:p>
            <a:r>
              <a:rPr lang="fr-FR" altLang="en-US" sz="2400" dirty="0" smtClean="0"/>
              <a:t>Mode opératoire</a:t>
            </a:r>
            <a:br>
              <a:rPr lang="fr-FR" altLang="en-US" sz="2400" dirty="0" smtClean="0"/>
            </a:br>
            <a:r>
              <a:rPr lang="fr-FR" altLang="en-US" dirty="0" smtClean="0"/>
              <a:t>MIGO – Effectuer l’entrée de marchandises 1/2</a:t>
            </a:r>
            <a:endParaRPr lang="en-US" altLang="en-US" dirty="0" smtClean="0"/>
          </a:p>
        </p:txBody>
      </p:sp>
      <p:grpSp>
        <p:nvGrpSpPr>
          <p:cNvPr id="33794" name="Groupe 33793"/>
          <p:cNvGrpSpPr/>
          <p:nvPr/>
        </p:nvGrpSpPr>
        <p:grpSpPr>
          <a:xfrm>
            <a:off x="5499272" y="287420"/>
            <a:ext cx="3315234" cy="3739485"/>
            <a:chOff x="424889" y="1232489"/>
            <a:chExt cx="3315234" cy="3739485"/>
          </a:xfrm>
        </p:grpSpPr>
        <p:sp>
          <p:nvSpPr>
            <p:cNvPr id="8" name="ZoneTexte 7"/>
            <p:cNvSpPr txBox="1"/>
            <p:nvPr/>
          </p:nvSpPr>
          <p:spPr>
            <a:xfrm>
              <a:off x="581025" y="1232489"/>
              <a:ext cx="3159098" cy="3739485"/>
            </a:xfrm>
            <a:prstGeom prst="rect">
              <a:avLst/>
            </a:prstGeom>
            <a:noFill/>
          </p:spPr>
          <p:txBody>
            <a:bodyPr wrap="square" rtlCol="0">
              <a:spAutoFit/>
            </a:bodyPr>
            <a:lstStyle/>
            <a:p>
              <a:pPr>
                <a:spcBef>
                  <a:spcPts val="300"/>
                </a:spcBef>
                <a:spcAft>
                  <a:spcPts val="300"/>
                </a:spcAft>
              </a:pPr>
              <a:r>
                <a:rPr lang="fr-FR" sz="1100" dirty="0" smtClean="0">
                  <a:solidFill>
                    <a:srgbClr val="4D4F53"/>
                  </a:solidFill>
                </a:rPr>
                <a:t>Sélectionner une « Entrée de marchandises » en référence à une « Commande d’achat »</a:t>
              </a:r>
              <a:endParaRPr lang="fr-FR" sz="1100" dirty="0">
                <a:solidFill>
                  <a:srgbClr val="4D4F53"/>
                </a:solidFill>
              </a:endParaRPr>
            </a:p>
            <a:p>
              <a:pPr>
                <a:spcBef>
                  <a:spcPts val="300"/>
                </a:spcBef>
                <a:spcAft>
                  <a:spcPts val="300"/>
                </a:spcAft>
              </a:pPr>
              <a:r>
                <a:rPr lang="fr-FR" sz="1100" dirty="0" smtClean="0">
                  <a:solidFill>
                    <a:srgbClr val="4D4F53"/>
                  </a:solidFill>
                </a:rPr>
                <a:t>Renseigner le numéro de la CA</a:t>
              </a:r>
            </a:p>
            <a:p>
              <a:pPr>
                <a:spcBef>
                  <a:spcPts val="300"/>
                </a:spcBef>
                <a:spcAft>
                  <a:spcPts val="300"/>
                </a:spcAft>
              </a:pPr>
              <a:r>
                <a:rPr lang="fr-FR" sz="1100" dirty="0" smtClean="0">
                  <a:solidFill>
                    <a:srgbClr val="4D4F53"/>
                  </a:solidFill>
                </a:rPr>
                <a:t>Vérifier le code mouvement  : 101 pour EM</a:t>
              </a:r>
            </a:p>
            <a:p>
              <a:pPr>
                <a:spcBef>
                  <a:spcPts val="300"/>
                </a:spcBef>
                <a:spcAft>
                  <a:spcPts val="300"/>
                </a:spcAft>
              </a:pPr>
              <a:r>
                <a:rPr lang="fr-FR" sz="1100" dirty="0" smtClean="0">
                  <a:solidFill>
                    <a:srgbClr val="4D4F53"/>
                  </a:solidFill>
                </a:rPr>
                <a:t>Appuyer sur Entrer</a:t>
              </a:r>
              <a:endParaRPr lang="fr-FR" sz="1100" dirty="0">
                <a:solidFill>
                  <a:srgbClr val="4D4F53"/>
                </a:solidFill>
              </a:endParaRPr>
            </a:p>
            <a:p>
              <a:pPr>
                <a:spcBef>
                  <a:spcPts val="300"/>
                </a:spcBef>
                <a:spcAft>
                  <a:spcPts val="300"/>
                </a:spcAft>
              </a:pPr>
              <a:r>
                <a:rPr lang="fr-FR" sz="1100" dirty="0" smtClean="0">
                  <a:solidFill>
                    <a:srgbClr val="4D4F53"/>
                  </a:solidFill>
                </a:rPr>
                <a:t>Pour chaque poste, il est possible de les sélectionner en cliquant sur le n° de ligne et vérifier les données dans chaque onglet</a:t>
              </a:r>
              <a:endParaRPr lang="fr-FR" sz="1100" dirty="0">
                <a:solidFill>
                  <a:srgbClr val="4D4F53"/>
                </a:solidFill>
              </a:endParaRPr>
            </a:p>
            <a:p>
              <a:pPr>
                <a:spcBef>
                  <a:spcPts val="300"/>
                </a:spcBef>
                <a:spcAft>
                  <a:spcPts val="300"/>
                </a:spcAft>
              </a:pPr>
              <a:r>
                <a:rPr lang="fr-FR" sz="1100" dirty="0" smtClean="0">
                  <a:solidFill>
                    <a:srgbClr val="4D4F53"/>
                  </a:solidFill>
                </a:rPr>
                <a:t>Dans l’onglet « Lot » pour les articles gérés par DLC il faut renseigner la DLC</a:t>
              </a:r>
              <a:endParaRPr lang="fr-FR" sz="1100" dirty="0">
                <a:solidFill>
                  <a:srgbClr val="4D4F53"/>
                </a:solidFill>
              </a:endParaRPr>
            </a:p>
            <a:p>
              <a:pPr>
                <a:spcBef>
                  <a:spcPts val="300"/>
                </a:spcBef>
                <a:spcAft>
                  <a:spcPts val="300"/>
                </a:spcAft>
              </a:pPr>
              <a:r>
                <a:rPr lang="fr-FR" sz="1100" dirty="0" smtClean="0">
                  <a:solidFill>
                    <a:srgbClr val="4D4F53"/>
                  </a:solidFill>
                </a:rPr>
                <a:t>Cocher les cases « Postes OK » pour chaque poste à réceptionner ainsi que la case d’impression </a:t>
              </a:r>
            </a:p>
            <a:p>
              <a:pPr>
                <a:spcBef>
                  <a:spcPts val="300"/>
                </a:spcBef>
                <a:spcAft>
                  <a:spcPts val="300"/>
                </a:spcAft>
              </a:pPr>
              <a:r>
                <a:rPr lang="fr-FR" sz="1100" dirty="0" smtClean="0">
                  <a:solidFill>
                    <a:srgbClr val="4D4F53"/>
                  </a:solidFill>
                </a:rPr>
                <a:t>Cliquer sur « Contrôler » : un message avertit que des lots sont créés</a:t>
              </a:r>
            </a:p>
            <a:p>
              <a:pPr>
                <a:spcBef>
                  <a:spcPts val="300"/>
                </a:spcBef>
                <a:spcAft>
                  <a:spcPts val="300"/>
                </a:spcAft>
              </a:pPr>
              <a:r>
                <a:rPr lang="fr-FR" sz="1100" dirty="0" smtClean="0">
                  <a:solidFill>
                    <a:srgbClr val="4D4F53"/>
                  </a:solidFill>
                </a:rPr>
                <a:t>Cliquer sur « Suite »</a:t>
              </a:r>
            </a:p>
            <a:p>
              <a:pPr>
                <a:spcBef>
                  <a:spcPts val="300"/>
                </a:spcBef>
                <a:spcAft>
                  <a:spcPts val="300"/>
                </a:spcAft>
              </a:pPr>
              <a:r>
                <a:rPr lang="fr-FR" sz="1100" dirty="0" smtClean="0">
                  <a:solidFill>
                    <a:srgbClr val="4D4F53"/>
                  </a:solidFill>
                </a:rPr>
                <a:t>Enregistrer : le message suivant apparaît </a:t>
              </a:r>
            </a:p>
            <a:p>
              <a:pPr>
                <a:spcBef>
                  <a:spcPts val="300"/>
                </a:spcBef>
                <a:spcAft>
                  <a:spcPts val="300"/>
                </a:spcAft>
              </a:pPr>
              <a:endParaRPr lang="fr-FR" sz="1100" dirty="0" smtClean="0">
                <a:solidFill>
                  <a:srgbClr val="4D4F53"/>
                </a:solidFill>
              </a:endParaRPr>
            </a:p>
          </p:txBody>
        </p:sp>
        <p:sp>
          <p:nvSpPr>
            <p:cNvPr id="36" name="Ellipse 35"/>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4889" y="16578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4889" y="19494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4889" y="219842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2" name="Ellipse 31"/>
            <p:cNvSpPr/>
            <p:nvPr/>
          </p:nvSpPr>
          <p:spPr>
            <a:xfrm>
              <a:off x="424889" y="29924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60" name="Ellipse 59"/>
            <p:cNvSpPr/>
            <p:nvPr/>
          </p:nvSpPr>
          <p:spPr>
            <a:xfrm>
              <a:off x="424889" y="24990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8" name="Ellipse 67"/>
            <p:cNvSpPr/>
            <p:nvPr/>
          </p:nvSpPr>
          <p:spPr>
            <a:xfrm>
              <a:off x="424889" y="34126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4" name="Ellipse 43"/>
            <p:cNvSpPr/>
            <p:nvPr/>
          </p:nvSpPr>
          <p:spPr>
            <a:xfrm>
              <a:off x="424889" y="38250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7" name="Ellipse 46"/>
            <p:cNvSpPr/>
            <p:nvPr/>
          </p:nvSpPr>
          <p:spPr>
            <a:xfrm>
              <a:off x="424889" y="42155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48" name="Ellipse 47"/>
            <p:cNvSpPr/>
            <p:nvPr/>
          </p:nvSpPr>
          <p:spPr>
            <a:xfrm>
              <a:off x="424889" y="44538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grpSp>
      <p:pic>
        <p:nvPicPr>
          <p:cNvPr id="6" name="Image 5"/>
          <p:cNvPicPr>
            <a:picLocks noChangeAspect="1"/>
          </p:cNvPicPr>
          <p:nvPr/>
        </p:nvPicPr>
        <p:blipFill>
          <a:blip r:embed="rId4"/>
          <a:stretch>
            <a:fillRect/>
          </a:stretch>
        </p:blipFill>
        <p:spPr>
          <a:xfrm>
            <a:off x="2955247" y="3706430"/>
            <a:ext cx="3002846" cy="1178946"/>
          </a:xfrm>
          <a:prstGeom prst="rect">
            <a:avLst/>
          </a:prstGeom>
        </p:spPr>
      </p:pic>
      <p:sp>
        <p:nvSpPr>
          <p:cNvPr id="29" name="Rectangle 28"/>
          <p:cNvSpPr/>
          <p:nvPr/>
        </p:nvSpPr>
        <p:spPr>
          <a:xfrm>
            <a:off x="231101" y="1333227"/>
            <a:ext cx="1548338" cy="18138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9" name="Rectangle 68"/>
          <p:cNvSpPr/>
          <p:nvPr/>
        </p:nvSpPr>
        <p:spPr>
          <a:xfrm>
            <a:off x="1786792" y="1350660"/>
            <a:ext cx="378224" cy="1458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3" name="Rectangle 72"/>
          <p:cNvSpPr/>
          <p:nvPr/>
        </p:nvSpPr>
        <p:spPr>
          <a:xfrm>
            <a:off x="4525718" y="1368805"/>
            <a:ext cx="170460" cy="1458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4" name="Rectangle 73"/>
          <p:cNvSpPr/>
          <p:nvPr/>
        </p:nvSpPr>
        <p:spPr>
          <a:xfrm>
            <a:off x="606615" y="4633310"/>
            <a:ext cx="410481" cy="13148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5" name="Rectangle 74"/>
          <p:cNvSpPr/>
          <p:nvPr/>
        </p:nvSpPr>
        <p:spPr>
          <a:xfrm>
            <a:off x="2157512" y="2342622"/>
            <a:ext cx="111556" cy="36803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6" name="Rectangle 75"/>
          <p:cNvSpPr/>
          <p:nvPr/>
        </p:nvSpPr>
        <p:spPr>
          <a:xfrm>
            <a:off x="2290708" y="3298809"/>
            <a:ext cx="226714" cy="18401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7" name="Rectangle 76"/>
          <p:cNvSpPr/>
          <p:nvPr/>
        </p:nvSpPr>
        <p:spPr>
          <a:xfrm>
            <a:off x="4023552" y="4521900"/>
            <a:ext cx="672626" cy="18401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8" name="Connecteur en angle 17"/>
          <p:cNvCxnSpPr/>
          <p:nvPr/>
        </p:nvCxnSpPr>
        <p:spPr>
          <a:xfrm rot="16200000" flipH="1">
            <a:off x="2508037" y="3510912"/>
            <a:ext cx="598401" cy="579631"/>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495508" y="1190067"/>
            <a:ext cx="344580" cy="920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9" name="Rectangle 78"/>
          <p:cNvSpPr/>
          <p:nvPr/>
        </p:nvSpPr>
        <p:spPr>
          <a:xfrm>
            <a:off x="1924214" y="1168625"/>
            <a:ext cx="389071" cy="142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1" name="Ellipse 80"/>
          <p:cNvSpPr/>
          <p:nvPr/>
        </p:nvSpPr>
        <p:spPr>
          <a:xfrm>
            <a:off x="101887" y="1423565"/>
            <a:ext cx="156803" cy="16324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82" name="Ellipse 81"/>
          <p:cNvSpPr/>
          <p:nvPr/>
        </p:nvSpPr>
        <p:spPr>
          <a:xfrm>
            <a:off x="1701371" y="142356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3" name="Ellipse 82"/>
          <p:cNvSpPr/>
          <p:nvPr/>
        </p:nvSpPr>
        <p:spPr>
          <a:xfrm>
            <a:off x="4806729" y="13327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84" name="Ellipse 83"/>
          <p:cNvSpPr/>
          <p:nvPr/>
        </p:nvSpPr>
        <p:spPr>
          <a:xfrm>
            <a:off x="212438" y="24350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85" name="Ellipse 84"/>
          <p:cNvSpPr/>
          <p:nvPr/>
        </p:nvSpPr>
        <p:spPr>
          <a:xfrm>
            <a:off x="4759693" y="453293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86" name="Ellipse 85"/>
          <p:cNvSpPr/>
          <p:nvPr/>
        </p:nvSpPr>
        <p:spPr>
          <a:xfrm>
            <a:off x="1045444" y="459049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87" name="Ellipse 86"/>
          <p:cNvSpPr/>
          <p:nvPr/>
        </p:nvSpPr>
        <p:spPr>
          <a:xfrm>
            <a:off x="1975904" y="263337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88" name="Ellipse 87"/>
          <p:cNvSpPr/>
          <p:nvPr/>
        </p:nvSpPr>
        <p:spPr>
          <a:xfrm>
            <a:off x="1305721" y="11353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90" name="Ellipse 89"/>
          <p:cNvSpPr/>
          <p:nvPr/>
        </p:nvSpPr>
        <p:spPr>
          <a:xfrm>
            <a:off x="2352920" y="115147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12" name="Rectangle 11"/>
          <p:cNvSpPr/>
          <p:nvPr/>
        </p:nvSpPr>
        <p:spPr>
          <a:xfrm>
            <a:off x="2955247" y="3751256"/>
            <a:ext cx="3002846" cy="1134120"/>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3" name="Image 12"/>
          <p:cNvPicPr>
            <a:picLocks noChangeAspect="1"/>
          </p:cNvPicPr>
          <p:nvPr/>
        </p:nvPicPr>
        <p:blipFill>
          <a:blip r:embed="rId5"/>
          <a:stretch>
            <a:fillRect/>
          </a:stretch>
        </p:blipFill>
        <p:spPr>
          <a:xfrm>
            <a:off x="6084567" y="3800727"/>
            <a:ext cx="2886075" cy="209550"/>
          </a:xfrm>
          <a:prstGeom prst="rect">
            <a:avLst/>
          </a:prstGeom>
        </p:spPr>
      </p:pic>
      <p:sp>
        <p:nvSpPr>
          <p:cNvPr id="93" name="Rectangle 92"/>
          <p:cNvSpPr/>
          <p:nvPr/>
        </p:nvSpPr>
        <p:spPr>
          <a:xfrm>
            <a:off x="528954" y="2087731"/>
            <a:ext cx="182246" cy="13684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4" name="Ellipse 93"/>
          <p:cNvSpPr/>
          <p:nvPr/>
        </p:nvSpPr>
        <p:spPr>
          <a:xfrm>
            <a:off x="212438" y="20683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Tree>
    <p:extLst>
      <p:ext uri="{BB962C8B-B14F-4D97-AF65-F5344CB8AC3E}">
        <p14:creationId xmlns:p14="http://schemas.microsoft.com/office/powerpoint/2010/main" val="28142681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a:xfrm>
            <a:off x="341870" y="158265"/>
            <a:ext cx="8229600" cy="857250"/>
          </a:xfrm>
        </p:spPr>
        <p:txBody>
          <a:bodyPr/>
          <a:lstStyle/>
          <a:p>
            <a:r>
              <a:rPr lang="fr-FR" altLang="en-US" sz="2400" dirty="0" smtClean="0"/>
              <a:t>Mode opératoire</a:t>
            </a:r>
            <a:br>
              <a:rPr lang="fr-FR" altLang="en-US" sz="2400" dirty="0" smtClean="0"/>
            </a:br>
            <a:r>
              <a:rPr lang="fr-FR" altLang="en-US" dirty="0"/>
              <a:t>MIGO – Effectuer l’entrée de marchandises </a:t>
            </a:r>
            <a:r>
              <a:rPr lang="fr-FR" altLang="en-US" dirty="0" smtClean="0"/>
              <a:t>2/2</a:t>
            </a:r>
            <a:endParaRPr lang="en-US" altLang="en-US" dirty="0" smtClean="0"/>
          </a:p>
        </p:txBody>
      </p:sp>
      <p:grpSp>
        <p:nvGrpSpPr>
          <p:cNvPr id="33794" name="Groupe 33793"/>
          <p:cNvGrpSpPr/>
          <p:nvPr/>
        </p:nvGrpSpPr>
        <p:grpSpPr>
          <a:xfrm>
            <a:off x="5621648" y="1787675"/>
            <a:ext cx="3315234" cy="1446550"/>
            <a:chOff x="424889" y="1232489"/>
            <a:chExt cx="3315234" cy="1446550"/>
          </a:xfrm>
        </p:grpSpPr>
        <p:sp>
          <p:nvSpPr>
            <p:cNvPr id="8" name="ZoneTexte 7"/>
            <p:cNvSpPr txBox="1"/>
            <p:nvPr/>
          </p:nvSpPr>
          <p:spPr>
            <a:xfrm>
              <a:off x="581025" y="1232489"/>
              <a:ext cx="3159098" cy="1446550"/>
            </a:xfrm>
            <a:prstGeom prst="rect">
              <a:avLst/>
            </a:prstGeom>
            <a:noFill/>
          </p:spPr>
          <p:txBody>
            <a:bodyPr wrap="square" rtlCol="0">
              <a:spAutoFit/>
            </a:bodyPr>
            <a:lstStyle/>
            <a:p>
              <a:r>
                <a:rPr lang="fr-FR" sz="1100" dirty="0" smtClean="0">
                  <a:solidFill>
                    <a:srgbClr val="4D4F53"/>
                  </a:solidFill>
                </a:rPr>
                <a:t>L’écran de création de l’ordre de transfert s’ouvre : appuyer sur Entrer</a:t>
              </a:r>
            </a:p>
            <a:p>
              <a:endParaRPr lang="fr-FR" sz="1100" dirty="0" smtClean="0">
                <a:solidFill>
                  <a:srgbClr val="4D4F53"/>
                </a:solidFill>
              </a:endParaRPr>
            </a:p>
            <a:p>
              <a:r>
                <a:rPr lang="fr-FR" sz="1100" dirty="0" smtClean="0">
                  <a:solidFill>
                    <a:srgbClr val="4D4F53"/>
                  </a:solidFill>
                </a:rPr>
                <a:t>L’écran montre les postes pour lesquels on fait l’ordre de transfert : appuyer sur </a:t>
              </a:r>
            </a:p>
            <a:p>
              <a:endParaRPr lang="fr-FR" sz="1100" dirty="0">
                <a:solidFill>
                  <a:srgbClr val="4D4F53"/>
                </a:solidFill>
              </a:endParaRPr>
            </a:p>
            <a:p>
              <a:r>
                <a:rPr lang="fr-FR" sz="1100" dirty="0" smtClean="0">
                  <a:solidFill>
                    <a:srgbClr val="4D4F53"/>
                  </a:solidFill>
                </a:rPr>
                <a:t>Enregistrer : un message de confirmation s’affiche</a:t>
              </a:r>
            </a:p>
            <a:p>
              <a:endParaRPr lang="fr-FR" sz="1100" dirty="0">
                <a:solidFill>
                  <a:srgbClr val="4D4F53"/>
                </a:solidFill>
              </a:endParaRPr>
            </a:p>
          </p:txBody>
        </p:sp>
        <p:sp>
          <p:nvSpPr>
            <p:cNvPr id="36" name="Ellipse 35"/>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4889" y="17899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60" name="Ellipse 59"/>
            <p:cNvSpPr/>
            <p:nvPr/>
          </p:nvSpPr>
          <p:spPr>
            <a:xfrm>
              <a:off x="424889" y="229239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4" name="Image 3"/>
          <p:cNvPicPr>
            <a:picLocks noChangeAspect="1"/>
          </p:cNvPicPr>
          <p:nvPr/>
        </p:nvPicPr>
        <p:blipFill>
          <a:blip r:embed="rId3"/>
          <a:stretch>
            <a:fillRect/>
          </a:stretch>
        </p:blipFill>
        <p:spPr>
          <a:xfrm>
            <a:off x="997326" y="959239"/>
            <a:ext cx="3159806" cy="1715134"/>
          </a:xfrm>
          <a:prstGeom prst="rect">
            <a:avLst/>
          </a:prstGeom>
        </p:spPr>
      </p:pic>
      <p:pic>
        <p:nvPicPr>
          <p:cNvPr id="11" name="Image 10"/>
          <p:cNvPicPr>
            <a:picLocks noChangeAspect="1"/>
          </p:cNvPicPr>
          <p:nvPr/>
        </p:nvPicPr>
        <p:blipFill>
          <a:blip r:embed="rId4"/>
          <a:stretch>
            <a:fillRect/>
          </a:stretch>
        </p:blipFill>
        <p:spPr>
          <a:xfrm>
            <a:off x="341870" y="2762571"/>
            <a:ext cx="4470718" cy="2091344"/>
          </a:xfrm>
          <a:prstGeom prst="rect">
            <a:avLst/>
          </a:prstGeom>
        </p:spPr>
      </p:pic>
      <p:sp>
        <p:nvSpPr>
          <p:cNvPr id="30" name="Rectangle 29"/>
          <p:cNvSpPr/>
          <p:nvPr/>
        </p:nvSpPr>
        <p:spPr>
          <a:xfrm>
            <a:off x="341871" y="3215470"/>
            <a:ext cx="775730" cy="1796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Rectangle 43"/>
          <p:cNvSpPr/>
          <p:nvPr/>
        </p:nvSpPr>
        <p:spPr>
          <a:xfrm>
            <a:off x="1533908" y="2773203"/>
            <a:ext cx="272314" cy="1905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3" name="Image 12"/>
          <p:cNvPicPr>
            <a:picLocks noChangeAspect="1"/>
          </p:cNvPicPr>
          <p:nvPr/>
        </p:nvPicPr>
        <p:blipFill>
          <a:blip r:embed="rId5"/>
          <a:stretch>
            <a:fillRect/>
          </a:stretch>
        </p:blipFill>
        <p:spPr>
          <a:xfrm>
            <a:off x="7776044" y="2527811"/>
            <a:ext cx="823452" cy="139692"/>
          </a:xfrm>
          <a:prstGeom prst="rect">
            <a:avLst/>
          </a:prstGeom>
        </p:spPr>
      </p:pic>
      <p:cxnSp>
        <p:nvCxnSpPr>
          <p:cNvPr id="45" name="Connecteur en angle 44"/>
          <p:cNvCxnSpPr/>
          <p:nvPr/>
        </p:nvCxnSpPr>
        <p:spPr>
          <a:xfrm rot="16200000" flipH="1">
            <a:off x="3087300" y="1665328"/>
            <a:ext cx="2007557" cy="1092728"/>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8" name="Image 17"/>
          <p:cNvPicPr>
            <a:picLocks noChangeAspect="1"/>
          </p:cNvPicPr>
          <p:nvPr/>
        </p:nvPicPr>
        <p:blipFill>
          <a:blip r:embed="rId6"/>
          <a:stretch>
            <a:fillRect/>
          </a:stretch>
        </p:blipFill>
        <p:spPr>
          <a:xfrm>
            <a:off x="5961920" y="3150464"/>
            <a:ext cx="2790825" cy="257175"/>
          </a:xfrm>
          <a:prstGeom prst="rect">
            <a:avLst/>
          </a:prstGeom>
        </p:spPr>
      </p:pic>
      <p:sp>
        <p:nvSpPr>
          <p:cNvPr id="19" name="Flèche droite 18"/>
          <p:cNvSpPr/>
          <p:nvPr/>
        </p:nvSpPr>
        <p:spPr>
          <a:xfrm>
            <a:off x="5708707" y="3215471"/>
            <a:ext cx="156136" cy="89810"/>
          </a:xfrm>
          <a:prstGeom prst="rightArrow">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8120458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1879497"/>
          </a:xfrm>
        </p:spPr>
        <p:txBody>
          <a:bodyPr/>
          <a:lstStyle/>
          <a:p>
            <a:r>
              <a:rPr lang="fr-FR" sz="1400" dirty="0" smtClean="0"/>
              <a:t>Un code mouvement correspond à un type de mouvement de stock. </a:t>
            </a:r>
          </a:p>
          <a:p>
            <a:r>
              <a:rPr lang="fr-FR" sz="1400" dirty="0" smtClean="0"/>
              <a:t>On retrouve notamment des codes en 1** pour les entrées de marchandises, en 2** pour les sorties de marchandises, en 3** pour les transferts, en 7** pour les inventaires …</a:t>
            </a:r>
          </a:p>
          <a:p>
            <a:r>
              <a:rPr lang="fr-FR" sz="1400" dirty="0" smtClean="0"/>
              <a:t>En général, chaque code mouvement a un code d’annulation qui est l’incrément en +1 du code à annuler.</a:t>
            </a:r>
            <a:endParaRPr lang="fr-FR" sz="1400" dirty="0"/>
          </a:p>
        </p:txBody>
      </p:sp>
      <p:sp>
        <p:nvSpPr>
          <p:cNvPr id="36869" name="Espace réservé du numéro de diapositive 5"/>
          <p:cNvSpPr>
            <a:spLocks noGrp="1"/>
          </p:cNvSpPr>
          <p:nvPr>
            <p:ph type="sldNum" sz="quarter" idx="11"/>
          </p:nvPr>
        </p:nvSpPr>
        <p:spPr bwMode="auto">
          <a:xfrm>
            <a:off x="6553200" y="4627779"/>
            <a:ext cx="21336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887790C2-CA89-42CE-8E97-41FFD2896915}" type="slidenum">
              <a:rPr lang="fr-FR" altLang="en-US" sz="750"/>
              <a:pPr eaLnBrk="1" hangingPunct="1"/>
              <a:t>13</a:t>
            </a:fld>
            <a:endParaRPr lang="fr-FR" altLang="en-US" sz="75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Code mouvement </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5387605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44945" y="1985487"/>
            <a:ext cx="6175055" cy="2642292"/>
          </a:xfrm>
        </p:spPr>
        <p:txBody>
          <a:bodyPr/>
          <a:lstStyle/>
          <a:p>
            <a:r>
              <a:rPr lang="fr-CA" sz="1400" dirty="0"/>
              <a:t>La gestion par lots, avec la possibilité de définir des informations complémentaires au niveau de ces lots, est quelque chose qui n’est pas géré dans la solution actuelle.</a:t>
            </a:r>
            <a:endParaRPr lang="en-US" sz="1400" dirty="0"/>
          </a:p>
          <a:p>
            <a:r>
              <a:rPr lang="fr-CA" sz="1400" dirty="0"/>
              <a:t>La gestion des lots engendre une charge de travail additionnelle car elle nécessite un comptage et une gestion des données à une maille plus fine que la maille article. Elle nécessite également des besoins d’étiquetage afin de pouvoir séparer physiquement les différents lots d’un même article.</a:t>
            </a:r>
            <a:endParaRPr lang="en-US" sz="1400" dirty="0"/>
          </a:p>
          <a:p>
            <a:r>
              <a:rPr lang="fr-CA" sz="1400" dirty="0"/>
              <a:t>En revanche, cette gestion des lots permet de répondre aux besoins exprimés par la CBG en termes de processus cible, car elle permet </a:t>
            </a:r>
            <a:r>
              <a:rPr lang="fr-CA" sz="1400" dirty="0" smtClean="0"/>
              <a:t>:</a:t>
            </a:r>
            <a:r>
              <a:rPr lang="en-US" sz="1400" dirty="0"/>
              <a:t> </a:t>
            </a:r>
            <a:r>
              <a:rPr lang="fr-CA" sz="1400" dirty="0"/>
              <a:t>u</a:t>
            </a:r>
            <a:r>
              <a:rPr lang="fr-CA" sz="1400" dirty="0" smtClean="0"/>
              <a:t>ne </a:t>
            </a:r>
            <a:r>
              <a:rPr lang="fr-CA" sz="1400" dirty="0"/>
              <a:t>traçabilité tout au long de la chaîne d’approvisionnement</a:t>
            </a:r>
            <a:r>
              <a:rPr lang="fr-CA" sz="1400" dirty="0" smtClean="0"/>
              <a:t>, la </a:t>
            </a:r>
            <a:r>
              <a:rPr lang="fr-CA" sz="1400" dirty="0"/>
              <a:t>gestion de données additionnelles </a:t>
            </a:r>
            <a:r>
              <a:rPr lang="fr-CA" sz="1400" dirty="0" smtClean="0"/>
              <a:t>(numéro </a:t>
            </a:r>
            <a:r>
              <a:rPr lang="fr-CA" sz="1400" dirty="0"/>
              <a:t>de lot fournisseur, </a:t>
            </a:r>
            <a:r>
              <a:rPr lang="fr-CA" sz="1400" dirty="0" smtClean="0"/>
              <a:t>date </a:t>
            </a:r>
            <a:r>
              <a:rPr lang="fr-CA" sz="1400" dirty="0"/>
              <a:t>de fabrication, </a:t>
            </a:r>
            <a:r>
              <a:rPr lang="fr-CA" sz="1400" dirty="0" smtClean="0"/>
              <a:t>date </a:t>
            </a:r>
            <a:r>
              <a:rPr lang="fr-CA" sz="1400" dirty="0"/>
              <a:t>de péremption, etc</a:t>
            </a:r>
            <a:r>
              <a:rPr lang="fr-CA" sz="1400" dirty="0" smtClean="0"/>
              <a:t>.).</a:t>
            </a:r>
            <a:endParaRPr lang="en-US" sz="1400" dirty="0"/>
          </a:p>
          <a:p>
            <a:r>
              <a:rPr lang="fr-FR" sz="1400" dirty="0" smtClean="0"/>
              <a:t> </a:t>
            </a:r>
            <a:endParaRPr lang="en-US"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Lot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752579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1879497"/>
          </a:xfrm>
        </p:spPr>
        <p:txBody>
          <a:bodyPr/>
          <a:lstStyle/>
          <a:p>
            <a:r>
              <a:rPr lang="fr-FR" sz="1400" dirty="0" smtClean="0"/>
              <a:t>Un ordre de transfert est un document permettant de réaliser des mouvements de stocks dans WM. </a:t>
            </a:r>
          </a:p>
          <a:p>
            <a:r>
              <a:rPr lang="fr-FR" sz="1400" dirty="0" smtClean="0"/>
              <a:t>A l’origine de la création d’ordre de transfert on peut retrouver différents mouvements comme : un prélèvement, une entrée en stock, un transfert, un inventaire. </a:t>
            </a:r>
          </a:p>
          <a:p>
            <a:r>
              <a:rPr lang="fr-FR" sz="1400" dirty="0" smtClean="0"/>
              <a:t>Un ordre de transfert contient diverses informations comme l’article à déplacer, la quantité à déplacer, les emplacements cédants et prenants. </a:t>
            </a:r>
            <a:endParaRPr lang="en-US"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Ordre de transfert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0211376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a:t>
            </a:r>
            <a:r>
              <a:rPr lang="fr-FR" altLang="en-US" sz="2400" dirty="0" smtClean="0"/>
              <a:t>opératoire</a:t>
            </a:r>
            <a:br>
              <a:rPr lang="fr-FR" altLang="en-US" sz="2400" dirty="0" smtClean="0"/>
            </a:br>
            <a:r>
              <a:rPr lang="fr-FR" altLang="en-US" dirty="0" smtClean="0"/>
              <a:t>MMBE </a:t>
            </a:r>
            <a:r>
              <a:rPr lang="fr-FR" altLang="en-US" dirty="0"/>
              <a:t>– Afficher la synthèse du </a:t>
            </a:r>
            <a:r>
              <a:rPr lang="fr-FR" altLang="en-US" dirty="0" smtClean="0"/>
              <a:t>stock MM</a:t>
            </a:r>
            <a:endParaRPr lang="en-US" dirty="0"/>
          </a:p>
        </p:txBody>
      </p:sp>
      <p:grpSp>
        <p:nvGrpSpPr>
          <p:cNvPr id="3" name="Groupe 2"/>
          <p:cNvGrpSpPr/>
          <p:nvPr/>
        </p:nvGrpSpPr>
        <p:grpSpPr>
          <a:xfrm>
            <a:off x="6103964" y="880397"/>
            <a:ext cx="2958500" cy="2462213"/>
            <a:chOff x="424889" y="1232489"/>
            <a:chExt cx="2958500" cy="2462213"/>
          </a:xfrm>
        </p:grpSpPr>
        <p:sp>
          <p:nvSpPr>
            <p:cNvPr id="4" name="ZoneTexte 3"/>
            <p:cNvSpPr txBox="1"/>
            <p:nvPr/>
          </p:nvSpPr>
          <p:spPr>
            <a:xfrm>
              <a:off x="581024" y="1232489"/>
              <a:ext cx="2802365" cy="2462213"/>
            </a:xfrm>
            <a:prstGeom prst="rect">
              <a:avLst/>
            </a:prstGeom>
            <a:noFill/>
          </p:spPr>
          <p:txBody>
            <a:bodyPr wrap="square" rtlCol="0">
              <a:spAutoFit/>
            </a:bodyPr>
            <a:lstStyle/>
            <a:p>
              <a:r>
                <a:rPr lang="fr-FR" sz="1100" dirty="0" smtClean="0">
                  <a:solidFill>
                    <a:srgbClr val="4D4F53"/>
                  </a:solidFill>
                </a:rPr>
                <a:t>Renseigner l’article pour lequel on veut visualiser le stock</a:t>
              </a:r>
            </a:p>
            <a:p>
              <a:endParaRPr lang="fr-FR" sz="1100" dirty="0" smtClean="0">
                <a:solidFill>
                  <a:srgbClr val="4D4F53"/>
                </a:solidFill>
              </a:endParaRPr>
            </a:p>
            <a:p>
              <a:r>
                <a:rPr lang="fr-FR" sz="1100" dirty="0" smtClean="0">
                  <a:solidFill>
                    <a:srgbClr val="4D4F53"/>
                  </a:solidFill>
                </a:rPr>
                <a:t>Entrer la division concerné (il est possible de la laisser vide pour voir toutes les division d’un coup)</a:t>
              </a:r>
              <a:endParaRPr lang="fr-FR" sz="1100" dirty="0">
                <a:solidFill>
                  <a:srgbClr val="4D4F53"/>
                </a:solidFill>
              </a:endParaRPr>
            </a:p>
            <a:p>
              <a:endParaRPr lang="fr-FR" sz="1100" dirty="0">
                <a:solidFill>
                  <a:srgbClr val="4D4F53"/>
                </a:solidFill>
              </a:endParaRPr>
            </a:p>
            <a:p>
              <a:r>
                <a:rPr lang="fr-FR" sz="1100" dirty="0" smtClean="0">
                  <a:solidFill>
                    <a:srgbClr val="4D4F53"/>
                  </a:solidFill>
                </a:rPr>
                <a:t>Choisir la version d’affichage 99</a:t>
              </a:r>
            </a:p>
            <a:p>
              <a:endParaRPr lang="fr-FR" sz="1100" dirty="0">
                <a:solidFill>
                  <a:srgbClr val="4D4F53"/>
                </a:solidFill>
              </a:endParaRPr>
            </a:p>
            <a:p>
              <a:r>
                <a:rPr lang="fr-FR" sz="1100" dirty="0" smtClean="0">
                  <a:solidFill>
                    <a:srgbClr val="4D4F53"/>
                  </a:solidFill>
                </a:rPr>
                <a:t>Laisser les cases cochées par défaut</a:t>
              </a:r>
            </a:p>
            <a:p>
              <a:endParaRPr lang="fr-FR" sz="1100" dirty="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La synthèse du stock s’affiche </a:t>
              </a:r>
            </a:p>
          </p:txBody>
        </p:sp>
        <p:sp>
          <p:nvSpPr>
            <p:cNvPr id="5" name="Ellipse 4"/>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424889" y="17734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424889" y="24411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9" name="Image 8"/>
          <p:cNvPicPr>
            <a:picLocks noChangeAspect="1"/>
          </p:cNvPicPr>
          <p:nvPr/>
        </p:nvPicPr>
        <p:blipFill>
          <a:blip r:embed="rId2"/>
          <a:stretch>
            <a:fillRect/>
          </a:stretch>
        </p:blipFill>
        <p:spPr>
          <a:xfrm>
            <a:off x="275798" y="1063625"/>
            <a:ext cx="3139902" cy="3198740"/>
          </a:xfrm>
          <a:prstGeom prst="rect">
            <a:avLst/>
          </a:prstGeom>
        </p:spPr>
      </p:pic>
      <p:pic>
        <p:nvPicPr>
          <p:cNvPr id="10" name="Image 9"/>
          <p:cNvPicPr>
            <a:picLocks noChangeAspect="1"/>
          </p:cNvPicPr>
          <p:nvPr/>
        </p:nvPicPr>
        <p:blipFill>
          <a:blip r:embed="rId3"/>
          <a:stretch>
            <a:fillRect/>
          </a:stretch>
        </p:blipFill>
        <p:spPr>
          <a:xfrm>
            <a:off x="1424842" y="3207938"/>
            <a:ext cx="841814" cy="932966"/>
          </a:xfrm>
          <a:prstGeom prst="rect">
            <a:avLst/>
          </a:prstGeom>
        </p:spPr>
      </p:pic>
      <p:pic>
        <p:nvPicPr>
          <p:cNvPr id="11" name="Image 10"/>
          <p:cNvPicPr>
            <a:picLocks noChangeAspect="1"/>
          </p:cNvPicPr>
          <p:nvPr/>
        </p:nvPicPr>
        <p:blipFill>
          <a:blip r:embed="rId4"/>
          <a:stretch>
            <a:fillRect/>
          </a:stretch>
        </p:blipFill>
        <p:spPr>
          <a:xfrm>
            <a:off x="2300523" y="2269630"/>
            <a:ext cx="3779426" cy="2705358"/>
          </a:xfrm>
          <a:prstGeom prst="rect">
            <a:avLst/>
          </a:prstGeom>
        </p:spPr>
      </p:pic>
      <p:sp>
        <p:nvSpPr>
          <p:cNvPr id="22" name="Ellipse 21"/>
          <p:cNvSpPr/>
          <p:nvPr/>
        </p:nvSpPr>
        <p:spPr>
          <a:xfrm>
            <a:off x="1268706" y="1517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3" name="Ellipse 22"/>
          <p:cNvSpPr/>
          <p:nvPr/>
        </p:nvSpPr>
        <p:spPr>
          <a:xfrm>
            <a:off x="1829530" y="16700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4" name="Ellipse 23"/>
          <p:cNvSpPr/>
          <p:nvPr/>
        </p:nvSpPr>
        <p:spPr>
          <a:xfrm>
            <a:off x="1319266" y="281240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6" name="Ellipse 25"/>
          <p:cNvSpPr/>
          <p:nvPr/>
        </p:nvSpPr>
        <p:spPr>
          <a:xfrm>
            <a:off x="6100228" y="24228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9" name="Ellipse 28"/>
          <p:cNvSpPr/>
          <p:nvPr/>
        </p:nvSpPr>
        <p:spPr>
          <a:xfrm>
            <a:off x="6103964" y="27565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7" name="Rectangle 26"/>
          <p:cNvSpPr/>
          <p:nvPr/>
        </p:nvSpPr>
        <p:spPr>
          <a:xfrm>
            <a:off x="1518428" y="1575950"/>
            <a:ext cx="626462" cy="9413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1518428" y="1707611"/>
            <a:ext cx="231350" cy="117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518428" y="2888282"/>
            <a:ext cx="137124"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1422401" y="3208875"/>
            <a:ext cx="844255" cy="932029"/>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36" name="Connecteur en angle 35"/>
          <p:cNvCxnSpPr/>
          <p:nvPr/>
        </p:nvCxnSpPr>
        <p:spPr>
          <a:xfrm rot="5400000">
            <a:off x="1465831" y="2975189"/>
            <a:ext cx="242321" cy="223177"/>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eur en angle 36"/>
          <p:cNvCxnSpPr>
            <a:endCxn id="11" idx="0"/>
          </p:cNvCxnSpPr>
          <p:nvPr/>
        </p:nvCxnSpPr>
        <p:spPr>
          <a:xfrm>
            <a:off x="457200" y="1300981"/>
            <a:ext cx="3733036" cy="968649"/>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flipV="1">
            <a:off x="288817" y="1217179"/>
            <a:ext cx="168383" cy="2041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9" name="Image 38"/>
          <p:cNvPicPr>
            <a:picLocks noChangeAspect="1"/>
          </p:cNvPicPr>
          <p:nvPr/>
        </p:nvPicPr>
        <p:blipFill>
          <a:blip r:embed="rId5"/>
          <a:stretch>
            <a:fillRect/>
          </a:stretch>
        </p:blipFill>
        <p:spPr>
          <a:xfrm>
            <a:off x="6905070" y="2746542"/>
            <a:ext cx="228600" cy="219075"/>
          </a:xfrm>
          <a:prstGeom prst="rect">
            <a:avLst/>
          </a:prstGeom>
        </p:spPr>
      </p:pic>
    </p:spTree>
    <p:extLst>
      <p:ext uri="{BB962C8B-B14F-4D97-AF65-F5344CB8AC3E}">
        <p14:creationId xmlns:p14="http://schemas.microsoft.com/office/powerpoint/2010/main" val="742005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1879497"/>
          </a:xfrm>
        </p:spPr>
        <p:txBody>
          <a:bodyPr/>
          <a:lstStyle/>
          <a:p>
            <a:r>
              <a:rPr lang="fr-FR" sz="1400" dirty="0" smtClean="0"/>
              <a:t>Dans SAP, le stock peut avoir 3 statuts différents :</a:t>
            </a:r>
          </a:p>
          <a:p>
            <a:pPr marL="285750" indent="-285750">
              <a:buFontTx/>
              <a:buChar char="-"/>
            </a:pPr>
            <a:r>
              <a:rPr lang="fr-FR" sz="1400" dirty="0" smtClean="0"/>
              <a:t>En utilisation libre : tous les mouvements sont possibles sur ce stock</a:t>
            </a:r>
          </a:p>
          <a:p>
            <a:pPr marL="285750" indent="-285750">
              <a:buFontTx/>
              <a:buChar char="-"/>
            </a:pPr>
            <a:r>
              <a:rPr lang="fr-FR" sz="1400" dirty="0" smtClean="0"/>
              <a:t>En contrôle qualité : le stock est en attente d’une confirmation de qualité</a:t>
            </a:r>
          </a:p>
          <a:p>
            <a:pPr marL="285750" indent="-285750">
              <a:buFontTx/>
              <a:buChar char="-"/>
            </a:pPr>
            <a:r>
              <a:rPr lang="fr-FR" sz="1400" dirty="0" smtClean="0"/>
              <a:t>Bloqué : le stock est non conforme, obsolète, endommagé, … et ne peut pas être utilisé pour tous les mouvements. </a:t>
            </a:r>
            <a:endParaRPr lang="fr-FR" sz="1400" dirty="0"/>
          </a:p>
          <a:p>
            <a:endParaRPr lang="fr-FR" sz="1400" dirty="0" smtClean="0"/>
          </a:p>
          <a:p>
            <a:endParaRPr lang="en-US"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Statut de stock</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3686769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MB90 </a:t>
            </a:r>
            <a:r>
              <a:rPr lang="fr-FR" altLang="en-US" dirty="0"/>
              <a:t>– </a:t>
            </a:r>
            <a:r>
              <a:rPr lang="fr-FR" altLang="en-US" dirty="0" smtClean="0"/>
              <a:t>Imprimer les étiquettes de lots et le bon de réception</a:t>
            </a:r>
            <a:endParaRPr lang="en-US" dirty="0"/>
          </a:p>
        </p:txBody>
      </p:sp>
      <p:grpSp>
        <p:nvGrpSpPr>
          <p:cNvPr id="7" name="Groupe 6"/>
          <p:cNvGrpSpPr/>
          <p:nvPr/>
        </p:nvGrpSpPr>
        <p:grpSpPr>
          <a:xfrm>
            <a:off x="5852551" y="1009649"/>
            <a:ext cx="3164197" cy="3647152"/>
            <a:chOff x="424889" y="1232489"/>
            <a:chExt cx="3015889" cy="3647152"/>
          </a:xfrm>
        </p:grpSpPr>
        <p:sp>
          <p:nvSpPr>
            <p:cNvPr id="8" name="ZoneTexte 7"/>
            <p:cNvSpPr txBox="1"/>
            <p:nvPr/>
          </p:nvSpPr>
          <p:spPr>
            <a:xfrm>
              <a:off x="581024" y="1232489"/>
              <a:ext cx="2859754" cy="3647152"/>
            </a:xfrm>
            <a:prstGeom prst="rect">
              <a:avLst/>
            </a:prstGeom>
            <a:noFill/>
          </p:spPr>
          <p:txBody>
            <a:bodyPr wrap="square" rtlCol="0">
              <a:spAutoFit/>
            </a:bodyPr>
            <a:lstStyle/>
            <a:p>
              <a:r>
                <a:rPr lang="fr-FR" sz="1100" dirty="0" smtClean="0">
                  <a:solidFill>
                    <a:srgbClr val="4D4F53"/>
                  </a:solidFill>
                </a:rPr>
                <a:t>Choisir le mode de traitement selon si l’on effectuer le premier ou un second traitement</a:t>
              </a:r>
            </a:p>
            <a:p>
              <a:endParaRPr lang="fr-FR" sz="1100" dirty="0">
                <a:solidFill>
                  <a:srgbClr val="4D4F53"/>
                </a:solidFill>
              </a:endParaRPr>
            </a:p>
            <a:p>
              <a:r>
                <a:rPr lang="fr-FR" sz="1100" dirty="0" smtClean="0">
                  <a:solidFill>
                    <a:srgbClr val="4D4F53"/>
                  </a:solidFill>
                </a:rPr>
                <a:t>Renseigner le Document article dont on souhaite imprimer les formulaires</a:t>
              </a:r>
            </a:p>
            <a:p>
              <a:endParaRPr lang="fr-FR" sz="1100" dirty="0" smtClean="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Sélectionner les formulaires à imprimer</a:t>
              </a:r>
            </a:p>
            <a:p>
              <a:endParaRPr lang="fr-FR" sz="1100" dirty="0" smtClean="0">
                <a:solidFill>
                  <a:srgbClr val="4D4F53"/>
                </a:solidFill>
              </a:endParaRPr>
            </a:p>
            <a:p>
              <a:r>
                <a:rPr lang="fr-FR" sz="1100" dirty="0" smtClean="0">
                  <a:solidFill>
                    <a:srgbClr val="4D4F53"/>
                  </a:solidFill>
                </a:rPr>
                <a:t>Aller dans le menu -&gt; Liste -&gt; Imprimer</a:t>
              </a:r>
            </a:p>
            <a:p>
              <a:endParaRPr lang="fr-FR" sz="1100" dirty="0">
                <a:solidFill>
                  <a:srgbClr val="4D4F53"/>
                </a:solidFill>
              </a:endParaRPr>
            </a:p>
            <a:p>
              <a:r>
                <a:rPr lang="fr-FR" sz="1100" dirty="0" smtClean="0">
                  <a:solidFill>
                    <a:srgbClr val="4D4F53"/>
                  </a:solidFill>
                </a:rPr>
                <a:t>Choisir l’imprimante standard</a:t>
              </a:r>
            </a:p>
            <a:p>
              <a:endParaRPr lang="fr-FR" sz="1100" dirty="0">
                <a:solidFill>
                  <a:srgbClr val="4D4F53"/>
                </a:solidFill>
              </a:endParaRPr>
            </a:p>
            <a:p>
              <a:r>
                <a:rPr lang="fr-FR" sz="1100" dirty="0" smtClean="0">
                  <a:solidFill>
                    <a:srgbClr val="4D4F53"/>
                  </a:solidFill>
                </a:rPr>
                <a:t>Sélectionner « Immédiatement »</a:t>
              </a:r>
            </a:p>
            <a:p>
              <a:endParaRPr lang="fr-FR" sz="1100" dirty="0" smtClean="0">
                <a:solidFill>
                  <a:srgbClr val="4D4F53"/>
                </a:solidFill>
              </a:endParaRPr>
            </a:p>
            <a:p>
              <a:r>
                <a:rPr lang="fr-FR" sz="1100" dirty="0" smtClean="0">
                  <a:solidFill>
                    <a:srgbClr val="4D4F53"/>
                  </a:solidFill>
                </a:rPr>
                <a:t>Cliquer sur « Suite »</a:t>
              </a:r>
            </a:p>
            <a:p>
              <a:endParaRPr lang="fr-FR" sz="1100" dirty="0" smtClean="0">
                <a:solidFill>
                  <a:srgbClr val="4D4F53"/>
                </a:solidFill>
              </a:endParaRPr>
            </a:p>
            <a:p>
              <a:r>
                <a:rPr lang="fr-FR" sz="1100" dirty="0" smtClean="0">
                  <a:solidFill>
                    <a:srgbClr val="4D4F53"/>
                  </a:solidFill>
                </a:rPr>
                <a:t>Un pop-up apparaît pour l’impression : mettre l’imprimante PDF puis enregistrer le fichier sur l’ordinateur</a:t>
              </a: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78442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22886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5915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2713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9188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15" name="Ellipse 14"/>
            <p:cNvSpPr/>
            <p:nvPr/>
          </p:nvSpPr>
          <p:spPr>
            <a:xfrm>
              <a:off x="424889" y="36070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3" name="Ellipse 42"/>
            <p:cNvSpPr/>
            <p:nvPr/>
          </p:nvSpPr>
          <p:spPr>
            <a:xfrm>
              <a:off x="424889" y="39335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4" name="Ellipse 43"/>
            <p:cNvSpPr/>
            <p:nvPr/>
          </p:nvSpPr>
          <p:spPr>
            <a:xfrm>
              <a:off x="424889" y="42772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pic>
        <p:nvPicPr>
          <p:cNvPr id="29" name="Image 28"/>
          <p:cNvPicPr>
            <a:picLocks noChangeAspect="1"/>
          </p:cNvPicPr>
          <p:nvPr/>
        </p:nvPicPr>
        <p:blipFill>
          <a:blip r:embed="rId2"/>
          <a:stretch>
            <a:fillRect/>
          </a:stretch>
        </p:blipFill>
        <p:spPr>
          <a:xfrm>
            <a:off x="152397" y="992053"/>
            <a:ext cx="3031970" cy="1807054"/>
          </a:xfrm>
          <a:prstGeom prst="rect">
            <a:avLst/>
          </a:prstGeom>
        </p:spPr>
      </p:pic>
      <p:pic>
        <p:nvPicPr>
          <p:cNvPr id="16" name="Image 15"/>
          <p:cNvPicPr>
            <a:picLocks noChangeAspect="1"/>
          </p:cNvPicPr>
          <p:nvPr/>
        </p:nvPicPr>
        <p:blipFill>
          <a:blip r:embed="rId3"/>
          <a:stretch>
            <a:fillRect/>
          </a:stretch>
        </p:blipFill>
        <p:spPr>
          <a:xfrm>
            <a:off x="1708873" y="1985196"/>
            <a:ext cx="1260596" cy="418454"/>
          </a:xfrm>
          <a:prstGeom prst="rect">
            <a:avLst/>
          </a:prstGeom>
        </p:spPr>
      </p:pic>
      <p:pic>
        <p:nvPicPr>
          <p:cNvPr id="31" name="Image 30"/>
          <p:cNvPicPr>
            <a:picLocks noChangeAspect="1"/>
          </p:cNvPicPr>
          <p:nvPr/>
        </p:nvPicPr>
        <p:blipFill>
          <a:blip r:embed="rId4"/>
          <a:stretch>
            <a:fillRect/>
          </a:stretch>
        </p:blipFill>
        <p:spPr>
          <a:xfrm>
            <a:off x="6797599" y="2029928"/>
            <a:ext cx="209550" cy="190500"/>
          </a:xfrm>
          <a:prstGeom prst="rect">
            <a:avLst/>
          </a:prstGeom>
        </p:spPr>
      </p:pic>
      <p:sp>
        <p:nvSpPr>
          <p:cNvPr id="47" name="Ellipse 46"/>
          <p:cNvSpPr/>
          <p:nvPr/>
        </p:nvSpPr>
        <p:spPr>
          <a:xfrm>
            <a:off x="1339359" y="19472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1339359" y="259789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34" name="Image 33"/>
          <p:cNvPicPr>
            <a:picLocks noChangeAspect="1"/>
          </p:cNvPicPr>
          <p:nvPr/>
        </p:nvPicPr>
        <p:blipFill>
          <a:blip r:embed="rId5"/>
          <a:stretch>
            <a:fillRect/>
          </a:stretch>
        </p:blipFill>
        <p:spPr>
          <a:xfrm>
            <a:off x="3085574" y="1280320"/>
            <a:ext cx="2744902" cy="1433721"/>
          </a:xfrm>
          <a:prstGeom prst="rect">
            <a:avLst/>
          </a:prstGeom>
        </p:spPr>
      </p:pic>
      <p:pic>
        <p:nvPicPr>
          <p:cNvPr id="49" name="Image 48"/>
          <p:cNvPicPr>
            <a:picLocks noChangeAspect="1"/>
          </p:cNvPicPr>
          <p:nvPr/>
        </p:nvPicPr>
        <p:blipFill>
          <a:blip r:embed="rId6"/>
          <a:stretch>
            <a:fillRect/>
          </a:stretch>
        </p:blipFill>
        <p:spPr>
          <a:xfrm>
            <a:off x="251742" y="2930737"/>
            <a:ext cx="2792022" cy="1683819"/>
          </a:xfrm>
          <a:prstGeom prst="rect">
            <a:avLst/>
          </a:prstGeom>
        </p:spPr>
      </p:pic>
      <p:pic>
        <p:nvPicPr>
          <p:cNvPr id="50" name="Image 49"/>
          <p:cNvPicPr>
            <a:picLocks noChangeAspect="1"/>
          </p:cNvPicPr>
          <p:nvPr/>
        </p:nvPicPr>
        <p:blipFill>
          <a:blip r:embed="rId7"/>
          <a:stretch>
            <a:fillRect/>
          </a:stretch>
        </p:blipFill>
        <p:spPr>
          <a:xfrm>
            <a:off x="2826230" y="3108315"/>
            <a:ext cx="2677150" cy="1664868"/>
          </a:xfrm>
          <a:prstGeom prst="rect">
            <a:avLst/>
          </a:prstGeom>
        </p:spPr>
      </p:pic>
      <p:sp>
        <p:nvSpPr>
          <p:cNvPr id="28" name="Rectangle 27"/>
          <p:cNvSpPr/>
          <p:nvPr/>
        </p:nvSpPr>
        <p:spPr>
          <a:xfrm>
            <a:off x="1562108" y="1947264"/>
            <a:ext cx="146764" cy="16336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1" name="Rectangle 50"/>
          <p:cNvSpPr/>
          <p:nvPr/>
        </p:nvSpPr>
        <p:spPr>
          <a:xfrm>
            <a:off x="1594999" y="2632358"/>
            <a:ext cx="554109" cy="13975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2" name="Rectangle 51"/>
          <p:cNvSpPr/>
          <p:nvPr/>
        </p:nvSpPr>
        <p:spPr>
          <a:xfrm>
            <a:off x="152398" y="1207232"/>
            <a:ext cx="287068" cy="13975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3" name="Rectangle 52"/>
          <p:cNvSpPr/>
          <p:nvPr/>
        </p:nvSpPr>
        <p:spPr>
          <a:xfrm>
            <a:off x="3109189" y="2403650"/>
            <a:ext cx="75178" cy="3103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4" name="Rectangle 53"/>
          <p:cNvSpPr/>
          <p:nvPr/>
        </p:nvSpPr>
        <p:spPr>
          <a:xfrm>
            <a:off x="3174973" y="1304462"/>
            <a:ext cx="270987" cy="1534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5" name="Rectangle 54"/>
          <p:cNvSpPr/>
          <p:nvPr/>
        </p:nvSpPr>
        <p:spPr>
          <a:xfrm>
            <a:off x="933436" y="3108315"/>
            <a:ext cx="775437" cy="1020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6" name="Rectangle 55"/>
          <p:cNvSpPr/>
          <p:nvPr/>
        </p:nvSpPr>
        <p:spPr>
          <a:xfrm>
            <a:off x="966753" y="4131735"/>
            <a:ext cx="1042669" cy="19733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7" name="Rectangle 56"/>
          <p:cNvSpPr/>
          <p:nvPr/>
        </p:nvSpPr>
        <p:spPr>
          <a:xfrm>
            <a:off x="2267798" y="4496534"/>
            <a:ext cx="159314" cy="11802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Rectangle 57"/>
          <p:cNvSpPr/>
          <p:nvPr/>
        </p:nvSpPr>
        <p:spPr>
          <a:xfrm>
            <a:off x="3392935" y="3385985"/>
            <a:ext cx="1190354" cy="11802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9" name="Rectangle 58"/>
          <p:cNvSpPr/>
          <p:nvPr/>
        </p:nvSpPr>
        <p:spPr>
          <a:xfrm>
            <a:off x="4676382" y="4614555"/>
            <a:ext cx="383438"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35" name="Connecteur en angle 34"/>
          <p:cNvCxnSpPr/>
          <p:nvPr/>
        </p:nvCxnSpPr>
        <p:spPr>
          <a:xfrm>
            <a:off x="437471" y="1269974"/>
            <a:ext cx="2648102" cy="254588"/>
          </a:xfrm>
          <a:prstGeom prst="bentConnector3">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1" name="Connecteur en angle 60"/>
          <p:cNvCxnSpPr/>
          <p:nvPr/>
        </p:nvCxnSpPr>
        <p:spPr>
          <a:xfrm rot="5400000">
            <a:off x="1861015" y="1854064"/>
            <a:ext cx="1919519" cy="1144323"/>
          </a:xfrm>
          <a:prstGeom prst="bentConnector3">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Connecteur en angle 63"/>
          <p:cNvCxnSpPr>
            <a:stCxn id="57" idx="3"/>
            <a:endCxn id="58" idx="1"/>
          </p:cNvCxnSpPr>
          <p:nvPr/>
        </p:nvCxnSpPr>
        <p:spPr>
          <a:xfrm flipV="1">
            <a:off x="2427112" y="3444996"/>
            <a:ext cx="965823" cy="1110549"/>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8" name="Ellipse 67"/>
          <p:cNvSpPr/>
          <p:nvPr/>
        </p:nvSpPr>
        <p:spPr>
          <a:xfrm>
            <a:off x="437470" y="11869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9" name="Ellipse 68"/>
          <p:cNvSpPr/>
          <p:nvPr/>
        </p:nvSpPr>
        <p:spPr>
          <a:xfrm>
            <a:off x="3096905" y="22083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70" name="Ellipse 69"/>
          <p:cNvSpPr/>
          <p:nvPr/>
        </p:nvSpPr>
        <p:spPr>
          <a:xfrm>
            <a:off x="3428834" y="12430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71" name="Ellipse 70"/>
          <p:cNvSpPr/>
          <p:nvPr/>
        </p:nvSpPr>
        <p:spPr>
          <a:xfrm>
            <a:off x="753722" y="305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72" name="Ellipse 71"/>
          <p:cNvSpPr/>
          <p:nvPr/>
        </p:nvSpPr>
        <p:spPr>
          <a:xfrm>
            <a:off x="820361" y="41241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73" name="Ellipse 72"/>
          <p:cNvSpPr/>
          <p:nvPr/>
        </p:nvSpPr>
        <p:spPr>
          <a:xfrm>
            <a:off x="2071040" y="44599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74" name="Ellipse 73"/>
          <p:cNvSpPr/>
          <p:nvPr/>
        </p:nvSpPr>
        <p:spPr>
          <a:xfrm>
            <a:off x="4347725" y="33494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Tree>
    <p:extLst>
      <p:ext uri="{BB962C8B-B14F-4D97-AF65-F5344CB8AC3E}">
        <p14:creationId xmlns:p14="http://schemas.microsoft.com/office/powerpoint/2010/main" val="41778548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LT31 </a:t>
            </a:r>
            <a:r>
              <a:rPr lang="fr-FR" altLang="en-US" dirty="0"/>
              <a:t>– </a:t>
            </a:r>
            <a:r>
              <a:rPr lang="fr-FR" altLang="en-US" dirty="0" smtClean="0"/>
              <a:t>Imprimer l’ordre de transfert</a:t>
            </a:r>
            <a:endParaRPr lang="en-US" dirty="0"/>
          </a:p>
        </p:txBody>
      </p:sp>
      <p:grpSp>
        <p:nvGrpSpPr>
          <p:cNvPr id="7" name="Groupe 6"/>
          <p:cNvGrpSpPr/>
          <p:nvPr/>
        </p:nvGrpSpPr>
        <p:grpSpPr>
          <a:xfrm>
            <a:off x="4352359" y="994306"/>
            <a:ext cx="3164197" cy="2292935"/>
            <a:chOff x="424889" y="1232489"/>
            <a:chExt cx="3015889" cy="2292935"/>
          </a:xfrm>
        </p:grpSpPr>
        <p:sp>
          <p:nvSpPr>
            <p:cNvPr id="8" name="ZoneTexte 7"/>
            <p:cNvSpPr txBox="1"/>
            <p:nvPr/>
          </p:nvSpPr>
          <p:spPr>
            <a:xfrm>
              <a:off x="581024" y="1232489"/>
              <a:ext cx="2859754" cy="2292935"/>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numéro d’OT </a:t>
              </a:r>
            </a:p>
            <a:p>
              <a:endParaRPr lang="fr-FR" sz="1100" dirty="0" smtClean="0">
                <a:solidFill>
                  <a:srgbClr val="4D4F53"/>
                </a:solidFill>
              </a:endParaRPr>
            </a:p>
            <a:p>
              <a:r>
                <a:rPr lang="fr-FR" sz="1100" dirty="0" smtClean="0">
                  <a:solidFill>
                    <a:srgbClr val="4D4F53"/>
                  </a:solidFill>
                </a:rPr>
                <a:t>Décocher la case « Imprimer »</a:t>
              </a:r>
            </a:p>
            <a:p>
              <a:endParaRPr lang="fr-FR" sz="1100" dirty="0">
                <a:solidFill>
                  <a:srgbClr val="4D4F53"/>
                </a:solidFill>
              </a:endParaRPr>
            </a:p>
            <a:p>
              <a:r>
                <a:rPr lang="fr-FR" sz="1100" dirty="0" smtClean="0">
                  <a:solidFill>
                    <a:srgbClr val="4D4F53"/>
                  </a:solidFill>
                </a:rPr>
                <a:t>Laisser les cases cochées par défaut</a:t>
              </a:r>
            </a:p>
            <a:p>
              <a:endParaRPr lang="fr-FR" sz="1100" dirty="0" smtClean="0">
                <a:solidFill>
                  <a:srgbClr val="4D4F53"/>
                </a:solidFill>
              </a:endParaRPr>
            </a:p>
            <a:p>
              <a:r>
                <a:rPr lang="fr-FR" sz="1100" dirty="0" smtClean="0">
                  <a:solidFill>
                    <a:srgbClr val="4D4F53"/>
                  </a:solidFill>
                </a:rPr>
                <a:t>Aller dans le menu -&gt; Ordre de transfert -&gt; Imprimer</a:t>
              </a:r>
            </a:p>
            <a:p>
              <a:endParaRPr lang="fr-FR" sz="1100" dirty="0">
                <a:solidFill>
                  <a:srgbClr val="4D4F53"/>
                </a:solidFill>
              </a:endParaRPr>
            </a:p>
            <a:p>
              <a:r>
                <a:rPr lang="fr-FR" sz="1100" dirty="0" smtClean="0">
                  <a:solidFill>
                    <a:srgbClr val="4D4F53"/>
                  </a:solidFill>
                </a:rPr>
                <a:t>L’aperçu du formulaire s’affiche</a:t>
              </a: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0876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5986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4" name="Image 3"/>
          <p:cNvPicPr>
            <a:picLocks noChangeAspect="1"/>
          </p:cNvPicPr>
          <p:nvPr/>
        </p:nvPicPr>
        <p:blipFill>
          <a:blip r:embed="rId2"/>
          <a:stretch>
            <a:fillRect/>
          </a:stretch>
        </p:blipFill>
        <p:spPr>
          <a:xfrm>
            <a:off x="508808" y="1009649"/>
            <a:ext cx="2437592" cy="3897674"/>
          </a:xfrm>
          <a:prstGeom prst="rect">
            <a:avLst/>
          </a:prstGeom>
        </p:spPr>
      </p:pic>
      <p:pic>
        <p:nvPicPr>
          <p:cNvPr id="5" name="Image 4"/>
          <p:cNvPicPr>
            <a:picLocks noChangeAspect="1"/>
          </p:cNvPicPr>
          <p:nvPr/>
        </p:nvPicPr>
        <p:blipFill>
          <a:blip r:embed="rId3"/>
          <a:stretch>
            <a:fillRect/>
          </a:stretch>
        </p:blipFill>
        <p:spPr>
          <a:xfrm>
            <a:off x="3598947" y="3228076"/>
            <a:ext cx="3770488" cy="1309196"/>
          </a:xfrm>
          <a:prstGeom prst="rect">
            <a:avLst/>
          </a:prstGeom>
        </p:spPr>
      </p:pic>
      <p:sp>
        <p:nvSpPr>
          <p:cNvPr id="45" name="Ellipse 44"/>
          <p:cNvSpPr/>
          <p:nvPr/>
        </p:nvSpPr>
        <p:spPr>
          <a:xfrm>
            <a:off x="1263618" y="215629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6" name="Ellipse 45"/>
          <p:cNvSpPr/>
          <p:nvPr/>
        </p:nvSpPr>
        <p:spPr>
          <a:xfrm>
            <a:off x="1263618" y="23289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62" name="Ellipse 61"/>
          <p:cNvSpPr/>
          <p:nvPr/>
        </p:nvSpPr>
        <p:spPr>
          <a:xfrm>
            <a:off x="1345525" y="1063625"/>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59" name="Rectangle 58"/>
          <p:cNvSpPr/>
          <p:nvPr/>
        </p:nvSpPr>
        <p:spPr>
          <a:xfrm>
            <a:off x="508808" y="1063625"/>
            <a:ext cx="754810"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5" name="Rectangle 64"/>
          <p:cNvSpPr/>
          <p:nvPr/>
        </p:nvSpPr>
        <p:spPr>
          <a:xfrm>
            <a:off x="1450121" y="2202545"/>
            <a:ext cx="243449"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6" name="Rectangle 65"/>
          <p:cNvSpPr/>
          <p:nvPr/>
        </p:nvSpPr>
        <p:spPr>
          <a:xfrm>
            <a:off x="1445452" y="2360472"/>
            <a:ext cx="4962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7" name="Ellipse 66"/>
          <p:cNvSpPr/>
          <p:nvPr/>
        </p:nvSpPr>
        <p:spPr>
          <a:xfrm>
            <a:off x="1016492" y="3228076"/>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37436031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LS24 </a:t>
            </a:r>
            <a:r>
              <a:rPr lang="fr-FR" altLang="en-US" dirty="0"/>
              <a:t>– </a:t>
            </a:r>
            <a:r>
              <a:rPr lang="fr-FR" altLang="en-US" dirty="0" smtClean="0"/>
              <a:t>Afficher la vision du stock selon WM</a:t>
            </a:r>
            <a:endParaRPr lang="en-US" dirty="0"/>
          </a:p>
        </p:txBody>
      </p:sp>
      <p:grpSp>
        <p:nvGrpSpPr>
          <p:cNvPr id="7" name="Groupe 6"/>
          <p:cNvGrpSpPr/>
          <p:nvPr/>
        </p:nvGrpSpPr>
        <p:grpSpPr>
          <a:xfrm>
            <a:off x="6152918" y="1524046"/>
            <a:ext cx="3164197" cy="2462213"/>
            <a:chOff x="424889" y="1232489"/>
            <a:chExt cx="3015889" cy="2462213"/>
          </a:xfrm>
        </p:grpSpPr>
        <p:sp>
          <p:nvSpPr>
            <p:cNvPr id="8" name="ZoneTexte 7"/>
            <p:cNvSpPr txBox="1"/>
            <p:nvPr/>
          </p:nvSpPr>
          <p:spPr>
            <a:xfrm>
              <a:off x="581024" y="1232489"/>
              <a:ext cx="2859754" cy="2462213"/>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code article</a:t>
              </a:r>
            </a:p>
            <a:p>
              <a:endParaRPr lang="fr-FR" sz="1100" dirty="0" smtClean="0">
                <a:solidFill>
                  <a:srgbClr val="4D4F53"/>
                </a:solidFill>
              </a:endParaRPr>
            </a:p>
            <a:p>
              <a:r>
                <a:rPr lang="fr-FR" sz="1100" dirty="0" smtClean="0">
                  <a:solidFill>
                    <a:srgbClr val="4D4F53"/>
                  </a:solidFill>
                </a:rPr>
                <a:t>Renseigner la division</a:t>
              </a:r>
            </a:p>
            <a:p>
              <a:endParaRPr lang="fr-FR" sz="1100" dirty="0">
                <a:solidFill>
                  <a:srgbClr val="4D4F53"/>
                </a:solidFill>
              </a:endParaRPr>
            </a:p>
            <a:p>
              <a:r>
                <a:rPr lang="fr-FR" sz="1100" dirty="0" smtClean="0">
                  <a:solidFill>
                    <a:srgbClr val="4D4F53"/>
                  </a:solidFill>
                </a:rPr>
                <a:t>Appuyer sur Entrée</a:t>
              </a:r>
            </a:p>
            <a:p>
              <a:endParaRPr lang="fr-FR" sz="1100" dirty="0">
                <a:solidFill>
                  <a:srgbClr val="4D4F53"/>
                </a:solidFill>
              </a:endParaRPr>
            </a:p>
            <a:p>
              <a:r>
                <a:rPr lang="fr-FR" sz="1100" dirty="0" smtClean="0">
                  <a:solidFill>
                    <a:srgbClr val="4D4F53"/>
                  </a:solidFill>
                </a:rPr>
                <a:t>Un type de magasin temporaire contient une quantité à sortir </a:t>
              </a:r>
            </a:p>
            <a:p>
              <a:endParaRPr lang="fr-FR" sz="1100" dirty="0" smtClean="0">
                <a:solidFill>
                  <a:srgbClr val="4D4F53"/>
                </a:solidFill>
              </a:endParaRPr>
            </a:p>
            <a:p>
              <a:r>
                <a:rPr lang="fr-FR" sz="1100" dirty="0" smtClean="0">
                  <a:solidFill>
                    <a:srgbClr val="4D4F53"/>
                  </a:solidFill>
                </a:rPr>
                <a:t>On voit qu’une entrée de marchandises est en cours avec une quantité de stock à entrer</a:t>
              </a:r>
              <a:endParaRPr lang="fr-FR" sz="1100" dirty="0">
                <a:solidFill>
                  <a:srgbClr val="4D4F53"/>
                </a:solidFill>
              </a:endParaRP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0876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5986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cxnSp>
        <p:nvCxnSpPr>
          <p:cNvPr id="64" name="Connecteur en angle 63"/>
          <p:cNvCxnSpPr>
            <a:endCxn id="6" idx="0"/>
          </p:cNvCxnSpPr>
          <p:nvPr/>
        </p:nvCxnSpPr>
        <p:spPr>
          <a:xfrm>
            <a:off x="2974351" y="1711209"/>
            <a:ext cx="1191116" cy="400853"/>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 name="Image 2"/>
          <p:cNvPicPr>
            <a:picLocks noChangeAspect="1"/>
          </p:cNvPicPr>
          <p:nvPr/>
        </p:nvPicPr>
        <p:blipFill>
          <a:blip r:embed="rId2"/>
          <a:stretch>
            <a:fillRect/>
          </a:stretch>
        </p:blipFill>
        <p:spPr>
          <a:xfrm>
            <a:off x="457200" y="1103229"/>
            <a:ext cx="2629546" cy="3176632"/>
          </a:xfrm>
          <a:prstGeom prst="rect">
            <a:avLst/>
          </a:prstGeom>
        </p:spPr>
      </p:pic>
      <p:pic>
        <p:nvPicPr>
          <p:cNvPr id="6" name="Image 5"/>
          <p:cNvPicPr>
            <a:picLocks noChangeAspect="1"/>
          </p:cNvPicPr>
          <p:nvPr/>
        </p:nvPicPr>
        <p:blipFill>
          <a:blip r:embed="rId3"/>
          <a:stretch>
            <a:fillRect/>
          </a:stretch>
        </p:blipFill>
        <p:spPr>
          <a:xfrm>
            <a:off x="2467110" y="2112062"/>
            <a:ext cx="3396714" cy="2843348"/>
          </a:xfrm>
          <a:prstGeom prst="rect">
            <a:avLst/>
          </a:prstGeom>
        </p:spPr>
      </p:pic>
      <p:sp>
        <p:nvSpPr>
          <p:cNvPr id="66" name="Rectangle 65"/>
          <p:cNvSpPr/>
          <p:nvPr/>
        </p:nvSpPr>
        <p:spPr>
          <a:xfrm>
            <a:off x="1771974" y="1776188"/>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1771973" y="1916507"/>
            <a:ext cx="8583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1771975" y="2055672"/>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Rectangle 24"/>
          <p:cNvSpPr/>
          <p:nvPr/>
        </p:nvSpPr>
        <p:spPr>
          <a:xfrm>
            <a:off x="2506213" y="3379161"/>
            <a:ext cx="3357611" cy="22879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Rectangle 25"/>
          <p:cNvSpPr/>
          <p:nvPr/>
        </p:nvSpPr>
        <p:spPr>
          <a:xfrm>
            <a:off x="3347236" y="4541996"/>
            <a:ext cx="220054" cy="22879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1583668" y="174030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9" name="Ellipse 28"/>
          <p:cNvSpPr/>
          <p:nvPr/>
        </p:nvSpPr>
        <p:spPr>
          <a:xfrm>
            <a:off x="1427932" y="1884894"/>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0" name="Ellipse 29"/>
          <p:cNvSpPr/>
          <p:nvPr/>
        </p:nvSpPr>
        <p:spPr>
          <a:xfrm>
            <a:off x="1212295" y="20241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1" name="Ellipse 30"/>
          <p:cNvSpPr/>
          <p:nvPr/>
        </p:nvSpPr>
        <p:spPr>
          <a:xfrm>
            <a:off x="3350492" y="338517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3" name="Ellipse 32"/>
          <p:cNvSpPr/>
          <p:nvPr/>
        </p:nvSpPr>
        <p:spPr>
          <a:xfrm>
            <a:off x="3629930" y="4541996"/>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Tree>
    <p:extLst>
      <p:ext uri="{BB962C8B-B14F-4D97-AF65-F5344CB8AC3E}">
        <p14:creationId xmlns:p14="http://schemas.microsoft.com/office/powerpoint/2010/main" val="31236303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LT22 </a:t>
            </a:r>
            <a:r>
              <a:rPr lang="fr-FR" altLang="en-US" dirty="0"/>
              <a:t>– </a:t>
            </a:r>
            <a:r>
              <a:rPr lang="fr-FR" altLang="en-US" dirty="0" smtClean="0"/>
              <a:t>Confirmer l’OT</a:t>
            </a:r>
            <a:endParaRPr lang="en-US" dirty="0"/>
          </a:p>
        </p:txBody>
      </p:sp>
      <p:grpSp>
        <p:nvGrpSpPr>
          <p:cNvPr id="7" name="Groupe 6"/>
          <p:cNvGrpSpPr/>
          <p:nvPr/>
        </p:nvGrpSpPr>
        <p:grpSpPr>
          <a:xfrm>
            <a:off x="5659769" y="1230857"/>
            <a:ext cx="3164197" cy="2462213"/>
            <a:chOff x="424889" y="1232489"/>
            <a:chExt cx="3015889" cy="2462213"/>
          </a:xfrm>
        </p:grpSpPr>
        <p:sp>
          <p:nvSpPr>
            <p:cNvPr id="8" name="ZoneTexte 7"/>
            <p:cNvSpPr txBox="1"/>
            <p:nvPr/>
          </p:nvSpPr>
          <p:spPr>
            <a:xfrm>
              <a:off x="581024" y="1232489"/>
              <a:ext cx="2859754" cy="2462213"/>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Cocher « Uniquement OT en cours »</a:t>
              </a:r>
            </a:p>
            <a:p>
              <a:endParaRPr lang="fr-FR" sz="1100" dirty="0" smtClean="0">
                <a:solidFill>
                  <a:srgbClr val="4D4F53"/>
                </a:solidFill>
              </a:endParaRPr>
            </a:p>
            <a:p>
              <a:r>
                <a:rPr lang="fr-FR" sz="1100" dirty="0" smtClean="0">
                  <a:solidFill>
                    <a:srgbClr val="4D4F53"/>
                  </a:solidFill>
                </a:rPr>
                <a:t>Cocher « De »</a:t>
              </a:r>
            </a:p>
            <a:p>
              <a:endParaRPr lang="fr-FR" sz="1100" dirty="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Sélectionner un par un les postes de l’OT à confirmer et cliquer sur  </a:t>
              </a:r>
            </a:p>
            <a:p>
              <a:endParaRPr lang="fr-FR" sz="1100" dirty="0" smtClean="0">
                <a:solidFill>
                  <a:srgbClr val="4D4F53"/>
                </a:solidFill>
              </a:endParaRPr>
            </a:p>
            <a:p>
              <a:r>
                <a:rPr lang="fr-FR" sz="1100" dirty="0" smtClean="0">
                  <a:solidFill>
                    <a:srgbClr val="4D4F53"/>
                  </a:solidFill>
                </a:rPr>
                <a:t>Un message de confirmation s’affiche et le feu passe au vert</a:t>
              </a:r>
              <a:endParaRPr lang="fr-FR" sz="1100" dirty="0">
                <a:solidFill>
                  <a:srgbClr val="4D4F53"/>
                </a:solidFill>
              </a:endParaRP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0876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5986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4" name="Image 3"/>
          <p:cNvPicPr>
            <a:picLocks noChangeAspect="1"/>
          </p:cNvPicPr>
          <p:nvPr/>
        </p:nvPicPr>
        <p:blipFill>
          <a:blip r:embed="rId2"/>
          <a:stretch>
            <a:fillRect/>
          </a:stretch>
        </p:blipFill>
        <p:spPr>
          <a:xfrm>
            <a:off x="584583" y="1074180"/>
            <a:ext cx="3525110" cy="3007060"/>
          </a:xfrm>
          <a:prstGeom prst="rect">
            <a:avLst/>
          </a:prstGeom>
        </p:spPr>
      </p:pic>
      <p:pic>
        <p:nvPicPr>
          <p:cNvPr id="5" name="Image 4"/>
          <p:cNvPicPr>
            <a:picLocks noChangeAspect="1"/>
          </p:cNvPicPr>
          <p:nvPr/>
        </p:nvPicPr>
        <p:blipFill>
          <a:blip r:embed="rId3"/>
          <a:stretch>
            <a:fillRect/>
          </a:stretch>
        </p:blipFill>
        <p:spPr>
          <a:xfrm>
            <a:off x="1887467" y="1934956"/>
            <a:ext cx="3478924" cy="1992308"/>
          </a:xfrm>
          <a:prstGeom prst="rect">
            <a:avLst/>
          </a:prstGeom>
        </p:spPr>
      </p:pic>
      <p:pic>
        <p:nvPicPr>
          <p:cNvPr id="15" name="Image 14"/>
          <p:cNvPicPr>
            <a:picLocks noChangeAspect="1"/>
          </p:cNvPicPr>
          <p:nvPr/>
        </p:nvPicPr>
        <p:blipFill>
          <a:blip r:embed="rId4"/>
          <a:stretch>
            <a:fillRect/>
          </a:stretch>
        </p:blipFill>
        <p:spPr>
          <a:xfrm>
            <a:off x="5594986" y="3542268"/>
            <a:ext cx="3457575" cy="238125"/>
          </a:xfrm>
          <a:prstGeom prst="rect">
            <a:avLst/>
          </a:prstGeom>
        </p:spPr>
      </p:pic>
      <p:pic>
        <p:nvPicPr>
          <p:cNvPr id="16" name="Image 15"/>
          <p:cNvPicPr>
            <a:picLocks noChangeAspect="1"/>
          </p:cNvPicPr>
          <p:nvPr/>
        </p:nvPicPr>
        <p:blipFill>
          <a:blip r:embed="rId5"/>
          <a:stretch>
            <a:fillRect/>
          </a:stretch>
        </p:blipFill>
        <p:spPr>
          <a:xfrm>
            <a:off x="1905977" y="3986259"/>
            <a:ext cx="3260782" cy="1058474"/>
          </a:xfrm>
          <a:prstGeom prst="rect">
            <a:avLst/>
          </a:prstGeom>
        </p:spPr>
      </p:pic>
      <p:pic>
        <p:nvPicPr>
          <p:cNvPr id="17" name="Image 16"/>
          <p:cNvPicPr>
            <a:picLocks noChangeAspect="1"/>
          </p:cNvPicPr>
          <p:nvPr/>
        </p:nvPicPr>
        <p:blipFill>
          <a:blip r:embed="rId6"/>
          <a:stretch>
            <a:fillRect/>
          </a:stretch>
        </p:blipFill>
        <p:spPr>
          <a:xfrm>
            <a:off x="7323774" y="2787187"/>
            <a:ext cx="238125" cy="171450"/>
          </a:xfrm>
          <a:prstGeom prst="rect">
            <a:avLst/>
          </a:prstGeom>
        </p:spPr>
      </p:pic>
      <p:sp>
        <p:nvSpPr>
          <p:cNvPr id="32" name="Ellipse 31"/>
          <p:cNvSpPr/>
          <p:nvPr/>
        </p:nvSpPr>
        <p:spPr>
          <a:xfrm>
            <a:off x="1723653" y="1447112"/>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Ellipse 33"/>
          <p:cNvSpPr/>
          <p:nvPr/>
        </p:nvSpPr>
        <p:spPr>
          <a:xfrm>
            <a:off x="481374" y="2129946"/>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5" name="Ellipse 34"/>
          <p:cNvSpPr/>
          <p:nvPr/>
        </p:nvSpPr>
        <p:spPr>
          <a:xfrm>
            <a:off x="481374" y="278772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6" name="Ellipse 35"/>
          <p:cNvSpPr/>
          <p:nvPr/>
        </p:nvSpPr>
        <p:spPr>
          <a:xfrm>
            <a:off x="4567023" y="228384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7" name="Ellipse 36"/>
          <p:cNvSpPr/>
          <p:nvPr/>
        </p:nvSpPr>
        <p:spPr>
          <a:xfrm>
            <a:off x="4841325" y="4515496"/>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25" name="Rectangle 24"/>
          <p:cNvSpPr/>
          <p:nvPr/>
        </p:nvSpPr>
        <p:spPr>
          <a:xfrm>
            <a:off x="2002279" y="1449287"/>
            <a:ext cx="232922" cy="2110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675416" y="2150100"/>
            <a:ext cx="983456" cy="13442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653960" y="2807906"/>
            <a:ext cx="316883"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4676096" y="2381014"/>
            <a:ext cx="165229"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Rectangle 40"/>
          <p:cNvSpPr/>
          <p:nvPr/>
        </p:nvSpPr>
        <p:spPr>
          <a:xfrm>
            <a:off x="4999726" y="4505441"/>
            <a:ext cx="165229"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6276318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LS24 </a:t>
            </a:r>
            <a:r>
              <a:rPr lang="fr-FR" altLang="en-US" dirty="0"/>
              <a:t>– </a:t>
            </a:r>
            <a:r>
              <a:rPr lang="fr-FR" altLang="en-US" dirty="0" smtClean="0"/>
              <a:t>Afficher la vision du stock selon WM (après la confirmation de l’OT)</a:t>
            </a:r>
            <a:endParaRPr lang="en-US" dirty="0"/>
          </a:p>
        </p:txBody>
      </p:sp>
      <p:grpSp>
        <p:nvGrpSpPr>
          <p:cNvPr id="7" name="Groupe 6"/>
          <p:cNvGrpSpPr/>
          <p:nvPr/>
        </p:nvGrpSpPr>
        <p:grpSpPr>
          <a:xfrm>
            <a:off x="6152918" y="1524046"/>
            <a:ext cx="2898093" cy="2462213"/>
            <a:chOff x="424889" y="1232489"/>
            <a:chExt cx="2762257" cy="2462213"/>
          </a:xfrm>
        </p:grpSpPr>
        <p:sp>
          <p:nvSpPr>
            <p:cNvPr id="8" name="ZoneTexte 7"/>
            <p:cNvSpPr txBox="1"/>
            <p:nvPr/>
          </p:nvSpPr>
          <p:spPr>
            <a:xfrm>
              <a:off x="581024" y="1232489"/>
              <a:ext cx="2606122" cy="2462213"/>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code article</a:t>
              </a:r>
            </a:p>
            <a:p>
              <a:endParaRPr lang="fr-FR" sz="1100" dirty="0" smtClean="0">
                <a:solidFill>
                  <a:srgbClr val="4D4F53"/>
                </a:solidFill>
              </a:endParaRPr>
            </a:p>
            <a:p>
              <a:r>
                <a:rPr lang="fr-FR" sz="1100" dirty="0" smtClean="0">
                  <a:solidFill>
                    <a:srgbClr val="4D4F53"/>
                  </a:solidFill>
                </a:rPr>
                <a:t>Renseigner la division</a:t>
              </a:r>
            </a:p>
            <a:p>
              <a:endParaRPr lang="fr-FR" sz="1100" dirty="0">
                <a:solidFill>
                  <a:srgbClr val="4D4F53"/>
                </a:solidFill>
              </a:endParaRPr>
            </a:p>
            <a:p>
              <a:r>
                <a:rPr lang="fr-FR" sz="1100" dirty="0" smtClean="0">
                  <a:solidFill>
                    <a:srgbClr val="4D4F53"/>
                  </a:solidFill>
                </a:rPr>
                <a:t>Appuyer sur Entrée</a:t>
              </a:r>
            </a:p>
            <a:p>
              <a:endParaRPr lang="fr-FR" sz="1100" dirty="0">
                <a:solidFill>
                  <a:srgbClr val="4D4F53"/>
                </a:solidFill>
              </a:endParaRPr>
            </a:p>
            <a:p>
              <a:r>
                <a:rPr lang="fr-FR" sz="1100" dirty="0" smtClean="0">
                  <a:solidFill>
                    <a:srgbClr val="4D4F53"/>
                  </a:solidFill>
                </a:rPr>
                <a:t>La ligne avec le type de magasin temporaire a disparu : la marchandises n’est plus en zone de réception puisqu’elle est maintenant rangée dans son emplacement</a:t>
              </a:r>
            </a:p>
            <a:p>
              <a:endParaRPr lang="fr-FR" sz="1100" dirty="0" smtClean="0">
                <a:solidFill>
                  <a:srgbClr val="4D4F53"/>
                </a:solidFill>
              </a:endParaRP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4" name="Ellipse 13"/>
            <p:cNvSpPr/>
            <p:nvPr/>
          </p:nvSpPr>
          <p:spPr>
            <a:xfrm>
              <a:off x="424889" y="26759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cxnSp>
        <p:nvCxnSpPr>
          <p:cNvPr id="64" name="Connecteur en angle 63"/>
          <p:cNvCxnSpPr/>
          <p:nvPr/>
        </p:nvCxnSpPr>
        <p:spPr>
          <a:xfrm>
            <a:off x="2750949" y="1785431"/>
            <a:ext cx="1191116" cy="400853"/>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 name="Image 2"/>
          <p:cNvPicPr>
            <a:picLocks noChangeAspect="1"/>
          </p:cNvPicPr>
          <p:nvPr/>
        </p:nvPicPr>
        <p:blipFill>
          <a:blip r:embed="rId2"/>
          <a:stretch>
            <a:fillRect/>
          </a:stretch>
        </p:blipFill>
        <p:spPr>
          <a:xfrm>
            <a:off x="457200" y="1103229"/>
            <a:ext cx="2629546" cy="3176632"/>
          </a:xfrm>
          <a:prstGeom prst="rect">
            <a:avLst/>
          </a:prstGeom>
        </p:spPr>
      </p:pic>
      <p:sp>
        <p:nvSpPr>
          <p:cNvPr id="66" name="Rectangle 65"/>
          <p:cNvSpPr/>
          <p:nvPr/>
        </p:nvSpPr>
        <p:spPr>
          <a:xfrm>
            <a:off x="1771974" y="1776188"/>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1771973" y="1916507"/>
            <a:ext cx="8583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1771975" y="2055672"/>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1583668" y="174030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9" name="Ellipse 28"/>
          <p:cNvSpPr/>
          <p:nvPr/>
        </p:nvSpPr>
        <p:spPr>
          <a:xfrm>
            <a:off x="1427932" y="1884894"/>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0" name="Ellipse 29"/>
          <p:cNvSpPr/>
          <p:nvPr/>
        </p:nvSpPr>
        <p:spPr>
          <a:xfrm>
            <a:off x="1212295" y="20241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4" name="Image 3"/>
          <p:cNvPicPr>
            <a:picLocks noChangeAspect="1"/>
          </p:cNvPicPr>
          <p:nvPr/>
        </p:nvPicPr>
        <p:blipFill>
          <a:blip r:embed="rId3"/>
          <a:stretch>
            <a:fillRect/>
          </a:stretch>
        </p:blipFill>
        <p:spPr>
          <a:xfrm>
            <a:off x="2439157" y="2175491"/>
            <a:ext cx="3487468" cy="2716490"/>
          </a:xfrm>
          <a:prstGeom prst="rect">
            <a:avLst/>
          </a:prstGeom>
        </p:spPr>
      </p:pic>
      <p:sp>
        <p:nvSpPr>
          <p:cNvPr id="25" name="Rectangle 24"/>
          <p:cNvSpPr/>
          <p:nvPr/>
        </p:nvSpPr>
        <p:spPr>
          <a:xfrm>
            <a:off x="2439157" y="4421537"/>
            <a:ext cx="3487468" cy="22879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1" name="Ellipse 30"/>
          <p:cNvSpPr/>
          <p:nvPr/>
        </p:nvSpPr>
        <p:spPr>
          <a:xfrm>
            <a:off x="3778251" y="445270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Tree>
    <p:extLst>
      <p:ext uri="{BB962C8B-B14F-4D97-AF65-F5344CB8AC3E}">
        <p14:creationId xmlns:p14="http://schemas.microsoft.com/office/powerpoint/2010/main" val="79226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MB03 </a:t>
            </a:r>
            <a:r>
              <a:rPr lang="fr-FR" altLang="en-US" dirty="0"/>
              <a:t>– </a:t>
            </a:r>
            <a:r>
              <a:rPr lang="fr-FR" altLang="en-US" dirty="0" smtClean="0"/>
              <a:t>Afficher les écritures comptables </a:t>
            </a:r>
            <a:endParaRPr lang="en-US" dirty="0"/>
          </a:p>
        </p:txBody>
      </p:sp>
      <p:grpSp>
        <p:nvGrpSpPr>
          <p:cNvPr id="7" name="Groupe 6"/>
          <p:cNvGrpSpPr/>
          <p:nvPr/>
        </p:nvGrpSpPr>
        <p:grpSpPr>
          <a:xfrm>
            <a:off x="5764955" y="1457875"/>
            <a:ext cx="3164197" cy="1615827"/>
            <a:chOff x="424889" y="1232489"/>
            <a:chExt cx="3015889" cy="1615827"/>
          </a:xfrm>
        </p:grpSpPr>
        <p:sp>
          <p:nvSpPr>
            <p:cNvPr id="8" name="ZoneTexte 7"/>
            <p:cNvSpPr txBox="1"/>
            <p:nvPr/>
          </p:nvSpPr>
          <p:spPr>
            <a:xfrm>
              <a:off x="581024" y="1232489"/>
              <a:ext cx="2859754" cy="1615827"/>
            </a:xfrm>
            <a:prstGeom prst="rect">
              <a:avLst/>
            </a:prstGeom>
            <a:noFill/>
          </p:spPr>
          <p:txBody>
            <a:bodyPr wrap="square" rtlCol="0">
              <a:spAutoFit/>
            </a:bodyPr>
            <a:lstStyle/>
            <a:p>
              <a:r>
                <a:rPr lang="fr-FR" sz="1100" dirty="0" smtClean="0">
                  <a:solidFill>
                    <a:srgbClr val="4D4F53"/>
                  </a:solidFill>
                </a:rPr>
                <a:t>Renseigner le document article</a:t>
              </a:r>
            </a:p>
            <a:p>
              <a:endParaRPr lang="fr-FR" sz="1100" dirty="0">
                <a:solidFill>
                  <a:srgbClr val="4D4F53"/>
                </a:solidFill>
              </a:endParaRPr>
            </a:p>
            <a:p>
              <a:r>
                <a:rPr lang="fr-FR" sz="1100" dirty="0" smtClean="0">
                  <a:solidFill>
                    <a:srgbClr val="4D4F53"/>
                  </a:solidFill>
                </a:rPr>
                <a:t>Renseigner l’exercice du doc. article</a:t>
              </a:r>
            </a:p>
            <a:p>
              <a:endParaRPr lang="fr-FR" sz="1100" dirty="0">
                <a:solidFill>
                  <a:srgbClr val="4D4F53"/>
                </a:solidFill>
              </a:endParaRPr>
            </a:p>
            <a:p>
              <a:r>
                <a:rPr lang="fr-FR" sz="1100" dirty="0" smtClean="0">
                  <a:solidFill>
                    <a:srgbClr val="4D4F53"/>
                  </a:solidFill>
                </a:rPr>
                <a:t>Appuyer sur Entrée</a:t>
              </a:r>
            </a:p>
            <a:p>
              <a:endParaRPr lang="fr-FR" sz="1100" dirty="0">
                <a:solidFill>
                  <a:srgbClr val="4D4F53"/>
                </a:solidFill>
              </a:endParaRPr>
            </a:p>
            <a:p>
              <a:r>
                <a:rPr lang="fr-FR" sz="1100" dirty="0" smtClean="0">
                  <a:solidFill>
                    <a:srgbClr val="4D4F53"/>
                  </a:solidFill>
                </a:rPr>
                <a:t>Cliquer sur « Pièces FI/CO »</a:t>
              </a:r>
            </a:p>
            <a:p>
              <a:endParaRPr lang="fr-FR" sz="1100" dirty="0" smtClean="0">
                <a:solidFill>
                  <a:srgbClr val="4D4F53"/>
                </a:solidFill>
              </a:endParaRPr>
            </a:p>
            <a:p>
              <a:r>
                <a:rPr lang="fr-FR" sz="1100" dirty="0" smtClean="0">
                  <a:solidFill>
                    <a:srgbClr val="4D4F53"/>
                  </a:solidFill>
                </a:rPr>
                <a:t>Les écritures comptables s’affichent</a:t>
              </a:r>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4" name="Ellipse 13"/>
            <p:cNvSpPr/>
            <p:nvPr/>
          </p:nvSpPr>
          <p:spPr>
            <a:xfrm>
              <a:off x="428090" y="2598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5" name="Image 4"/>
          <p:cNvPicPr>
            <a:picLocks noChangeAspect="1"/>
          </p:cNvPicPr>
          <p:nvPr/>
        </p:nvPicPr>
        <p:blipFill>
          <a:blip r:embed="rId2"/>
          <a:stretch>
            <a:fillRect/>
          </a:stretch>
        </p:blipFill>
        <p:spPr>
          <a:xfrm>
            <a:off x="208844" y="1089968"/>
            <a:ext cx="1964266" cy="1118806"/>
          </a:xfrm>
          <a:prstGeom prst="rect">
            <a:avLst/>
          </a:prstGeom>
        </p:spPr>
      </p:pic>
      <p:pic>
        <p:nvPicPr>
          <p:cNvPr id="13" name="Image 12"/>
          <p:cNvPicPr>
            <a:picLocks noChangeAspect="1"/>
          </p:cNvPicPr>
          <p:nvPr/>
        </p:nvPicPr>
        <p:blipFill>
          <a:blip r:embed="rId3"/>
          <a:stretch>
            <a:fillRect/>
          </a:stretch>
        </p:blipFill>
        <p:spPr>
          <a:xfrm>
            <a:off x="1653227" y="1377514"/>
            <a:ext cx="3986040" cy="1921718"/>
          </a:xfrm>
          <a:prstGeom prst="rect">
            <a:avLst/>
          </a:prstGeom>
        </p:spPr>
      </p:pic>
      <p:pic>
        <p:nvPicPr>
          <p:cNvPr id="15" name="Image 14"/>
          <p:cNvPicPr>
            <a:picLocks noChangeAspect="1"/>
          </p:cNvPicPr>
          <p:nvPr/>
        </p:nvPicPr>
        <p:blipFill>
          <a:blip r:embed="rId4"/>
          <a:stretch>
            <a:fillRect/>
          </a:stretch>
        </p:blipFill>
        <p:spPr>
          <a:xfrm>
            <a:off x="490357" y="2925121"/>
            <a:ext cx="3616880" cy="1990778"/>
          </a:xfrm>
          <a:prstGeom prst="rect">
            <a:avLst/>
          </a:prstGeom>
        </p:spPr>
      </p:pic>
      <p:sp>
        <p:nvSpPr>
          <p:cNvPr id="25" name="Rectangle 24"/>
          <p:cNvSpPr/>
          <p:nvPr/>
        </p:nvSpPr>
        <p:spPr>
          <a:xfrm>
            <a:off x="975763" y="2006320"/>
            <a:ext cx="240912" cy="2024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Rectangle 26"/>
          <p:cNvSpPr/>
          <p:nvPr/>
        </p:nvSpPr>
        <p:spPr>
          <a:xfrm>
            <a:off x="980746" y="1805662"/>
            <a:ext cx="543253" cy="20065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3232879" y="1607546"/>
            <a:ext cx="627921" cy="19811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491067" y="4390257"/>
            <a:ext cx="3369733" cy="52564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64" name="Connecteur en angle 63"/>
          <p:cNvCxnSpPr>
            <a:stCxn id="32" idx="2"/>
            <a:endCxn id="15" idx="0"/>
          </p:cNvCxnSpPr>
          <p:nvPr/>
        </p:nvCxnSpPr>
        <p:spPr>
          <a:xfrm rot="5400000">
            <a:off x="2363090" y="1741370"/>
            <a:ext cx="1119459" cy="1248043"/>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4" name="Ellipse 33"/>
          <p:cNvSpPr/>
          <p:nvPr/>
        </p:nvSpPr>
        <p:spPr>
          <a:xfrm>
            <a:off x="767222" y="174030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5" name="Ellipse 34"/>
          <p:cNvSpPr/>
          <p:nvPr/>
        </p:nvSpPr>
        <p:spPr>
          <a:xfrm>
            <a:off x="1248535" y="202850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6" name="Ellipse 35"/>
          <p:cNvSpPr/>
          <p:nvPr/>
        </p:nvSpPr>
        <p:spPr>
          <a:xfrm>
            <a:off x="3917658" y="160048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7" name="Ellipse 36"/>
          <p:cNvSpPr/>
          <p:nvPr/>
        </p:nvSpPr>
        <p:spPr>
          <a:xfrm>
            <a:off x="3902111" y="457579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Tree>
    <p:extLst>
      <p:ext uri="{BB962C8B-B14F-4D97-AF65-F5344CB8AC3E}">
        <p14:creationId xmlns:p14="http://schemas.microsoft.com/office/powerpoint/2010/main" val="9348580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927004" y="1103018"/>
            <a:ext cx="2201466" cy="756458"/>
          </a:xfrm>
          <a:prstGeom prst="rect">
            <a:avLst/>
          </a:prstGeom>
          <a:noFill/>
          <a:ln w="12700" algn="ctr">
            <a:noFill/>
            <a:miter lim="800000"/>
            <a:headEnd/>
            <a:tailEnd/>
          </a:ln>
        </p:spPr>
        <p:txBody>
          <a:bodyPr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Effectuer une réception en référence à une commande d’achat </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597956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447219"/>
          </a:xfrm>
        </p:spPr>
        <p:txBody>
          <a:bodyPr/>
          <a:lstStyle/>
          <a:p>
            <a:pPr lvl="0"/>
            <a:endParaRPr lang="fr-FR" dirty="0"/>
          </a:p>
          <a:p>
            <a:pPr>
              <a:buFont typeface="Arial" charset="0"/>
              <a:buChar char="•"/>
              <a:defRPr/>
            </a:pPr>
            <a:r>
              <a:rPr lang="fr-FR" dirty="0" smtClean="0">
                <a:ea typeface="ＭＳ Ｐゴシック" pitchFamily="-65" charset="-128"/>
              </a:rPr>
              <a:t>Les réceptions sur commande d’achat sont effectuées avec une entrée de marchandises effective dès la sauvegarde de la MIGO pour le module MM. </a:t>
            </a:r>
          </a:p>
          <a:p>
            <a:pPr>
              <a:buFont typeface="Arial" charset="0"/>
              <a:buChar char="•"/>
              <a:defRPr/>
            </a:pPr>
            <a:r>
              <a:rPr lang="fr-FR" dirty="0" smtClean="0">
                <a:ea typeface="ＭＳ Ｐゴシック" pitchFamily="-65" charset="-128"/>
              </a:rPr>
              <a:t>Pour les magasins WM, une étape de plus est nécessaire, il s’agit de la création et confirmation d’un ordre de transfert afin d’aller prendre les articles de la zone temporaire de réception pour aller les ranger dans un emplacement cible.</a:t>
            </a:r>
          </a:p>
          <a:p>
            <a:pPr>
              <a:defRPr/>
            </a:pPr>
            <a:r>
              <a:rPr lang="fr-FR" dirty="0" smtClean="0">
                <a:ea typeface="ＭＳ Ｐゴシック" pitchFamily="-65" charset="-128"/>
              </a:rPr>
              <a:t>Pour les articles gérés par lot et DLC, la DLC est à renseigner obligatoirement pendant l’entrée de marchandise de la MIGO et le lot est créé automatiquement à ce même moment.</a:t>
            </a:r>
          </a:p>
          <a:p>
            <a:pPr>
              <a:buFont typeface="Arial" charset="0"/>
              <a:buChar char="•"/>
              <a:defRPr/>
            </a:pPr>
            <a:endParaRPr lang="fr-FR" dirty="0">
              <a:ea typeface="ＭＳ Ｐゴシック" pitchFamily="-65" charset="-128"/>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VHEKTECQ7ECW-1532981086-4350</_dlc_DocId>
    <_dlc_DocIdUrl xmlns="f36dd47d-0b23-43fd-9b2d-c5346ffa1660">
      <Url>http://projets.cbg-guinee.com/erp/_layouts/15/DocIdRedir.aspx?ID=VHEKTECQ7ECW-1532981086-4350</Url>
      <Description>VHEKTECQ7ECW-1532981086-4350</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282805-8A11-4BA1-B80C-5A3269C5B3EF}"/>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7F4FDFD-3592-4F5A-A1A4-E067C80B2085}"/>
</file>

<file path=customXml/itemProps4.xml><?xml version="1.0" encoding="utf-8"?>
<ds:datastoreItem xmlns:ds="http://schemas.openxmlformats.org/officeDocument/2006/customXml" ds:itemID="{DFE7DD0B-0BE8-4E24-A363-4DD0A01C5DCF}"/>
</file>

<file path=docProps/app.xml><?xml version="1.0" encoding="utf-8"?>
<Properties xmlns="http://schemas.openxmlformats.org/officeDocument/2006/extended-properties" xmlns:vt="http://schemas.openxmlformats.org/officeDocument/2006/docPropsVTypes">
  <Template/>
  <TotalTime>0</TotalTime>
  <Words>1365</Words>
  <Application>Microsoft Office PowerPoint</Application>
  <PresentationFormat>Affichage à l'écran (16:9)</PresentationFormat>
  <Paragraphs>343</Paragraphs>
  <Slides>27</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27</vt:i4>
      </vt:variant>
    </vt:vector>
  </HeadingPairs>
  <TitlesOfParts>
    <vt:vector size="35"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Agenda : 1h40</vt:lpstr>
      <vt:lpstr>Présentation PowerPoint</vt:lpstr>
      <vt:lpstr>Description du processus métier Les enjeux du processus</vt:lpstr>
      <vt:lpstr>Description du processus métier Réception locale</vt:lpstr>
      <vt:lpstr>Description du processus métier</vt:lpstr>
      <vt:lpstr>Présentation PowerPoint</vt:lpstr>
      <vt:lpstr>Mode opératoire Présentation du mode opératoire dans SAP  </vt:lpstr>
      <vt:lpstr>Mode opératoire MIGO – Effectuer l’entrée de marchandises 1/2</vt:lpstr>
      <vt:lpstr>Mode opératoire MIGO – Effectuer l’entrée de marchandises 2/2</vt:lpstr>
      <vt:lpstr>Description des objets SAP</vt:lpstr>
      <vt:lpstr>Description des objets SAP</vt:lpstr>
      <vt:lpstr>Description des objets SAP</vt:lpstr>
      <vt:lpstr>Mode opératoire MMBE – Afficher la synthèse du stock MM</vt:lpstr>
      <vt:lpstr>Description des objets SAP</vt:lpstr>
      <vt:lpstr>Mode opératoire MB90 – Imprimer les étiquettes de lots et le bon de réception</vt:lpstr>
      <vt:lpstr>Mode opératoire LT31 – Imprimer l’ordre de transfert</vt:lpstr>
      <vt:lpstr>Mode opératoire LS24 – Afficher la vision du stock selon WM</vt:lpstr>
      <vt:lpstr>Mode opératoire LT22 – Confirmer l’OT</vt:lpstr>
      <vt:lpstr>Mode opératoire LS24 – Afficher la vision du stock selon WM (après la confirmation de l’OT)</vt:lpstr>
      <vt:lpstr>Mode opératoire MB03 – Afficher les écritures comptables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Desquirez, Chloe</cp:lastModifiedBy>
  <cp:revision>3908</cp:revision>
  <cp:lastPrinted>2015-04-23T03:57:16Z</cp:lastPrinted>
  <dcterms:created xsi:type="dcterms:W3CDTF">2012-05-17T14:14:37Z</dcterms:created>
  <dcterms:modified xsi:type="dcterms:W3CDTF">2015-12-09T09:21:52Z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43d3917d-bc5e-4213-8ea9-b7d6613fb15e</vt:lpwstr>
  </property>
</Properties>
</file>