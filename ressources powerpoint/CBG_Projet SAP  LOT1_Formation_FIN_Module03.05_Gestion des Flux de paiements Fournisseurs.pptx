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30.xml" ContentType="application/vnd.openxmlformats-officedocument.presentationml.slide+xml"/>
  <Override PartName="/ppt/slides/slide31.xml" ContentType="application/vnd.openxmlformats-officedocument.presentationml.slide+xml"/>
  <Override PartName="/ppt/presentation.xml" ContentType="application/vnd.openxmlformats-officedocument.presentationml.presentation.main+xml"/>
  <Override PartName="/ppt/slides/slide29.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xml" ContentType="application/vnd.openxmlformats-officedocument.presentationml.slide+xml"/>
  <Override PartName="/ppt/slides/slide17.xml" ContentType="application/vnd.openxmlformats-officedocument.presentationml.slide+xml"/>
  <Override PartName="/ppt/slides/slide28.xml" ContentType="application/vnd.openxmlformats-officedocument.presentationml.slide+xml"/>
  <Override PartName="/ppt/notesSlides/notesSlide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notesSlides/notesSlide6.xml" ContentType="application/vnd.openxmlformats-officedocument.presentationml.notes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5.xml" ContentType="application/vnd.openxmlformats-officedocument.presentationml.slideLayout+xml"/>
  <Override PartName="/ppt/notesSlides/notesSlide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36"/>
  </p:notesMasterIdLst>
  <p:handoutMasterIdLst>
    <p:handoutMasterId r:id="rId37"/>
  </p:handoutMasterIdLst>
  <p:sldIdLst>
    <p:sldId id="685" r:id="rId5"/>
    <p:sldId id="686" r:id="rId6"/>
    <p:sldId id="687" r:id="rId7"/>
    <p:sldId id="792" r:id="rId8"/>
    <p:sldId id="723" r:id="rId9"/>
    <p:sldId id="769" r:id="rId10"/>
    <p:sldId id="806" r:id="rId11"/>
    <p:sldId id="724" r:id="rId12"/>
    <p:sldId id="807" r:id="rId13"/>
    <p:sldId id="765" r:id="rId14"/>
    <p:sldId id="809" r:id="rId15"/>
    <p:sldId id="810" r:id="rId16"/>
    <p:sldId id="811" r:id="rId17"/>
    <p:sldId id="812" r:id="rId18"/>
    <p:sldId id="808" r:id="rId19"/>
    <p:sldId id="793" r:id="rId20"/>
    <p:sldId id="780" r:id="rId21"/>
    <p:sldId id="794" r:id="rId22"/>
    <p:sldId id="796" r:id="rId23"/>
    <p:sldId id="797" r:id="rId24"/>
    <p:sldId id="798" r:id="rId25"/>
    <p:sldId id="799" r:id="rId26"/>
    <p:sldId id="800" r:id="rId27"/>
    <p:sldId id="802" r:id="rId28"/>
    <p:sldId id="801" r:id="rId29"/>
    <p:sldId id="803" r:id="rId30"/>
    <p:sldId id="804" r:id="rId31"/>
    <p:sldId id="699" r:id="rId32"/>
    <p:sldId id="725" r:id="rId33"/>
    <p:sldId id="710" r:id="rId34"/>
    <p:sldId id="728" r:id="rId35"/>
  </p:sldIdLst>
  <p:sldSz cx="9144000" cy="5143500" type="screen16x9"/>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24" userDrawn="1">
          <p15:clr>
            <a:srgbClr val="A4A3A4"/>
          </p15:clr>
        </p15:guide>
        <p15:guide id="3"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9BD3"/>
    <a:srgbClr val="D3D5FF"/>
    <a:srgbClr val="A7ABFF"/>
    <a:srgbClr val="C5C8FF"/>
    <a:srgbClr val="004376"/>
    <a:srgbClr val="4F81BD"/>
    <a:srgbClr val="F3F4FF"/>
    <a:srgbClr val="E7E8FF"/>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76" autoAdjust="0"/>
    <p:restoredTop sz="95565" autoAdjust="0"/>
  </p:normalViewPr>
  <p:slideViewPr>
    <p:cSldViewPr snapToGrid="0" snapToObjects="1">
      <p:cViewPr varScale="1">
        <p:scale>
          <a:sx n="123" d="100"/>
          <a:sy n="123" d="100"/>
        </p:scale>
        <p:origin x="234" y="108"/>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3127"/>
        <p:guide pos="2124"/>
        <p:guide pos="214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ustomXml" Target="../customXml/item4.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2945659" cy="496411"/>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3850445" y="2"/>
            <a:ext cx="2945659" cy="496411"/>
          </a:xfrm>
          <a:prstGeom prst="rect">
            <a:avLst/>
          </a:prstGeom>
        </p:spPr>
        <p:txBody>
          <a:bodyPr vert="horz" lIns="91427" tIns="45714" rIns="91427" bIns="45714" rtlCol="0"/>
          <a:lstStyle>
            <a:lvl1pPr algn="r">
              <a:defRPr sz="1200"/>
            </a:lvl1pPr>
          </a:lstStyle>
          <a:p>
            <a:fld id="{4FCF4903-D1A4-F14A-B207-A0D2CC9D4B8B}" type="datetimeFigureOut">
              <a:rPr lang="en-US" smtClean="0"/>
              <a:t>1/26/2016</a:t>
            </a:fld>
            <a:endParaRPr lang="en-US" dirty="0"/>
          </a:p>
        </p:txBody>
      </p:sp>
      <p:sp>
        <p:nvSpPr>
          <p:cNvPr id="4" name="Footer Placeholder 3"/>
          <p:cNvSpPr>
            <a:spLocks noGrp="1"/>
          </p:cNvSpPr>
          <p:nvPr>
            <p:ph type="ftr" sz="quarter" idx="2"/>
          </p:nvPr>
        </p:nvSpPr>
        <p:spPr>
          <a:xfrm>
            <a:off x="1" y="9430093"/>
            <a:ext cx="2945659" cy="496411"/>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50445" y="9430093"/>
            <a:ext cx="2945659" cy="496411"/>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2945659" cy="496411"/>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3850445" y="2"/>
            <a:ext cx="2945659" cy="496411"/>
          </a:xfrm>
          <a:prstGeom prst="rect">
            <a:avLst/>
          </a:prstGeom>
        </p:spPr>
        <p:txBody>
          <a:bodyPr vert="horz" lIns="91427" tIns="45714" rIns="91427" bIns="45714" rtlCol="0"/>
          <a:lstStyle>
            <a:lvl1pPr algn="r">
              <a:defRPr sz="1200"/>
            </a:lvl1pPr>
          </a:lstStyle>
          <a:p>
            <a:fld id="{BC5B4241-C98F-4766-9E25-5F8403374385}" type="datetimeFigureOut">
              <a:rPr lang="de-DE" smtClean="0"/>
              <a:t>26.01.2016</a:t>
            </a:fld>
            <a:endParaRPr lang="de-DE" dirty="0"/>
          </a:p>
        </p:txBody>
      </p:sp>
      <p:sp>
        <p:nvSpPr>
          <p:cNvPr id="4" name="Folienbildplatzhalter 3"/>
          <p:cNvSpPr>
            <a:spLocks noGrp="1" noRot="1" noChangeAspect="1"/>
          </p:cNvSpPr>
          <p:nvPr>
            <p:ph type="sldImg" idx="2"/>
          </p:nvPr>
        </p:nvSpPr>
        <p:spPr>
          <a:xfrm>
            <a:off x="87313" y="742950"/>
            <a:ext cx="6623050" cy="3725863"/>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679768" y="4715907"/>
            <a:ext cx="5438140" cy="4467701"/>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9430093"/>
            <a:ext cx="2945659" cy="496411"/>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3850445" y="9430093"/>
            <a:ext cx="2945659" cy="496411"/>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5</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8</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28</a:t>
            </a:fld>
            <a:endParaRPr lang="fr-FR" altLang="en-US" sz="1200"/>
          </a:p>
        </p:txBody>
      </p:sp>
      <p:sp>
        <p:nvSpPr>
          <p:cNvPr id="51203" name="Rectangle 2"/>
          <p:cNvSpPr>
            <a:spLocks noGrp="1" noRot="1" noChangeAspect="1" noChangeArrowheads="1" noTextEdit="1"/>
          </p:cNvSpPr>
          <p:nvPr>
            <p:ph type="sldImg"/>
          </p:nvPr>
        </p:nvSpPr>
        <p:spPr bwMode="auto">
          <a:xfrm>
            <a:off x="-676275" y="238125"/>
            <a:ext cx="8139113" cy="45799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53272" y="8579574"/>
            <a:ext cx="5485042" cy="1148540"/>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599675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29</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26/01/2016</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1.png"/><Relationship Id="rId7"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16.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6.png"/><Relationship Id="rId18" Type="http://schemas.openxmlformats.org/officeDocument/2006/relationships/image" Target="../media/image51.png"/><Relationship Id="rId3" Type="http://schemas.openxmlformats.org/officeDocument/2006/relationships/image" Target="../media/image28.png"/><Relationship Id="rId7" Type="http://schemas.openxmlformats.org/officeDocument/2006/relationships/image" Target="../media/image42.png"/><Relationship Id="rId12" Type="http://schemas.openxmlformats.org/officeDocument/2006/relationships/image" Target="../media/image45.png"/><Relationship Id="rId17" Type="http://schemas.openxmlformats.org/officeDocument/2006/relationships/image" Target="../media/image50.png"/><Relationship Id="rId2" Type="http://schemas.openxmlformats.org/officeDocument/2006/relationships/image" Target="../media/image41.png"/><Relationship Id="rId16" Type="http://schemas.openxmlformats.org/officeDocument/2006/relationships/image" Target="../media/image49.png"/><Relationship Id="rId1" Type="http://schemas.openxmlformats.org/officeDocument/2006/relationships/slideLayout" Target="../slideLayouts/slideLayout3.xml"/><Relationship Id="rId6" Type="http://schemas.openxmlformats.org/officeDocument/2006/relationships/image" Target="../media/image40.png"/><Relationship Id="rId11" Type="http://schemas.openxmlformats.org/officeDocument/2006/relationships/image" Target="../media/image36.png"/><Relationship Id="rId5" Type="http://schemas.openxmlformats.org/officeDocument/2006/relationships/image" Target="../media/image35.png"/><Relationship Id="rId15" Type="http://schemas.openxmlformats.org/officeDocument/2006/relationships/image" Target="../media/image48.png"/><Relationship Id="rId10" Type="http://schemas.openxmlformats.org/officeDocument/2006/relationships/image" Target="../media/image32.png"/><Relationship Id="rId4" Type="http://schemas.openxmlformats.org/officeDocument/2006/relationships/image" Target="../media/image29.png"/><Relationship Id="rId9" Type="http://schemas.openxmlformats.org/officeDocument/2006/relationships/image" Target="../media/image44.png"/><Relationship Id="rId14" Type="http://schemas.openxmlformats.org/officeDocument/2006/relationships/image" Target="../media/image47.png"/></Relationships>
</file>

<file path=ppt/slides/_rels/slide17.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3.png"/><Relationship Id="rId7" Type="http://schemas.openxmlformats.org/officeDocument/2006/relationships/image" Target="../media/image55.png"/><Relationship Id="rId12" Type="http://schemas.openxmlformats.org/officeDocument/2006/relationships/image" Target="../media/image59.png"/><Relationship Id="rId2" Type="http://schemas.openxmlformats.org/officeDocument/2006/relationships/image" Target="../media/image52.png"/><Relationship Id="rId1" Type="http://schemas.openxmlformats.org/officeDocument/2006/relationships/slideLayout" Target="../slideLayouts/slideLayout3.xml"/><Relationship Id="rId6" Type="http://schemas.openxmlformats.org/officeDocument/2006/relationships/image" Target="../media/image32.png"/><Relationship Id="rId11" Type="http://schemas.openxmlformats.org/officeDocument/2006/relationships/image" Target="../media/image35.png"/><Relationship Id="rId5" Type="http://schemas.openxmlformats.org/officeDocument/2006/relationships/image" Target="../media/image44.png"/><Relationship Id="rId10" Type="http://schemas.openxmlformats.org/officeDocument/2006/relationships/image" Target="../media/image58.png"/><Relationship Id="rId4" Type="http://schemas.openxmlformats.org/officeDocument/2006/relationships/image" Target="../media/image54.png"/><Relationship Id="rId9" Type="http://schemas.openxmlformats.org/officeDocument/2006/relationships/image" Target="../media/image57.png"/></Relationships>
</file>

<file path=ppt/slides/_rels/slide1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3.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1.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image" Target="../media/image44.png"/><Relationship Id="rId1" Type="http://schemas.openxmlformats.org/officeDocument/2006/relationships/slideLayout" Target="../slideLayouts/slideLayout3.xml"/><Relationship Id="rId6" Type="http://schemas.openxmlformats.org/officeDocument/2006/relationships/image" Target="../media/image71.png"/><Relationship Id="rId5" Type="http://schemas.openxmlformats.org/officeDocument/2006/relationships/image" Target="../media/image70.png"/><Relationship Id="rId10" Type="http://schemas.openxmlformats.org/officeDocument/2006/relationships/image" Target="../media/image75.png"/><Relationship Id="rId4" Type="http://schemas.openxmlformats.org/officeDocument/2006/relationships/image" Target="../media/image69.png"/><Relationship Id="rId9" Type="http://schemas.openxmlformats.org/officeDocument/2006/relationships/image" Target="../media/image74.png"/></Relationships>
</file>

<file path=ppt/slides/_rels/slide2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3.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2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3.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24.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image" Target="../media/image86.png"/><Relationship Id="rId1" Type="http://schemas.openxmlformats.org/officeDocument/2006/relationships/slideLayout" Target="../slideLayouts/slideLayout3.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2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9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FINANCE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 03.05</a:t>
            </a:r>
            <a:r>
              <a:rPr lang="fr-FR" sz="2000" b="1" dirty="0">
                <a:solidFill>
                  <a:srgbClr val="0070C0"/>
                </a:solidFill>
                <a:latin typeface="Arial" charset="0"/>
                <a:cs typeface="Arial" charset="0"/>
              </a:rPr>
              <a:t/>
            </a:r>
            <a:br>
              <a:rPr lang="fr-FR" sz="2000" b="1" dirty="0">
                <a:solidFill>
                  <a:srgbClr val="0070C0"/>
                </a:solidFill>
                <a:latin typeface="Arial" charset="0"/>
                <a:cs typeface="Arial" charset="0"/>
              </a:rPr>
            </a:br>
            <a:r>
              <a:rPr lang="fr-FR" sz="2000" b="1" dirty="0" smtClean="0">
                <a:solidFill>
                  <a:srgbClr val="0070C0"/>
                </a:solidFill>
                <a:latin typeface="Arial" charset="0"/>
                <a:cs typeface="Arial" charset="0"/>
              </a:rPr>
              <a:t>Gestion des Flux de Paiements Fournisseurs</a:t>
            </a:r>
            <a:endParaRPr lang="fr-FR" sz="1800" dirty="0" smtClean="0">
              <a:solidFill>
                <a:srgbClr val="0070C0"/>
              </a:solidFill>
              <a:latin typeface="Arial" charset="0"/>
              <a:cs typeface="Arial" charset="0"/>
            </a:endParaRPr>
          </a:p>
        </p:txBody>
      </p:sp>
      <p:sp>
        <p:nvSpPr>
          <p:cNvPr id="21506" name="Rectangle 2"/>
          <p:cNvSpPr>
            <a:spLocks noGrp="1"/>
          </p:cNvSpPr>
          <p:nvPr>
            <p:ph type="ctrTitle" idx="4294967295"/>
          </p:nvPr>
        </p:nvSpPr>
        <p:spPr>
          <a:xfrm>
            <a:off x="6245817" y="4002921"/>
            <a:ext cx="2772366" cy="708563"/>
          </a:xfrm>
        </p:spPr>
        <p:txBody>
          <a:bodyPr>
            <a:normAutofit/>
          </a:bodyPr>
          <a:lstStyle/>
          <a:p>
            <a:pPr algn="r" defTabSz="457200"/>
            <a:r>
              <a:rPr lang="fr-FR" altLang="en-US" sz="1800" dirty="0" smtClean="0">
                <a:solidFill>
                  <a:schemeClr val="tx1"/>
                </a:solidFill>
                <a:latin typeface="Arial" charset="0"/>
              </a:rPr>
              <a:t>Kamsar, le </a:t>
            </a:r>
            <a:r>
              <a:rPr lang="fr-FR" altLang="en-US" sz="1800" dirty="0" smtClean="0">
                <a:solidFill>
                  <a:schemeClr val="tx1"/>
                </a:solidFill>
                <a:latin typeface="Arial" charset="0"/>
              </a:rPr>
              <a:t>27</a:t>
            </a:r>
            <a:r>
              <a:rPr lang="fr-FR" altLang="en-US" sz="1800" dirty="0" smtClean="0">
                <a:solidFill>
                  <a:schemeClr val="tx1"/>
                </a:solidFill>
                <a:latin typeface="Arial" charset="0"/>
              </a:rPr>
              <a:t>.01.2016</a:t>
            </a:r>
            <a:endParaRPr lang="en-US" altLang="en-US" sz="1800" dirty="0">
              <a:solidFill>
                <a:schemeClr val="tx1"/>
              </a:solidFill>
              <a:latin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 </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2</a:t>
            </a:fld>
            <a:endParaRPr lang="fr-FR" altLang="en-US" sz="750"/>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23555" name="Slide Number Placeholder 3"/>
          <p:cNvSpPr>
            <a:spLocks noGrp="1"/>
          </p:cNvSpPr>
          <p:nvPr>
            <p:ph type="sldNum" sz="quarter" idx="4294967295"/>
          </p:nvPr>
        </p:nvSpPr>
        <p:spPr bwMode="auto">
          <a:xfrm>
            <a:off x="7543800" y="4767263"/>
            <a:ext cx="16002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6376B89C-69A1-4AA7-8B55-052D6C772B02}" type="slidenum">
              <a:rPr lang="en-US" altLang="en-US" sz="750"/>
              <a:pPr eaLnBrk="1" hangingPunct="1"/>
              <a:t>3</a:t>
            </a:fld>
            <a:endParaRPr lang="en-US" altLang="en-US" sz="750"/>
          </a:p>
        </p:txBody>
      </p:sp>
      <p:sp>
        <p:nvSpPr>
          <p:cNvPr id="5" name="Rectangle 4"/>
          <p:cNvSpPr/>
          <p:nvPr/>
        </p:nvSpPr>
        <p:spPr>
          <a:xfrm>
            <a:off x="1763272" y="1316481"/>
            <a:ext cx="458985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gère les flux de paiement fournisseurs</a:t>
            </a:r>
          </a:p>
          <a:p>
            <a:pPr eaLnBrk="0" hangingPunct="0">
              <a:spcBef>
                <a:spcPts val="225"/>
              </a:spcBef>
              <a:buClr>
                <a:srgbClr val="4F81BD"/>
              </a:buClr>
              <a:defRPr/>
            </a:pPr>
            <a:r>
              <a:rPr lang="fr-FR" sz="900" dirty="0" smtClean="0">
                <a:solidFill>
                  <a:schemeClr val="tx1"/>
                </a:solidFill>
                <a:latin typeface="Arial" pitchFamily="34" charset="0"/>
                <a:cs typeface="Arial" pitchFamily="34" charset="0"/>
              </a:rPr>
              <a:t>    </a:t>
            </a:r>
            <a:endParaRPr lang="fr-FR" sz="900" dirty="0">
              <a:solidFill>
                <a:schemeClr val="tx1"/>
              </a:solidFill>
              <a:latin typeface="Arial" pitchFamily="34" charset="0"/>
              <a:cs typeface="Arial" pitchFamily="34" charset="0"/>
            </a:endParaRPr>
          </a:p>
        </p:txBody>
      </p:sp>
      <p:sp>
        <p:nvSpPr>
          <p:cNvPr id="7" name="Rectangle 6"/>
          <p:cNvSpPr/>
          <p:nvPr/>
        </p:nvSpPr>
        <p:spPr>
          <a:xfrm>
            <a:off x="1763272" y="3689526"/>
            <a:ext cx="4589859" cy="531618"/>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Gérer le règlement d’un fournisseur par chèque manuel</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Préparer et gérer la campagne de paiements  </a:t>
            </a:r>
            <a:endParaRPr lang="fr-FR" sz="900" dirty="0">
              <a:solidFill>
                <a:schemeClr val="tx1"/>
              </a:solidFill>
              <a:latin typeface="Arial" pitchFamily="34" charset="0"/>
              <a:cs typeface="Arial" pitchFamily="34" charset="0"/>
            </a:endParaRPr>
          </a:p>
          <a:p>
            <a:pPr marL="67866" lvl="1" indent="-67866" eaLnBrk="0" hangingPunct="0">
              <a:spcBef>
                <a:spcPts val="225"/>
              </a:spcBef>
              <a:buClr>
                <a:srgbClr val="4F81BD"/>
              </a:buClr>
              <a:buFont typeface="Arial" charset="0"/>
              <a:buChar char="•"/>
              <a:defRPr/>
            </a:pPr>
            <a:endParaRPr lang="fr-FR" sz="900" dirty="0" smtClean="0">
              <a:solidFill>
                <a:schemeClr val="tx1"/>
              </a:solidFill>
              <a:latin typeface="Arial" pitchFamily="34" charset="0"/>
              <a:cs typeface="Arial" pitchFamily="34" charset="0"/>
            </a:endParaRPr>
          </a:p>
        </p:txBody>
      </p:sp>
      <p:sp>
        <p:nvSpPr>
          <p:cNvPr id="11" name="Rectangle 10"/>
          <p:cNvSpPr/>
          <p:nvPr/>
        </p:nvSpPr>
        <p:spPr>
          <a:xfrm>
            <a:off x="1733284" y="3389444"/>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52317" y="1012639"/>
            <a:ext cx="755335" cy="300082"/>
          </a:xfrm>
          <a:prstGeom prst="rect">
            <a:avLst/>
          </a:prstGeom>
          <a:noFill/>
        </p:spPr>
        <p:txBody>
          <a:bodyPr wrap="none">
            <a:spAutoFit/>
          </a:bodyPr>
          <a:lstStyle/>
          <a:p>
            <a:pPr algn="ctr" eaLnBrk="0" hangingPunct="0">
              <a:spcBef>
                <a:spcPct val="20000"/>
              </a:spcBef>
              <a:buFont typeface="Arial" charset="0"/>
              <a:buNone/>
              <a:defRPr/>
            </a:pPr>
            <a:r>
              <a:rPr lang="fr-FR" sz="1350" b="1" dirty="0" smtClean="0">
                <a:solidFill>
                  <a:srgbClr val="4F81BD"/>
                </a:solidFill>
                <a:cs typeface="Arial" pitchFamily="34" charset="0"/>
              </a:rPr>
              <a:t>Objectif</a:t>
            </a:r>
            <a:endParaRPr lang="fr-FR" sz="1350" b="1" dirty="0">
              <a:solidFill>
                <a:srgbClr val="4F81BD"/>
              </a:solidFill>
              <a:cs typeface="Arial" pitchFamily="34" charset="0"/>
            </a:endParaRP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a:t>
              </a:r>
              <a:r>
                <a:rPr lang="fr-FR" sz="900" dirty="0" smtClean="0">
                  <a:solidFill>
                    <a:schemeClr val="tx1"/>
                  </a:solidFill>
                  <a:latin typeface="Arial" pitchFamily="34" charset="0"/>
                  <a:cs typeface="Arial" pitchFamily="34" charset="0"/>
                </a:rPr>
                <a:t> Heure</a:t>
              </a:r>
              <a:endParaRPr lang="fr-FR" sz="900" dirty="0">
                <a:solidFill>
                  <a:schemeClr val="tx1"/>
                </a:solidFill>
                <a:latin typeface="Arial" pitchFamily="34" charset="0"/>
                <a:cs typeface="Arial" pitchFamily="34" charset="0"/>
              </a:endParaRP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Comptables Fournisseurs et Trésoriers   </a:t>
              </a:r>
            </a:p>
            <a:p>
              <a:pPr eaLnBrk="0" hangingPunct="0">
                <a:spcBef>
                  <a:spcPts val="225"/>
                </a:spcBef>
                <a:buClr>
                  <a:srgbClr val="4F81BD"/>
                </a:buClr>
                <a:defRPr/>
              </a:pPr>
              <a:endParaRPr lang="fr-FR" sz="900" dirty="0" smtClean="0">
                <a:solidFill>
                  <a:schemeClr val="tx1"/>
                </a:solidFill>
                <a:latin typeface="Arial" pitchFamily="34" charset="0"/>
                <a:cs typeface="Arial" pitchFamily="34" charset="0"/>
              </a:endParaRP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2"/>
          <p:cNvSpPr>
            <a:spLocks noGrp="1"/>
          </p:cNvSpPr>
          <p:nvPr>
            <p:ph type="title"/>
          </p:nvPr>
        </p:nvSpPr>
        <p:spPr/>
        <p:txBody>
          <a:bodyPr>
            <a:normAutofit/>
          </a:bodyPr>
          <a:lstStyle/>
          <a:p>
            <a:r>
              <a:rPr lang="fr-FR" altLang="en-US" dirty="0"/>
              <a:t>Agenda : 2h00</a:t>
            </a:r>
            <a:endParaRPr lang="en-US" altLang="en-US" dirty="0"/>
          </a:p>
        </p:txBody>
      </p:sp>
      <p:graphicFrame>
        <p:nvGraphicFramePr>
          <p:cNvPr id="6" name="Espace réservé du contenu 5"/>
          <p:cNvGraphicFramePr>
            <a:graphicFrameLocks noGrp="1"/>
          </p:cNvGraphicFramePr>
          <p:nvPr>
            <p:ph idx="1"/>
            <p:extLst/>
          </p:nvPr>
        </p:nvGraphicFramePr>
        <p:xfrm>
          <a:off x="2758033" y="1291506"/>
          <a:ext cx="3627934" cy="1967902"/>
        </p:xfrm>
        <a:graphic>
          <a:graphicData uri="http://schemas.openxmlformats.org/drawingml/2006/table">
            <a:tbl>
              <a:tblPr firstRow="1" bandRow="1">
                <a:tableStyleId>{5C22544A-7EE6-4342-B048-85BDC9FD1C3A}</a:tableStyleId>
              </a:tblPr>
              <a:tblGrid>
                <a:gridCol w="1125910"/>
                <a:gridCol w="2502024"/>
              </a:tblGrid>
              <a:tr h="309310">
                <a:tc>
                  <a:txBody>
                    <a:bodyPr/>
                    <a:lstStyle/>
                    <a:p>
                      <a:pPr algn="ctr"/>
                      <a:r>
                        <a:rPr lang="fr-FR" sz="900" dirty="0" smtClean="0"/>
                        <a:t>Horaire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c>
                  <a:txBody>
                    <a:bodyPr/>
                    <a:lstStyle/>
                    <a:p>
                      <a:pPr algn="ctr">
                        <a:lnSpc>
                          <a:spcPct val="100000"/>
                        </a:lnSpc>
                        <a:spcBef>
                          <a:spcPts val="0"/>
                        </a:spcBef>
                        <a:spcAft>
                          <a:spcPts val="0"/>
                        </a:spcAft>
                      </a:pPr>
                      <a:r>
                        <a:rPr lang="fr-FR" sz="900" dirty="0" smtClean="0"/>
                        <a:t>Agenda Matinée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r>
              <a:tr h="436472">
                <a:tc>
                  <a:txBody>
                    <a:bodyPr/>
                    <a:lstStyle/>
                    <a:p>
                      <a:pPr algn="ctr"/>
                      <a:r>
                        <a:rPr lang="fr-FR" sz="900" dirty="0" smtClean="0"/>
                        <a:t>8h00 – 8h20</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Accueil / Introduction : 5 min</a:t>
                      </a:r>
                    </a:p>
                    <a:p>
                      <a:pPr>
                        <a:lnSpc>
                          <a:spcPct val="100000"/>
                        </a:lnSpc>
                        <a:spcBef>
                          <a:spcPts val="0"/>
                        </a:spcBef>
                        <a:spcAft>
                          <a:spcPts val="0"/>
                        </a:spcAft>
                      </a:pPr>
                      <a:r>
                        <a:rPr lang="fr-FR" sz="900" dirty="0" smtClean="0"/>
                        <a:t>Présentation des</a:t>
                      </a:r>
                      <a:r>
                        <a:rPr lang="fr-FR" sz="900" baseline="0" dirty="0" smtClean="0"/>
                        <a:t> p</a:t>
                      </a:r>
                      <a:r>
                        <a:rPr lang="fr-FR" sz="900" dirty="0" smtClean="0"/>
                        <a:t>rocessus : 15 min</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r>
              <a:tr h="611060">
                <a:tc>
                  <a:txBody>
                    <a:bodyPr/>
                    <a:lstStyle/>
                    <a:p>
                      <a:pPr algn="ctr"/>
                      <a:r>
                        <a:rPr lang="fr-FR" sz="900" dirty="0" smtClean="0"/>
                        <a:t>8h20 – 9h30</a:t>
                      </a:r>
                      <a:endParaRPr lang="fr-FR" sz="900" dirty="0" smtClean="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a:lnSpc>
                          <a:spcPct val="100000"/>
                        </a:lnSpc>
                        <a:spcBef>
                          <a:spcPts val="0"/>
                        </a:spcBef>
                        <a:spcAft>
                          <a:spcPts val="0"/>
                        </a:spcAft>
                      </a:pPr>
                      <a:r>
                        <a:rPr lang="fr-FR" sz="900" dirty="0" smtClean="0"/>
                        <a:t>La représentation des</a:t>
                      </a:r>
                      <a:r>
                        <a:rPr lang="fr-FR" sz="900" baseline="0" dirty="0" smtClean="0"/>
                        <a:t> processus</a:t>
                      </a:r>
                      <a:endParaRPr lang="fr-FR" sz="900" dirty="0" smtClean="0"/>
                    </a:p>
                    <a:p>
                      <a:pPr marL="177800" indent="-177800">
                        <a:lnSpc>
                          <a:spcPct val="100000"/>
                        </a:lnSpc>
                        <a:spcBef>
                          <a:spcPts val="0"/>
                        </a:spcBef>
                        <a:spcAft>
                          <a:spcPts val="0"/>
                        </a:spcAft>
                        <a:buFont typeface="Arial" pitchFamily="34" charset="0"/>
                        <a:buChar char="•"/>
                      </a:pPr>
                      <a:r>
                        <a:rPr lang="fr-FR" sz="900" dirty="0" smtClean="0"/>
                        <a:t>Présentation : 20 min</a:t>
                      </a:r>
                    </a:p>
                    <a:p>
                      <a:pPr marL="177800" indent="-177800">
                        <a:lnSpc>
                          <a:spcPct val="100000"/>
                        </a:lnSpc>
                        <a:spcBef>
                          <a:spcPts val="0"/>
                        </a:spcBef>
                        <a:spcAft>
                          <a:spcPts val="0"/>
                        </a:spcAft>
                        <a:buFont typeface="Arial" pitchFamily="34" charset="0"/>
                        <a:buChar char="•"/>
                      </a:pPr>
                      <a:r>
                        <a:rPr lang="fr-FR" sz="900" dirty="0" smtClean="0"/>
                        <a:t>Exercice dirigé</a:t>
                      </a:r>
                      <a:r>
                        <a:rPr lang="fr-FR" sz="900" baseline="0" dirty="0" smtClean="0"/>
                        <a:t> : 50 min</a:t>
                      </a:r>
                      <a:endParaRPr lang="fr-FR" sz="900" baseline="0" dirty="0" smtClean="0">
                        <a:solidFill>
                          <a:schemeClr val="bg1"/>
                        </a:solidFill>
                        <a:latin typeface="Arial" pitchFamily="34" charset="0"/>
                        <a:cs typeface="Arial" pitchFamily="34" charset="0"/>
                      </a:endParaRPr>
                    </a:p>
                  </a:txBody>
                  <a:tcPr marL="68566" marR="68566" marT="34292" marB="34292" anchor="ctr">
                    <a:solidFill>
                      <a:srgbClr val="F3F4FF"/>
                    </a:solidFill>
                  </a:tcPr>
                </a:tc>
              </a:tr>
              <a:tr h="611060">
                <a:tc>
                  <a:txBody>
                    <a:bodyPr/>
                    <a:lstStyle/>
                    <a:p>
                      <a:pPr algn="ctr"/>
                      <a:r>
                        <a:rPr lang="fr-FR" sz="900" dirty="0" smtClean="0"/>
                        <a:t>9h30 – 10h00</a:t>
                      </a:r>
                      <a:endParaRPr lang="en-US" sz="900" dirty="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marL="177800" indent="-177800">
                        <a:lnSpc>
                          <a:spcPct val="100000"/>
                        </a:lnSpc>
                        <a:spcBef>
                          <a:spcPts val="0"/>
                        </a:spcBef>
                        <a:spcAft>
                          <a:spcPts val="0"/>
                        </a:spcAft>
                        <a:buFont typeface="Arial" pitchFamily="34" charset="0"/>
                        <a:buNone/>
                      </a:pPr>
                      <a:r>
                        <a:rPr lang="fr-FR" sz="900" baseline="0" dirty="0" smtClean="0"/>
                        <a:t>Question et libre échange </a:t>
                      </a:r>
                    </a:p>
                  </a:txBody>
                  <a:tcPr marL="68566" marR="68566" marT="34292" marB="34292" anchor="ctr">
                    <a:solidFill>
                      <a:srgbClr val="F3F4FF"/>
                    </a:solidFill>
                  </a:tcPr>
                </a:tc>
              </a:tr>
            </a:tbl>
          </a:graphicData>
        </a:graphic>
      </p:graphicFrame>
      <p:pic>
        <p:nvPicPr>
          <p:cNvPr id="5" name="Imag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68173" y="1953491"/>
            <a:ext cx="2120785" cy="2392972"/>
          </a:xfrm>
          <a:prstGeom prst="rect">
            <a:avLst/>
          </a:prstGeom>
        </p:spPr>
      </p:pic>
    </p:spTree>
    <p:extLst>
      <p:ext uri="{BB962C8B-B14F-4D97-AF65-F5344CB8AC3E}">
        <p14:creationId xmlns:p14="http://schemas.microsoft.com/office/powerpoint/2010/main" val="32210961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Objectif </a:t>
            </a:r>
            <a:r>
              <a:rPr lang="fr-FR" altLang="en-US" dirty="0">
                <a:latin typeface="Arial" panose="020B0604020202020204" pitchFamily="34" charset="0"/>
                <a:ea typeface="ＭＳ Ｐゴシック" panose="020B0600070205080204" pitchFamily="34" charset="-128"/>
                <a:cs typeface="Arial" panose="020B0604020202020204" pitchFamily="34" charset="0"/>
              </a:rPr>
              <a:t>de la </a:t>
            </a:r>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formation</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 Description des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5</a:t>
            </a:fld>
            <a:endParaRPr lang="fr-FR" altLang="en-US" sz="750"/>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dirty="0" smtClean="0">
                <a:latin typeface="Arial" panose="020B0604020202020204" pitchFamily="34" charset="0"/>
                <a:cs typeface="Arial" panose="020B0604020202020204" pitchFamily="34" charset="0"/>
              </a:rPr>
              <a:t>Description du processus métier lié aux paiements des fournisseurs 1/2</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err="1"/>
              <a:t>Process</a:t>
            </a:r>
            <a:r>
              <a:rPr lang="fr-FR" dirty="0"/>
              <a:t> de règlement fournisseurs englobe deux sous processus. Mais en amont de ces deux sous processus, il y a la phase de vérification. Cette vérification concerne les points suivants :</a:t>
            </a:r>
          </a:p>
          <a:p>
            <a:pPr marL="171450" indent="-171450">
              <a:buClr>
                <a:srgbClr val="0070C0"/>
              </a:buClr>
              <a:buSzPct val="100000"/>
              <a:buFont typeface="Arial" panose="020B0604020202020204" pitchFamily="34" charset="0"/>
              <a:buChar char="•"/>
            </a:pPr>
            <a:r>
              <a:rPr lang="fr-FR" dirty="0"/>
              <a:t>Acomptes fournisseurs à reprendre</a:t>
            </a:r>
          </a:p>
          <a:p>
            <a:pPr marL="171450" indent="-171450">
              <a:buClr>
                <a:srgbClr val="0070C0"/>
              </a:buClr>
              <a:buSzPct val="100000"/>
              <a:buFont typeface="Arial" panose="020B0604020202020204" pitchFamily="34" charset="0"/>
              <a:buChar char="•"/>
            </a:pPr>
            <a:r>
              <a:rPr lang="fr-FR" dirty="0"/>
              <a:t>Compensation client-fournisseur </a:t>
            </a:r>
          </a:p>
          <a:p>
            <a:pPr marL="171450" indent="-171450">
              <a:buClr>
                <a:srgbClr val="0070C0"/>
              </a:buClr>
              <a:buSzPct val="100000"/>
              <a:buFont typeface="Arial" panose="020B0604020202020204" pitchFamily="34" charset="0"/>
              <a:buChar char="•"/>
            </a:pPr>
            <a:r>
              <a:rPr lang="fr-FR" dirty="0"/>
              <a:t>Blocage des factures à ne pas payer et le déblocage des factures à payer. </a:t>
            </a:r>
            <a:endParaRPr lang="fr-FR" dirty="0" smtClean="0"/>
          </a:p>
          <a:p>
            <a:pPr>
              <a:buClr>
                <a:srgbClr val="0070C0"/>
              </a:buClr>
              <a:buSzPct val="100000"/>
            </a:pPr>
            <a:r>
              <a:rPr lang="fr-FR" dirty="0" smtClean="0"/>
              <a:t>Le déblocage des factures éligibles aux paiement se fait via la transaction FB02 ou la FBL1N. Ce travail est fait par le service trésorerie Il s’agit de repérer les pièces à payer en se basant sur la date d’échéance présente dans la pièce. Aux pièces sélectionnées, il faut ôter le code de blocage paiement.     </a:t>
            </a:r>
          </a:p>
          <a:p>
            <a:pPr marL="171450" indent="-171450">
              <a:buClr>
                <a:srgbClr val="0070C0"/>
              </a:buClr>
              <a:buSzPct val="100000"/>
              <a:buFont typeface="Arial" panose="020B0604020202020204" pitchFamily="34" charset="0"/>
              <a:buChar char="•"/>
            </a:pPr>
            <a:endParaRPr lang="fr-FR" dirty="0" smtClean="0"/>
          </a:p>
          <a:p>
            <a:pPr marL="171450" indent="-171450">
              <a:buClr>
                <a:srgbClr val="0070C0"/>
              </a:buClr>
              <a:buSzPct val="100000"/>
              <a:buFont typeface="Arial" panose="020B0604020202020204" pitchFamily="34" charset="0"/>
              <a:buChar char="•"/>
            </a:pPr>
            <a:endParaRPr lang="fr-FR" dirty="0"/>
          </a:p>
          <a:p>
            <a:pPr marL="171450" indent="-171450">
              <a:buClr>
                <a:srgbClr val="0070C0"/>
              </a:buClr>
              <a:buSzPct val="100000"/>
              <a:buFont typeface="Arial" panose="020B0604020202020204" pitchFamily="34" charset="0"/>
              <a:buChar char="•"/>
            </a:pPr>
            <a:endParaRPr lang="fr-FR" dirty="0"/>
          </a:p>
          <a:p>
            <a:endParaRPr lang="fr-FR" dirty="0" smtClean="0"/>
          </a:p>
          <a:p>
            <a:r>
              <a:rPr lang="fr-FR" dirty="0" smtClean="0"/>
              <a:t> </a:t>
            </a:r>
            <a:endParaRPr lang="ru-RU" dirty="0"/>
          </a:p>
          <a:p>
            <a:endParaRPr lang="fr-FR" dirty="0" smtClean="0">
              <a:cs typeface="Arial" panose="020B0604020202020204" pitchFamily="34" charset="0"/>
            </a:endParaRPr>
          </a:p>
          <a:p>
            <a:r>
              <a:rPr lang="fr-FR" dirty="0" smtClean="0">
                <a:cs typeface="Arial" panose="020B0604020202020204" pitchFamily="34" charset="0"/>
              </a:rPr>
              <a:t> </a:t>
            </a:r>
          </a:p>
          <a:p>
            <a:r>
              <a:rPr lang="fr-CA"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6</a:t>
            </a:fld>
            <a:endParaRPr lang="fr-FR" altLang="en-US" sz="750">
              <a:solidFill>
                <a:srgbClr val="000000"/>
              </a:solidFill>
            </a:endParaRPr>
          </a:p>
        </p:txBody>
      </p:sp>
    </p:spTree>
    <p:extLst>
      <p:ext uri="{BB962C8B-B14F-4D97-AF65-F5344CB8AC3E}">
        <p14:creationId xmlns:p14="http://schemas.microsoft.com/office/powerpoint/2010/main" val="1279528635"/>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dirty="0">
                <a:latin typeface="Arial" panose="020B0604020202020204" pitchFamily="34" charset="0"/>
                <a:cs typeface="Arial" panose="020B0604020202020204" pitchFamily="34" charset="0"/>
              </a:rPr>
              <a:t>Description du processus métier lié aux paiements des </a:t>
            </a:r>
            <a:r>
              <a:rPr lang="fr-FR" altLang="en-US" dirty="0" smtClean="0">
                <a:latin typeface="Arial" panose="020B0604020202020204" pitchFamily="34" charset="0"/>
                <a:cs typeface="Arial" panose="020B0604020202020204" pitchFamily="34" charset="0"/>
              </a:rPr>
              <a:t>fournisseurs 2/2</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t>Les deux </a:t>
            </a:r>
            <a:r>
              <a:rPr lang="fr-FR" dirty="0"/>
              <a:t>sous </a:t>
            </a:r>
            <a:r>
              <a:rPr lang="fr-FR" dirty="0" smtClean="0"/>
              <a:t>processus :  </a:t>
            </a:r>
            <a:endParaRPr lang="fr-FR" dirty="0"/>
          </a:p>
          <a:p>
            <a:r>
              <a:rPr lang="fr-FR" dirty="0"/>
              <a:t> 	1/ Règlement par chèque manuel : </a:t>
            </a:r>
          </a:p>
          <a:p>
            <a:r>
              <a:rPr lang="fr-FR" dirty="0"/>
              <a:t>L’élément déclencheur de ce </a:t>
            </a:r>
            <a:r>
              <a:rPr lang="fr-FR" dirty="0" err="1"/>
              <a:t>process</a:t>
            </a:r>
            <a:r>
              <a:rPr lang="fr-FR" dirty="0"/>
              <a:t> est l’existence d’une facture fournisseur. Afin de solder cette facture, un chèque sera émis par le service comptabilité fournisseur. Le contrôleur financier contrôle les informations du chèque et ses annexes. Puis le DAF vérifie et signe le chèque. C’est seulement après cela que le comptable procède à la comptabilisation du </a:t>
            </a:r>
            <a:r>
              <a:rPr lang="fr-FR" dirty="0" smtClean="0"/>
              <a:t>chèque.    </a:t>
            </a:r>
            <a:endParaRPr lang="fr-FR" dirty="0"/>
          </a:p>
          <a:p>
            <a:r>
              <a:rPr lang="fr-FR" dirty="0"/>
              <a:t> 	2/ Règlement par virement ou chèque automatique : </a:t>
            </a:r>
          </a:p>
          <a:p>
            <a:r>
              <a:rPr lang="fr-FR" dirty="0"/>
              <a:t>Les règlements par virement ou chèque automatique sont effectués périodiquement lors de la campagne de paiement ou sur demande express. </a:t>
            </a:r>
          </a:p>
          <a:p>
            <a:r>
              <a:rPr lang="fr-FR" dirty="0" smtClean="0"/>
              <a:t> </a:t>
            </a:r>
            <a:endParaRPr lang="ru-RU" dirty="0"/>
          </a:p>
          <a:p>
            <a:endParaRPr lang="fr-FR" dirty="0" smtClean="0">
              <a:cs typeface="Arial" panose="020B0604020202020204" pitchFamily="34" charset="0"/>
            </a:endParaRPr>
          </a:p>
          <a:p>
            <a:r>
              <a:rPr lang="fr-FR" dirty="0" smtClean="0">
                <a:cs typeface="Arial" panose="020B0604020202020204" pitchFamily="34" charset="0"/>
              </a:rPr>
              <a:t> </a:t>
            </a:r>
          </a:p>
          <a:p>
            <a:r>
              <a:rPr lang="fr-CA"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7</a:t>
            </a:fld>
            <a:endParaRPr lang="fr-FR" altLang="en-US" sz="750">
              <a:solidFill>
                <a:srgbClr val="000000"/>
              </a:solidFill>
            </a:endParaRPr>
          </a:p>
        </p:txBody>
      </p:sp>
    </p:spTree>
    <p:extLst>
      <p:ext uri="{BB962C8B-B14F-4D97-AF65-F5344CB8AC3E}">
        <p14:creationId xmlns:p14="http://schemas.microsoft.com/office/powerpoint/2010/main" val="711869659"/>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4711"/>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 </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8</a:t>
            </a:fld>
            <a:endParaRPr lang="fr-FR" altLang="en-US" sz="750"/>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sp>
        <p:nvSpPr>
          <p:cNvPr id="32792" name="Espace réservé du numéro de diapositive 33"/>
          <p:cNvSpPr>
            <a:spLocks noGrp="1"/>
          </p:cNvSpPr>
          <p:nvPr>
            <p:ph type="sldNum" sz="quarter" idx="11"/>
          </p:nvPr>
        </p:nvSpPr>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fld id="{1961261D-50EE-437A-BA51-3E7588D0C470}" type="slidenum">
              <a:rPr lang="fr-FR" altLang="en-US" smtClean="0">
                <a:solidFill>
                  <a:srgbClr val="4D4F53"/>
                </a:solidFill>
              </a:rPr>
              <a:pPr/>
              <a:t>9</a:t>
            </a:fld>
            <a:endParaRPr lang="fr-FR" altLang="en-US">
              <a:solidFill>
                <a:srgbClr val="4D4F53"/>
              </a:solidFill>
            </a:endParaRPr>
          </a:p>
        </p:txBody>
      </p:sp>
      <p:grpSp>
        <p:nvGrpSpPr>
          <p:cNvPr id="49" name="Groupe 48"/>
          <p:cNvGrpSpPr/>
          <p:nvPr/>
        </p:nvGrpSpPr>
        <p:grpSpPr>
          <a:xfrm>
            <a:off x="814126" y="2175754"/>
            <a:ext cx="1421605" cy="756917"/>
            <a:chOff x="1507778" y="2276353"/>
            <a:chExt cx="1258269" cy="754857"/>
          </a:xfrm>
        </p:grpSpPr>
        <p:sp>
          <p:nvSpPr>
            <p:cNvPr id="4" name="Rectangle 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Enlever le blocage paiement </a:t>
              </a:r>
              <a:endParaRPr lang="en-US" sz="800" dirty="0">
                <a:solidFill>
                  <a:prstClr val="white"/>
                </a:solidFill>
                <a:latin typeface="Arial" pitchFamily="34" charset="0"/>
                <a:cs typeface="Arial" pitchFamily="34" charset="0"/>
              </a:endParaRPr>
            </a:p>
          </p:txBody>
        </p:sp>
        <p:sp>
          <p:nvSpPr>
            <p:cNvPr id="12" name="Rectangle 1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prstClr val="white"/>
                  </a:solidFill>
                  <a:latin typeface="Arial" panose="020B0604020202020204" pitchFamily="34" charset="0"/>
                  <a:cs typeface="Arial" panose="020B0604020202020204" pitchFamily="34" charset="0"/>
                </a:rPr>
                <a:t>FB02/FBL1N</a:t>
              </a:r>
              <a:endParaRPr lang="en-US" sz="800" b="1" dirty="0">
                <a:solidFill>
                  <a:prstClr val="white"/>
                </a:solidFill>
                <a:latin typeface="Arial" panose="020B0604020202020204" pitchFamily="34" charset="0"/>
                <a:cs typeface="Arial" panose="020B0604020202020204" pitchFamily="34" charset="0"/>
              </a:endParaRPr>
            </a:p>
          </p:txBody>
        </p:sp>
        <p:sp>
          <p:nvSpPr>
            <p:cNvPr id="13" name="Rectangle 1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rgbClr val="4D4F53">
                      <a:lumMod val="50000"/>
                    </a:srgbClr>
                  </a:solidFill>
                  <a:latin typeface="Arial" panose="020B0604020202020204" pitchFamily="34" charset="0"/>
                  <a:cs typeface="Arial" panose="020B0604020202020204" pitchFamily="34" charset="0"/>
                </a:rPr>
                <a:t>Service Trésorerie </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39" name="Groupe 38"/>
          <p:cNvGrpSpPr/>
          <p:nvPr/>
        </p:nvGrpSpPr>
        <p:grpSpPr>
          <a:xfrm>
            <a:off x="2565267" y="2160586"/>
            <a:ext cx="1296000" cy="756917"/>
            <a:chOff x="1507778" y="2274293"/>
            <a:chExt cx="1258269" cy="756917"/>
          </a:xfrm>
        </p:grpSpPr>
        <p:sp>
          <p:nvSpPr>
            <p:cNvPr id="40" name="Rectangle 39"/>
            <p:cNvSpPr/>
            <p:nvPr/>
          </p:nvSpPr>
          <p:spPr>
            <a:xfrm>
              <a:off x="1507778" y="227429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a:solidFill>
                    <a:prstClr val="white"/>
                  </a:solidFill>
                  <a:latin typeface="Arial" pitchFamily="34" charset="0"/>
                  <a:cs typeface="Arial" pitchFamily="34" charset="0"/>
                </a:rPr>
                <a:t>Comptabiliser décaissement </a:t>
              </a:r>
              <a:endParaRPr lang="en-US" sz="800" dirty="0">
                <a:solidFill>
                  <a:prstClr val="white"/>
                </a:solidFill>
                <a:latin typeface="Arial" pitchFamily="34" charset="0"/>
                <a:cs typeface="Arial" pitchFamily="34" charset="0"/>
              </a:endParaRPr>
            </a:p>
          </p:txBody>
        </p:sp>
        <p:sp>
          <p:nvSpPr>
            <p:cNvPr id="41" name="Rectangle 40"/>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a:solidFill>
                    <a:prstClr val="white"/>
                  </a:solidFill>
                  <a:latin typeface="Arial" panose="020B0604020202020204" pitchFamily="34" charset="0"/>
                  <a:cs typeface="Arial" panose="020B0604020202020204" pitchFamily="34" charset="0"/>
                </a:rPr>
                <a:t>F-53</a:t>
              </a:r>
              <a:endParaRPr lang="en-US" sz="800" b="1" dirty="0">
                <a:solidFill>
                  <a:prstClr val="white"/>
                </a:solidFill>
                <a:latin typeface="Arial" panose="020B0604020202020204" pitchFamily="34" charset="0"/>
                <a:cs typeface="Arial" panose="020B0604020202020204" pitchFamily="34" charset="0"/>
              </a:endParaRPr>
            </a:p>
          </p:txBody>
        </p:sp>
        <p:sp>
          <p:nvSpPr>
            <p:cNvPr id="43" name="Rectangle 4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Comptable Fournisseurs</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47" name="Groupe 46"/>
          <p:cNvGrpSpPr/>
          <p:nvPr/>
        </p:nvGrpSpPr>
        <p:grpSpPr>
          <a:xfrm>
            <a:off x="4122846" y="2165706"/>
            <a:ext cx="1296000" cy="754857"/>
            <a:chOff x="1507778" y="2276353"/>
            <a:chExt cx="1258269" cy="754857"/>
          </a:xfrm>
        </p:grpSpPr>
        <p:sp>
          <p:nvSpPr>
            <p:cNvPr id="48" name="Rectangle 47"/>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a:solidFill>
                    <a:schemeClr val="bg1"/>
                  </a:solidFill>
                  <a:latin typeface="Arial" pitchFamily="34" charset="0"/>
                  <a:cs typeface="Arial" pitchFamily="34" charset="0"/>
                </a:rPr>
                <a:t>Opérations de paiement automatiques</a:t>
              </a:r>
              <a:endParaRPr lang="en-US" sz="800" dirty="0">
                <a:solidFill>
                  <a:schemeClr val="bg1"/>
                </a:solidFill>
                <a:latin typeface="Arial" pitchFamily="34" charset="0"/>
                <a:cs typeface="Arial" pitchFamily="34" charset="0"/>
              </a:endParaRPr>
            </a:p>
          </p:txBody>
        </p:sp>
        <p:sp>
          <p:nvSpPr>
            <p:cNvPr id="50" name="Rectangle 4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a:solidFill>
                    <a:schemeClr val="bg1"/>
                  </a:solidFill>
                  <a:latin typeface="Arial" panose="020B0604020202020204" pitchFamily="34" charset="0"/>
                  <a:cs typeface="Arial" panose="020B0604020202020204" pitchFamily="34" charset="0"/>
                </a:rPr>
                <a:t>F110</a:t>
              </a:r>
              <a:endParaRPr lang="en-US" sz="800" b="1" dirty="0">
                <a:solidFill>
                  <a:schemeClr val="bg1"/>
                </a:solidFill>
                <a:latin typeface="Arial" panose="020B0604020202020204" pitchFamily="34" charset="0"/>
                <a:cs typeface="Arial" panose="020B0604020202020204" pitchFamily="34" charset="0"/>
              </a:endParaRPr>
            </a:p>
          </p:txBody>
        </p:sp>
        <p:sp>
          <p:nvSpPr>
            <p:cNvPr id="56" name="Rectangle 55"/>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Comptable Fournisseurs</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pic>
        <p:nvPicPr>
          <p:cNvPr id="2" name="Image 1"/>
          <p:cNvPicPr>
            <a:picLocks noChangeAspect="1"/>
          </p:cNvPicPr>
          <p:nvPr/>
        </p:nvPicPr>
        <p:blipFill>
          <a:blip r:embed="rId2"/>
          <a:stretch>
            <a:fillRect/>
          </a:stretch>
        </p:blipFill>
        <p:spPr>
          <a:xfrm>
            <a:off x="228859" y="3349453"/>
            <a:ext cx="1170533" cy="1249788"/>
          </a:xfrm>
          <a:prstGeom prst="rect">
            <a:avLst/>
          </a:prstGeom>
        </p:spPr>
      </p:pic>
    </p:spTree>
    <p:extLst>
      <p:ext uri="{BB962C8B-B14F-4D97-AF65-F5344CB8AC3E}">
        <p14:creationId xmlns:p14="http://schemas.microsoft.com/office/powerpoint/2010/main" val="23999468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opératoire pour déblocage d’une pièce à payer 1/5</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337947" cy="3329471"/>
          </a:xfrm>
        </p:spPr>
        <p:txBody>
          <a:bodyPr/>
          <a:lstStyle/>
          <a:p>
            <a:r>
              <a:rPr lang="fr-FR" dirty="0"/>
              <a:t>Lancer la transaction FB02 : Seules sont modifiables les zones accessibles telle que la </a:t>
            </a:r>
            <a:r>
              <a:rPr lang="fr-FR" dirty="0" smtClean="0"/>
              <a:t>zone </a:t>
            </a:r>
            <a:r>
              <a:rPr lang="fr-FR" dirty="0" err="1" smtClean="0"/>
              <a:t>bloca</a:t>
            </a:r>
            <a:r>
              <a:rPr lang="fr-FR" dirty="0" smtClean="0"/>
              <a:t>. Paiement, la zone </a:t>
            </a:r>
            <a:r>
              <a:rPr lang="fr-FR" dirty="0"/>
              <a:t>affectation, la zone texte</a:t>
            </a:r>
            <a:r>
              <a:rPr lang="fr-FR" dirty="0" smtClean="0"/>
              <a:t>…					Renseigne le numéro de la pièce, la société et l’exercice comptable. Puis faites « Entrée » ou </a:t>
            </a:r>
          </a:p>
          <a:p>
            <a:r>
              <a:rPr lang="fr-FR" dirty="0" smtClean="0"/>
              <a:t> 													  Double cliquer sur la ligne concernée par le compte													  fournisseur		</a:t>
            </a:r>
            <a:endParaRPr lang="fr-FR" dirty="0"/>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p>
          <a:p>
            <a:r>
              <a:rPr lang="fr-FR" dirty="0" smtClean="0">
                <a:cs typeface="Arial" panose="020B0604020202020204" pitchFamily="34" charset="0"/>
              </a:rPr>
              <a:t>	ôter le code de blocage « A » et </a:t>
            </a:r>
          </a:p>
          <a:p>
            <a:r>
              <a:rPr lang="fr-FR" dirty="0">
                <a:cs typeface="Arial" panose="020B0604020202020204" pitchFamily="34" charset="0"/>
              </a:rPr>
              <a:t>	</a:t>
            </a:r>
            <a:r>
              <a:rPr lang="fr-FR" dirty="0" smtClean="0">
                <a:cs typeface="Arial" panose="020B0604020202020204" pitchFamily="34" charset="0"/>
              </a:rPr>
              <a:t>sauvegarder la modification en cliquant sur la disquette. 	 																			</a:t>
            </a:r>
          </a:p>
          <a:p>
            <a:r>
              <a:rPr lang="fr-FR" dirty="0">
                <a:cs typeface="Arial" panose="020B0604020202020204" pitchFamily="34" charset="0"/>
              </a:rPr>
              <a:t>	</a:t>
            </a:r>
            <a:r>
              <a:rPr lang="fr-FR" dirty="0" smtClean="0">
                <a:cs typeface="Arial" panose="020B0604020202020204" pitchFamily="34" charset="0"/>
              </a:rPr>
              <a:t>													</a:t>
            </a:r>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endParaRPr lang="fr-FR" dirty="0">
              <a:cs typeface="Arial" panose="020B0604020202020204" pitchFamily="34" charset="0"/>
            </a:endParaRP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p>
          <a:p>
            <a:r>
              <a:rPr lang="fr-FR" dirty="0" smtClean="0">
                <a:cs typeface="Arial" panose="020B0604020202020204" pitchFamily="34" charset="0"/>
              </a:rPr>
              <a:t>											 </a:t>
            </a:r>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10</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549829"/>
            <a:ext cx="2073948" cy="1629422"/>
          </a:xfrm>
          <a:prstGeom prst="rect">
            <a:avLst/>
          </a:prstGeom>
        </p:spPr>
      </p:pic>
      <p:pic>
        <p:nvPicPr>
          <p:cNvPr id="5" name="Image 4"/>
          <p:cNvPicPr>
            <a:picLocks noChangeAspect="1"/>
          </p:cNvPicPr>
          <p:nvPr/>
        </p:nvPicPr>
        <p:blipFill>
          <a:blip r:embed="rId3"/>
          <a:stretch>
            <a:fillRect/>
          </a:stretch>
        </p:blipFill>
        <p:spPr>
          <a:xfrm>
            <a:off x="8632554" y="1340279"/>
            <a:ext cx="219075" cy="209550"/>
          </a:xfrm>
          <a:prstGeom prst="rect">
            <a:avLst/>
          </a:prstGeom>
        </p:spPr>
      </p:pic>
      <p:pic>
        <p:nvPicPr>
          <p:cNvPr id="7" name="Image 6"/>
          <p:cNvPicPr>
            <a:picLocks noChangeAspect="1"/>
          </p:cNvPicPr>
          <p:nvPr/>
        </p:nvPicPr>
        <p:blipFill>
          <a:blip r:embed="rId4"/>
          <a:stretch>
            <a:fillRect/>
          </a:stretch>
        </p:blipFill>
        <p:spPr>
          <a:xfrm>
            <a:off x="2889425" y="1549830"/>
            <a:ext cx="2744209" cy="1629422"/>
          </a:xfrm>
          <a:prstGeom prst="rect">
            <a:avLst/>
          </a:prstGeom>
        </p:spPr>
      </p:pic>
      <p:pic>
        <p:nvPicPr>
          <p:cNvPr id="8" name="Image 7"/>
          <p:cNvPicPr>
            <a:picLocks noChangeAspect="1"/>
          </p:cNvPicPr>
          <p:nvPr/>
        </p:nvPicPr>
        <p:blipFill>
          <a:blip r:embed="rId5"/>
          <a:stretch>
            <a:fillRect/>
          </a:stretch>
        </p:blipFill>
        <p:spPr>
          <a:xfrm>
            <a:off x="5731335" y="2149501"/>
            <a:ext cx="3301139" cy="2332495"/>
          </a:xfrm>
          <a:prstGeom prst="rect">
            <a:avLst/>
          </a:prstGeom>
        </p:spPr>
      </p:pic>
      <p:pic>
        <p:nvPicPr>
          <p:cNvPr id="10" name="Image 9"/>
          <p:cNvPicPr>
            <a:picLocks noChangeAspect="1"/>
          </p:cNvPicPr>
          <p:nvPr/>
        </p:nvPicPr>
        <p:blipFill>
          <a:blip r:embed="rId6"/>
          <a:stretch>
            <a:fillRect/>
          </a:stretch>
        </p:blipFill>
        <p:spPr>
          <a:xfrm>
            <a:off x="6311217" y="4037308"/>
            <a:ext cx="142027" cy="142027"/>
          </a:xfrm>
          <a:prstGeom prst="rect">
            <a:avLst/>
          </a:prstGeom>
        </p:spPr>
      </p:pic>
      <p:pic>
        <p:nvPicPr>
          <p:cNvPr id="11" name="Image 10"/>
          <p:cNvPicPr>
            <a:picLocks noChangeAspect="1"/>
          </p:cNvPicPr>
          <p:nvPr/>
        </p:nvPicPr>
        <p:blipFill>
          <a:blip r:embed="rId6"/>
          <a:stretch>
            <a:fillRect/>
          </a:stretch>
        </p:blipFill>
        <p:spPr>
          <a:xfrm>
            <a:off x="6895115" y="2334592"/>
            <a:ext cx="148808" cy="148808"/>
          </a:xfrm>
          <a:prstGeom prst="rect">
            <a:avLst/>
          </a:prstGeom>
        </p:spPr>
      </p:pic>
      <p:pic>
        <p:nvPicPr>
          <p:cNvPr id="12" name="Image 11"/>
          <p:cNvPicPr>
            <a:picLocks noChangeAspect="1"/>
          </p:cNvPicPr>
          <p:nvPr/>
        </p:nvPicPr>
        <p:blipFill>
          <a:blip r:embed="rId7"/>
          <a:stretch>
            <a:fillRect/>
          </a:stretch>
        </p:blipFill>
        <p:spPr>
          <a:xfrm>
            <a:off x="6355209" y="4060849"/>
            <a:ext cx="317019" cy="359695"/>
          </a:xfrm>
          <a:prstGeom prst="rect">
            <a:avLst/>
          </a:prstGeom>
        </p:spPr>
      </p:pic>
      <p:pic>
        <p:nvPicPr>
          <p:cNvPr id="13" name="Image 12"/>
          <p:cNvPicPr>
            <a:picLocks noChangeAspect="1"/>
          </p:cNvPicPr>
          <p:nvPr/>
        </p:nvPicPr>
        <p:blipFill>
          <a:blip r:embed="rId8"/>
          <a:stretch>
            <a:fillRect/>
          </a:stretch>
        </p:blipFill>
        <p:spPr>
          <a:xfrm>
            <a:off x="662900" y="3200371"/>
            <a:ext cx="317019" cy="359695"/>
          </a:xfrm>
          <a:prstGeom prst="rect">
            <a:avLst/>
          </a:prstGeom>
        </p:spPr>
      </p:pic>
      <p:pic>
        <p:nvPicPr>
          <p:cNvPr id="14" name="Image 13"/>
          <p:cNvPicPr>
            <a:picLocks noChangeAspect="1"/>
          </p:cNvPicPr>
          <p:nvPr/>
        </p:nvPicPr>
        <p:blipFill>
          <a:blip r:embed="rId9"/>
          <a:stretch>
            <a:fillRect/>
          </a:stretch>
        </p:blipFill>
        <p:spPr>
          <a:xfrm>
            <a:off x="662899" y="3560066"/>
            <a:ext cx="317019" cy="359695"/>
          </a:xfrm>
          <a:prstGeom prst="rect">
            <a:avLst/>
          </a:prstGeom>
        </p:spPr>
      </p:pic>
      <p:pic>
        <p:nvPicPr>
          <p:cNvPr id="15" name="Image 14"/>
          <p:cNvPicPr>
            <a:picLocks noChangeAspect="1"/>
          </p:cNvPicPr>
          <p:nvPr/>
        </p:nvPicPr>
        <p:blipFill>
          <a:blip r:embed="rId10"/>
          <a:stretch>
            <a:fillRect/>
          </a:stretch>
        </p:blipFill>
        <p:spPr>
          <a:xfrm>
            <a:off x="6945888" y="2149501"/>
            <a:ext cx="317019" cy="359695"/>
          </a:xfrm>
          <a:prstGeom prst="rect">
            <a:avLst/>
          </a:prstGeom>
        </p:spPr>
      </p:pic>
    </p:spTree>
    <p:extLst>
      <p:ext uri="{BB962C8B-B14F-4D97-AF65-F5344CB8AC3E}">
        <p14:creationId xmlns:p14="http://schemas.microsoft.com/office/powerpoint/2010/main" val="1102331642"/>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opératoire pour déblocage d’une pièce à payer 2/5</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Le faites d’ôter le code de blocage peut concerner plusieurs pièces du même fournisseur. Dans ce cas il est plus efficace de procéder au déblocage des pièces via la transaction d’affichage des pièces fournisseurs : FBL1N</a:t>
            </a:r>
          </a:p>
          <a:p>
            <a:r>
              <a:rPr lang="fr-FR" dirty="0">
                <a:cs typeface="Arial" panose="020B0604020202020204" pitchFamily="34" charset="0"/>
              </a:rPr>
              <a:t>	</a:t>
            </a:r>
            <a:r>
              <a:rPr lang="fr-FR" dirty="0" smtClean="0">
                <a:cs typeface="Arial" panose="020B0604020202020204" pitchFamily="34" charset="0"/>
              </a:rPr>
              <a:t>												Lancer la transaction et renseigner : </a:t>
            </a:r>
          </a:p>
          <a:p>
            <a:r>
              <a:rPr lang="fr-FR" dirty="0">
                <a:cs typeface="Arial" panose="020B0604020202020204" pitchFamily="34" charset="0"/>
              </a:rPr>
              <a:t>	</a:t>
            </a:r>
            <a:r>
              <a:rPr lang="fr-FR" dirty="0" smtClean="0">
                <a:cs typeface="Arial" panose="020B0604020202020204" pitchFamily="34" charset="0"/>
              </a:rPr>
              <a:t>												Le code fournisseur concerné et la société</a:t>
            </a:r>
          </a:p>
          <a:p>
            <a:r>
              <a:rPr lang="fr-FR" dirty="0">
                <a:cs typeface="Arial" panose="020B0604020202020204" pitchFamily="34" charset="0"/>
              </a:rPr>
              <a:t>	</a:t>
            </a:r>
            <a:r>
              <a:rPr lang="fr-FR" dirty="0" smtClean="0">
                <a:cs typeface="Arial" panose="020B0604020202020204" pitchFamily="34" charset="0"/>
              </a:rPr>
              <a:t>												Exécuter </a:t>
            </a:r>
          </a:p>
          <a:p>
            <a:r>
              <a:rPr lang="fr-FR" dirty="0">
                <a:cs typeface="Arial" panose="020B0604020202020204" pitchFamily="34" charset="0"/>
              </a:rPr>
              <a:t>	</a:t>
            </a:r>
            <a:r>
              <a:rPr lang="fr-FR" dirty="0" smtClean="0">
                <a:cs typeface="Arial" panose="020B0604020202020204" pitchFamily="34" charset="0"/>
              </a:rPr>
              <a:t>												Les pièces apparaissent. Tout sélectionner via le </a:t>
            </a:r>
          </a:p>
          <a:p>
            <a:r>
              <a:rPr lang="fr-FR" dirty="0">
                <a:cs typeface="Arial" panose="020B0604020202020204" pitchFamily="34" charset="0"/>
              </a:rPr>
              <a:t>	</a:t>
            </a:r>
            <a:r>
              <a:rPr lang="fr-FR" dirty="0" smtClean="0">
                <a:cs typeface="Arial" panose="020B0604020202020204" pitchFamily="34" charset="0"/>
              </a:rPr>
              <a:t>												menu Traiter/ Marquer tout </a:t>
            </a:r>
          </a:p>
          <a:p>
            <a:r>
              <a:rPr lang="fr-FR" dirty="0" smtClean="0">
                <a:cs typeface="Arial" panose="020B0604020202020204" pitchFamily="34" charset="0"/>
              </a:rPr>
              <a:t>	 </a:t>
            </a:r>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endParaRPr lang="fr-FR" dirty="0">
              <a:cs typeface="Arial" panose="020B0604020202020204" pitchFamily="34" charset="0"/>
            </a:endParaRP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p>
          <a:p>
            <a:r>
              <a:rPr lang="fr-FR" dirty="0" smtClean="0">
                <a:cs typeface="Arial" panose="020B0604020202020204" pitchFamily="34" charset="0"/>
              </a:rPr>
              <a:t>											 </a:t>
            </a:r>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11</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595760"/>
            <a:ext cx="4819650" cy="2886236"/>
          </a:xfrm>
          <a:prstGeom prst="rect">
            <a:avLst/>
          </a:prstGeom>
        </p:spPr>
      </p:pic>
      <p:pic>
        <p:nvPicPr>
          <p:cNvPr id="4" name="Image 3"/>
          <p:cNvPicPr>
            <a:picLocks noChangeAspect="1"/>
          </p:cNvPicPr>
          <p:nvPr/>
        </p:nvPicPr>
        <p:blipFill>
          <a:blip r:embed="rId3"/>
          <a:stretch>
            <a:fillRect/>
          </a:stretch>
        </p:blipFill>
        <p:spPr>
          <a:xfrm>
            <a:off x="5361867" y="1992170"/>
            <a:ext cx="317019" cy="359695"/>
          </a:xfrm>
          <a:prstGeom prst="rect">
            <a:avLst/>
          </a:prstGeom>
        </p:spPr>
      </p:pic>
      <p:pic>
        <p:nvPicPr>
          <p:cNvPr id="5" name="Image 4"/>
          <p:cNvPicPr>
            <a:picLocks noChangeAspect="1"/>
          </p:cNvPicPr>
          <p:nvPr/>
        </p:nvPicPr>
        <p:blipFill>
          <a:blip r:embed="rId4"/>
          <a:stretch>
            <a:fillRect/>
          </a:stretch>
        </p:blipFill>
        <p:spPr>
          <a:xfrm>
            <a:off x="3464141" y="2059572"/>
            <a:ext cx="317019" cy="359695"/>
          </a:xfrm>
          <a:prstGeom prst="rect">
            <a:avLst/>
          </a:prstGeom>
        </p:spPr>
      </p:pic>
      <p:pic>
        <p:nvPicPr>
          <p:cNvPr id="6" name="Image 5"/>
          <p:cNvPicPr>
            <a:picLocks noChangeAspect="1"/>
          </p:cNvPicPr>
          <p:nvPr/>
        </p:nvPicPr>
        <p:blipFill>
          <a:blip r:embed="rId5"/>
          <a:stretch>
            <a:fillRect/>
          </a:stretch>
        </p:blipFill>
        <p:spPr>
          <a:xfrm>
            <a:off x="780198" y="1970170"/>
            <a:ext cx="203944" cy="209942"/>
          </a:xfrm>
          <a:prstGeom prst="rect">
            <a:avLst/>
          </a:prstGeom>
        </p:spPr>
      </p:pic>
      <p:pic>
        <p:nvPicPr>
          <p:cNvPr id="7" name="Image 6"/>
          <p:cNvPicPr>
            <a:picLocks noChangeAspect="1"/>
          </p:cNvPicPr>
          <p:nvPr/>
        </p:nvPicPr>
        <p:blipFill>
          <a:blip r:embed="rId6"/>
          <a:stretch>
            <a:fillRect/>
          </a:stretch>
        </p:blipFill>
        <p:spPr>
          <a:xfrm>
            <a:off x="882170" y="1754786"/>
            <a:ext cx="310923" cy="359695"/>
          </a:xfrm>
          <a:prstGeom prst="rect">
            <a:avLst/>
          </a:prstGeom>
        </p:spPr>
      </p:pic>
      <p:pic>
        <p:nvPicPr>
          <p:cNvPr id="8" name="Image 7"/>
          <p:cNvPicPr>
            <a:picLocks noChangeAspect="1"/>
          </p:cNvPicPr>
          <p:nvPr/>
        </p:nvPicPr>
        <p:blipFill>
          <a:blip r:embed="rId7"/>
          <a:stretch>
            <a:fillRect/>
          </a:stretch>
        </p:blipFill>
        <p:spPr>
          <a:xfrm>
            <a:off x="5372650" y="2350895"/>
            <a:ext cx="310923" cy="359695"/>
          </a:xfrm>
          <a:prstGeom prst="rect">
            <a:avLst/>
          </a:prstGeom>
        </p:spPr>
      </p:pic>
      <p:pic>
        <p:nvPicPr>
          <p:cNvPr id="9" name="Image 8"/>
          <p:cNvPicPr>
            <a:picLocks noChangeAspect="1"/>
          </p:cNvPicPr>
          <p:nvPr/>
        </p:nvPicPr>
        <p:blipFill>
          <a:blip r:embed="rId8"/>
          <a:stretch>
            <a:fillRect/>
          </a:stretch>
        </p:blipFill>
        <p:spPr>
          <a:xfrm>
            <a:off x="3003136" y="2189275"/>
            <a:ext cx="548688" cy="267206"/>
          </a:xfrm>
          <a:prstGeom prst="rect">
            <a:avLst/>
          </a:prstGeom>
        </p:spPr>
      </p:pic>
    </p:spTree>
    <p:extLst>
      <p:ext uri="{BB962C8B-B14F-4D97-AF65-F5344CB8AC3E}">
        <p14:creationId xmlns:p14="http://schemas.microsoft.com/office/powerpoint/2010/main" val="1853802862"/>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opératoire pour déblocage d’une pièce à payer 3/5</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									Une fois les pièces sélectionnées, cliquer sur le pavé Modification en masse	 </a:t>
            </a:r>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Même si par défaut la zone Bloc. </a:t>
            </a:r>
            <a:r>
              <a:rPr lang="fr-FR" dirty="0" err="1" smtClean="0">
                <a:cs typeface="Arial" panose="020B0604020202020204" pitchFamily="34" charset="0"/>
              </a:rPr>
              <a:t>paiem</a:t>
            </a:r>
            <a:r>
              <a:rPr lang="fr-FR" dirty="0" smtClean="0">
                <a:cs typeface="Arial" panose="020B0604020202020204" pitchFamily="34" charset="0"/>
              </a:rPr>
              <a:t>. est à vide, cliquer sur le match code et double cliquer sur le choix vide : </a:t>
            </a:r>
            <a:r>
              <a:rPr lang="fr-FR" dirty="0" err="1" smtClean="0">
                <a:cs typeface="Arial" panose="020B0604020202020204" pitchFamily="34" charset="0"/>
              </a:rPr>
              <a:t>disp</a:t>
            </a:r>
            <a:r>
              <a:rPr lang="fr-FR" dirty="0" smtClean="0">
                <a:cs typeface="Arial" panose="020B0604020202020204" pitchFamily="34" charset="0"/>
              </a:rPr>
              <a:t>. pour paiement.</a:t>
            </a:r>
          </a:p>
          <a:p>
            <a:r>
              <a:rPr lang="fr-FR" dirty="0" smtClean="0">
                <a:cs typeface="Arial" panose="020B0604020202020204" pitchFamily="34" charset="0"/>
              </a:rPr>
              <a:t>La zone prend la couleur jaune, cliquer sur exécuter modification pour valider la modification: </a:t>
            </a:r>
            <a:endParaRPr lang="fr-FR" dirty="0">
              <a:cs typeface="Arial" panose="020B0604020202020204" pitchFamily="34" charset="0"/>
            </a:endParaRP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p>
          <a:p>
            <a:r>
              <a:rPr lang="fr-FR" dirty="0" smtClean="0">
                <a:cs typeface="Arial" panose="020B0604020202020204" pitchFamily="34" charset="0"/>
              </a:rPr>
              <a:t>											 </a:t>
            </a:r>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12</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152525"/>
            <a:ext cx="3277751" cy="2113528"/>
          </a:xfrm>
          <a:prstGeom prst="rect">
            <a:avLst/>
          </a:prstGeom>
        </p:spPr>
      </p:pic>
      <p:pic>
        <p:nvPicPr>
          <p:cNvPr id="4" name="Image 3"/>
          <p:cNvPicPr>
            <a:picLocks noChangeAspect="1"/>
          </p:cNvPicPr>
          <p:nvPr/>
        </p:nvPicPr>
        <p:blipFill>
          <a:blip r:embed="rId3"/>
          <a:stretch>
            <a:fillRect/>
          </a:stretch>
        </p:blipFill>
        <p:spPr>
          <a:xfrm>
            <a:off x="3834395" y="1106557"/>
            <a:ext cx="310923" cy="353599"/>
          </a:xfrm>
          <a:prstGeom prst="rect">
            <a:avLst/>
          </a:prstGeom>
        </p:spPr>
      </p:pic>
      <p:pic>
        <p:nvPicPr>
          <p:cNvPr id="5" name="Image 4"/>
          <p:cNvPicPr>
            <a:picLocks noChangeAspect="1"/>
          </p:cNvPicPr>
          <p:nvPr/>
        </p:nvPicPr>
        <p:blipFill>
          <a:blip r:embed="rId4"/>
          <a:stretch>
            <a:fillRect/>
          </a:stretch>
        </p:blipFill>
        <p:spPr>
          <a:xfrm>
            <a:off x="1306705" y="1690146"/>
            <a:ext cx="207282" cy="213378"/>
          </a:xfrm>
          <a:prstGeom prst="rect">
            <a:avLst/>
          </a:prstGeom>
        </p:spPr>
      </p:pic>
      <p:pic>
        <p:nvPicPr>
          <p:cNvPr id="6" name="Image 5"/>
          <p:cNvPicPr>
            <a:picLocks noChangeAspect="1"/>
          </p:cNvPicPr>
          <p:nvPr/>
        </p:nvPicPr>
        <p:blipFill>
          <a:blip r:embed="rId5"/>
          <a:stretch>
            <a:fillRect/>
          </a:stretch>
        </p:blipFill>
        <p:spPr>
          <a:xfrm>
            <a:off x="1410346" y="1513346"/>
            <a:ext cx="310923" cy="353599"/>
          </a:xfrm>
          <a:prstGeom prst="rect">
            <a:avLst/>
          </a:prstGeom>
        </p:spPr>
      </p:pic>
      <p:pic>
        <p:nvPicPr>
          <p:cNvPr id="7" name="Image 6"/>
          <p:cNvPicPr>
            <a:picLocks noChangeAspect="1"/>
          </p:cNvPicPr>
          <p:nvPr/>
        </p:nvPicPr>
        <p:blipFill>
          <a:blip r:embed="rId6"/>
          <a:stretch>
            <a:fillRect/>
          </a:stretch>
        </p:blipFill>
        <p:spPr>
          <a:xfrm>
            <a:off x="4251061" y="1348892"/>
            <a:ext cx="4019550" cy="1917161"/>
          </a:xfrm>
          <a:prstGeom prst="rect">
            <a:avLst/>
          </a:prstGeom>
        </p:spPr>
      </p:pic>
    </p:spTree>
    <p:extLst>
      <p:ext uri="{BB962C8B-B14F-4D97-AF65-F5344CB8AC3E}">
        <p14:creationId xmlns:p14="http://schemas.microsoft.com/office/powerpoint/2010/main" val="996474595"/>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opératoire pour déblocage d’une pièce à payer 4/5</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 </a:t>
            </a:r>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endParaRPr lang="fr-FR" dirty="0">
              <a:cs typeface="Arial" panose="020B0604020202020204" pitchFamily="34" charset="0"/>
            </a:endParaRPr>
          </a:p>
          <a:p>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Les coches disparaissent sur les pièces et un message apparait en bas de l’écran indiquant que la modification est sauvegardée. </a:t>
            </a:r>
          </a:p>
          <a:p>
            <a:r>
              <a:rPr lang="fr-FR" dirty="0" smtClean="0">
                <a:cs typeface="Arial" panose="020B0604020202020204" pitchFamily="34" charset="0"/>
              </a:rPr>
              <a:t>Faites Liste / Rafraîchir pour voir apparaitre la modification. </a:t>
            </a:r>
          </a:p>
          <a:p>
            <a:r>
              <a:rPr lang="fr-FR" dirty="0" smtClean="0">
                <a:cs typeface="Arial" panose="020B0604020202020204" pitchFamily="34" charset="0"/>
              </a:rPr>
              <a:t>											 </a:t>
            </a:r>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13</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152526"/>
            <a:ext cx="3037527" cy="1699162"/>
          </a:xfrm>
          <a:prstGeom prst="rect">
            <a:avLst/>
          </a:prstGeom>
        </p:spPr>
      </p:pic>
      <p:pic>
        <p:nvPicPr>
          <p:cNvPr id="4" name="Image 3"/>
          <p:cNvPicPr>
            <a:picLocks noChangeAspect="1"/>
          </p:cNvPicPr>
          <p:nvPr/>
        </p:nvPicPr>
        <p:blipFill>
          <a:blip r:embed="rId3"/>
          <a:stretch>
            <a:fillRect/>
          </a:stretch>
        </p:blipFill>
        <p:spPr>
          <a:xfrm>
            <a:off x="3913322" y="1152524"/>
            <a:ext cx="4850970" cy="2582568"/>
          </a:xfrm>
          <a:prstGeom prst="rect">
            <a:avLst/>
          </a:prstGeom>
        </p:spPr>
      </p:pic>
    </p:spTree>
    <p:extLst>
      <p:ext uri="{BB962C8B-B14F-4D97-AF65-F5344CB8AC3E}">
        <p14:creationId xmlns:p14="http://schemas.microsoft.com/office/powerpoint/2010/main" val="2571946140"/>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opératoire pour déblocage d’une pièce à payer 5/5</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	 </a:t>
            </a:r>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endParaRPr lang="fr-FR" dirty="0">
              <a:cs typeface="Arial" panose="020B0604020202020204" pitchFamily="34" charset="0"/>
            </a:endParaRP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Retourner sur les pièces en double cliquant la dessus. Le blocage paiement est ôtée. </a:t>
            </a:r>
          </a:p>
          <a:p>
            <a:r>
              <a:rPr lang="fr-FR" dirty="0" smtClean="0">
                <a:cs typeface="Arial" panose="020B0604020202020204" pitchFamily="34" charset="0"/>
              </a:rPr>
              <a:t> </a:t>
            </a:r>
          </a:p>
          <a:p>
            <a:r>
              <a:rPr lang="fr-FR" dirty="0" smtClean="0">
                <a:cs typeface="Arial" panose="020B0604020202020204" pitchFamily="34" charset="0"/>
              </a:rPr>
              <a:t>											 </a:t>
            </a:r>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14</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152525"/>
            <a:ext cx="5753100" cy="2769433"/>
          </a:xfrm>
          <a:prstGeom prst="rect">
            <a:avLst/>
          </a:prstGeom>
        </p:spPr>
      </p:pic>
    </p:spTree>
    <p:extLst>
      <p:ext uri="{BB962C8B-B14F-4D97-AF65-F5344CB8AC3E}">
        <p14:creationId xmlns:p14="http://schemas.microsoft.com/office/powerpoint/2010/main" val="1038103782"/>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opératoire création pour la comptabilisation d’un chèque manuel émis aux fournisseurs 1/4</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Une fois les contrôles effectués par rapport au fournisseur à régler par chèque manuel, il faut procéder au déblocage de la pièce. </a:t>
            </a:r>
          </a:p>
          <a:p>
            <a:r>
              <a:rPr lang="fr-FR" dirty="0" smtClean="0">
                <a:cs typeface="Arial" panose="020B0604020202020204" pitchFamily="34" charset="0"/>
              </a:rPr>
              <a:t>Lancer la transactions FBL1N.  				Renseigner :       Le code fournisseur et la société.          Exécuter </a:t>
            </a:r>
          </a:p>
          <a:p>
            <a:r>
              <a:rPr lang="fr-FR" dirty="0">
                <a:cs typeface="Arial" panose="020B0604020202020204" pitchFamily="34" charset="0"/>
              </a:rPr>
              <a:t>	</a:t>
            </a:r>
            <a:r>
              <a:rPr lang="fr-FR" dirty="0" smtClean="0">
                <a:cs typeface="Arial" panose="020B0604020202020204" pitchFamily="34" charset="0"/>
              </a:rPr>
              <a:t>							Repérer la pièce </a:t>
            </a:r>
            <a:r>
              <a:rPr lang="fr-FR" dirty="0">
                <a:cs typeface="Arial" panose="020B0604020202020204" pitchFamily="34" charset="0"/>
              </a:rPr>
              <a:t>à payer : </a:t>
            </a:r>
            <a:r>
              <a:rPr lang="fr-FR" dirty="0" smtClean="0">
                <a:cs typeface="Arial" panose="020B0604020202020204" pitchFamily="34" charset="0"/>
              </a:rPr>
              <a:t>1700000001 par exemple double cliquer là-dessus afin </a:t>
            </a:r>
          </a:p>
          <a:p>
            <a:r>
              <a:rPr lang="fr-FR" dirty="0">
                <a:cs typeface="Arial" panose="020B0604020202020204" pitchFamily="34" charset="0"/>
              </a:rPr>
              <a:t>	</a:t>
            </a:r>
            <a:r>
              <a:rPr lang="fr-FR" dirty="0" smtClean="0">
                <a:cs typeface="Arial" panose="020B0604020202020204" pitchFamily="34" charset="0"/>
              </a:rPr>
              <a:t>							de d’accéder à la zone de blocage paiement.</a:t>
            </a:r>
          </a:p>
          <a:p>
            <a:r>
              <a:rPr lang="fr-FR" dirty="0">
                <a:cs typeface="Arial" panose="020B0604020202020204" pitchFamily="34" charset="0"/>
              </a:rPr>
              <a:t>	</a:t>
            </a:r>
            <a:r>
              <a:rPr lang="fr-FR" dirty="0" smtClean="0">
                <a:cs typeface="Arial" panose="020B0604020202020204" pitchFamily="34" charset="0"/>
              </a:rPr>
              <a:t>							Passer en modification de la pièce en cliquant sur le crayon 	</a:t>
            </a:r>
          </a:p>
          <a:p>
            <a:r>
              <a:rPr lang="fr-FR" dirty="0">
                <a:cs typeface="Arial" panose="020B0604020202020204" pitchFamily="34" charset="0"/>
              </a:rPr>
              <a:t>	</a:t>
            </a:r>
            <a:r>
              <a:rPr lang="fr-FR" dirty="0" smtClean="0">
                <a:cs typeface="Arial" panose="020B0604020202020204" pitchFamily="34" charset="0"/>
              </a:rPr>
              <a:t>							Enlever le blocage paiement « A » et sauvegarder la modification en cliquant sur </a:t>
            </a:r>
          </a:p>
          <a:p>
            <a:r>
              <a:rPr lang="fr-FR" dirty="0">
                <a:cs typeface="Arial" panose="020B0604020202020204" pitchFamily="34" charset="0"/>
              </a:rPr>
              <a:t>	</a:t>
            </a:r>
            <a:r>
              <a:rPr lang="fr-FR" dirty="0" smtClean="0">
                <a:cs typeface="Arial" panose="020B0604020202020204" pitchFamily="34" charset="0"/>
              </a:rPr>
              <a:t>							la disquette 					 </a:t>
            </a:r>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endParaRPr lang="fr-FR" dirty="0">
              <a:cs typeface="Arial" panose="020B0604020202020204" pitchFamily="34" charset="0"/>
            </a:endParaRP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p>
          <a:p>
            <a:r>
              <a:rPr lang="fr-FR" dirty="0" smtClean="0">
                <a:cs typeface="Arial" panose="020B0604020202020204" pitchFamily="34" charset="0"/>
              </a:rPr>
              <a:t>											 </a:t>
            </a:r>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15</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8" y="1751308"/>
            <a:ext cx="3004653" cy="1294109"/>
          </a:xfrm>
          <a:prstGeom prst="rect">
            <a:avLst/>
          </a:prstGeom>
        </p:spPr>
      </p:pic>
      <p:pic>
        <p:nvPicPr>
          <p:cNvPr id="6" name="Image 5"/>
          <p:cNvPicPr>
            <a:picLocks noChangeAspect="1"/>
          </p:cNvPicPr>
          <p:nvPr/>
        </p:nvPicPr>
        <p:blipFill>
          <a:blip r:embed="rId3"/>
          <a:stretch>
            <a:fillRect/>
          </a:stretch>
        </p:blipFill>
        <p:spPr>
          <a:xfrm>
            <a:off x="4416538" y="1467913"/>
            <a:ext cx="310923" cy="353599"/>
          </a:xfrm>
          <a:prstGeom prst="rect">
            <a:avLst/>
          </a:prstGeom>
        </p:spPr>
      </p:pic>
      <p:pic>
        <p:nvPicPr>
          <p:cNvPr id="9" name="Image 8"/>
          <p:cNvPicPr>
            <a:picLocks noChangeAspect="1"/>
          </p:cNvPicPr>
          <p:nvPr/>
        </p:nvPicPr>
        <p:blipFill>
          <a:blip r:embed="rId4"/>
          <a:stretch>
            <a:fillRect/>
          </a:stretch>
        </p:blipFill>
        <p:spPr>
          <a:xfrm>
            <a:off x="6764172" y="1467913"/>
            <a:ext cx="319032" cy="362821"/>
          </a:xfrm>
          <a:prstGeom prst="rect">
            <a:avLst/>
          </a:prstGeom>
        </p:spPr>
      </p:pic>
      <p:pic>
        <p:nvPicPr>
          <p:cNvPr id="21" name="Image 20"/>
          <p:cNvPicPr>
            <a:picLocks noChangeAspect="1"/>
          </p:cNvPicPr>
          <p:nvPr/>
        </p:nvPicPr>
        <p:blipFill>
          <a:blip r:embed="rId5"/>
          <a:stretch>
            <a:fillRect/>
          </a:stretch>
        </p:blipFill>
        <p:spPr>
          <a:xfrm>
            <a:off x="2075904" y="2022527"/>
            <a:ext cx="475529" cy="109961"/>
          </a:xfrm>
          <a:prstGeom prst="rect">
            <a:avLst/>
          </a:prstGeom>
        </p:spPr>
      </p:pic>
      <p:pic>
        <p:nvPicPr>
          <p:cNvPr id="22" name="Image 21"/>
          <p:cNvPicPr>
            <a:picLocks noChangeAspect="1"/>
          </p:cNvPicPr>
          <p:nvPr/>
        </p:nvPicPr>
        <p:blipFill>
          <a:blip r:embed="rId6"/>
          <a:stretch>
            <a:fillRect/>
          </a:stretch>
        </p:blipFill>
        <p:spPr>
          <a:xfrm>
            <a:off x="730383" y="1895987"/>
            <a:ext cx="168014" cy="161551"/>
          </a:xfrm>
          <a:prstGeom prst="rect">
            <a:avLst/>
          </a:prstGeom>
        </p:spPr>
      </p:pic>
      <p:pic>
        <p:nvPicPr>
          <p:cNvPr id="24" name="Image 23"/>
          <p:cNvPicPr>
            <a:picLocks noChangeAspect="1"/>
          </p:cNvPicPr>
          <p:nvPr/>
        </p:nvPicPr>
        <p:blipFill>
          <a:blip r:embed="rId7"/>
          <a:stretch>
            <a:fillRect/>
          </a:stretch>
        </p:blipFill>
        <p:spPr>
          <a:xfrm>
            <a:off x="820648" y="1955688"/>
            <a:ext cx="310923" cy="353599"/>
          </a:xfrm>
          <a:prstGeom prst="rect">
            <a:avLst/>
          </a:prstGeom>
        </p:spPr>
      </p:pic>
      <p:pic>
        <p:nvPicPr>
          <p:cNvPr id="25" name="Image 24"/>
          <p:cNvPicPr>
            <a:picLocks noChangeAspect="1"/>
          </p:cNvPicPr>
          <p:nvPr/>
        </p:nvPicPr>
        <p:blipFill>
          <a:blip r:embed="rId8"/>
          <a:stretch>
            <a:fillRect/>
          </a:stretch>
        </p:blipFill>
        <p:spPr>
          <a:xfrm>
            <a:off x="653934" y="3118858"/>
            <a:ext cx="2924297" cy="1305908"/>
          </a:xfrm>
          <a:prstGeom prst="rect">
            <a:avLst/>
          </a:prstGeom>
        </p:spPr>
      </p:pic>
      <p:pic>
        <p:nvPicPr>
          <p:cNvPr id="26" name="Image 25"/>
          <p:cNvPicPr>
            <a:picLocks noChangeAspect="1"/>
          </p:cNvPicPr>
          <p:nvPr/>
        </p:nvPicPr>
        <p:blipFill>
          <a:blip r:embed="rId9"/>
          <a:stretch>
            <a:fillRect/>
          </a:stretch>
        </p:blipFill>
        <p:spPr>
          <a:xfrm>
            <a:off x="757988" y="3364110"/>
            <a:ext cx="112803" cy="116831"/>
          </a:xfrm>
          <a:prstGeom prst="rect">
            <a:avLst/>
          </a:prstGeom>
        </p:spPr>
      </p:pic>
      <p:pic>
        <p:nvPicPr>
          <p:cNvPr id="27" name="Image 26"/>
          <p:cNvPicPr>
            <a:picLocks noChangeAspect="1"/>
          </p:cNvPicPr>
          <p:nvPr/>
        </p:nvPicPr>
        <p:blipFill>
          <a:blip r:embed="rId10"/>
          <a:stretch>
            <a:fillRect/>
          </a:stretch>
        </p:blipFill>
        <p:spPr>
          <a:xfrm>
            <a:off x="804671" y="3359509"/>
            <a:ext cx="310923" cy="359695"/>
          </a:xfrm>
          <a:prstGeom prst="rect">
            <a:avLst/>
          </a:prstGeom>
        </p:spPr>
      </p:pic>
      <p:pic>
        <p:nvPicPr>
          <p:cNvPr id="28" name="Image 27"/>
          <p:cNvPicPr>
            <a:picLocks noChangeAspect="1"/>
          </p:cNvPicPr>
          <p:nvPr/>
        </p:nvPicPr>
        <p:blipFill>
          <a:blip r:embed="rId11"/>
          <a:stretch>
            <a:fillRect/>
          </a:stretch>
        </p:blipFill>
        <p:spPr>
          <a:xfrm>
            <a:off x="7309077" y="2505874"/>
            <a:ext cx="310923" cy="359695"/>
          </a:xfrm>
          <a:prstGeom prst="rect">
            <a:avLst/>
          </a:prstGeom>
        </p:spPr>
      </p:pic>
      <p:pic>
        <p:nvPicPr>
          <p:cNvPr id="29" name="Image 28"/>
          <p:cNvPicPr>
            <a:picLocks noChangeAspect="1"/>
          </p:cNvPicPr>
          <p:nvPr/>
        </p:nvPicPr>
        <p:blipFill>
          <a:blip r:embed="rId12"/>
          <a:stretch>
            <a:fillRect/>
          </a:stretch>
        </p:blipFill>
        <p:spPr>
          <a:xfrm>
            <a:off x="4416538" y="3187154"/>
            <a:ext cx="4218943" cy="1294842"/>
          </a:xfrm>
          <a:prstGeom prst="rect">
            <a:avLst/>
          </a:prstGeom>
        </p:spPr>
      </p:pic>
      <p:pic>
        <p:nvPicPr>
          <p:cNvPr id="30" name="Image 29"/>
          <p:cNvPicPr>
            <a:picLocks noChangeAspect="1"/>
          </p:cNvPicPr>
          <p:nvPr/>
        </p:nvPicPr>
        <p:blipFill>
          <a:blip r:embed="rId13"/>
          <a:stretch>
            <a:fillRect/>
          </a:stretch>
        </p:blipFill>
        <p:spPr>
          <a:xfrm>
            <a:off x="5208399" y="4099301"/>
            <a:ext cx="103443" cy="103443"/>
          </a:xfrm>
          <a:prstGeom prst="rect">
            <a:avLst/>
          </a:prstGeom>
        </p:spPr>
      </p:pic>
      <p:pic>
        <p:nvPicPr>
          <p:cNvPr id="31" name="Image 30"/>
          <p:cNvPicPr>
            <a:picLocks noChangeAspect="1"/>
          </p:cNvPicPr>
          <p:nvPr/>
        </p:nvPicPr>
        <p:blipFill>
          <a:blip r:embed="rId14"/>
          <a:stretch>
            <a:fillRect/>
          </a:stretch>
        </p:blipFill>
        <p:spPr>
          <a:xfrm>
            <a:off x="6526009" y="3388929"/>
            <a:ext cx="157002" cy="157002"/>
          </a:xfrm>
          <a:prstGeom prst="rect">
            <a:avLst/>
          </a:prstGeom>
        </p:spPr>
      </p:pic>
      <p:pic>
        <p:nvPicPr>
          <p:cNvPr id="27648" name="Image 27647"/>
          <p:cNvPicPr>
            <a:picLocks noChangeAspect="1"/>
          </p:cNvPicPr>
          <p:nvPr/>
        </p:nvPicPr>
        <p:blipFill>
          <a:blip r:embed="rId15"/>
          <a:stretch>
            <a:fillRect/>
          </a:stretch>
        </p:blipFill>
        <p:spPr>
          <a:xfrm>
            <a:off x="6619884" y="3412117"/>
            <a:ext cx="310923" cy="359695"/>
          </a:xfrm>
          <a:prstGeom prst="rect">
            <a:avLst/>
          </a:prstGeom>
        </p:spPr>
      </p:pic>
    </p:spTree>
    <p:extLst>
      <p:ext uri="{BB962C8B-B14F-4D97-AF65-F5344CB8AC3E}">
        <p14:creationId xmlns:p14="http://schemas.microsoft.com/office/powerpoint/2010/main" val="1610590476"/>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opératoire création pour la comptabilisation d’un chèque manuel émis aux fournisseurs 2/4</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Depuis le menu SAP : Gestion Comptable / Comptabilité Financière / </a:t>
            </a:r>
            <a:r>
              <a:rPr lang="fr-FR" dirty="0">
                <a:cs typeface="Arial" panose="020B0604020202020204" pitchFamily="34" charset="0"/>
              </a:rPr>
              <a:t>	</a:t>
            </a:r>
            <a:r>
              <a:rPr lang="fr-FR" dirty="0" smtClean="0">
                <a:cs typeface="Arial" panose="020B0604020202020204" pitchFamily="34" charset="0"/>
              </a:rPr>
              <a:t>Fournisseurs / Ecriture / Décaissements : F-53 – </a:t>
            </a:r>
            <a:r>
              <a:rPr lang="fr-FR" dirty="0" err="1" smtClean="0">
                <a:cs typeface="Arial" panose="020B0604020202020204" pitchFamily="34" charset="0"/>
              </a:rPr>
              <a:t>Cmptb</a:t>
            </a:r>
            <a:r>
              <a:rPr lang="fr-FR" dirty="0" smtClean="0">
                <a:cs typeface="Arial" panose="020B0604020202020204" pitchFamily="34" charset="0"/>
              </a:rPr>
              <a:t>.</a:t>
            </a:r>
          </a:p>
          <a:p>
            <a:r>
              <a:rPr lang="fr-FR" dirty="0" smtClean="0">
                <a:cs typeface="Arial" panose="020B0604020202020204" pitchFamily="34" charset="0"/>
              </a:rPr>
              <a:t>Lancer la transaction F-53							Renseigner les données suivantes : </a:t>
            </a:r>
          </a:p>
          <a:p>
            <a:r>
              <a:rPr lang="fr-FR" dirty="0">
                <a:cs typeface="Arial" panose="020B0604020202020204" pitchFamily="34" charset="0"/>
              </a:rPr>
              <a:t>	</a:t>
            </a:r>
            <a:r>
              <a:rPr lang="fr-FR" dirty="0" smtClean="0">
                <a:cs typeface="Arial" panose="020B0604020202020204" pitchFamily="34" charset="0"/>
              </a:rPr>
              <a:t>										Date de de pièce</a:t>
            </a:r>
          </a:p>
          <a:p>
            <a:r>
              <a:rPr lang="fr-FR" dirty="0">
                <a:cs typeface="Arial" panose="020B0604020202020204" pitchFamily="34" charset="0"/>
              </a:rPr>
              <a:t>	</a:t>
            </a:r>
            <a:r>
              <a:rPr lang="fr-FR" dirty="0" smtClean="0">
                <a:cs typeface="Arial" panose="020B0604020202020204" pitchFamily="34" charset="0"/>
              </a:rPr>
              <a:t>										Devise si besoin</a:t>
            </a:r>
          </a:p>
          <a:p>
            <a:r>
              <a:rPr lang="fr-FR" dirty="0">
                <a:cs typeface="Arial" panose="020B0604020202020204" pitchFamily="34" charset="0"/>
              </a:rPr>
              <a:t>	</a:t>
            </a:r>
            <a:r>
              <a:rPr lang="fr-FR" dirty="0" smtClean="0">
                <a:cs typeface="Arial" panose="020B0604020202020204" pitchFamily="34" charset="0"/>
              </a:rPr>
              <a:t>										Compte bancaire à créditer </a:t>
            </a:r>
          </a:p>
          <a:p>
            <a:r>
              <a:rPr lang="fr-FR" dirty="0">
                <a:cs typeface="Arial" panose="020B0604020202020204" pitchFamily="34" charset="0"/>
              </a:rPr>
              <a:t>	</a:t>
            </a:r>
            <a:r>
              <a:rPr lang="fr-FR" dirty="0" smtClean="0">
                <a:cs typeface="Arial" panose="020B0604020202020204" pitchFamily="34" charset="0"/>
              </a:rPr>
              <a:t>										Montant</a:t>
            </a:r>
          </a:p>
          <a:p>
            <a:r>
              <a:rPr lang="fr-FR" dirty="0">
                <a:cs typeface="Arial" panose="020B0604020202020204" pitchFamily="34" charset="0"/>
              </a:rPr>
              <a:t>	</a:t>
            </a:r>
            <a:r>
              <a:rPr lang="fr-FR" dirty="0" smtClean="0">
                <a:cs typeface="Arial" panose="020B0604020202020204" pitchFamily="34" charset="0"/>
              </a:rPr>
              <a:t>										Date de valeur</a:t>
            </a:r>
          </a:p>
          <a:p>
            <a:r>
              <a:rPr lang="fr-FR" dirty="0">
                <a:cs typeface="Arial" panose="020B0604020202020204" pitchFamily="34" charset="0"/>
              </a:rPr>
              <a:t>	</a:t>
            </a:r>
            <a:r>
              <a:rPr lang="fr-FR" dirty="0" smtClean="0">
                <a:cs typeface="Arial" panose="020B0604020202020204" pitchFamily="34" charset="0"/>
              </a:rPr>
              <a:t>										Compte fournisseur à débiter</a:t>
            </a:r>
          </a:p>
          <a:p>
            <a:r>
              <a:rPr lang="fr-FR" dirty="0">
                <a:cs typeface="Arial" panose="020B0604020202020204" pitchFamily="34" charset="0"/>
              </a:rPr>
              <a:t>	</a:t>
            </a:r>
            <a:r>
              <a:rPr lang="fr-FR" dirty="0" smtClean="0">
                <a:cs typeface="Arial" panose="020B0604020202020204" pitchFamily="34" charset="0"/>
              </a:rPr>
              <a:t>										! S’assurer que par défaut le type </a:t>
            </a:r>
            <a:r>
              <a:rPr lang="fr-FR" dirty="0">
                <a:cs typeface="Arial" panose="020B0604020202020204" pitchFamily="34" charset="0"/>
              </a:rPr>
              <a:t>de compte « K »</a:t>
            </a:r>
            <a:r>
              <a:rPr lang="fr-FR" dirty="0" smtClean="0">
                <a:cs typeface="Arial" panose="020B0604020202020204" pitchFamily="34" charset="0"/>
              </a:rPr>
              <a:t> 	est présent</a:t>
            </a:r>
          </a:p>
          <a:p>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et </a:t>
            </a:r>
            <a:r>
              <a:rPr lang="fr-FR" dirty="0">
                <a:cs typeface="Arial" panose="020B0604020202020204" pitchFamily="34" charset="0"/>
              </a:rPr>
              <a:t>PNS standard </a:t>
            </a:r>
            <a:r>
              <a:rPr lang="fr-FR" dirty="0" smtClean="0">
                <a:cs typeface="Arial" panose="020B0604020202020204" pitchFamily="34" charset="0"/>
              </a:rPr>
              <a:t>coché puis cliquer sur </a:t>
            </a: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endParaRPr lang="fr-FR" dirty="0">
              <a:cs typeface="Arial" panose="020B0604020202020204" pitchFamily="34" charset="0"/>
            </a:endParaRP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p>
          <a:p>
            <a:r>
              <a:rPr lang="fr-FR" dirty="0" smtClean="0">
                <a:cs typeface="Arial" panose="020B0604020202020204" pitchFamily="34" charset="0"/>
              </a:rPr>
              <a:t>											 </a:t>
            </a:r>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16</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457200" y="1712562"/>
            <a:ext cx="3758339" cy="2603715"/>
          </a:xfrm>
          <a:prstGeom prst="rect">
            <a:avLst/>
          </a:prstGeom>
        </p:spPr>
      </p:pic>
      <p:pic>
        <p:nvPicPr>
          <p:cNvPr id="4" name="Image 3"/>
          <p:cNvPicPr>
            <a:picLocks noChangeAspect="1"/>
          </p:cNvPicPr>
          <p:nvPr/>
        </p:nvPicPr>
        <p:blipFill>
          <a:blip r:embed="rId3"/>
          <a:stretch>
            <a:fillRect/>
          </a:stretch>
        </p:blipFill>
        <p:spPr>
          <a:xfrm>
            <a:off x="4540524" y="1806015"/>
            <a:ext cx="310923" cy="353599"/>
          </a:xfrm>
          <a:prstGeom prst="rect">
            <a:avLst/>
          </a:prstGeom>
        </p:spPr>
      </p:pic>
      <p:pic>
        <p:nvPicPr>
          <p:cNvPr id="5" name="Image 4"/>
          <p:cNvPicPr>
            <a:picLocks noChangeAspect="1"/>
          </p:cNvPicPr>
          <p:nvPr/>
        </p:nvPicPr>
        <p:blipFill>
          <a:blip r:embed="rId4"/>
          <a:stretch>
            <a:fillRect/>
          </a:stretch>
        </p:blipFill>
        <p:spPr>
          <a:xfrm>
            <a:off x="4548274" y="2159614"/>
            <a:ext cx="310923" cy="353599"/>
          </a:xfrm>
          <a:prstGeom prst="rect">
            <a:avLst/>
          </a:prstGeom>
        </p:spPr>
      </p:pic>
      <p:pic>
        <p:nvPicPr>
          <p:cNvPr id="6" name="Image 5"/>
          <p:cNvPicPr>
            <a:picLocks noChangeAspect="1"/>
          </p:cNvPicPr>
          <p:nvPr/>
        </p:nvPicPr>
        <p:blipFill>
          <a:blip r:embed="rId5"/>
          <a:stretch>
            <a:fillRect/>
          </a:stretch>
        </p:blipFill>
        <p:spPr>
          <a:xfrm>
            <a:off x="4571999" y="2513213"/>
            <a:ext cx="310923" cy="359695"/>
          </a:xfrm>
          <a:prstGeom prst="rect">
            <a:avLst/>
          </a:prstGeom>
        </p:spPr>
      </p:pic>
      <p:pic>
        <p:nvPicPr>
          <p:cNvPr id="7" name="Image 6"/>
          <p:cNvPicPr>
            <a:picLocks noChangeAspect="1"/>
          </p:cNvPicPr>
          <p:nvPr/>
        </p:nvPicPr>
        <p:blipFill>
          <a:blip r:embed="rId6"/>
          <a:stretch>
            <a:fillRect/>
          </a:stretch>
        </p:blipFill>
        <p:spPr>
          <a:xfrm>
            <a:off x="4571999" y="2862849"/>
            <a:ext cx="310923" cy="359695"/>
          </a:xfrm>
          <a:prstGeom prst="rect">
            <a:avLst/>
          </a:prstGeom>
        </p:spPr>
      </p:pic>
      <p:pic>
        <p:nvPicPr>
          <p:cNvPr id="8" name="Image 7"/>
          <p:cNvPicPr>
            <a:picLocks noChangeAspect="1"/>
          </p:cNvPicPr>
          <p:nvPr/>
        </p:nvPicPr>
        <p:blipFill>
          <a:blip r:embed="rId7"/>
          <a:stretch>
            <a:fillRect/>
          </a:stretch>
        </p:blipFill>
        <p:spPr>
          <a:xfrm>
            <a:off x="4571999" y="3220162"/>
            <a:ext cx="303173" cy="344785"/>
          </a:xfrm>
          <a:prstGeom prst="rect">
            <a:avLst/>
          </a:prstGeom>
        </p:spPr>
      </p:pic>
      <p:pic>
        <p:nvPicPr>
          <p:cNvPr id="9" name="Image 8"/>
          <p:cNvPicPr>
            <a:picLocks noChangeAspect="1"/>
          </p:cNvPicPr>
          <p:nvPr/>
        </p:nvPicPr>
        <p:blipFill>
          <a:blip r:embed="rId8"/>
          <a:stretch>
            <a:fillRect/>
          </a:stretch>
        </p:blipFill>
        <p:spPr>
          <a:xfrm>
            <a:off x="4571999" y="3566084"/>
            <a:ext cx="310923" cy="359695"/>
          </a:xfrm>
          <a:prstGeom prst="rect">
            <a:avLst/>
          </a:prstGeom>
        </p:spPr>
      </p:pic>
      <p:pic>
        <p:nvPicPr>
          <p:cNvPr id="10" name="Image 9"/>
          <p:cNvPicPr>
            <a:picLocks noChangeAspect="1"/>
          </p:cNvPicPr>
          <p:nvPr/>
        </p:nvPicPr>
        <p:blipFill>
          <a:blip r:embed="rId9"/>
          <a:stretch>
            <a:fillRect/>
          </a:stretch>
        </p:blipFill>
        <p:spPr>
          <a:xfrm>
            <a:off x="1688837" y="2159614"/>
            <a:ext cx="310923" cy="353599"/>
          </a:xfrm>
          <a:prstGeom prst="rect">
            <a:avLst/>
          </a:prstGeom>
        </p:spPr>
      </p:pic>
      <p:pic>
        <p:nvPicPr>
          <p:cNvPr id="11" name="Image 10"/>
          <p:cNvPicPr>
            <a:picLocks noChangeAspect="1"/>
          </p:cNvPicPr>
          <p:nvPr/>
        </p:nvPicPr>
        <p:blipFill>
          <a:blip r:embed="rId10"/>
          <a:stretch>
            <a:fillRect/>
          </a:stretch>
        </p:blipFill>
        <p:spPr>
          <a:xfrm>
            <a:off x="3501989" y="2346038"/>
            <a:ext cx="310923" cy="353599"/>
          </a:xfrm>
          <a:prstGeom prst="rect">
            <a:avLst/>
          </a:prstGeom>
        </p:spPr>
      </p:pic>
      <p:pic>
        <p:nvPicPr>
          <p:cNvPr id="12" name="Image 11"/>
          <p:cNvPicPr>
            <a:picLocks noChangeAspect="1"/>
          </p:cNvPicPr>
          <p:nvPr/>
        </p:nvPicPr>
        <p:blipFill>
          <a:blip r:embed="rId11"/>
          <a:stretch>
            <a:fillRect/>
          </a:stretch>
        </p:blipFill>
        <p:spPr>
          <a:xfrm>
            <a:off x="1688836" y="2893812"/>
            <a:ext cx="310923" cy="359695"/>
          </a:xfrm>
          <a:prstGeom prst="rect">
            <a:avLst/>
          </a:prstGeom>
        </p:spPr>
      </p:pic>
      <p:pic>
        <p:nvPicPr>
          <p:cNvPr id="13" name="Image 12"/>
          <p:cNvPicPr>
            <a:picLocks noChangeAspect="1"/>
          </p:cNvPicPr>
          <p:nvPr/>
        </p:nvPicPr>
        <p:blipFill>
          <a:blip r:embed="rId12"/>
          <a:stretch>
            <a:fillRect/>
          </a:stretch>
        </p:blipFill>
        <p:spPr>
          <a:xfrm>
            <a:off x="1595846" y="3036445"/>
            <a:ext cx="310923" cy="359695"/>
          </a:xfrm>
          <a:prstGeom prst="rect">
            <a:avLst/>
          </a:prstGeom>
        </p:spPr>
      </p:pic>
      <p:pic>
        <p:nvPicPr>
          <p:cNvPr id="14" name="Image 13"/>
          <p:cNvPicPr>
            <a:picLocks noChangeAspect="1"/>
          </p:cNvPicPr>
          <p:nvPr/>
        </p:nvPicPr>
        <p:blipFill>
          <a:blip r:embed="rId13"/>
          <a:stretch>
            <a:fillRect/>
          </a:stretch>
        </p:blipFill>
        <p:spPr>
          <a:xfrm>
            <a:off x="1751307" y="3210557"/>
            <a:ext cx="304826" cy="347502"/>
          </a:xfrm>
          <a:prstGeom prst="rect">
            <a:avLst/>
          </a:prstGeom>
        </p:spPr>
      </p:pic>
      <p:pic>
        <p:nvPicPr>
          <p:cNvPr id="15" name="Image 14"/>
          <p:cNvPicPr>
            <a:picLocks noChangeAspect="1"/>
          </p:cNvPicPr>
          <p:nvPr/>
        </p:nvPicPr>
        <p:blipFill>
          <a:blip r:embed="rId14"/>
          <a:stretch>
            <a:fillRect/>
          </a:stretch>
        </p:blipFill>
        <p:spPr>
          <a:xfrm>
            <a:off x="1657360" y="3535172"/>
            <a:ext cx="310923" cy="359695"/>
          </a:xfrm>
          <a:prstGeom prst="rect">
            <a:avLst/>
          </a:prstGeom>
        </p:spPr>
      </p:pic>
      <p:cxnSp>
        <p:nvCxnSpPr>
          <p:cNvPr id="17" name="Connecteur droit avec flèche 16"/>
          <p:cNvCxnSpPr/>
          <p:nvPr/>
        </p:nvCxnSpPr>
        <p:spPr>
          <a:xfrm>
            <a:off x="1411172" y="3828081"/>
            <a:ext cx="3440275" cy="216977"/>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9" name="Connecteur droit avec flèche 18"/>
          <p:cNvCxnSpPr/>
          <p:nvPr/>
        </p:nvCxnSpPr>
        <p:spPr>
          <a:xfrm>
            <a:off x="1903720" y="3936569"/>
            <a:ext cx="2979202" cy="464950"/>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20" name="Image 19"/>
          <p:cNvPicPr>
            <a:picLocks noChangeAspect="1"/>
          </p:cNvPicPr>
          <p:nvPr/>
        </p:nvPicPr>
        <p:blipFill>
          <a:blip r:embed="rId15"/>
          <a:stretch>
            <a:fillRect/>
          </a:stretch>
        </p:blipFill>
        <p:spPr>
          <a:xfrm>
            <a:off x="7310437" y="4316277"/>
            <a:ext cx="619125" cy="142875"/>
          </a:xfrm>
          <a:prstGeom prst="rect">
            <a:avLst/>
          </a:prstGeom>
        </p:spPr>
      </p:pic>
      <p:pic>
        <p:nvPicPr>
          <p:cNvPr id="21" name="Image 20"/>
          <p:cNvPicPr>
            <a:picLocks noChangeAspect="1"/>
          </p:cNvPicPr>
          <p:nvPr/>
        </p:nvPicPr>
        <p:blipFill>
          <a:blip r:embed="rId16"/>
          <a:stretch>
            <a:fillRect/>
          </a:stretch>
        </p:blipFill>
        <p:spPr>
          <a:xfrm>
            <a:off x="698354" y="2159614"/>
            <a:ext cx="432854" cy="140220"/>
          </a:xfrm>
          <a:prstGeom prst="rect">
            <a:avLst/>
          </a:prstGeom>
        </p:spPr>
      </p:pic>
      <p:pic>
        <p:nvPicPr>
          <p:cNvPr id="22" name="Image 21"/>
          <p:cNvPicPr>
            <a:picLocks noChangeAspect="1"/>
          </p:cNvPicPr>
          <p:nvPr/>
        </p:nvPicPr>
        <p:blipFill>
          <a:blip r:embed="rId17"/>
          <a:stretch>
            <a:fillRect/>
          </a:stretch>
        </p:blipFill>
        <p:spPr>
          <a:xfrm>
            <a:off x="1045179" y="2028333"/>
            <a:ext cx="310923" cy="359695"/>
          </a:xfrm>
          <a:prstGeom prst="rect">
            <a:avLst/>
          </a:prstGeom>
        </p:spPr>
      </p:pic>
      <p:pic>
        <p:nvPicPr>
          <p:cNvPr id="23" name="Image 22"/>
          <p:cNvPicPr>
            <a:picLocks noChangeAspect="1"/>
          </p:cNvPicPr>
          <p:nvPr/>
        </p:nvPicPr>
        <p:blipFill>
          <a:blip r:embed="rId18"/>
          <a:stretch>
            <a:fillRect/>
          </a:stretch>
        </p:blipFill>
        <p:spPr>
          <a:xfrm>
            <a:off x="7892494" y="4221671"/>
            <a:ext cx="310923" cy="359695"/>
          </a:xfrm>
          <a:prstGeom prst="rect">
            <a:avLst/>
          </a:prstGeom>
        </p:spPr>
      </p:pic>
    </p:spTree>
    <p:extLst>
      <p:ext uri="{BB962C8B-B14F-4D97-AF65-F5344CB8AC3E}">
        <p14:creationId xmlns:p14="http://schemas.microsoft.com/office/powerpoint/2010/main" val="2359847646"/>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a:cs typeface="Arial" panose="020B0604020202020204" pitchFamily="34" charset="0"/>
              </a:rPr>
              <a:t>Mode opératoire création pour la comptabilisation d’un chèque manuel émis aux fournisseurs </a:t>
            </a:r>
            <a:r>
              <a:rPr lang="fr-FR" altLang="en-US" sz="2700" dirty="0" smtClean="0">
                <a:cs typeface="Arial" panose="020B0604020202020204" pitchFamily="34" charset="0"/>
              </a:rPr>
              <a:t>3/4</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991892"/>
            <a:ext cx="8430937" cy="3580107"/>
          </a:xfrm>
        </p:spPr>
        <p:txBody>
          <a:bodyPr/>
          <a:lstStyle/>
          <a:p>
            <a:r>
              <a:rPr lang="fr-FR" dirty="0" smtClean="0">
                <a:cs typeface="Arial" panose="020B0604020202020204" pitchFamily="34" charset="0"/>
              </a:rPr>
              <a:t>							         </a:t>
            </a:r>
            <a:r>
              <a:rPr lang="fr-FR" dirty="0" smtClean="0"/>
              <a:t>s’assurer </a:t>
            </a:r>
            <a:r>
              <a:rPr lang="fr-FR" dirty="0"/>
              <a:t>que le montant saisi égale au </a:t>
            </a:r>
            <a:r>
              <a:rPr lang="fr-FR" dirty="0" smtClean="0"/>
              <a:t>montant non affecté </a:t>
            </a:r>
            <a:r>
              <a:rPr lang="fr-FR" dirty="0"/>
              <a:t>afin d’avoir un solde à </a:t>
            </a:r>
            <a:r>
              <a:rPr lang="fr-FR" dirty="0" smtClean="0"/>
              <a:t>0</a:t>
            </a:r>
          </a:p>
          <a:p>
            <a:r>
              <a:rPr lang="fr-FR" dirty="0"/>
              <a:t>	</a:t>
            </a:r>
            <a:r>
              <a:rPr lang="fr-FR" dirty="0" smtClean="0"/>
              <a:t>						        Double cliquer sur le montant. Il devient bleu.    Montant saisi et affectés sont égaux</a:t>
            </a:r>
          </a:p>
          <a:p>
            <a:r>
              <a:rPr lang="fr-FR" dirty="0"/>
              <a:t>	</a:t>
            </a:r>
            <a:r>
              <a:rPr lang="fr-FR" dirty="0" smtClean="0"/>
              <a:t>							Le solde en non affecté devient 0. Cliquer sur la disquette pour sauvegarder</a:t>
            </a:r>
          </a:p>
          <a:p>
            <a:r>
              <a:rPr lang="fr-FR" dirty="0" smtClean="0"/>
              <a:t>  </a:t>
            </a:r>
            <a:endParaRPr lang="fr-FR" dirty="0"/>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Le numéro de la pièce apparait en bas de l’écran : </a:t>
            </a:r>
            <a:r>
              <a:rPr lang="fr-FR" dirty="0" smtClean="0">
                <a:latin typeface="Arial" panose="020B0604020202020204" pitchFamily="34" charset="0"/>
                <a:cs typeface="Arial" panose="020B0604020202020204" pitchFamily="34" charset="0"/>
              </a:rPr>
              <a:t>	</a:t>
            </a: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17</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8" y="991893"/>
            <a:ext cx="2913681" cy="3184901"/>
          </a:xfrm>
          <a:prstGeom prst="rect">
            <a:avLst/>
          </a:prstGeom>
        </p:spPr>
      </p:pic>
      <p:pic>
        <p:nvPicPr>
          <p:cNvPr id="7" name="Image 6"/>
          <p:cNvPicPr>
            <a:picLocks noChangeAspect="1"/>
          </p:cNvPicPr>
          <p:nvPr/>
        </p:nvPicPr>
        <p:blipFill>
          <a:blip r:embed="rId3"/>
          <a:stretch>
            <a:fillRect/>
          </a:stretch>
        </p:blipFill>
        <p:spPr>
          <a:xfrm>
            <a:off x="3737545" y="1943045"/>
            <a:ext cx="3815327" cy="2040019"/>
          </a:xfrm>
          <a:prstGeom prst="rect">
            <a:avLst/>
          </a:prstGeom>
        </p:spPr>
      </p:pic>
      <p:pic>
        <p:nvPicPr>
          <p:cNvPr id="17" name="Image 16"/>
          <p:cNvPicPr>
            <a:picLocks noChangeAspect="1"/>
          </p:cNvPicPr>
          <p:nvPr/>
        </p:nvPicPr>
        <p:blipFill>
          <a:blip r:embed="rId4"/>
          <a:stretch>
            <a:fillRect/>
          </a:stretch>
        </p:blipFill>
        <p:spPr>
          <a:xfrm flipV="1">
            <a:off x="5370926" y="2569327"/>
            <a:ext cx="548086" cy="148251"/>
          </a:xfrm>
          <a:prstGeom prst="rect">
            <a:avLst/>
          </a:prstGeom>
        </p:spPr>
      </p:pic>
      <p:pic>
        <p:nvPicPr>
          <p:cNvPr id="19" name="Image 18"/>
          <p:cNvPicPr>
            <a:picLocks noChangeAspect="1"/>
          </p:cNvPicPr>
          <p:nvPr/>
        </p:nvPicPr>
        <p:blipFill>
          <a:blip r:embed="rId5"/>
          <a:stretch>
            <a:fillRect/>
          </a:stretch>
        </p:blipFill>
        <p:spPr>
          <a:xfrm>
            <a:off x="6326587" y="1322163"/>
            <a:ext cx="280301" cy="318773"/>
          </a:xfrm>
          <a:prstGeom prst="rect">
            <a:avLst/>
          </a:prstGeom>
        </p:spPr>
      </p:pic>
      <p:cxnSp>
        <p:nvCxnSpPr>
          <p:cNvPr id="24" name="Connecteur droit avec flèche 23"/>
          <p:cNvCxnSpPr/>
          <p:nvPr/>
        </p:nvCxnSpPr>
        <p:spPr>
          <a:xfrm flipV="1">
            <a:off x="3053166" y="1170122"/>
            <a:ext cx="573437" cy="2595966"/>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6" name="Connecteur droit avec flèche 25"/>
          <p:cNvCxnSpPr/>
          <p:nvPr/>
        </p:nvCxnSpPr>
        <p:spPr>
          <a:xfrm flipV="1">
            <a:off x="3258730" y="1170122"/>
            <a:ext cx="522856" cy="2921431"/>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30" name="Image 29"/>
          <p:cNvPicPr>
            <a:picLocks noChangeAspect="1"/>
          </p:cNvPicPr>
          <p:nvPr/>
        </p:nvPicPr>
        <p:blipFill>
          <a:blip r:embed="rId6"/>
          <a:stretch>
            <a:fillRect/>
          </a:stretch>
        </p:blipFill>
        <p:spPr>
          <a:xfrm>
            <a:off x="8749063" y="1318744"/>
            <a:ext cx="310923" cy="353599"/>
          </a:xfrm>
          <a:prstGeom prst="rect">
            <a:avLst/>
          </a:prstGeom>
        </p:spPr>
      </p:pic>
      <p:pic>
        <p:nvPicPr>
          <p:cNvPr id="31" name="Image 30"/>
          <p:cNvPicPr>
            <a:picLocks noChangeAspect="1"/>
          </p:cNvPicPr>
          <p:nvPr/>
        </p:nvPicPr>
        <p:blipFill>
          <a:blip r:embed="rId7"/>
          <a:stretch>
            <a:fillRect/>
          </a:stretch>
        </p:blipFill>
        <p:spPr>
          <a:xfrm>
            <a:off x="6955880" y="3872702"/>
            <a:ext cx="536494" cy="109738"/>
          </a:xfrm>
          <a:prstGeom prst="rect">
            <a:avLst/>
          </a:prstGeom>
        </p:spPr>
      </p:pic>
      <p:pic>
        <p:nvPicPr>
          <p:cNvPr id="27648" name="Image 27647"/>
          <p:cNvPicPr>
            <a:picLocks noChangeAspect="1"/>
          </p:cNvPicPr>
          <p:nvPr/>
        </p:nvPicPr>
        <p:blipFill>
          <a:blip r:embed="rId8"/>
          <a:stretch>
            <a:fillRect/>
          </a:stretch>
        </p:blipFill>
        <p:spPr>
          <a:xfrm>
            <a:off x="4957695" y="2006108"/>
            <a:ext cx="170703" cy="170703"/>
          </a:xfrm>
          <a:prstGeom prst="rect">
            <a:avLst/>
          </a:prstGeom>
        </p:spPr>
      </p:pic>
      <p:pic>
        <p:nvPicPr>
          <p:cNvPr id="27649" name="Image 27648"/>
          <p:cNvPicPr>
            <a:picLocks noChangeAspect="1"/>
          </p:cNvPicPr>
          <p:nvPr/>
        </p:nvPicPr>
        <p:blipFill>
          <a:blip r:embed="rId6"/>
          <a:stretch>
            <a:fillRect/>
          </a:stretch>
        </p:blipFill>
        <p:spPr>
          <a:xfrm>
            <a:off x="6553123" y="3452666"/>
            <a:ext cx="310923" cy="353599"/>
          </a:xfrm>
          <a:prstGeom prst="rect">
            <a:avLst/>
          </a:prstGeom>
        </p:spPr>
      </p:pic>
      <p:pic>
        <p:nvPicPr>
          <p:cNvPr id="27652" name="Image 27651"/>
          <p:cNvPicPr>
            <a:picLocks noChangeAspect="1"/>
          </p:cNvPicPr>
          <p:nvPr/>
        </p:nvPicPr>
        <p:blipFill>
          <a:blip r:embed="rId9"/>
          <a:stretch>
            <a:fillRect/>
          </a:stretch>
        </p:blipFill>
        <p:spPr>
          <a:xfrm>
            <a:off x="5858374" y="2435074"/>
            <a:ext cx="310923" cy="359695"/>
          </a:xfrm>
          <a:prstGeom prst="rect">
            <a:avLst/>
          </a:prstGeom>
        </p:spPr>
      </p:pic>
      <p:pic>
        <p:nvPicPr>
          <p:cNvPr id="27654" name="Image 27653"/>
          <p:cNvPicPr>
            <a:picLocks noChangeAspect="1"/>
          </p:cNvPicPr>
          <p:nvPr/>
        </p:nvPicPr>
        <p:blipFill>
          <a:blip r:embed="rId10"/>
          <a:stretch>
            <a:fillRect/>
          </a:stretch>
        </p:blipFill>
        <p:spPr>
          <a:xfrm>
            <a:off x="6766773" y="3655726"/>
            <a:ext cx="759656" cy="209227"/>
          </a:xfrm>
          <a:prstGeom prst="rect">
            <a:avLst/>
          </a:prstGeom>
        </p:spPr>
      </p:pic>
      <p:pic>
        <p:nvPicPr>
          <p:cNvPr id="27655" name="Image 27654"/>
          <p:cNvPicPr>
            <a:picLocks noChangeAspect="1"/>
          </p:cNvPicPr>
          <p:nvPr/>
        </p:nvPicPr>
        <p:blipFill>
          <a:blip r:embed="rId11"/>
          <a:stretch>
            <a:fillRect/>
          </a:stretch>
        </p:blipFill>
        <p:spPr>
          <a:xfrm>
            <a:off x="5057809" y="2035559"/>
            <a:ext cx="310923" cy="359695"/>
          </a:xfrm>
          <a:prstGeom prst="rect">
            <a:avLst/>
          </a:prstGeom>
        </p:spPr>
      </p:pic>
      <p:pic>
        <p:nvPicPr>
          <p:cNvPr id="27656" name="Image 27655"/>
          <p:cNvPicPr>
            <a:picLocks noChangeAspect="1"/>
          </p:cNvPicPr>
          <p:nvPr/>
        </p:nvPicPr>
        <p:blipFill>
          <a:blip r:embed="rId11"/>
          <a:stretch>
            <a:fillRect/>
          </a:stretch>
        </p:blipFill>
        <p:spPr>
          <a:xfrm>
            <a:off x="8302193" y="1648253"/>
            <a:ext cx="310923" cy="359695"/>
          </a:xfrm>
          <a:prstGeom prst="rect">
            <a:avLst/>
          </a:prstGeom>
        </p:spPr>
      </p:pic>
      <p:pic>
        <p:nvPicPr>
          <p:cNvPr id="27657" name="Image 27656"/>
          <p:cNvPicPr>
            <a:picLocks noChangeAspect="1"/>
          </p:cNvPicPr>
          <p:nvPr/>
        </p:nvPicPr>
        <p:blipFill>
          <a:blip r:embed="rId12"/>
          <a:stretch>
            <a:fillRect/>
          </a:stretch>
        </p:blipFill>
        <p:spPr>
          <a:xfrm>
            <a:off x="6782510" y="4148944"/>
            <a:ext cx="1487837" cy="257175"/>
          </a:xfrm>
          <a:prstGeom prst="rect">
            <a:avLst/>
          </a:prstGeom>
        </p:spPr>
      </p:pic>
    </p:spTree>
    <p:extLst>
      <p:ext uri="{BB962C8B-B14F-4D97-AF65-F5344CB8AC3E}">
        <p14:creationId xmlns:p14="http://schemas.microsoft.com/office/powerpoint/2010/main" val="253819306"/>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a:cs typeface="Arial" panose="020B0604020202020204" pitchFamily="34" charset="0"/>
              </a:rPr>
              <a:t>Mode opératoire création pour la comptabilisation d’un chèque manuel émis aux fournisseurs </a:t>
            </a:r>
            <a:r>
              <a:rPr lang="fr-FR" altLang="en-US" sz="2700" dirty="0" smtClean="0">
                <a:cs typeface="Arial" panose="020B0604020202020204" pitchFamily="34" charset="0"/>
              </a:rPr>
              <a:t>4/4</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991892"/>
            <a:ext cx="8246571" cy="3580107"/>
          </a:xfrm>
        </p:spPr>
        <p:txBody>
          <a:bodyPr/>
          <a:lstStyle/>
          <a:p>
            <a:r>
              <a:rPr lang="fr-FR" dirty="0" smtClean="0">
                <a:cs typeface="Arial" panose="020B0604020202020204" pitchFamily="34" charset="0"/>
              </a:rPr>
              <a:t>Retourner dans la transaction FBL1N afin de constater le paiement de la facture :  </a:t>
            </a:r>
          </a:p>
          <a:p>
            <a:r>
              <a:rPr lang="fr-FR" dirty="0" smtClean="0">
                <a:cs typeface="Arial" panose="020B0604020202020204" pitchFamily="34" charset="0"/>
              </a:rPr>
              <a:t>							</a:t>
            </a:r>
            <a:endParaRPr lang="fr-FR" dirty="0"/>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18</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258889"/>
            <a:ext cx="5097390" cy="2554025"/>
          </a:xfrm>
          <a:prstGeom prst="rect">
            <a:avLst/>
          </a:prstGeom>
        </p:spPr>
      </p:pic>
    </p:spTree>
    <p:extLst>
      <p:ext uri="{BB962C8B-B14F-4D97-AF65-F5344CB8AC3E}">
        <p14:creationId xmlns:p14="http://schemas.microsoft.com/office/powerpoint/2010/main" val="2652723601"/>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000" dirty="0">
                <a:cs typeface="Arial" panose="020B0604020202020204" pitchFamily="34" charset="0"/>
              </a:rPr>
              <a:t>Mode opératoire création pour la comptabilisation </a:t>
            </a:r>
            <a:r>
              <a:rPr lang="fr-FR" altLang="en-US" sz="2000" dirty="0" smtClean="0">
                <a:cs typeface="Arial" panose="020B0604020202020204" pitchFamily="34" charset="0"/>
              </a:rPr>
              <a:t>des paiements automatiques 1/9</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991892"/>
            <a:ext cx="8246571" cy="3580107"/>
          </a:xfrm>
        </p:spPr>
        <p:txBody>
          <a:bodyPr/>
          <a:lstStyle/>
          <a:p>
            <a:r>
              <a:rPr lang="fr-FR" dirty="0">
                <a:cs typeface="Arial" panose="020B0604020202020204" pitchFamily="34" charset="0"/>
              </a:rPr>
              <a:t>Depuis le menu SAP : Gestion Comptable / Comptabilité Financière / 	</a:t>
            </a:r>
            <a:r>
              <a:rPr lang="fr-FR" dirty="0" smtClean="0">
                <a:cs typeface="Arial" panose="020B0604020202020204" pitchFamily="34" charset="0"/>
              </a:rPr>
              <a:t>Clients / Traitements périodiques : F110- Paiements </a:t>
            </a:r>
          </a:p>
          <a:p>
            <a:r>
              <a:rPr lang="fr-FR" dirty="0" smtClean="0">
                <a:cs typeface="Arial" panose="020B0604020202020204" pitchFamily="34" charset="0"/>
              </a:rPr>
              <a:t>Voici la liste préparée par le service trésorerie : </a:t>
            </a:r>
          </a:p>
          <a:p>
            <a:r>
              <a:rPr lang="fr-FR" dirty="0" smtClean="0">
                <a:cs typeface="Arial" panose="020B0604020202020204" pitchFamily="34" charset="0"/>
              </a:rPr>
              <a:t>Fournisseur 900003 : Pièce </a:t>
            </a:r>
            <a:r>
              <a:rPr lang="fr-FR" dirty="0">
                <a:cs typeface="Arial" panose="020B0604020202020204" pitchFamily="34" charset="0"/>
              </a:rPr>
              <a:t>1700000004 pour </a:t>
            </a:r>
            <a:r>
              <a:rPr lang="fr-FR" dirty="0" smtClean="0">
                <a:cs typeface="Arial" panose="020B0604020202020204" pitchFamily="34" charset="0"/>
              </a:rPr>
              <a:t>48.600,00 USD</a:t>
            </a:r>
          </a:p>
          <a:p>
            <a:r>
              <a:rPr lang="fr-FR" dirty="0" smtClean="0">
                <a:cs typeface="Arial" panose="020B0604020202020204" pitchFamily="34" charset="0"/>
              </a:rPr>
              <a:t>Lancer la F110 : 						Renseigner </a:t>
            </a:r>
            <a:r>
              <a:rPr lang="fr-FR" dirty="0">
                <a:cs typeface="Arial" panose="020B0604020202020204" pitchFamily="34" charset="0"/>
              </a:rPr>
              <a:t>les données suivantes  : </a:t>
            </a:r>
          </a:p>
          <a:p>
            <a:r>
              <a:rPr lang="fr-FR" dirty="0">
                <a:cs typeface="Arial" panose="020B0604020202020204" pitchFamily="34" charset="0"/>
              </a:rPr>
              <a:t>								</a:t>
            </a:r>
            <a:r>
              <a:rPr lang="fr-FR" dirty="0" smtClean="0">
                <a:cs typeface="Arial" panose="020B0604020202020204" pitchFamily="34" charset="0"/>
              </a:rPr>
              <a:t>Date </a:t>
            </a:r>
            <a:r>
              <a:rPr lang="fr-FR" dirty="0">
                <a:cs typeface="Arial" panose="020B0604020202020204" pitchFamily="34" charset="0"/>
              </a:rPr>
              <a:t>d’exécution et l’identification</a:t>
            </a:r>
          </a:p>
          <a:p>
            <a:r>
              <a:rPr lang="fr-FR" dirty="0">
                <a:cs typeface="Arial" panose="020B0604020202020204" pitchFamily="34" charset="0"/>
              </a:rPr>
              <a:t>								</a:t>
            </a:r>
            <a:r>
              <a:rPr lang="fr-FR" dirty="0" smtClean="0">
                <a:cs typeface="Arial" panose="020B0604020202020204" pitchFamily="34" charset="0"/>
              </a:rPr>
              <a:t>La </a:t>
            </a:r>
            <a:r>
              <a:rPr lang="fr-FR" dirty="0">
                <a:cs typeface="Arial" panose="020B0604020202020204" pitchFamily="34" charset="0"/>
              </a:rPr>
              <a:t>CBG a opté pour mettre comme identification les </a:t>
            </a:r>
            <a:r>
              <a:rPr lang="fr-FR" dirty="0" smtClean="0">
                <a:cs typeface="Arial" panose="020B0604020202020204" pitchFamily="34" charset="0"/>
              </a:rPr>
              <a:t>deux premiers chiffres de </a:t>
            </a:r>
            <a:endParaRPr lang="fr-FR" dirty="0">
              <a:cs typeface="Arial" panose="020B0604020202020204" pitchFamily="34" charset="0"/>
            </a:endParaRPr>
          </a:p>
          <a:p>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l’année plus un numéro chronologique. </a:t>
            </a:r>
          </a:p>
          <a:p>
            <a:r>
              <a:rPr lang="fr-FR" dirty="0">
                <a:cs typeface="Arial" panose="020B0604020202020204" pitchFamily="34" charset="0"/>
              </a:rPr>
              <a:t>								</a:t>
            </a:r>
            <a:r>
              <a:rPr lang="fr-FR" dirty="0" smtClean="0">
                <a:cs typeface="Arial" panose="020B0604020202020204" pitchFamily="34" charset="0"/>
              </a:rPr>
              <a:t>Passer </a:t>
            </a:r>
            <a:r>
              <a:rPr lang="fr-FR" dirty="0">
                <a:cs typeface="Arial" panose="020B0604020202020204" pitchFamily="34" charset="0"/>
              </a:rPr>
              <a:t>à l’onglet suivant . </a:t>
            </a:r>
          </a:p>
          <a:p>
            <a:endParaRPr lang="fr-FR" dirty="0" smtClean="0">
              <a:cs typeface="Arial" panose="020B0604020202020204" pitchFamily="34" charset="0"/>
            </a:endParaRPr>
          </a:p>
          <a:p>
            <a:pPr marL="171450" indent="-171450">
              <a:buFontTx/>
              <a:buChar char="-"/>
            </a:pPr>
            <a:endParaRPr lang="fr-FR" dirty="0">
              <a:cs typeface="Arial" panose="020B0604020202020204" pitchFamily="34" charset="0"/>
            </a:endParaRPr>
          </a:p>
          <a:p>
            <a:pPr marL="171450" indent="-171450">
              <a:buFontTx/>
              <a:buChar char="-"/>
            </a:pPr>
            <a:endParaRPr lang="fr-FR" dirty="0" smtClean="0">
              <a:cs typeface="Arial" panose="020B0604020202020204" pitchFamily="34" charset="0"/>
            </a:endParaRPr>
          </a:p>
          <a:p>
            <a:pPr marL="171450" indent="-171450">
              <a:buFontTx/>
              <a:buChar char="-"/>
            </a:pPr>
            <a:endParaRPr lang="fr-FR" dirty="0">
              <a:cs typeface="Arial" panose="020B0604020202020204" pitchFamily="34" charset="0"/>
            </a:endParaRPr>
          </a:p>
          <a:p>
            <a:pPr marL="171450" indent="-171450">
              <a:buFontTx/>
              <a:buChar char="-"/>
            </a:pPr>
            <a:endParaRPr lang="fr-FR" dirty="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endParaRPr lang="fr-FR" dirty="0"/>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19</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9" y="2303166"/>
            <a:ext cx="2952286" cy="1943369"/>
          </a:xfrm>
          <a:prstGeom prst="rect">
            <a:avLst/>
          </a:prstGeom>
        </p:spPr>
      </p:pic>
    </p:spTree>
    <p:extLst>
      <p:ext uri="{BB962C8B-B14F-4D97-AF65-F5344CB8AC3E}">
        <p14:creationId xmlns:p14="http://schemas.microsoft.com/office/powerpoint/2010/main" val="3167504201"/>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000" dirty="0">
                <a:cs typeface="Arial" panose="020B0604020202020204" pitchFamily="34" charset="0"/>
              </a:rPr>
              <a:t>Mode opératoire création pour la comptabilisation </a:t>
            </a:r>
            <a:r>
              <a:rPr lang="fr-FR" altLang="en-US" sz="2000" dirty="0" smtClean="0">
                <a:cs typeface="Arial" panose="020B0604020202020204" pitchFamily="34" charset="0"/>
              </a:rPr>
              <a:t>des paiements automatiques 2/9</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991892"/>
            <a:ext cx="8246571" cy="3580107"/>
          </a:xfrm>
        </p:spPr>
        <p:txBody>
          <a:bodyPr/>
          <a:lstStyle/>
          <a:p>
            <a:r>
              <a:rPr lang="fr-FR" dirty="0" smtClean="0">
                <a:cs typeface="Arial" panose="020B0604020202020204" pitchFamily="34" charset="0"/>
              </a:rPr>
              <a:t>Onglet Paramètres : </a:t>
            </a:r>
            <a:r>
              <a:rPr lang="fr-FR" dirty="0">
                <a:cs typeface="Arial" panose="020B0604020202020204" pitchFamily="34" charset="0"/>
              </a:rPr>
              <a:t>	</a:t>
            </a:r>
            <a:r>
              <a:rPr lang="fr-FR" dirty="0" smtClean="0">
                <a:cs typeface="Arial" panose="020B0604020202020204" pitchFamily="34" charset="0"/>
              </a:rPr>
              <a:t>						Renseigner les données suivantes : </a:t>
            </a:r>
          </a:p>
          <a:p>
            <a:r>
              <a:rPr lang="fr-FR" dirty="0">
                <a:cs typeface="Arial" panose="020B0604020202020204" pitchFamily="34" charset="0"/>
              </a:rPr>
              <a:t>	</a:t>
            </a:r>
            <a:r>
              <a:rPr lang="fr-FR" dirty="0" smtClean="0">
                <a:cs typeface="Arial" panose="020B0604020202020204" pitchFamily="34" charset="0"/>
              </a:rPr>
              <a:t>									</a:t>
            </a:r>
            <a:r>
              <a:rPr lang="fr-FR" dirty="0"/>
              <a:t>Date comptable et pièces saisies au ……, </a:t>
            </a:r>
            <a:endParaRPr lang="fr-FR" dirty="0" smtClean="0"/>
          </a:p>
          <a:p>
            <a:r>
              <a:rPr lang="fr-FR" dirty="0">
                <a:cs typeface="Arial" panose="020B0604020202020204" pitchFamily="34" charset="0"/>
              </a:rPr>
              <a:t>	</a:t>
            </a:r>
            <a:r>
              <a:rPr lang="fr-FR" dirty="0" smtClean="0">
                <a:cs typeface="Arial" panose="020B0604020202020204" pitchFamily="34" charset="0"/>
              </a:rPr>
              <a:t>									</a:t>
            </a:r>
            <a:r>
              <a:rPr lang="fr-FR" dirty="0"/>
              <a:t>société, Mode de paiement, prochaine date </a:t>
            </a:r>
            <a:endParaRPr lang="fr-FR" dirty="0" smtClean="0"/>
          </a:p>
          <a:p>
            <a:r>
              <a:rPr lang="fr-FR" dirty="0">
                <a:cs typeface="Arial" panose="020B0604020202020204" pitchFamily="34" charset="0"/>
              </a:rPr>
              <a:t>	</a:t>
            </a:r>
            <a:r>
              <a:rPr lang="fr-FR" dirty="0" smtClean="0">
                <a:cs typeface="Arial" panose="020B0604020202020204" pitchFamily="34" charset="0"/>
              </a:rPr>
              <a:t>									Code fournisseurs (on peut ne rien y mettre dans le cas d’une campa-</a:t>
            </a:r>
          </a:p>
          <a:p>
            <a:r>
              <a:rPr lang="fr-FR" dirty="0">
                <a:cs typeface="Arial" panose="020B0604020202020204" pitchFamily="34" charset="0"/>
              </a:rPr>
              <a:t>	</a:t>
            </a:r>
            <a:r>
              <a:rPr lang="fr-FR" dirty="0" smtClean="0">
                <a:cs typeface="Arial" panose="020B0604020202020204" pitchFamily="34" charset="0"/>
              </a:rPr>
              <a:t>									globale). 																				</a:t>
            </a:r>
          </a:p>
          <a:p>
            <a:r>
              <a:rPr lang="fr-FR" dirty="0">
                <a:cs typeface="Arial" panose="020B0604020202020204" pitchFamily="34" charset="0"/>
              </a:rPr>
              <a:t>	</a:t>
            </a:r>
            <a:r>
              <a:rPr lang="fr-FR" dirty="0" smtClean="0">
                <a:cs typeface="Arial" panose="020B0604020202020204" pitchFamily="34" charset="0"/>
              </a:rPr>
              <a:t>									Passer à l’onglet suivant : </a:t>
            </a:r>
            <a:endParaRPr lang="fr-FR" dirty="0">
              <a:cs typeface="Arial" panose="020B0604020202020204" pitchFamily="34" charset="0"/>
            </a:endParaRPr>
          </a:p>
          <a:p>
            <a:endParaRPr lang="fr-FR" dirty="0" smtClean="0">
              <a:cs typeface="Arial" panose="020B0604020202020204" pitchFamily="34" charset="0"/>
            </a:endParaRPr>
          </a:p>
          <a:p>
            <a:pPr marL="171450" indent="-171450">
              <a:buFontTx/>
              <a:buChar char="-"/>
            </a:pPr>
            <a:endParaRPr lang="fr-FR" dirty="0">
              <a:cs typeface="Arial" panose="020B0604020202020204" pitchFamily="34" charset="0"/>
            </a:endParaRPr>
          </a:p>
          <a:p>
            <a:pPr marL="171450" indent="-171450">
              <a:buFontTx/>
              <a:buChar char="-"/>
            </a:pPr>
            <a:endParaRPr lang="fr-FR" dirty="0" smtClean="0">
              <a:cs typeface="Arial" panose="020B0604020202020204" pitchFamily="34" charset="0"/>
            </a:endParaRPr>
          </a:p>
          <a:p>
            <a:pPr marL="171450" indent="-171450">
              <a:buFontTx/>
              <a:buChar char="-"/>
            </a:pPr>
            <a:endParaRPr lang="fr-FR" dirty="0">
              <a:cs typeface="Arial" panose="020B0604020202020204" pitchFamily="34" charset="0"/>
            </a:endParaRPr>
          </a:p>
          <a:p>
            <a:pPr marL="171450" indent="-171450">
              <a:buFontTx/>
              <a:buChar char="-"/>
            </a:pPr>
            <a:endParaRPr lang="fr-FR" dirty="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endParaRPr lang="fr-FR" dirty="0"/>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20</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4151245" y="1302319"/>
            <a:ext cx="310923" cy="353599"/>
          </a:xfrm>
          <a:prstGeom prst="rect">
            <a:avLst/>
          </a:prstGeom>
        </p:spPr>
      </p:pic>
      <p:pic>
        <p:nvPicPr>
          <p:cNvPr id="5" name="Image 4"/>
          <p:cNvPicPr>
            <a:picLocks noChangeAspect="1"/>
          </p:cNvPicPr>
          <p:nvPr/>
        </p:nvPicPr>
        <p:blipFill>
          <a:blip r:embed="rId3"/>
          <a:stretch>
            <a:fillRect/>
          </a:stretch>
        </p:blipFill>
        <p:spPr>
          <a:xfrm>
            <a:off x="4165399" y="1648631"/>
            <a:ext cx="310923" cy="353599"/>
          </a:xfrm>
          <a:prstGeom prst="rect">
            <a:avLst/>
          </a:prstGeom>
        </p:spPr>
      </p:pic>
      <p:pic>
        <p:nvPicPr>
          <p:cNvPr id="6" name="Image 5"/>
          <p:cNvPicPr>
            <a:picLocks noChangeAspect="1"/>
          </p:cNvPicPr>
          <p:nvPr/>
        </p:nvPicPr>
        <p:blipFill>
          <a:blip r:embed="rId4"/>
          <a:stretch>
            <a:fillRect/>
          </a:stretch>
        </p:blipFill>
        <p:spPr>
          <a:xfrm>
            <a:off x="4164443" y="1991267"/>
            <a:ext cx="317019" cy="353599"/>
          </a:xfrm>
          <a:prstGeom prst="rect">
            <a:avLst/>
          </a:prstGeom>
        </p:spPr>
      </p:pic>
      <p:pic>
        <p:nvPicPr>
          <p:cNvPr id="24" name="Image 23"/>
          <p:cNvPicPr>
            <a:picLocks noChangeAspect="1"/>
          </p:cNvPicPr>
          <p:nvPr/>
        </p:nvPicPr>
        <p:blipFill>
          <a:blip r:embed="rId5"/>
          <a:stretch>
            <a:fillRect/>
          </a:stretch>
        </p:blipFill>
        <p:spPr>
          <a:xfrm>
            <a:off x="598543" y="1192924"/>
            <a:ext cx="3436324" cy="3289032"/>
          </a:xfrm>
          <a:prstGeom prst="rect">
            <a:avLst/>
          </a:prstGeom>
        </p:spPr>
      </p:pic>
      <p:cxnSp>
        <p:nvCxnSpPr>
          <p:cNvPr id="26" name="Connecteur droit avec flèche 25"/>
          <p:cNvCxnSpPr/>
          <p:nvPr/>
        </p:nvCxnSpPr>
        <p:spPr>
          <a:xfrm flipV="1">
            <a:off x="1681566" y="1410346"/>
            <a:ext cx="2564970" cy="1162373"/>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8" name="Connecteur droit avec flèche 27"/>
          <p:cNvCxnSpPr/>
          <p:nvPr/>
        </p:nvCxnSpPr>
        <p:spPr>
          <a:xfrm flipV="1">
            <a:off x="3665349" y="1511085"/>
            <a:ext cx="641357" cy="1061634"/>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29" name="Image 28"/>
          <p:cNvPicPr>
            <a:picLocks noChangeAspect="1"/>
          </p:cNvPicPr>
          <p:nvPr/>
        </p:nvPicPr>
        <p:blipFill>
          <a:blip r:embed="rId6"/>
          <a:stretch>
            <a:fillRect/>
          </a:stretch>
        </p:blipFill>
        <p:spPr>
          <a:xfrm>
            <a:off x="2088744" y="3206567"/>
            <a:ext cx="317019" cy="365792"/>
          </a:xfrm>
          <a:prstGeom prst="rect">
            <a:avLst/>
          </a:prstGeom>
        </p:spPr>
      </p:pic>
      <p:cxnSp>
        <p:nvCxnSpPr>
          <p:cNvPr id="27649" name="Connecteur droit avec flèche 27648"/>
          <p:cNvCxnSpPr/>
          <p:nvPr/>
        </p:nvCxnSpPr>
        <p:spPr>
          <a:xfrm>
            <a:off x="929898" y="3068664"/>
            <a:ext cx="1247614" cy="232475"/>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7653" name="Connecteur droit avec flèche 27652"/>
          <p:cNvCxnSpPr/>
          <p:nvPr/>
        </p:nvCxnSpPr>
        <p:spPr>
          <a:xfrm flipH="1">
            <a:off x="2300896" y="3068664"/>
            <a:ext cx="487349" cy="232475"/>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7655" name="Connecteur droit avec flèche 27654"/>
          <p:cNvCxnSpPr/>
          <p:nvPr/>
        </p:nvCxnSpPr>
        <p:spPr>
          <a:xfrm flipH="1">
            <a:off x="2267923" y="3068664"/>
            <a:ext cx="978972" cy="342436"/>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27656" name="Image 27655"/>
          <p:cNvPicPr>
            <a:picLocks noChangeAspect="1"/>
          </p:cNvPicPr>
          <p:nvPr/>
        </p:nvPicPr>
        <p:blipFill>
          <a:blip r:embed="rId7"/>
          <a:stretch>
            <a:fillRect/>
          </a:stretch>
        </p:blipFill>
        <p:spPr>
          <a:xfrm>
            <a:off x="2312042" y="3533462"/>
            <a:ext cx="317019" cy="353599"/>
          </a:xfrm>
          <a:prstGeom prst="rect">
            <a:avLst/>
          </a:prstGeom>
        </p:spPr>
      </p:pic>
    </p:spTree>
    <p:extLst>
      <p:ext uri="{BB962C8B-B14F-4D97-AF65-F5344CB8AC3E}">
        <p14:creationId xmlns:p14="http://schemas.microsoft.com/office/powerpoint/2010/main" val="61553024"/>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000" dirty="0">
                <a:cs typeface="Arial" panose="020B0604020202020204" pitchFamily="34" charset="0"/>
              </a:rPr>
              <a:t>Mode opératoire création pour la comptabilisation </a:t>
            </a:r>
            <a:r>
              <a:rPr lang="fr-FR" altLang="en-US" sz="2000" dirty="0" smtClean="0">
                <a:cs typeface="Arial" panose="020B0604020202020204" pitchFamily="34" charset="0"/>
              </a:rPr>
              <a:t>des paiements automatiques 3/9</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991892"/>
            <a:ext cx="8246571" cy="3580107"/>
          </a:xfrm>
        </p:spPr>
        <p:txBody>
          <a:bodyPr/>
          <a:lstStyle/>
          <a:p>
            <a:r>
              <a:rPr lang="fr-FR" dirty="0" smtClean="0">
                <a:cs typeface="Arial" panose="020B0604020202020204" pitchFamily="34" charset="0"/>
              </a:rPr>
              <a:t>Onglet Sélection libre 						Renseigner la pièce que nous souhaitions payer dans notre exemple.</a:t>
            </a:r>
          </a:p>
          <a:p>
            <a:r>
              <a:rPr lang="fr-FR" dirty="0">
                <a:cs typeface="Arial" panose="020B0604020202020204" pitchFamily="34" charset="0"/>
              </a:rPr>
              <a:t>	</a:t>
            </a:r>
            <a:r>
              <a:rPr lang="fr-FR" dirty="0" smtClean="0">
                <a:cs typeface="Arial" panose="020B0604020202020204" pitchFamily="34" charset="0"/>
              </a:rPr>
              <a:t>								D’ordinaire cet onglet n’est pas utilisé.  						</a:t>
            </a:r>
            <a:endParaRPr lang="fr-FR" dirty="0">
              <a:cs typeface="Arial" panose="020B0604020202020204" pitchFamily="34" charset="0"/>
            </a:endParaRPr>
          </a:p>
          <a:p>
            <a:endParaRPr lang="fr-FR" dirty="0" smtClean="0">
              <a:cs typeface="Arial" panose="020B0604020202020204" pitchFamily="34" charset="0"/>
            </a:endParaRPr>
          </a:p>
          <a:p>
            <a:pPr marL="171450" indent="-171450">
              <a:buFontTx/>
              <a:buChar char="-"/>
            </a:pPr>
            <a:endParaRPr lang="fr-FR" dirty="0">
              <a:cs typeface="Arial" panose="020B0604020202020204" pitchFamily="34" charset="0"/>
            </a:endParaRPr>
          </a:p>
          <a:p>
            <a:pPr marL="171450" indent="-171450">
              <a:buFontTx/>
              <a:buChar char="-"/>
            </a:pPr>
            <a:r>
              <a:rPr lang="fr-FR" dirty="0" smtClean="0">
                <a:cs typeface="Arial" panose="020B0604020202020204" pitchFamily="34" charset="0"/>
              </a:rPr>
              <a:t>Onglet </a:t>
            </a:r>
            <a:r>
              <a:rPr lang="fr-FR" dirty="0" err="1" smtClean="0">
                <a:cs typeface="Arial" panose="020B0604020202020204" pitchFamily="34" charset="0"/>
              </a:rPr>
              <a:t>Protoc</a:t>
            </a:r>
            <a:r>
              <a:rPr lang="fr-FR" dirty="0" smtClean="0">
                <a:cs typeface="Arial" panose="020B0604020202020204" pitchFamily="34" charset="0"/>
              </a:rPr>
              <a:t>. </a:t>
            </a:r>
            <a:r>
              <a:rPr lang="fr-FR" dirty="0" err="1">
                <a:cs typeface="Arial" panose="020B0604020202020204" pitchFamily="34" charset="0"/>
              </a:rPr>
              <a:t>s</a:t>
            </a:r>
            <a:r>
              <a:rPr lang="fr-FR" dirty="0" err="1" smtClean="0">
                <a:cs typeface="Arial" panose="020B0604020202020204" pitchFamily="34" charset="0"/>
              </a:rPr>
              <a:t>upplém</a:t>
            </a:r>
            <a:r>
              <a:rPr lang="fr-FR" dirty="0" smtClean="0">
                <a:cs typeface="Arial" panose="020B0604020202020204" pitchFamily="34" charset="0"/>
              </a:rPr>
              <a:t>. : 						</a:t>
            </a:r>
          </a:p>
          <a:p>
            <a:pPr lvl="8" indent="0">
              <a:buNone/>
            </a:pPr>
            <a:r>
              <a:rPr lang="fr-FR" sz="1200" dirty="0" smtClean="0">
                <a:cs typeface="Arial" panose="020B0604020202020204" pitchFamily="34" charset="0"/>
              </a:rPr>
              <a:t>    Cocher Contrôle de l’échéance, sélection mode paiement </a:t>
            </a:r>
            <a:r>
              <a:rPr lang="fr-FR" sz="1200" dirty="0" err="1" smtClean="0">
                <a:cs typeface="Arial" panose="020B0604020202020204" pitchFamily="34" charset="0"/>
              </a:rPr>
              <a:t>ds</a:t>
            </a:r>
            <a:r>
              <a:rPr lang="fr-FR" sz="1200" dirty="0" smtClean="0">
                <a:cs typeface="Arial" panose="020B0604020202020204" pitchFamily="34" charset="0"/>
              </a:rPr>
              <a:t> tous les cas,</a:t>
            </a:r>
          </a:p>
          <a:p>
            <a:pPr lvl="8" indent="0">
              <a:buNone/>
            </a:pPr>
            <a:r>
              <a:rPr lang="fr-FR" sz="1200" dirty="0">
                <a:cs typeface="Arial" panose="020B0604020202020204" pitchFamily="34" charset="0"/>
              </a:rPr>
              <a:t> </a:t>
            </a:r>
            <a:r>
              <a:rPr lang="fr-FR" sz="1200" dirty="0" smtClean="0">
                <a:cs typeface="Arial" panose="020B0604020202020204" pitchFamily="34" charset="0"/>
              </a:rPr>
              <a:t>   postes des pièces paiement. </a:t>
            </a:r>
          </a:p>
          <a:p>
            <a:pPr lvl="8" indent="0">
              <a:buNone/>
            </a:pPr>
            <a:r>
              <a:rPr lang="fr-FR" sz="1200" dirty="0" smtClean="0">
                <a:cs typeface="Arial" panose="020B0604020202020204" pitchFamily="34" charset="0"/>
              </a:rPr>
              <a:t>    Renseigner les codes fournisseurs concernés par notre cas. </a:t>
            </a:r>
          </a:p>
          <a:p>
            <a:pPr marL="3483270" lvl="8" indent="-171450">
              <a:buFontTx/>
              <a:buChar char="-"/>
            </a:pPr>
            <a:endParaRPr lang="fr-FR" sz="1200" dirty="0">
              <a:cs typeface="Arial" panose="020B0604020202020204" pitchFamily="34" charset="0"/>
            </a:endParaRPr>
          </a:p>
          <a:p>
            <a:pPr lvl="8" indent="0">
              <a:buNone/>
            </a:pPr>
            <a:r>
              <a:rPr lang="fr-FR" sz="1200" dirty="0" smtClean="0">
                <a:cs typeface="Arial" panose="020B0604020202020204" pitchFamily="34" charset="0"/>
              </a:rPr>
              <a:t>    Passer à l’onglet suivant.</a:t>
            </a:r>
            <a:endParaRPr lang="fr-FR" sz="1200" dirty="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endParaRPr lang="fr-FR" dirty="0"/>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21</a:t>
            </a:fld>
            <a:endParaRPr lang="fr-FR" altLang="en-US" sz="750">
              <a:solidFill>
                <a:srgbClr val="000000"/>
              </a:solidFill>
            </a:endParaRPr>
          </a:p>
        </p:txBody>
      </p:sp>
      <p:pic>
        <p:nvPicPr>
          <p:cNvPr id="10" name="Image 9"/>
          <p:cNvPicPr>
            <a:picLocks noChangeAspect="1"/>
          </p:cNvPicPr>
          <p:nvPr/>
        </p:nvPicPr>
        <p:blipFill>
          <a:blip r:embed="rId2"/>
          <a:stretch>
            <a:fillRect/>
          </a:stretch>
        </p:blipFill>
        <p:spPr>
          <a:xfrm>
            <a:off x="3788519" y="946384"/>
            <a:ext cx="310923" cy="353599"/>
          </a:xfrm>
          <a:prstGeom prst="rect">
            <a:avLst/>
          </a:prstGeom>
        </p:spPr>
      </p:pic>
      <p:pic>
        <p:nvPicPr>
          <p:cNvPr id="13" name="Image 12"/>
          <p:cNvPicPr>
            <a:picLocks noChangeAspect="1"/>
          </p:cNvPicPr>
          <p:nvPr/>
        </p:nvPicPr>
        <p:blipFill>
          <a:blip r:embed="rId3"/>
          <a:stretch>
            <a:fillRect/>
          </a:stretch>
        </p:blipFill>
        <p:spPr>
          <a:xfrm>
            <a:off x="3749589" y="2602097"/>
            <a:ext cx="310923" cy="359695"/>
          </a:xfrm>
          <a:prstGeom prst="rect">
            <a:avLst/>
          </a:prstGeom>
        </p:spPr>
      </p:pic>
      <p:pic>
        <p:nvPicPr>
          <p:cNvPr id="14" name="Image 13"/>
          <p:cNvPicPr>
            <a:picLocks noChangeAspect="1"/>
          </p:cNvPicPr>
          <p:nvPr/>
        </p:nvPicPr>
        <p:blipFill>
          <a:blip r:embed="rId4"/>
          <a:stretch>
            <a:fillRect/>
          </a:stretch>
        </p:blipFill>
        <p:spPr>
          <a:xfrm>
            <a:off x="3722912" y="3055656"/>
            <a:ext cx="310923" cy="353599"/>
          </a:xfrm>
          <a:prstGeom prst="rect">
            <a:avLst/>
          </a:prstGeom>
        </p:spPr>
      </p:pic>
      <p:pic>
        <p:nvPicPr>
          <p:cNvPr id="15" name="Image 14"/>
          <p:cNvPicPr>
            <a:picLocks noChangeAspect="1"/>
          </p:cNvPicPr>
          <p:nvPr/>
        </p:nvPicPr>
        <p:blipFill>
          <a:blip r:embed="rId5"/>
          <a:stretch>
            <a:fillRect/>
          </a:stretch>
        </p:blipFill>
        <p:spPr>
          <a:xfrm>
            <a:off x="573578" y="1174508"/>
            <a:ext cx="3214941" cy="1201264"/>
          </a:xfrm>
          <a:prstGeom prst="rect">
            <a:avLst/>
          </a:prstGeom>
        </p:spPr>
      </p:pic>
      <p:pic>
        <p:nvPicPr>
          <p:cNvPr id="16" name="Image 15"/>
          <p:cNvPicPr>
            <a:picLocks noChangeAspect="1"/>
          </p:cNvPicPr>
          <p:nvPr/>
        </p:nvPicPr>
        <p:blipFill>
          <a:blip r:embed="rId6"/>
          <a:stretch>
            <a:fillRect/>
          </a:stretch>
        </p:blipFill>
        <p:spPr>
          <a:xfrm>
            <a:off x="1171332" y="2226580"/>
            <a:ext cx="695004" cy="97544"/>
          </a:xfrm>
          <a:prstGeom prst="rect">
            <a:avLst/>
          </a:prstGeom>
        </p:spPr>
      </p:pic>
      <p:pic>
        <p:nvPicPr>
          <p:cNvPr id="17" name="Image 16"/>
          <p:cNvPicPr>
            <a:picLocks noChangeAspect="1"/>
          </p:cNvPicPr>
          <p:nvPr/>
        </p:nvPicPr>
        <p:blipFill>
          <a:blip r:embed="rId2"/>
          <a:stretch>
            <a:fillRect/>
          </a:stretch>
        </p:blipFill>
        <p:spPr>
          <a:xfrm>
            <a:off x="1766328" y="2067681"/>
            <a:ext cx="310923" cy="353599"/>
          </a:xfrm>
          <a:prstGeom prst="rect">
            <a:avLst/>
          </a:prstGeom>
        </p:spPr>
      </p:pic>
      <p:pic>
        <p:nvPicPr>
          <p:cNvPr id="18" name="Image 17"/>
          <p:cNvPicPr>
            <a:picLocks noChangeAspect="1"/>
          </p:cNvPicPr>
          <p:nvPr/>
        </p:nvPicPr>
        <p:blipFill>
          <a:blip r:embed="rId7"/>
          <a:stretch>
            <a:fillRect/>
          </a:stretch>
        </p:blipFill>
        <p:spPr>
          <a:xfrm>
            <a:off x="665387" y="2691944"/>
            <a:ext cx="3057525" cy="1771567"/>
          </a:xfrm>
          <a:prstGeom prst="rect">
            <a:avLst/>
          </a:prstGeom>
        </p:spPr>
      </p:pic>
      <p:pic>
        <p:nvPicPr>
          <p:cNvPr id="19" name="Image 18"/>
          <p:cNvPicPr>
            <a:picLocks noChangeAspect="1"/>
          </p:cNvPicPr>
          <p:nvPr/>
        </p:nvPicPr>
        <p:blipFill>
          <a:blip r:embed="rId8"/>
          <a:stretch>
            <a:fillRect/>
          </a:stretch>
        </p:blipFill>
        <p:spPr>
          <a:xfrm>
            <a:off x="847273" y="3685480"/>
            <a:ext cx="85351" cy="396274"/>
          </a:xfrm>
          <a:prstGeom prst="rect">
            <a:avLst/>
          </a:prstGeom>
        </p:spPr>
      </p:pic>
      <p:pic>
        <p:nvPicPr>
          <p:cNvPr id="20" name="Image 19"/>
          <p:cNvPicPr>
            <a:picLocks noChangeAspect="1"/>
          </p:cNvPicPr>
          <p:nvPr/>
        </p:nvPicPr>
        <p:blipFill>
          <a:blip r:embed="rId9"/>
          <a:stretch>
            <a:fillRect/>
          </a:stretch>
        </p:blipFill>
        <p:spPr>
          <a:xfrm>
            <a:off x="871998" y="3523922"/>
            <a:ext cx="310923" cy="359695"/>
          </a:xfrm>
          <a:prstGeom prst="rect">
            <a:avLst/>
          </a:prstGeom>
        </p:spPr>
      </p:pic>
      <p:pic>
        <p:nvPicPr>
          <p:cNvPr id="21" name="Image 20"/>
          <p:cNvPicPr>
            <a:picLocks noChangeAspect="1"/>
          </p:cNvPicPr>
          <p:nvPr/>
        </p:nvPicPr>
        <p:blipFill>
          <a:blip r:embed="rId10"/>
          <a:stretch>
            <a:fillRect/>
          </a:stretch>
        </p:blipFill>
        <p:spPr>
          <a:xfrm>
            <a:off x="836023" y="4194540"/>
            <a:ext cx="682811" cy="97544"/>
          </a:xfrm>
          <a:prstGeom prst="rect">
            <a:avLst/>
          </a:prstGeom>
        </p:spPr>
      </p:pic>
      <p:pic>
        <p:nvPicPr>
          <p:cNvPr id="22" name="Image 21"/>
          <p:cNvPicPr>
            <a:picLocks noChangeAspect="1"/>
          </p:cNvPicPr>
          <p:nvPr/>
        </p:nvPicPr>
        <p:blipFill>
          <a:blip r:embed="rId4"/>
          <a:stretch>
            <a:fillRect/>
          </a:stretch>
        </p:blipFill>
        <p:spPr>
          <a:xfrm>
            <a:off x="1440513" y="4017740"/>
            <a:ext cx="310923" cy="353599"/>
          </a:xfrm>
          <a:prstGeom prst="rect">
            <a:avLst/>
          </a:prstGeom>
        </p:spPr>
      </p:pic>
    </p:spTree>
    <p:extLst>
      <p:ext uri="{BB962C8B-B14F-4D97-AF65-F5344CB8AC3E}">
        <p14:creationId xmlns:p14="http://schemas.microsoft.com/office/powerpoint/2010/main" val="1795607002"/>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000" dirty="0">
                <a:cs typeface="Arial" panose="020B0604020202020204" pitchFamily="34" charset="0"/>
              </a:rPr>
              <a:t>Mode opératoire création pour la comptabilisation </a:t>
            </a:r>
            <a:r>
              <a:rPr lang="fr-FR" altLang="en-US" sz="2000" dirty="0" smtClean="0">
                <a:cs typeface="Arial" panose="020B0604020202020204" pitchFamily="34" charset="0"/>
              </a:rPr>
              <a:t>des paiements automatiques 4/9</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991892"/>
            <a:ext cx="8423188" cy="3580107"/>
          </a:xfrm>
        </p:spPr>
        <p:txBody>
          <a:bodyPr/>
          <a:lstStyle/>
          <a:p>
            <a:r>
              <a:rPr lang="fr-FR" dirty="0" smtClean="0">
                <a:cs typeface="Arial" panose="020B0604020202020204" pitchFamily="34" charset="0"/>
              </a:rPr>
              <a:t>Onglet </a:t>
            </a:r>
            <a:r>
              <a:rPr lang="fr-FR" dirty="0" err="1" smtClean="0">
                <a:cs typeface="Arial" panose="020B0604020202020204" pitchFamily="34" charset="0"/>
              </a:rPr>
              <a:t>Impr</a:t>
            </a:r>
            <a:r>
              <a:rPr lang="fr-FR" dirty="0" smtClean="0">
                <a:cs typeface="Arial" panose="020B0604020202020204" pitchFamily="34" charset="0"/>
              </a:rPr>
              <a:t>.+ </a:t>
            </a:r>
            <a:r>
              <a:rPr lang="fr-FR" dirty="0" err="1" smtClean="0">
                <a:cs typeface="Arial" panose="020B0604020202020204" pitchFamily="34" charset="0"/>
              </a:rPr>
              <a:t>suppoert</a:t>
            </a:r>
            <a:r>
              <a:rPr lang="fr-FR" dirty="0" smtClean="0">
                <a:cs typeface="Arial" panose="020B0604020202020204" pitchFamily="34" charset="0"/>
              </a:rPr>
              <a:t> </a:t>
            </a:r>
            <a:r>
              <a:rPr lang="fr-FR" dirty="0" err="1" smtClean="0">
                <a:cs typeface="Arial" panose="020B0604020202020204" pitchFamily="34" charset="0"/>
              </a:rPr>
              <a:t>donn</a:t>
            </a:r>
            <a:r>
              <a:rPr lang="fr-FR" dirty="0" smtClean="0">
                <a:cs typeface="Arial" panose="020B0604020202020204" pitchFamily="34" charset="0"/>
              </a:rPr>
              <a:t>. : mettre le nom de la variante « CBG : Variante virement CBG » et sauvegarder en cliquant sur la disquette</a:t>
            </a:r>
          </a:p>
          <a:p>
            <a:r>
              <a:rPr lang="fr-FR" dirty="0">
                <a:cs typeface="Arial" panose="020B0604020202020204" pitchFamily="34" charset="0"/>
              </a:rPr>
              <a:t>	</a:t>
            </a:r>
            <a:r>
              <a:rPr lang="fr-FR" dirty="0" smtClean="0">
                <a:cs typeface="Arial" panose="020B0604020202020204" pitchFamily="34" charset="0"/>
              </a:rPr>
              <a:t>									Le message suivant apparait en bas de l’écran : </a:t>
            </a: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Retourner sur l’onglet Statut.  	</a:t>
            </a:r>
          </a:p>
          <a:p>
            <a:r>
              <a:rPr lang="fr-FR" dirty="0">
                <a:cs typeface="Arial" panose="020B0604020202020204" pitchFamily="34" charset="0"/>
              </a:rPr>
              <a:t>	</a:t>
            </a:r>
            <a:r>
              <a:rPr lang="fr-FR" dirty="0" smtClean="0">
                <a:cs typeface="Arial" panose="020B0604020202020204" pitchFamily="34" charset="0"/>
              </a:rPr>
              <a:t>											</a:t>
            </a:r>
            <a:endParaRPr lang="fr-FR" dirty="0">
              <a:cs typeface="Arial" panose="020B0604020202020204" pitchFamily="34" charset="0"/>
            </a:endParaRPr>
          </a:p>
          <a:p>
            <a:endParaRPr lang="fr-FR" dirty="0" smtClean="0">
              <a:cs typeface="Arial" panose="020B0604020202020204" pitchFamily="34" charset="0"/>
            </a:endParaRPr>
          </a:p>
          <a:p>
            <a:pPr marL="171450" indent="-171450">
              <a:buFontTx/>
              <a:buChar char="-"/>
            </a:pPr>
            <a:endParaRPr lang="fr-FR" dirty="0">
              <a:cs typeface="Arial" panose="020B0604020202020204" pitchFamily="34" charset="0"/>
            </a:endParaRPr>
          </a:p>
          <a:p>
            <a:pPr marL="171450" indent="-171450">
              <a:buFontTx/>
              <a:buChar char="-"/>
            </a:pPr>
            <a:endParaRPr lang="fr-FR" dirty="0" smtClean="0">
              <a:cs typeface="Arial" panose="020B0604020202020204" pitchFamily="34" charset="0"/>
            </a:endParaRPr>
          </a:p>
          <a:p>
            <a:endParaRPr lang="fr-FR" dirty="0">
              <a:cs typeface="Arial" panose="020B0604020202020204" pitchFamily="34" charset="0"/>
            </a:endParaRPr>
          </a:p>
          <a:p>
            <a:pPr marL="171450" indent="-171450">
              <a:buFontTx/>
              <a:buChar char="-"/>
            </a:pPr>
            <a:r>
              <a:rPr lang="fr-FR" dirty="0"/>
              <a:t>Dans l’onglet Statut apparait : Paramètres saisis. Lancer la planification </a:t>
            </a:r>
            <a:r>
              <a:rPr lang="fr-FR" dirty="0" smtClean="0"/>
              <a:t>en cliquant sur</a:t>
            </a:r>
            <a:endParaRPr lang="fr-FR" dirty="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endParaRPr lang="fr-FR" dirty="0"/>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22</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170122"/>
            <a:ext cx="3811788" cy="2704453"/>
          </a:xfrm>
          <a:prstGeom prst="rect">
            <a:avLst/>
          </a:prstGeom>
        </p:spPr>
      </p:pic>
      <p:pic>
        <p:nvPicPr>
          <p:cNvPr id="4" name="Image 3"/>
          <p:cNvPicPr>
            <a:picLocks noChangeAspect="1"/>
          </p:cNvPicPr>
          <p:nvPr/>
        </p:nvPicPr>
        <p:blipFill>
          <a:blip r:embed="rId3"/>
          <a:stretch>
            <a:fillRect/>
          </a:stretch>
        </p:blipFill>
        <p:spPr>
          <a:xfrm>
            <a:off x="2149196" y="1323906"/>
            <a:ext cx="134124" cy="152413"/>
          </a:xfrm>
          <a:prstGeom prst="rect">
            <a:avLst/>
          </a:prstGeom>
        </p:spPr>
      </p:pic>
      <p:pic>
        <p:nvPicPr>
          <p:cNvPr id="5" name="Image 4"/>
          <p:cNvPicPr>
            <a:picLocks noChangeAspect="1"/>
          </p:cNvPicPr>
          <p:nvPr/>
        </p:nvPicPr>
        <p:blipFill>
          <a:blip r:embed="rId4"/>
          <a:stretch>
            <a:fillRect/>
          </a:stretch>
        </p:blipFill>
        <p:spPr>
          <a:xfrm>
            <a:off x="4524991" y="1632165"/>
            <a:ext cx="3771900" cy="228600"/>
          </a:xfrm>
          <a:prstGeom prst="rect">
            <a:avLst/>
          </a:prstGeom>
        </p:spPr>
      </p:pic>
      <p:pic>
        <p:nvPicPr>
          <p:cNvPr id="6" name="Image 5"/>
          <p:cNvPicPr>
            <a:picLocks noChangeAspect="1"/>
          </p:cNvPicPr>
          <p:nvPr/>
        </p:nvPicPr>
        <p:blipFill>
          <a:blip r:embed="rId5"/>
          <a:stretch>
            <a:fillRect/>
          </a:stretch>
        </p:blipFill>
        <p:spPr>
          <a:xfrm>
            <a:off x="4501744" y="2255004"/>
            <a:ext cx="3657600" cy="1549829"/>
          </a:xfrm>
          <a:prstGeom prst="rect">
            <a:avLst/>
          </a:prstGeom>
        </p:spPr>
      </p:pic>
      <p:pic>
        <p:nvPicPr>
          <p:cNvPr id="8" name="Image 7"/>
          <p:cNvPicPr>
            <a:picLocks noChangeAspect="1"/>
          </p:cNvPicPr>
          <p:nvPr/>
        </p:nvPicPr>
        <p:blipFill>
          <a:blip r:embed="rId6"/>
          <a:stretch>
            <a:fillRect/>
          </a:stretch>
        </p:blipFill>
        <p:spPr>
          <a:xfrm>
            <a:off x="6110287" y="4045710"/>
            <a:ext cx="885825" cy="257175"/>
          </a:xfrm>
          <a:prstGeom prst="rect">
            <a:avLst/>
          </a:prstGeom>
        </p:spPr>
      </p:pic>
    </p:spTree>
    <p:extLst>
      <p:ext uri="{BB962C8B-B14F-4D97-AF65-F5344CB8AC3E}">
        <p14:creationId xmlns:p14="http://schemas.microsoft.com/office/powerpoint/2010/main" val="1192429948"/>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000" dirty="0">
                <a:cs typeface="Arial" panose="020B0604020202020204" pitchFamily="34" charset="0"/>
              </a:rPr>
              <a:t>Mode opératoire création pour la comptabilisation </a:t>
            </a:r>
            <a:r>
              <a:rPr lang="fr-FR" altLang="en-US" sz="2000" dirty="0" smtClean="0">
                <a:cs typeface="Arial" panose="020B0604020202020204" pitchFamily="34" charset="0"/>
              </a:rPr>
              <a:t>des paiements automatiques 5/9</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991892"/>
            <a:ext cx="8246571" cy="3580107"/>
          </a:xfrm>
        </p:spPr>
        <p:txBody>
          <a:bodyPr/>
          <a:lstStyle/>
          <a:p>
            <a:r>
              <a:rPr lang="fr-FR" dirty="0" smtClean="0">
                <a:cs typeface="Arial" panose="020B0604020202020204" pitchFamily="34" charset="0"/>
              </a:rPr>
              <a:t>								Cocher Lancement immédiat et valider. Faites « Entrée jusqu’à ce que le statut </a:t>
            </a:r>
          </a:p>
          <a:p>
            <a:r>
              <a:rPr lang="fr-FR" dirty="0">
                <a:cs typeface="Arial" panose="020B0604020202020204" pitchFamily="34" charset="0"/>
              </a:rPr>
              <a:t>	</a:t>
            </a:r>
            <a:r>
              <a:rPr lang="fr-FR" dirty="0" smtClean="0">
                <a:cs typeface="Arial" panose="020B0604020202020204" pitchFamily="34" charset="0"/>
              </a:rPr>
              <a:t>							change.  													</a:t>
            </a:r>
          </a:p>
          <a:p>
            <a:endParaRPr lang="fr-FR" dirty="0" smtClean="0">
              <a:cs typeface="Arial" panose="020B0604020202020204" pitchFamily="34" charset="0"/>
            </a:endParaRPr>
          </a:p>
          <a:p>
            <a:pPr marL="171450" indent="-171450">
              <a:buFontTx/>
              <a:buChar char="-"/>
            </a:pPr>
            <a:endParaRPr lang="fr-FR" dirty="0">
              <a:cs typeface="Arial" panose="020B0604020202020204" pitchFamily="34" charset="0"/>
            </a:endParaRPr>
          </a:p>
          <a:p>
            <a:pPr marL="171450" indent="-171450">
              <a:buFontTx/>
              <a:buChar char="-"/>
            </a:pPr>
            <a:endParaRPr lang="fr-FR" dirty="0" smtClean="0">
              <a:cs typeface="Arial" panose="020B0604020202020204" pitchFamily="34" charset="0"/>
            </a:endParaRPr>
          </a:p>
          <a:p>
            <a:pPr lvl="7" indent="0">
              <a:buNone/>
            </a:pPr>
            <a:r>
              <a:rPr lang="fr-FR" sz="1200" dirty="0" smtClean="0">
                <a:cs typeface="Arial" panose="020B0604020202020204" pitchFamily="34" charset="0"/>
              </a:rPr>
              <a:t>	Le statut a changé avec le message suivant qui apparait en bas de l’écran : </a:t>
            </a:r>
            <a:endParaRPr lang="fr-FR" sz="1200" dirty="0">
              <a:cs typeface="Arial" panose="020B0604020202020204" pitchFamily="34" charset="0"/>
            </a:endParaRPr>
          </a:p>
          <a:p>
            <a:pPr marL="171450" indent="-171450">
              <a:buFontTx/>
              <a:buChar char="-"/>
            </a:pPr>
            <a:endParaRPr lang="fr-FR" dirty="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endParaRPr lang="fr-FR" dirty="0"/>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23</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991892"/>
            <a:ext cx="2893191" cy="1592111"/>
          </a:xfrm>
          <a:prstGeom prst="rect">
            <a:avLst/>
          </a:prstGeom>
        </p:spPr>
      </p:pic>
      <p:cxnSp>
        <p:nvCxnSpPr>
          <p:cNvPr id="5" name="Connecteur droit avec flèche 4"/>
          <p:cNvCxnSpPr/>
          <p:nvPr/>
        </p:nvCxnSpPr>
        <p:spPr>
          <a:xfrm flipV="1">
            <a:off x="2337683" y="1063625"/>
            <a:ext cx="1327868" cy="327853"/>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6" name="Image 5"/>
          <p:cNvPicPr>
            <a:picLocks noChangeAspect="1"/>
          </p:cNvPicPr>
          <p:nvPr/>
        </p:nvPicPr>
        <p:blipFill>
          <a:blip r:embed="rId3"/>
          <a:stretch>
            <a:fillRect/>
          </a:stretch>
        </p:blipFill>
        <p:spPr>
          <a:xfrm>
            <a:off x="3090268" y="2388804"/>
            <a:ext cx="164606" cy="164606"/>
          </a:xfrm>
          <a:prstGeom prst="rect">
            <a:avLst/>
          </a:prstGeom>
        </p:spPr>
      </p:pic>
      <p:pic>
        <p:nvPicPr>
          <p:cNvPr id="7" name="Image 6"/>
          <p:cNvPicPr>
            <a:picLocks noChangeAspect="1"/>
          </p:cNvPicPr>
          <p:nvPr/>
        </p:nvPicPr>
        <p:blipFill>
          <a:blip r:embed="rId4"/>
          <a:stretch>
            <a:fillRect/>
          </a:stretch>
        </p:blipFill>
        <p:spPr>
          <a:xfrm>
            <a:off x="4640707" y="1227551"/>
            <a:ext cx="3617753" cy="1550488"/>
          </a:xfrm>
          <a:prstGeom prst="rect">
            <a:avLst/>
          </a:prstGeom>
        </p:spPr>
      </p:pic>
      <p:pic>
        <p:nvPicPr>
          <p:cNvPr id="8" name="Image 7"/>
          <p:cNvPicPr>
            <a:picLocks noChangeAspect="1"/>
          </p:cNvPicPr>
          <p:nvPr/>
        </p:nvPicPr>
        <p:blipFill>
          <a:blip r:embed="rId5"/>
          <a:stretch>
            <a:fillRect/>
          </a:stretch>
        </p:blipFill>
        <p:spPr>
          <a:xfrm>
            <a:off x="549724" y="2778038"/>
            <a:ext cx="2917045" cy="1634935"/>
          </a:xfrm>
          <a:prstGeom prst="rect">
            <a:avLst/>
          </a:prstGeom>
        </p:spPr>
      </p:pic>
      <p:pic>
        <p:nvPicPr>
          <p:cNvPr id="9" name="Image 8"/>
          <p:cNvPicPr>
            <a:picLocks noChangeAspect="1"/>
          </p:cNvPicPr>
          <p:nvPr/>
        </p:nvPicPr>
        <p:blipFill>
          <a:blip r:embed="rId6"/>
          <a:stretch>
            <a:fillRect/>
          </a:stretch>
        </p:blipFill>
        <p:spPr>
          <a:xfrm>
            <a:off x="3702453" y="3120596"/>
            <a:ext cx="4057650" cy="238125"/>
          </a:xfrm>
          <a:prstGeom prst="rect">
            <a:avLst/>
          </a:prstGeom>
        </p:spPr>
      </p:pic>
    </p:spTree>
    <p:extLst>
      <p:ext uri="{BB962C8B-B14F-4D97-AF65-F5344CB8AC3E}">
        <p14:creationId xmlns:p14="http://schemas.microsoft.com/office/powerpoint/2010/main" val="4009619996"/>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72839" y="206375"/>
            <a:ext cx="8229600" cy="857250"/>
          </a:xfrm>
        </p:spPr>
        <p:txBody>
          <a:bodyPr>
            <a:normAutofit fontScale="90000"/>
          </a:bodyPr>
          <a:lstStyle/>
          <a:p>
            <a:r>
              <a:rPr lang="fr-FR" altLang="en-US" sz="2000" dirty="0">
                <a:cs typeface="Arial" panose="020B0604020202020204" pitchFamily="34" charset="0"/>
              </a:rPr>
              <a:t>Mode opératoire création pour la comptabilisation </a:t>
            </a:r>
            <a:r>
              <a:rPr lang="fr-FR" altLang="en-US" sz="2000" dirty="0" smtClean="0">
                <a:cs typeface="Arial" panose="020B0604020202020204" pitchFamily="34" charset="0"/>
              </a:rPr>
              <a:t>des paiements automatiques </a:t>
            </a:r>
            <a:r>
              <a:rPr lang="fr-FR" altLang="en-US" sz="2000" dirty="0">
                <a:cs typeface="Arial" panose="020B0604020202020204" pitchFamily="34" charset="0"/>
              </a:rPr>
              <a:t>6</a:t>
            </a:r>
            <a:r>
              <a:rPr lang="fr-FR" altLang="en-US" sz="2000" dirty="0" smtClean="0">
                <a:cs typeface="Arial" panose="020B0604020202020204" pitchFamily="34" charset="0"/>
              </a:rPr>
              <a:t>/9</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991892"/>
            <a:ext cx="8246571" cy="3580107"/>
          </a:xfrm>
        </p:spPr>
        <p:txBody>
          <a:bodyPr/>
          <a:lstStyle/>
          <a:p>
            <a:r>
              <a:rPr lang="fr-FR" dirty="0" smtClean="0">
                <a:cs typeface="Arial" panose="020B0604020202020204" pitchFamily="34" charset="0"/>
              </a:rPr>
              <a:t>Cliquer sur                            afin de visualiser la proposition.  </a:t>
            </a:r>
          </a:p>
          <a:p>
            <a:r>
              <a:rPr lang="fr-FR" dirty="0">
                <a:cs typeface="Arial" panose="020B0604020202020204" pitchFamily="34" charset="0"/>
              </a:rPr>
              <a:t>	</a:t>
            </a:r>
            <a:r>
              <a:rPr lang="fr-FR" dirty="0" smtClean="0">
                <a:cs typeface="Arial" panose="020B0604020202020204" pitchFamily="34" charset="0"/>
              </a:rPr>
              <a:t>											</a:t>
            </a:r>
            <a:endParaRPr lang="fr-FR" dirty="0">
              <a:cs typeface="Arial" panose="020B0604020202020204" pitchFamily="34" charset="0"/>
            </a:endParaRPr>
          </a:p>
          <a:p>
            <a:endParaRPr lang="fr-FR" dirty="0" smtClean="0">
              <a:cs typeface="Arial" panose="020B0604020202020204" pitchFamily="34" charset="0"/>
            </a:endParaRPr>
          </a:p>
          <a:p>
            <a:pPr marL="171450" indent="-171450">
              <a:buFontTx/>
              <a:buChar char="-"/>
            </a:pPr>
            <a:endParaRPr lang="fr-FR" dirty="0">
              <a:cs typeface="Arial" panose="020B0604020202020204" pitchFamily="34" charset="0"/>
            </a:endParaRPr>
          </a:p>
          <a:p>
            <a:pPr marL="171450" indent="-171450">
              <a:buFontTx/>
              <a:buChar char="-"/>
            </a:pPr>
            <a:endParaRPr lang="fr-FR" dirty="0" smtClean="0">
              <a:cs typeface="Arial" panose="020B0604020202020204" pitchFamily="34" charset="0"/>
            </a:endParaRPr>
          </a:p>
          <a:p>
            <a:r>
              <a:rPr lang="fr-FR" dirty="0" smtClean="0"/>
              <a:t>Revenir sur la page initial. Cliquer </a:t>
            </a:r>
            <a:r>
              <a:rPr lang="fr-FR" dirty="0"/>
              <a:t>sur Cycle de </a:t>
            </a:r>
            <a:r>
              <a:rPr lang="fr-FR" dirty="0" smtClean="0"/>
              <a:t>paiement             </a:t>
            </a:r>
            <a:r>
              <a:rPr lang="fr-FR" dirty="0"/>
              <a:t>Lancement immédiat est par défaut coché, cocher </a:t>
            </a:r>
            <a:r>
              <a:rPr lang="fr-FR" dirty="0" smtClean="0"/>
              <a:t>créer support </a:t>
            </a:r>
            <a:r>
              <a:rPr lang="fr-FR" dirty="0"/>
              <a:t>de </a:t>
            </a:r>
            <a:r>
              <a:rPr lang="fr-FR" dirty="0" err="1" smtClean="0"/>
              <a:t>pmt</a:t>
            </a:r>
            <a:r>
              <a:rPr lang="fr-FR" dirty="0"/>
              <a:t>.</a:t>
            </a:r>
            <a:r>
              <a:rPr lang="fr-FR" dirty="0" smtClean="0"/>
              <a:t> </a:t>
            </a:r>
            <a:r>
              <a:rPr lang="fr-FR" dirty="0"/>
              <a:t>Faites entrée jusqu’à ce que le </a:t>
            </a:r>
            <a:r>
              <a:rPr lang="fr-FR" dirty="0" smtClean="0"/>
              <a:t>statut </a:t>
            </a:r>
            <a:r>
              <a:rPr lang="fr-FR" dirty="0"/>
              <a:t>passe de en cours à cycle de paiement </a:t>
            </a:r>
            <a:r>
              <a:rPr lang="fr-FR" dirty="0" smtClean="0"/>
              <a:t>exécuté. Ordre comptabilisation : 1 généré, 1 effectué</a:t>
            </a:r>
          </a:p>
          <a:p>
            <a:endParaRPr lang="fr-FR" dirty="0"/>
          </a:p>
          <a:p>
            <a:endParaRPr lang="fr-FR" dirty="0" smtClean="0"/>
          </a:p>
          <a:p>
            <a:endParaRPr lang="fr-FR" dirty="0" smtClean="0"/>
          </a:p>
          <a:p>
            <a:endParaRPr lang="fr-FR" dirty="0">
              <a:cs typeface="Arial" panose="020B0604020202020204" pitchFamily="34" charset="0"/>
            </a:endParaRPr>
          </a:p>
          <a:p>
            <a:pPr marL="171450" indent="-171450">
              <a:buFontTx/>
              <a:buChar char="-"/>
            </a:pPr>
            <a:endParaRPr lang="fr-FR" dirty="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endParaRPr lang="fr-FR" dirty="0"/>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24</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327929"/>
            <a:ext cx="3378632" cy="1229291"/>
          </a:xfrm>
          <a:prstGeom prst="rect">
            <a:avLst/>
          </a:prstGeom>
        </p:spPr>
      </p:pic>
      <p:pic>
        <p:nvPicPr>
          <p:cNvPr id="4" name="Image 3"/>
          <p:cNvPicPr>
            <a:picLocks noChangeAspect="1"/>
          </p:cNvPicPr>
          <p:nvPr/>
        </p:nvPicPr>
        <p:blipFill>
          <a:blip r:embed="rId3"/>
          <a:stretch>
            <a:fillRect/>
          </a:stretch>
        </p:blipFill>
        <p:spPr>
          <a:xfrm flipV="1">
            <a:off x="627822" y="2557220"/>
            <a:ext cx="3324388" cy="63188"/>
          </a:xfrm>
          <a:prstGeom prst="rect">
            <a:avLst/>
          </a:prstGeom>
        </p:spPr>
      </p:pic>
      <p:pic>
        <p:nvPicPr>
          <p:cNvPr id="5" name="Image 4"/>
          <p:cNvPicPr>
            <a:picLocks noChangeAspect="1"/>
          </p:cNvPicPr>
          <p:nvPr/>
        </p:nvPicPr>
        <p:blipFill>
          <a:blip r:embed="rId4"/>
          <a:stretch>
            <a:fillRect/>
          </a:stretch>
        </p:blipFill>
        <p:spPr>
          <a:xfrm>
            <a:off x="1282162" y="985027"/>
            <a:ext cx="876300" cy="295275"/>
          </a:xfrm>
          <a:prstGeom prst="rect">
            <a:avLst/>
          </a:prstGeom>
        </p:spPr>
      </p:pic>
      <p:pic>
        <p:nvPicPr>
          <p:cNvPr id="6" name="Image 5"/>
          <p:cNvPicPr>
            <a:picLocks noChangeAspect="1"/>
          </p:cNvPicPr>
          <p:nvPr/>
        </p:nvPicPr>
        <p:blipFill>
          <a:blip r:embed="rId5"/>
          <a:stretch>
            <a:fillRect/>
          </a:stretch>
        </p:blipFill>
        <p:spPr>
          <a:xfrm>
            <a:off x="573578" y="3405924"/>
            <a:ext cx="2529776" cy="1057587"/>
          </a:xfrm>
          <a:prstGeom prst="rect">
            <a:avLst/>
          </a:prstGeom>
        </p:spPr>
      </p:pic>
      <p:pic>
        <p:nvPicPr>
          <p:cNvPr id="7" name="Image 6"/>
          <p:cNvPicPr>
            <a:picLocks noChangeAspect="1"/>
          </p:cNvPicPr>
          <p:nvPr/>
        </p:nvPicPr>
        <p:blipFill>
          <a:blip r:embed="rId6"/>
          <a:stretch>
            <a:fillRect/>
          </a:stretch>
        </p:blipFill>
        <p:spPr>
          <a:xfrm>
            <a:off x="4325874" y="3405924"/>
            <a:ext cx="3919225" cy="995595"/>
          </a:xfrm>
          <a:prstGeom prst="rect">
            <a:avLst/>
          </a:prstGeom>
        </p:spPr>
      </p:pic>
      <p:pic>
        <p:nvPicPr>
          <p:cNvPr id="8" name="Image 7"/>
          <p:cNvPicPr>
            <a:picLocks noChangeAspect="1"/>
          </p:cNvPicPr>
          <p:nvPr/>
        </p:nvPicPr>
        <p:blipFill>
          <a:blip r:embed="rId7"/>
          <a:stretch>
            <a:fillRect/>
          </a:stretch>
        </p:blipFill>
        <p:spPr>
          <a:xfrm>
            <a:off x="4032464" y="2648595"/>
            <a:ext cx="436375" cy="266700"/>
          </a:xfrm>
          <a:prstGeom prst="rect">
            <a:avLst/>
          </a:prstGeom>
        </p:spPr>
      </p:pic>
    </p:spTree>
    <p:extLst>
      <p:ext uri="{BB962C8B-B14F-4D97-AF65-F5344CB8AC3E}">
        <p14:creationId xmlns:p14="http://schemas.microsoft.com/office/powerpoint/2010/main" val="3290865147"/>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000" dirty="0">
                <a:cs typeface="Arial" panose="020B0604020202020204" pitchFamily="34" charset="0"/>
              </a:rPr>
              <a:t>Mode opératoire création pour la comptabilisation </a:t>
            </a:r>
            <a:r>
              <a:rPr lang="fr-FR" altLang="en-US" sz="2000" dirty="0" smtClean="0">
                <a:cs typeface="Arial" panose="020B0604020202020204" pitchFamily="34" charset="0"/>
              </a:rPr>
              <a:t>des paiements automatiques 7/9</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991892"/>
            <a:ext cx="8246571" cy="3580107"/>
          </a:xfrm>
        </p:spPr>
        <p:txBody>
          <a:bodyPr/>
          <a:lstStyle/>
          <a:p>
            <a:r>
              <a:rPr lang="fr-FR" dirty="0" smtClean="0">
                <a:cs typeface="Arial" panose="020B0604020202020204" pitchFamily="34" charset="0"/>
              </a:rPr>
              <a:t>Lancer la transaction SP01 afin de visualiser le spool généré : </a:t>
            </a:r>
            <a:r>
              <a:rPr lang="fr-FR">
                <a:cs typeface="Arial" panose="020B0604020202020204" pitchFamily="34" charset="0"/>
              </a:rPr>
              <a:t>ECR Spool du 17.01.2016 </a:t>
            </a:r>
            <a:endParaRPr lang="fr-FR" dirty="0" smtClean="0">
              <a:cs typeface="Arial" panose="020B0604020202020204" pitchFamily="34" charset="0"/>
            </a:endParaRPr>
          </a:p>
          <a:p>
            <a:r>
              <a:rPr lang="fr-FR" dirty="0" smtClean="0">
                <a:cs typeface="Arial" panose="020B0604020202020204" pitchFamily="34" charset="0"/>
              </a:rPr>
              <a:t>Avis de virement : </a:t>
            </a:r>
            <a:r>
              <a:rPr lang="fr-FR" dirty="0">
                <a:cs typeface="Arial" panose="020B0604020202020204" pitchFamily="34" charset="0"/>
              </a:rPr>
              <a:t>	</a:t>
            </a:r>
            <a:r>
              <a:rPr lang="fr-FR" dirty="0" smtClean="0">
                <a:cs typeface="Arial" panose="020B0604020202020204" pitchFamily="34" charset="0"/>
              </a:rPr>
              <a:t>											</a:t>
            </a:r>
            <a:endParaRPr lang="fr-FR" dirty="0">
              <a:cs typeface="Arial" panose="020B0604020202020204" pitchFamily="34" charset="0"/>
            </a:endParaRPr>
          </a:p>
          <a:p>
            <a:endParaRPr lang="fr-FR" dirty="0" smtClean="0">
              <a:cs typeface="Arial" panose="020B0604020202020204" pitchFamily="34" charset="0"/>
            </a:endParaRPr>
          </a:p>
          <a:p>
            <a:pPr marL="171450" indent="-171450">
              <a:buFontTx/>
              <a:buChar char="-"/>
            </a:pPr>
            <a:endParaRPr lang="fr-FR" dirty="0">
              <a:cs typeface="Arial" panose="020B0604020202020204" pitchFamily="34" charset="0"/>
            </a:endParaRPr>
          </a:p>
          <a:p>
            <a:pPr marL="171450" indent="-171450">
              <a:buFontTx/>
              <a:buChar char="-"/>
            </a:pPr>
            <a:endParaRPr lang="fr-FR" dirty="0" smtClean="0">
              <a:cs typeface="Arial" panose="020B0604020202020204" pitchFamily="34" charset="0"/>
            </a:endParaRPr>
          </a:p>
          <a:p>
            <a:pPr marL="171450" indent="-171450">
              <a:buFontTx/>
              <a:buChar char="-"/>
            </a:pPr>
            <a:endParaRPr lang="fr-FR" dirty="0">
              <a:cs typeface="Arial" panose="020B0604020202020204" pitchFamily="34" charset="0"/>
            </a:endParaRPr>
          </a:p>
          <a:p>
            <a:pPr marL="171450" indent="-171450">
              <a:buFontTx/>
              <a:buChar char="-"/>
            </a:pPr>
            <a:endParaRPr lang="fr-FR" dirty="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endParaRPr lang="fr-FR" dirty="0"/>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25</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575298"/>
            <a:ext cx="4953161" cy="2260533"/>
          </a:xfrm>
          <a:prstGeom prst="rect">
            <a:avLst/>
          </a:prstGeom>
        </p:spPr>
      </p:pic>
      <p:pic>
        <p:nvPicPr>
          <p:cNvPr id="4" name="Image 3"/>
          <p:cNvPicPr>
            <a:picLocks noChangeAspect="1"/>
          </p:cNvPicPr>
          <p:nvPr/>
        </p:nvPicPr>
        <p:blipFill>
          <a:blip r:embed="rId3"/>
          <a:stretch>
            <a:fillRect/>
          </a:stretch>
        </p:blipFill>
        <p:spPr>
          <a:xfrm>
            <a:off x="573578" y="3855244"/>
            <a:ext cx="4959458" cy="542925"/>
          </a:xfrm>
          <a:prstGeom prst="rect">
            <a:avLst/>
          </a:prstGeom>
        </p:spPr>
      </p:pic>
    </p:spTree>
    <p:extLst>
      <p:ext uri="{BB962C8B-B14F-4D97-AF65-F5344CB8AC3E}">
        <p14:creationId xmlns:p14="http://schemas.microsoft.com/office/powerpoint/2010/main" val="215319609"/>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000" dirty="0">
                <a:cs typeface="Arial" panose="020B0604020202020204" pitchFamily="34" charset="0"/>
              </a:rPr>
              <a:t>Mode opératoire création pour la comptabilisation </a:t>
            </a:r>
            <a:r>
              <a:rPr lang="fr-FR" altLang="en-US" sz="2000" dirty="0" smtClean="0">
                <a:cs typeface="Arial" panose="020B0604020202020204" pitchFamily="34" charset="0"/>
              </a:rPr>
              <a:t>des paiements automatiques 8/9</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991892"/>
            <a:ext cx="8246571" cy="3580107"/>
          </a:xfrm>
        </p:spPr>
        <p:txBody>
          <a:bodyPr/>
          <a:lstStyle/>
          <a:p>
            <a:r>
              <a:rPr lang="fr-FR" dirty="0" smtClean="0">
                <a:cs typeface="Arial" panose="020B0604020202020204" pitchFamily="34" charset="0"/>
              </a:rPr>
              <a:t>Lettre accompagnant le virement : </a:t>
            </a:r>
          </a:p>
          <a:p>
            <a:r>
              <a:rPr lang="fr-FR" dirty="0">
                <a:cs typeface="Arial" panose="020B0604020202020204" pitchFamily="34" charset="0"/>
              </a:rPr>
              <a:t>	</a:t>
            </a:r>
            <a:r>
              <a:rPr lang="fr-FR" dirty="0" smtClean="0">
                <a:cs typeface="Arial" panose="020B0604020202020204" pitchFamily="34" charset="0"/>
              </a:rPr>
              <a:t>											</a:t>
            </a:r>
            <a:endParaRPr lang="fr-FR" dirty="0">
              <a:cs typeface="Arial" panose="020B0604020202020204" pitchFamily="34" charset="0"/>
            </a:endParaRPr>
          </a:p>
          <a:p>
            <a:endParaRPr lang="fr-FR" dirty="0" smtClean="0">
              <a:cs typeface="Arial" panose="020B0604020202020204" pitchFamily="34" charset="0"/>
            </a:endParaRPr>
          </a:p>
          <a:p>
            <a:pPr marL="171450" indent="-171450">
              <a:buFontTx/>
              <a:buChar char="-"/>
            </a:pPr>
            <a:endParaRPr lang="fr-FR" dirty="0">
              <a:cs typeface="Arial" panose="020B0604020202020204" pitchFamily="34" charset="0"/>
            </a:endParaRPr>
          </a:p>
          <a:p>
            <a:pPr marL="171450" indent="-171450">
              <a:buFontTx/>
              <a:buChar char="-"/>
            </a:pPr>
            <a:endParaRPr lang="fr-FR" dirty="0" smtClean="0">
              <a:cs typeface="Arial" panose="020B0604020202020204" pitchFamily="34" charset="0"/>
            </a:endParaRPr>
          </a:p>
          <a:p>
            <a:pPr marL="171450" indent="-171450">
              <a:buFontTx/>
              <a:buChar char="-"/>
            </a:pPr>
            <a:endParaRPr lang="fr-FR" dirty="0">
              <a:cs typeface="Arial" panose="020B0604020202020204" pitchFamily="34" charset="0"/>
            </a:endParaRPr>
          </a:p>
          <a:p>
            <a:pPr marL="171450" indent="-171450">
              <a:buFontTx/>
              <a:buChar char="-"/>
            </a:pPr>
            <a:endParaRPr lang="fr-FR" dirty="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endParaRPr lang="fr-FR" dirty="0"/>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26</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239434"/>
            <a:ext cx="5370022" cy="2247685"/>
          </a:xfrm>
          <a:prstGeom prst="rect">
            <a:avLst/>
          </a:prstGeom>
        </p:spPr>
      </p:pic>
      <p:pic>
        <p:nvPicPr>
          <p:cNvPr id="4" name="Image 3"/>
          <p:cNvPicPr>
            <a:picLocks noChangeAspect="1"/>
          </p:cNvPicPr>
          <p:nvPr/>
        </p:nvPicPr>
        <p:blipFill>
          <a:blip r:embed="rId3"/>
          <a:stretch>
            <a:fillRect/>
          </a:stretch>
        </p:blipFill>
        <p:spPr>
          <a:xfrm>
            <a:off x="628569" y="3487119"/>
            <a:ext cx="5315031" cy="809625"/>
          </a:xfrm>
          <a:prstGeom prst="rect">
            <a:avLst/>
          </a:prstGeom>
        </p:spPr>
      </p:pic>
    </p:spTree>
    <p:extLst>
      <p:ext uri="{BB962C8B-B14F-4D97-AF65-F5344CB8AC3E}">
        <p14:creationId xmlns:p14="http://schemas.microsoft.com/office/powerpoint/2010/main" val="1659814489"/>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000" dirty="0">
                <a:cs typeface="Arial" panose="020B0604020202020204" pitchFamily="34" charset="0"/>
              </a:rPr>
              <a:t>Mode opératoire création pour la comptabilisation </a:t>
            </a:r>
            <a:r>
              <a:rPr lang="fr-FR" altLang="en-US" sz="2000" dirty="0" smtClean="0">
                <a:cs typeface="Arial" panose="020B0604020202020204" pitchFamily="34" charset="0"/>
              </a:rPr>
              <a:t>des paiements automatiques 9/9</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991892"/>
            <a:ext cx="8246571" cy="3580107"/>
          </a:xfrm>
        </p:spPr>
        <p:txBody>
          <a:bodyPr/>
          <a:lstStyle/>
          <a:p>
            <a:r>
              <a:rPr lang="fr-FR" dirty="0" smtClean="0">
                <a:cs typeface="Arial" panose="020B0604020202020204" pitchFamily="34" charset="0"/>
              </a:rPr>
              <a:t>Visualisation du compte fournisseur : </a:t>
            </a:r>
            <a:r>
              <a:rPr lang="fr-FR" dirty="0">
                <a:cs typeface="Arial" panose="020B0604020202020204" pitchFamily="34" charset="0"/>
              </a:rPr>
              <a:t>	</a:t>
            </a:r>
            <a:r>
              <a:rPr lang="fr-FR" dirty="0" smtClean="0">
                <a:cs typeface="Arial" panose="020B0604020202020204" pitchFamily="34" charset="0"/>
              </a:rPr>
              <a:t>											</a:t>
            </a:r>
            <a:endParaRPr lang="fr-FR" dirty="0">
              <a:cs typeface="Arial" panose="020B0604020202020204" pitchFamily="34" charset="0"/>
            </a:endParaRPr>
          </a:p>
          <a:p>
            <a:endParaRPr lang="fr-FR" dirty="0" smtClean="0">
              <a:cs typeface="Arial" panose="020B0604020202020204" pitchFamily="34" charset="0"/>
            </a:endParaRPr>
          </a:p>
          <a:p>
            <a:pPr marL="171450" indent="-171450">
              <a:buFontTx/>
              <a:buChar char="-"/>
            </a:pPr>
            <a:endParaRPr lang="fr-FR" dirty="0">
              <a:cs typeface="Arial" panose="020B0604020202020204" pitchFamily="34" charset="0"/>
            </a:endParaRPr>
          </a:p>
          <a:p>
            <a:pPr marL="171450" indent="-171450">
              <a:buFontTx/>
              <a:buChar char="-"/>
            </a:pPr>
            <a:endParaRPr lang="fr-FR" dirty="0" smtClean="0">
              <a:cs typeface="Arial" panose="020B0604020202020204" pitchFamily="34" charset="0"/>
            </a:endParaRPr>
          </a:p>
          <a:p>
            <a:pPr marL="171450" indent="-171450">
              <a:buFontTx/>
              <a:buChar char="-"/>
            </a:pPr>
            <a:endParaRPr lang="fr-FR" dirty="0">
              <a:cs typeface="Arial" panose="020B0604020202020204" pitchFamily="34" charset="0"/>
            </a:endParaRPr>
          </a:p>
          <a:p>
            <a:pPr marL="171450" indent="-171450">
              <a:buFontTx/>
              <a:buChar char="-"/>
            </a:pPr>
            <a:endParaRPr lang="fr-FR" dirty="0">
              <a:cs typeface="Arial" panose="020B0604020202020204" pitchFamily="34" charset="0"/>
            </a:endParaRPr>
          </a:p>
          <a:p>
            <a:endParaRPr lang="fr-FR" dirty="0">
              <a:cs typeface="Arial" panose="020B0604020202020204" pitchFamily="34" charset="0"/>
            </a:endParaRPr>
          </a:p>
          <a:p>
            <a:r>
              <a:rPr lang="fr-FR" dirty="0" smtClean="0">
                <a:cs typeface="Arial" panose="020B0604020202020204" pitchFamily="34" charset="0"/>
              </a:rPr>
              <a:t>							</a:t>
            </a:r>
            <a:endParaRPr lang="fr-FR" dirty="0"/>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27</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66779" y="1258889"/>
            <a:ext cx="5986421" cy="2653209"/>
          </a:xfrm>
          <a:prstGeom prst="rect">
            <a:avLst/>
          </a:prstGeom>
        </p:spPr>
      </p:pic>
    </p:spTree>
    <p:extLst>
      <p:ext uri="{BB962C8B-B14F-4D97-AF65-F5344CB8AC3E}">
        <p14:creationId xmlns:p14="http://schemas.microsoft.com/office/powerpoint/2010/main" val="1952141516"/>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5" y="1058111"/>
            <a:ext cx="3063507" cy="1213506"/>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Prendre plusieurs PNS fournisseur et débloquer les via la FBL1N. </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Payer ces pièces via la F110  </a:t>
            </a:r>
          </a:p>
          <a:p>
            <a:pPr>
              <a:lnSpc>
                <a:spcPct val="110000"/>
              </a:lnSpc>
              <a:defRPr/>
            </a:pPr>
            <a:endParaRPr lang="fr-FR" sz="1350" dirty="0" smtClean="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endParaRPr lang="fr-FR" sz="1350" dirty="0">
              <a:solidFill>
                <a:srgbClr val="4F81BD"/>
              </a:solidFill>
              <a:latin typeface="Arial Narrow" pitchFamily="34" charset="0"/>
              <a:ea typeface="ＭＳ Ｐゴシック"/>
              <a:cs typeface="ＭＳ Ｐゴシック"/>
            </a:endParaRP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54869185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29</a:t>
            </a:fld>
            <a:endParaRPr lang="fr-FR" altLang="en-US" sz="750"/>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ea typeface="ＭＳ Ｐゴシック" panose="020B0600070205080204" pitchFamily="34" charset="-128"/>
                <a:cs typeface="Arial" panose="020B0604020202020204" pitchFamily="34" charset="0"/>
              </a:rPr>
              <a:t>Synthèse</a:t>
            </a:r>
            <a:endParaRPr lang="en-US" altLang="en-US" sz="2400" dirty="0" smtClean="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r>
              <a:rPr lang="fr-FR" altLang="en-US" dirty="0" smtClean="0">
                <a:ea typeface="ＭＳ Ｐゴシック" panose="020B0600070205080204" pitchFamily="34" charset="-128"/>
                <a:cs typeface="Arial" panose="020B0604020202020204" pitchFamily="34" charset="0"/>
              </a:rPr>
              <a:t>Le paiement des factures fournisseurs comment par le déblocage des factures concernées est se basant sur leur date d’échéance. Puis suivra le paiement par la campagne de paiement dans la plupart des cas ou par un chèque manuel dans les cas express. </a:t>
            </a:r>
          </a:p>
          <a:p>
            <a:pPr marL="171450" indent="-171450">
              <a:buClr>
                <a:srgbClr val="0070C0"/>
              </a:buClr>
              <a:buSzPct val="100000"/>
              <a:buFont typeface="Arial" panose="020B0604020202020204" pitchFamily="34" charset="0"/>
              <a:buChar char="•"/>
            </a:pPr>
            <a:r>
              <a:rPr lang="fr-FR" altLang="en-US" dirty="0" smtClean="0">
                <a:ea typeface="ＭＳ Ｐゴシック" panose="020B0600070205080204" pitchFamily="34" charset="-128"/>
                <a:cs typeface="Arial" panose="020B0604020202020204" pitchFamily="34" charset="0"/>
              </a:rPr>
              <a:t>Ce flux doit se fait avec une grande attention afin de mieux maitriser la trésorerie de l’entreprise.  </a:t>
            </a:r>
          </a:p>
          <a:p>
            <a:pPr marL="171450" indent="-171450">
              <a:buClr>
                <a:srgbClr val="0070C0"/>
              </a:buClr>
              <a:buSzPct val="100000"/>
              <a:buFont typeface="Arial" panose="020B0604020202020204" pitchFamily="34" charset="0"/>
              <a:buChar char="•"/>
            </a:pPr>
            <a:endParaRPr lang="fr-FR" altLang="en-US" sz="1400" dirty="0">
              <a:latin typeface="Arial" panose="020B0604020202020204" pitchFamily="34" charset="0"/>
              <a:ea typeface="ＭＳ Ｐゴシック" panose="020B0600070205080204" pitchFamily="34" charset="-128"/>
              <a:cs typeface="Arial" panose="020B0604020202020204" pitchFamily="34" charset="0"/>
            </a:endParaRPr>
          </a:p>
          <a:p>
            <a:pPr marL="171450" indent="-171450">
              <a:buClr>
                <a:srgbClr val="0070C0"/>
              </a:buClr>
              <a:buSzPct val="100000"/>
              <a:buFont typeface="Arial" panose="020B0604020202020204" pitchFamily="34" charset="0"/>
              <a:buChar char="•"/>
            </a:pPr>
            <a:endParaRPr lang="fr-FR" altLang="en-US" sz="1400" dirty="0" smtClean="0">
              <a:latin typeface="Arial" panose="020B0604020202020204" pitchFamily="34" charset="0"/>
              <a:ea typeface="ＭＳ Ｐゴシック" panose="020B0600070205080204" pitchFamily="34" charset="-128"/>
              <a:cs typeface="Arial" panose="020B0604020202020204" pitchFamily="34" charset="0"/>
            </a:endParaRPr>
          </a:p>
          <a:p>
            <a:pPr>
              <a:buClr>
                <a:srgbClr val="0070C0"/>
              </a:buClr>
              <a:buSzPct val="100000"/>
            </a:pPr>
            <a:endParaRPr lang="fr-FR" altLang="en-US" sz="1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4" name="Espace réservé du numéro de diapositive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36DFBA8F-B79A-4011-8444-03085D4A6CB3}" type="slidenum">
              <a:rPr lang="fr-FR" altLang="en-US" sz="750"/>
              <a:pPr eaLnBrk="1" hangingPunct="1"/>
              <a:t>30</a:t>
            </a:fld>
            <a:endParaRPr lang="fr-FR" altLang="en-US" sz="750"/>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VHEKTECQ7ECW-1532981086-4833</_dlc_DocId>
    <_dlc_DocIdUrl xmlns="f36dd47d-0b23-43fd-9b2d-c5346ffa1660">
      <Url>http://projets.cbg-guinee.com/erp/_layouts/15/DocIdRedir.aspx?ID=VHEKTECQ7ECW-1532981086-4833</Url>
      <Description>VHEKTECQ7ECW-1532981086-4833</Description>
    </_dlc_DocIdUrl>
  </documentManagement>
</p:properties>
</file>

<file path=customXml/itemProps1.xml><?xml version="1.0" encoding="utf-8"?>
<ds:datastoreItem xmlns:ds="http://schemas.openxmlformats.org/officeDocument/2006/customXml" ds:itemID="{654DCDEC-513F-46DA-955C-8C1441C83675}"/>
</file>

<file path=customXml/itemProps2.xml><?xml version="1.0" encoding="utf-8"?>
<ds:datastoreItem xmlns:ds="http://schemas.openxmlformats.org/officeDocument/2006/customXml" ds:itemID="{DFE7DD0B-0BE8-4E24-A363-4DD0A01C5DCF}"/>
</file>

<file path=customXml/itemProps3.xml><?xml version="1.0" encoding="utf-8"?>
<ds:datastoreItem xmlns:ds="http://schemas.openxmlformats.org/officeDocument/2006/customXml" ds:itemID="{B55A8661-B3FE-4CA7-8FCA-C4605AD77A82}"/>
</file>

<file path=customXml/itemProps4.xml><?xml version="1.0" encoding="utf-8"?>
<ds:datastoreItem xmlns:ds="http://schemas.openxmlformats.org/officeDocument/2006/customXml" ds:itemID="{6B08D313-DD74-49B0-B6A4-96BD802D9198}"/>
</file>

<file path=docProps/app.xml><?xml version="1.0" encoding="utf-8"?>
<Properties xmlns="http://schemas.openxmlformats.org/officeDocument/2006/extended-properties" xmlns:vt="http://schemas.openxmlformats.org/officeDocument/2006/docPropsVTypes">
  <Template/>
  <TotalTime>0</TotalTime>
  <Words>822</Words>
  <Application>Microsoft Office PowerPoint</Application>
  <PresentationFormat>Affichage à l'écran (16:9)</PresentationFormat>
  <Paragraphs>587</Paragraphs>
  <Slides>31</Slides>
  <Notes>7</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31</vt:i4>
      </vt:variant>
    </vt:vector>
  </HeadingPairs>
  <TitlesOfParts>
    <vt:vector size="39" baseType="lpstr">
      <vt:lpstr>ＭＳ Ｐゴシック</vt:lpstr>
      <vt:lpstr>Arial</vt:lpstr>
      <vt:lpstr>Arial Narrow</vt:lpstr>
      <vt:lpstr>Calibri</vt:lpstr>
      <vt:lpstr>Courier New</vt:lpstr>
      <vt:lpstr>Verdana</vt:lpstr>
      <vt:lpstr>Wingdings</vt:lpstr>
      <vt:lpstr>TemplateBE_FR</vt:lpstr>
      <vt:lpstr>Kamsar, le 27.01.2016</vt:lpstr>
      <vt:lpstr>Présentation PowerPoint</vt:lpstr>
      <vt:lpstr>Objectifs de la formation</vt:lpstr>
      <vt:lpstr>Agenda : 2h00</vt:lpstr>
      <vt:lpstr>Présentation PowerPoint</vt:lpstr>
      <vt:lpstr>Description du processus métier lié aux paiements des fournisseurs 1/2 </vt:lpstr>
      <vt:lpstr>Description du processus métier lié aux paiements des fournisseurs 2/2 </vt:lpstr>
      <vt:lpstr>Présentation PowerPoint</vt:lpstr>
      <vt:lpstr>Mode opératoire Présentation du mode opératoire dans SAP</vt:lpstr>
      <vt:lpstr>Mode opératoire pour déblocage d’une pièce à payer 1/5 </vt:lpstr>
      <vt:lpstr>Mode opératoire pour déblocage d’une pièce à payer 2/5 </vt:lpstr>
      <vt:lpstr>Mode opératoire pour déblocage d’une pièce à payer 3/5 </vt:lpstr>
      <vt:lpstr>Mode opératoire pour déblocage d’une pièce à payer 4/5 </vt:lpstr>
      <vt:lpstr>Mode opératoire pour déblocage d’une pièce à payer 5/5 </vt:lpstr>
      <vt:lpstr>Mode opératoire création pour la comptabilisation d’un chèque manuel émis aux fournisseurs 1/4 </vt:lpstr>
      <vt:lpstr>Mode opératoire création pour la comptabilisation d’un chèque manuel émis aux fournisseurs 2/4 </vt:lpstr>
      <vt:lpstr>Mode opératoire création pour la comptabilisation d’un chèque manuel émis aux fournisseurs 3/4 </vt:lpstr>
      <vt:lpstr>Mode opératoire création pour la comptabilisation d’un chèque manuel émis aux fournisseurs 4/4 </vt:lpstr>
      <vt:lpstr>Mode opératoire création pour la comptabilisation des paiements automatiques 1/9 </vt:lpstr>
      <vt:lpstr>Mode opératoire création pour la comptabilisation des paiements automatiques 2/9 </vt:lpstr>
      <vt:lpstr>Mode opératoire création pour la comptabilisation des paiements automatiques 3/9 </vt:lpstr>
      <vt:lpstr>Mode opératoire création pour la comptabilisation des paiements automatiques 4/9 </vt:lpstr>
      <vt:lpstr>Mode opératoire création pour la comptabilisation des paiements automatiques 5/9 </vt:lpstr>
      <vt:lpstr>Mode opératoire création pour la comptabilisation des paiements automatiques 6/9 </vt:lpstr>
      <vt:lpstr>Mode opératoire création pour la comptabilisation des paiements automatiques 7/9 </vt:lpstr>
      <vt:lpstr>Mode opératoire création pour la comptabilisation des paiements automatiques 8/9 </vt:lpstr>
      <vt:lpstr>Mode opératoire création pour la comptabilisation des paiements automatiques 9/9 </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Ogoundele, Jean Yves (CE)</cp:lastModifiedBy>
  <cp:revision>4130</cp:revision>
  <cp:lastPrinted>2016-01-26T13:43:37Z</cp:lastPrinted>
  <dcterms:created xsi:type="dcterms:W3CDTF">2012-05-17T14:14:37Z</dcterms:created>
  <dcterms:modified xsi:type="dcterms:W3CDTF">2016-01-26T14:06:38Z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2b452380-00df-4e80-8488-506b3f28e254</vt:lpwstr>
  </property>
</Properties>
</file>