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slides/slide23.xml" ContentType="application/vnd.openxmlformats-officedocument.presentationml.slide+xml"/>
  <Override PartName="/ppt/slides/slide24.xml" ContentType="application/vnd.openxmlformats-officedocument.presentationml.slide+xml"/>
  <Override PartName="/ppt/presentation.xml" ContentType="application/vnd.openxmlformats-officedocument.presentationml.presentation.main+xml"/>
  <Override PartName="/ppt/slides/slide22.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Slides/notesSlide4.xml" ContentType="application/vnd.openxmlformats-officedocument.presentationml.notesSlid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xml" ContentType="application/vnd.openxmlformats-officedocument.presentationml.slideLayout+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notesSlides/notesSlide5.xml" ContentType="application/vnd.openxmlformats-officedocument.presentationml.notesSlide+xml"/>
  <Override PartName="/ppt/notesSlides/notesSlide3.xml" ContentType="application/vnd.openxmlformats-officedocument.presentationml.notes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heme/theme3.xml" ContentType="application/vnd.openxmlformats-officedocument.theme+xml"/>
  <Override PartName="/ppt/theme/theme2.xml" ContentType="application/vnd.openxmlformats-officedocument.theme+xml"/>
  <Override PartName="/ppt/theme/theme1.xml" ContentType="application/vnd.openxmlformats-officedocument.them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ustom.xml" ContentType="application/vnd.openxmlformats-officedocument.custom-properties+xml"/>
  <Override PartName="/docProps/core.xml" ContentType="application/vnd.openxmlformats-package.core-properties+xml"/>
  <Override PartName="/customXml/itemProps3.xml" ContentType="application/vnd.openxmlformats-officedocument.customXml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21" r:id="rId4"/>
  </p:sldMasterIdLst>
  <p:notesMasterIdLst>
    <p:notesMasterId r:id="rId29"/>
  </p:notesMasterIdLst>
  <p:handoutMasterIdLst>
    <p:handoutMasterId r:id="rId30"/>
  </p:handoutMasterIdLst>
  <p:sldIdLst>
    <p:sldId id="685" r:id="rId5"/>
    <p:sldId id="686" r:id="rId6"/>
    <p:sldId id="687" r:id="rId7"/>
    <p:sldId id="723" r:id="rId8"/>
    <p:sldId id="691" r:id="rId9"/>
    <p:sldId id="692" r:id="rId10"/>
    <p:sldId id="693" r:id="rId11"/>
    <p:sldId id="749" r:id="rId12"/>
    <p:sldId id="724" r:id="rId13"/>
    <p:sldId id="732" r:id="rId14"/>
    <p:sldId id="750" r:id="rId15"/>
    <p:sldId id="696" r:id="rId16"/>
    <p:sldId id="744" r:id="rId17"/>
    <p:sldId id="746" r:id="rId18"/>
    <p:sldId id="747" r:id="rId19"/>
    <p:sldId id="748" r:id="rId20"/>
    <p:sldId id="745" r:id="rId21"/>
    <p:sldId id="733" r:id="rId22"/>
    <p:sldId id="739" r:id="rId23"/>
    <p:sldId id="740" r:id="rId24"/>
    <p:sldId id="699" r:id="rId25"/>
    <p:sldId id="725" r:id="rId26"/>
    <p:sldId id="710" r:id="rId27"/>
    <p:sldId id="728" r:id="rId28"/>
  </p:sldIdLst>
  <p:sldSz cx="9144000" cy="5143500" type="screen16x9"/>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49">
          <p15:clr>
            <a:srgbClr val="A4A3A4"/>
          </p15:clr>
        </p15:guide>
        <p15:guide id="2" orient="horz" pos="1880">
          <p15:clr>
            <a:srgbClr val="A4A3A4"/>
          </p15:clr>
        </p15:guide>
        <p15:guide id="3" orient="horz" pos="89">
          <p15:clr>
            <a:srgbClr val="A4A3A4"/>
          </p15:clr>
        </p15:guide>
        <p15:guide id="4" orient="horz" pos="480">
          <p15:clr>
            <a:srgbClr val="A4A3A4"/>
          </p15:clr>
        </p15:guide>
        <p15:guide id="5" orient="horz" pos="719">
          <p15:clr>
            <a:srgbClr val="A4A3A4"/>
          </p15:clr>
        </p15:guide>
        <p15:guide id="6" pos="178">
          <p15:clr>
            <a:srgbClr val="A4A3A4"/>
          </p15:clr>
        </p15:guide>
        <p15:guide id="7" pos="2881">
          <p15:clr>
            <a:srgbClr val="A4A3A4"/>
          </p15:clr>
        </p15:guide>
        <p15:guide id="8" pos="5575">
          <p15:clr>
            <a:srgbClr val="A4A3A4"/>
          </p15:clr>
        </p15:guide>
        <p15:guide id="9" orient="horz" pos="16">
          <p15:clr>
            <a:srgbClr val="A4A3A4"/>
          </p15:clr>
        </p15:guide>
        <p15:guide id="10" orient="horz" pos="671">
          <p15:clr>
            <a:srgbClr val="A4A3A4"/>
          </p15:clr>
        </p15:guide>
      </p15:sldGuideLst>
    </p:ext>
    <p:ext uri="{2D200454-40CA-4A62-9FC3-DE9A4176ACB9}">
      <p15:notesGuideLst xmlns:p15="http://schemas.microsoft.com/office/powerpoint/2012/main">
        <p15:guide id="1" orient="horz" pos="2928" userDrawn="1">
          <p15:clr>
            <a:srgbClr val="A4A3A4"/>
          </p15:clr>
        </p15:guide>
        <p15:guide id="2" pos="2190" userDrawn="1">
          <p15:clr>
            <a:srgbClr val="A4A3A4"/>
          </p15:clr>
        </p15:guide>
        <p15:guide id="3" pos="2209"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D5FF"/>
    <a:srgbClr val="A7ABFF"/>
    <a:srgbClr val="C5C8FF"/>
    <a:srgbClr val="004376"/>
    <a:srgbClr val="4F81BD"/>
    <a:srgbClr val="F3F4FF"/>
    <a:srgbClr val="E7E8FF"/>
    <a:srgbClr val="4C9BD3"/>
    <a:srgbClr val="FF0000"/>
    <a:srgbClr val="99FF3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8799B23B-EC83-4686-B30A-512413B5E67A}" styleName="Style léger 3 - Accentuatio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4B1156A-380E-4F78-BDF5-A606A8083BF9}" styleName="Style moyen 4 - Accentuation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Style moyen 4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Style moyen 4 - Accentuation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D083AE6-46FA-4A59-8FB0-9F97EB10719F}" styleName="Style léger 3 - Accentuation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Style léger 2 - Accentuation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EC20E35-A176-4012-BC5E-935CFFF8708E}" styleName="Style moyen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7AC3CCA-C797-4891-BE02-D94E43425B78}" styleName="Style moyen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Style léger 1 - Accentuation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Style léger 1 - Accentuation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048" autoAdjust="0"/>
    <p:restoredTop sz="95565" autoAdjust="0"/>
  </p:normalViewPr>
  <p:slideViewPr>
    <p:cSldViewPr snapToGrid="0" snapToObjects="1">
      <p:cViewPr varScale="1">
        <p:scale>
          <a:sx n="123" d="100"/>
          <a:sy n="123" d="100"/>
        </p:scale>
        <p:origin x="714" y="108"/>
      </p:cViewPr>
      <p:guideLst>
        <p:guide orient="horz" pos="3049"/>
        <p:guide orient="horz" pos="1880"/>
        <p:guide orient="horz" pos="89"/>
        <p:guide orient="horz" pos="480"/>
        <p:guide orient="horz" pos="719"/>
        <p:guide pos="178"/>
        <p:guide pos="2881"/>
        <p:guide pos="5575"/>
        <p:guide orient="horz" pos="16"/>
        <p:guide orient="horz" pos="67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20" d="100"/>
        <a:sy n="120" d="100"/>
      </p:scale>
      <p:origin x="0" y="10746"/>
    </p:cViewPr>
  </p:sorterViewPr>
  <p:notesViewPr>
    <p:cSldViewPr snapToGrid="0" snapToObjects="1" showGuides="1">
      <p:cViewPr varScale="1">
        <p:scale>
          <a:sx n="50" d="100"/>
          <a:sy n="50" d="100"/>
        </p:scale>
        <p:origin x="-2952" y="-96"/>
      </p:cViewPr>
      <p:guideLst>
        <p:guide orient="horz" pos="2928"/>
        <p:guide pos="2190"/>
        <p:guide pos="2209"/>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openxmlformats.org/officeDocument/2006/relationships/customXml" Target="../customXml/item4.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2"/>
            <a:ext cx="3037840" cy="464820"/>
          </a:xfrm>
          <a:prstGeom prst="rect">
            <a:avLst/>
          </a:prstGeom>
        </p:spPr>
        <p:txBody>
          <a:bodyPr vert="horz" lIns="90577" tIns="45289" rIns="90577" bIns="45289" rtlCol="0"/>
          <a:lstStyle>
            <a:lvl1pPr algn="l">
              <a:defRPr sz="1200"/>
            </a:lvl1pPr>
          </a:lstStyle>
          <a:p>
            <a:endParaRPr lang="en-US" dirty="0"/>
          </a:p>
        </p:txBody>
      </p:sp>
      <p:sp>
        <p:nvSpPr>
          <p:cNvPr id="3" name="Date Placeholder 2"/>
          <p:cNvSpPr>
            <a:spLocks noGrp="1"/>
          </p:cNvSpPr>
          <p:nvPr>
            <p:ph type="dt" sz="quarter" idx="1"/>
          </p:nvPr>
        </p:nvSpPr>
        <p:spPr>
          <a:xfrm>
            <a:off x="3970940" y="2"/>
            <a:ext cx="3037840" cy="464820"/>
          </a:xfrm>
          <a:prstGeom prst="rect">
            <a:avLst/>
          </a:prstGeom>
        </p:spPr>
        <p:txBody>
          <a:bodyPr vert="horz" lIns="90577" tIns="45289" rIns="90577" bIns="45289" rtlCol="0"/>
          <a:lstStyle>
            <a:lvl1pPr algn="r">
              <a:defRPr sz="1200"/>
            </a:lvl1pPr>
          </a:lstStyle>
          <a:p>
            <a:fld id="{4FCF4903-D1A4-F14A-B207-A0D2CC9D4B8B}" type="datetimeFigureOut">
              <a:rPr lang="en-US" smtClean="0"/>
              <a:t>12/21/2015</a:t>
            </a:fld>
            <a:endParaRPr lang="en-US" dirty="0"/>
          </a:p>
        </p:txBody>
      </p:sp>
      <p:sp>
        <p:nvSpPr>
          <p:cNvPr id="4" name="Footer Placeholder 3"/>
          <p:cNvSpPr>
            <a:spLocks noGrp="1"/>
          </p:cNvSpPr>
          <p:nvPr>
            <p:ph type="ftr" sz="quarter" idx="2"/>
          </p:nvPr>
        </p:nvSpPr>
        <p:spPr>
          <a:xfrm>
            <a:off x="1" y="8829968"/>
            <a:ext cx="3037840" cy="464820"/>
          </a:xfrm>
          <a:prstGeom prst="rect">
            <a:avLst/>
          </a:prstGeom>
        </p:spPr>
        <p:txBody>
          <a:bodyPr vert="horz" lIns="90577" tIns="45289" rIns="90577" bIns="45289"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0940" y="8829968"/>
            <a:ext cx="3037840" cy="464820"/>
          </a:xfrm>
          <a:prstGeom prst="rect">
            <a:avLst/>
          </a:prstGeom>
        </p:spPr>
        <p:txBody>
          <a:bodyPr vert="horz" lIns="90577" tIns="45289" rIns="90577" bIns="45289" rtlCol="0" anchor="b"/>
          <a:lstStyle>
            <a:lvl1pPr algn="r">
              <a:defRPr sz="1200"/>
            </a:lvl1pPr>
          </a:lstStyle>
          <a:p>
            <a:fld id="{B5DD393E-432A-C040-A9FC-9C0644B7F7DE}" type="slidenum">
              <a:rPr lang="en-US" smtClean="0"/>
              <a:t>‹N°›</a:t>
            </a:fld>
            <a:endParaRPr lang="en-US" dirty="0"/>
          </a:p>
        </p:txBody>
      </p:sp>
    </p:spTree>
    <p:extLst>
      <p:ext uri="{BB962C8B-B14F-4D97-AF65-F5344CB8AC3E}">
        <p14:creationId xmlns:p14="http://schemas.microsoft.com/office/powerpoint/2010/main" val="13172957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2"/>
            <a:ext cx="3037840" cy="464820"/>
          </a:xfrm>
          <a:prstGeom prst="rect">
            <a:avLst/>
          </a:prstGeom>
        </p:spPr>
        <p:txBody>
          <a:bodyPr vert="horz" lIns="90577" tIns="45289" rIns="90577" bIns="45289" rtlCol="0"/>
          <a:lstStyle>
            <a:lvl1pPr algn="l">
              <a:defRPr sz="1200"/>
            </a:lvl1pPr>
          </a:lstStyle>
          <a:p>
            <a:endParaRPr lang="de-DE" dirty="0"/>
          </a:p>
        </p:txBody>
      </p:sp>
      <p:sp>
        <p:nvSpPr>
          <p:cNvPr id="3" name="Datumsplatzhalter 2"/>
          <p:cNvSpPr>
            <a:spLocks noGrp="1"/>
          </p:cNvSpPr>
          <p:nvPr>
            <p:ph type="dt" idx="1"/>
          </p:nvPr>
        </p:nvSpPr>
        <p:spPr>
          <a:xfrm>
            <a:off x="3970940" y="2"/>
            <a:ext cx="3037840" cy="464820"/>
          </a:xfrm>
          <a:prstGeom prst="rect">
            <a:avLst/>
          </a:prstGeom>
        </p:spPr>
        <p:txBody>
          <a:bodyPr vert="horz" lIns="90577" tIns="45289" rIns="90577" bIns="45289" rtlCol="0"/>
          <a:lstStyle>
            <a:lvl1pPr algn="r">
              <a:defRPr sz="1200"/>
            </a:lvl1pPr>
          </a:lstStyle>
          <a:p>
            <a:fld id="{BC5B4241-C98F-4766-9E25-5F8403374385}" type="datetimeFigureOut">
              <a:rPr lang="de-DE" smtClean="0"/>
              <a:t>21.12.2015</a:t>
            </a:fld>
            <a:endParaRPr lang="de-DE" dirty="0"/>
          </a:p>
        </p:txBody>
      </p:sp>
      <p:sp>
        <p:nvSpPr>
          <p:cNvPr id="4" name="Folienbildplatzhalter 3"/>
          <p:cNvSpPr>
            <a:spLocks noGrp="1" noRot="1" noChangeAspect="1"/>
          </p:cNvSpPr>
          <p:nvPr>
            <p:ph type="sldImg" idx="2"/>
          </p:nvPr>
        </p:nvSpPr>
        <p:spPr>
          <a:xfrm>
            <a:off x="406400" y="695325"/>
            <a:ext cx="6197600" cy="3487738"/>
          </a:xfrm>
          <a:prstGeom prst="rect">
            <a:avLst/>
          </a:prstGeom>
          <a:noFill/>
          <a:ln w="12700">
            <a:solidFill>
              <a:prstClr val="black"/>
            </a:solidFill>
          </a:ln>
        </p:spPr>
        <p:txBody>
          <a:bodyPr vert="horz" lIns="90577" tIns="45289" rIns="90577" bIns="45289" rtlCol="0" anchor="ctr"/>
          <a:lstStyle/>
          <a:p>
            <a:endParaRPr lang="de-DE" dirty="0"/>
          </a:p>
        </p:txBody>
      </p:sp>
      <p:sp>
        <p:nvSpPr>
          <p:cNvPr id="5" name="Notizenplatzhalter 4"/>
          <p:cNvSpPr>
            <a:spLocks noGrp="1"/>
          </p:cNvSpPr>
          <p:nvPr>
            <p:ph type="body" sz="quarter" idx="3"/>
          </p:nvPr>
        </p:nvSpPr>
        <p:spPr>
          <a:xfrm>
            <a:off x="701041" y="4415790"/>
            <a:ext cx="5608320" cy="4183380"/>
          </a:xfrm>
          <a:prstGeom prst="rect">
            <a:avLst/>
          </a:prstGeom>
        </p:spPr>
        <p:txBody>
          <a:bodyPr vert="horz" lIns="90577" tIns="45289" rIns="90577" bIns="45289" rtlCol="0"/>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6" name="Fußzeilenplatzhalter 5"/>
          <p:cNvSpPr>
            <a:spLocks noGrp="1"/>
          </p:cNvSpPr>
          <p:nvPr>
            <p:ph type="ftr" sz="quarter" idx="4"/>
          </p:nvPr>
        </p:nvSpPr>
        <p:spPr>
          <a:xfrm>
            <a:off x="1" y="8829968"/>
            <a:ext cx="3037840" cy="464820"/>
          </a:xfrm>
          <a:prstGeom prst="rect">
            <a:avLst/>
          </a:prstGeom>
        </p:spPr>
        <p:txBody>
          <a:bodyPr vert="horz" lIns="90577" tIns="45289" rIns="90577" bIns="45289" rtlCol="0" anchor="b"/>
          <a:lstStyle>
            <a:lvl1pPr algn="l">
              <a:defRPr sz="1200"/>
            </a:lvl1pPr>
          </a:lstStyle>
          <a:p>
            <a:endParaRPr lang="de-DE" dirty="0"/>
          </a:p>
        </p:txBody>
      </p:sp>
      <p:sp>
        <p:nvSpPr>
          <p:cNvPr id="7" name="Foliennummernplatzhalter 6"/>
          <p:cNvSpPr>
            <a:spLocks noGrp="1"/>
          </p:cNvSpPr>
          <p:nvPr>
            <p:ph type="sldNum" sz="quarter" idx="5"/>
          </p:nvPr>
        </p:nvSpPr>
        <p:spPr>
          <a:xfrm>
            <a:off x="3970940" y="8829968"/>
            <a:ext cx="3037840" cy="464820"/>
          </a:xfrm>
          <a:prstGeom prst="rect">
            <a:avLst/>
          </a:prstGeom>
        </p:spPr>
        <p:txBody>
          <a:bodyPr vert="horz" lIns="90577" tIns="45289" rIns="90577" bIns="45289" rtlCol="0" anchor="b"/>
          <a:lstStyle>
            <a:lvl1pPr algn="r">
              <a:defRPr sz="1200"/>
            </a:lvl1pPr>
          </a:lstStyle>
          <a:p>
            <a:fld id="{3C26ED65-54EF-4DE1-A434-72CD553BB447}" type="slidenum">
              <a:rPr lang="de-DE" smtClean="0"/>
              <a:t>‹N°›</a:t>
            </a:fld>
            <a:endParaRPr lang="de-DE" dirty="0"/>
          </a:p>
        </p:txBody>
      </p:sp>
    </p:spTree>
    <p:extLst>
      <p:ext uri="{BB962C8B-B14F-4D97-AF65-F5344CB8AC3E}">
        <p14:creationId xmlns:p14="http://schemas.microsoft.com/office/powerpoint/2010/main" val="35621871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36041" indent="-283093" eaLnBrk="0" hangingPunct="0">
              <a:defRPr sz="1400">
                <a:solidFill>
                  <a:schemeClr val="tx1"/>
                </a:solidFill>
                <a:latin typeface="Arial" panose="020B0604020202020204" pitchFamily="34" charset="0"/>
                <a:ea typeface="ＭＳ Ｐゴシック" panose="020B0600070205080204" pitchFamily="34" charset="-128"/>
              </a:defRPr>
            </a:lvl2pPr>
            <a:lvl3pPr marL="1132370" indent="-226474" eaLnBrk="0" hangingPunct="0">
              <a:defRPr sz="1400">
                <a:solidFill>
                  <a:schemeClr val="tx1"/>
                </a:solidFill>
                <a:latin typeface="Arial" panose="020B0604020202020204" pitchFamily="34" charset="0"/>
                <a:ea typeface="ＭＳ Ｐゴシック" panose="020B0600070205080204" pitchFamily="34" charset="-128"/>
              </a:defRPr>
            </a:lvl3pPr>
            <a:lvl4pPr marL="1585318" indent="-226474" eaLnBrk="0" hangingPunct="0">
              <a:defRPr sz="1400">
                <a:solidFill>
                  <a:schemeClr val="tx1"/>
                </a:solidFill>
                <a:latin typeface="Arial" panose="020B0604020202020204" pitchFamily="34" charset="0"/>
                <a:ea typeface="ＭＳ Ｐゴシック" panose="020B0600070205080204" pitchFamily="34" charset="-128"/>
              </a:defRPr>
            </a:lvl4pPr>
            <a:lvl5pPr marL="2038266" indent="-226474" eaLnBrk="0" hangingPunct="0">
              <a:defRPr sz="1400">
                <a:solidFill>
                  <a:schemeClr val="tx1"/>
                </a:solidFill>
                <a:latin typeface="Arial" panose="020B0604020202020204" pitchFamily="34" charset="0"/>
                <a:ea typeface="ＭＳ Ｐゴシック" panose="020B0600070205080204" pitchFamily="34" charset="-128"/>
              </a:defRPr>
            </a:lvl5pPr>
            <a:lvl6pPr marL="2491214"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44162"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397110"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50058"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0DC2D5F1-E8F7-4A35-8262-7AB551301205}" type="slidenum">
              <a:rPr lang="en-US" altLang="en-US" sz="1200"/>
              <a:pPr/>
              <a:t>1</a:t>
            </a:fld>
            <a:endParaRPr lang="en-US" altLang="en-US" sz="1200"/>
          </a:p>
        </p:txBody>
      </p:sp>
    </p:spTree>
    <p:extLst>
      <p:ext uri="{BB962C8B-B14F-4D97-AF65-F5344CB8AC3E}">
        <p14:creationId xmlns:p14="http://schemas.microsoft.com/office/powerpoint/2010/main" val="12666472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36041" indent="-283093" eaLnBrk="0" hangingPunct="0">
              <a:defRPr sz="1400">
                <a:solidFill>
                  <a:schemeClr val="tx1"/>
                </a:solidFill>
                <a:latin typeface="Arial" panose="020B0604020202020204" pitchFamily="34" charset="0"/>
                <a:ea typeface="ＭＳ Ｐゴシック" panose="020B0600070205080204" pitchFamily="34" charset="-128"/>
              </a:defRPr>
            </a:lvl2pPr>
            <a:lvl3pPr marL="1132370" indent="-226474" eaLnBrk="0" hangingPunct="0">
              <a:defRPr sz="1400">
                <a:solidFill>
                  <a:schemeClr val="tx1"/>
                </a:solidFill>
                <a:latin typeface="Arial" panose="020B0604020202020204" pitchFamily="34" charset="0"/>
                <a:ea typeface="ＭＳ Ｐゴシック" panose="020B0600070205080204" pitchFamily="34" charset="-128"/>
              </a:defRPr>
            </a:lvl3pPr>
            <a:lvl4pPr marL="1585318" indent="-226474" eaLnBrk="0" hangingPunct="0">
              <a:defRPr sz="1400">
                <a:solidFill>
                  <a:schemeClr val="tx1"/>
                </a:solidFill>
                <a:latin typeface="Arial" panose="020B0604020202020204" pitchFamily="34" charset="0"/>
                <a:ea typeface="ＭＳ Ｐゴシック" panose="020B0600070205080204" pitchFamily="34" charset="-128"/>
              </a:defRPr>
            </a:lvl4pPr>
            <a:lvl5pPr marL="2038266" indent="-226474" eaLnBrk="0" hangingPunct="0">
              <a:defRPr sz="1400">
                <a:solidFill>
                  <a:schemeClr val="tx1"/>
                </a:solidFill>
                <a:latin typeface="Arial" panose="020B0604020202020204" pitchFamily="34" charset="0"/>
                <a:ea typeface="ＭＳ Ｐゴシック" panose="020B0600070205080204" pitchFamily="34" charset="-128"/>
              </a:defRPr>
            </a:lvl5pPr>
            <a:lvl6pPr marL="2491214"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44162"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397110"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50058"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2</a:t>
            </a:fld>
            <a:endParaRPr lang="en-US" altLang="en-US" sz="1200"/>
          </a:p>
        </p:txBody>
      </p:sp>
    </p:spTree>
    <p:extLst>
      <p:ext uri="{BB962C8B-B14F-4D97-AF65-F5344CB8AC3E}">
        <p14:creationId xmlns:p14="http://schemas.microsoft.com/office/powerpoint/2010/main" val="38855105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50180"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36041" indent="-283093" eaLnBrk="0" hangingPunct="0">
              <a:defRPr sz="1400">
                <a:solidFill>
                  <a:schemeClr val="tx1"/>
                </a:solidFill>
                <a:latin typeface="Arial" panose="020B0604020202020204" pitchFamily="34" charset="0"/>
                <a:ea typeface="ＭＳ Ｐゴシック" panose="020B0600070205080204" pitchFamily="34" charset="-128"/>
              </a:defRPr>
            </a:lvl2pPr>
            <a:lvl3pPr marL="1132370" indent="-226474" eaLnBrk="0" hangingPunct="0">
              <a:defRPr sz="1400">
                <a:solidFill>
                  <a:schemeClr val="tx1"/>
                </a:solidFill>
                <a:latin typeface="Arial" panose="020B0604020202020204" pitchFamily="34" charset="0"/>
                <a:ea typeface="ＭＳ Ｐゴシック" panose="020B0600070205080204" pitchFamily="34" charset="-128"/>
              </a:defRPr>
            </a:lvl3pPr>
            <a:lvl4pPr marL="1585318" indent="-226474" eaLnBrk="0" hangingPunct="0">
              <a:defRPr sz="1400">
                <a:solidFill>
                  <a:schemeClr val="tx1"/>
                </a:solidFill>
                <a:latin typeface="Arial" panose="020B0604020202020204" pitchFamily="34" charset="0"/>
                <a:ea typeface="ＭＳ Ｐゴシック" panose="020B0600070205080204" pitchFamily="34" charset="-128"/>
              </a:defRPr>
            </a:lvl4pPr>
            <a:lvl5pPr marL="2038266" indent="-226474" eaLnBrk="0" hangingPunct="0">
              <a:defRPr sz="1400">
                <a:solidFill>
                  <a:schemeClr val="tx1"/>
                </a:solidFill>
                <a:latin typeface="Arial" panose="020B0604020202020204" pitchFamily="34" charset="0"/>
                <a:ea typeface="ＭＳ Ｐゴシック" panose="020B0600070205080204" pitchFamily="34" charset="-128"/>
              </a:defRPr>
            </a:lvl5pPr>
            <a:lvl6pPr marL="2491214"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44162"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397110"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50058"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B9D49712-5491-4315-B1C4-B0196B1BBCDF}" type="slidenum">
              <a:rPr lang="en-US" altLang="en-US" sz="1200"/>
              <a:pPr/>
              <a:t>3</a:t>
            </a:fld>
            <a:endParaRPr lang="en-US" altLang="en-US" sz="1200"/>
          </a:p>
        </p:txBody>
      </p:sp>
    </p:spTree>
    <p:extLst>
      <p:ext uri="{BB962C8B-B14F-4D97-AF65-F5344CB8AC3E}">
        <p14:creationId xmlns:p14="http://schemas.microsoft.com/office/powerpoint/2010/main" val="2112702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36041" indent="-283093" eaLnBrk="0" hangingPunct="0">
              <a:defRPr sz="1400">
                <a:solidFill>
                  <a:schemeClr val="tx1"/>
                </a:solidFill>
                <a:latin typeface="Arial" panose="020B0604020202020204" pitchFamily="34" charset="0"/>
                <a:ea typeface="ＭＳ Ｐゴシック" panose="020B0600070205080204" pitchFamily="34" charset="-128"/>
              </a:defRPr>
            </a:lvl2pPr>
            <a:lvl3pPr marL="1132370" indent="-226474" eaLnBrk="0" hangingPunct="0">
              <a:defRPr sz="1400">
                <a:solidFill>
                  <a:schemeClr val="tx1"/>
                </a:solidFill>
                <a:latin typeface="Arial" panose="020B0604020202020204" pitchFamily="34" charset="0"/>
                <a:ea typeface="ＭＳ Ｐゴシック" panose="020B0600070205080204" pitchFamily="34" charset="-128"/>
              </a:defRPr>
            </a:lvl3pPr>
            <a:lvl4pPr marL="1585318" indent="-226474" eaLnBrk="0" hangingPunct="0">
              <a:defRPr sz="1400">
                <a:solidFill>
                  <a:schemeClr val="tx1"/>
                </a:solidFill>
                <a:latin typeface="Arial" panose="020B0604020202020204" pitchFamily="34" charset="0"/>
                <a:ea typeface="ＭＳ Ｐゴシック" panose="020B0600070205080204" pitchFamily="34" charset="-128"/>
              </a:defRPr>
            </a:lvl4pPr>
            <a:lvl5pPr marL="2038266" indent="-226474" eaLnBrk="0" hangingPunct="0">
              <a:defRPr sz="1400">
                <a:solidFill>
                  <a:schemeClr val="tx1"/>
                </a:solidFill>
                <a:latin typeface="Arial" panose="020B0604020202020204" pitchFamily="34" charset="0"/>
                <a:ea typeface="ＭＳ Ｐゴシック" panose="020B0600070205080204" pitchFamily="34" charset="-128"/>
              </a:defRPr>
            </a:lvl5pPr>
            <a:lvl6pPr marL="2491214"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44162"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397110"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50058"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4</a:t>
            </a:fld>
            <a:endParaRPr lang="en-US" altLang="en-US" sz="1200"/>
          </a:p>
        </p:txBody>
      </p:sp>
    </p:spTree>
    <p:extLst>
      <p:ext uri="{BB962C8B-B14F-4D97-AF65-F5344CB8AC3E}">
        <p14:creationId xmlns:p14="http://schemas.microsoft.com/office/powerpoint/2010/main" val="22074908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36041" indent="-283093" eaLnBrk="0" hangingPunct="0">
              <a:defRPr sz="1400">
                <a:solidFill>
                  <a:schemeClr val="tx1"/>
                </a:solidFill>
                <a:latin typeface="Arial" panose="020B0604020202020204" pitchFamily="34" charset="0"/>
                <a:ea typeface="ＭＳ Ｐゴシック" panose="020B0600070205080204" pitchFamily="34" charset="-128"/>
              </a:defRPr>
            </a:lvl2pPr>
            <a:lvl3pPr marL="1132370" indent="-226474" eaLnBrk="0" hangingPunct="0">
              <a:defRPr sz="1400">
                <a:solidFill>
                  <a:schemeClr val="tx1"/>
                </a:solidFill>
                <a:latin typeface="Arial" panose="020B0604020202020204" pitchFamily="34" charset="0"/>
                <a:ea typeface="ＭＳ Ｐゴシック" panose="020B0600070205080204" pitchFamily="34" charset="-128"/>
              </a:defRPr>
            </a:lvl3pPr>
            <a:lvl4pPr marL="1585318" indent="-226474" eaLnBrk="0" hangingPunct="0">
              <a:defRPr sz="1400">
                <a:solidFill>
                  <a:schemeClr val="tx1"/>
                </a:solidFill>
                <a:latin typeface="Arial" panose="020B0604020202020204" pitchFamily="34" charset="0"/>
                <a:ea typeface="ＭＳ Ｐゴシック" panose="020B0600070205080204" pitchFamily="34" charset="-128"/>
              </a:defRPr>
            </a:lvl4pPr>
            <a:lvl5pPr marL="2038266" indent="-226474" eaLnBrk="0" hangingPunct="0">
              <a:defRPr sz="1400">
                <a:solidFill>
                  <a:schemeClr val="tx1"/>
                </a:solidFill>
                <a:latin typeface="Arial" panose="020B0604020202020204" pitchFamily="34" charset="0"/>
                <a:ea typeface="ＭＳ Ｐゴシック" panose="020B0600070205080204" pitchFamily="34" charset="-128"/>
              </a:defRPr>
            </a:lvl5pPr>
            <a:lvl6pPr marL="2491214"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44162"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397110"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50058"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9</a:t>
            </a:fld>
            <a:endParaRPr lang="en-US" altLang="en-US" sz="1200"/>
          </a:p>
        </p:txBody>
      </p:sp>
    </p:spTree>
    <p:extLst>
      <p:ext uri="{BB962C8B-B14F-4D97-AF65-F5344CB8AC3E}">
        <p14:creationId xmlns:p14="http://schemas.microsoft.com/office/powerpoint/2010/main" val="20876117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7"/>
          <p:cNvSpPr>
            <a:spLocks noGrp="1" noChangeArrowheads="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36041" indent="-283093" eaLnBrk="0" hangingPunct="0">
              <a:defRPr sz="1400">
                <a:solidFill>
                  <a:schemeClr val="tx1"/>
                </a:solidFill>
                <a:latin typeface="Arial" panose="020B0604020202020204" pitchFamily="34" charset="0"/>
                <a:ea typeface="ＭＳ Ｐゴシック" panose="020B0600070205080204" pitchFamily="34" charset="-128"/>
              </a:defRPr>
            </a:lvl2pPr>
            <a:lvl3pPr marL="1132370" indent="-226474" eaLnBrk="0" hangingPunct="0">
              <a:defRPr sz="1400">
                <a:solidFill>
                  <a:schemeClr val="tx1"/>
                </a:solidFill>
                <a:latin typeface="Arial" panose="020B0604020202020204" pitchFamily="34" charset="0"/>
                <a:ea typeface="ＭＳ Ｐゴシック" panose="020B0600070205080204" pitchFamily="34" charset="-128"/>
              </a:defRPr>
            </a:lvl3pPr>
            <a:lvl4pPr marL="1585318" indent="-226474" eaLnBrk="0" hangingPunct="0">
              <a:defRPr sz="1400">
                <a:solidFill>
                  <a:schemeClr val="tx1"/>
                </a:solidFill>
                <a:latin typeface="Arial" panose="020B0604020202020204" pitchFamily="34" charset="0"/>
                <a:ea typeface="ＭＳ Ｐゴシック" panose="020B0600070205080204" pitchFamily="34" charset="-128"/>
              </a:defRPr>
            </a:lvl4pPr>
            <a:lvl5pPr marL="2038266" indent="-226474" eaLnBrk="0" hangingPunct="0">
              <a:defRPr sz="1400">
                <a:solidFill>
                  <a:schemeClr val="tx1"/>
                </a:solidFill>
                <a:latin typeface="Arial" panose="020B0604020202020204" pitchFamily="34" charset="0"/>
                <a:ea typeface="ＭＳ Ｐゴシック" panose="020B0600070205080204" pitchFamily="34" charset="-128"/>
              </a:defRPr>
            </a:lvl5pPr>
            <a:lvl6pPr marL="2491214"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44162"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397110"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50058"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3BA47C35-6674-4405-BD11-53F5395FFC98}" type="slidenum">
              <a:rPr lang="fr-FR" altLang="en-US" sz="1200"/>
              <a:pPr/>
              <a:t>17</a:t>
            </a:fld>
            <a:endParaRPr lang="fr-FR" altLang="en-US" sz="1200"/>
          </a:p>
        </p:txBody>
      </p:sp>
      <p:sp>
        <p:nvSpPr>
          <p:cNvPr id="51203" name="Rectangle 2"/>
          <p:cNvSpPr>
            <a:spLocks noGrp="1" noRot="1" noChangeAspect="1" noChangeArrowheads="1" noTextEdit="1"/>
          </p:cNvSpPr>
          <p:nvPr>
            <p:ph type="sldImg"/>
          </p:nvPr>
        </p:nvSpPr>
        <p:spPr bwMode="auto">
          <a:xfrm>
            <a:off x="-311150" y="223838"/>
            <a:ext cx="7621588" cy="4287837"/>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z="900"/>
          </a:p>
        </p:txBody>
      </p:sp>
      <p:sp>
        <p:nvSpPr>
          <p:cNvPr id="3575812" name="Text Box 4"/>
          <p:cNvSpPr txBox="1">
            <a:spLocks noChangeArrowheads="1"/>
          </p:cNvSpPr>
          <p:nvPr/>
        </p:nvSpPr>
        <p:spPr bwMode="auto">
          <a:xfrm>
            <a:off x="673716" y="8033576"/>
            <a:ext cx="5656689" cy="1075448"/>
          </a:xfrm>
          <a:prstGeom prst="rect">
            <a:avLst/>
          </a:prstGeom>
          <a:noFill/>
          <a:ln w="6350" algn="ctr">
            <a:solidFill>
              <a:srgbClr val="0000FF"/>
            </a:solidFill>
            <a:miter lim="800000"/>
            <a:headEnd/>
            <a:tailEnd/>
          </a:ln>
          <a:effectLst/>
        </p:spPr>
        <p:txBody>
          <a:bodyPr lIns="92601" tIns="46299" rIns="92601" bIns="46299"/>
          <a:lstStyle/>
          <a:p>
            <a:pPr defTabSz="925637" eaLnBrk="0" hangingPunct="0">
              <a:spcBef>
                <a:spcPct val="50000"/>
              </a:spcBef>
              <a:defRPr/>
            </a:pPr>
            <a:r>
              <a:rPr kumimoji="1" lang="fr-FR" sz="1300" dirty="0">
                <a:ea typeface="ＭＳ Ｐゴシック"/>
                <a:cs typeface="ＭＳ Ｐゴシック"/>
              </a:rPr>
              <a:t>Notes pédagogiques :</a:t>
            </a:r>
            <a:endParaRPr lang="fr-FR" sz="1300" dirty="0">
              <a:effectLst>
                <a:outerShdw blurRad="38100" dist="38100" dir="2700000" algn="tl">
                  <a:srgbClr val="C0C0C0"/>
                </a:outerShdw>
              </a:effectLst>
              <a:ea typeface="ＭＳ Ｐゴシック"/>
              <a:cs typeface="ＭＳ Ｐゴシック"/>
            </a:endParaRPr>
          </a:p>
          <a:p>
            <a:pPr defTabSz="925637">
              <a:spcBef>
                <a:spcPct val="50000"/>
              </a:spcBef>
              <a:defRPr/>
            </a:pPr>
            <a:r>
              <a:rPr lang="fr-FR" sz="1000" dirty="0">
                <a:ea typeface="ＭＳ Ｐゴシック"/>
                <a:cs typeface="ＭＳ Ｐゴシック"/>
              </a:rPr>
              <a:t> </a:t>
            </a:r>
          </a:p>
          <a:p>
            <a:pPr defTabSz="925637">
              <a:spcBef>
                <a:spcPct val="50000"/>
              </a:spcBef>
              <a:defRPr/>
            </a:pPr>
            <a:endParaRPr lang="fr-FR" sz="1300" dirty="0">
              <a:effectLst>
                <a:outerShdw blurRad="38100" dist="38100" dir="2700000" algn="tl">
                  <a:srgbClr val="C0C0C0"/>
                </a:outerShdw>
              </a:effectLst>
              <a:ea typeface="ＭＳ Ｐゴシック"/>
              <a:cs typeface="ＭＳ Ｐゴシック"/>
            </a:endParaRPr>
          </a:p>
          <a:p>
            <a:pPr defTabSz="925637">
              <a:spcBef>
                <a:spcPct val="50000"/>
              </a:spcBef>
              <a:defRPr/>
            </a:pPr>
            <a:endParaRPr lang="fr-FR" sz="1100" dirty="0">
              <a:effectLst>
                <a:outerShdw blurRad="38100" dist="38100" dir="2700000" algn="tl">
                  <a:srgbClr val="C0C0C0"/>
                </a:outerShdw>
              </a:effectLst>
              <a:ea typeface="ＭＳ Ｐゴシック"/>
              <a:cs typeface="ＭＳ Ｐゴシック"/>
            </a:endParaRPr>
          </a:p>
          <a:p>
            <a:pPr defTabSz="925637">
              <a:spcBef>
                <a:spcPct val="50000"/>
              </a:spcBef>
              <a:defRPr/>
            </a:pPr>
            <a:endParaRPr lang="fr-FR" sz="1100" dirty="0">
              <a:effectLst>
                <a:outerShdw blurRad="38100" dist="38100" dir="2700000" algn="tl">
                  <a:srgbClr val="C0C0C0"/>
                </a:outerShdw>
              </a:effectLst>
              <a:ea typeface="ＭＳ Ｐゴシック"/>
              <a:cs typeface="ＭＳ Ｐゴシック"/>
            </a:endParaRPr>
          </a:p>
        </p:txBody>
      </p:sp>
    </p:spTree>
    <p:extLst>
      <p:ext uri="{BB962C8B-B14F-4D97-AF65-F5344CB8AC3E}">
        <p14:creationId xmlns:p14="http://schemas.microsoft.com/office/powerpoint/2010/main" val="3077639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7"/>
          <p:cNvSpPr>
            <a:spLocks noGrp="1" noChangeArrowheads="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36041" indent="-283093" eaLnBrk="0" hangingPunct="0">
              <a:defRPr sz="1400">
                <a:solidFill>
                  <a:schemeClr val="tx1"/>
                </a:solidFill>
                <a:latin typeface="Arial" panose="020B0604020202020204" pitchFamily="34" charset="0"/>
                <a:ea typeface="ＭＳ Ｐゴシック" panose="020B0600070205080204" pitchFamily="34" charset="-128"/>
              </a:defRPr>
            </a:lvl2pPr>
            <a:lvl3pPr marL="1132370" indent="-226474" eaLnBrk="0" hangingPunct="0">
              <a:defRPr sz="1400">
                <a:solidFill>
                  <a:schemeClr val="tx1"/>
                </a:solidFill>
                <a:latin typeface="Arial" panose="020B0604020202020204" pitchFamily="34" charset="0"/>
                <a:ea typeface="ＭＳ Ｐゴシック" panose="020B0600070205080204" pitchFamily="34" charset="-128"/>
              </a:defRPr>
            </a:lvl3pPr>
            <a:lvl4pPr marL="1585318" indent="-226474" eaLnBrk="0" hangingPunct="0">
              <a:defRPr sz="1400">
                <a:solidFill>
                  <a:schemeClr val="tx1"/>
                </a:solidFill>
                <a:latin typeface="Arial" panose="020B0604020202020204" pitchFamily="34" charset="0"/>
                <a:ea typeface="ＭＳ Ｐゴシック" panose="020B0600070205080204" pitchFamily="34" charset="-128"/>
              </a:defRPr>
            </a:lvl4pPr>
            <a:lvl5pPr marL="2038266" indent="-226474" eaLnBrk="0" hangingPunct="0">
              <a:defRPr sz="1400">
                <a:solidFill>
                  <a:schemeClr val="tx1"/>
                </a:solidFill>
                <a:latin typeface="Arial" panose="020B0604020202020204" pitchFamily="34" charset="0"/>
                <a:ea typeface="ＭＳ Ｐゴシック" panose="020B0600070205080204" pitchFamily="34" charset="-128"/>
              </a:defRPr>
            </a:lvl5pPr>
            <a:lvl6pPr marL="2491214"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44162"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397110"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50058"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3BA47C35-6674-4405-BD11-53F5395FFC98}" type="slidenum">
              <a:rPr lang="fr-FR" altLang="en-US" sz="1200"/>
              <a:pPr/>
              <a:t>21</a:t>
            </a:fld>
            <a:endParaRPr lang="fr-FR" altLang="en-US" sz="1200"/>
          </a:p>
        </p:txBody>
      </p:sp>
      <p:sp>
        <p:nvSpPr>
          <p:cNvPr id="51203" name="Rectangle 2"/>
          <p:cNvSpPr>
            <a:spLocks noGrp="1" noRot="1" noChangeAspect="1" noChangeArrowheads="1" noTextEdit="1"/>
          </p:cNvSpPr>
          <p:nvPr>
            <p:ph type="sldImg"/>
          </p:nvPr>
        </p:nvSpPr>
        <p:spPr bwMode="auto">
          <a:xfrm>
            <a:off x="-311150" y="223838"/>
            <a:ext cx="7621588" cy="4287837"/>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z="900"/>
          </a:p>
        </p:txBody>
      </p:sp>
      <p:sp>
        <p:nvSpPr>
          <p:cNvPr id="3575812" name="Text Box 4"/>
          <p:cNvSpPr txBox="1">
            <a:spLocks noChangeArrowheads="1"/>
          </p:cNvSpPr>
          <p:nvPr/>
        </p:nvSpPr>
        <p:spPr bwMode="auto">
          <a:xfrm>
            <a:off x="673716" y="8033576"/>
            <a:ext cx="5656689" cy="1075448"/>
          </a:xfrm>
          <a:prstGeom prst="rect">
            <a:avLst/>
          </a:prstGeom>
          <a:noFill/>
          <a:ln w="6350" algn="ctr">
            <a:solidFill>
              <a:srgbClr val="0000FF"/>
            </a:solidFill>
            <a:miter lim="800000"/>
            <a:headEnd/>
            <a:tailEnd/>
          </a:ln>
          <a:effectLst/>
        </p:spPr>
        <p:txBody>
          <a:bodyPr lIns="92601" tIns="46299" rIns="92601" bIns="46299"/>
          <a:lstStyle/>
          <a:p>
            <a:pPr defTabSz="925637" eaLnBrk="0" hangingPunct="0">
              <a:spcBef>
                <a:spcPct val="50000"/>
              </a:spcBef>
              <a:defRPr/>
            </a:pPr>
            <a:r>
              <a:rPr kumimoji="1" lang="fr-FR" sz="1300" dirty="0">
                <a:ea typeface="ＭＳ Ｐゴシック"/>
                <a:cs typeface="ＭＳ Ｐゴシック"/>
              </a:rPr>
              <a:t>Notes pédagogiques :</a:t>
            </a:r>
            <a:endParaRPr lang="fr-FR" sz="1300" dirty="0">
              <a:effectLst>
                <a:outerShdw blurRad="38100" dist="38100" dir="2700000" algn="tl">
                  <a:srgbClr val="C0C0C0"/>
                </a:outerShdw>
              </a:effectLst>
              <a:ea typeface="ＭＳ Ｐゴシック"/>
              <a:cs typeface="ＭＳ Ｐゴシック"/>
            </a:endParaRPr>
          </a:p>
          <a:p>
            <a:pPr defTabSz="925637">
              <a:spcBef>
                <a:spcPct val="50000"/>
              </a:spcBef>
              <a:defRPr/>
            </a:pPr>
            <a:r>
              <a:rPr lang="fr-FR" sz="1000" dirty="0">
                <a:ea typeface="ＭＳ Ｐゴシック"/>
                <a:cs typeface="ＭＳ Ｐゴシック"/>
              </a:rPr>
              <a:t> </a:t>
            </a:r>
          </a:p>
          <a:p>
            <a:pPr defTabSz="925637">
              <a:spcBef>
                <a:spcPct val="50000"/>
              </a:spcBef>
              <a:defRPr/>
            </a:pPr>
            <a:endParaRPr lang="fr-FR" sz="1300" dirty="0">
              <a:effectLst>
                <a:outerShdw blurRad="38100" dist="38100" dir="2700000" algn="tl">
                  <a:srgbClr val="C0C0C0"/>
                </a:outerShdw>
              </a:effectLst>
              <a:ea typeface="ＭＳ Ｐゴシック"/>
              <a:cs typeface="ＭＳ Ｐゴシック"/>
            </a:endParaRPr>
          </a:p>
          <a:p>
            <a:pPr defTabSz="925637">
              <a:spcBef>
                <a:spcPct val="50000"/>
              </a:spcBef>
              <a:defRPr/>
            </a:pPr>
            <a:endParaRPr lang="fr-FR" sz="1100" dirty="0">
              <a:effectLst>
                <a:outerShdw blurRad="38100" dist="38100" dir="2700000" algn="tl">
                  <a:srgbClr val="C0C0C0"/>
                </a:outerShdw>
              </a:effectLst>
              <a:ea typeface="ＭＳ Ｐゴシック"/>
              <a:cs typeface="ＭＳ Ｐゴシック"/>
            </a:endParaRPr>
          </a:p>
          <a:p>
            <a:pPr defTabSz="925637">
              <a:spcBef>
                <a:spcPct val="50000"/>
              </a:spcBef>
              <a:defRPr/>
            </a:pPr>
            <a:endParaRPr lang="fr-FR" sz="1100" dirty="0">
              <a:effectLst>
                <a:outerShdw blurRad="38100" dist="38100" dir="2700000" algn="tl">
                  <a:srgbClr val="C0C0C0"/>
                </a:outerShdw>
              </a:effectLst>
              <a:ea typeface="ＭＳ Ｐゴシック"/>
              <a:cs typeface="ＭＳ Ｐゴシック"/>
            </a:endParaRPr>
          </a:p>
        </p:txBody>
      </p:sp>
    </p:spTree>
    <p:extLst>
      <p:ext uri="{BB962C8B-B14F-4D97-AF65-F5344CB8AC3E}">
        <p14:creationId xmlns:p14="http://schemas.microsoft.com/office/powerpoint/2010/main" val="35996753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36041" indent="-283093" eaLnBrk="0" hangingPunct="0">
              <a:defRPr sz="1400">
                <a:solidFill>
                  <a:schemeClr val="tx1"/>
                </a:solidFill>
                <a:latin typeface="Arial" panose="020B0604020202020204" pitchFamily="34" charset="0"/>
                <a:ea typeface="ＭＳ Ｐゴシック" panose="020B0600070205080204" pitchFamily="34" charset="-128"/>
              </a:defRPr>
            </a:lvl2pPr>
            <a:lvl3pPr marL="1132370" indent="-226474" eaLnBrk="0" hangingPunct="0">
              <a:defRPr sz="1400">
                <a:solidFill>
                  <a:schemeClr val="tx1"/>
                </a:solidFill>
                <a:latin typeface="Arial" panose="020B0604020202020204" pitchFamily="34" charset="0"/>
                <a:ea typeface="ＭＳ Ｐゴシック" panose="020B0600070205080204" pitchFamily="34" charset="-128"/>
              </a:defRPr>
            </a:lvl3pPr>
            <a:lvl4pPr marL="1585318" indent="-226474" eaLnBrk="0" hangingPunct="0">
              <a:defRPr sz="1400">
                <a:solidFill>
                  <a:schemeClr val="tx1"/>
                </a:solidFill>
                <a:latin typeface="Arial" panose="020B0604020202020204" pitchFamily="34" charset="0"/>
                <a:ea typeface="ＭＳ Ｐゴシック" panose="020B0600070205080204" pitchFamily="34" charset="-128"/>
              </a:defRPr>
            </a:lvl4pPr>
            <a:lvl5pPr marL="2038266" indent="-226474" eaLnBrk="0" hangingPunct="0">
              <a:defRPr sz="1400">
                <a:solidFill>
                  <a:schemeClr val="tx1"/>
                </a:solidFill>
                <a:latin typeface="Arial" panose="020B0604020202020204" pitchFamily="34" charset="0"/>
                <a:ea typeface="ＭＳ Ｐゴシック" panose="020B0600070205080204" pitchFamily="34" charset="-128"/>
              </a:defRPr>
            </a:lvl5pPr>
            <a:lvl6pPr marL="2491214"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44162"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397110"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50058"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22</a:t>
            </a:fld>
            <a:endParaRPr lang="en-US" altLang="en-US" sz="1200"/>
          </a:p>
        </p:txBody>
      </p:sp>
    </p:spTree>
    <p:extLst>
      <p:ext uri="{BB962C8B-B14F-4D97-AF65-F5344CB8AC3E}">
        <p14:creationId xmlns:p14="http://schemas.microsoft.com/office/powerpoint/2010/main" val="23828853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4" name="Titre 1"/>
          <p:cNvSpPr txBox="1">
            <a:spLocks/>
          </p:cNvSpPr>
          <p:nvPr userDrawn="1"/>
        </p:nvSpPr>
        <p:spPr>
          <a:xfrm>
            <a:off x="2635172" y="1556792"/>
            <a:ext cx="6294515" cy="1899915"/>
          </a:xfrm>
          <a:prstGeom prst="rect">
            <a:avLst/>
          </a:prstGeom>
        </p:spPr>
        <p:txBody>
          <a:bodyPr vert="horz" lIns="91440" tIns="45720" rIns="91440" bIns="45720" rtlCol="0" anchor="ctr">
            <a:normAutofit/>
          </a:bodyPr>
          <a:lst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a:lstStyle>
          <a:p>
            <a:pPr algn="ctr"/>
            <a:endParaRPr lang="en-US" sz="3200" b="1" dirty="0">
              <a:solidFill>
                <a:srgbClr val="0070C0"/>
              </a:solidFill>
              <a:latin typeface="Arial" charset="0"/>
              <a:cs typeface="Arial" charset="0"/>
            </a:endParaRPr>
          </a:p>
        </p:txBody>
      </p:sp>
      <p:sp>
        <p:nvSpPr>
          <p:cNvPr id="6" name="Rectangle 5"/>
          <p:cNvSpPr/>
          <p:nvPr userDrawn="1"/>
        </p:nvSpPr>
        <p:spPr>
          <a:xfrm>
            <a:off x="285750" y="214313"/>
            <a:ext cx="8643938" cy="214312"/>
          </a:xfrm>
          <a:prstGeom prst="rect">
            <a:avLst/>
          </a:prstGeom>
          <a:solidFill>
            <a:srgbClr val="4F81BD"/>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ndParaRPr>
          </a:p>
        </p:txBody>
      </p:sp>
      <p:pic>
        <p:nvPicPr>
          <p:cNvPr id="2" name="Imag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5750" y="579967"/>
            <a:ext cx="1201016" cy="1207113"/>
          </a:xfrm>
          <a:prstGeom prst="rect">
            <a:avLst/>
          </a:prstGeom>
        </p:spPr>
      </p:pic>
    </p:spTree>
    <p:extLst>
      <p:ext uri="{BB962C8B-B14F-4D97-AF65-F5344CB8AC3E}">
        <p14:creationId xmlns:p14="http://schemas.microsoft.com/office/powerpoint/2010/main" val="3939616126"/>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5" name="TextBox 4"/>
          <p:cNvSpPr txBox="1"/>
          <p:nvPr/>
        </p:nvSpPr>
        <p:spPr>
          <a:xfrm>
            <a:off x="2027237" y="449794"/>
            <a:ext cx="6792912" cy="486965"/>
          </a:xfrm>
          <a:prstGeom prst="rect">
            <a:avLst/>
          </a:prstGeom>
          <a:noFill/>
        </p:spPr>
        <p:txBody>
          <a:bodyPr vert="horz" wrap="square" lIns="0" tIns="0" rIns="0" bIns="0" rtlCol="0" anchor="b" anchorCtr="0">
            <a:noAutofit/>
          </a:bodyPr>
          <a:lstStyle/>
          <a:p>
            <a:pPr defTabSz="389626"/>
            <a:r>
              <a:rPr lang="fr-FR" b="1" kern="1200" dirty="0" smtClean="0">
                <a:solidFill>
                  <a:srgbClr val="0070C0"/>
                </a:solidFill>
                <a:latin typeface="Calibri" pitchFamily="34" charset="0"/>
                <a:ea typeface="+mn-ea"/>
                <a:cs typeface="+mn-cs"/>
              </a:rPr>
              <a:t>Agenda de la réunion</a:t>
            </a:r>
            <a:endParaRPr lang="fr-FR" b="1" kern="1200" dirty="0">
              <a:solidFill>
                <a:srgbClr val="0070C0"/>
              </a:solidFill>
              <a:latin typeface="Calibri" pitchFamily="34" charset="0"/>
              <a:ea typeface="+mn-ea"/>
              <a:cs typeface="+mn-cs"/>
            </a:endParaRPr>
          </a:p>
        </p:txBody>
      </p:sp>
      <p:sp>
        <p:nvSpPr>
          <p:cNvPr id="7" name="Text Placeholder 7"/>
          <p:cNvSpPr>
            <a:spLocks noGrp="1"/>
          </p:cNvSpPr>
          <p:nvPr>
            <p:ph type="body" sz="quarter" idx="11"/>
          </p:nvPr>
        </p:nvSpPr>
        <p:spPr>
          <a:xfrm>
            <a:off x="2027238" y="1148415"/>
            <a:ext cx="6792913" cy="3334133"/>
          </a:xfrm>
        </p:spPr>
        <p:txBody>
          <a:bodyPr/>
          <a:lstStyle>
            <a:lvl1pPr marL="0" marR="0" indent="0" algn="l" defTabSz="389626" rtl="0" eaLnBrk="1" fontAlgn="auto" latinLnBrk="0" hangingPunct="1">
              <a:lnSpc>
                <a:spcPct val="100000"/>
              </a:lnSpc>
              <a:spcBef>
                <a:spcPts val="1023"/>
              </a:spcBef>
              <a:spcAft>
                <a:spcPts val="256"/>
              </a:spcAft>
              <a:buClr>
                <a:prstClr val="white"/>
              </a:buClr>
              <a:buSzPct val="25000"/>
              <a:buFont typeface="Verdana" pitchFamily="34" charset="0"/>
              <a:buNone/>
              <a:tabLst/>
              <a:defRPr sz="1400"/>
            </a:lvl1pPr>
            <a:lvl2pPr marL="151521" marR="0" indent="-151521" algn="l" defTabSz="389626" rtl="0" eaLnBrk="1" fontAlgn="auto" latinLnBrk="0" hangingPunct="1">
              <a:lnSpc>
                <a:spcPct val="100000"/>
              </a:lnSpc>
              <a:spcBef>
                <a:spcPts val="256"/>
              </a:spcBef>
              <a:spcAft>
                <a:spcPts val="256"/>
              </a:spcAft>
              <a:buClr>
                <a:srgbClr val="A71930"/>
              </a:buClr>
              <a:buSzTx/>
              <a:buFont typeface="Arial" pitchFamily="34" charset="0"/>
              <a:buChar char="•"/>
              <a:tabLst/>
              <a:defRPr sz="1400"/>
            </a:lvl2pPr>
            <a:lvl3pPr marL="308454" marR="0" indent="-154227" algn="l" defTabSz="438329" rtl="0" eaLnBrk="1" fontAlgn="auto" latinLnBrk="0" hangingPunct="1">
              <a:lnSpc>
                <a:spcPct val="100000"/>
              </a:lnSpc>
              <a:spcBef>
                <a:spcPts val="256"/>
              </a:spcBef>
              <a:spcAft>
                <a:spcPts val="256"/>
              </a:spcAft>
              <a:buClr>
                <a:srgbClr val="A71930"/>
              </a:buClr>
              <a:buSzTx/>
              <a:buFont typeface="Calibri" pitchFamily="34" charset="0"/>
              <a:buChar char="−"/>
              <a:tabLst/>
              <a:defRPr lang="en-US" sz="1400" kern="1200" noProof="0" dirty="0" smtClean="0">
                <a:solidFill>
                  <a:srgbClr val="4D4F53"/>
                </a:solidFill>
                <a:latin typeface="+mn-lt"/>
                <a:ea typeface="+mn-ea"/>
                <a:cs typeface="+mn-cs"/>
              </a:defRPr>
            </a:lvl3pPr>
            <a:lvl4pPr marL="457269" marR="0" indent="-137992" algn="l" defTabSz="389626" rtl="0" eaLnBrk="1" fontAlgn="auto" latinLnBrk="0" hangingPunct="1">
              <a:lnSpc>
                <a:spcPct val="100000"/>
              </a:lnSpc>
              <a:spcBef>
                <a:spcPts val="256"/>
              </a:spcBef>
              <a:spcAft>
                <a:spcPts val="256"/>
              </a:spcAft>
              <a:buClr>
                <a:srgbClr val="A71930"/>
              </a:buClr>
              <a:buSzTx/>
              <a:buFont typeface="Courier New" pitchFamily="49" charset="0"/>
              <a:buChar char="o"/>
              <a:tabLst/>
              <a:defRPr lang="en-US" sz="1400" kern="1200" noProof="0" dirty="0" smtClean="0">
                <a:solidFill>
                  <a:srgbClr val="4D4F53"/>
                </a:solidFill>
                <a:latin typeface="+mn-lt"/>
                <a:ea typeface="+mn-ea"/>
                <a:cs typeface="+mn-cs"/>
              </a:defRPr>
            </a:lvl4pPr>
          </a:lstStyle>
          <a:p>
            <a:pPr marL="0" marR="0" lvl="0" indent="0" algn="l" defTabSz="389626" rtl="0" eaLnBrk="1" fontAlgn="auto" latinLnBrk="0" hangingPunct="1">
              <a:lnSpc>
                <a:spcPct val="100000"/>
              </a:lnSpc>
              <a:spcBef>
                <a:spcPts val="1023"/>
              </a:spcBef>
              <a:spcAft>
                <a:spcPts val="256"/>
              </a:spcAft>
              <a:buClr>
                <a:prstClr val="white"/>
              </a:buClr>
              <a:buSzPct val="25000"/>
              <a:buFont typeface="Verdana" pitchFamily="34" charset="0"/>
              <a:buNone/>
              <a:tabLst/>
              <a:defRPr/>
            </a:pPr>
            <a:r>
              <a:rPr kumimoji="0" lang="fr-FR" sz="1200" b="0" i="0" u="none" strike="noStrike" kern="1200" cap="none" spc="0" normalizeH="0" baseline="0" noProof="0" dirty="0" smtClean="0">
                <a:ln>
                  <a:noFill/>
                </a:ln>
                <a:solidFill>
                  <a:srgbClr val="4D4F53"/>
                </a:solidFill>
                <a:effectLst/>
                <a:uLnTx/>
                <a:uFillTx/>
                <a:latin typeface="+mn-lt"/>
              </a:rPr>
              <a:t>Modifiez les styles du texte du masque</a:t>
            </a:r>
          </a:p>
          <a:p>
            <a:pPr marL="151521" marR="0" lvl="1" indent="-151521" algn="l" defTabSz="389626" rtl="0" eaLnBrk="1" fontAlgn="auto" latinLnBrk="0" hangingPunct="1">
              <a:lnSpc>
                <a:spcPct val="100000"/>
              </a:lnSpc>
              <a:spcBef>
                <a:spcPts val="256"/>
              </a:spcBef>
              <a:spcAft>
                <a:spcPts val="256"/>
              </a:spcAft>
              <a:buClr>
                <a:srgbClr val="A71930"/>
              </a:buClr>
              <a:buSzTx/>
              <a:buFont typeface="Arial" pitchFamily="34" charset="0"/>
              <a:buChar char="•"/>
              <a:tabLst/>
              <a:defRPr/>
            </a:pPr>
            <a:r>
              <a:rPr kumimoji="0" lang="fr-FR" sz="1200" b="0" i="0" u="none" strike="noStrike" kern="1200" cap="none" spc="0" normalizeH="0" baseline="0" noProof="0" dirty="0" smtClean="0">
                <a:ln>
                  <a:noFill/>
                </a:ln>
                <a:solidFill>
                  <a:srgbClr val="4D4F53"/>
                </a:solidFill>
                <a:effectLst/>
                <a:uLnTx/>
                <a:uFillTx/>
                <a:latin typeface="+mn-lt"/>
              </a:rPr>
              <a:t>Deuxième niveau</a:t>
            </a:r>
          </a:p>
          <a:p>
            <a:pPr marL="308454" marR="0" lvl="2" indent="-154227" algn="l" defTabSz="438329" rtl="0" eaLnBrk="1" fontAlgn="auto" latinLnBrk="0" hangingPunct="1">
              <a:lnSpc>
                <a:spcPct val="100000"/>
              </a:lnSpc>
              <a:spcBef>
                <a:spcPts val="256"/>
              </a:spcBef>
              <a:spcAft>
                <a:spcPts val="256"/>
              </a:spcAft>
              <a:buClr>
                <a:srgbClr val="A71930"/>
              </a:buClr>
              <a:buSzTx/>
              <a:buFont typeface="Calibri" pitchFamily="34" charset="0"/>
              <a:buChar char="−"/>
              <a:tabLst/>
              <a:defRPr/>
            </a:pPr>
            <a:r>
              <a:rPr kumimoji="0" lang="fr-FR" sz="1200" b="0" i="0" u="none" strike="noStrike" kern="1200" cap="none" spc="0" normalizeH="0" baseline="0" noProof="0" dirty="0" smtClean="0">
                <a:ln>
                  <a:noFill/>
                </a:ln>
                <a:solidFill>
                  <a:srgbClr val="4D4F53"/>
                </a:solidFill>
                <a:effectLst/>
                <a:uLnTx/>
                <a:uFillTx/>
                <a:latin typeface="+mn-lt"/>
              </a:rPr>
              <a:t>Troisième niveau</a:t>
            </a:r>
          </a:p>
          <a:p>
            <a:pPr marL="457269" marR="0" lvl="3" indent="-137992" algn="l" defTabSz="389626" rtl="0" eaLnBrk="1" fontAlgn="auto" latinLnBrk="0" hangingPunct="1">
              <a:lnSpc>
                <a:spcPct val="100000"/>
              </a:lnSpc>
              <a:spcBef>
                <a:spcPts val="256"/>
              </a:spcBef>
              <a:spcAft>
                <a:spcPts val="256"/>
              </a:spcAft>
              <a:buClr>
                <a:srgbClr val="A71930"/>
              </a:buClr>
              <a:buSzTx/>
              <a:buFont typeface="Courier New" pitchFamily="49" charset="0"/>
              <a:buChar char="o"/>
              <a:tabLst/>
              <a:defRPr/>
            </a:pPr>
            <a:r>
              <a:rPr kumimoji="0" lang="fr-FR" sz="1200" b="0" i="0" u="none" strike="noStrike" kern="1200" cap="none" spc="0" normalizeH="0" baseline="0" noProof="0" dirty="0" smtClean="0">
                <a:ln>
                  <a:noFill/>
                </a:ln>
                <a:solidFill>
                  <a:srgbClr val="4D4F53"/>
                </a:solidFill>
                <a:effectLst/>
                <a:uLnTx/>
                <a:uFillTx/>
                <a:latin typeface="+mn-lt"/>
              </a:rPr>
              <a:t>Quatrième niveau</a:t>
            </a:r>
          </a:p>
        </p:txBody>
      </p:sp>
      <p:pic>
        <p:nvPicPr>
          <p:cNvPr id="2" name="Imag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7266" y="693276"/>
            <a:ext cx="1201016" cy="1207113"/>
          </a:xfrm>
          <a:prstGeom prst="rect">
            <a:avLst/>
          </a:prstGeom>
        </p:spPr>
      </p:pic>
    </p:spTree>
    <p:extLst>
      <p:ext uri="{BB962C8B-B14F-4D97-AF65-F5344CB8AC3E}">
        <p14:creationId xmlns:p14="http://schemas.microsoft.com/office/powerpoint/2010/main" val="20618786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a:xfrm>
            <a:off x="685800" y="4767263"/>
            <a:ext cx="1905000" cy="273844"/>
          </a:xfrm>
          <a:prstGeom prst="rect">
            <a:avLst/>
          </a:prstGeom>
        </p:spPr>
        <p:txBody>
          <a:bodyPr/>
          <a:lstStyle>
            <a:lvl1pPr>
              <a:defRPr>
                <a:ea typeface="ＭＳ Ｐゴシック"/>
                <a:cs typeface="ＭＳ Ｐゴシック"/>
              </a:defRPr>
            </a:lvl1pPr>
          </a:lstStyle>
          <a:p>
            <a:pPr>
              <a:defRPr/>
            </a:pPr>
            <a:fld id="{9AC7AD67-5214-4830-816B-BB68E584FB4D}" type="datetime1">
              <a:rPr lang="fr-FR"/>
              <a:pPr>
                <a:defRPr/>
              </a:pPr>
              <a:t>21/12/2015</a:t>
            </a:fld>
            <a:endParaRPr lang="fr-FR"/>
          </a:p>
        </p:txBody>
      </p:sp>
      <p:sp>
        <p:nvSpPr>
          <p:cNvPr id="5" name="Espace réservé du numéro de diapositive 5"/>
          <p:cNvSpPr>
            <a:spLocks noGrp="1"/>
          </p:cNvSpPr>
          <p:nvPr>
            <p:ph type="sldNum" sz="quarter" idx="11"/>
          </p:nvPr>
        </p:nvSpPr>
        <p:spPr>
          <a:xfrm>
            <a:off x="6553200" y="4767263"/>
            <a:ext cx="2133600" cy="273844"/>
          </a:xfrm>
          <a:prstGeom prst="rect">
            <a:avLst/>
          </a:prstGeom>
        </p:spPr>
        <p:txBody>
          <a:bodyPr/>
          <a:lstStyle>
            <a:lvl1pPr>
              <a:defRPr/>
            </a:lvl1pPr>
          </a:lstStyle>
          <a:p>
            <a:fld id="{4DF23832-6337-4957-A1E3-16FD0348C189}" type="slidenum">
              <a:rPr lang="fr-FR" altLang="en-US"/>
              <a:pPr/>
              <a:t>‹N°›</a:t>
            </a:fld>
            <a:endParaRPr lang="fr-FR" altLang="en-US"/>
          </a:p>
        </p:txBody>
      </p:sp>
      <p:sp>
        <p:nvSpPr>
          <p:cNvPr id="6" name="Espace réservé du pied de page 8"/>
          <p:cNvSpPr>
            <a:spLocks noGrp="1"/>
          </p:cNvSpPr>
          <p:nvPr>
            <p:ph type="ftr" sz="quarter" idx="12"/>
          </p:nvPr>
        </p:nvSpPr>
        <p:spPr>
          <a:xfrm>
            <a:off x="3124200" y="4767263"/>
            <a:ext cx="2895600" cy="273844"/>
          </a:xfrm>
          <a:prstGeom prst="rect">
            <a:avLst/>
          </a:prstGeom>
        </p:spPr>
        <p:txBody>
          <a:bodyPr/>
          <a:lstStyle>
            <a:lvl1pPr>
              <a:defRPr>
                <a:ea typeface="ＭＳ Ｐゴシック"/>
                <a:cs typeface="ＭＳ Ｐゴシック"/>
              </a:defRPr>
            </a:lvl1pPr>
          </a:lstStyle>
          <a:p>
            <a:pPr>
              <a:defRPr/>
            </a:pPr>
            <a:endParaRPr lang="en-US"/>
          </a:p>
        </p:txBody>
      </p:sp>
    </p:spTree>
    <p:extLst>
      <p:ext uri="{BB962C8B-B14F-4D97-AF65-F5344CB8AC3E}">
        <p14:creationId xmlns:p14="http://schemas.microsoft.com/office/powerpoint/2010/main" val="524224313"/>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251735701"/>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8302674"/>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Text Placeholder 7"/>
          <p:cNvSpPr>
            <a:spLocks noGrp="1"/>
          </p:cNvSpPr>
          <p:nvPr>
            <p:ph type="body" idx="1"/>
          </p:nvPr>
        </p:nvSpPr>
        <p:spPr>
          <a:xfrm>
            <a:off x="2136912" y="1152525"/>
            <a:ext cx="6683237" cy="3240571"/>
          </a:xfrm>
          <a:prstGeom prst="rect">
            <a:avLst/>
          </a:prstGeom>
        </p:spPr>
        <p:txBody>
          <a:bodyPr vert="horz" lIns="0" tIns="0" rIns="0" bIns="0" rtlCol="0">
            <a:noAutofit/>
          </a:bodyPr>
          <a:lstStyle/>
          <a:p>
            <a:pPr lvl="0"/>
            <a:r>
              <a:rPr lang="fr-FR" noProof="0" dirty="0" smtClean="0"/>
              <a:t>Modifiez les styles du texte du masque</a:t>
            </a:r>
          </a:p>
          <a:p>
            <a:pPr lvl="1"/>
            <a:r>
              <a:rPr lang="fr-FR" noProof="0" dirty="0" smtClean="0"/>
              <a:t>Deuxième niveau</a:t>
            </a:r>
          </a:p>
          <a:p>
            <a:pPr lvl="2"/>
            <a:r>
              <a:rPr lang="fr-FR" noProof="0" dirty="0" smtClean="0"/>
              <a:t>Troisième niveau</a:t>
            </a:r>
          </a:p>
          <a:p>
            <a:pPr lvl="3"/>
            <a:r>
              <a:rPr lang="fr-FR" noProof="0" dirty="0" smtClean="0"/>
              <a:t>Quatrième niveau</a:t>
            </a:r>
          </a:p>
        </p:txBody>
      </p:sp>
      <p:sp>
        <p:nvSpPr>
          <p:cNvPr id="16" name="Text Placeholder 2"/>
          <p:cNvSpPr txBox="1">
            <a:spLocks/>
          </p:cNvSpPr>
          <p:nvPr/>
        </p:nvSpPr>
        <p:spPr>
          <a:xfrm>
            <a:off x="3108962" y="4873759"/>
            <a:ext cx="2926078" cy="158395"/>
          </a:xfrm>
          <a:prstGeom prst="rect">
            <a:avLst/>
          </a:prstGeom>
          <a:ln>
            <a:noFill/>
          </a:ln>
        </p:spPr>
        <p:txBody>
          <a:bodyPr vert="horz" lIns="0" tIns="0" rIns="0" bIns="0" anchor="b"/>
          <a:lstStyle>
            <a:lvl1pPr marL="0" marR="0" indent="0" algn="l" defTabSz="457200" rtl="0" eaLnBrk="1" fontAlgn="auto" latinLnBrk="0" hangingPunct="1">
              <a:lnSpc>
                <a:spcPct val="100000"/>
              </a:lnSpc>
              <a:spcBef>
                <a:spcPts val="0"/>
              </a:spcBef>
              <a:spcAft>
                <a:spcPts val="0"/>
              </a:spcAft>
              <a:buClrTx/>
              <a:buSzTx/>
              <a:buFontTx/>
              <a:buNone/>
              <a:tabLst/>
              <a:defRPr sz="800" kern="1200" baseline="0">
                <a:solidFill>
                  <a:schemeClr val="tx1">
                    <a:lumMod val="50000"/>
                    <a:lumOff val="50000"/>
                  </a:schemeClr>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fr-FR" dirty="0" smtClean="0">
                <a:solidFill>
                  <a:srgbClr val="8D817B"/>
                </a:solidFill>
              </a:rPr>
              <a:t>Confidentiel. © 2015 CBG | </a:t>
            </a:r>
            <a:fld id="{2E997FAD-17BD-C54D-93FE-DA7D4A487AFB}" type="slidenum">
              <a:rPr lang="fr-FR" smtClean="0">
                <a:solidFill>
                  <a:srgbClr val="8D817B"/>
                </a:solidFill>
              </a:rPr>
              <a:pPr algn="ctr"/>
              <a:t>‹N°›</a:t>
            </a:fld>
            <a:endParaRPr lang="fr-FR" dirty="0" smtClean="0">
              <a:solidFill>
                <a:srgbClr val="8D817B"/>
              </a:solidFill>
            </a:endParaRPr>
          </a:p>
        </p:txBody>
      </p:sp>
      <p:sp>
        <p:nvSpPr>
          <p:cNvPr id="19" name="Espace réservé du pied de page 8"/>
          <p:cNvSpPr txBox="1">
            <a:spLocks/>
          </p:cNvSpPr>
          <p:nvPr userDrawn="1"/>
        </p:nvSpPr>
        <p:spPr bwMode="auto">
          <a:xfrm>
            <a:off x="285750" y="4621127"/>
            <a:ext cx="4071938" cy="22066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defPPr>
              <a:defRPr lang="fr-FR"/>
            </a:defPPr>
            <a:lvl1pPr algn="ctr" rtl="0" eaLnBrk="0" fontAlgn="base" hangingPunct="0">
              <a:spcBef>
                <a:spcPct val="0"/>
              </a:spcBef>
              <a:spcAft>
                <a:spcPct val="0"/>
              </a:spcAft>
              <a:defRPr sz="1200" kern="1200">
                <a:solidFill>
                  <a:schemeClr val="tx1"/>
                </a:solidFill>
                <a:latin typeface="Calibri" pitchFamily="34" charset="0"/>
                <a:ea typeface="+mn-ea"/>
                <a:cs typeface="+mn-cs"/>
              </a:defRPr>
            </a:lvl1pPr>
            <a:lvl2pPr marL="742950" indent="-285750" algn="l" rtl="0" eaLnBrk="0" fontAlgn="base" hangingPunct="0">
              <a:spcBef>
                <a:spcPct val="0"/>
              </a:spcBef>
              <a:spcAft>
                <a:spcPct val="0"/>
              </a:spcAft>
              <a:defRPr kern="1200">
                <a:solidFill>
                  <a:schemeClr val="tx1"/>
                </a:solidFill>
                <a:latin typeface="Calibri" pitchFamily="34" charset="0"/>
                <a:ea typeface="+mn-ea"/>
                <a:cs typeface="+mn-cs"/>
              </a:defRPr>
            </a:lvl2pPr>
            <a:lvl3pPr marL="1143000" indent="-228600" algn="l" rtl="0" eaLnBrk="0" fontAlgn="base" hangingPunct="0">
              <a:spcBef>
                <a:spcPct val="0"/>
              </a:spcBef>
              <a:spcAft>
                <a:spcPct val="0"/>
              </a:spcAft>
              <a:defRPr kern="1200">
                <a:solidFill>
                  <a:schemeClr val="tx1"/>
                </a:solidFill>
                <a:latin typeface="Calibri" pitchFamily="34" charset="0"/>
                <a:ea typeface="+mn-ea"/>
                <a:cs typeface="+mn-cs"/>
              </a:defRPr>
            </a:lvl3pPr>
            <a:lvl4pPr marL="1600200" indent="-228600" algn="l" rtl="0" eaLnBrk="0" fontAlgn="base" hangingPunct="0">
              <a:spcBef>
                <a:spcPct val="0"/>
              </a:spcBef>
              <a:spcAft>
                <a:spcPct val="0"/>
              </a:spcAft>
              <a:defRPr kern="1200">
                <a:solidFill>
                  <a:schemeClr val="tx1"/>
                </a:solidFill>
                <a:latin typeface="Calibri" pitchFamily="34" charset="0"/>
                <a:ea typeface="+mn-ea"/>
                <a:cs typeface="+mn-cs"/>
              </a:defRPr>
            </a:lvl4pPr>
            <a:lvl5pPr marL="2057400" indent="-228600" algn="l" rtl="0" eaLnBrk="0" fontAlgn="base" hangingPunct="0">
              <a:spcBef>
                <a:spcPct val="0"/>
              </a:spcBef>
              <a:spcAft>
                <a:spcPct val="0"/>
              </a:spcAft>
              <a:defRPr kern="1200">
                <a:solidFill>
                  <a:schemeClr val="tx1"/>
                </a:solidFill>
                <a:latin typeface="Calibri" pitchFamily="34" charset="0"/>
                <a:ea typeface="+mn-ea"/>
                <a:cs typeface="+mn-cs"/>
              </a:defRPr>
            </a:lvl5pPr>
            <a:lvl6pPr marL="25146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6pPr>
            <a:lvl7pPr marL="29718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7pPr>
            <a:lvl8pPr marL="34290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8pPr>
            <a:lvl9pPr marL="38862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9pPr>
          </a:lstStyle>
          <a:p>
            <a:pPr defTabSz="914400" eaLnBrk="1" hangingPunct="1"/>
            <a:r>
              <a:rPr lang="fr-FR" sz="900" dirty="0" smtClean="0">
                <a:solidFill>
                  <a:srgbClr val="0070C0"/>
                </a:solidFill>
                <a:latin typeface="Arial" charset="0"/>
                <a:cs typeface="Arial" charset="0"/>
              </a:rPr>
              <a:t>Ce document est la propriété de la CBG - This document is property of CBG</a:t>
            </a:r>
            <a:endParaRPr lang="en-US" sz="900" dirty="0">
              <a:solidFill>
                <a:srgbClr val="0070C0"/>
              </a:solidFill>
              <a:latin typeface="Arial" charset="0"/>
              <a:cs typeface="Arial" charset="0"/>
            </a:endParaRPr>
          </a:p>
        </p:txBody>
      </p:sp>
      <p:sp>
        <p:nvSpPr>
          <p:cNvPr id="2" name="Espace réservé du titre 1"/>
          <p:cNvSpPr>
            <a:spLocks noGrp="1"/>
          </p:cNvSpPr>
          <p:nvPr>
            <p:ph type="title"/>
          </p:nvPr>
        </p:nvSpPr>
        <p:spPr>
          <a:xfrm>
            <a:off x="457200" y="206375"/>
            <a:ext cx="8229600" cy="857250"/>
          </a:xfrm>
          <a:prstGeom prst="rect">
            <a:avLst/>
          </a:prstGeom>
        </p:spPr>
        <p:txBody>
          <a:bodyPr vert="horz" lIns="91440" tIns="45720" rIns="91440" bIns="45720" rtlCol="0" anchor="ctr">
            <a:normAutofit/>
          </a:bodyPr>
          <a:lstStyle/>
          <a:p>
            <a:r>
              <a:rPr lang="fr-FR" smtClean="0"/>
              <a:t>Modifiez le style du titre</a:t>
            </a:r>
            <a:endParaRPr lang="en-US"/>
          </a:p>
        </p:txBody>
      </p:sp>
      <p:pic>
        <p:nvPicPr>
          <p:cNvPr id="3" name="Image 2"/>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249561" y="4556923"/>
            <a:ext cx="8644877" cy="48772"/>
          </a:xfrm>
          <a:prstGeom prst="rect">
            <a:avLst/>
          </a:prstGeom>
        </p:spPr>
      </p:pic>
    </p:spTree>
    <p:extLst>
      <p:ext uri="{BB962C8B-B14F-4D97-AF65-F5344CB8AC3E}">
        <p14:creationId xmlns:p14="http://schemas.microsoft.com/office/powerpoint/2010/main" val="3195152109"/>
      </p:ext>
    </p:extLst>
  </p:cSld>
  <p:clrMap bg1="lt1" tx1="dk1" bg2="lt2" tx2="dk2" accent1="accent1" accent2="accent2" accent3="accent3" accent4="accent4" accent5="accent5" accent6="accent6" hlink="hlink" folHlink="folHlink"/>
  <p:sldLayoutIdLst>
    <p:sldLayoutId id="2147484153" r:id="rId1"/>
    <p:sldLayoutId id="2147484122" r:id="rId2"/>
    <p:sldLayoutId id="2147484155" r:id="rId3"/>
    <p:sldLayoutId id="2147484156" r:id="rId4"/>
    <p:sldLayoutId id="2147484157" r:id="rId5"/>
  </p:sldLayoutIdLst>
  <p:timing>
    <p:tnLst>
      <p:par>
        <p:cTn id="1" dur="indefinite" restart="never" nodeType="tmRoot"/>
      </p:par>
    </p:tnLst>
  </p:timing>
  <p:txStyles>
    <p:title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p:titleStyle>
    <p:bodyStyle>
      <a:lvl1pPr marL="0" indent="0" algn="l" defTabSz="389626" rtl="0" eaLnBrk="1" latinLnBrk="0" hangingPunct="1">
        <a:spcBef>
          <a:spcPts val="1023"/>
        </a:spcBef>
        <a:spcAft>
          <a:spcPts val="256"/>
        </a:spcAft>
        <a:buClr>
          <a:schemeClr val="bg1"/>
        </a:buClr>
        <a:buSzPct val="25000"/>
        <a:buFont typeface="Verdana" pitchFamily="34" charset="0"/>
        <a:buNone/>
        <a:defRPr lang="en-GB" sz="1200" b="0" kern="1200" noProof="0" smtClean="0">
          <a:solidFill>
            <a:srgbClr val="4D4F53"/>
          </a:solidFill>
          <a:latin typeface="+mn-lt"/>
          <a:ea typeface="+mn-ea"/>
          <a:cs typeface="+mn-cs"/>
        </a:defRPr>
      </a:lvl1pPr>
      <a:lvl2pPr marL="151521" indent="-151521" algn="l" defTabSz="389626" rtl="0" eaLnBrk="1" latinLnBrk="0" hangingPunct="1">
        <a:spcBef>
          <a:spcPts val="256"/>
        </a:spcBef>
        <a:spcAft>
          <a:spcPts val="256"/>
        </a:spcAft>
        <a:buClr>
          <a:schemeClr val="bg2"/>
        </a:buClr>
        <a:buFont typeface="Arial" pitchFamily="34" charset="0"/>
        <a:buChar char="•"/>
        <a:defRPr lang="en-GB" sz="1200" kern="1200" noProof="0" smtClean="0">
          <a:solidFill>
            <a:srgbClr val="4D4F53"/>
          </a:solidFill>
          <a:latin typeface="+mn-lt"/>
          <a:ea typeface="+mn-ea"/>
          <a:cs typeface="+mn-cs"/>
        </a:defRPr>
      </a:lvl2pPr>
      <a:lvl3pPr marL="308454" indent="-154227" algn="l" defTabSz="438329" rtl="0" eaLnBrk="1" latinLnBrk="0" hangingPunct="1">
        <a:spcBef>
          <a:spcPts val="256"/>
        </a:spcBef>
        <a:spcAft>
          <a:spcPts val="256"/>
        </a:spcAft>
        <a:buClr>
          <a:schemeClr val="bg2"/>
        </a:buClr>
        <a:buFont typeface="Calibri" pitchFamily="34" charset="0"/>
        <a:buChar char="−"/>
        <a:defRPr lang="en-GB" sz="1200" kern="1200" noProof="0" smtClean="0">
          <a:solidFill>
            <a:srgbClr val="4D4F53"/>
          </a:solidFill>
          <a:latin typeface="+mn-lt"/>
          <a:ea typeface="+mn-ea"/>
          <a:cs typeface="+mn-cs"/>
        </a:defRPr>
      </a:lvl3pPr>
      <a:lvl4pPr marL="457269" indent="-137992" algn="l" defTabSz="389626" rtl="0" eaLnBrk="1" latinLnBrk="0" hangingPunct="1">
        <a:spcBef>
          <a:spcPts val="256"/>
        </a:spcBef>
        <a:spcAft>
          <a:spcPts val="256"/>
        </a:spcAft>
        <a:buClr>
          <a:schemeClr val="bg2"/>
        </a:buClr>
        <a:buFont typeface="Courier New" pitchFamily="49" charset="0"/>
        <a:buChar char="o"/>
        <a:tabLst/>
        <a:defRPr lang="en-GB" sz="1200" kern="1200" noProof="0" smtClean="0">
          <a:solidFill>
            <a:srgbClr val="4D4F53"/>
          </a:solidFill>
          <a:latin typeface="+mn-lt"/>
          <a:ea typeface="+mn-ea"/>
          <a:cs typeface="+mn-cs"/>
        </a:defRPr>
      </a:lvl4pPr>
      <a:lvl5pPr marL="692668" indent="-140698" algn="l" defTabSz="389626" rtl="0" eaLnBrk="1" latinLnBrk="0" hangingPunct="1">
        <a:spcBef>
          <a:spcPts val="0"/>
        </a:spcBef>
        <a:buClr>
          <a:srgbClr val="D52B1E"/>
        </a:buClr>
        <a:buFont typeface="Calibri" pitchFamily="34" charset="0"/>
        <a:buChar char="-"/>
        <a:tabLst/>
        <a:defRPr lang="en-GB" sz="900" kern="1200" noProof="0">
          <a:solidFill>
            <a:srgbClr val="4D4F53"/>
          </a:solidFill>
          <a:latin typeface="+mn-lt"/>
          <a:ea typeface="+mn-ea"/>
          <a:cs typeface="+mn-cs"/>
        </a:defRPr>
      </a:lvl5pPr>
      <a:lvl6pPr marL="2142942" indent="-194813" algn="l" defTabSz="389626" rtl="0" eaLnBrk="1" latinLnBrk="0" hangingPunct="1">
        <a:spcBef>
          <a:spcPct val="20000"/>
        </a:spcBef>
        <a:buFont typeface="Arial"/>
        <a:buChar char="•"/>
        <a:defRPr sz="1700" kern="1200">
          <a:solidFill>
            <a:schemeClr val="tx1"/>
          </a:solidFill>
          <a:latin typeface="+mn-lt"/>
          <a:ea typeface="+mn-ea"/>
          <a:cs typeface="+mn-cs"/>
        </a:defRPr>
      </a:lvl6pPr>
      <a:lvl7pPr marL="2532568" indent="-194813" algn="l" defTabSz="389626" rtl="0" eaLnBrk="1" latinLnBrk="0" hangingPunct="1">
        <a:spcBef>
          <a:spcPct val="20000"/>
        </a:spcBef>
        <a:buFont typeface="Arial"/>
        <a:buChar char="•"/>
        <a:defRPr sz="1700" kern="1200">
          <a:solidFill>
            <a:schemeClr val="tx1"/>
          </a:solidFill>
          <a:latin typeface="+mn-lt"/>
          <a:ea typeface="+mn-ea"/>
          <a:cs typeface="+mn-cs"/>
        </a:defRPr>
      </a:lvl7pPr>
      <a:lvl8pPr marL="2922194" indent="-194813" algn="l" defTabSz="389626" rtl="0" eaLnBrk="1" latinLnBrk="0" hangingPunct="1">
        <a:spcBef>
          <a:spcPct val="20000"/>
        </a:spcBef>
        <a:buFont typeface="Arial"/>
        <a:buChar char="•"/>
        <a:defRPr sz="1700" kern="1200">
          <a:solidFill>
            <a:schemeClr val="tx1"/>
          </a:solidFill>
          <a:latin typeface="+mn-lt"/>
          <a:ea typeface="+mn-ea"/>
          <a:cs typeface="+mn-cs"/>
        </a:defRPr>
      </a:lvl8pPr>
      <a:lvl9pPr marL="3311820" indent="-194813" algn="l" defTabSz="389626" rtl="0" eaLnBrk="1" latinLnBrk="0" hangingPunct="1">
        <a:spcBef>
          <a:spcPct val="20000"/>
        </a:spcBef>
        <a:buFont typeface="Arial"/>
        <a:buChar char="•"/>
        <a:defRPr sz="1700" kern="1200">
          <a:solidFill>
            <a:schemeClr val="tx1"/>
          </a:solidFill>
          <a:latin typeface="+mn-lt"/>
          <a:ea typeface="+mn-ea"/>
          <a:cs typeface="+mn-cs"/>
        </a:defRPr>
      </a:lvl9pPr>
    </p:bodyStyle>
    <p:otherStyle>
      <a:defPPr>
        <a:defRPr lang="en-US"/>
      </a:defPPr>
      <a:lvl1pPr marL="0" algn="l" defTabSz="389626" rtl="0" eaLnBrk="1" latinLnBrk="0" hangingPunct="1">
        <a:defRPr sz="1500" kern="1200">
          <a:solidFill>
            <a:schemeClr val="tx1"/>
          </a:solidFill>
          <a:latin typeface="+mn-lt"/>
          <a:ea typeface="+mn-ea"/>
          <a:cs typeface="+mn-cs"/>
        </a:defRPr>
      </a:lvl1pPr>
      <a:lvl2pPr marL="389626" algn="l" defTabSz="389626" rtl="0" eaLnBrk="1" latinLnBrk="0" hangingPunct="1">
        <a:defRPr sz="1500" kern="1200">
          <a:solidFill>
            <a:schemeClr val="tx1"/>
          </a:solidFill>
          <a:latin typeface="+mn-lt"/>
          <a:ea typeface="+mn-ea"/>
          <a:cs typeface="+mn-cs"/>
        </a:defRPr>
      </a:lvl2pPr>
      <a:lvl3pPr marL="779252" algn="l" defTabSz="389626" rtl="0" eaLnBrk="1" latinLnBrk="0" hangingPunct="1">
        <a:defRPr sz="1500" kern="1200">
          <a:solidFill>
            <a:schemeClr val="tx1"/>
          </a:solidFill>
          <a:latin typeface="+mn-lt"/>
          <a:ea typeface="+mn-ea"/>
          <a:cs typeface="+mn-cs"/>
        </a:defRPr>
      </a:lvl3pPr>
      <a:lvl4pPr marL="1168878" algn="l" defTabSz="389626" rtl="0" eaLnBrk="1" latinLnBrk="0" hangingPunct="1">
        <a:defRPr sz="1500" kern="1200">
          <a:solidFill>
            <a:schemeClr val="tx1"/>
          </a:solidFill>
          <a:latin typeface="+mn-lt"/>
          <a:ea typeface="+mn-ea"/>
          <a:cs typeface="+mn-cs"/>
        </a:defRPr>
      </a:lvl4pPr>
      <a:lvl5pPr marL="1558503" algn="l" defTabSz="389626" rtl="0" eaLnBrk="1" latinLnBrk="0" hangingPunct="1">
        <a:defRPr sz="1500" kern="1200">
          <a:solidFill>
            <a:schemeClr val="tx1"/>
          </a:solidFill>
          <a:latin typeface="+mn-lt"/>
          <a:ea typeface="+mn-ea"/>
          <a:cs typeface="+mn-cs"/>
        </a:defRPr>
      </a:lvl5pPr>
      <a:lvl6pPr marL="1948129" algn="l" defTabSz="389626" rtl="0" eaLnBrk="1" latinLnBrk="0" hangingPunct="1">
        <a:defRPr sz="1500" kern="1200">
          <a:solidFill>
            <a:schemeClr val="tx1"/>
          </a:solidFill>
          <a:latin typeface="+mn-lt"/>
          <a:ea typeface="+mn-ea"/>
          <a:cs typeface="+mn-cs"/>
        </a:defRPr>
      </a:lvl6pPr>
      <a:lvl7pPr marL="2337755" algn="l" defTabSz="389626" rtl="0" eaLnBrk="1" latinLnBrk="0" hangingPunct="1">
        <a:defRPr sz="1500" kern="1200">
          <a:solidFill>
            <a:schemeClr val="tx1"/>
          </a:solidFill>
          <a:latin typeface="+mn-lt"/>
          <a:ea typeface="+mn-ea"/>
          <a:cs typeface="+mn-cs"/>
        </a:defRPr>
      </a:lvl7pPr>
      <a:lvl8pPr marL="2727381" algn="l" defTabSz="389626" rtl="0" eaLnBrk="1" latinLnBrk="0" hangingPunct="1">
        <a:defRPr sz="1500" kern="1200">
          <a:solidFill>
            <a:schemeClr val="tx1"/>
          </a:solidFill>
          <a:latin typeface="+mn-lt"/>
          <a:ea typeface="+mn-ea"/>
          <a:cs typeface="+mn-cs"/>
        </a:defRPr>
      </a:lvl8pPr>
      <a:lvl9pPr marL="3117007" algn="l" defTabSz="389626" rtl="0" eaLnBrk="1" latinLnBrk="0" hangingPunct="1">
        <a:defRPr sz="1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3.png"/><Relationship Id="rId7"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Layout" Target="../slideLayouts/slideLayout4.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1"/>
          <p:cNvSpPr txBox="1">
            <a:spLocks/>
          </p:cNvSpPr>
          <p:nvPr/>
        </p:nvSpPr>
        <p:spPr>
          <a:xfrm>
            <a:off x="2635173" y="1556792"/>
            <a:ext cx="5817244" cy="1899915"/>
          </a:xfrm>
          <a:prstGeom prst="rect">
            <a:avLst/>
          </a:prstGeom>
        </p:spPr>
        <p:txBody>
          <a:bodyPr anchor="ctr"/>
          <a:lst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a:lstStyle>
          <a:p>
            <a:r>
              <a:rPr lang="fr-FR" sz="2800" b="1" dirty="0">
                <a:solidFill>
                  <a:srgbClr val="0070C0"/>
                </a:solidFill>
                <a:latin typeface="Arial" charset="0"/>
                <a:cs typeface="Arial" charset="0"/>
              </a:rPr>
              <a:t>Formation Utilisateurs- Achats </a:t>
            </a:r>
            <a:r>
              <a:rPr lang="fr-FR" sz="3200" b="1" dirty="0">
                <a:solidFill>
                  <a:srgbClr val="0070C0"/>
                </a:solidFill>
                <a:latin typeface="Arial" charset="0"/>
                <a:cs typeface="Arial" charset="0"/>
              </a:rPr>
              <a:t/>
            </a:r>
            <a:br>
              <a:rPr lang="fr-FR" sz="3200" b="1" dirty="0">
                <a:solidFill>
                  <a:srgbClr val="0070C0"/>
                </a:solidFill>
                <a:latin typeface="Arial" charset="0"/>
                <a:cs typeface="Arial" charset="0"/>
              </a:rPr>
            </a:br>
            <a:r>
              <a:rPr lang="fr-FR" sz="2000" b="1" dirty="0" smtClean="0">
                <a:solidFill>
                  <a:srgbClr val="0070C0"/>
                </a:solidFill>
                <a:latin typeface="Arial" charset="0"/>
                <a:cs typeface="Arial" charset="0"/>
              </a:rPr>
              <a:t>Module Gestion </a:t>
            </a:r>
            <a:r>
              <a:rPr lang="fr-FR" sz="2000" b="1" dirty="0" smtClean="0">
                <a:solidFill>
                  <a:srgbClr val="0070C0"/>
                </a:solidFill>
                <a:latin typeface="Arial" charset="0"/>
                <a:cs typeface="Arial" charset="0"/>
              </a:rPr>
              <a:t>des sources d’approvisionnement</a:t>
            </a:r>
            <a:endParaRPr lang="fr-FR" sz="1800" dirty="0">
              <a:solidFill>
                <a:srgbClr val="0070C0"/>
              </a:solidFill>
              <a:latin typeface="Arial" charset="0"/>
              <a:cs typeface="Arial" charset="0"/>
            </a:endParaRPr>
          </a:p>
        </p:txBody>
      </p:sp>
    </p:spTree>
    <p:extLst>
      <p:ext uri="{BB962C8B-B14F-4D97-AF65-F5344CB8AC3E}">
        <p14:creationId xmlns:p14="http://schemas.microsoft.com/office/powerpoint/2010/main" val="21254742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1343258"/>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5447704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fr-FR" altLang="en-US" dirty="0" smtClean="0"/>
              <a:t>Objectifs de la formation</a:t>
            </a:r>
            <a:endParaRPr lang="fr-FR" altLang="en-US" dirty="0"/>
          </a:p>
        </p:txBody>
      </p:sp>
      <p:sp>
        <p:nvSpPr>
          <p:cNvPr id="5" name="Rectangle 4"/>
          <p:cNvSpPr/>
          <p:nvPr/>
        </p:nvSpPr>
        <p:spPr>
          <a:xfrm>
            <a:off x="1763272" y="1312720"/>
            <a:ext cx="4589859" cy="897481"/>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tIns="72000" bIns="72000" spcCol="180000" anchor="ctr"/>
          <a:lstStyle/>
          <a:p>
            <a:pPr marL="67866" indent="-67866" eaLnBrk="0" hangingPunct="0">
              <a:spcBef>
                <a:spcPts val="225"/>
              </a:spcBef>
              <a:buClr>
                <a:srgbClr val="4F81BD"/>
              </a:buClr>
              <a:buFont typeface="Arial" charset="0"/>
              <a:buChar char="•"/>
              <a:defRPr/>
            </a:pPr>
            <a:r>
              <a:rPr lang="fr-FR" sz="900" dirty="0">
                <a:solidFill>
                  <a:schemeClr val="tx1"/>
                </a:solidFill>
                <a:latin typeface="Arial" pitchFamily="34" charset="0"/>
                <a:cs typeface="Arial" pitchFamily="34" charset="0"/>
              </a:rPr>
              <a:t>Savoir créer une fiche info-achat</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Savoir </a:t>
            </a:r>
            <a:r>
              <a:rPr lang="fr-FR" sz="900" dirty="0" smtClean="0">
                <a:solidFill>
                  <a:schemeClr val="tx1"/>
                </a:solidFill>
                <a:latin typeface="Arial" pitchFamily="34" charset="0"/>
                <a:cs typeface="Arial" pitchFamily="34" charset="0"/>
              </a:rPr>
              <a:t>créer un répertoire de source </a:t>
            </a:r>
            <a:r>
              <a:rPr lang="fr-FR" sz="900" dirty="0" smtClean="0">
                <a:solidFill>
                  <a:schemeClr val="tx1"/>
                </a:solidFill>
                <a:latin typeface="Arial" pitchFamily="34" charset="0"/>
                <a:cs typeface="Arial" pitchFamily="34" charset="0"/>
              </a:rPr>
              <a:t>d’approvisionnement</a:t>
            </a:r>
            <a:endParaRPr lang="fr-FR" sz="900" dirty="0" smtClean="0">
              <a:solidFill>
                <a:schemeClr val="tx1"/>
              </a:solidFill>
              <a:latin typeface="Arial" pitchFamily="34" charset="0"/>
              <a:cs typeface="Arial" pitchFamily="34" charset="0"/>
            </a:endParaRPr>
          </a:p>
        </p:txBody>
      </p:sp>
      <p:sp>
        <p:nvSpPr>
          <p:cNvPr id="7" name="Rectangle 6"/>
          <p:cNvSpPr/>
          <p:nvPr/>
        </p:nvSpPr>
        <p:spPr>
          <a:xfrm>
            <a:off x="1763272" y="2571750"/>
            <a:ext cx="4589859" cy="1646351"/>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tIns="216000" spcCol="180000" anchor="ctr"/>
          <a:lstStyle/>
          <a:p>
            <a:pPr marL="67866" lvl="1" indent="-67866" eaLnBrk="0" hangingPunct="0">
              <a:spcBef>
                <a:spcPts val="225"/>
              </a:spcBef>
              <a:buClr>
                <a:srgbClr val="4F81BD"/>
              </a:buClr>
              <a:buFont typeface="Arial" charset="0"/>
              <a:buChar char="•"/>
              <a:defRPr/>
            </a:pPr>
            <a:r>
              <a:rPr lang="fr-FR" sz="900" dirty="0">
                <a:solidFill>
                  <a:schemeClr val="tx1"/>
                </a:solidFill>
                <a:latin typeface="Arial" pitchFamily="34" charset="0"/>
                <a:cs typeface="Arial" pitchFamily="34" charset="0"/>
              </a:rPr>
              <a:t>Créer une fiche info-achat </a:t>
            </a:r>
          </a:p>
          <a:p>
            <a:pPr marL="67866" lvl="1"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Créer </a:t>
            </a:r>
            <a:r>
              <a:rPr lang="fr-FR" sz="900" dirty="0" smtClean="0">
                <a:solidFill>
                  <a:schemeClr val="tx1"/>
                </a:solidFill>
                <a:latin typeface="Arial" pitchFamily="34" charset="0"/>
                <a:cs typeface="Arial" pitchFamily="34" charset="0"/>
              </a:rPr>
              <a:t>un répertoire de source d’approvisionnement manuellement</a:t>
            </a:r>
          </a:p>
          <a:p>
            <a:pPr marL="67866" lvl="1" indent="-67866" eaLnBrk="0" hangingPunct="0">
              <a:spcBef>
                <a:spcPts val="225"/>
              </a:spcBef>
              <a:buClr>
                <a:srgbClr val="4F81BD"/>
              </a:buClr>
              <a:buFont typeface="Arial" charset="0"/>
              <a:buChar char="•"/>
              <a:defRPr/>
            </a:pPr>
            <a:r>
              <a:rPr lang="fr-FR" sz="900" dirty="0">
                <a:solidFill>
                  <a:schemeClr val="tx1"/>
                </a:solidFill>
                <a:latin typeface="Arial" pitchFamily="34" charset="0"/>
                <a:cs typeface="Arial" pitchFamily="34" charset="0"/>
              </a:rPr>
              <a:t>Créer un répertoire de source d’approvisionnement </a:t>
            </a:r>
            <a:r>
              <a:rPr lang="fr-FR" sz="900" dirty="0" smtClean="0">
                <a:solidFill>
                  <a:schemeClr val="tx1"/>
                </a:solidFill>
                <a:latin typeface="Arial" pitchFamily="34" charset="0"/>
                <a:cs typeface="Arial" pitchFamily="34" charset="0"/>
              </a:rPr>
              <a:t>automatiquement</a:t>
            </a:r>
            <a:endParaRPr lang="fr-FR" sz="900" dirty="0" smtClean="0">
              <a:solidFill>
                <a:schemeClr val="tx1"/>
              </a:solidFill>
              <a:latin typeface="Arial" pitchFamily="34" charset="0"/>
              <a:cs typeface="Arial" pitchFamily="34" charset="0"/>
            </a:endParaRPr>
          </a:p>
        </p:txBody>
      </p:sp>
      <p:sp>
        <p:nvSpPr>
          <p:cNvPr id="11" name="Rectangle 10"/>
          <p:cNvSpPr/>
          <p:nvPr/>
        </p:nvSpPr>
        <p:spPr>
          <a:xfrm>
            <a:off x="1661664" y="2268099"/>
            <a:ext cx="1932004"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Contenu de la formation</a:t>
            </a:r>
          </a:p>
        </p:txBody>
      </p:sp>
      <p:sp>
        <p:nvSpPr>
          <p:cNvPr id="12" name="Rectangle 11"/>
          <p:cNvSpPr/>
          <p:nvPr/>
        </p:nvSpPr>
        <p:spPr>
          <a:xfrm>
            <a:off x="1718686" y="1012639"/>
            <a:ext cx="822597" cy="300082"/>
          </a:xfrm>
          <a:prstGeom prst="rect">
            <a:avLst/>
          </a:prstGeom>
          <a:noFill/>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Objectifs</a:t>
            </a:r>
          </a:p>
        </p:txBody>
      </p:sp>
      <p:grpSp>
        <p:nvGrpSpPr>
          <p:cNvPr id="14" name="Groupe 13"/>
          <p:cNvGrpSpPr/>
          <p:nvPr/>
        </p:nvGrpSpPr>
        <p:grpSpPr>
          <a:xfrm>
            <a:off x="6481687" y="1016233"/>
            <a:ext cx="1905739" cy="897560"/>
            <a:chOff x="6704410" y="1016233"/>
            <a:chExt cx="1528579" cy="897560"/>
          </a:xfrm>
        </p:grpSpPr>
        <p:sp>
          <p:nvSpPr>
            <p:cNvPr id="8" name="Rectangle 7"/>
            <p:cNvSpPr/>
            <p:nvPr/>
          </p:nvSpPr>
          <p:spPr>
            <a:xfrm>
              <a:off x="6748280" y="1316481"/>
              <a:ext cx="1484709" cy="597312"/>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a:solidFill>
                    <a:schemeClr val="tx1"/>
                  </a:solidFill>
                  <a:latin typeface="Arial" pitchFamily="34" charset="0"/>
                  <a:cs typeface="Arial" pitchFamily="34" charset="0"/>
                </a:rPr>
                <a:t>2 Heures</a:t>
              </a:r>
            </a:p>
          </p:txBody>
        </p:sp>
        <p:sp>
          <p:nvSpPr>
            <p:cNvPr id="17" name="Rectangle 16"/>
            <p:cNvSpPr/>
            <p:nvPr/>
          </p:nvSpPr>
          <p:spPr>
            <a:xfrm>
              <a:off x="6704410" y="1016233"/>
              <a:ext cx="618759"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Durée</a:t>
              </a:r>
            </a:p>
          </p:txBody>
        </p:sp>
      </p:grpSp>
      <p:grpSp>
        <p:nvGrpSpPr>
          <p:cNvPr id="10" name="Groupe 9"/>
          <p:cNvGrpSpPr/>
          <p:nvPr/>
        </p:nvGrpSpPr>
        <p:grpSpPr>
          <a:xfrm>
            <a:off x="6475133" y="2059733"/>
            <a:ext cx="1913909" cy="1201612"/>
            <a:chOff x="6697857" y="2111948"/>
            <a:chExt cx="1535132" cy="1201612"/>
          </a:xfrm>
        </p:grpSpPr>
        <p:sp>
          <p:nvSpPr>
            <p:cNvPr id="6" name="Rectangle 5"/>
            <p:cNvSpPr/>
            <p:nvPr/>
          </p:nvSpPr>
          <p:spPr>
            <a:xfrm>
              <a:off x="6748280" y="2412030"/>
              <a:ext cx="1484709" cy="901530"/>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Acheteurs locaux</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Bureau des Achats Industriels</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Acheteurs Outre-Mer</a:t>
              </a:r>
              <a:endParaRPr lang="fr-FR" sz="900" dirty="0">
                <a:solidFill>
                  <a:schemeClr val="tx1"/>
                </a:solidFill>
                <a:latin typeface="Arial" pitchFamily="34" charset="0"/>
                <a:cs typeface="Arial" pitchFamily="34" charset="0"/>
              </a:endParaRPr>
            </a:p>
          </p:txBody>
        </p:sp>
        <p:sp>
          <p:nvSpPr>
            <p:cNvPr id="18" name="Rectangle 17"/>
            <p:cNvSpPr/>
            <p:nvPr/>
          </p:nvSpPr>
          <p:spPr>
            <a:xfrm>
              <a:off x="6697857" y="2111948"/>
              <a:ext cx="997389"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Public cible</a:t>
              </a:r>
            </a:p>
          </p:txBody>
        </p:sp>
      </p:grpSp>
      <p:grpSp>
        <p:nvGrpSpPr>
          <p:cNvPr id="15" name="Groupe 14"/>
          <p:cNvGrpSpPr/>
          <p:nvPr/>
        </p:nvGrpSpPr>
        <p:grpSpPr>
          <a:xfrm>
            <a:off x="6474246" y="3407285"/>
            <a:ext cx="1915016" cy="813860"/>
            <a:chOff x="6696969" y="3407285"/>
            <a:chExt cx="1536020" cy="813860"/>
          </a:xfrm>
        </p:grpSpPr>
        <p:sp>
          <p:nvSpPr>
            <p:cNvPr id="13" name="Rectangle 12"/>
            <p:cNvSpPr/>
            <p:nvPr/>
          </p:nvSpPr>
          <p:spPr>
            <a:xfrm>
              <a:off x="6748280" y="3689526"/>
              <a:ext cx="1484709" cy="531619"/>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Introduction à SAP</a:t>
              </a:r>
              <a:endParaRPr lang="fr-FR" sz="900" dirty="0">
                <a:solidFill>
                  <a:schemeClr val="tx1"/>
                </a:solidFill>
                <a:latin typeface="Arial" pitchFamily="34" charset="0"/>
                <a:cs typeface="Arial" pitchFamily="34" charset="0"/>
              </a:endParaRPr>
            </a:p>
          </p:txBody>
        </p:sp>
        <p:sp>
          <p:nvSpPr>
            <p:cNvPr id="20" name="Rectangle 19"/>
            <p:cNvSpPr/>
            <p:nvPr/>
          </p:nvSpPr>
          <p:spPr>
            <a:xfrm>
              <a:off x="6696969" y="3407285"/>
              <a:ext cx="918201"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Pré-requis</a:t>
              </a:r>
            </a:p>
          </p:txBody>
        </p:sp>
      </p:grpSp>
      <p:pic>
        <p:nvPicPr>
          <p:cNvPr id="9" name="Image 8"/>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5761" y="2571750"/>
            <a:ext cx="1737511" cy="1731414"/>
          </a:xfrm>
          <a:prstGeom prst="rect">
            <a:avLst/>
          </a:prstGeom>
        </p:spPr>
      </p:pic>
    </p:spTree>
    <p:extLst>
      <p:ext uri="{BB962C8B-B14F-4D97-AF65-F5344CB8AC3E}">
        <p14:creationId xmlns:p14="http://schemas.microsoft.com/office/powerpoint/2010/main" val="15319219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172068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167527976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lstStyle/>
          <a:p>
            <a:r>
              <a:rPr lang="fr-FR" altLang="en-US" sz="2400" dirty="0" smtClean="0"/>
              <a:t>Description du processus métier</a:t>
            </a:r>
            <a:r>
              <a:rPr lang="fr-FR" altLang="en-US" dirty="0" smtClean="0"/>
              <a:t/>
            </a:r>
            <a:br>
              <a:rPr lang="fr-FR" altLang="en-US" dirty="0" smtClean="0"/>
            </a:br>
            <a:r>
              <a:rPr lang="fr-FR" altLang="en-US" dirty="0" smtClean="0"/>
              <a:t>Les enjeux du processus</a:t>
            </a:r>
            <a:endParaRPr lang="en-US" altLang="en-US" dirty="0" smtClean="0"/>
          </a:p>
        </p:txBody>
      </p:sp>
      <p:sp>
        <p:nvSpPr>
          <p:cNvPr id="2" name="Espace réservé du contenu 1"/>
          <p:cNvSpPr>
            <a:spLocks noGrp="1"/>
          </p:cNvSpPr>
          <p:nvPr>
            <p:ph idx="1"/>
          </p:nvPr>
        </p:nvSpPr>
        <p:spPr>
          <a:xfrm>
            <a:off x="573578" y="1152525"/>
            <a:ext cx="8246571" cy="3240571"/>
          </a:xfrm>
        </p:spPr>
        <p:txBody>
          <a:bodyPr/>
          <a:lstStyle/>
          <a:p>
            <a:r>
              <a:rPr lang="fr-FR" dirty="0" smtClean="0"/>
              <a:t>Le processus de gestion des sources d’approvisionnement permet :</a:t>
            </a:r>
          </a:p>
          <a:p>
            <a:r>
              <a:rPr lang="fr-FR" b="1" dirty="0" smtClean="0">
                <a:solidFill>
                  <a:srgbClr val="0070C0"/>
                </a:solidFill>
              </a:rPr>
              <a:t>Pour les Achats</a:t>
            </a:r>
          </a:p>
          <a:p>
            <a:pPr marL="171450" indent="-171450">
              <a:buClr>
                <a:srgbClr val="0070C0"/>
              </a:buClr>
              <a:buSzPct val="100000"/>
              <a:buFont typeface="Arial" panose="020B0604020202020204" pitchFamily="34" charset="0"/>
              <a:buChar char="•"/>
            </a:pPr>
            <a:r>
              <a:rPr lang="fr-FR" dirty="0" smtClean="0"/>
              <a:t>Déterminer la source (fournisseur ou division) la plus appropriée pour l’achat de l’article</a:t>
            </a:r>
          </a:p>
          <a:p>
            <a:pPr marL="171450" indent="-171450">
              <a:buClr>
                <a:srgbClr val="0070C0"/>
              </a:buClr>
              <a:buSzPct val="100000"/>
              <a:buFont typeface="Arial" panose="020B0604020202020204" pitchFamily="34" charset="0"/>
              <a:buChar char="•"/>
            </a:pPr>
            <a:r>
              <a:rPr lang="fr-FR" dirty="0" smtClean="0"/>
              <a:t>Faciliter le processus décisionnel pour les acheteurs en fournissant les informations nécessaires pour l’achat d’un article</a:t>
            </a:r>
          </a:p>
          <a:p>
            <a:pPr marL="171450" indent="-171450">
              <a:buClr>
                <a:srgbClr val="0070C0"/>
              </a:buClr>
              <a:buSzPct val="100000"/>
              <a:buFont typeface="Arial" panose="020B0604020202020204" pitchFamily="34" charset="0"/>
              <a:buChar char="•"/>
            </a:pPr>
            <a:endParaRPr lang="fr-FR" dirty="0" smtClean="0"/>
          </a:p>
        </p:txBody>
      </p:sp>
    </p:spTree>
    <p:extLst>
      <p:ext uri="{BB962C8B-B14F-4D97-AF65-F5344CB8AC3E}">
        <p14:creationId xmlns:p14="http://schemas.microsoft.com/office/powerpoint/2010/main" val="1028002946"/>
      </p:ext>
    </p:extLst>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3304734" y="1773937"/>
            <a:ext cx="1487553" cy="1877731"/>
          </a:xfrm>
          <a:prstGeom prst="rect">
            <a:avLst/>
          </a:prstGeom>
        </p:spPr>
      </p:pic>
      <p:sp>
        <p:nvSpPr>
          <p:cNvPr id="28674" name="Titre 1"/>
          <p:cNvSpPr>
            <a:spLocks noGrp="1"/>
          </p:cNvSpPr>
          <p:nvPr>
            <p:ph type="title"/>
          </p:nvPr>
        </p:nvSpPr>
        <p:spPr/>
        <p:txBody>
          <a:bodyPr/>
          <a:lstStyle/>
          <a:p>
            <a:r>
              <a:rPr lang="fr-FR" altLang="en-US" sz="2400" dirty="0" smtClean="0"/>
              <a:t>Description du processus métier</a:t>
            </a:r>
            <a:r>
              <a:rPr lang="fr-FR" altLang="en-US" dirty="0" smtClean="0"/>
              <a:t/>
            </a:r>
            <a:br>
              <a:rPr lang="fr-FR" altLang="en-US" dirty="0" smtClean="0"/>
            </a:br>
            <a:r>
              <a:rPr lang="fr-FR" altLang="en-US" dirty="0" smtClean="0"/>
              <a:t>Gestion des fiches info-achat</a:t>
            </a:r>
            <a:endParaRPr lang="en-US" altLang="en-US" dirty="0" smtClean="0"/>
          </a:p>
        </p:txBody>
      </p:sp>
      <p:sp>
        <p:nvSpPr>
          <p:cNvPr id="28678" name="AutoShape 6"/>
          <p:cNvSpPr>
            <a:spLocks noChangeArrowheads="1"/>
          </p:cNvSpPr>
          <p:nvPr/>
        </p:nvSpPr>
        <p:spPr bwMode="auto">
          <a:xfrm>
            <a:off x="1613861" y="1534837"/>
            <a:ext cx="1570434" cy="478201"/>
          </a:xfrm>
          <a:prstGeom prst="wedgeRoundRectCallout">
            <a:avLst>
              <a:gd name="adj1" fmla="val 56951"/>
              <a:gd name="adj2" fmla="val 99742"/>
              <a:gd name="adj3" fmla="val 16667"/>
            </a:avLst>
          </a:prstGeom>
          <a:ln>
            <a:headEnd type="none" w="sm" len="sm"/>
            <a:tailEnd type="none" w="sm" len="sm"/>
          </a:ln>
        </p:spPr>
        <p:style>
          <a:lnRef idx="0">
            <a:schemeClr val="accent4"/>
          </a:lnRef>
          <a:fillRef idx="3">
            <a:schemeClr val="accent4"/>
          </a:fillRef>
          <a:effectRef idx="3">
            <a:schemeClr val="accent4"/>
          </a:effectRef>
          <a:fontRef idx="minor">
            <a:schemeClr val="lt1"/>
          </a:fontRef>
        </p:style>
        <p:txBody>
          <a:bodyPr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spcBef>
                <a:spcPts val="225"/>
              </a:spcBef>
            </a:pPr>
            <a:r>
              <a:rPr lang="fr-FR" altLang="en-US" sz="1050" dirty="0">
                <a:cs typeface="Arial" panose="020B0604020202020204" pitchFamily="34" charset="0"/>
              </a:rPr>
              <a:t>Quand dois-je créer </a:t>
            </a:r>
            <a:r>
              <a:rPr lang="fr-FR" altLang="en-US" sz="1050" dirty="0" smtClean="0">
                <a:cs typeface="Arial" panose="020B0604020202020204" pitchFamily="34" charset="0"/>
              </a:rPr>
              <a:t>une fiche info-achat  </a:t>
            </a:r>
            <a:r>
              <a:rPr lang="fr-FR" altLang="en-US" sz="1050" dirty="0">
                <a:cs typeface="Arial" panose="020B0604020202020204" pitchFamily="34" charset="0"/>
              </a:rPr>
              <a:t>?</a:t>
            </a:r>
          </a:p>
        </p:txBody>
      </p:sp>
      <p:sp>
        <p:nvSpPr>
          <p:cNvPr id="28679" name="AutoShape 7"/>
          <p:cNvSpPr>
            <a:spLocks noChangeArrowheads="1"/>
          </p:cNvSpPr>
          <p:nvPr/>
        </p:nvSpPr>
        <p:spPr bwMode="auto">
          <a:xfrm>
            <a:off x="1450182" y="3595561"/>
            <a:ext cx="1647825" cy="478201"/>
          </a:xfrm>
          <a:prstGeom prst="wedgeRoundRectCallout">
            <a:avLst>
              <a:gd name="adj1" fmla="val 51847"/>
              <a:gd name="adj2" fmla="val -107324"/>
              <a:gd name="adj3" fmla="val 16667"/>
            </a:avLst>
          </a:prstGeom>
          <a:gradFill>
            <a:gsLst>
              <a:gs pos="0">
                <a:srgbClr val="0070C0"/>
              </a:gs>
              <a:gs pos="100000">
                <a:srgbClr val="4F81BD"/>
              </a:gs>
            </a:gsLst>
          </a:gradFill>
          <a:ln>
            <a:headEnd type="none" w="sm" len="sm"/>
            <a:tailEnd type="none" w="sm" len="sm"/>
          </a:ln>
        </p:spPr>
        <p:style>
          <a:lnRef idx="0">
            <a:schemeClr val="accent2"/>
          </a:lnRef>
          <a:fillRef idx="3">
            <a:schemeClr val="accent2"/>
          </a:fillRef>
          <a:effectRef idx="3">
            <a:schemeClr val="accent2"/>
          </a:effectRef>
          <a:fontRef idx="minor">
            <a:schemeClr val="lt1"/>
          </a:fontRef>
        </p:style>
        <p:txBody>
          <a:bodyPr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ts val="225"/>
              </a:spcBef>
            </a:pPr>
            <a:r>
              <a:rPr lang="fr-FR" altLang="en-US" sz="1050" dirty="0">
                <a:solidFill>
                  <a:schemeClr val="bg1"/>
                </a:solidFill>
                <a:cs typeface="Arial" panose="020B0604020202020204" pitchFamily="34" charset="0"/>
              </a:rPr>
              <a:t>Que trouve-t-on dans </a:t>
            </a:r>
            <a:r>
              <a:rPr lang="fr-FR" altLang="en-US" sz="1050" dirty="0" smtClean="0">
                <a:solidFill>
                  <a:schemeClr val="bg1"/>
                </a:solidFill>
                <a:cs typeface="Arial" panose="020B0604020202020204" pitchFamily="34" charset="0"/>
              </a:rPr>
              <a:t>une fiche info achat ?</a:t>
            </a:r>
            <a:endParaRPr lang="fr-FR" altLang="en-US" sz="1050" dirty="0">
              <a:solidFill>
                <a:schemeClr val="bg1"/>
              </a:solidFill>
              <a:cs typeface="Arial" panose="020B0604020202020204" pitchFamily="34" charset="0"/>
            </a:endParaRPr>
          </a:p>
        </p:txBody>
      </p:sp>
      <p:sp>
        <p:nvSpPr>
          <p:cNvPr id="28680" name="AutoShape 9"/>
          <p:cNvSpPr>
            <a:spLocks noChangeArrowheads="1"/>
          </p:cNvSpPr>
          <p:nvPr/>
        </p:nvSpPr>
        <p:spPr bwMode="auto">
          <a:xfrm>
            <a:off x="5205740" y="2308117"/>
            <a:ext cx="2383970" cy="478201"/>
          </a:xfrm>
          <a:prstGeom prst="wedgeRoundRectCallout">
            <a:avLst>
              <a:gd name="adj1" fmla="val -68582"/>
              <a:gd name="adj2" fmla="val -32549"/>
              <a:gd name="adj3" fmla="val 16667"/>
            </a:avLst>
          </a:prstGeom>
          <a:ln>
            <a:headEnd type="none" w="sm" len="sm"/>
            <a:tailEnd type="none" w="sm" len="sm"/>
          </a:ln>
        </p:spPr>
        <p:style>
          <a:lnRef idx="0">
            <a:schemeClr val="accent3"/>
          </a:lnRef>
          <a:fillRef idx="3">
            <a:schemeClr val="accent3"/>
          </a:fillRef>
          <a:effectRef idx="3">
            <a:schemeClr val="accent3"/>
          </a:effectRef>
          <a:fontRef idx="minor">
            <a:schemeClr val="lt1"/>
          </a:fontRef>
        </p:style>
        <p:txBody>
          <a:bodyPr wrap="square"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spcBef>
                <a:spcPts val="225"/>
              </a:spcBef>
            </a:pPr>
            <a:r>
              <a:rPr lang="fr-FR" altLang="en-US" sz="1050" dirty="0" smtClean="0">
                <a:solidFill>
                  <a:schemeClr val="bg1"/>
                </a:solidFill>
              </a:rPr>
              <a:t>Les acheteurs sont responsables de la création des fiches info achats</a:t>
            </a:r>
            <a:endParaRPr lang="fr-FR" altLang="en-US" sz="1050" dirty="0">
              <a:solidFill>
                <a:schemeClr val="bg1"/>
              </a:solidFill>
            </a:endParaRPr>
          </a:p>
        </p:txBody>
      </p:sp>
      <p:sp>
        <p:nvSpPr>
          <p:cNvPr id="28681" name="AutoShape 12"/>
          <p:cNvSpPr>
            <a:spLocks noChangeArrowheads="1"/>
          </p:cNvSpPr>
          <p:nvPr/>
        </p:nvSpPr>
        <p:spPr bwMode="auto">
          <a:xfrm>
            <a:off x="5205740" y="1566321"/>
            <a:ext cx="2701669" cy="478201"/>
          </a:xfrm>
          <a:prstGeom prst="wedgeRoundRectCallout">
            <a:avLst>
              <a:gd name="adj1" fmla="val -65597"/>
              <a:gd name="adj2" fmla="val 45226"/>
              <a:gd name="adj3" fmla="val 16667"/>
            </a:avLst>
          </a:prstGeom>
          <a:ln>
            <a:headEnd type="none" w="sm" len="sm"/>
            <a:tailEnd type="none" w="sm" len="sm"/>
          </a:ln>
        </p:spPr>
        <p:style>
          <a:lnRef idx="0">
            <a:schemeClr val="accent4"/>
          </a:lnRef>
          <a:fillRef idx="3">
            <a:schemeClr val="accent4"/>
          </a:fillRef>
          <a:effectRef idx="3">
            <a:schemeClr val="accent4"/>
          </a:effectRef>
          <a:fontRef idx="minor">
            <a:schemeClr val="lt1"/>
          </a:fontRef>
        </p:style>
        <p:txBody>
          <a:bodyPr wrap="square"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spcBef>
                <a:spcPts val="225"/>
              </a:spcBef>
            </a:pPr>
            <a:r>
              <a:rPr lang="fr-FR" altLang="en-US" sz="1050" dirty="0" smtClean="0"/>
              <a:t>A chaque </a:t>
            </a:r>
            <a:r>
              <a:rPr lang="fr-FR" altLang="en-US" sz="1050" dirty="0" smtClean="0"/>
              <a:t>fois que j’achète un article pour la première fois chez un fournisseur</a:t>
            </a:r>
            <a:endParaRPr lang="fr-FR" altLang="en-US" sz="1050" dirty="0"/>
          </a:p>
        </p:txBody>
      </p:sp>
      <p:sp>
        <p:nvSpPr>
          <p:cNvPr id="28682" name="AutoShape 6"/>
          <p:cNvSpPr>
            <a:spLocks noChangeArrowheads="1"/>
          </p:cNvSpPr>
          <p:nvPr/>
        </p:nvSpPr>
        <p:spPr bwMode="auto">
          <a:xfrm>
            <a:off x="1739947" y="2394864"/>
            <a:ext cx="1151334" cy="656973"/>
          </a:xfrm>
          <a:prstGeom prst="wedgeRoundRectCallout">
            <a:avLst>
              <a:gd name="adj1" fmla="val 86777"/>
              <a:gd name="adj2" fmla="val -38901"/>
              <a:gd name="adj3" fmla="val 16667"/>
            </a:avLst>
          </a:prstGeom>
          <a:ln>
            <a:headEnd type="none" w="sm" len="sm"/>
            <a:tailEnd type="none" w="sm" len="sm"/>
          </a:ln>
        </p:spPr>
        <p:style>
          <a:lnRef idx="0">
            <a:schemeClr val="accent3"/>
          </a:lnRef>
          <a:fillRef idx="3">
            <a:schemeClr val="accent3"/>
          </a:fillRef>
          <a:effectRef idx="3">
            <a:schemeClr val="accent3"/>
          </a:effectRef>
          <a:fontRef idx="minor">
            <a:schemeClr val="lt1"/>
          </a:fontRef>
        </p:style>
        <p:txBody>
          <a:bodyPr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ts val="225"/>
              </a:spcBef>
            </a:pPr>
            <a:r>
              <a:rPr lang="fr-FR" altLang="en-US" sz="1050" dirty="0">
                <a:solidFill>
                  <a:schemeClr val="bg1"/>
                </a:solidFill>
                <a:cs typeface="Arial" panose="020B0604020202020204" pitchFamily="34" charset="0"/>
              </a:rPr>
              <a:t>Qui doit créer </a:t>
            </a:r>
            <a:r>
              <a:rPr lang="fr-FR" altLang="en-US" sz="1050" dirty="0" smtClean="0">
                <a:solidFill>
                  <a:schemeClr val="bg1"/>
                </a:solidFill>
                <a:cs typeface="Arial" panose="020B0604020202020204" pitchFamily="34" charset="0"/>
              </a:rPr>
              <a:t>une fiche info achat ?</a:t>
            </a:r>
            <a:endParaRPr lang="fr-FR" altLang="en-US" sz="1050" dirty="0">
              <a:solidFill>
                <a:schemeClr val="bg1"/>
              </a:solidFill>
              <a:cs typeface="Arial" panose="020B0604020202020204" pitchFamily="34" charset="0"/>
            </a:endParaRPr>
          </a:p>
        </p:txBody>
      </p:sp>
      <p:sp>
        <p:nvSpPr>
          <p:cNvPr id="28685" name="AutoShape 10"/>
          <p:cNvSpPr>
            <a:spLocks noChangeArrowheads="1"/>
          </p:cNvSpPr>
          <p:nvPr/>
        </p:nvSpPr>
        <p:spPr bwMode="auto">
          <a:xfrm>
            <a:off x="5312709" y="3339166"/>
            <a:ext cx="2648962" cy="835746"/>
          </a:xfrm>
          <a:prstGeom prst="wedgeRoundRectCallout">
            <a:avLst>
              <a:gd name="adj1" fmla="val -69746"/>
              <a:gd name="adj2" fmla="val -39699"/>
              <a:gd name="adj3" fmla="val 16667"/>
            </a:avLst>
          </a:prstGeom>
          <a:gradFill>
            <a:gsLst>
              <a:gs pos="0">
                <a:srgbClr val="0070C0"/>
              </a:gs>
              <a:gs pos="100000">
                <a:srgbClr val="4F81BD"/>
              </a:gs>
            </a:gsLst>
          </a:gradFill>
          <a:ln>
            <a:headEnd type="none" w="sm" len="sm"/>
            <a:tailEnd type="none" w="sm" len="sm"/>
          </a:ln>
        </p:spPr>
        <p:style>
          <a:lnRef idx="0">
            <a:schemeClr val="accent2"/>
          </a:lnRef>
          <a:fillRef idx="3">
            <a:schemeClr val="accent2"/>
          </a:fillRef>
          <a:effectRef idx="3">
            <a:schemeClr val="accent2"/>
          </a:effectRef>
          <a:fontRef idx="minor">
            <a:schemeClr val="lt1"/>
          </a:fontRef>
        </p:style>
        <p:txBody>
          <a:bodyPr wrap="square" lIns="54000" tIns="54000" rIns="54000" bIns="54000" anchor="ctr">
            <a:spAutoFit/>
          </a:bodyPr>
          <a:lstStyle/>
          <a:p>
            <a:pPr marL="742950" lvl="1" indent="-285750" eaLnBrk="0" hangingPunct="0"/>
            <a:r>
              <a:rPr lang="fr-FR" sz="105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Le fournisseur</a:t>
            </a:r>
            <a:endParaRPr lang="en-US" sz="1050"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marL="742950" lvl="1" indent="-285750" eaLnBrk="0" hangingPunct="0"/>
            <a:r>
              <a:rPr lang="fr-FR" sz="105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L’organisation </a:t>
            </a:r>
            <a:r>
              <a:rPr lang="fr-FR" sz="105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d’achat</a:t>
            </a:r>
            <a:endParaRPr lang="en-US" sz="1050"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marL="742950" lvl="1" indent="-285750" eaLnBrk="0" hangingPunct="0"/>
            <a:r>
              <a:rPr lang="fr-FR" sz="105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Période de validité</a:t>
            </a:r>
            <a:endParaRPr lang="en-US" sz="1050"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marL="742950" lvl="1" indent="-285750" eaLnBrk="0" hangingPunct="0"/>
            <a:r>
              <a:rPr lang="fr-FR" sz="105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Les articles</a:t>
            </a:r>
            <a:endParaRPr lang="en-US" sz="1050"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1572544412"/>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062823" y="1379621"/>
            <a:ext cx="2048434" cy="1524132"/>
          </a:xfrm>
          <a:prstGeom prst="rect">
            <a:avLst/>
          </a:prstGeom>
        </p:spPr>
      </p:pic>
      <p:sp>
        <p:nvSpPr>
          <p:cNvPr id="29698" name="Titre 1"/>
          <p:cNvSpPr>
            <a:spLocks noGrp="1"/>
          </p:cNvSpPr>
          <p:nvPr>
            <p:ph type="title"/>
          </p:nvPr>
        </p:nvSpPr>
        <p:spPr/>
        <p:txBody>
          <a:bodyPr/>
          <a:lstStyle/>
          <a:p>
            <a:r>
              <a:rPr lang="fr-FR" altLang="en-US" sz="2400" dirty="0" smtClean="0"/>
              <a:t>Description du processus métier</a:t>
            </a:r>
            <a:br>
              <a:rPr lang="fr-FR" altLang="en-US" sz="2400" dirty="0" smtClean="0"/>
            </a:br>
            <a:r>
              <a:rPr lang="fr-FR" altLang="en-US" dirty="0" smtClean="0"/>
              <a:t>Un sous processus de la gestion des contrats</a:t>
            </a:r>
            <a:endParaRPr lang="en-US" altLang="en-US" dirty="0" smtClean="0"/>
          </a:p>
        </p:txBody>
      </p:sp>
      <p:sp>
        <p:nvSpPr>
          <p:cNvPr id="20" name="Rectangle à coins arrondis 19"/>
          <p:cNvSpPr/>
          <p:nvPr/>
        </p:nvSpPr>
        <p:spPr>
          <a:xfrm>
            <a:off x="4898773" y="1162123"/>
            <a:ext cx="2874704" cy="1014518"/>
          </a:xfrm>
          <a:prstGeom prst="wedgeRoundRectCallout">
            <a:avLst>
              <a:gd name="adj1" fmla="val -74743"/>
              <a:gd name="adj2" fmla="val 1285"/>
              <a:gd name="adj3" fmla="val 16667"/>
            </a:avLst>
          </a:prstGeom>
          <a:gradFill>
            <a:gsLst>
              <a:gs pos="0">
                <a:srgbClr val="0070C0"/>
              </a:gs>
              <a:gs pos="100000">
                <a:srgbClr val="4F81BD"/>
              </a:gs>
            </a:gsLst>
          </a:gradFill>
          <a:ln>
            <a:headEnd type="none" w="sm" len="sm"/>
            <a:tailEnd type="none" w="sm" len="sm"/>
          </a:ln>
        </p:spPr>
        <p:style>
          <a:lnRef idx="0">
            <a:schemeClr val="accent2"/>
          </a:lnRef>
          <a:fillRef idx="3">
            <a:schemeClr val="accent2"/>
          </a:fillRef>
          <a:effectRef idx="3">
            <a:schemeClr val="accent2"/>
          </a:effectRef>
          <a:fontRef idx="minor">
            <a:schemeClr val="lt1"/>
          </a:fontRef>
        </p:style>
        <p:txBody>
          <a:bodyPr wrap="square" lIns="54000" tIns="54000" rIns="54000" bIns="54000" anchor="ctr">
            <a:spAutoFit/>
          </a:bodyPr>
          <a:lstStyle/>
          <a:p>
            <a:pPr marL="171450" indent="-171450">
              <a:spcBef>
                <a:spcPts val="225"/>
              </a:spcBef>
              <a:buFont typeface="Arial" panose="020B0604020202020204" pitchFamily="34" charset="0"/>
              <a:buChar char="•"/>
            </a:pPr>
            <a:r>
              <a:rPr lang="fr-FR" sz="1050" dirty="0">
                <a:solidFill>
                  <a:schemeClr val="bg1"/>
                </a:solidFill>
                <a:latin typeface="Arial" panose="020B0604020202020204" pitchFamily="34" charset="0"/>
                <a:ea typeface="ＭＳ Ｐゴシック" panose="020B0600070205080204" pitchFamily="34" charset="-128"/>
              </a:rPr>
              <a:t>La gestion </a:t>
            </a:r>
            <a:r>
              <a:rPr lang="fr-FR" sz="1050" dirty="0" smtClean="0">
                <a:solidFill>
                  <a:schemeClr val="bg1"/>
                </a:solidFill>
                <a:latin typeface="Arial" panose="020B0604020202020204" pitchFamily="34" charset="0"/>
                <a:ea typeface="ＭＳ Ｐゴシック" panose="020B0600070205080204" pitchFamily="34" charset="-128"/>
              </a:rPr>
              <a:t>des fiches info-achats et des répertoires des sources d’approvisionnement font parties du processus de Gestion des sources d’approvisionnement</a:t>
            </a:r>
          </a:p>
        </p:txBody>
      </p:sp>
      <p:sp>
        <p:nvSpPr>
          <p:cNvPr id="29701" name="AutoShape 17"/>
          <p:cNvSpPr>
            <a:spLocks noChangeArrowheads="1"/>
          </p:cNvSpPr>
          <p:nvPr/>
        </p:nvSpPr>
        <p:spPr bwMode="auto">
          <a:xfrm>
            <a:off x="2505266" y="3509510"/>
            <a:ext cx="1791323" cy="400050"/>
          </a:xfrm>
          <a:prstGeom prst="chevron">
            <a:avLst>
              <a:gd name="adj" fmla="val 28704"/>
            </a:avLst>
          </a:prstGeom>
          <a:solidFill>
            <a:srgbClr val="0070C0"/>
          </a:solidFill>
          <a:ln w="12700" algn="ctr">
            <a:solidFill>
              <a:srgbClr val="004376"/>
            </a:solidFill>
            <a:miter lim="800000"/>
            <a:headEnd/>
            <a:tailEnd/>
          </a:ln>
        </p:spPr>
        <p:txBody>
          <a:bodyPr lIns="0" tIns="68580" rIns="108000" bIns="68580" anchor="ctr"/>
          <a:lstStyle>
            <a:lvl1pPr marL="93663"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r>
              <a:rPr lang="fr-FR" altLang="ko-KR" sz="800" b="1" dirty="0" smtClean="0">
                <a:solidFill>
                  <a:schemeClr val="bg1"/>
                </a:solidFill>
                <a:latin typeface="Verdana" panose="020B0604030504040204" pitchFamily="34" charset="0"/>
                <a:cs typeface="Arial" panose="020B0604020202020204" pitchFamily="34" charset="0"/>
              </a:rPr>
              <a:t>Création d’une fiche information d’achat</a:t>
            </a:r>
            <a:endParaRPr lang="fr-FR" altLang="ko-KR" sz="800" b="1" dirty="0">
              <a:solidFill>
                <a:schemeClr val="bg1"/>
              </a:solidFill>
              <a:latin typeface="Verdana" panose="020B0604030504040204" pitchFamily="34" charset="0"/>
              <a:cs typeface="Arial" panose="020B0604020202020204" pitchFamily="34" charset="0"/>
            </a:endParaRPr>
          </a:p>
        </p:txBody>
      </p:sp>
      <p:sp>
        <p:nvSpPr>
          <p:cNvPr id="29702" name="AutoShape 18"/>
          <p:cNvSpPr>
            <a:spLocks noChangeArrowheads="1"/>
          </p:cNvSpPr>
          <p:nvPr/>
        </p:nvSpPr>
        <p:spPr bwMode="auto">
          <a:xfrm>
            <a:off x="4355814" y="3509510"/>
            <a:ext cx="1789598" cy="400050"/>
          </a:xfrm>
          <a:prstGeom prst="chevron">
            <a:avLst>
              <a:gd name="adj" fmla="val 28676"/>
            </a:avLst>
          </a:prstGeom>
          <a:solidFill>
            <a:srgbClr val="0070C0"/>
          </a:solidFill>
          <a:ln w="12700" algn="ctr">
            <a:solidFill>
              <a:srgbClr val="004376"/>
            </a:solidFill>
            <a:miter lim="800000"/>
            <a:headEnd/>
            <a:tailEnd/>
          </a:ln>
        </p:spPr>
        <p:txBody>
          <a:bodyPr lIns="0" tIns="68580" rIns="108000" bIns="68580" anchor="ctr"/>
          <a:lstStyle>
            <a:lvl1pPr marL="93663"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r>
              <a:rPr lang="fr-FR" altLang="ko-KR" sz="800" b="1" dirty="0" smtClean="0">
                <a:solidFill>
                  <a:schemeClr val="bg1"/>
                </a:solidFill>
                <a:latin typeface="Verdana" panose="020B0604030504040204" pitchFamily="34" charset="0"/>
                <a:cs typeface="Arial" panose="020B0604020202020204" pitchFamily="34" charset="0"/>
              </a:rPr>
              <a:t>Création d’un répertoire des sources d’approvisionnement</a:t>
            </a:r>
            <a:endParaRPr lang="fr-FR" altLang="ko-KR" sz="800" b="1" dirty="0">
              <a:solidFill>
                <a:schemeClr val="bg1"/>
              </a:solidFill>
              <a:latin typeface="Verdana" panose="020B0604030504040204" pitchFamily="34" charset="0"/>
              <a:cs typeface="Arial" panose="020B0604020202020204" pitchFamily="34" charset="0"/>
            </a:endParaRPr>
          </a:p>
        </p:txBody>
      </p:sp>
    </p:spTree>
    <p:extLst>
      <p:ext uri="{BB962C8B-B14F-4D97-AF65-F5344CB8AC3E}">
        <p14:creationId xmlns:p14="http://schemas.microsoft.com/office/powerpoint/2010/main" val="178853090"/>
      </p:ext>
    </p:extLst>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re 4"/>
          <p:cNvSpPr>
            <a:spLocks noGrp="1"/>
          </p:cNvSpPr>
          <p:nvPr>
            <p:ph type="title"/>
          </p:nvPr>
        </p:nvSpPr>
        <p:spPr/>
        <p:txBody>
          <a:bodyPr>
            <a:normAutofit/>
          </a:bodyPr>
          <a:lstStyle/>
          <a:p>
            <a:r>
              <a:rPr lang="fr-FR" altLang="en-US" sz="2400" dirty="0" smtClean="0"/>
              <a:t>Le processus de gestion des fiches info-achat</a:t>
            </a:r>
            <a:endParaRPr lang="en-US" altLang="en-US" sz="2400" dirty="0" smtClean="0"/>
          </a:p>
        </p:txBody>
      </p:sp>
      <p:pic>
        <p:nvPicPr>
          <p:cNvPr id="4" name="Image 3"/>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60817" y="1100137"/>
            <a:ext cx="6222365" cy="2943225"/>
          </a:xfrm>
          <a:prstGeom prst="rect">
            <a:avLst/>
          </a:prstGeom>
          <a:noFill/>
        </p:spPr>
      </p:pic>
    </p:spTree>
    <p:extLst>
      <p:ext uri="{BB962C8B-B14F-4D97-AF65-F5344CB8AC3E}">
        <p14:creationId xmlns:p14="http://schemas.microsoft.com/office/powerpoint/2010/main" val="1123108480"/>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209723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68750923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Titre 3"/>
          <p:cNvSpPr>
            <a:spLocks noGrp="1"/>
          </p:cNvSpPr>
          <p:nvPr>
            <p:ph type="title"/>
          </p:nvPr>
        </p:nvSpPr>
        <p:spPr/>
        <p:txBody>
          <a:bodyPr/>
          <a:lstStyle/>
          <a:p>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a:t>
            </a:r>
          </a:p>
        </p:txBody>
      </p:sp>
      <p:sp>
        <p:nvSpPr>
          <p:cNvPr id="4" name="Rectangle 3"/>
          <p:cNvSpPr/>
          <p:nvPr/>
        </p:nvSpPr>
        <p:spPr>
          <a:xfrm>
            <a:off x="1485900" y="1357815"/>
            <a:ext cx="6001941" cy="423863"/>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defRPr/>
            </a:pPr>
            <a:r>
              <a:rPr lang="fr-FR" sz="1350" b="1" dirty="0" smtClean="0">
                <a:solidFill>
                  <a:schemeClr val="bg1"/>
                </a:solidFill>
                <a:latin typeface="Arial" pitchFamily="34" charset="0"/>
                <a:cs typeface="Arial" pitchFamily="34" charset="0"/>
              </a:rPr>
              <a:t>Fiche info-achat</a:t>
            </a:r>
            <a:endParaRPr lang="en-US" sz="1350" b="1" dirty="0">
              <a:solidFill>
                <a:schemeClr val="bg1"/>
              </a:solidFill>
              <a:latin typeface="Arial" pitchFamily="34" charset="0"/>
              <a:cs typeface="Arial" pitchFamily="34" charset="0"/>
            </a:endParaRPr>
          </a:p>
        </p:txBody>
      </p:sp>
      <p:sp>
        <p:nvSpPr>
          <p:cNvPr id="36868" name="Espace réservé du contenu 4"/>
          <p:cNvSpPr>
            <a:spLocks noGrp="1"/>
          </p:cNvSpPr>
          <p:nvPr>
            <p:ph idx="1"/>
          </p:nvPr>
        </p:nvSpPr>
        <p:spPr>
          <a:xfrm>
            <a:off x="1485900" y="2071563"/>
            <a:ext cx="6001941" cy="1698331"/>
          </a:xfrm>
        </p:spPr>
        <p:txBody>
          <a:bodyPr/>
          <a:lstStyle/>
          <a:p>
            <a:r>
              <a:rPr lang="fr-FR" dirty="0"/>
              <a:t>Source d'informations pour le système Achats. La fiche infos-achats contient des informations sur un article spécifique et son fournisseur. Par exemple, le prix actuel du fournisseur est enregistré dans la fiche infos-achats.</a:t>
            </a:r>
          </a:p>
          <a:p>
            <a:r>
              <a:rPr lang="fr-FR" dirty="0"/>
              <a:t>La fiche infos-achats permet également aux acheteurs de déterminer rapidement :</a:t>
            </a:r>
          </a:p>
          <a:p>
            <a:pPr marL="171450" indent="-171450">
              <a:buClr>
                <a:srgbClr val="004376"/>
              </a:buClr>
              <a:buSzPct val="100000"/>
              <a:buFont typeface="Arial" panose="020B0604020202020204" pitchFamily="34" charset="0"/>
              <a:buChar char="•"/>
            </a:pPr>
            <a:r>
              <a:rPr lang="fr-FR" dirty="0" smtClean="0"/>
              <a:t>Quels </a:t>
            </a:r>
            <a:r>
              <a:rPr lang="fr-FR" dirty="0"/>
              <a:t>articles ont été proposés ou fournis auparavant par un fournisseur </a:t>
            </a:r>
            <a:r>
              <a:rPr lang="fr-FR" dirty="0" smtClean="0"/>
              <a:t>particulier</a:t>
            </a:r>
            <a:endParaRPr lang="fr-FR" dirty="0"/>
          </a:p>
          <a:p>
            <a:pPr marL="171450" indent="-171450">
              <a:buClr>
                <a:srgbClr val="004376"/>
              </a:buClr>
              <a:buSzPct val="100000"/>
              <a:buFont typeface="Arial" panose="020B0604020202020204" pitchFamily="34" charset="0"/>
              <a:buChar char="•"/>
            </a:pPr>
            <a:r>
              <a:rPr lang="fr-FR" dirty="0" smtClean="0"/>
              <a:t>Quels </a:t>
            </a:r>
            <a:r>
              <a:rPr lang="fr-FR" dirty="0"/>
              <a:t>fournisseurs ont proposé ou fourni un article particulier.</a:t>
            </a:r>
            <a:endParaRPr lang="en-US" dirty="0"/>
          </a:p>
        </p:txBody>
      </p:sp>
      <p:pic>
        <p:nvPicPr>
          <p:cNvPr id="2" name="Image 1"/>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444945" y="1359391"/>
            <a:ext cx="884968" cy="422288"/>
          </a:xfrm>
          <a:prstGeom prst="rect">
            <a:avLst/>
          </a:prstGeom>
        </p:spPr>
      </p:pic>
    </p:spTree>
    <p:extLst>
      <p:ext uri="{BB962C8B-B14F-4D97-AF65-F5344CB8AC3E}">
        <p14:creationId xmlns:p14="http://schemas.microsoft.com/office/powerpoint/2010/main" val="75033081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Titre 3"/>
          <p:cNvSpPr>
            <a:spLocks noGrp="1"/>
          </p:cNvSpPr>
          <p:nvPr>
            <p:ph type="title"/>
          </p:nvPr>
        </p:nvSpPr>
        <p:spPr/>
        <p:txBody>
          <a:bodyPr/>
          <a:lstStyle/>
          <a:p>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a:t>
            </a:r>
          </a:p>
        </p:txBody>
      </p:sp>
      <p:sp>
        <p:nvSpPr>
          <p:cNvPr id="4" name="Rectangle 3"/>
          <p:cNvSpPr/>
          <p:nvPr/>
        </p:nvSpPr>
        <p:spPr>
          <a:xfrm>
            <a:off x="1485900" y="1133089"/>
            <a:ext cx="6001941" cy="423863"/>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defRPr/>
            </a:pPr>
            <a:r>
              <a:rPr lang="fr-FR" sz="1350" b="1" dirty="0" smtClean="0">
                <a:solidFill>
                  <a:schemeClr val="bg1"/>
                </a:solidFill>
                <a:latin typeface="Arial" pitchFamily="34" charset="0"/>
                <a:cs typeface="Arial" pitchFamily="34" charset="0"/>
              </a:rPr>
              <a:t>Répertoire des sources d’approvisionnement</a:t>
            </a:r>
            <a:endParaRPr lang="en-US" sz="1350" b="1" dirty="0">
              <a:solidFill>
                <a:schemeClr val="bg1"/>
              </a:solidFill>
              <a:latin typeface="Arial" pitchFamily="34" charset="0"/>
              <a:cs typeface="Arial" pitchFamily="34" charset="0"/>
            </a:endParaRPr>
          </a:p>
        </p:txBody>
      </p:sp>
      <p:sp>
        <p:nvSpPr>
          <p:cNvPr id="36868" name="Espace réservé du contenu 4"/>
          <p:cNvSpPr>
            <a:spLocks noGrp="1"/>
          </p:cNvSpPr>
          <p:nvPr>
            <p:ph idx="1"/>
          </p:nvPr>
        </p:nvSpPr>
        <p:spPr>
          <a:xfrm>
            <a:off x="1485900" y="1718501"/>
            <a:ext cx="6001941" cy="1698331"/>
          </a:xfrm>
        </p:spPr>
        <p:txBody>
          <a:bodyPr/>
          <a:lstStyle/>
          <a:p>
            <a:pPr>
              <a:spcBef>
                <a:spcPts val="300"/>
              </a:spcBef>
              <a:spcAft>
                <a:spcPts val="0"/>
              </a:spcAft>
            </a:pPr>
            <a:r>
              <a:rPr lang="fr-FR" dirty="0"/>
              <a:t>Le répertoire des sources d'approvisionnement est utilisé pour gérer les sources d'approvisionnement.</a:t>
            </a:r>
          </a:p>
          <a:p>
            <a:pPr>
              <a:spcBef>
                <a:spcPts val="300"/>
              </a:spcBef>
              <a:spcAft>
                <a:spcPts val="0"/>
              </a:spcAft>
            </a:pPr>
            <a:r>
              <a:rPr lang="fr-FR" dirty="0"/>
              <a:t>Il spécifie les sources d’approvisionnement autorisées (et interdites) d'un article pour une certaine division pendant une période prédéfinie. Chaque source est définie au moyen d'une fiche du répertoire des sources d'approvisionnement.</a:t>
            </a:r>
          </a:p>
          <a:p>
            <a:pPr>
              <a:spcBef>
                <a:spcPts val="300"/>
              </a:spcBef>
              <a:spcAft>
                <a:spcPts val="0"/>
              </a:spcAft>
            </a:pPr>
            <a:r>
              <a:rPr lang="fr-FR" dirty="0"/>
              <a:t>Le répertoire des sources d'approvisionnement sert :</a:t>
            </a:r>
          </a:p>
          <a:p>
            <a:pPr marL="171450" indent="-171450">
              <a:spcBef>
                <a:spcPts val="300"/>
              </a:spcBef>
              <a:spcAft>
                <a:spcPts val="0"/>
              </a:spcAft>
              <a:buClr>
                <a:srgbClr val="004376"/>
              </a:buClr>
              <a:buSzPct val="100000"/>
              <a:buFont typeface="Arial" panose="020B0604020202020204" pitchFamily="34" charset="0"/>
              <a:buChar char="•"/>
            </a:pPr>
            <a:r>
              <a:rPr lang="fr-FR" dirty="0"/>
              <a:t>à définir une source d'approvisionnement comme « fixe ». Ces sources sont considérées comme préférentielles pendant une certaine période.</a:t>
            </a:r>
          </a:p>
          <a:p>
            <a:pPr marL="171450" indent="-171450">
              <a:spcBef>
                <a:spcPts val="300"/>
              </a:spcBef>
              <a:spcAft>
                <a:spcPts val="0"/>
              </a:spcAft>
              <a:buClr>
                <a:srgbClr val="004376"/>
              </a:buClr>
              <a:buSzPct val="100000"/>
              <a:buFont typeface="Arial" panose="020B0604020202020204" pitchFamily="34" charset="0"/>
              <a:buChar char="•"/>
            </a:pPr>
            <a:r>
              <a:rPr lang="fr-FR" dirty="0" smtClean="0"/>
              <a:t>à </a:t>
            </a:r>
            <a:r>
              <a:rPr lang="fr-FR" dirty="0"/>
              <a:t>définir une source d'approvisionnement comme « bloquée ».</a:t>
            </a:r>
          </a:p>
          <a:p>
            <a:pPr marL="171450" indent="-171450">
              <a:spcBef>
                <a:spcPts val="300"/>
              </a:spcBef>
              <a:spcAft>
                <a:spcPts val="0"/>
              </a:spcAft>
              <a:buClr>
                <a:srgbClr val="004376"/>
              </a:buClr>
              <a:buSzPct val="100000"/>
              <a:buFont typeface="Arial" panose="020B0604020202020204" pitchFamily="34" charset="0"/>
              <a:buChar char="•"/>
            </a:pPr>
            <a:r>
              <a:rPr lang="fr-FR" dirty="0" smtClean="0"/>
              <a:t>d'aide </a:t>
            </a:r>
            <a:r>
              <a:rPr lang="fr-FR" dirty="0"/>
              <a:t>à la sélection de la source d’approvisionnement préférentielle pendant la procédure de détermination.</a:t>
            </a:r>
          </a:p>
          <a:p>
            <a:pPr marL="171450" indent="-171450">
              <a:spcBef>
                <a:spcPts val="300"/>
              </a:spcBef>
              <a:spcAft>
                <a:spcPts val="0"/>
              </a:spcAft>
              <a:buClr>
                <a:srgbClr val="004376"/>
              </a:buClr>
              <a:buSzPct val="100000"/>
              <a:buFont typeface="Arial" panose="020B0604020202020204" pitchFamily="34" charset="0"/>
              <a:buChar char="•"/>
            </a:pPr>
            <a:r>
              <a:rPr lang="fr-FR" dirty="0" smtClean="0"/>
              <a:t>à </a:t>
            </a:r>
            <a:r>
              <a:rPr lang="fr-FR" dirty="0"/>
              <a:t>bloquer l'approvisionnement externe d'un article</a:t>
            </a:r>
            <a:r>
              <a:rPr lang="fr-FR" dirty="0" smtClean="0"/>
              <a:t>.</a:t>
            </a:r>
            <a:endParaRPr lang="fr-FR" dirty="0"/>
          </a:p>
        </p:txBody>
      </p:sp>
      <p:pic>
        <p:nvPicPr>
          <p:cNvPr id="2" name="Image 1"/>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444945" y="1134665"/>
            <a:ext cx="884968" cy="422288"/>
          </a:xfrm>
          <a:prstGeom prst="rect">
            <a:avLst/>
          </a:prstGeom>
        </p:spPr>
      </p:pic>
    </p:spTree>
    <p:extLst>
      <p:ext uri="{BB962C8B-B14F-4D97-AF65-F5344CB8AC3E}">
        <p14:creationId xmlns:p14="http://schemas.microsoft.com/office/powerpoint/2010/main" val="282766102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re 3"/>
          <p:cNvSpPr>
            <a:spLocks noGrp="1"/>
          </p:cNvSpPr>
          <p:nvPr>
            <p:ph type="title"/>
          </p:nvPr>
        </p:nvSpPr>
        <p:spPr/>
        <p:txBody>
          <a:bodyPr>
            <a:normAutofit/>
          </a:bodyPr>
          <a:lstStyle/>
          <a:p>
            <a:r>
              <a:rPr lang="fr-FR" altLang="en-US" sz="2400" dirty="0" smtClean="0"/>
              <a:t>Mode opératoire</a:t>
            </a:r>
            <a:br>
              <a:rPr lang="fr-FR" altLang="en-US" sz="2400" dirty="0" smtClean="0"/>
            </a:br>
            <a:r>
              <a:rPr lang="fr-FR" altLang="en-US" dirty="0" smtClean="0"/>
              <a:t>Présentation du mode opératoire dans SAP</a:t>
            </a:r>
            <a:endParaRPr lang="en-US" altLang="en-US" dirty="0" smtClean="0"/>
          </a:p>
        </p:txBody>
      </p:sp>
      <p:grpSp>
        <p:nvGrpSpPr>
          <p:cNvPr id="49" name="Groupe 48"/>
          <p:cNvGrpSpPr/>
          <p:nvPr/>
        </p:nvGrpSpPr>
        <p:grpSpPr>
          <a:xfrm>
            <a:off x="2820852" y="1932554"/>
            <a:ext cx="1296000" cy="831626"/>
            <a:chOff x="1507778" y="2276353"/>
            <a:chExt cx="1258269" cy="831626"/>
          </a:xfrm>
        </p:grpSpPr>
        <p:sp>
          <p:nvSpPr>
            <p:cNvPr id="4" name="Rectangle 3"/>
            <p:cNvSpPr/>
            <p:nvPr/>
          </p:nvSpPr>
          <p:spPr>
            <a:xfrm>
              <a:off x="1507778" y="227635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schemeClr val="bg1"/>
                  </a:solidFill>
                  <a:latin typeface="Arial" pitchFamily="34" charset="0"/>
                  <a:cs typeface="Arial" pitchFamily="34" charset="0"/>
                </a:rPr>
                <a:t>Créer une fiche info-achat</a:t>
              </a:r>
              <a:endParaRPr lang="en-US" sz="800" dirty="0">
                <a:solidFill>
                  <a:schemeClr val="bg1"/>
                </a:solidFill>
                <a:latin typeface="Arial" pitchFamily="34" charset="0"/>
                <a:cs typeface="Arial" pitchFamily="34" charset="0"/>
              </a:endParaRPr>
            </a:p>
          </p:txBody>
        </p:sp>
        <p:sp>
          <p:nvSpPr>
            <p:cNvPr id="12" name="Rectangle 11"/>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a:solidFill>
                    <a:schemeClr val="bg1"/>
                  </a:solidFill>
                  <a:latin typeface="Arial" panose="020B0604020202020204" pitchFamily="34" charset="0"/>
                  <a:cs typeface="Arial" panose="020B0604020202020204" pitchFamily="34" charset="0"/>
                </a:rPr>
                <a:t>ME11</a:t>
              </a:r>
              <a:endParaRPr lang="en-US" sz="800" b="1" dirty="0">
                <a:solidFill>
                  <a:schemeClr val="bg1"/>
                </a:solidFill>
                <a:latin typeface="Arial" panose="020B0604020202020204" pitchFamily="34" charset="0"/>
                <a:cs typeface="Arial" panose="020B0604020202020204" pitchFamily="34" charset="0"/>
              </a:endParaRPr>
            </a:p>
          </p:txBody>
        </p:sp>
        <p:sp>
          <p:nvSpPr>
            <p:cNvPr id="13" name="Rectangle 12"/>
            <p:cNvSpPr/>
            <p:nvPr/>
          </p:nvSpPr>
          <p:spPr>
            <a:xfrm>
              <a:off x="1507778" y="2815707"/>
              <a:ext cx="1258269" cy="292272"/>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tx1">
                      <a:lumMod val="50000"/>
                    </a:schemeClr>
                  </a:solidFill>
                  <a:latin typeface="Arial" panose="020B0604020202020204" pitchFamily="34" charset="0"/>
                  <a:cs typeface="Arial" panose="020B0604020202020204" pitchFamily="34" charset="0"/>
                </a:rPr>
                <a:t>Acheteur</a:t>
              </a:r>
              <a:endParaRPr lang="en-US" sz="800" dirty="0">
                <a:solidFill>
                  <a:schemeClr val="tx1">
                    <a:lumMod val="50000"/>
                  </a:schemeClr>
                </a:solidFill>
                <a:latin typeface="Arial" panose="020B0604020202020204" pitchFamily="34" charset="0"/>
                <a:cs typeface="Arial" panose="020B0604020202020204" pitchFamily="34" charset="0"/>
              </a:endParaRPr>
            </a:p>
          </p:txBody>
        </p:sp>
      </p:grpSp>
      <p:grpSp>
        <p:nvGrpSpPr>
          <p:cNvPr id="2" name="Groupe 1"/>
          <p:cNvGrpSpPr/>
          <p:nvPr/>
        </p:nvGrpSpPr>
        <p:grpSpPr>
          <a:xfrm>
            <a:off x="275964" y="3270647"/>
            <a:ext cx="1076325" cy="1160860"/>
            <a:chOff x="610285" y="3065860"/>
            <a:chExt cx="1076325" cy="1160860"/>
          </a:xfrm>
        </p:grpSpPr>
        <p:sp>
          <p:nvSpPr>
            <p:cNvPr id="27" name="Rectangle 26"/>
            <p:cNvSpPr/>
            <p:nvPr/>
          </p:nvSpPr>
          <p:spPr bwMode="auto">
            <a:xfrm>
              <a:off x="736491" y="3319464"/>
              <a:ext cx="807244" cy="253603"/>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25" dirty="0">
                  <a:solidFill>
                    <a:schemeClr val="bg1"/>
                  </a:solidFill>
                  <a:latin typeface="Arial" pitchFamily="34" charset="0"/>
                  <a:cs typeface="Arial" pitchFamily="34" charset="0"/>
                </a:rPr>
                <a:t>Action</a:t>
              </a:r>
              <a:endParaRPr lang="en-US" sz="825" dirty="0">
                <a:solidFill>
                  <a:schemeClr val="bg1"/>
                </a:solidFill>
                <a:latin typeface="Arial" pitchFamily="34" charset="0"/>
                <a:cs typeface="Arial" pitchFamily="34" charset="0"/>
              </a:endParaRPr>
            </a:p>
          </p:txBody>
        </p:sp>
        <p:sp>
          <p:nvSpPr>
            <p:cNvPr id="28" name="Rectangle 27"/>
            <p:cNvSpPr/>
            <p:nvPr/>
          </p:nvSpPr>
          <p:spPr bwMode="auto">
            <a:xfrm>
              <a:off x="736491" y="3573067"/>
              <a:ext cx="807244" cy="167879"/>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675" b="1" dirty="0">
                  <a:solidFill>
                    <a:schemeClr val="bg1"/>
                  </a:solidFill>
                  <a:latin typeface="Arial Narrow" pitchFamily="34" charset="0"/>
                </a:rPr>
                <a:t>Transaction SAP</a:t>
              </a:r>
              <a:endParaRPr lang="en-US" sz="675" b="1" dirty="0">
                <a:solidFill>
                  <a:schemeClr val="bg1"/>
                </a:solidFill>
                <a:latin typeface="Arial Narrow" pitchFamily="34" charset="0"/>
              </a:endParaRPr>
            </a:p>
          </p:txBody>
        </p:sp>
        <p:sp>
          <p:nvSpPr>
            <p:cNvPr id="29" name="Rectangle 28"/>
            <p:cNvSpPr/>
            <p:nvPr/>
          </p:nvSpPr>
          <p:spPr bwMode="auto">
            <a:xfrm>
              <a:off x="736491" y="3740945"/>
              <a:ext cx="807244" cy="169069"/>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675" dirty="0">
                  <a:solidFill>
                    <a:schemeClr val="tx1">
                      <a:lumMod val="50000"/>
                    </a:schemeClr>
                  </a:solidFill>
                  <a:latin typeface="Arial Narrow" pitchFamily="34" charset="0"/>
                </a:rPr>
                <a:t>Acteurs</a:t>
              </a:r>
              <a:endParaRPr lang="en-US" sz="675" dirty="0">
                <a:solidFill>
                  <a:schemeClr val="tx1">
                    <a:lumMod val="50000"/>
                  </a:schemeClr>
                </a:solidFill>
                <a:latin typeface="Arial Narrow" pitchFamily="34" charset="0"/>
              </a:endParaRPr>
            </a:p>
          </p:txBody>
        </p:sp>
        <p:cxnSp>
          <p:nvCxnSpPr>
            <p:cNvPr id="30" name="Connecteur droit avec flèche 29"/>
            <p:cNvCxnSpPr/>
            <p:nvPr/>
          </p:nvCxnSpPr>
          <p:spPr bwMode="auto">
            <a:xfrm>
              <a:off x="736491" y="4079082"/>
              <a:ext cx="260747" cy="1190"/>
            </a:xfrm>
            <a:prstGeom prst="straightConnector1">
              <a:avLst/>
            </a:prstGeom>
            <a:ln>
              <a:solidFill>
                <a:srgbClr val="4F81BD"/>
              </a:solidFill>
              <a:tailEnd type="arrow"/>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bwMode="auto">
            <a:xfrm>
              <a:off x="1035730" y="3999310"/>
              <a:ext cx="583814" cy="219291"/>
            </a:xfrm>
            <a:prstGeom prst="rect">
              <a:avLst/>
            </a:prstGeom>
          </p:spPr>
          <p:txBody>
            <a:bodyPr wrap="none">
              <a:spAutoFit/>
            </a:bodyPr>
            <a:lstStyle/>
            <a:p>
              <a:pPr algn="ctr">
                <a:defRPr/>
              </a:pPr>
              <a:r>
                <a:rPr lang="fr-FR" sz="825" dirty="0">
                  <a:solidFill>
                    <a:prstClr val="black"/>
                  </a:solidFill>
                  <a:latin typeface="Arial Narrow" pitchFamily="34" charset="0"/>
                </a:rPr>
                <a:t>Lien direct</a:t>
              </a:r>
              <a:endParaRPr lang="en-US" sz="825" dirty="0">
                <a:solidFill>
                  <a:prstClr val="black"/>
                </a:solidFill>
                <a:latin typeface="Arial Narrow" pitchFamily="34" charset="0"/>
              </a:endParaRPr>
            </a:p>
          </p:txBody>
        </p:sp>
        <p:sp>
          <p:nvSpPr>
            <p:cNvPr id="32" name="Rectangle 31"/>
            <p:cNvSpPr/>
            <p:nvPr/>
          </p:nvSpPr>
          <p:spPr bwMode="auto">
            <a:xfrm>
              <a:off x="610285" y="3065860"/>
              <a:ext cx="1076325" cy="1160860"/>
            </a:xfrm>
            <a:prstGeom prst="rect">
              <a:avLst/>
            </a:prstGeom>
            <a:noFill/>
            <a:ln w="317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900" dirty="0">
                <a:solidFill>
                  <a:schemeClr val="tx1"/>
                </a:solidFill>
              </a:endParaRPr>
            </a:p>
          </p:txBody>
        </p:sp>
        <p:sp>
          <p:nvSpPr>
            <p:cNvPr id="33" name="Rectangle 32"/>
            <p:cNvSpPr/>
            <p:nvPr/>
          </p:nvSpPr>
          <p:spPr bwMode="auto">
            <a:xfrm>
              <a:off x="610285" y="3065860"/>
              <a:ext cx="1076325" cy="230832"/>
            </a:xfrm>
            <a:prstGeom prst="rect">
              <a:avLst/>
            </a:prstGeom>
          </p:spPr>
          <p:txBody>
            <a:bodyPr>
              <a:spAutoFit/>
            </a:bodyPr>
            <a:lstStyle/>
            <a:p>
              <a:pPr algn="ctr">
                <a:defRPr/>
              </a:pPr>
              <a:r>
                <a:rPr lang="fr-FR" sz="900" b="1" dirty="0">
                  <a:solidFill>
                    <a:prstClr val="black"/>
                  </a:solidFill>
                  <a:cs typeface="Arial" pitchFamily="34" charset="0"/>
                </a:rPr>
                <a:t>Légende</a:t>
              </a:r>
              <a:endParaRPr lang="en-US" sz="900" b="1" dirty="0">
                <a:solidFill>
                  <a:prstClr val="black"/>
                </a:solidFill>
                <a:cs typeface="Arial" pitchFamily="34" charset="0"/>
              </a:endParaRPr>
            </a:p>
          </p:txBody>
        </p:sp>
      </p:grpSp>
      <p:grpSp>
        <p:nvGrpSpPr>
          <p:cNvPr id="42" name="Groupe 41"/>
          <p:cNvGrpSpPr/>
          <p:nvPr/>
        </p:nvGrpSpPr>
        <p:grpSpPr>
          <a:xfrm>
            <a:off x="4681933" y="1932295"/>
            <a:ext cx="1296000" cy="832144"/>
            <a:chOff x="3827406" y="1979447"/>
            <a:chExt cx="1258269" cy="832144"/>
          </a:xfrm>
        </p:grpSpPr>
        <p:sp>
          <p:nvSpPr>
            <p:cNvPr id="5" name="Rectangle 4"/>
            <p:cNvSpPr/>
            <p:nvPr/>
          </p:nvSpPr>
          <p:spPr>
            <a:xfrm>
              <a:off x="3827406" y="1979447"/>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schemeClr val="bg1"/>
                  </a:solidFill>
                  <a:latin typeface="Arial" pitchFamily="34" charset="0"/>
                  <a:cs typeface="Arial" pitchFamily="34" charset="0"/>
                </a:rPr>
                <a:t>Créer un répertoire de source d’</a:t>
              </a:r>
              <a:r>
                <a:rPr lang="fr-FR" sz="800" dirty="0" err="1" smtClean="0">
                  <a:solidFill>
                    <a:schemeClr val="bg1"/>
                  </a:solidFill>
                  <a:latin typeface="Arial" pitchFamily="34" charset="0"/>
                  <a:cs typeface="Arial" pitchFamily="34" charset="0"/>
                </a:rPr>
                <a:t>appro</a:t>
              </a:r>
              <a:endParaRPr lang="en-US" sz="800" dirty="0">
                <a:solidFill>
                  <a:schemeClr val="bg1"/>
                </a:solidFill>
                <a:latin typeface="Arial" pitchFamily="34" charset="0"/>
                <a:cs typeface="Arial" pitchFamily="34" charset="0"/>
              </a:endParaRPr>
            </a:p>
          </p:txBody>
        </p:sp>
        <p:sp>
          <p:nvSpPr>
            <p:cNvPr id="14" name="Rectangle 13"/>
            <p:cNvSpPr/>
            <p:nvPr/>
          </p:nvSpPr>
          <p:spPr>
            <a:xfrm>
              <a:off x="3827406" y="2303297"/>
              <a:ext cx="1258269" cy="216000"/>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schemeClr val="bg1"/>
                  </a:solidFill>
                  <a:latin typeface="Arial" panose="020B0604020202020204" pitchFamily="34" charset="0"/>
                  <a:cs typeface="Arial" panose="020B0604020202020204" pitchFamily="34" charset="0"/>
                </a:rPr>
                <a:t>ME01</a:t>
              </a:r>
            </a:p>
          </p:txBody>
        </p:sp>
        <p:sp>
          <p:nvSpPr>
            <p:cNvPr id="15" name="Rectangle 14"/>
            <p:cNvSpPr/>
            <p:nvPr/>
          </p:nvSpPr>
          <p:spPr>
            <a:xfrm>
              <a:off x="3827406" y="2519991"/>
              <a:ext cx="1258269" cy="291600"/>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tx1">
                      <a:lumMod val="50000"/>
                    </a:schemeClr>
                  </a:solidFill>
                  <a:latin typeface="Arial" panose="020B0604020202020204" pitchFamily="34" charset="0"/>
                  <a:cs typeface="Arial" panose="020B0604020202020204" pitchFamily="34" charset="0"/>
                </a:rPr>
                <a:t>Acheteurs</a:t>
              </a:r>
              <a:endParaRPr lang="en-US" sz="800" dirty="0">
                <a:solidFill>
                  <a:schemeClr val="tx1">
                    <a:lumMod val="50000"/>
                  </a:schemeClr>
                </a:solidFill>
                <a:latin typeface="Arial" panose="020B0604020202020204" pitchFamily="34" charset="0"/>
                <a:cs typeface="Arial" panose="020B0604020202020204" pitchFamily="34" charset="0"/>
              </a:endParaRPr>
            </a:p>
          </p:txBody>
        </p:sp>
      </p:grpSp>
      <p:cxnSp>
        <p:nvCxnSpPr>
          <p:cNvPr id="6" name="Connecteur droit avec flèche 5"/>
          <p:cNvCxnSpPr>
            <a:stCxn id="4" idx="3"/>
            <a:endCxn id="5" idx="1"/>
          </p:cNvCxnSpPr>
          <p:nvPr/>
        </p:nvCxnSpPr>
        <p:spPr>
          <a:xfrm flipV="1">
            <a:off x="4116852" y="2094220"/>
            <a:ext cx="565081" cy="259"/>
          </a:xfrm>
          <a:prstGeom prst="straightConnector1">
            <a:avLst/>
          </a:prstGeom>
          <a:ln w="12700">
            <a:solidFill>
              <a:srgbClr val="0070C0"/>
            </a:solidFill>
            <a:prstDash val="dash"/>
            <a:headEnd type="none" w="med" len="med"/>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3856392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Titre 3"/>
          <p:cNvSpPr>
            <a:spLocks noGrp="1"/>
          </p:cNvSpPr>
          <p:nvPr>
            <p:ph type="title"/>
          </p:nvPr>
        </p:nvSpPr>
        <p:spPr/>
        <p:txBody>
          <a:bodyPr>
            <a:normAutofit/>
          </a:bodyPr>
          <a:lstStyle/>
          <a:p>
            <a:r>
              <a:rPr lang="fr-FR" altLang="en-US" sz="2400" dirty="0"/>
              <a:t>Mode opératoire</a:t>
            </a:r>
            <a:br>
              <a:rPr lang="fr-FR" altLang="en-US" sz="2400" dirty="0"/>
            </a:br>
            <a:r>
              <a:rPr lang="fr-FR" altLang="en-US" dirty="0" smtClean="0"/>
              <a:t>ME11 – Création d’une fiche info-achat de type standard 1/2</a:t>
            </a:r>
            <a:endParaRPr lang="en-US" altLang="en-US" dirty="0" smtClean="0"/>
          </a:p>
        </p:txBody>
      </p:sp>
      <p:grpSp>
        <p:nvGrpSpPr>
          <p:cNvPr id="33794" name="Groupe 33793"/>
          <p:cNvGrpSpPr/>
          <p:nvPr/>
        </p:nvGrpSpPr>
        <p:grpSpPr>
          <a:xfrm>
            <a:off x="5077469" y="1476864"/>
            <a:ext cx="3730604" cy="2492990"/>
            <a:chOff x="425491" y="1232489"/>
            <a:chExt cx="3730604" cy="2492990"/>
          </a:xfrm>
        </p:grpSpPr>
        <p:sp>
          <p:nvSpPr>
            <p:cNvPr id="8" name="ZoneTexte 7"/>
            <p:cNvSpPr txBox="1"/>
            <p:nvPr/>
          </p:nvSpPr>
          <p:spPr>
            <a:xfrm>
              <a:off x="581024" y="1232489"/>
              <a:ext cx="3575071" cy="2492990"/>
            </a:xfrm>
            <a:prstGeom prst="rect">
              <a:avLst/>
            </a:prstGeom>
            <a:noFill/>
          </p:spPr>
          <p:txBody>
            <a:bodyPr wrap="square" rtlCol="0">
              <a:spAutoFit/>
            </a:bodyPr>
            <a:lstStyle/>
            <a:p>
              <a:r>
                <a:rPr lang="fr-FR" sz="1200" dirty="0" smtClean="0">
                  <a:solidFill>
                    <a:srgbClr val="4D4F53"/>
                  </a:solidFill>
                </a:rPr>
                <a:t>Saisir un fournisseur</a:t>
              </a:r>
            </a:p>
            <a:p>
              <a:endParaRPr lang="fr-FR" sz="1200" dirty="0">
                <a:solidFill>
                  <a:srgbClr val="4D4F53"/>
                </a:solidFill>
              </a:endParaRPr>
            </a:p>
            <a:p>
              <a:r>
                <a:rPr lang="fr-FR" sz="1200" dirty="0" smtClean="0">
                  <a:solidFill>
                    <a:srgbClr val="4D4F53"/>
                  </a:solidFill>
                </a:rPr>
                <a:t>Saisir un article</a:t>
              </a:r>
            </a:p>
            <a:p>
              <a:endParaRPr lang="fr-FR" sz="1200" dirty="0" smtClean="0">
                <a:solidFill>
                  <a:srgbClr val="4D4F53"/>
                </a:solidFill>
              </a:endParaRPr>
            </a:p>
            <a:p>
              <a:r>
                <a:rPr lang="fr-FR" sz="1200" dirty="0" smtClean="0">
                  <a:solidFill>
                    <a:srgbClr val="4D4F53"/>
                  </a:solidFill>
                </a:rPr>
                <a:t>Saisir une organisation d’achats</a:t>
              </a:r>
            </a:p>
            <a:p>
              <a:endParaRPr lang="fr-FR" sz="1200" dirty="0" smtClean="0">
                <a:solidFill>
                  <a:srgbClr val="4D4F53"/>
                </a:solidFill>
              </a:endParaRPr>
            </a:p>
            <a:p>
              <a:r>
                <a:rPr lang="fr-FR" sz="1200" dirty="0">
                  <a:solidFill>
                    <a:srgbClr val="4D4F53"/>
                  </a:solidFill>
                </a:rPr>
                <a:t>Dans l'encart "Type fiche infos-achats", cocher la case </a:t>
              </a:r>
              <a:r>
                <a:rPr lang="fr-FR" sz="1200" dirty="0" smtClean="0">
                  <a:solidFill>
                    <a:srgbClr val="4D4F53"/>
                  </a:solidFill>
                </a:rPr>
                <a:t>Standard puis appuyer sur « Entrée »</a:t>
              </a:r>
              <a:endParaRPr lang="fr-FR" sz="1200" dirty="0" smtClean="0">
                <a:solidFill>
                  <a:srgbClr val="4D4F53"/>
                </a:solidFill>
              </a:endParaRPr>
            </a:p>
            <a:p>
              <a:endParaRPr lang="fr-FR" sz="1200" dirty="0">
                <a:solidFill>
                  <a:srgbClr val="4D4F53"/>
                </a:solidFill>
              </a:endParaRPr>
            </a:p>
            <a:p>
              <a:r>
                <a:rPr lang="fr-FR" sz="1200" dirty="0" smtClean="0">
                  <a:solidFill>
                    <a:srgbClr val="4D4F53"/>
                  </a:solidFill>
                </a:rPr>
                <a:t>Renseigner le n° article </a:t>
              </a:r>
              <a:r>
                <a:rPr lang="fr-FR" sz="1200" dirty="0" smtClean="0">
                  <a:solidFill>
                    <a:srgbClr val="4D4F53"/>
                  </a:solidFill>
                </a:rPr>
                <a:t>fournisseur (optionnel)</a:t>
              </a:r>
              <a:endParaRPr lang="fr-FR" sz="1200" dirty="0" smtClean="0">
                <a:solidFill>
                  <a:srgbClr val="4D4F53"/>
                </a:solidFill>
              </a:endParaRPr>
            </a:p>
            <a:p>
              <a:endParaRPr lang="fr-FR" sz="1200" dirty="0">
                <a:solidFill>
                  <a:srgbClr val="4D4F53"/>
                </a:solidFill>
              </a:endParaRPr>
            </a:p>
            <a:p>
              <a:r>
                <a:rPr lang="fr-FR" sz="1200" dirty="0" smtClean="0">
                  <a:solidFill>
                    <a:srgbClr val="4D4F53"/>
                  </a:solidFill>
                </a:rPr>
                <a:t>Appuyer sur </a:t>
              </a:r>
              <a:endParaRPr lang="fr-FR" sz="1200" dirty="0">
                <a:solidFill>
                  <a:srgbClr val="4D4F53"/>
                </a:solidFill>
              </a:endParaRPr>
            </a:p>
            <a:p>
              <a:endParaRPr lang="fr-FR" sz="1200" dirty="0" smtClean="0">
                <a:solidFill>
                  <a:srgbClr val="4D4F53"/>
                </a:solidFill>
              </a:endParaRPr>
            </a:p>
          </p:txBody>
        </p:sp>
        <p:sp>
          <p:nvSpPr>
            <p:cNvPr id="36" name="Ellipse 35"/>
            <p:cNvSpPr/>
            <p:nvPr/>
          </p:nvSpPr>
          <p:spPr>
            <a:xfrm>
              <a:off x="425491" y="128711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37" name="Ellipse 36"/>
            <p:cNvSpPr/>
            <p:nvPr/>
          </p:nvSpPr>
          <p:spPr>
            <a:xfrm>
              <a:off x="425491" y="167175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38" name="Ellipse 37"/>
            <p:cNvSpPr/>
            <p:nvPr/>
          </p:nvSpPr>
          <p:spPr>
            <a:xfrm>
              <a:off x="425491" y="202439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39" name="Ellipse 38"/>
            <p:cNvSpPr/>
            <p:nvPr/>
          </p:nvSpPr>
          <p:spPr>
            <a:xfrm>
              <a:off x="425491" y="237255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27" name="Ellipse 26"/>
            <p:cNvSpPr/>
            <p:nvPr/>
          </p:nvSpPr>
          <p:spPr>
            <a:xfrm>
              <a:off x="425491" y="290480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29" name="Ellipse 28"/>
            <p:cNvSpPr/>
            <p:nvPr/>
          </p:nvSpPr>
          <p:spPr>
            <a:xfrm>
              <a:off x="425491" y="328944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6</a:t>
              </a:r>
              <a:endParaRPr lang="fr-FR" sz="900" b="1" dirty="0" smtClean="0">
                <a:solidFill>
                  <a:schemeClr val="bg1"/>
                </a:solidFill>
              </a:endParaRPr>
            </a:p>
          </p:txBody>
        </p:sp>
      </p:grpSp>
      <p:pic>
        <p:nvPicPr>
          <p:cNvPr id="4" name="Image 3"/>
          <p:cNvPicPr>
            <a:picLocks noChangeAspect="1"/>
          </p:cNvPicPr>
          <p:nvPr/>
        </p:nvPicPr>
        <p:blipFill>
          <a:blip r:embed="rId2"/>
          <a:stretch>
            <a:fillRect/>
          </a:stretch>
        </p:blipFill>
        <p:spPr>
          <a:xfrm>
            <a:off x="256655" y="1041820"/>
            <a:ext cx="2238167" cy="2383997"/>
          </a:xfrm>
          <a:prstGeom prst="rect">
            <a:avLst/>
          </a:prstGeom>
          <a:ln>
            <a:solidFill>
              <a:schemeClr val="tx1"/>
            </a:solidFill>
          </a:ln>
          <a:effectLst>
            <a:outerShdw blurRad="50800" dist="38100" dir="2700000" algn="tl" rotWithShape="0">
              <a:prstClr val="black">
                <a:alpha val="40000"/>
              </a:prstClr>
            </a:outerShdw>
          </a:effectLst>
        </p:spPr>
      </p:pic>
      <p:sp>
        <p:nvSpPr>
          <p:cNvPr id="32" name="Rectangle 31"/>
          <p:cNvSpPr/>
          <p:nvPr/>
        </p:nvSpPr>
        <p:spPr>
          <a:xfrm>
            <a:off x="1002534" y="1829572"/>
            <a:ext cx="493051" cy="108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3" name="Rectangle 32"/>
          <p:cNvSpPr/>
          <p:nvPr/>
        </p:nvSpPr>
        <p:spPr>
          <a:xfrm>
            <a:off x="1002534" y="1958520"/>
            <a:ext cx="826266" cy="108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4" name="Rectangle 33"/>
          <p:cNvSpPr/>
          <p:nvPr/>
        </p:nvSpPr>
        <p:spPr>
          <a:xfrm>
            <a:off x="1002534" y="2121332"/>
            <a:ext cx="214083" cy="108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5" name="Rectangle 34"/>
          <p:cNvSpPr/>
          <p:nvPr/>
        </p:nvSpPr>
        <p:spPr>
          <a:xfrm>
            <a:off x="334660" y="2808217"/>
            <a:ext cx="540994" cy="108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pic>
        <p:nvPicPr>
          <p:cNvPr id="5" name="Image 4"/>
          <p:cNvPicPr>
            <a:picLocks noChangeAspect="1"/>
          </p:cNvPicPr>
          <p:nvPr/>
        </p:nvPicPr>
        <p:blipFill>
          <a:blip r:embed="rId3"/>
          <a:stretch>
            <a:fillRect/>
          </a:stretch>
        </p:blipFill>
        <p:spPr>
          <a:xfrm>
            <a:off x="1828800" y="2802097"/>
            <a:ext cx="2874275" cy="1491954"/>
          </a:xfrm>
          <a:prstGeom prst="rect">
            <a:avLst/>
          </a:prstGeom>
          <a:ln>
            <a:solidFill>
              <a:schemeClr val="tx1"/>
            </a:solidFill>
          </a:ln>
          <a:effectLst>
            <a:outerShdw blurRad="50800" dist="38100" dir="2700000" algn="tl" rotWithShape="0">
              <a:prstClr val="black">
                <a:alpha val="40000"/>
              </a:prstClr>
            </a:outerShdw>
          </a:effectLst>
        </p:spPr>
      </p:pic>
      <p:sp>
        <p:nvSpPr>
          <p:cNvPr id="40" name="Rectangle 39"/>
          <p:cNvSpPr/>
          <p:nvPr/>
        </p:nvSpPr>
        <p:spPr>
          <a:xfrm>
            <a:off x="2414904" y="4110908"/>
            <a:ext cx="752539" cy="79989"/>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42" name="Rectangle 41"/>
          <p:cNvSpPr/>
          <p:nvPr/>
        </p:nvSpPr>
        <p:spPr>
          <a:xfrm>
            <a:off x="1859796" y="2988872"/>
            <a:ext cx="687859" cy="79989"/>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pic>
        <p:nvPicPr>
          <p:cNvPr id="6" name="Image 5"/>
          <p:cNvPicPr>
            <a:picLocks noChangeAspect="1"/>
          </p:cNvPicPr>
          <p:nvPr/>
        </p:nvPicPr>
        <p:blipFill>
          <a:blip r:embed="rId4"/>
          <a:stretch>
            <a:fillRect/>
          </a:stretch>
        </p:blipFill>
        <p:spPr>
          <a:xfrm>
            <a:off x="6119086" y="3530688"/>
            <a:ext cx="1276350" cy="190500"/>
          </a:xfrm>
          <a:prstGeom prst="rect">
            <a:avLst/>
          </a:prstGeom>
          <a:ln>
            <a:solidFill>
              <a:schemeClr val="tx1"/>
            </a:solidFill>
          </a:ln>
          <a:effectLst>
            <a:outerShdw blurRad="50800" dist="38100" dir="2700000" algn="tl" rotWithShape="0">
              <a:prstClr val="black">
                <a:alpha val="40000"/>
              </a:prstClr>
            </a:outerShdw>
          </a:effectLst>
        </p:spPr>
      </p:pic>
      <p:cxnSp>
        <p:nvCxnSpPr>
          <p:cNvPr id="12" name="Connecteur en angle 11"/>
          <p:cNvCxnSpPr>
            <a:stCxn id="4" idx="3"/>
            <a:endCxn id="5" idx="0"/>
          </p:cNvCxnSpPr>
          <p:nvPr/>
        </p:nvCxnSpPr>
        <p:spPr>
          <a:xfrm>
            <a:off x="2494822" y="2233819"/>
            <a:ext cx="771116" cy="568278"/>
          </a:xfrm>
          <a:prstGeom prst="bentConnector2">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44" name="Ellipse 43"/>
          <p:cNvSpPr/>
          <p:nvPr/>
        </p:nvSpPr>
        <p:spPr>
          <a:xfrm>
            <a:off x="846398" y="1793471"/>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45" name="Ellipse 44"/>
          <p:cNvSpPr/>
          <p:nvPr/>
        </p:nvSpPr>
        <p:spPr>
          <a:xfrm>
            <a:off x="1803075" y="194335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46" name="Ellipse 45"/>
          <p:cNvSpPr/>
          <p:nvPr/>
        </p:nvSpPr>
        <p:spPr>
          <a:xfrm>
            <a:off x="1219603" y="208528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47" name="Ellipse 46"/>
          <p:cNvSpPr/>
          <p:nvPr/>
        </p:nvSpPr>
        <p:spPr>
          <a:xfrm>
            <a:off x="863080" y="277578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48" name="Ellipse 47"/>
          <p:cNvSpPr/>
          <p:nvPr/>
        </p:nvSpPr>
        <p:spPr>
          <a:xfrm>
            <a:off x="3128744" y="407361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49" name="Ellipse 48"/>
          <p:cNvSpPr/>
          <p:nvPr/>
        </p:nvSpPr>
        <p:spPr>
          <a:xfrm>
            <a:off x="1725007" y="295157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6</a:t>
            </a:r>
            <a:endParaRPr lang="fr-FR" sz="900" b="1" dirty="0" smtClean="0">
              <a:solidFill>
                <a:schemeClr val="bg1"/>
              </a:solidFill>
            </a:endParaRPr>
          </a:p>
        </p:txBody>
      </p:sp>
    </p:spTree>
    <p:extLst>
      <p:ext uri="{BB962C8B-B14F-4D97-AF65-F5344CB8AC3E}">
        <p14:creationId xmlns:p14="http://schemas.microsoft.com/office/powerpoint/2010/main" val="386043378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ltLang="en-US" sz="2400" dirty="0"/>
              <a:t>Mode opératoire</a:t>
            </a:r>
            <a:br>
              <a:rPr lang="fr-FR" altLang="en-US" sz="2400" dirty="0"/>
            </a:br>
            <a:r>
              <a:rPr lang="fr-FR" altLang="en-US" dirty="0"/>
              <a:t>ME11 – Création d’une fiche info-achat de type standard </a:t>
            </a:r>
            <a:r>
              <a:rPr lang="fr-FR" altLang="en-US" dirty="0" smtClean="0"/>
              <a:t>2/2</a:t>
            </a:r>
            <a:endParaRPr lang="en-US" dirty="0"/>
          </a:p>
        </p:txBody>
      </p:sp>
      <p:pic>
        <p:nvPicPr>
          <p:cNvPr id="3" name="Image 2"/>
          <p:cNvPicPr>
            <a:picLocks noChangeAspect="1"/>
          </p:cNvPicPr>
          <p:nvPr/>
        </p:nvPicPr>
        <p:blipFill>
          <a:blip r:embed="rId2"/>
          <a:stretch>
            <a:fillRect/>
          </a:stretch>
        </p:blipFill>
        <p:spPr>
          <a:xfrm>
            <a:off x="3774486" y="1081681"/>
            <a:ext cx="3059430" cy="3269191"/>
          </a:xfrm>
          <a:prstGeom prst="rect">
            <a:avLst/>
          </a:prstGeom>
          <a:ln>
            <a:solidFill>
              <a:schemeClr val="tx1"/>
            </a:solidFill>
          </a:ln>
          <a:effectLst>
            <a:outerShdw blurRad="50800" dist="38100" dir="2700000" algn="tl" rotWithShape="0">
              <a:prstClr val="black">
                <a:alpha val="40000"/>
              </a:prstClr>
            </a:outerShdw>
          </a:effectLst>
        </p:spPr>
      </p:pic>
      <p:grpSp>
        <p:nvGrpSpPr>
          <p:cNvPr id="4" name="Groupe 3"/>
          <p:cNvGrpSpPr/>
          <p:nvPr/>
        </p:nvGrpSpPr>
        <p:grpSpPr>
          <a:xfrm>
            <a:off x="518017" y="1315737"/>
            <a:ext cx="2967868" cy="2492990"/>
            <a:chOff x="425491" y="1232489"/>
            <a:chExt cx="2967868" cy="2492990"/>
          </a:xfrm>
        </p:grpSpPr>
        <p:sp>
          <p:nvSpPr>
            <p:cNvPr id="5" name="ZoneTexte 4"/>
            <p:cNvSpPr txBox="1"/>
            <p:nvPr/>
          </p:nvSpPr>
          <p:spPr>
            <a:xfrm>
              <a:off x="581024" y="1232489"/>
              <a:ext cx="2812335" cy="2492990"/>
            </a:xfrm>
            <a:prstGeom prst="rect">
              <a:avLst/>
            </a:prstGeom>
            <a:noFill/>
          </p:spPr>
          <p:txBody>
            <a:bodyPr wrap="square" rtlCol="0">
              <a:spAutoFit/>
            </a:bodyPr>
            <a:lstStyle/>
            <a:p>
              <a:r>
                <a:rPr lang="fr-FR" sz="1200" dirty="0" smtClean="0">
                  <a:solidFill>
                    <a:srgbClr val="4D4F53"/>
                  </a:solidFill>
                </a:rPr>
                <a:t>Saisir un délai prévisionnel de livraison</a:t>
              </a:r>
            </a:p>
            <a:p>
              <a:endParaRPr lang="fr-FR" sz="1200" dirty="0">
                <a:solidFill>
                  <a:srgbClr val="4D4F53"/>
                </a:solidFill>
              </a:endParaRPr>
            </a:p>
            <a:p>
              <a:r>
                <a:rPr lang="fr-FR" sz="1200" dirty="0" smtClean="0">
                  <a:solidFill>
                    <a:srgbClr val="4D4F53"/>
                  </a:solidFill>
                </a:rPr>
                <a:t>Saisir un groupe d’acheteurs</a:t>
              </a:r>
            </a:p>
            <a:p>
              <a:endParaRPr lang="fr-FR" sz="1200" dirty="0">
                <a:solidFill>
                  <a:srgbClr val="4D4F53"/>
                </a:solidFill>
              </a:endParaRPr>
            </a:p>
            <a:p>
              <a:r>
                <a:rPr lang="fr-FR" sz="1200" dirty="0" smtClean="0">
                  <a:solidFill>
                    <a:srgbClr val="4D4F53"/>
                  </a:solidFill>
                </a:rPr>
                <a:t>Saisir une quantité standard</a:t>
              </a:r>
            </a:p>
            <a:p>
              <a:endParaRPr lang="fr-FR" sz="1200" dirty="0">
                <a:solidFill>
                  <a:srgbClr val="4D4F53"/>
                </a:solidFill>
              </a:endParaRPr>
            </a:p>
            <a:p>
              <a:r>
                <a:rPr lang="fr-FR" sz="1200" dirty="0" smtClean="0">
                  <a:solidFill>
                    <a:srgbClr val="4D4F53"/>
                  </a:solidFill>
                </a:rPr>
                <a:t>Saisir une quantité minimum</a:t>
              </a:r>
            </a:p>
            <a:p>
              <a:endParaRPr lang="fr-FR" sz="1200" dirty="0">
                <a:solidFill>
                  <a:srgbClr val="4D4F53"/>
                </a:solidFill>
              </a:endParaRPr>
            </a:p>
            <a:p>
              <a:r>
                <a:rPr lang="fr-FR" sz="1200" dirty="0" smtClean="0">
                  <a:solidFill>
                    <a:srgbClr val="4D4F53"/>
                  </a:solidFill>
                </a:rPr>
                <a:t>Saisir un prix net</a:t>
              </a:r>
            </a:p>
            <a:p>
              <a:endParaRPr lang="fr-FR" sz="1200" dirty="0">
                <a:solidFill>
                  <a:srgbClr val="4D4F53"/>
                </a:solidFill>
              </a:endParaRPr>
            </a:p>
            <a:p>
              <a:r>
                <a:rPr lang="fr-FR" sz="1200" dirty="0" smtClean="0">
                  <a:solidFill>
                    <a:srgbClr val="4D4F53"/>
                  </a:solidFill>
                </a:rPr>
                <a:t>Sauvegarder avec l’icône </a:t>
              </a:r>
              <a:endParaRPr lang="fr-FR" sz="1200" dirty="0" smtClean="0">
                <a:solidFill>
                  <a:srgbClr val="4D4F53"/>
                </a:solidFill>
              </a:endParaRPr>
            </a:p>
            <a:p>
              <a:endParaRPr lang="fr-FR" sz="1200" dirty="0">
                <a:solidFill>
                  <a:srgbClr val="4D4F53"/>
                </a:solidFill>
              </a:endParaRPr>
            </a:p>
            <a:p>
              <a:r>
                <a:rPr lang="fr-FR" sz="1200" dirty="0" smtClean="0">
                  <a:solidFill>
                    <a:srgbClr val="4D4F53"/>
                  </a:solidFill>
                </a:rPr>
                <a:t>Un message </a:t>
              </a:r>
              <a:r>
                <a:rPr lang="fr-FR" sz="1200" dirty="0" smtClean="0">
                  <a:solidFill>
                    <a:srgbClr val="4D4F53"/>
                  </a:solidFill>
                </a:rPr>
                <a:t>de confirmation apparait</a:t>
              </a:r>
              <a:endParaRPr lang="fr-FR" sz="1200" dirty="0" smtClean="0">
                <a:solidFill>
                  <a:srgbClr val="4D4F53"/>
                </a:solidFill>
              </a:endParaRPr>
            </a:p>
          </p:txBody>
        </p:sp>
        <p:sp>
          <p:nvSpPr>
            <p:cNvPr id="6" name="Ellipse 5"/>
            <p:cNvSpPr/>
            <p:nvPr/>
          </p:nvSpPr>
          <p:spPr>
            <a:xfrm>
              <a:off x="425491" y="128711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7" name="Ellipse 6"/>
            <p:cNvSpPr/>
            <p:nvPr/>
          </p:nvSpPr>
          <p:spPr>
            <a:xfrm>
              <a:off x="425491" y="167175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8" name="Ellipse 7"/>
            <p:cNvSpPr/>
            <p:nvPr/>
          </p:nvSpPr>
          <p:spPr>
            <a:xfrm>
              <a:off x="425491" y="202439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9" name="Ellipse 8"/>
            <p:cNvSpPr/>
            <p:nvPr/>
          </p:nvSpPr>
          <p:spPr>
            <a:xfrm>
              <a:off x="425491" y="237255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10" name="Ellipse 9"/>
            <p:cNvSpPr/>
            <p:nvPr/>
          </p:nvSpPr>
          <p:spPr>
            <a:xfrm>
              <a:off x="425491" y="275247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23" name="Ellipse 22"/>
            <p:cNvSpPr/>
            <p:nvPr/>
          </p:nvSpPr>
          <p:spPr>
            <a:xfrm>
              <a:off x="425491" y="311823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6</a:t>
              </a:r>
            </a:p>
          </p:txBody>
        </p:sp>
        <p:sp>
          <p:nvSpPr>
            <p:cNvPr id="24" name="Ellipse 23"/>
            <p:cNvSpPr/>
            <p:nvPr/>
          </p:nvSpPr>
          <p:spPr>
            <a:xfrm>
              <a:off x="425491" y="349640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7</a:t>
              </a:r>
            </a:p>
          </p:txBody>
        </p:sp>
      </p:grpSp>
      <p:sp>
        <p:nvSpPr>
          <p:cNvPr id="12" name="Rectangle 11"/>
          <p:cNvSpPr/>
          <p:nvPr/>
        </p:nvSpPr>
        <p:spPr>
          <a:xfrm>
            <a:off x="4431634" y="3680223"/>
            <a:ext cx="547297" cy="108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13" name="Rectangle 12"/>
          <p:cNvSpPr/>
          <p:nvPr/>
        </p:nvSpPr>
        <p:spPr>
          <a:xfrm>
            <a:off x="4431635" y="2451123"/>
            <a:ext cx="152090" cy="108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14" name="Rectangle 13"/>
          <p:cNvSpPr/>
          <p:nvPr/>
        </p:nvSpPr>
        <p:spPr>
          <a:xfrm>
            <a:off x="4429052" y="2549523"/>
            <a:ext cx="152090" cy="108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15" name="Rectangle 14"/>
          <p:cNvSpPr/>
          <p:nvPr/>
        </p:nvSpPr>
        <p:spPr>
          <a:xfrm>
            <a:off x="4429052" y="2673114"/>
            <a:ext cx="650618" cy="108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16" name="Rectangle 15"/>
          <p:cNvSpPr/>
          <p:nvPr/>
        </p:nvSpPr>
        <p:spPr>
          <a:xfrm>
            <a:off x="4429052" y="2796705"/>
            <a:ext cx="650618" cy="108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17" name="Rectangle 16"/>
          <p:cNvSpPr/>
          <p:nvPr/>
        </p:nvSpPr>
        <p:spPr>
          <a:xfrm>
            <a:off x="4856392" y="1099737"/>
            <a:ext cx="152090" cy="108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pic>
        <p:nvPicPr>
          <p:cNvPr id="18" name="Image 17"/>
          <p:cNvPicPr>
            <a:picLocks noChangeAspect="1"/>
          </p:cNvPicPr>
          <p:nvPr/>
        </p:nvPicPr>
        <p:blipFill>
          <a:blip r:embed="rId3"/>
          <a:stretch>
            <a:fillRect/>
          </a:stretch>
        </p:blipFill>
        <p:spPr>
          <a:xfrm>
            <a:off x="6010827" y="1473978"/>
            <a:ext cx="2675973" cy="202385"/>
          </a:xfrm>
          <a:prstGeom prst="rect">
            <a:avLst/>
          </a:prstGeom>
        </p:spPr>
      </p:pic>
      <p:sp>
        <p:nvSpPr>
          <p:cNvPr id="19" name="Rectangle 18"/>
          <p:cNvSpPr/>
          <p:nvPr/>
        </p:nvSpPr>
        <p:spPr>
          <a:xfrm>
            <a:off x="6010826" y="1477631"/>
            <a:ext cx="2675973" cy="198732"/>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cxnSp>
        <p:nvCxnSpPr>
          <p:cNvPr id="21" name="Connecteur en angle 20"/>
          <p:cNvCxnSpPr>
            <a:stCxn id="17" idx="2"/>
            <a:endCxn id="18" idx="1"/>
          </p:cNvCxnSpPr>
          <p:nvPr/>
        </p:nvCxnSpPr>
        <p:spPr>
          <a:xfrm rot="16200000" flipH="1">
            <a:off x="5287915" y="852259"/>
            <a:ext cx="367434" cy="1078390"/>
          </a:xfrm>
          <a:prstGeom prst="bentConnector2">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25" name="Ellipse 24"/>
          <p:cNvSpPr/>
          <p:nvPr/>
        </p:nvSpPr>
        <p:spPr>
          <a:xfrm>
            <a:off x="4308974" y="240454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26" name="Ellipse 25"/>
          <p:cNvSpPr/>
          <p:nvPr/>
        </p:nvSpPr>
        <p:spPr>
          <a:xfrm>
            <a:off x="4562672" y="2525102"/>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27" name="Ellipse 26"/>
          <p:cNvSpPr/>
          <p:nvPr/>
        </p:nvSpPr>
        <p:spPr>
          <a:xfrm>
            <a:off x="4923534" y="2633102"/>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28" name="Ellipse 27"/>
          <p:cNvSpPr/>
          <p:nvPr/>
        </p:nvSpPr>
        <p:spPr>
          <a:xfrm>
            <a:off x="4923534" y="278767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29" name="Ellipse 28"/>
          <p:cNvSpPr/>
          <p:nvPr/>
        </p:nvSpPr>
        <p:spPr>
          <a:xfrm>
            <a:off x="4350984" y="364793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30" name="Ellipse 29"/>
          <p:cNvSpPr/>
          <p:nvPr/>
        </p:nvSpPr>
        <p:spPr>
          <a:xfrm>
            <a:off x="4754361" y="101547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6</a:t>
            </a:r>
          </a:p>
        </p:txBody>
      </p:sp>
      <p:sp>
        <p:nvSpPr>
          <p:cNvPr id="31" name="Ellipse 30"/>
          <p:cNvSpPr/>
          <p:nvPr/>
        </p:nvSpPr>
        <p:spPr>
          <a:xfrm>
            <a:off x="8608731" y="137035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7</a:t>
            </a:r>
          </a:p>
        </p:txBody>
      </p:sp>
      <p:pic>
        <p:nvPicPr>
          <p:cNvPr id="32" name="Image 31"/>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2315828" y="3207330"/>
            <a:ext cx="145257" cy="142875"/>
          </a:xfrm>
          <a:prstGeom prst="rect">
            <a:avLst/>
          </a:prstGeom>
        </p:spPr>
      </p:pic>
    </p:spTree>
    <p:extLst>
      <p:ext uri="{BB962C8B-B14F-4D97-AF65-F5344CB8AC3E}">
        <p14:creationId xmlns:p14="http://schemas.microsoft.com/office/powerpoint/2010/main" val="25712786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234534" y="1022977"/>
            <a:ext cx="2239407" cy="2421684"/>
          </a:xfrm>
          <a:prstGeom prst="rect">
            <a:avLst/>
          </a:prstGeom>
          <a:ln>
            <a:solidFill>
              <a:schemeClr val="tx1"/>
            </a:solidFill>
          </a:ln>
          <a:effectLst>
            <a:outerShdw blurRad="50800" dist="38100" dir="2700000" algn="tl" rotWithShape="0">
              <a:prstClr val="black">
                <a:alpha val="40000"/>
              </a:prstClr>
            </a:outerShdw>
          </a:effectLst>
        </p:spPr>
      </p:pic>
      <p:pic>
        <p:nvPicPr>
          <p:cNvPr id="3" name="Image 2"/>
          <p:cNvPicPr>
            <a:picLocks noChangeAspect="1"/>
          </p:cNvPicPr>
          <p:nvPr/>
        </p:nvPicPr>
        <p:blipFill>
          <a:blip r:embed="rId3"/>
          <a:stretch>
            <a:fillRect/>
          </a:stretch>
        </p:blipFill>
        <p:spPr>
          <a:xfrm>
            <a:off x="1585050" y="2629166"/>
            <a:ext cx="3570185" cy="1817765"/>
          </a:xfrm>
          <a:prstGeom prst="rect">
            <a:avLst/>
          </a:prstGeom>
          <a:ln>
            <a:solidFill>
              <a:schemeClr val="tx1"/>
            </a:solidFill>
          </a:ln>
          <a:effectLst>
            <a:outerShdw blurRad="50800" dist="38100" dir="2700000" algn="tl" rotWithShape="0">
              <a:prstClr val="black">
                <a:alpha val="40000"/>
              </a:prstClr>
            </a:outerShdw>
          </a:effectLst>
        </p:spPr>
      </p:pic>
      <p:sp>
        <p:nvSpPr>
          <p:cNvPr id="33795" name="Titre 3"/>
          <p:cNvSpPr>
            <a:spLocks noGrp="1"/>
          </p:cNvSpPr>
          <p:nvPr>
            <p:ph type="title"/>
          </p:nvPr>
        </p:nvSpPr>
        <p:spPr/>
        <p:txBody>
          <a:bodyPr>
            <a:normAutofit/>
          </a:bodyPr>
          <a:lstStyle/>
          <a:p>
            <a:r>
              <a:rPr lang="fr-FR" altLang="en-US" sz="2400" dirty="0"/>
              <a:t>Mode opératoire</a:t>
            </a:r>
            <a:br>
              <a:rPr lang="fr-FR" altLang="en-US" sz="2400" dirty="0"/>
            </a:br>
            <a:r>
              <a:rPr lang="fr-FR" altLang="en-US" dirty="0" smtClean="0"/>
              <a:t>ME11 – Création d’une fiche info-achat de type sous-traitance 1/2</a:t>
            </a:r>
            <a:endParaRPr lang="en-US" altLang="en-US" dirty="0" smtClean="0"/>
          </a:p>
        </p:txBody>
      </p:sp>
      <p:grpSp>
        <p:nvGrpSpPr>
          <p:cNvPr id="33794" name="Groupe 33793"/>
          <p:cNvGrpSpPr/>
          <p:nvPr/>
        </p:nvGrpSpPr>
        <p:grpSpPr>
          <a:xfrm>
            <a:off x="5284942" y="1307365"/>
            <a:ext cx="3730604" cy="2677656"/>
            <a:chOff x="425491" y="1232489"/>
            <a:chExt cx="3730604" cy="2677656"/>
          </a:xfrm>
        </p:grpSpPr>
        <p:sp>
          <p:nvSpPr>
            <p:cNvPr id="8" name="ZoneTexte 7"/>
            <p:cNvSpPr txBox="1"/>
            <p:nvPr/>
          </p:nvSpPr>
          <p:spPr>
            <a:xfrm>
              <a:off x="581024" y="1232489"/>
              <a:ext cx="3575071" cy="2677656"/>
            </a:xfrm>
            <a:prstGeom prst="rect">
              <a:avLst/>
            </a:prstGeom>
            <a:noFill/>
          </p:spPr>
          <p:txBody>
            <a:bodyPr wrap="square" rtlCol="0">
              <a:spAutoFit/>
            </a:bodyPr>
            <a:lstStyle/>
            <a:p>
              <a:r>
                <a:rPr lang="fr-FR" sz="1200" dirty="0" smtClean="0">
                  <a:solidFill>
                    <a:srgbClr val="4D4F53"/>
                  </a:solidFill>
                </a:rPr>
                <a:t>Saisir un fournisseur</a:t>
              </a:r>
            </a:p>
            <a:p>
              <a:endParaRPr lang="fr-FR" sz="1200" dirty="0">
                <a:solidFill>
                  <a:srgbClr val="4D4F53"/>
                </a:solidFill>
              </a:endParaRPr>
            </a:p>
            <a:p>
              <a:r>
                <a:rPr lang="fr-FR" sz="1200" dirty="0" smtClean="0">
                  <a:solidFill>
                    <a:srgbClr val="4D4F53"/>
                  </a:solidFill>
                </a:rPr>
                <a:t>Saisir un article</a:t>
              </a:r>
            </a:p>
            <a:p>
              <a:endParaRPr lang="fr-FR" sz="1200" dirty="0" smtClean="0">
                <a:solidFill>
                  <a:srgbClr val="4D4F53"/>
                </a:solidFill>
              </a:endParaRPr>
            </a:p>
            <a:p>
              <a:r>
                <a:rPr lang="fr-FR" sz="1200" dirty="0" smtClean="0">
                  <a:solidFill>
                    <a:srgbClr val="4D4F53"/>
                  </a:solidFill>
                </a:rPr>
                <a:t>Saisir une organisation d’achats</a:t>
              </a:r>
            </a:p>
            <a:p>
              <a:endParaRPr lang="fr-FR" sz="1200" dirty="0" smtClean="0">
                <a:solidFill>
                  <a:srgbClr val="4D4F53"/>
                </a:solidFill>
              </a:endParaRPr>
            </a:p>
            <a:p>
              <a:r>
                <a:rPr lang="fr-FR" sz="1200" dirty="0">
                  <a:solidFill>
                    <a:srgbClr val="4D4F53"/>
                  </a:solidFill>
                </a:rPr>
                <a:t>Dans l'encart "Type fiche infos-achats", cocher la case </a:t>
              </a:r>
              <a:r>
                <a:rPr lang="fr-FR" sz="1200" dirty="0" smtClean="0">
                  <a:solidFill>
                    <a:srgbClr val="4D4F53"/>
                  </a:solidFill>
                </a:rPr>
                <a:t>Standard et appuyer sur « Entrée »</a:t>
              </a:r>
              <a:endParaRPr lang="fr-FR" sz="1200" dirty="0" smtClean="0">
                <a:solidFill>
                  <a:srgbClr val="4D4F53"/>
                </a:solidFill>
              </a:endParaRPr>
            </a:p>
            <a:p>
              <a:endParaRPr lang="fr-FR" sz="1200" dirty="0">
                <a:solidFill>
                  <a:srgbClr val="4D4F53"/>
                </a:solidFill>
              </a:endParaRPr>
            </a:p>
            <a:p>
              <a:r>
                <a:rPr lang="fr-FR" sz="1200" dirty="0" smtClean="0">
                  <a:solidFill>
                    <a:srgbClr val="4D4F53"/>
                  </a:solidFill>
                </a:rPr>
                <a:t>Renseigner le première relance, la deuxième relance et la troisième relance</a:t>
              </a:r>
            </a:p>
            <a:p>
              <a:endParaRPr lang="fr-FR" sz="1200" dirty="0">
                <a:solidFill>
                  <a:srgbClr val="4D4F53"/>
                </a:solidFill>
              </a:endParaRPr>
            </a:p>
            <a:p>
              <a:r>
                <a:rPr lang="fr-FR" sz="1200" dirty="0" smtClean="0">
                  <a:solidFill>
                    <a:srgbClr val="4D4F53"/>
                  </a:solidFill>
                </a:rPr>
                <a:t>Appuyer sur </a:t>
              </a:r>
              <a:endParaRPr lang="fr-FR" sz="1200" dirty="0">
                <a:solidFill>
                  <a:srgbClr val="4D4F53"/>
                </a:solidFill>
              </a:endParaRPr>
            </a:p>
            <a:p>
              <a:endParaRPr lang="fr-FR" sz="1200" dirty="0" smtClean="0">
                <a:solidFill>
                  <a:srgbClr val="4D4F53"/>
                </a:solidFill>
              </a:endParaRPr>
            </a:p>
          </p:txBody>
        </p:sp>
        <p:sp>
          <p:nvSpPr>
            <p:cNvPr id="36" name="Ellipse 35"/>
            <p:cNvSpPr/>
            <p:nvPr/>
          </p:nvSpPr>
          <p:spPr>
            <a:xfrm>
              <a:off x="425491" y="128711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37" name="Ellipse 36"/>
            <p:cNvSpPr/>
            <p:nvPr/>
          </p:nvSpPr>
          <p:spPr>
            <a:xfrm>
              <a:off x="425491" y="167175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38" name="Ellipse 37"/>
            <p:cNvSpPr/>
            <p:nvPr/>
          </p:nvSpPr>
          <p:spPr>
            <a:xfrm>
              <a:off x="425491" y="202439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39" name="Ellipse 38"/>
            <p:cNvSpPr/>
            <p:nvPr/>
          </p:nvSpPr>
          <p:spPr>
            <a:xfrm>
              <a:off x="425491" y="237255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27" name="Ellipse 26"/>
            <p:cNvSpPr/>
            <p:nvPr/>
          </p:nvSpPr>
          <p:spPr>
            <a:xfrm>
              <a:off x="425491" y="290480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29" name="Ellipse 28"/>
            <p:cNvSpPr/>
            <p:nvPr/>
          </p:nvSpPr>
          <p:spPr>
            <a:xfrm>
              <a:off x="425491" y="349165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6</a:t>
              </a:r>
              <a:endParaRPr lang="fr-FR" sz="900" b="1" dirty="0" smtClean="0">
                <a:solidFill>
                  <a:schemeClr val="bg1"/>
                </a:solidFill>
              </a:endParaRPr>
            </a:p>
          </p:txBody>
        </p:sp>
      </p:grpSp>
      <p:sp>
        <p:nvSpPr>
          <p:cNvPr id="32" name="Rectangle 31"/>
          <p:cNvSpPr/>
          <p:nvPr/>
        </p:nvSpPr>
        <p:spPr>
          <a:xfrm>
            <a:off x="1002534" y="1829572"/>
            <a:ext cx="493051" cy="108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3" name="Rectangle 32"/>
          <p:cNvSpPr/>
          <p:nvPr/>
        </p:nvSpPr>
        <p:spPr>
          <a:xfrm>
            <a:off x="1002534" y="1958520"/>
            <a:ext cx="826266" cy="108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4" name="Rectangle 33"/>
          <p:cNvSpPr/>
          <p:nvPr/>
        </p:nvSpPr>
        <p:spPr>
          <a:xfrm>
            <a:off x="1002534" y="2121332"/>
            <a:ext cx="214083" cy="108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5" name="Rectangle 34"/>
          <p:cNvSpPr/>
          <p:nvPr/>
        </p:nvSpPr>
        <p:spPr>
          <a:xfrm>
            <a:off x="334660" y="2961414"/>
            <a:ext cx="667874" cy="122141"/>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40" name="Rectangle 39"/>
          <p:cNvSpPr/>
          <p:nvPr/>
        </p:nvSpPr>
        <p:spPr>
          <a:xfrm>
            <a:off x="2303587" y="3864875"/>
            <a:ext cx="191236" cy="104979"/>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42" name="Rectangle 41"/>
          <p:cNvSpPr/>
          <p:nvPr/>
        </p:nvSpPr>
        <p:spPr>
          <a:xfrm>
            <a:off x="1665191" y="2854871"/>
            <a:ext cx="749713" cy="10689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pic>
        <p:nvPicPr>
          <p:cNvPr id="6" name="Image 5"/>
          <p:cNvPicPr>
            <a:picLocks noChangeAspect="1"/>
          </p:cNvPicPr>
          <p:nvPr/>
        </p:nvPicPr>
        <p:blipFill>
          <a:blip r:embed="rId4"/>
          <a:stretch>
            <a:fillRect/>
          </a:stretch>
        </p:blipFill>
        <p:spPr>
          <a:xfrm>
            <a:off x="6351997" y="3566530"/>
            <a:ext cx="1276350" cy="190500"/>
          </a:xfrm>
          <a:prstGeom prst="rect">
            <a:avLst/>
          </a:prstGeom>
          <a:ln>
            <a:solidFill>
              <a:schemeClr val="tx1"/>
            </a:solidFill>
          </a:ln>
          <a:effectLst>
            <a:outerShdw blurRad="50800" dist="38100" dir="2700000" algn="tl" rotWithShape="0">
              <a:prstClr val="black">
                <a:alpha val="40000"/>
              </a:prstClr>
            </a:outerShdw>
          </a:effectLst>
        </p:spPr>
      </p:pic>
      <p:cxnSp>
        <p:nvCxnSpPr>
          <p:cNvPr id="12" name="Connecteur en angle 11"/>
          <p:cNvCxnSpPr/>
          <p:nvPr/>
        </p:nvCxnSpPr>
        <p:spPr>
          <a:xfrm>
            <a:off x="2494822" y="2233819"/>
            <a:ext cx="771116" cy="568278"/>
          </a:xfrm>
          <a:prstGeom prst="bentConnector2">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44" name="Ellipse 43"/>
          <p:cNvSpPr/>
          <p:nvPr/>
        </p:nvSpPr>
        <p:spPr>
          <a:xfrm>
            <a:off x="846398" y="1793471"/>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45" name="Ellipse 44"/>
          <p:cNvSpPr/>
          <p:nvPr/>
        </p:nvSpPr>
        <p:spPr>
          <a:xfrm>
            <a:off x="1803075" y="194335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46" name="Ellipse 45"/>
          <p:cNvSpPr/>
          <p:nvPr/>
        </p:nvSpPr>
        <p:spPr>
          <a:xfrm>
            <a:off x="1219603" y="208528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47" name="Ellipse 46"/>
          <p:cNvSpPr/>
          <p:nvPr/>
        </p:nvSpPr>
        <p:spPr>
          <a:xfrm>
            <a:off x="955462" y="2928981"/>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48" name="Ellipse 47"/>
          <p:cNvSpPr/>
          <p:nvPr/>
        </p:nvSpPr>
        <p:spPr>
          <a:xfrm>
            <a:off x="2624530" y="3985021"/>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49" name="Ellipse 48"/>
          <p:cNvSpPr/>
          <p:nvPr/>
        </p:nvSpPr>
        <p:spPr>
          <a:xfrm>
            <a:off x="1530402" y="283347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6</a:t>
            </a:r>
            <a:endParaRPr lang="fr-FR" sz="900" b="1" dirty="0" smtClean="0">
              <a:solidFill>
                <a:schemeClr val="bg1"/>
              </a:solidFill>
            </a:endParaRPr>
          </a:p>
        </p:txBody>
      </p:sp>
      <p:sp>
        <p:nvSpPr>
          <p:cNvPr id="41" name="Rectangle 40"/>
          <p:cNvSpPr/>
          <p:nvPr/>
        </p:nvSpPr>
        <p:spPr>
          <a:xfrm>
            <a:off x="2303587" y="3984241"/>
            <a:ext cx="191236" cy="104979"/>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43" name="Rectangle 42"/>
          <p:cNvSpPr/>
          <p:nvPr/>
        </p:nvSpPr>
        <p:spPr>
          <a:xfrm>
            <a:off x="2303587" y="4125460"/>
            <a:ext cx="191236" cy="104979"/>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Tree>
    <p:extLst>
      <p:ext uri="{BB962C8B-B14F-4D97-AF65-F5344CB8AC3E}">
        <p14:creationId xmlns:p14="http://schemas.microsoft.com/office/powerpoint/2010/main" val="361680445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 10"/>
          <p:cNvPicPr>
            <a:picLocks noChangeAspect="1"/>
          </p:cNvPicPr>
          <p:nvPr/>
        </p:nvPicPr>
        <p:blipFill>
          <a:blip r:embed="rId2"/>
          <a:stretch>
            <a:fillRect/>
          </a:stretch>
        </p:blipFill>
        <p:spPr>
          <a:xfrm>
            <a:off x="3783809" y="1079527"/>
            <a:ext cx="3052354" cy="3384687"/>
          </a:xfrm>
          <a:prstGeom prst="rect">
            <a:avLst/>
          </a:prstGeom>
          <a:ln>
            <a:solidFill>
              <a:schemeClr val="tx1"/>
            </a:solidFill>
          </a:ln>
          <a:effectLst>
            <a:outerShdw blurRad="50800" dist="38100" dir="2700000" algn="tl" rotWithShape="0">
              <a:prstClr val="black">
                <a:alpha val="40000"/>
              </a:prstClr>
            </a:outerShdw>
          </a:effectLst>
        </p:spPr>
      </p:pic>
      <p:sp>
        <p:nvSpPr>
          <p:cNvPr id="2" name="Titre 1"/>
          <p:cNvSpPr>
            <a:spLocks noGrp="1"/>
          </p:cNvSpPr>
          <p:nvPr>
            <p:ph type="title"/>
          </p:nvPr>
        </p:nvSpPr>
        <p:spPr/>
        <p:txBody>
          <a:bodyPr/>
          <a:lstStyle/>
          <a:p>
            <a:r>
              <a:rPr lang="fr-FR" altLang="en-US" sz="2400" dirty="0"/>
              <a:t>Mode opératoire</a:t>
            </a:r>
            <a:br>
              <a:rPr lang="fr-FR" altLang="en-US" sz="2400" dirty="0"/>
            </a:br>
            <a:r>
              <a:rPr lang="fr-FR" altLang="en-US" dirty="0"/>
              <a:t>ME11 – Création d’une fiche info-achat de type sous-traitance</a:t>
            </a:r>
            <a:r>
              <a:rPr lang="fr-FR" altLang="en-US" dirty="0" smtClean="0"/>
              <a:t> 2/2</a:t>
            </a:r>
            <a:endParaRPr lang="en-US" dirty="0"/>
          </a:p>
        </p:txBody>
      </p:sp>
      <p:sp>
        <p:nvSpPr>
          <p:cNvPr id="12" name="Rectangle 11"/>
          <p:cNvSpPr/>
          <p:nvPr/>
        </p:nvSpPr>
        <p:spPr>
          <a:xfrm>
            <a:off x="4431634" y="3784411"/>
            <a:ext cx="547297" cy="108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13" name="Rectangle 12"/>
          <p:cNvSpPr/>
          <p:nvPr/>
        </p:nvSpPr>
        <p:spPr>
          <a:xfrm>
            <a:off x="4431635" y="2451123"/>
            <a:ext cx="152090" cy="108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14" name="Rectangle 13"/>
          <p:cNvSpPr/>
          <p:nvPr/>
        </p:nvSpPr>
        <p:spPr>
          <a:xfrm>
            <a:off x="4429052" y="2549523"/>
            <a:ext cx="152090" cy="108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15" name="Rectangle 14"/>
          <p:cNvSpPr/>
          <p:nvPr/>
        </p:nvSpPr>
        <p:spPr>
          <a:xfrm>
            <a:off x="4429052" y="2673114"/>
            <a:ext cx="650618" cy="108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16" name="Rectangle 15"/>
          <p:cNvSpPr/>
          <p:nvPr/>
        </p:nvSpPr>
        <p:spPr>
          <a:xfrm>
            <a:off x="4429052" y="2796705"/>
            <a:ext cx="650618" cy="108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17" name="Rectangle 16"/>
          <p:cNvSpPr/>
          <p:nvPr/>
        </p:nvSpPr>
        <p:spPr>
          <a:xfrm>
            <a:off x="4856392" y="1099737"/>
            <a:ext cx="152090" cy="108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19" name="Rectangle 18"/>
          <p:cNvSpPr/>
          <p:nvPr/>
        </p:nvSpPr>
        <p:spPr>
          <a:xfrm>
            <a:off x="6010826" y="1477631"/>
            <a:ext cx="2675973" cy="198732"/>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5" name="Ellipse 24"/>
          <p:cNvSpPr/>
          <p:nvPr/>
        </p:nvSpPr>
        <p:spPr>
          <a:xfrm>
            <a:off x="4308974" y="240454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26" name="Ellipse 25"/>
          <p:cNvSpPr/>
          <p:nvPr/>
        </p:nvSpPr>
        <p:spPr>
          <a:xfrm>
            <a:off x="4562672" y="2525102"/>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27" name="Ellipse 26"/>
          <p:cNvSpPr/>
          <p:nvPr/>
        </p:nvSpPr>
        <p:spPr>
          <a:xfrm>
            <a:off x="4923534" y="2633102"/>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28" name="Ellipse 27"/>
          <p:cNvSpPr/>
          <p:nvPr/>
        </p:nvSpPr>
        <p:spPr>
          <a:xfrm>
            <a:off x="4923534" y="278767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29" name="Ellipse 28"/>
          <p:cNvSpPr/>
          <p:nvPr/>
        </p:nvSpPr>
        <p:spPr>
          <a:xfrm>
            <a:off x="4350984" y="3752122"/>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30" name="Ellipse 29"/>
          <p:cNvSpPr/>
          <p:nvPr/>
        </p:nvSpPr>
        <p:spPr>
          <a:xfrm>
            <a:off x="4754361" y="101547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6</a:t>
            </a:r>
          </a:p>
        </p:txBody>
      </p:sp>
      <p:sp>
        <p:nvSpPr>
          <p:cNvPr id="31" name="Ellipse 30"/>
          <p:cNvSpPr/>
          <p:nvPr/>
        </p:nvSpPr>
        <p:spPr>
          <a:xfrm>
            <a:off x="8608731" y="137035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7</a:t>
            </a:r>
          </a:p>
        </p:txBody>
      </p:sp>
      <p:pic>
        <p:nvPicPr>
          <p:cNvPr id="20" name="Image 19"/>
          <p:cNvPicPr>
            <a:picLocks noChangeAspect="1"/>
          </p:cNvPicPr>
          <p:nvPr/>
        </p:nvPicPr>
        <p:blipFill>
          <a:blip r:embed="rId3"/>
          <a:stretch>
            <a:fillRect/>
          </a:stretch>
        </p:blipFill>
        <p:spPr>
          <a:xfrm>
            <a:off x="6023170" y="1486055"/>
            <a:ext cx="2585562" cy="177093"/>
          </a:xfrm>
          <a:prstGeom prst="rect">
            <a:avLst/>
          </a:prstGeom>
        </p:spPr>
      </p:pic>
      <p:cxnSp>
        <p:nvCxnSpPr>
          <p:cNvPr id="21" name="Connecteur en angle 20"/>
          <p:cNvCxnSpPr>
            <a:stCxn id="17" idx="2"/>
          </p:cNvCxnSpPr>
          <p:nvPr/>
        </p:nvCxnSpPr>
        <p:spPr>
          <a:xfrm rot="16200000" flipH="1">
            <a:off x="5287915" y="852259"/>
            <a:ext cx="367434" cy="1078390"/>
          </a:xfrm>
          <a:prstGeom prst="bentConnector2">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grpSp>
        <p:nvGrpSpPr>
          <p:cNvPr id="32" name="Groupe 31"/>
          <p:cNvGrpSpPr/>
          <p:nvPr/>
        </p:nvGrpSpPr>
        <p:grpSpPr>
          <a:xfrm>
            <a:off x="518017" y="1315737"/>
            <a:ext cx="2967868" cy="2492990"/>
            <a:chOff x="425491" y="1232489"/>
            <a:chExt cx="2967868" cy="2492990"/>
          </a:xfrm>
        </p:grpSpPr>
        <p:sp>
          <p:nvSpPr>
            <p:cNvPr id="33" name="ZoneTexte 32"/>
            <p:cNvSpPr txBox="1"/>
            <p:nvPr/>
          </p:nvSpPr>
          <p:spPr>
            <a:xfrm>
              <a:off x="581024" y="1232489"/>
              <a:ext cx="2812335" cy="2492990"/>
            </a:xfrm>
            <a:prstGeom prst="rect">
              <a:avLst/>
            </a:prstGeom>
            <a:noFill/>
          </p:spPr>
          <p:txBody>
            <a:bodyPr wrap="square" rtlCol="0">
              <a:spAutoFit/>
            </a:bodyPr>
            <a:lstStyle/>
            <a:p>
              <a:r>
                <a:rPr lang="fr-FR" sz="1200" dirty="0" smtClean="0">
                  <a:solidFill>
                    <a:srgbClr val="4D4F53"/>
                  </a:solidFill>
                </a:rPr>
                <a:t>Saisir un délai prévisionnel de livraison</a:t>
              </a:r>
            </a:p>
            <a:p>
              <a:endParaRPr lang="fr-FR" sz="1200" dirty="0">
                <a:solidFill>
                  <a:srgbClr val="4D4F53"/>
                </a:solidFill>
              </a:endParaRPr>
            </a:p>
            <a:p>
              <a:r>
                <a:rPr lang="fr-FR" sz="1200" dirty="0" smtClean="0">
                  <a:solidFill>
                    <a:srgbClr val="4D4F53"/>
                  </a:solidFill>
                </a:rPr>
                <a:t>Saisir un groupe d’acheteurs</a:t>
              </a:r>
            </a:p>
            <a:p>
              <a:endParaRPr lang="fr-FR" sz="1200" dirty="0">
                <a:solidFill>
                  <a:srgbClr val="4D4F53"/>
                </a:solidFill>
              </a:endParaRPr>
            </a:p>
            <a:p>
              <a:r>
                <a:rPr lang="fr-FR" sz="1200" dirty="0" smtClean="0">
                  <a:solidFill>
                    <a:srgbClr val="4D4F53"/>
                  </a:solidFill>
                </a:rPr>
                <a:t>Saisir une quantité standard</a:t>
              </a:r>
            </a:p>
            <a:p>
              <a:endParaRPr lang="fr-FR" sz="1200" dirty="0">
                <a:solidFill>
                  <a:srgbClr val="4D4F53"/>
                </a:solidFill>
              </a:endParaRPr>
            </a:p>
            <a:p>
              <a:r>
                <a:rPr lang="fr-FR" sz="1200" dirty="0" smtClean="0">
                  <a:solidFill>
                    <a:srgbClr val="4D4F53"/>
                  </a:solidFill>
                </a:rPr>
                <a:t>Saisir une quantité minimum</a:t>
              </a:r>
            </a:p>
            <a:p>
              <a:endParaRPr lang="fr-FR" sz="1200" dirty="0">
                <a:solidFill>
                  <a:srgbClr val="4D4F53"/>
                </a:solidFill>
              </a:endParaRPr>
            </a:p>
            <a:p>
              <a:r>
                <a:rPr lang="fr-FR" sz="1200" dirty="0" smtClean="0">
                  <a:solidFill>
                    <a:srgbClr val="4D4F53"/>
                  </a:solidFill>
                </a:rPr>
                <a:t>Saisir un prix net</a:t>
              </a:r>
            </a:p>
            <a:p>
              <a:endParaRPr lang="fr-FR" sz="1200" dirty="0">
                <a:solidFill>
                  <a:srgbClr val="4D4F53"/>
                </a:solidFill>
              </a:endParaRPr>
            </a:p>
            <a:p>
              <a:r>
                <a:rPr lang="fr-FR" sz="1200" dirty="0" smtClean="0">
                  <a:solidFill>
                    <a:srgbClr val="4D4F53"/>
                  </a:solidFill>
                </a:rPr>
                <a:t>Sauvegarder avec l’icône </a:t>
              </a:r>
              <a:endParaRPr lang="fr-FR" sz="1200" dirty="0" smtClean="0">
                <a:solidFill>
                  <a:srgbClr val="4D4F53"/>
                </a:solidFill>
              </a:endParaRPr>
            </a:p>
            <a:p>
              <a:endParaRPr lang="fr-FR" sz="1200" dirty="0">
                <a:solidFill>
                  <a:srgbClr val="4D4F53"/>
                </a:solidFill>
              </a:endParaRPr>
            </a:p>
            <a:p>
              <a:r>
                <a:rPr lang="fr-FR" sz="1200" dirty="0" smtClean="0">
                  <a:solidFill>
                    <a:srgbClr val="4D4F53"/>
                  </a:solidFill>
                </a:rPr>
                <a:t>Un message </a:t>
              </a:r>
              <a:r>
                <a:rPr lang="fr-FR" sz="1200" dirty="0" smtClean="0">
                  <a:solidFill>
                    <a:srgbClr val="4D4F53"/>
                  </a:solidFill>
                </a:rPr>
                <a:t>de confirmation apparait</a:t>
              </a:r>
              <a:endParaRPr lang="fr-FR" sz="1200" dirty="0" smtClean="0">
                <a:solidFill>
                  <a:srgbClr val="4D4F53"/>
                </a:solidFill>
              </a:endParaRPr>
            </a:p>
          </p:txBody>
        </p:sp>
        <p:sp>
          <p:nvSpPr>
            <p:cNvPr id="34" name="Ellipse 33"/>
            <p:cNvSpPr/>
            <p:nvPr/>
          </p:nvSpPr>
          <p:spPr>
            <a:xfrm>
              <a:off x="425491" y="128711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35" name="Ellipse 34"/>
            <p:cNvSpPr/>
            <p:nvPr/>
          </p:nvSpPr>
          <p:spPr>
            <a:xfrm>
              <a:off x="425491" y="167175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36" name="Ellipse 35"/>
            <p:cNvSpPr/>
            <p:nvPr/>
          </p:nvSpPr>
          <p:spPr>
            <a:xfrm>
              <a:off x="425491" y="202439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37" name="Ellipse 36"/>
            <p:cNvSpPr/>
            <p:nvPr/>
          </p:nvSpPr>
          <p:spPr>
            <a:xfrm>
              <a:off x="425491" y="237255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38" name="Ellipse 37"/>
            <p:cNvSpPr/>
            <p:nvPr/>
          </p:nvSpPr>
          <p:spPr>
            <a:xfrm>
              <a:off x="425491" y="275247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39" name="Ellipse 38"/>
            <p:cNvSpPr/>
            <p:nvPr/>
          </p:nvSpPr>
          <p:spPr>
            <a:xfrm>
              <a:off x="425491" y="311823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6</a:t>
              </a:r>
            </a:p>
          </p:txBody>
        </p:sp>
        <p:sp>
          <p:nvSpPr>
            <p:cNvPr id="40" name="Ellipse 39"/>
            <p:cNvSpPr/>
            <p:nvPr/>
          </p:nvSpPr>
          <p:spPr>
            <a:xfrm>
              <a:off x="425491" y="349640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7</a:t>
              </a:r>
            </a:p>
          </p:txBody>
        </p:sp>
      </p:grpSp>
      <p:pic>
        <p:nvPicPr>
          <p:cNvPr id="41" name="Image 40"/>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2323577" y="3207330"/>
            <a:ext cx="145257" cy="142875"/>
          </a:xfrm>
          <a:prstGeom prst="rect">
            <a:avLst/>
          </a:prstGeom>
        </p:spPr>
      </p:pic>
    </p:spTree>
    <p:extLst>
      <p:ext uri="{BB962C8B-B14F-4D97-AF65-F5344CB8AC3E}">
        <p14:creationId xmlns:p14="http://schemas.microsoft.com/office/powerpoint/2010/main" val="14706799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Text Box 3"/>
          <p:cNvSpPr txBox="1">
            <a:spLocks noChangeArrowheads="1"/>
          </p:cNvSpPr>
          <p:nvPr/>
        </p:nvSpPr>
        <p:spPr bwMode="auto">
          <a:xfrm>
            <a:off x="1173955" y="1058111"/>
            <a:ext cx="2948593" cy="1213506"/>
          </a:xfrm>
          <a:prstGeom prst="rect">
            <a:avLst/>
          </a:prstGeom>
          <a:noFill/>
          <a:ln w="12700" algn="ctr">
            <a:noFill/>
            <a:miter lim="800000"/>
            <a:headEnd/>
            <a:tailEnd/>
          </a:ln>
        </p:spPr>
        <p:txBody>
          <a:bodyPr wrap="square" lIns="67500" tIns="35100" rIns="67500" bIns="35100">
            <a:spAutoFit/>
          </a:bodyPr>
          <a:lstStyle/>
          <a:p>
            <a:pPr>
              <a:lnSpc>
                <a:spcPct val="110000"/>
              </a:lnSpc>
              <a:buFont typeface="Wingdings" pitchFamily="2" charset="2"/>
              <a:buNone/>
              <a:defRPr/>
            </a:pPr>
            <a:endParaRPr lang="fr-FR" sz="1350" dirty="0">
              <a:solidFill>
                <a:srgbClr val="4F81BD"/>
              </a:solidFill>
              <a:latin typeface="Arial Narrow" pitchFamily="34" charset="0"/>
              <a:ea typeface="ＭＳ Ｐゴシック"/>
              <a:cs typeface="ＭＳ Ｐゴシック"/>
            </a:endParaRPr>
          </a:p>
          <a:p>
            <a:pPr marL="135731" indent="-135731">
              <a:lnSpc>
                <a:spcPct val="110000"/>
              </a:lnSpc>
              <a:buFont typeface="Wingdings" pitchFamily="2" charset="2"/>
              <a:buChar char="§"/>
              <a:defRPr/>
            </a:pPr>
            <a:r>
              <a:rPr lang="fr-FR" altLang="en-US" sz="1350" dirty="0" smtClean="0">
                <a:solidFill>
                  <a:srgbClr val="4F81BD"/>
                </a:solidFill>
                <a:latin typeface="Arial Narrow" pitchFamily="34" charset="0"/>
                <a:ea typeface="ＭＳ Ｐゴシック"/>
                <a:cs typeface="ＭＳ Ｐゴシック"/>
              </a:rPr>
              <a:t>Créer une fiche info-achat de type standard</a:t>
            </a:r>
          </a:p>
          <a:p>
            <a:pPr marL="135731" indent="-135731">
              <a:lnSpc>
                <a:spcPct val="110000"/>
              </a:lnSpc>
              <a:buFont typeface="Wingdings" pitchFamily="2" charset="2"/>
              <a:buChar char="§"/>
              <a:defRPr/>
            </a:pPr>
            <a:r>
              <a:rPr lang="fr-FR" sz="1350" dirty="0" smtClean="0">
                <a:solidFill>
                  <a:srgbClr val="4F81BD"/>
                </a:solidFill>
                <a:latin typeface="Arial Narrow" pitchFamily="34" charset="0"/>
                <a:ea typeface="ＭＳ Ｐゴシック"/>
                <a:cs typeface="ＭＳ Ｐゴシック"/>
              </a:rPr>
              <a:t>Créer une fiche info-achat de type sous-traitance MM</a:t>
            </a:r>
            <a:endParaRPr lang="fr-FR" sz="1350" dirty="0">
              <a:solidFill>
                <a:srgbClr val="4F81BD"/>
              </a:solidFill>
              <a:latin typeface="Arial Narrow" pitchFamily="34" charset="0"/>
              <a:ea typeface="ＭＳ Ｐゴシック"/>
              <a:cs typeface="ＭＳ Ｐゴシック"/>
            </a:endParaRPr>
          </a:p>
        </p:txBody>
      </p:sp>
      <p:sp>
        <p:nvSpPr>
          <p:cNvPr id="3" name="ZoneTexte 2"/>
          <p:cNvSpPr txBox="1"/>
          <p:nvPr/>
        </p:nvSpPr>
        <p:spPr>
          <a:xfrm>
            <a:off x="1116295" y="205978"/>
            <a:ext cx="2316788" cy="523220"/>
          </a:xfrm>
          <a:prstGeom prst="rect">
            <a:avLst/>
          </a:prstGeom>
          <a:noFill/>
        </p:spPr>
        <p:txBody>
          <a:bodyPr wrap="none" rtlCol="0">
            <a:spAutoFit/>
          </a:bodyPr>
          <a:lstStyle/>
          <a:p>
            <a:r>
              <a:rPr lang="en-US" sz="2800" b="1" dirty="0" err="1">
                <a:solidFill>
                  <a:srgbClr val="4F81BD"/>
                </a:solidFill>
              </a:rPr>
              <a:t>Exercice</a:t>
            </a:r>
            <a:r>
              <a:rPr lang="en-US" sz="2800" b="1" dirty="0">
                <a:solidFill>
                  <a:srgbClr val="4F81BD"/>
                </a:solidFill>
              </a:rPr>
              <a:t> </a:t>
            </a:r>
            <a:r>
              <a:rPr lang="en-US" sz="2800" b="1" dirty="0" err="1">
                <a:solidFill>
                  <a:srgbClr val="4F81BD"/>
                </a:solidFill>
              </a:rPr>
              <a:t>dirigé</a:t>
            </a:r>
            <a:endParaRPr lang="en-US" sz="2800" b="1" dirty="0">
              <a:solidFill>
                <a:srgbClr val="4F81BD"/>
              </a:solidFill>
            </a:endParaRPr>
          </a:p>
        </p:txBody>
      </p:sp>
      <p:pic>
        <p:nvPicPr>
          <p:cNvPr id="34" name="Image 3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399562"/>
            <a:ext cx="3120189" cy="2156460"/>
          </a:xfrm>
          <a:prstGeom prst="rect">
            <a:avLst/>
          </a:prstGeom>
        </p:spPr>
      </p:pic>
      <p:grpSp>
        <p:nvGrpSpPr>
          <p:cNvPr id="35" name="Groupe 34"/>
          <p:cNvGrpSpPr/>
          <p:nvPr/>
        </p:nvGrpSpPr>
        <p:grpSpPr>
          <a:xfrm>
            <a:off x="5174456" y="205978"/>
            <a:ext cx="3680275" cy="4299347"/>
            <a:chOff x="5174456" y="205978"/>
            <a:chExt cx="3680275" cy="4299347"/>
          </a:xfrm>
        </p:grpSpPr>
        <p:grpSp>
          <p:nvGrpSpPr>
            <p:cNvPr id="36" name="Groupe 35"/>
            <p:cNvGrpSpPr/>
            <p:nvPr/>
          </p:nvGrpSpPr>
          <p:grpSpPr>
            <a:xfrm>
              <a:off x="5174456" y="205978"/>
              <a:ext cx="3680275" cy="4299347"/>
              <a:chOff x="3707606" y="205978"/>
              <a:chExt cx="4105275" cy="4795838"/>
            </a:xfrm>
          </p:grpSpPr>
          <p:sp>
            <p:nvSpPr>
              <p:cNvPr id="39" name="Rectangle 38"/>
              <p:cNvSpPr/>
              <p:nvPr/>
            </p:nvSpPr>
            <p:spPr>
              <a:xfrm>
                <a:off x="3707606" y="205978"/>
                <a:ext cx="4105275" cy="4795838"/>
              </a:xfrm>
              <a:prstGeom prst="rect">
                <a:avLst/>
              </a:prstGeom>
              <a:solidFill>
                <a:schemeClr val="bg1"/>
              </a:solidFill>
              <a:ln w="222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lstStyle/>
              <a:p>
                <a:pPr>
                  <a:defRPr/>
                </a:pPr>
                <a:endParaRPr lang="fr-FR" sz="1350" b="1" u="sng" dirty="0">
                  <a:solidFill>
                    <a:schemeClr val="tx1"/>
                  </a:solidFill>
                </a:endParaRPr>
              </a:p>
              <a:p>
                <a:pPr>
                  <a:defRPr/>
                </a:pPr>
                <a:endParaRPr lang="en-US" sz="1350" b="1" u="sng" dirty="0">
                  <a:solidFill>
                    <a:schemeClr val="tx1"/>
                  </a:solidFill>
                </a:endParaRPr>
              </a:p>
            </p:txBody>
          </p:sp>
          <p:cxnSp>
            <p:nvCxnSpPr>
              <p:cNvPr id="40" name="Connecteur droit 39"/>
              <p:cNvCxnSpPr/>
              <p:nvPr/>
            </p:nvCxnSpPr>
            <p:spPr>
              <a:xfrm>
                <a:off x="3815953" y="11406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1" name="Connecteur droit 40"/>
              <p:cNvCxnSpPr/>
              <p:nvPr/>
            </p:nvCxnSpPr>
            <p:spPr>
              <a:xfrm>
                <a:off x="3815953" y="13620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2" name="Connecteur droit 41"/>
              <p:cNvCxnSpPr/>
              <p:nvPr/>
            </p:nvCxnSpPr>
            <p:spPr>
              <a:xfrm>
                <a:off x="3821906" y="24562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3" name="Connecteur droit 42"/>
              <p:cNvCxnSpPr/>
              <p:nvPr/>
            </p:nvCxnSpPr>
            <p:spPr>
              <a:xfrm>
                <a:off x="3821906" y="26777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4" name="Connecteur droit 43"/>
              <p:cNvCxnSpPr/>
              <p:nvPr/>
            </p:nvCxnSpPr>
            <p:spPr>
              <a:xfrm>
                <a:off x="3821906" y="1590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5" name="Connecteur droit 44"/>
              <p:cNvCxnSpPr/>
              <p:nvPr/>
            </p:nvCxnSpPr>
            <p:spPr>
              <a:xfrm>
                <a:off x="3821906" y="18121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6" name="Connecteur droit 45"/>
              <p:cNvCxnSpPr/>
              <p:nvPr/>
            </p:nvCxnSpPr>
            <p:spPr>
              <a:xfrm>
                <a:off x="3821906" y="20276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7" name="Connecteur droit 46"/>
              <p:cNvCxnSpPr/>
              <p:nvPr/>
            </p:nvCxnSpPr>
            <p:spPr>
              <a:xfrm>
                <a:off x="3821906" y="22490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8" name="Connecteur droit 47"/>
              <p:cNvCxnSpPr/>
              <p:nvPr/>
            </p:nvCxnSpPr>
            <p:spPr>
              <a:xfrm>
                <a:off x="3821906" y="28932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9" name="Connecteur droit 48"/>
              <p:cNvCxnSpPr/>
              <p:nvPr/>
            </p:nvCxnSpPr>
            <p:spPr>
              <a:xfrm>
                <a:off x="3821906" y="3114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0" name="Connecteur droit 49"/>
              <p:cNvCxnSpPr/>
              <p:nvPr/>
            </p:nvCxnSpPr>
            <p:spPr>
              <a:xfrm>
                <a:off x="3827860" y="42088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1" name="Connecteur droit 50"/>
              <p:cNvCxnSpPr/>
              <p:nvPr/>
            </p:nvCxnSpPr>
            <p:spPr>
              <a:xfrm>
                <a:off x="3827860" y="44303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2" name="Connecteur droit 51"/>
              <p:cNvCxnSpPr/>
              <p:nvPr/>
            </p:nvCxnSpPr>
            <p:spPr>
              <a:xfrm>
                <a:off x="3827860" y="33432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3" name="Connecteur droit 52"/>
              <p:cNvCxnSpPr/>
              <p:nvPr/>
            </p:nvCxnSpPr>
            <p:spPr>
              <a:xfrm>
                <a:off x="3827860" y="35647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4" name="Connecteur droit 53"/>
              <p:cNvCxnSpPr/>
              <p:nvPr/>
            </p:nvCxnSpPr>
            <p:spPr>
              <a:xfrm>
                <a:off x="3827860" y="37802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5" name="Connecteur droit 54"/>
              <p:cNvCxnSpPr/>
              <p:nvPr/>
            </p:nvCxnSpPr>
            <p:spPr>
              <a:xfrm>
                <a:off x="3827860" y="40016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6" name="Connecteur droit 55"/>
              <p:cNvCxnSpPr/>
              <p:nvPr/>
            </p:nvCxnSpPr>
            <p:spPr>
              <a:xfrm>
                <a:off x="3827860" y="461963"/>
                <a:ext cx="3827861"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7" name="Connecteur droit 56"/>
              <p:cNvCxnSpPr/>
              <p:nvPr/>
            </p:nvCxnSpPr>
            <p:spPr>
              <a:xfrm>
                <a:off x="3827860" y="682229"/>
                <a:ext cx="3827859"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8" name="Connecteur droit 57"/>
              <p:cNvCxnSpPr/>
              <p:nvPr/>
            </p:nvCxnSpPr>
            <p:spPr>
              <a:xfrm>
                <a:off x="3827860" y="909638"/>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9" name="Connecteur droit 58"/>
              <p:cNvCxnSpPr/>
              <p:nvPr/>
            </p:nvCxnSpPr>
            <p:spPr>
              <a:xfrm>
                <a:off x="3821906" y="4661298"/>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60" name="Connecteur droit 59"/>
              <p:cNvCxnSpPr/>
              <p:nvPr/>
            </p:nvCxnSpPr>
            <p:spPr>
              <a:xfrm>
                <a:off x="3821906" y="4882754"/>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grpSp>
        <p:pic>
          <p:nvPicPr>
            <p:cNvPr id="37" name="Image 36"/>
            <p:cNvPicPr>
              <a:picLocks noChangeAspect="1"/>
            </p:cNvPicPr>
            <p:nvPr/>
          </p:nvPicPr>
          <p:blipFill>
            <a:blip r:embed="rId4">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7850414" y="257643"/>
              <a:ext cx="909117" cy="922754"/>
            </a:xfrm>
            <a:prstGeom prst="rect">
              <a:avLst/>
            </a:prstGeom>
          </p:spPr>
        </p:pic>
        <p:sp>
          <p:nvSpPr>
            <p:cNvPr id="38" name="ZoneTexte 36"/>
            <p:cNvSpPr txBox="1">
              <a:spLocks noChangeArrowheads="1"/>
            </p:cNvSpPr>
            <p:nvPr/>
          </p:nvSpPr>
          <p:spPr bwMode="auto">
            <a:xfrm rot="21212387">
              <a:off x="7848414" y="443461"/>
              <a:ext cx="969572" cy="707886"/>
            </a:xfrm>
            <a:prstGeom prst="rect">
              <a:avLst/>
            </a:prstGeom>
            <a:noFill/>
            <a:ln>
              <a:noFill/>
            </a:ln>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r>
                <a:rPr lang="fr-FR" altLang="en-US" sz="800" b="1" dirty="0">
                  <a:solidFill>
                    <a:schemeClr val="bg1"/>
                  </a:solidFill>
                  <a:latin typeface="+mn-lt"/>
                </a:rPr>
                <a:t>La présentation détaillée du pas à pas est retrouvée dans le guide utilisateur</a:t>
              </a:r>
              <a:endParaRPr lang="en-US" altLang="en-US" sz="800" b="1" dirty="0">
                <a:solidFill>
                  <a:schemeClr val="bg1"/>
                </a:solidFill>
                <a:latin typeface="+mn-lt"/>
              </a:endParaRPr>
            </a:p>
          </p:txBody>
        </p:sp>
      </p:grpSp>
    </p:spTree>
    <p:extLst>
      <p:ext uri="{BB962C8B-B14F-4D97-AF65-F5344CB8AC3E}">
        <p14:creationId xmlns:p14="http://schemas.microsoft.com/office/powerpoint/2010/main" val="386499712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Titre 3"/>
          <p:cNvSpPr>
            <a:spLocks noGrp="1"/>
          </p:cNvSpPr>
          <p:nvPr>
            <p:ph type="title"/>
          </p:nvPr>
        </p:nvSpPr>
        <p:spPr/>
        <p:txBody>
          <a:bodyPr>
            <a:normAutofit fontScale="90000"/>
          </a:bodyPr>
          <a:lstStyle/>
          <a:p>
            <a:r>
              <a:rPr lang="fr-FR" altLang="en-US" sz="2400" dirty="0"/>
              <a:t>Mode opératoire</a:t>
            </a:r>
            <a:br>
              <a:rPr lang="fr-FR" altLang="en-US" sz="2400" dirty="0"/>
            </a:br>
            <a:r>
              <a:rPr lang="fr-FR" altLang="en-US" dirty="0" smtClean="0"/>
              <a:t>ME01 </a:t>
            </a:r>
            <a:r>
              <a:rPr lang="fr-FR" altLang="en-US" dirty="0"/>
              <a:t>- Création d'un répertoire de source </a:t>
            </a:r>
            <a:r>
              <a:rPr lang="fr-FR" altLang="en-US" dirty="0" smtClean="0"/>
              <a:t>d'approvisionnement (manuellement) 1/2</a:t>
            </a:r>
            <a:endParaRPr lang="en-US" altLang="en-US" dirty="0" smtClean="0"/>
          </a:p>
        </p:txBody>
      </p:sp>
      <p:grpSp>
        <p:nvGrpSpPr>
          <p:cNvPr id="33794" name="Groupe 33793"/>
          <p:cNvGrpSpPr/>
          <p:nvPr/>
        </p:nvGrpSpPr>
        <p:grpSpPr>
          <a:xfrm>
            <a:off x="5077469" y="1135902"/>
            <a:ext cx="3730604" cy="3231654"/>
            <a:chOff x="425491" y="1232489"/>
            <a:chExt cx="3730604" cy="3231654"/>
          </a:xfrm>
        </p:grpSpPr>
        <p:sp>
          <p:nvSpPr>
            <p:cNvPr id="8" name="ZoneTexte 7"/>
            <p:cNvSpPr txBox="1"/>
            <p:nvPr/>
          </p:nvSpPr>
          <p:spPr>
            <a:xfrm>
              <a:off x="581024" y="1232489"/>
              <a:ext cx="3575071" cy="3231654"/>
            </a:xfrm>
            <a:prstGeom prst="rect">
              <a:avLst/>
            </a:prstGeom>
            <a:noFill/>
          </p:spPr>
          <p:txBody>
            <a:bodyPr wrap="square" rtlCol="0">
              <a:spAutoFit/>
            </a:bodyPr>
            <a:lstStyle/>
            <a:p>
              <a:r>
                <a:rPr lang="fr-FR" sz="1200" dirty="0" smtClean="0">
                  <a:solidFill>
                    <a:srgbClr val="4D4F53"/>
                  </a:solidFill>
                </a:rPr>
                <a:t>Saisir un article</a:t>
              </a:r>
            </a:p>
            <a:p>
              <a:endParaRPr lang="fr-FR" sz="1200" dirty="0" smtClean="0">
                <a:solidFill>
                  <a:srgbClr val="4D4F53"/>
                </a:solidFill>
              </a:endParaRPr>
            </a:p>
            <a:p>
              <a:r>
                <a:rPr lang="fr-FR" sz="1200" dirty="0" smtClean="0">
                  <a:solidFill>
                    <a:srgbClr val="4D4F53"/>
                  </a:solidFill>
                </a:rPr>
                <a:t>Saisir une division et appuyer sur Entrée</a:t>
              </a:r>
            </a:p>
            <a:p>
              <a:endParaRPr lang="fr-FR" sz="1200" dirty="0" smtClean="0">
                <a:solidFill>
                  <a:srgbClr val="4D4F53"/>
                </a:solidFill>
              </a:endParaRPr>
            </a:p>
            <a:p>
              <a:r>
                <a:rPr lang="fr-FR" sz="1200" u="sng" dirty="0" smtClean="0">
                  <a:solidFill>
                    <a:srgbClr val="4D4F53"/>
                  </a:solidFill>
                </a:rPr>
                <a:t>Pour la première ligne : référence à un contrat</a:t>
              </a:r>
              <a:endParaRPr lang="fr-FR" sz="1200" u="sng" dirty="0">
                <a:solidFill>
                  <a:srgbClr val="4D4F53"/>
                </a:solidFill>
              </a:endParaRPr>
            </a:p>
            <a:p>
              <a:endParaRPr lang="fr-FR" sz="1200" u="sng" dirty="0" smtClean="0">
                <a:solidFill>
                  <a:srgbClr val="4D4F53"/>
                </a:solidFill>
              </a:endParaRPr>
            </a:p>
            <a:p>
              <a:r>
                <a:rPr lang="fr-FR" sz="1200" dirty="0" smtClean="0">
                  <a:solidFill>
                    <a:srgbClr val="4D4F53"/>
                  </a:solidFill>
                </a:rPr>
                <a:t>Saisir une date de début et de fin de validité</a:t>
              </a:r>
            </a:p>
            <a:p>
              <a:endParaRPr lang="fr-FR" sz="1200" dirty="0">
                <a:solidFill>
                  <a:srgbClr val="4D4F53"/>
                </a:solidFill>
              </a:endParaRPr>
            </a:p>
            <a:p>
              <a:r>
                <a:rPr lang="fr-FR" sz="1200" dirty="0" smtClean="0">
                  <a:solidFill>
                    <a:srgbClr val="4D4F53"/>
                  </a:solidFill>
                </a:rPr>
                <a:t>Saisir un fournisseur</a:t>
              </a:r>
            </a:p>
            <a:p>
              <a:endParaRPr lang="fr-FR" sz="1200" dirty="0">
                <a:solidFill>
                  <a:srgbClr val="4D4F53"/>
                </a:solidFill>
              </a:endParaRPr>
            </a:p>
            <a:p>
              <a:r>
                <a:rPr lang="fr-FR" sz="1200" dirty="0" smtClean="0">
                  <a:solidFill>
                    <a:srgbClr val="4D4F53"/>
                  </a:solidFill>
                </a:rPr>
                <a:t>Saisir une organisation d’achat</a:t>
              </a:r>
            </a:p>
            <a:p>
              <a:endParaRPr lang="fr-FR" sz="1200" dirty="0">
                <a:solidFill>
                  <a:srgbClr val="4D4F53"/>
                </a:solidFill>
              </a:endParaRPr>
            </a:p>
            <a:p>
              <a:r>
                <a:rPr lang="fr-FR" sz="1200" dirty="0" smtClean="0">
                  <a:solidFill>
                    <a:srgbClr val="4D4F53"/>
                  </a:solidFill>
                </a:rPr>
                <a:t>Indiquer un contrat et un poste du contrat</a:t>
              </a:r>
            </a:p>
            <a:p>
              <a:endParaRPr lang="fr-FR" sz="1200" dirty="0">
                <a:solidFill>
                  <a:srgbClr val="4D4F53"/>
                </a:solidFill>
              </a:endParaRPr>
            </a:p>
            <a:p>
              <a:r>
                <a:rPr lang="fr-FR" sz="1200" dirty="0" smtClean="0">
                  <a:solidFill>
                    <a:srgbClr val="4D4F53"/>
                  </a:solidFill>
                </a:rPr>
                <a:t>Si les dates sont hors de la validité : un message apparait </a:t>
              </a:r>
              <a:r>
                <a:rPr lang="fr-FR" sz="1200" dirty="0" smtClean="0">
                  <a:solidFill>
                    <a:srgbClr val="4D4F53"/>
                  </a:solidFill>
                  <a:sym typeface="Wingdings" panose="05000000000000000000" pitchFamily="2" charset="2"/>
                </a:rPr>
                <a:t> Appuyer sur Entrée</a:t>
              </a:r>
              <a:endParaRPr lang="fr-FR" sz="1200" dirty="0" smtClean="0">
                <a:solidFill>
                  <a:srgbClr val="4D4F53"/>
                </a:solidFill>
              </a:endParaRPr>
            </a:p>
            <a:p>
              <a:endParaRPr lang="fr-FR" sz="1200" dirty="0">
                <a:solidFill>
                  <a:srgbClr val="4D4F53"/>
                </a:solidFill>
              </a:endParaRPr>
            </a:p>
          </p:txBody>
        </p:sp>
        <p:sp>
          <p:nvSpPr>
            <p:cNvPr id="36" name="Ellipse 35"/>
            <p:cNvSpPr/>
            <p:nvPr/>
          </p:nvSpPr>
          <p:spPr>
            <a:xfrm>
              <a:off x="425491" y="128711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37" name="Ellipse 36"/>
            <p:cNvSpPr/>
            <p:nvPr/>
          </p:nvSpPr>
          <p:spPr>
            <a:xfrm>
              <a:off x="425491" y="167175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38" name="Ellipse 37"/>
            <p:cNvSpPr/>
            <p:nvPr/>
          </p:nvSpPr>
          <p:spPr>
            <a:xfrm>
              <a:off x="425491" y="240722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39" name="Ellipse 38"/>
            <p:cNvSpPr/>
            <p:nvPr/>
          </p:nvSpPr>
          <p:spPr>
            <a:xfrm>
              <a:off x="425491" y="2755392"/>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27" name="Ellipse 26"/>
            <p:cNvSpPr/>
            <p:nvPr/>
          </p:nvSpPr>
          <p:spPr>
            <a:xfrm>
              <a:off x="425491" y="311595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29" name="Ellipse 28"/>
            <p:cNvSpPr/>
            <p:nvPr/>
          </p:nvSpPr>
          <p:spPr>
            <a:xfrm>
              <a:off x="425491" y="350059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6</a:t>
              </a:r>
              <a:endParaRPr lang="fr-FR" sz="900" b="1" dirty="0" smtClean="0">
                <a:solidFill>
                  <a:schemeClr val="bg1"/>
                </a:solidFill>
              </a:endParaRPr>
            </a:p>
          </p:txBody>
        </p:sp>
        <p:sp>
          <p:nvSpPr>
            <p:cNvPr id="30" name="Ellipse 29"/>
            <p:cNvSpPr/>
            <p:nvPr/>
          </p:nvSpPr>
          <p:spPr>
            <a:xfrm>
              <a:off x="425491" y="387313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7</a:t>
              </a:r>
            </a:p>
          </p:txBody>
        </p:sp>
      </p:grpSp>
      <p:pic>
        <p:nvPicPr>
          <p:cNvPr id="2" name="Image 1"/>
          <p:cNvPicPr>
            <a:picLocks noChangeAspect="1"/>
          </p:cNvPicPr>
          <p:nvPr/>
        </p:nvPicPr>
        <p:blipFill>
          <a:blip r:embed="rId2"/>
          <a:stretch>
            <a:fillRect/>
          </a:stretch>
        </p:blipFill>
        <p:spPr>
          <a:xfrm>
            <a:off x="220503" y="1118512"/>
            <a:ext cx="2302191" cy="1137940"/>
          </a:xfrm>
          <a:prstGeom prst="rect">
            <a:avLst/>
          </a:prstGeom>
          <a:ln>
            <a:solidFill>
              <a:schemeClr val="tx1"/>
            </a:solidFill>
          </a:ln>
          <a:effectLst>
            <a:outerShdw blurRad="50800" dist="38100" dir="2700000" algn="tl" rotWithShape="0">
              <a:prstClr val="black">
                <a:alpha val="40000"/>
              </a:prstClr>
            </a:outerShdw>
          </a:effectLst>
        </p:spPr>
      </p:pic>
      <p:pic>
        <p:nvPicPr>
          <p:cNvPr id="3" name="Image 2"/>
          <p:cNvPicPr>
            <a:picLocks noChangeAspect="1"/>
          </p:cNvPicPr>
          <p:nvPr/>
        </p:nvPicPr>
        <p:blipFill>
          <a:blip r:embed="rId3"/>
          <a:stretch>
            <a:fillRect/>
          </a:stretch>
        </p:blipFill>
        <p:spPr>
          <a:xfrm>
            <a:off x="220503" y="2418656"/>
            <a:ext cx="4481361" cy="1453924"/>
          </a:xfrm>
          <a:prstGeom prst="rect">
            <a:avLst/>
          </a:prstGeom>
          <a:ln>
            <a:solidFill>
              <a:schemeClr val="tx1"/>
            </a:solidFill>
          </a:ln>
          <a:effectLst>
            <a:outerShdw blurRad="50800" dist="38100" dir="2700000" algn="tl" rotWithShape="0">
              <a:prstClr val="black">
                <a:alpha val="40000"/>
              </a:prstClr>
            </a:outerShdw>
          </a:effectLst>
        </p:spPr>
      </p:pic>
      <p:pic>
        <p:nvPicPr>
          <p:cNvPr id="7" name="Image 6"/>
          <p:cNvPicPr>
            <a:picLocks noChangeAspect="1"/>
          </p:cNvPicPr>
          <p:nvPr/>
        </p:nvPicPr>
        <p:blipFill>
          <a:blip r:embed="rId4"/>
          <a:stretch>
            <a:fillRect/>
          </a:stretch>
        </p:blipFill>
        <p:spPr>
          <a:xfrm>
            <a:off x="1768164" y="4044299"/>
            <a:ext cx="2933700" cy="209550"/>
          </a:xfrm>
          <a:prstGeom prst="rect">
            <a:avLst/>
          </a:prstGeom>
          <a:ln>
            <a:solidFill>
              <a:schemeClr val="tx1"/>
            </a:solidFill>
          </a:ln>
          <a:effectLst>
            <a:outerShdw blurRad="50800" dist="38100" dir="2700000" algn="tl" rotWithShape="0">
              <a:prstClr val="black">
                <a:alpha val="40000"/>
              </a:prstClr>
            </a:outerShdw>
          </a:effectLst>
        </p:spPr>
      </p:pic>
      <p:sp>
        <p:nvSpPr>
          <p:cNvPr id="41" name="Rectangle 40"/>
          <p:cNvSpPr/>
          <p:nvPr/>
        </p:nvSpPr>
        <p:spPr>
          <a:xfrm>
            <a:off x="987037" y="1902745"/>
            <a:ext cx="865010" cy="108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43" name="Rectangle 42"/>
          <p:cNvSpPr/>
          <p:nvPr/>
        </p:nvSpPr>
        <p:spPr>
          <a:xfrm>
            <a:off x="987037" y="2052348"/>
            <a:ext cx="190834" cy="108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57" name="Rectangle 56"/>
          <p:cNvSpPr/>
          <p:nvPr/>
        </p:nvSpPr>
        <p:spPr>
          <a:xfrm>
            <a:off x="410706" y="3581833"/>
            <a:ext cx="945396" cy="108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58" name="Rectangle 57"/>
          <p:cNvSpPr/>
          <p:nvPr/>
        </p:nvSpPr>
        <p:spPr>
          <a:xfrm>
            <a:off x="1356102" y="3580486"/>
            <a:ext cx="412062" cy="108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59" name="Rectangle 58"/>
          <p:cNvSpPr/>
          <p:nvPr/>
        </p:nvSpPr>
        <p:spPr>
          <a:xfrm>
            <a:off x="1827702" y="3580486"/>
            <a:ext cx="256820" cy="108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60" name="Rectangle 59"/>
          <p:cNvSpPr/>
          <p:nvPr/>
        </p:nvSpPr>
        <p:spPr>
          <a:xfrm>
            <a:off x="2491701" y="3580486"/>
            <a:ext cx="739696" cy="108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61" name="Rectangle 60"/>
          <p:cNvSpPr/>
          <p:nvPr/>
        </p:nvSpPr>
        <p:spPr>
          <a:xfrm>
            <a:off x="1782998" y="4044299"/>
            <a:ext cx="2918866" cy="20955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62" name="Ellipse 61"/>
          <p:cNvSpPr/>
          <p:nvPr/>
        </p:nvSpPr>
        <p:spPr>
          <a:xfrm>
            <a:off x="1827702" y="187945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63" name="Ellipse 62"/>
          <p:cNvSpPr/>
          <p:nvPr/>
        </p:nvSpPr>
        <p:spPr>
          <a:xfrm>
            <a:off x="1181405" y="202526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64" name="Ellipse 63"/>
          <p:cNvSpPr/>
          <p:nvPr/>
        </p:nvSpPr>
        <p:spPr>
          <a:xfrm>
            <a:off x="285089" y="355956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65" name="Ellipse 64"/>
          <p:cNvSpPr/>
          <p:nvPr/>
        </p:nvSpPr>
        <p:spPr>
          <a:xfrm>
            <a:off x="1593800" y="348227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66" name="Ellipse 65"/>
          <p:cNvSpPr/>
          <p:nvPr/>
        </p:nvSpPr>
        <p:spPr>
          <a:xfrm>
            <a:off x="1991470" y="347017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67" name="Ellipse 66"/>
          <p:cNvSpPr/>
          <p:nvPr/>
        </p:nvSpPr>
        <p:spPr>
          <a:xfrm>
            <a:off x="3123233" y="348940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6</a:t>
            </a:r>
            <a:endParaRPr lang="fr-FR" sz="900" b="1" dirty="0" smtClean="0">
              <a:solidFill>
                <a:schemeClr val="bg1"/>
              </a:solidFill>
            </a:endParaRPr>
          </a:p>
        </p:txBody>
      </p:sp>
      <p:sp>
        <p:nvSpPr>
          <p:cNvPr id="68" name="Ellipse 67"/>
          <p:cNvSpPr/>
          <p:nvPr/>
        </p:nvSpPr>
        <p:spPr>
          <a:xfrm>
            <a:off x="1682679" y="4071786"/>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7</a:t>
            </a:r>
          </a:p>
        </p:txBody>
      </p:sp>
      <p:cxnSp>
        <p:nvCxnSpPr>
          <p:cNvPr id="10" name="Connecteur en angle 9"/>
          <p:cNvCxnSpPr>
            <a:stCxn id="57" idx="2"/>
            <a:endCxn id="7" idx="1"/>
          </p:cNvCxnSpPr>
          <p:nvPr/>
        </p:nvCxnSpPr>
        <p:spPr>
          <a:xfrm rot="16200000" flipH="1">
            <a:off x="1096164" y="3477073"/>
            <a:ext cx="459241" cy="884760"/>
          </a:xfrm>
          <a:prstGeom prst="bentConnector2">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3" name="Connecteur en angle 12"/>
          <p:cNvCxnSpPr>
            <a:stCxn id="2" idx="2"/>
            <a:endCxn id="3" idx="0"/>
          </p:cNvCxnSpPr>
          <p:nvPr/>
        </p:nvCxnSpPr>
        <p:spPr>
          <a:xfrm rot="16200000" flipH="1">
            <a:off x="1835289" y="1792761"/>
            <a:ext cx="162204" cy="1089585"/>
          </a:xfrm>
          <a:prstGeom prst="bentConnector3">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196313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altLang="en-US" sz="2400" dirty="0"/>
              <a:t>Mode opératoire</a:t>
            </a:r>
            <a:br>
              <a:rPr lang="fr-FR" altLang="en-US" sz="2400" dirty="0"/>
            </a:br>
            <a:r>
              <a:rPr lang="fr-FR" altLang="en-US" dirty="0"/>
              <a:t>ME01 - Création d'un répertoire de source d'approvisionnement (manuellement</a:t>
            </a:r>
            <a:r>
              <a:rPr lang="fr-FR" altLang="en-US" dirty="0" smtClean="0"/>
              <a:t>) 2/2</a:t>
            </a:r>
            <a:endParaRPr lang="en-US" dirty="0"/>
          </a:p>
        </p:txBody>
      </p:sp>
      <p:pic>
        <p:nvPicPr>
          <p:cNvPr id="3" name="Image 2"/>
          <p:cNvPicPr>
            <a:picLocks noChangeAspect="1"/>
          </p:cNvPicPr>
          <p:nvPr/>
        </p:nvPicPr>
        <p:blipFill>
          <a:blip r:embed="rId2"/>
          <a:stretch>
            <a:fillRect/>
          </a:stretch>
        </p:blipFill>
        <p:spPr>
          <a:xfrm>
            <a:off x="331583" y="1692938"/>
            <a:ext cx="4481361" cy="1453924"/>
          </a:xfrm>
          <a:prstGeom prst="rect">
            <a:avLst/>
          </a:prstGeom>
          <a:ln>
            <a:solidFill>
              <a:schemeClr val="tx1"/>
            </a:solidFill>
          </a:ln>
          <a:effectLst>
            <a:outerShdw blurRad="50800" dist="38100" dir="2700000" algn="tl" rotWithShape="0">
              <a:prstClr val="black">
                <a:alpha val="40000"/>
              </a:prstClr>
            </a:outerShdw>
          </a:effectLst>
        </p:spPr>
      </p:pic>
      <p:grpSp>
        <p:nvGrpSpPr>
          <p:cNvPr id="4" name="Groupe 3"/>
          <p:cNvGrpSpPr/>
          <p:nvPr/>
        </p:nvGrpSpPr>
        <p:grpSpPr>
          <a:xfrm>
            <a:off x="5086623" y="1291829"/>
            <a:ext cx="3730604" cy="2677656"/>
            <a:chOff x="425491" y="1232489"/>
            <a:chExt cx="3730604" cy="2677656"/>
          </a:xfrm>
        </p:grpSpPr>
        <p:sp>
          <p:nvSpPr>
            <p:cNvPr id="5" name="ZoneTexte 4"/>
            <p:cNvSpPr txBox="1"/>
            <p:nvPr/>
          </p:nvSpPr>
          <p:spPr>
            <a:xfrm>
              <a:off x="581024" y="1232489"/>
              <a:ext cx="3575071" cy="2677656"/>
            </a:xfrm>
            <a:prstGeom prst="rect">
              <a:avLst/>
            </a:prstGeom>
            <a:noFill/>
          </p:spPr>
          <p:txBody>
            <a:bodyPr wrap="square" rtlCol="0">
              <a:spAutoFit/>
            </a:bodyPr>
            <a:lstStyle/>
            <a:p>
              <a:r>
                <a:rPr lang="fr-FR" sz="1200" u="sng" dirty="0" smtClean="0">
                  <a:solidFill>
                    <a:srgbClr val="4D4F53"/>
                  </a:solidFill>
                </a:rPr>
                <a:t>Pour la deuxième ligne : référence à fiche info-achat</a:t>
              </a:r>
              <a:endParaRPr lang="fr-FR" sz="1200" u="sng" dirty="0">
                <a:solidFill>
                  <a:srgbClr val="4D4F53"/>
                </a:solidFill>
              </a:endParaRPr>
            </a:p>
            <a:p>
              <a:endParaRPr lang="fr-FR" sz="1200" u="sng" dirty="0" smtClean="0">
                <a:solidFill>
                  <a:srgbClr val="4D4F53"/>
                </a:solidFill>
              </a:endParaRPr>
            </a:p>
            <a:p>
              <a:r>
                <a:rPr lang="fr-FR" sz="1200" dirty="0" smtClean="0">
                  <a:solidFill>
                    <a:srgbClr val="4D4F53"/>
                  </a:solidFill>
                </a:rPr>
                <a:t>Saisir une date de début et de fin de validité</a:t>
              </a:r>
            </a:p>
            <a:p>
              <a:endParaRPr lang="fr-FR" sz="1200" dirty="0">
                <a:solidFill>
                  <a:srgbClr val="4D4F53"/>
                </a:solidFill>
              </a:endParaRPr>
            </a:p>
            <a:p>
              <a:r>
                <a:rPr lang="fr-FR" sz="1200" dirty="0" smtClean="0">
                  <a:solidFill>
                    <a:srgbClr val="4D4F53"/>
                  </a:solidFill>
                </a:rPr>
                <a:t>Saisir un fournisseur</a:t>
              </a:r>
            </a:p>
            <a:p>
              <a:endParaRPr lang="fr-FR" sz="1200" dirty="0">
                <a:solidFill>
                  <a:srgbClr val="4D4F53"/>
                </a:solidFill>
              </a:endParaRPr>
            </a:p>
            <a:p>
              <a:r>
                <a:rPr lang="fr-FR" sz="1200" dirty="0">
                  <a:solidFill>
                    <a:srgbClr val="4D4F53"/>
                  </a:solidFill>
                </a:rPr>
                <a:t>Appuyer sur entrée : si une FIA existe pour le couple article / fournisseur, la ligne est </a:t>
              </a:r>
              <a:r>
                <a:rPr lang="fr-FR" sz="1200" dirty="0" smtClean="0">
                  <a:solidFill>
                    <a:srgbClr val="4D4F53"/>
                  </a:solidFill>
                </a:rPr>
                <a:t>valide</a:t>
              </a:r>
            </a:p>
            <a:p>
              <a:endParaRPr lang="fr-FR" sz="1200" dirty="0">
                <a:solidFill>
                  <a:srgbClr val="4D4F53"/>
                </a:solidFill>
              </a:endParaRPr>
            </a:p>
            <a:p>
              <a:r>
                <a:rPr lang="fr-FR" sz="1200" dirty="0">
                  <a:solidFill>
                    <a:srgbClr val="4D4F53"/>
                  </a:solidFill>
                </a:rPr>
                <a:t>Définir cette source comme la source par défaut pour les DA issues du MRP en mettant &lt;&lt;Planification = 1&gt;&gt; sur la ligne</a:t>
              </a:r>
              <a:endParaRPr lang="fr-FR" sz="1200" dirty="0" smtClean="0">
                <a:solidFill>
                  <a:srgbClr val="4D4F53"/>
                </a:solidFill>
              </a:endParaRPr>
            </a:p>
            <a:p>
              <a:endParaRPr lang="fr-FR" sz="1200" dirty="0">
                <a:solidFill>
                  <a:srgbClr val="4D4F53"/>
                </a:solidFill>
              </a:endParaRPr>
            </a:p>
            <a:p>
              <a:r>
                <a:rPr lang="fr-FR" sz="1200" dirty="0" smtClean="0">
                  <a:solidFill>
                    <a:srgbClr val="4D4F53"/>
                  </a:solidFill>
                </a:rPr>
                <a:t>Sauvegarder avec l’icône </a:t>
              </a:r>
              <a:endParaRPr lang="fr-FR" sz="1200" dirty="0">
                <a:solidFill>
                  <a:srgbClr val="4D4F53"/>
                </a:solidFill>
              </a:endParaRPr>
            </a:p>
          </p:txBody>
        </p:sp>
        <p:sp>
          <p:nvSpPr>
            <p:cNvPr id="6" name="Ellipse 5"/>
            <p:cNvSpPr/>
            <p:nvPr/>
          </p:nvSpPr>
          <p:spPr>
            <a:xfrm>
              <a:off x="425491" y="1675026"/>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7" name="Ellipse 6"/>
            <p:cNvSpPr/>
            <p:nvPr/>
          </p:nvSpPr>
          <p:spPr>
            <a:xfrm>
              <a:off x="425491" y="2059666"/>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8" name="Ellipse 7"/>
            <p:cNvSpPr/>
            <p:nvPr/>
          </p:nvSpPr>
          <p:spPr>
            <a:xfrm>
              <a:off x="425491" y="241531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9" name="Ellipse 8"/>
            <p:cNvSpPr/>
            <p:nvPr/>
          </p:nvSpPr>
          <p:spPr>
            <a:xfrm>
              <a:off x="425491" y="312922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21" name="Ellipse 20"/>
            <p:cNvSpPr/>
            <p:nvPr/>
          </p:nvSpPr>
          <p:spPr>
            <a:xfrm>
              <a:off x="425491" y="366533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grpSp>
      <p:sp>
        <p:nvSpPr>
          <p:cNvPr id="13" name="Rectangle 12"/>
          <p:cNvSpPr/>
          <p:nvPr/>
        </p:nvSpPr>
        <p:spPr>
          <a:xfrm>
            <a:off x="514036" y="2987107"/>
            <a:ext cx="945396" cy="108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14" name="Rectangle 13"/>
          <p:cNvSpPr/>
          <p:nvPr/>
        </p:nvSpPr>
        <p:spPr>
          <a:xfrm>
            <a:off x="1459432" y="2985760"/>
            <a:ext cx="412062" cy="108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15" name="Rectangle 14"/>
          <p:cNvSpPr/>
          <p:nvPr/>
        </p:nvSpPr>
        <p:spPr>
          <a:xfrm>
            <a:off x="1931032" y="2985760"/>
            <a:ext cx="256820" cy="108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17" name="Ellipse 16"/>
          <p:cNvSpPr/>
          <p:nvPr/>
        </p:nvSpPr>
        <p:spPr>
          <a:xfrm>
            <a:off x="388419" y="296483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18" name="Ellipse 17"/>
          <p:cNvSpPr/>
          <p:nvPr/>
        </p:nvSpPr>
        <p:spPr>
          <a:xfrm>
            <a:off x="1697130" y="2887551"/>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2</a:t>
            </a:r>
          </a:p>
        </p:txBody>
      </p:sp>
      <p:sp>
        <p:nvSpPr>
          <p:cNvPr id="19" name="Ellipse 18"/>
          <p:cNvSpPr/>
          <p:nvPr/>
        </p:nvSpPr>
        <p:spPr>
          <a:xfrm>
            <a:off x="2094800" y="287544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23" name="Rectangle 22"/>
          <p:cNvSpPr/>
          <p:nvPr/>
        </p:nvSpPr>
        <p:spPr>
          <a:xfrm>
            <a:off x="4585893" y="2991418"/>
            <a:ext cx="159180" cy="127995"/>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4" name="Ellipse 23"/>
          <p:cNvSpPr/>
          <p:nvPr/>
        </p:nvSpPr>
        <p:spPr>
          <a:xfrm>
            <a:off x="4468847" y="293286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pic>
        <p:nvPicPr>
          <p:cNvPr id="20" name="Image 19"/>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6892484" y="3724678"/>
            <a:ext cx="145257" cy="142875"/>
          </a:xfrm>
          <a:prstGeom prst="rect">
            <a:avLst/>
          </a:prstGeom>
        </p:spPr>
      </p:pic>
    </p:spTree>
    <p:extLst>
      <p:ext uri="{BB962C8B-B14F-4D97-AF65-F5344CB8AC3E}">
        <p14:creationId xmlns:p14="http://schemas.microsoft.com/office/powerpoint/2010/main" val="30543833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nvPicPr>
        <p:blipFill rotWithShape="1">
          <a:blip r:embed="rId2"/>
          <a:srcRect r="26415" b="44633"/>
          <a:stretch/>
        </p:blipFill>
        <p:spPr>
          <a:xfrm>
            <a:off x="220504" y="2418656"/>
            <a:ext cx="3297612" cy="804991"/>
          </a:xfrm>
          <a:prstGeom prst="rect">
            <a:avLst/>
          </a:prstGeom>
          <a:ln>
            <a:solidFill>
              <a:schemeClr val="tx1"/>
            </a:solidFill>
          </a:ln>
          <a:effectLst>
            <a:outerShdw blurRad="50800" dist="38100" dir="2700000" algn="tl" rotWithShape="0">
              <a:prstClr val="black">
                <a:alpha val="40000"/>
              </a:prstClr>
            </a:outerShdw>
          </a:effectLst>
        </p:spPr>
      </p:pic>
      <p:pic>
        <p:nvPicPr>
          <p:cNvPr id="9" name="Image 8"/>
          <p:cNvPicPr>
            <a:picLocks noChangeAspect="1"/>
          </p:cNvPicPr>
          <p:nvPr/>
        </p:nvPicPr>
        <p:blipFill>
          <a:blip r:embed="rId3"/>
          <a:stretch>
            <a:fillRect/>
          </a:stretch>
        </p:blipFill>
        <p:spPr>
          <a:xfrm>
            <a:off x="2764694" y="2086545"/>
            <a:ext cx="2007217" cy="973560"/>
          </a:xfrm>
          <a:prstGeom prst="rect">
            <a:avLst/>
          </a:prstGeom>
          <a:ln>
            <a:solidFill>
              <a:schemeClr val="tx1"/>
            </a:solidFill>
          </a:ln>
          <a:effectLst>
            <a:outerShdw blurRad="50800" dist="38100" dir="2700000" algn="tl" rotWithShape="0">
              <a:prstClr val="black">
                <a:alpha val="40000"/>
              </a:prstClr>
            </a:outerShdw>
          </a:effectLst>
        </p:spPr>
      </p:pic>
      <p:sp>
        <p:nvSpPr>
          <p:cNvPr id="33795" name="Titre 3"/>
          <p:cNvSpPr>
            <a:spLocks noGrp="1"/>
          </p:cNvSpPr>
          <p:nvPr>
            <p:ph type="title"/>
          </p:nvPr>
        </p:nvSpPr>
        <p:spPr/>
        <p:txBody>
          <a:bodyPr>
            <a:normAutofit fontScale="90000"/>
          </a:bodyPr>
          <a:lstStyle/>
          <a:p>
            <a:r>
              <a:rPr lang="fr-FR" altLang="en-US" sz="2400" dirty="0"/>
              <a:t>Mode opératoire</a:t>
            </a:r>
            <a:br>
              <a:rPr lang="fr-FR" altLang="en-US" sz="2400" dirty="0"/>
            </a:br>
            <a:r>
              <a:rPr lang="fr-FR" altLang="en-US" dirty="0" smtClean="0"/>
              <a:t>ME01 </a:t>
            </a:r>
            <a:r>
              <a:rPr lang="fr-FR" altLang="en-US" dirty="0"/>
              <a:t>- Création d'un répertoire de source </a:t>
            </a:r>
            <a:r>
              <a:rPr lang="fr-FR" altLang="en-US" dirty="0" smtClean="0"/>
              <a:t>d'approvisionnement (automatiquement)</a:t>
            </a:r>
            <a:endParaRPr lang="en-US" altLang="en-US" dirty="0" smtClean="0"/>
          </a:p>
        </p:txBody>
      </p:sp>
      <p:sp>
        <p:nvSpPr>
          <p:cNvPr id="8" name="ZoneTexte 7"/>
          <p:cNvSpPr txBox="1"/>
          <p:nvPr/>
        </p:nvSpPr>
        <p:spPr>
          <a:xfrm>
            <a:off x="5180958" y="988813"/>
            <a:ext cx="3910998" cy="3416320"/>
          </a:xfrm>
          <a:prstGeom prst="rect">
            <a:avLst/>
          </a:prstGeom>
          <a:noFill/>
        </p:spPr>
        <p:txBody>
          <a:bodyPr wrap="square" rtlCol="0">
            <a:spAutoFit/>
          </a:bodyPr>
          <a:lstStyle/>
          <a:p>
            <a:pPr>
              <a:lnSpc>
                <a:spcPct val="150000"/>
              </a:lnSpc>
            </a:pPr>
            <a:r>
              <a:rPr lang="fr-FR" sz="1200" dirty="0" smtClean="0">
                <a:solidFill>
                  <a:srgbClr val="4D4F53"/>
                </a:solidFill>
              </a:rPr>
              <a:t>Saisir un </a:t>
            </a:r>
            <a:r>
              <a:rPr lang="fr-FR" sz="1200" dirty="0" smtClean="0">
                <a:solidFill>
                  <a:srgbClr val="4D4F53"/>
                </a:solidFill>
              </a:rPr>
              <a:t>article</a:t>
            </a:r>
            <a:endParaRPr lang="fr-FR" sz="1200" dirty="0" smtClean="0">
              <a:solidFill>
                <a:srgbClr val="4D4F53"/>
              </a:solidFill>
            </a:endParaRPr>
          </a:p>
          <a:p>
            <a:pPr>
              <a:lnSpc>
                <a:spcPct val="150000"/>
              </a:lnSpc>
            </a:pPr>
            <a:r>
              <a:rPr lang="fr-FR" sz="1200" dirty="0" smtClean="0">
                <a:solidFill>
                  <a:srgbClr val="4D4F53"/>
                </a:solidFill>
              </a:rPr>
              <a:t>Saisir </a:t>
            </a:r>
            <a:r>
              <a:rPr lang="fr-FR" sz="1200" dirty="0" smtClean="0">
                <a:solidFill>
                  <a:srgbClr val="4D4F53"/>
                </a:solidFill>
              </a:rPr>
              <a:t>une division et appuyer sur Entrée</a:t>
            </a:r>
          </a:p>
          <a:p>
            <a:pPr>
              <a:lnSpc>
                <a:spcPct val="150000"/>
              </a:lnSpc>
            </a:pPr>
            <a:r>
              <a:rPr lang="fr-FR" sz="1200" dirty="0" smtClean="0">
                <a:solidFill>
                  <a:srgbClr val="4D4F53"/>
                </a:solidFill>
              </a:rPr>
              <a:t>Appuyer </a:t>
            </a:r>
            <a:r>
              <a:rPr lang="fr-FR" sz="1200" dirty="0" smtClean="0">
                <a:solidFill>
                  <a:srgbClr val="4D4F53"/>
                </a:solidFill>
              </a:rPr>
              <a:t>sur </a:t>
            </a:r>
          </a:p>
          <a:p>
            <a:pPr>
              <a:lnSpc>
                <a:spcPct val="150000"/>
              </a:lnSpc>
            </a:pPr>
            <a:r>
              <a:rPr lang="fr-FR" sz="1200" dirty="0" smtClean="0">
                <a:solidFill>
                  <a:srgbClr val="4D4F53"/>
                </a:solidFill>
              </a:rPr>
              <a:t>Saisir </a:t>
            </a:r>
            <a:r>
              <a:rPr lang="fr-FR" sz="1200" dirty="0" smtClean="0">
                <a:solidFill>
                  <a:srgbClr val="4D4F53"/>
                </a:solidFill>
              </a:rPr>
              <a:t>une date de début et de fin de validité</a:t>
            </a:r>
          </a:p>
          <a:p>
            <a:pPr>
              <a:lnSpc>
                <a:spcPct val="150000"/>
              </a:lnSpc>
            </a:pPr>
            <a:r>
              <a:rPr lang="fr-FR" sz="1200" dirty="0" smtClean="0">
                <a:solidFill>
                  <a:srgbClr val="4D4F53"/>
                </a:solidFill>
              </a:rPr>
              <a:t>Appuyer </a:t>
            </a:r>
            <a:r>
              <a:rPr lang="fr-FR" sz="1200" dirty="0" smtClean="0">
                <a:solidFill>
                  <a:srgbClr val="4D4F53"/>
                </a:solidFill>
              </a:rPr>
              <a:t>sur </a:t>
            </a:r>
          </a:p>
          <a:p>
            <a:pPr>
              <a:lnSpc>
                <a:spcPct val="150000"/>
              </a:lnSpc>
            </a:pPr>
            <a:r>
              <a:rPr lang="fr-FR" sz="1200" dirty="0" smtClean="0">
                <a:solidFill>
                  <a:srgbClr val="4D4F53"/>
                </a:solidFill>
              </a:rPr>
              <a:t>Regarder </a:t>
            </a:r>
            <a:r>
              <a:rPr lang="fr-FR" sz="1200" dirty="0">
                <a:solidFill>
                  <a:srgbClr val="4D4F53"/>
                </a:solidFill>
              </a:rPr>
              <a:t>le détail des lignes : si la ligne fait référence à un contrat, on </a:t>
            </a:r>
            <a:r>
              <a:rPr lang="fr-FR" sz="1200" dirty="0" smtClean="0">
                <a:solidFill>
                  <a:srgbClr val="4D4F53"/>
                </a:solidFill>
              </a:rPr>
              <a:t>retrouve </a:t>
            </a:r>
            <a:r>
              <a:rPr lang="fr-FR" sz="1200" dirty="0">
                <a:solidFill>
                  <a:srgbClr val="4D4F53"/>
                </a:solidFill>
              </a:rPr>
              <a:t>l'identification du contrat et du poste. Sinon, la référence est faite à une Fiche Info Achats (dont le numéro n'est pas mentionné</a:t>
            </a:r>
            <a:r>
              <a:rPr lang="fr-FR" sz="1200" dirty="0" smtClean="0">
                <a:solidFill>
                  <a:srgbClr val="4D4F53"/>
                </a:solidFill>
              </a:rPr>
              <a:t>)</a:t>
            </a:r>
          </a:p>
          <a:p>
            <a:pPr>
              <a:lnSpc>
                <a:spcPct val="150000"/>
              </a:lnSpc>
            </a:pPr>
            <a:r>
              <a:rPr lang="fr-FR" sz="1200" dirty="0" smtClean="0">
                <a:solidFill>
                  <a:srgbClr val="4D4F53"/>
                </a:solidFill>
              </a:rPr>
              <a:t>Définir </a:t>
            </a:r>
            <a:r>
              <a:rPr lang="fr-FR" sz="1200" dirty="0" smtClean="0">
                <a:solidFill>
                  <a:srgbClr val="4D4F53"/>
                </a:solidFill>
              </a:rPr>
              <a:t>une source </a:t>
            </a:r>
            <a:r>
              <a:rPr lang="fr-FR" sz="1200" dirty="0">
                <a:solidFill>
                  <a:srgbClr val="4D4F53"/>
                </a:solidFill>
              </a:rPr>
              <a:t>comme la source par défaut pour les DA issues du MRP en mettant &lt;&lt;Planification = 1&gt;&gt; sur la ligne</a:t>
            </a:r>
          </a:p>
          <a:p>
            <a:pPr>
              <a:lnSpc>
                <a:spcPct val="150000"/>
              </a:lnSpc>
            </a:pPr>
            <a:r>
              <a:rPr lang="fr-FR" sz="1200" dirty="0" smtClean="0">
                <a:solidFill>
                  <a:srgbClr val="4D4F53"/>
                </a:solidFill>
              </a:rPr>
              <a:t>Sauvegarder avec l’icône </a:t>
            </a:r>
            <a:endParaRPr lang="fr-FR" sz="1200" dirty="0" smtClean="0">
              <a:solidFill>
                <a:srgbClr val="4D4F53"/>
              </a:solidFill>
            </a:endParaRPr>
          </a:p>
        </p:txBody>
      </p:sp>
      <p:sp>
        <p:nvSpPr>
          <p:cNvPr id="36" name="Ellipse 35"/>
          <p:cNvSpPr/>
          <p:nvPr/>
        </p:nvSpPr>
        <p:spPr>
          <a:xfrm>
            <a:off x="5025425" y="1120721"/>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37" name="Ellipse 36"/>
          <p:cNvSpPr/>
          <p:nvPr/>
        </p:nvSpPr>
        <p:spPr>
          <a:xfrm>
            <a:off x="5025425" y="138158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38" name="Ellipse 37"/>
          <p:cNvSpPr/>
          <p:nvPr/>
        </p:nvSpPr>
        <p:spPr>
          <a:xfrm>
            <a:off x="5025425" y="165690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39" name="Ellipse 38"/>
          <p:cNvSpPr/>
          <p:nvPr/>
        </p:nvSpPr>
        <p:spPr>
          <a:xfrm>
            <a:off x="5025425" y="194109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27" name="Ellipse 26"/>
          <p:cNvSpPr/>
          <p:nvPr/>
        </p:nvSpPr>
        <p:spPr>
          <a:xfrm>
            <a:off x="5025425" y="220867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29" name="Ellipse 28"/>
          <p:cNvSpPr/>
          <p:nvPr/>
        </p:nvSpPr>
        <p:spPr>
          <a:xfrm>
            <a:off x="5025425" y="248482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6</a:t>
            </a:r>
            <a:endParaRPr lang="fr-FR" sz="900" b="1" dirty="0" smtClean="0">
              <a:solidFill>
                <a:schemeClr val="bg1"/>
              </a:solidFill>
            </a:endParaRPr>
          </a:p>
        </p:txBody>
      </p:sp>
      <p:sp>
        <p:nvSpPr>
          <p:cNvPr id="30" name="Ellipse 29"/>
          <p:cNvSpPr/>
          <p:nvPr/>
        </p:nvSpPr>
        <p:spPr>
          <a:xfrm>
            <a:off x="5025425" y="355820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7</a:t>
            </a:r>
          </a:p>
        </p:txBody>
      </p:sp>
      <p:sp>
        <p:nvSpPr>
          <p:cNvPr id="44" name="Ellipse 43"/>
          <p:cNvSpPr/>
          <p:nvPr/>
        </p:nvSpPr>
        <p:spPr>
          <a:xfrm>
            <a:off x="5025425" y="413274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8</a:t>
            </a:r>
          </a:p>
        </p:txBody>
      </p:sp>
      <p:pic>
        <p:nvPicPr>
          <p:cNvPr id="2" name="Image 1"/>
          <p:cNvPicPr>
            <a:picLocks noChangeAspect="1"/>
          </p:cNvPicPr>
          <p:nvPr/>
        </p:nvPicPr>
        <p:blipFill>
          <a:blip r:embed="rId4"/>
          <a:stretch>
            <a:fillRect/>
          </a:stretch>
        </p:blipFill>
        <p:spPr>
          <a:xfrm>
            <a:off x="220503" y="1118512"/>
            <a:ext cx="2302191" cy="1137940"/>
          </a:xfrm>
          <a:prstGeom prst="rect">
            <a:avLst/>
          </a:prstGeom>
          <a:ln>
            <a:solidFill>
              <a:schemeClr val="tx1"/>
            </a:solidFill>
          </a:ln>
          <a:effectLst>
            <a:outerShdw blurRad="50800" dist="38100" dir="2700000" algn="tl" rotWithShape="0">
              <a:prstClr val="black">
                <a:alpha val="40000"/>
              </a:prstClr>
            </a:outerShdw>
          </a:effectLst>
        </p:spPr>
      </p:pic>
      <p:sp>
        <p:nvSpPr>
          <p:cNvPr id="41" name="Rectangle 40"/>
          <p:cNvSpPr/>
          <p:nvPr/>
        </p:nvSpPr>
        <p:spPr>
          <a:xfrm>
            <a:off x="987037" y="1902745"/>
            <a:ext cx="865010" cy="108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43" name="Rectangle 42"/>
          <p:cNvSpPr/>
          <p:nvPr/>
        </p:nvSpPr>
        <p:spPr>
          <a:xfrm>
            <a:off x="987037" y="2052348"/>
            <a:ext cx="190834" cy="108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57" name="Rectangle 56"/>
          <p:cNvSpPr/>
          <p:nvPr/>
        </p:nvSpPr>
        <p:spPr>
          <a:xfrm>
            <a:off x="1467916" y="2628092"/>
            <a:ext cx="199265" cy="166886"/>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60" name="Rectangle 59"/>
          <p:cNvSpPr/>
          <p:nvPr/>
        </p:nvSpPr>
        <p:spPr>
          <a:xfrm>
            <a:off x="3456775" y="2418655"/>
            <a:ext cx="456547" cy="240149"/>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62" name="Ellipse 61"/>
          <p:cNvSpPr/>
          <p:nvPr/>
        </p:nvSpPr>
        <p:spPr>
          <a:xfrm>
            <a:off x="1827702" y="187945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63" name="Ellipse 62"/>
          <p:cNvSpPr/>
          <p:nvPr/>
        </p:nvSpPr>
        <p:spPr>
          <a:xfrm>
            <a:off x="1181405" y="202526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64" name="Ellipse 63"/>
          <p:cNvSpPr/>
          <p:nvPr/>
        </p:nvSpPr>
        <p:spPr>
          <a:xfrm>
            <a:off x="1479816" y="250423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65" name="Ellipse 64"/>
          <p:cNvSpPr/>
          <p:nvPr/>
        </p:nvSpPr>
        <p:spPr>
          <a:xfrm>
            <a:off x="3361980" y="233755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cxnSp>
        <p:nvCxnSpPr>
          <p:cNvPr id="13" name="Connecteur en angle 12"/>
          <p:cNvCxnSpPr>
            <a:stCxn id="2" idx="2"/>
            <a:endCxn id="3" idx="0"/>
          </p:cNvCxnSpPr>
          <p:nvPr/>
        </p:nvCxnSpPr>
        <p:spPr>
          <a:xfrm rot="16200000" flipH="1">
            <a:off x="1539352" y="2088698"/>
            <a:ext cx="162204" cy="497711"/>
          </a:xfrm>
          <a:prstGeom prst="bentConnector3">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pic>
        <p:nvPicPr>
          <p:cNvPr id="6" name="Image 5"/>
          <p:cNvPicPr>
            <a:picLocks noChangeAspect="1"/>
          </p:cNvPicPr>
          <p:nvPr/>
        </p:nvPicPr>
        <p:blipFill>
          <a:blip r:embed="rId5"/>
          <a:stretch>
            <a:fillRect/>
          </a:stretch>
        </p:blipFill>
        <p:spPr>
          <a:xfrm>
            <a:off x="6083024" y="1648219"/>
            <a:ext cx="190500" cy="190500"/>
          </a:xfrm>
          <a:prstGeom prst="rect">
            <a:avLst/>
          </a:prstGeom>
          <a:ln>
            <a:solidFill>
              <a:schemeClr val="tx1"/>
            </a:solidFill>
          </a:ln>
          <a:effectLst>
            <a:outerShdw blurRad="50800" dist="38100" dir="2700000" algn="tl" rotWithShape="0">
              <a:prstClr val="black">
                <a:alpha val="40000"/>
              </a:prstClr>
            </a:outerShdw>
          </a:effectLst>
        </p:spPr>
      </p:pic>
      <p:pic>
        <p:nvPicPr>
          <p:cNvPr id="11" name="Image 10"/>
          <p:cNvPicPr>
            <a:picLocks noChangeAspect="1"/>
          </p:cNvPicPr>
          <p:nvPr/>
        </p:nvPicPr>
        <p:blipFill>
          <a:blip r:embed="rId6"/>
          <a:stretch>
            <a:fillRect/>
          </a:stretch>
        </p:blipFill>
        <p:spPr>
          <a:xfrm>
            <a:off x="6097985" y="2208675"/>
            <a:ext cx="190500" cy="190500"/>
          </a:xfrm>
          <a:prstGeom prst="rect">
            <a:avLst/>
          </a:prstGeom>
        </p:spPr>
      </p:pic>
      <p:pic>
        <p:nvPicPr>
          <p:cNvPr id="12" name="Image 11"/>
          <p:cNvPicPr>
            <a:picLocks noChangeAspect="1"/>
          </p:cNvPicPr>
          <p:nvPr/>
        </p:nvPicPr>
        <p:blipFill>
          <a:blip r:embed="rId7"/>
          <a:stretch>
            <a:fillRect/>
          </a:stretch>
        </p:blipFill>
        <p:spPr>
          <a:xfrm>
            <a:off x="616866" y="3476667"/>
            <a:ext cx="4155045" cy="908916"/>
          </a:xfrm>
          <a:prstGeom prst="rect">
            <a:avLst/>
          </a:prstGeom>
          <a:ln>
            <a:solidFill>
              <a:schemeClr val="tx1"/>
            </a:solidFill>
          </a:ln>
          <a:effectLst>
            <a:outerShdw blurRad="50800" dist="38100" dir="2700000" algn="tl" rotWithShape="0">
              <a:prstClr val="black">
                <a:alpha val="40000"/>
              </a:prstClr>
            </a:outerShdw>
          </a:effectLst>
        </p:spPr>
      </p:pic>
      <p:sp>
        <p:nvSpPr>
          <p:cNvPr id="40" name="Rectangle 39"/>
          <p:cNvSpPr/>
          <p:nvPr/>
        </p:nvSpPr>
        <p:spPr>
          <a:xfrm>
            <a:off x="4572000" y="3739549"/>
            <a:ext cx="199265" cy="166886"/>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42" name="Rectangle 41"/>
          <p:cNvSpPr/>
          <p:nvPr/>
        </p:nvSpPr>
        <p:spPr>
          <a:xfrm>
            <a:off x="634970" y="3609663"/>
            <a:ext cx="2821805" cy="775919"/>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cxnSp>
        <p:nvCxnSpPr>
          <p:cNvPr id="15" name="Connecteur en angle 14"/>
          <p:cNvCxnSpPr>
            <a:endCxn id="9" idx="1"/>
          </p:cNvCxnSpPr>
          <p:nvPr/>
        </p:nvCxnSpPr>
        <p:spPr>
          <a:xfrm flipV="1">
            <a:off x="1667181" y="2573325"/>
            <a:ext cx="1097513" cy="138210"/>
          </a:xfrm>
          <a:prstGeom prst="bentConnector3">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4474952" y="2891547"/>
            <a:ext cx="140677" cy="13531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46" name="Ellipse 45"/>
          <p:cNvSpPr/>
          <p:nvPr/>
        </p:nvSpPr>
        <p:spPr>
          <a:xfrm>
            <a:off x="4318816" y="2821151"/>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47" name="Ellipse 46"/>
          <p:cNvSpPr/>
          <p:nvPr/>
        </p:nvSpPr>
        <p:spPr>
          <a:xfrm>
            <a:off x="556902" y="355575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6</a:t>
            </a:r>
            <a:endParaRPr lang="fr-FR" sz="900" b="1" dirty="0" smtClean="0">
              <a:solidFill>
                <a:schemeClr val="bg1"/>
              </a:solidFill>
            </a:endParaRPr>
          </a:p>
        </p:txBody>
      </p:sp>
      <p:sp>
        <p:nvSpPr>
          <p:cNvPr id="48" name="Ellipse 47"/>
          <p:cNvSpPr/>
          <p:nvPr/>
        </p:nvSpPr>
        <p:spPr>
          <a:xfrm>
            <a:off x="4664766" y="370674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7</a:t>
            </a:r>
          </a:p>
        </p:txBody>
      </p:sp>
      <p:cxnSp>
        <p:nvCxnSpPr>
          <p:cNvPr id="17" name="Connecteur en angle 16"/>
          <p:cNvCxnSpPr>
            <a:endCxn id="12" idx="0"/>
          </p:cNvCxnSpPr>
          <p:nvPr/>
        </p:nvCxnSpPr>
        <p:spPr>
          <a:xfrm rot="10800000" flipV="1">
            <a:off x="2694390" y="3040685"/>
            <a:ext cx="1877611" cy="435982"/>
          </a:xfrm>
          <a:prstGeom prst="bentConnector2">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pic>
        <p:nvPicPr>
          <p:cNvPr id="49" name="Image 48"/>
          <p:cNvPicPr>
            <a:picLocks noChangeAspect="1"/>
          </p:cNvPicPr>
          <p:nvPr/>
        </p:nvPicPr>
        <p:blipFill rotWithShape="1">
          <a:blip r:embed="rId8">
            <a:extLst>
              <a:ext uri="{28A0092B-C50C-407E-A947-70E740481C1C}">
                <a14:useLocalDpi xmlns:a14="http://schemas.microsoft.com/office/drawing/2010/main" val="0"/>
              </a:ext>
            </a:extLst>
          </a:blip>
          <a:srcRect/>
          <a:stretch/>
        </p:blipFill>
        <p:spPr>
          <a:xfrm>
            <a:off x="6833115" y="4144448"/>
            <a:ext cx="145257" cy="142875"/>
          </a:xfrm>
          <a:prstGeom prst="rect">
            <a:avLst/>
          </a:prstGeom>
        </p:spPr>
      </p:pic>
    </p:spTree>
    <p:extLst>
      <p:ext uri="{BB962C8B-B14F-4D97-AF65-F5344CB8AC3E}">
        <p14:creationId xmlns:p14="http://schemas.microsoft.com/office/powerpoint/2010/main" val="33389378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Text Box 3"/>
          <p:cNvSpPr txBox="1">
            <a:spLocks noChangeArrowheads="1"/>
          </p:cNvSpPr>
          <p:nvPr/>
        </p:nvSpPr>
        <p:spPr bwMode="auto">
          <a:xfrm>
            <a:off x="1173956" y="1058111"/>
            <a:ext cx="2201466" cy="756458"/>
          </a:xfrm>
          <a:prstGeom prst="rect">
            <a:avLst/>
          </a:prstGeom>
          <a:noFill/>
          <a:ln w="12700" algn="ctr">
            <a:noFill/>
            <a:miter lim="800000"/>
            <a:headEnd/>
            <a:tailEnd/>
          </a:ln>
        </p:spPr>
        <p:txBody>
          <a:bodyPr lIns="67500" tIns="35100" rIns="67500" bIns="35100">
            <a:spAutoFit/>
          </a:bodyPr>
          <a:lstStyle/>
          <a:p>
            <a:pPr>
              <a:lnSpc>
                <a:spcPct val="110000"/>
              </a:lnSpc>
              <a:buFont typeface="Wingdings" pitchFamily="2" charset="2"/>
              <a:buNone/>
              <a:defRPr/>
            </a:pPr>
            <a:endParaRPr lang="fr-FR" sz="1350" dirty="0">
              <a:solidFill>
                <a:srgbClr val="4F81BD"/>
              </a:solidFill>
              <a:latin typeface="Arial Narrow" pitchFamily="34" charset="0"/>
              <a:ea typeface="ＭＳ Ｐゴシック"/>
              <a:cs typeface="ＭＳ Ｐゴシック"/>
            </a:endParaRPr>
          </a:p>
          <a:p>
            <a:pPr marL="135731" indent="-135731">
              <a:lnSpc>
                <a:spcPct val="110000"/>
              </a:lnSpc>
              <a:buFont typeface="Wingdings" pitchFamily="2" charset="2"/>
              <a:buChar char="§"/>
              <a:defRPr/>
            </a:pPr>
            <a:r>
              <a:rPr lang="fr-FR" altLang="en-US" sz="1350" dirty="0">
                <a:solidFill>
                  <a:srgbClr val="4F81BD"/>
                </a:solidFill>
                <a:latin typeface="Arial Narrow" pitchFamily="34" charset="0"/>
                <a:ea typeface="ＭＳ Ｐゴシック"/>
                <a:cs typeface="ＭＳ Ｐゴシック"/>
              </a:rPr>
              <a:t>Création d'un répertoire de source </a:t>
            </a:r>
            <a:r>
              <a:rPr lang="fr-FR" altLang="en-US" sz="1350" dirty="0" smtClean="0">
                <a:solidFill>
                  <a:srgbClr val="4F81BD"/>
                </a:solidFill>
                <a:latin typeface="Arial Narrow" pitchFamily="34" charset="0"/>
                <a:ea typeface="ＭＳ Ｐゴシック"/>
                <a:cs typeface="ＭＳ Ｐゴシック"/>
              </a:rPr>
              <a:t>d'approvisionnement</a:t>
            </a:r>
            <a:endParaRPr lang="fr-FR" sz="1350" dirty="0">
              <a:solidFill>
                <a:srgbClr val="4F81BD"/>
              </a:solidFill>
              <a:latin typeface="Arial Narrow" pitchFamily="34" charset="0"/>
              <a:ea typeface="ＭＳ Ｐゴシック"/>
              <a:cs typeface="ＭＳ Ｐゴシック"/>
            </a:endParaRPr>
          </a:p>
        </p:txBody>
      </p:sp>
      <p:sp>
        <p:nvSpPr>
          <p:cNvPr id="3" name="ZoneTexte 2"/>
          <p:cNvSpPr txBox="1"/>
          <p:nvPr/>
        </p:nvSpPr>
        <p:spPr>
          <a:xfrm>
            <a:off x="1116295" y="205978"/>
            <a:ext cx="2316788" cy="523220"/>
          </a:xfrm>
          <a:prstGeom prst="rect">
            <a:avLst/>
          </a:prstGeom>
          <a:noFill/>
        </p:spPr>
        <p:txBody>
          <a:bodyPr wrap="none" rtlCol="0">
            <a:spAutoFit/>
          </a:bodyPr>
          <a:lstStyle/>
          <a:p>
            <a:r>
              <a:rPr lang="en-US" sz="2800" b="1" dirty="0" err="1">
                <a:solidFill>
                  <a:srgbClr val="4F81BD"/>
                </a:solidFill>
              </a:rPr>
              <a:t>Exercice</a:t>
            </a:r>
            <a:r>
              <a:rPr lang="en-US" sz="2800" b="1" dirty="0">
                <a:solidFill>
                  <a:srgbClr val="4F81BD"/>
                </a:solidFill>
              </a:rPr>
              <a:t> </a:t>
            </a:r>
            <a:r>
              <a:rPr lang="en-US" sz="2800" b="1" dirty="0" err="1">
                <a:solidFill>
                  <a:srgbClr val="4F81BD"/>
                </a:solidFill>
              </a:rPr>
              <a:t>dirigé</a:t>
            </a:r>
            <a:endParaRPr lang="en-US" sz="2800" b="1" dirty="0">
              <a:solidFill>
                <a:srgbClr val="4F81BD"/>
              </a:solidFill>
            </a:endParaRPr>
          </a:p>
        </p:txBody>
      </p:sp>
      <p:pic>
        <p:nvPicPr>
          <p:cNvPr id="34" name="Image 3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399562"/>
            <a:ext cx="3120189" cy="2156460"/>
          </a:xfrm>
          <a:prstGeom prst="rect">
            <a:avLst/>
          </a:prstGeom>
        </p:spPr>
      </p:pic>
      <p:grpSp>
        <p:nvGrpSpPr>
          <p:cNvPr id="35" name="Groupe 34"/>
          <p:cNvGrpSpPr/>
          <p:nvPr/>
        </p:nvGrpSpPr>
        <p:grpSpPr>
          <a:xfrm>
            <a:off x="5174456" y="205978"/>
            <a:ext cx="3680275" cy="4299347"/>
            <a:chOff x="5174456" y="205978"/>
            <a:chExt cx="3680275" cy="4299347"/>
          </a:xfrm>
        </p:grpSpPr>
        <p:grpSp>
          <p:nvGrpSpPr>
            <p:cNvPr id="36" name="Groupe 35"/>
            <p:cNvGrpSpPr/>
            <p:nvPr/>
          </p:nvGrpSpPr>
          <p:grpSpPr>
            <a:xfrm>
              <a:off x="5174456" y="205978"/>
              <a:ext cx="3680275" cy="4299347"/>
              <a:chOff x="3707606" y="205978"/>
              <a:chExt cx="4105275" cy="4795838"/>
            </a:xfrm>
          </p:grpSpPr>
          <p:sp>
            <p:nvSpPr>
              <p:cNvPr id="39" name="Rectangle 38"/>
              <p:cNvSpPr/>
              <p:nvPr/>
            </p:nvSpPr>
            <p:spPr>
              <a:xfrm>
                <a:off x="3707606" y="205978"/>
                <a:ext cx="4105275" cy="4795838"/>
              </a:xfrm>
              <a:prstGeom prst="rect">
                <a:avLst/>
              </a:prstGeom>
              <a:solidFill>
                <a:schemeClr val="bg1"/>
              </a:solidFill>
              <a:ln w="222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lstStyle/>
              <a:p>
                <a:pPr>
                  <a:defRPr/>
                </a:pPr>
                <a:endParaRPr lang="fr-FR" sz="1350" b="1" u="sng" dirty="0">
                  <a:solidFill>
                    <a:schemeClr val="tx1"/>
                  </a:solidFill>
                </a:endParaRPr>
              </a:p>
              <a:p>
                <a:pPr>
                  <a:defRPr/>
                </a:pPr>
                <a:endParaRPr lang="en-US" sz="1350" b="1" u="sng" dirty="0">
                  <a:solidFill>
                    <a:schemeClr val="tx1"/>
                  </a:solidFill>
                </a:endParaRPr>
              </a:p>
            </p:txBody>
          </p:sp>
          <p:cxnSp>
            <p:nvCxnSpPr>
              <p:cNvPr id="40" name="Connecteur droit 39"/>
              <p:cNvCxnSpPr/>
              <p:nvPr/>
            </p:nvCxnSpPr>
            <p:spPr>
              <a:xfrm>
                <a:off x="3815953" y="11406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1" name="Connecteur droit 40"/>
              <p:cNvCxnSpPr/>
              <p:nvPr/>
            </p:nvCxnSpPr>
            <p:spPr>
              <a:xfrm>
                <a:off x="3815953" y="13620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2" name="Connecteur droit 41"/>
              <p:cNvCxnSpPr/>
              <p:nvPr/>
            </p:nvCxnSpPr>
            <p:spPr>
              <a:xfrm>
                <a:off x="3821906" y="24562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3" name="Connecteur droit 42"/>
              <p:cNvCxnSpPr/>
              <p:nvPr/>
            </p:nvCxnSpPr>
            <p:spPr>
              <a:xfrm>
                <a:off x="3821906" y="26777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4" name="Connecteur droit 43"/>
              <p:cNvCxnSpPr/>
              <p:nvPr/>
            </p:nvCxnSpPr>
            <p:spPr>
              <a:xfrm>
                <a:off x="3821906" y="1590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5" name="Connecteur droit 44"/>
              <p:cNvCxnSpPr/>
              <p:nvPr/>
            </p:nvCxnSpPr>
            <p:spPr>
              <a:xfrm>
                <a:off x="3821906" y="18121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6" name="Connecteur droit 45"/>
              <p:cNvCxnSpPr/>
              <p:nvPr/>
            </p:nvCxnSpPr>
            <p:spPr>
              <a:xfrm>
                <a:off x="3821906" y="20276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7" name="Connecteur droit 46"/>
              <p:cNvCxnSpPr/>
              <p:nvPr/>
            </p:nvCxnSpPr>
            <p:spPr>
              <a:xfrm>
                <a:off x="3821906" y="22490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8" name="Connecteur droit 47"/>
              <p:cNvCxnSpPr/>
              <p:nvPr/>
            </p:nvCxnSpPr>
            <p:spPr>
              <a:xfrm>
                <a:off x="3821906" y="28932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9" name="Connecteur droit 48"/>
              <p:cNvCxnSpPr/>
              <p:nvPr/>
            </p:nvCxnSpPr>
            <p:spPr>
              <a:xfrm>
                <a:off x="3821906" y="3114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0" name="Connecteur droit 49"/>
              <p:cNvCxnSpPr/>
              <p:nvPr/>
            </p:nvCxnSpPr>
            <p:spPr>
              <a:xfrm>
                <a:off x="3827860" y="42088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1" name="Connecteur droit 50"/>
              <p:cNvCxnSpPr/>
              <p:nvPr/>
            </p:nvCxnSpPr>
            <p:spPr>
              <a:xfrm>
                <a:off x="3827860" y="44303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2" name="Connecteur droit 51"/>
              <p:cNvCxnSpPr/>
              <p:nvPr/>
            </p:nvCxnSpPr>
            <p:spPr>
              <a:xfrm>
                <a:off x="3827860" y="33432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3" name="Connecteur droit 52"/>
              <p:cNvCxnSpPr/>
              <p:nvPr/>
            </p:nvCxnSpPr>
            <p:spPr>
              <a:xfrm>
                <a:off x="3827860" y="35647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4" name="Connecteur droit 53"/>
              <p:cNvCxnSpPr/>
              <p:nvPr/>
            </p:nvCxnSpPr>
            <p:spPr>
              <a:xfrm>
                <a:off x="3827860" y="37802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5" name="Connecteur droit 54"/>
              <p:cNvCxnSpPr/>
              <p:nvPr/>
            </p:nvCxnSpPr>
            <p:spPr>
              <a:xfrm>
                <a:off x="3827860" y="40016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6" name="Connecteur droit 55"/>
              <p:cNvCxnSpPr/>
              <p:nvPr/>
            </p:nvCxnSpPr>
            <p:spPr>
              <a:xfrm>
                <a:off x="3827860" y="461963"/>
                <a:ext cx="3827861"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7" name="Connecteur droit 56"/>
              <p:cNvCxnSpPr/>
              <p:nvPr/>
            </p:nvCxnSpPr>
            <p:spPr>
              <a:xfrm>
                <a:off x="3827860" y="682229"/>
                <a:ext cx="3827859"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8" name="Connecteur droit 57"/>
              <p:cNvCxnSpPr/>
              <p:nvPr/>
            </p:nvCxnSpPr>
            <p:spPr>
              <a:xfrm>
                <a:off x="3827860" y="909638"/>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9" name="Connecteur droit 58"/>
              <p:cNvCxnSpPr/>
              <p:nvPr/>
            </p:nvCxnSpPr>
            <p:spPr>
              <a:xfrm>
                <a:off x="3821906" y="4661298"/>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60" name="Connecteur droit 59"/>
              <p:cNvCxnSpPr/>
              <p:nvPr/>
            </p:nvCxnSpPr>
            <p:spPr>
              <a:xfrm>
                <a:off x="3821906" y="4882754"/>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grpSp>
        <p:pic>
          <p:nvPicPr>
            <p:cNvPr id="37" name="Image 36"/>
            <p:cNvPicPr>
              <a:picLocks noChangeAspect="1"/>
            </p:cNvPicPr>
            <p:nvPr/>
          </p:nvPicPr>
          <p:blipFill>
            <a:blip r:embed="rId4">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7850414" y="257643"/>
              <a:ext cx="909117" cy="922754"/>
            </a:xfrm>
            <a:prstGeom prst="rect">
              <a:avLst/>
            </a:prstGeom>
          </p:spPr>
        </p:pic>
        <p:sp>
          <p:nvSpPr>
            <p:cNvPr id="38" name="ZoneTexte 36"/>
            <p:cNvSpPr txBox="1">
              <a:spLocks noChangeArrowheads="1"/>
            </p:cNvSpPr>
            <p:nvPr/>
          </p:nvSpPr>
          <p:spPr bwMode="auto">
            <a:xfrm rot="21212387">
              <a:off x="7848414" y="443461"/>
              <a:ext cx="969572" cy="707886"/>
            </a:xfrm>
            <a:prstGeom prst="rect">
              <a:avLst/>
            </a:prstGeom>
            <a:noFill/>
            <a:ln>
              <a:noFill/>
            </a:ln>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r>
                <a:rPr lang="fr-FR" altLang="en-US" sz="800" b="1" dirty="0">
                  <a:solidFill>
                    <a:schemeClr val="bg1"/>
                  </a:solidFill>
                  <a:latin typeface="+mn-lt"/>
                </a:rPr>
                <a:t>La présentation détaillée du pas à pas est retrouvée dans le guide utilisateur</a:t>
              </a:r>
              <a:endParaRPr lang="en-US" altLang="en-US" sz="800" b="1" dirty="0">
                <a:solidFill>
                  <a:schemeClr val="bg1"/>
                </a:solidFill>
                <a:latin typeface="+mn-lt"/>
              </a:endParaRPr>
            </a:p>
          </p:txBody>
        </p:sp>
      </p:grpSp>
    </p:spTree>
    <p:extLst>
      <p:ext uri="{BB962C8B-B14F-4D97-AF65-F5344CB8AC3E}">
        <p14:creationId xmlns:p14="http://schemas.microsoft.com/office/powerpoint/2010/main" val="154869185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248224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22533" name="Espace réservé du numéro de diapositive 5"/>
          <p:cNvSpPr>
            <a:spLocks noGrp="1"/>
          </p:cNvSpPr>
          <p:nvPr>
            <p:ph type="sldNum" sz="quarter" idx="4294967295"/>
          </p:nvPr>
        </p:nvSpPr>
        <p:spPr bwMode="auto">
          <a:xfrm>
            <a:off x="7010400" y="4767263"/>
            <a:ext cx="21336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EF79A081-4D2A-45D5-B5B5-C79C45E3A58B}" type="slidenum">
              <a:rPr lang="fr-FR" altLang="en-US" sz="750"/>
              <a:pPr eaLnBrk="1" hangingPunct="1"/>
              <a:t>22</a:t>
            </a:fld>
            <a:endParaRPr lang="fr-FR" altLang="en-US" sz="750"/>
          </a:p>
        </p:txBody>
      </p:sp>
    </p:spTree>
    <p:extLst>
      <p:ext uri="{BB962C8B-B14F-4D97-AF65-F5344CB8AC3E}">
        <p14:creationId xmlns:p14="http://schemas.microsoft.com/office/powerpoint/2010/main" val="272033426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re 1"/>
          <p:cNvSpPr>
            <a:spLocks noGrp="1"/>
          </p:cNvSpPr>
          <p:nvPr>
            <p:ph type="title"/>
          </p:nvPr>
        </p:nvSpPr>
        <p:spPr/>
        <p:txBody>
          <a:bodyPr>
            <a:normAutofit/>
          </a:bodyPr>
          <a:lstStyle/>
          <a:p>
            <a:r>
              <a:rPr lang="fr-FR" altLang="en-US" sz="2400"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sz="2400"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46083" name="Espace réservé du contenu 2"/>
          <p:cNvSpPr>
            <a:spLocks noGrp="1"/>
          </p:cNvSpPr>
          <p:nvPr>
            <p:ph idx="1"/>
          </p:nvPr>
        </p:nvSpPr>
        <p:spPr>
          <a:xfrm>
            <a:off x="457200" y="1063625"/>
            <a:ext cx="8229600" cy="1946275"/>
          </a:xfrm>
        </p:spPr>
        <p:txBody>
          <a:bodyPr/>
          <a:lstStyle/>
          <a:p>
            <a:pPr marL="171450" indent="-171450">
              <a:buClr>
                <a:srgbClr val="0070C0"/>
              </a:buClr>
              <a:buSzPct val="100000"/>
              <a:buFont typeface="Arial" panose="020B0604020202020204" pitchFamily="34" charset="0"/>
              <a:buChar char="•"/>
            </a:pPr>
            <a:r>
              <a:rPr lang="fr-FR" sz="1400" dirty="0" smtClean="0">
                <a:latin typeface="Arial" panose="020B0604020202020204" pitchFamily="34" charset="0"/>
                <a:ea typeface="ＭＳ Ｐゴシック" panose="020B0600070205080204" pitchFamily="34" charset="-128"/>
                <a:cs typeface="Arial" panose="020B0604020202020204" pitchFamily="34" charset="0"/>
              </a:rPr>
              <a:t>La gestion des sources d’approvisionnement se traduit par la gestion des fiches info-achats et des répertoires des sources d’approvisionnement</a:t>
            </a:r>
          </a:p>
          <a:p>
            <a:pPr marL="171450" indent="-171450">
              <a:buClr>
                <a:srgbClr val="0070C0"/>
              </a:buClr>
              <a:buSzPct val="100000"/>
              <a:buFont typeface="Arial" panose="020B0604020202020204" pitchFamily="34" charset="0"/>
              <a:buChar char="•"/>
            </a:pPr>
            <a:r>
              <a:rPr lang="fr-FR" sz="1400" dirty="0" smtClean="0">
                <a:latin typeface="Arial" panose="020B0604020202020204" pitchFamily="34" charset="0"/>
                <a:ea typeface="ＭＳ Ｐゴシック" panose="020B0600070205080204" pitchFamily="34" charset="-128"/>
                <a:cs typeface="Arial" panose="020B0604020202020204" pitchFamily="34" charset="0"/>
              </a:rPr>
              <a:t>Les fiches info-achats </a:t>
            </a:r>
            <a:r>
              <a:rPr lang="fr-FR" sz="1400" dirty="0" smtClean="0">
                <a:latin typeface="Arial" panose="020B0604020202020204" pitchFamily="34" charset="0"/>
                <a:ea typeface="ＭＳ Ｐゴシック" panose="020B0600070205080204" pitchFamily="34" charset="-128"/>
                <a:cs typeface="Arial" panose="020B0604020202020204" pitchFamily="34" charset="0"/>
              </a:rPr>
              <a:t>matérialisent un accord de prix, pour une Organisation d’Achats, avec un fournisseur pour un article particulier</a:t>
            </a:r>
            <a:endParaRPr lang="fr-FR" sz="1400" dirty="0">
              <a:latin typeface="Arial" panose="020B0604020202020204" pitchFamily="34" charset="0"/>
              <a:ea typeface="ＭＳ Ｐゴシック" panose="020B0600070205080204" pitchFamily="34" charset="-128"/>
              <a:cs typeface="Arial" panose="020B0604020202020204" pitchFamily="34" charset="0"/>
            </a:endParaRPr>
          </a:p>
          <a:p>
            <a:pPr marL="171450" indent="-171450">
              <a:buClr>
                <a:srgbClr val="0070C0"/>
              </a:buClr>
              <a:buSzPct val="100000"/>
              <a:buFont typeface="Arial" panose="020B0604020202020204" pitchFamily="34" charset="0"/>
              <a:buChar char="•"/>
            </a:pPr>
            <a:r>
              <a:rPr lang="fr-FR" altLang="en-US" sz="1400" dirty="0" smtClean="0">
                <a:latin typeface="Arial" panose="020B0604020202020204" pitchFamily="34" charset="0"/>
                <a:ea typeface="ＭＳ Ｐゴシック" panose="020B0600070205080204" pitchFamily="34" charset="-128"/>
                <a:cs typeface="Arial" panose="020B0604020202020204" pitchFamily="34" charset="0"/>
              </a:rPr>
              <a:t>Le </a:t>
            </a:r>
            <a:r>
              <a:rPr lang="fr-FR" sz="1400" dirty="0">
                <a:latin typeface="Arial" panose="020B0604020202020204" pitchFamily="34" charset="0"/>
                <a:ea typeface="ＭＳ Ｐゴシック" panose="020B0600070205080204" pitchFamily="34" charset="-128"/>
                <a:cs typeface="Arial" panose="020B0604020202020204" pitchFamily="34" charset="0"/>
              </a:rPr>
              <a:t>contrat modélise un accord de </a:t>
            </a:r>
            <a:r>
              <a:rPr lang="fr-FR" sz="1400" dirty="0" smtClean="0">
                <a:latin typeface="Arial" panose="020B0604020202020204" pitchFamily="34" charset="0"/>
                <a:ea typeface="ＭＳ Ｐゴシック" panose="020B0600070205080204" pitchFamily="34" charset="-128"/>
                <a:cs typeface="Arial" panose="020B0604020202020204" pitchFamily="34" charset="0"/>
              </a:rPr>
              <a:t>prix, pour une </a:t>
            </a:r>
            <a:r>
              <a:rPr lang="fr-FR" sz="1400" dirty="0">
                <a:latin typeface="Arial" panose="020B0604020202020204" pitchFamily="34" charset="0"/>
                <a:ea typeface="ＭＳ Ｐゴシック" panose="020B0600070205080204" pitchFamily="34" charset="-128"/>
                <a:cs typeface="Arial" panose="020B0604020202020204" pitchFamily="34" charset="0"/>
              </a:rPr>
              <a:t>organisation </a:t>
            </a:r>
            <a:r>
              <a:rPr lang="fr-FR" sz="1400" dirty="0" smtClean="0">
                <a:latin typeface="Arial" panose="020B0604020202020204" pitchFamily="34" charset="0"/>
                <a:ea typeface="ＭＳ Ｐゴシック" panose="020B0600070205080204" pitchFamily="34" charset="-128"/>
                <a:cs typeface="Arial" panose="020B0604020202020204" pitchFamily="34" charset="0"/>
              </a:rPr>
              <a:t>d'achats, avec un </a:t>
            </a:r>
            <a:r>
              <a:rPr lang="fr-FR" sz="1400" dirty="0">
                <a:latin typeface="Arial" panose="020B0604020202020204" pitchFamily="34" charset="0"/>
                <a:ea typeface="ＭＳ Ｐゴシック" panose="020B0600070205080204" pitchFamily="34" charset="-128"/>
                <a:cs typeface="Arial" panose="020B0604020202020204" pitchFamily="34" charset="0"/>
              </a:rPr>
              <a:t>fournisseur concernant la fourniture d’articles ou la prestation de services durant une période donnée d'après des conditions prédéfinies.</a:t>
            </a:r>
            <a:endParaRPr lang="en-US" sz="1400" dirty="0">
              <a:latin typeface="Arial" panose="020B0604020202020204" pitchFamily="34" charset="0"/>
              <a:ea typeface="ＭＳ Ｐゴシック" panose="020B0600070205080204" pitchFamily="34" charset="-128"/>
              <a:cs typeface="Arial" panose="020B0604020202020204" pitchFamily="34" charset="0"/>
            </a:endParaRPr>
          </a:p>
          <a:p>
            <a:pPr marL="171450" indent="-171450">
              <a:buClr>
                <a:srgbClr val="0070C0"/>
              </a:buClr>
              <a:buSzPct val="100000"/>
              <a:buFont typeface="Arial" panose="020B0604020202020204" pitchFamily="34" charset="0"/>
              <a:buChar char="•"/>
            </a:pPr>
            <a:endParaRPr lang="fr-FR" altLang="en-US" sz="1400" dirty="0">
              <a:latin typeface="Arial" panose="020B0604020202020204" pitchFamily="34" charset="0"/>
              <a:ea typeface="ＭＳ Ｐゴシック" panose="020B0600070205080204" pitchFamily="34" charset="-128"/>
              <a:cs typeface="Arial" panose="020B0604020202020204" pitchFamily="34" charset="0"/>
            </a:endParaRPr>
          </a:p>
        </p:txBody>
      </p:sp>
      <p:sp>
        <p:nvSpPr>
          <p:cNvPr id="46084" name="Espace réservé du numéro de diapositive 3"/>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36DFBA8F-B79A-4011-8444-03085D4A6CB3}" type="slidenum">
              <a:rPr lang="fr-FR" altLang="en-US" sz="750"/>
              <a:pPr eaLnBrk="1" hangingPunct="1"/>
              <a:t>23</a:t>
            </a:fld>
            <a:endParaRPr lang="fr-FR" altLang="en-US" sz="750"/>
          </a:p>
        </p:txBody>
      </p:sp>
    </p:spTree>
    <p:extLst>
      <p:ext uri="{BB962C8B-B14F-4D97-AF65-F5344CB8AC3E}">
        <p14:creationId xmlns:p14="http://schemas.microsoft.com/office/powerpoint/2010/main" val="74620286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normAutofit/>
          </a:bodyPr>
          <a:lstStyle/>
          <a:p>
            <a:r>
              <a:rPr lang="fr-FR" sz="2400" dirty="0" smtClean="0"/>
              <a:t>Des questions ?</a:t>
            </a:r>
            <a:endParaRPr lang="fr-FR" sz="2400"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0984" y="1370734"/>
            <a:ext cx="2402032" cy="2402032"/>
          </a:xfrm>
          <a:prstGeom prst="rect">
            <a:avLst/>
          </a:prstGeom>
        </p:spPr>
      </p:pic>
    </p:spTree>
    <p:extLst>
      <p:ext uri="{BB962C8B-B14F-4D97-AF65-F5344CB8AC3E}">
        <p14:creationId xmlns:p14="http://schemas.microsoft.com/office/powerpoint/2010/main" val="2100485143"/>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plateBE_FR">
  <a:themeElements>
    <a:clrScheme name="BearingPoint Colors">
      <a:dk1>
        <a:srgbClr val="4D4F53"/>
      </a:dk1>
      <a:lt1>
        <a:sysClr val="window" lastClr="FFFFFF"/>
      </a:lt1>
      <a:dk2>
        <a:srgbClr val="D52B1E"/>
      </a:dk2>
      <a:lt2>
        <a:srgbClr val="A71930"/>
      </a:lt2>
      <a:accent1>
        <a:srgbClr val="AA546E"/>
      </a:accent1>
      <a:accent2>
        <a:srgbClr val="C68D9E"/>
      </a:accent2>
      <a:accent3>
        <a:srgbClr val="8D1B3D"/>
      </a:accent3>
      <a:accent4>
        <a:srgbClr val="D7D3C7"/>
      </a:accent4>
      <a:accent5>
        <a:srgbClr val="B7B1A9"/>
      </a:accent5>
      <a:accent6>
        <a:srgbClr val="8D817B"/>
      </a:accent6>
      <a:hlink>
        <a:srgbClr val="8D817B"/>
      </a:hlink>
      <a:folHlink>
        <a:srgbClr val="8D1B3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rgbClr val="4D4F53"/>
          </a:solid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err="1" smtClean="0">
            <a:solidFill>
              <a:srgbClr val="4D4F53"/>
            </a:solidFill>
          </a:defRPr>
        </a:defPPr>
      </a:lstStyle>
      <a:style>
        <a:lnRef idx="1">
          <a:schemeClr val="accent1"/>
        </a:lnRef>
        <a:fillRef idx="3">
          <a:schemeClr val="accent1"/>
        </a:fillRef>
        <a:effectRef idx="2">
          <a:schemeClr val="accent1"/>
        </a:effectRef>
        <a:fontRef idx="minor">
          <a:schemeClr val="lt1"/>
        </a:fontRef>
      </a:style>
    </a:spDef>
    <a:lnDef>
      <a:spPr>
        <a:ln w="12700">
          <a:solidFill>
            <a:srgbClr val="FF0000"/>
          </a:solidFill>
          <a:headEnd type="none" w="med" len="med"/>
          <a:tailEnd type="triangl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defRPr sz="1200" dirty="0" smtClean="0">
            <a:solidFill>
              <a:srgbClr val="4D4F53"/>
            </a:solidFill>
          </a:defRPr>
        </a:defPPr>
      </a:lstStyle>
    </a:txDef>
  </a:objectDefaults>
  <a:extraClrScheme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Version=15.0.0.0, Culture=neutral, PublicKeyToken=71e9bce111e9429c</Assembly>
    <Class>Microsoft.Office.DocumentManagement.Internal.DocIdHandler</Class>
    <Data/>
    <Filter/>
  </Receiver>
</spe:Receiver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_dlc_DocId xmlns="f36dd47d-0b23-43fd-9b2d-c5346ffa1660">VHEKTECQ7ECW-1532981086-4389</_dlc_DocId>
    <_dlc_DocIdUrl xmlns="f36dd47d-0b23-43fd-9b2d-c5346ffa1660">
      <Url>http://projets.cbg-guinee.com/erp/_layouts/15/DocIdRedir.aspx?ID=VHEKTECQ7ECW-1532981086-4389</Url>
      <Description>VHEKTECQ7ECW-1532981086-4389</Description>
    </_dlc_DocIdUrl>
  </documentManagement>
</p:properties>
</file>

<file path=customXml/item4.xml><?xml version="1.0" encoding="utf-8"?>
<ct:contentTypeSchema xmlns:ct="http://schemas.microsoft.com/office/2006/metadata/contentType" xmlns:ma="http://schemas.microsoft.com/office/2006/metadata/properties/metaAttributes" ct:_="" ma:_="" ma:contentTypeName="Document" ma:contentTypeID="0x010100EC8D0F09C22B4C4AB25CA30ADC8FDF91" ma:contentTypeVersion="2" ma:contentTypeDescription="Crée un document." ma:contentTypeScope="" ma:versionID="72e47ee22b0a05bccb747741f0dfd966">
  <xsd:schema xmlns:xsd="http://www.w3.org/2001/XMLSchema" xmlns:xs="http://www.w3.org/2001/XMLSchema" xmlns:p="http://schemas.microsoft.com/office/2006/metadata/properties" xmlns:ns1="http://schemas.microsoft.com/sharepoint/v3" xmlns:ns2="f36dd47d-0b23-43fd-9b2d-c5346ffa1660" xmlns:ns3="8114c5be-486c-4333-8697-9f01d178dfef" targetNamespace="http://schemas.microsoft.com/office/2006/metadata/properties" ma:root="true" ma:fieldsID="ea25618cdfce53ad0a4816dcfb004e4a" ns1:_="" ns2:_="" ns3:_="">
    <xsd:import namespace="http://schemas.microsoft.com/sharepoint/v3"/>
    <xsd:import namespace="f36dd47d-0b23-43fd-9b2d-c5346ffa1660"/>
    <xsd:import namespace="8114c5be-486c-4333-8697-9f01d178dfef"/>
    <xsd:element name="properties">
      <xsd:complexType>
        <xsd:sequence>
          <xsd:element name="documentManagement">
            <xsd:complexType>
              <xsd:all>
                <xsd:element ref="ns1:PublishingStartDate" minOccurs="0"/>
                <xsd:element ref="ns1:PublishingExpirationDate" minOccurs="0"/>
                <xsd:element ref="ns2:_dlc_DocId" minOccurs="0"/>
                <xsd:element ref="ns2:_dlc_DocIdUrl" minOccurs="0"/>
                <xsd:element ref="ns2:_dlc_DocIdPersistId"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Date de début de planification" ma:description="La colonne de site Date de début de planification est créée par la fonctionnalité de publication. Elle permet de spécifier les date et heure auxquelles cette page apparaîtra la première fois aux visiteurs du site." ma:internalName="PublishingStartDate">
      <xsd:simpleType>
        <xsd:restriction base="dms:Unknown"/>
      </xsd:simpleType>
    </xsd:element>
    <xsd:element name="PublishingExpirationDate" ma:index="9" nillable="true" ma:displayName="Date de fin de planification" ma:description="La colonne de site Date de fin de planification est créée par la fonctionnalité de publication. Elle permet de spécifier les date et heure auxquelles cette page n'apparaîtra plus aux visiteurs du sit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36dd47d-0b23-43fd-9b2d-c5346ffa1660" elementFormDefault="qualified">
    <xsd:import namespace="http://schemas.microsoft.com/office/2006/documentManagement/types"/>
    <xsd:import namespace="http://schemas.microsoft.com/office/infopath/2007/PartnerControls"/>
    <xsd:element name="_dlc_DocId" ma:index="10" nillable="true" ma:displayName="Valeur d’ID de document" ma:description="Valeur de l’ID de document affecté à cet élément." ma:internalName="_dlc_DocId" ma:readOnly="true">
      <xsd:simpleType>
        <xsd:restriction base="dms:Text"/>
      </xsd:simpleType>
    </xsd:element>
    <xsd:element name="_dlc_DocIdUrl" ma:index="11" nillable="true" ma:displayName="ID de document" ma:description="Lien permanent vers ce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2" nillable="true" ma:displayName="Conserver l’ID" ma:description="Conserver l’ID lors de l’ajout."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8114c5be-486c-4333-8697-9f01d178dfef" elementFormDefault="qualified">
    <xsd:import namespace="http://schemas.microsoft.com/office/2006/documentManagement/types"/>
    <xsd:import namespace="http://schemas.microsoft.com/office/infopath/2007/PartnerControls"/>
    <xsd:element name="SharedWithUsers" ma:index="13" nillable="true" ma:displayName="Partagé avec"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583607E-BCFF-4D43-9E35-427EAA7B61F7}"/>
</file>

<file path=customXml/itemProps2.xml><?xml version="1.0" encoding="utf-8"?>
<ds:datastoreItem xmlns:ds="http://schemas.openxmlformats.org/officeDocument/2006/customXml" ds:itemID="{DFE7DD0B-0BE8-4E24-A363-4DD0A01C5DCF}"/>
</file>

<file path=customXml/itemProps3.xml><?xml version="1.0" encoding="utf-8"?>
<ds:datastoreItem xmlns:ds="http://schemas.openxmlformats.org/officeDocument/2006/customXml" ds:itemID="{6B08D313-DD74-49B0-B6A4-96BD802D9198}"/>
</file>

<file path=customXml/itemProps4.xml><?xml version="1.0" encoding="utf-8"?>
<ds:datastoreItem xmlns:ds="http://schemas.openxmlformats.org/officeDocument/2006/customXml" ds:itemID="{F5A3AB69-08EF-435A-96CE-CE7E05CCE9A9}"/>
</file>

<file path=docProps/app.xml><?xml version="1.0" encoding="utf-8"?>
<Properties xmlns="http://schemas.openxmlformats.org/officeDocument/2006/extended-properties" xmlns:vt="http://schemas.openxmlformats.org/officeDocument/2006/docPropsVTypes">
  <Template/>
  <TotalTime>0</TotalTime>
  <Words>1068</Words>
  <Application>Microsoft Office PowerPoint</Application>
  <PresentationFormat>Affichage à l'écran (16:9)</PresentationFormat>
  <Paragraphs>289</Paragraphs>
  <Slides>24</Slides>
  <Notes>8</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24</vt:i4>
      </vt:variant>
    </vt:vector>
  </HeadingPairs>
  <TitlesOfParts>
    <vt:vector size="32" baseType="lpstr">
      <vt:lpstr>ＭＳ Ｐゴシック</vt:lpstr>
      <vt:lpstr>Arial</vt:lpstr>
      <vt:lpstr>Arial Narrow</vt:lpstr>
      <vt:lpstr>Calibri</vt:lpstr>
      <vt:lpstr>Courier New</vt:lpstr>
      <vt:lpstr>Verdana</vt:lpstr>
      <vt:lpstr>Wingdings</vt:lpstr>
      <vt:lpstr>TemplateBE_FR</vt:lpstr>
      <vt:lpstr>Présentation PowerPoint</vt:lpstr>
      <vt:lpstr>Présentation PowerPoint</vt:lpstr>
      <vt:lpstr>Objectifs de la formation</vt:lpstr>
      <vt:lpstr>Présentation PowerPoint</vt:lpstr>
      <vt:lpstr>Description du processus métier Les enjeux du processus</vt:lpstr>
      <vt:lpstr>Description du processus métier Gestion des fiches info-achat</vt:lpstr>
      <vt:lpstr>Description du processus métier Un sous processus de la gestion des contrats</vt:lpstr>
      <vt:lpstr>Le processus de gestion des fiches info-achat</vt:lpstr>
      <vt:lpstr>Présentation PowerPoint</vt:lpstr>
      <vt:lpstr>Description des objets SAP</vt:lpstr>
      <vt:lpstr>Description des objets SAP</vt:lpstr>
      <vt:lpstr>Mode opératoire Présentation du mode opératoire dans SAP</vt:lpstr>
      <vt:lpstr>Mode opératoire ME11 – Création d’une fiche info-achat de type standard 1/2</vt:lpstr>
      <vt:lpstr>Mode opératoire ME11 – Création d’une fiche info-achat de type standard 2/2</vt:lpstr>
      <vt:lpstr>Mode opératoire ME11 – Création d’une fiche info-achat de type sous-traitance 1/2</vt:lpstr>
      <vt:lpstr>Mode opératoire ME11 – Création d’une fiche info-achat de type sous-traitance 2/2</vt:lpstr>
      <vt:lpstr>Présentation PowerPoint</vt:lpstr>
      <vt:lpstr>Mode opératoire ME01 - Création d'un répertoire de source d'approvisionnement (manuellement) 1/2</vt:lpstr>
      <vt:lpstr>Mode opératoire ME01 - Création d'un répertoire de source d'approvisionnement (manuellement) 2/2</vt:lpstr>
      <vt:lpstr>Mode opératoire ME01 - Création d'un répertoire de source d'approvisionnement (automatiquement)</vt:lpstr>
      <vt:lpstr>Présentation PowerPoint</vt:lpstr>
      <vt:lpstr>Présentation PowerPoint</vt:lpstr>
      <vt:lpstr>Synthèse</vt:lpstr>
      <vt:lpstr>Des questions ?</vt:lpstr>
    </vt:vector>
  </TitlesOfParts>
  <Company>FutureBrand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CBG - Comité Projet</dc:title>
  <dc:creator>BearingPoint</dc:creator>
  <cp:lastModifiedBy>Sardou, Yann</cp:lastModifiedBy>
  <cp:revision>3691</cp:revision>
  <cp:lastPrinted>2015-12-09T16:57:41Z</cp:lastPrinted>
  <dcterms:created xsi:type="dcterms:W3CDTF">2012-05-17T14:14:37Z</dcterms:created>
  <dcterms:modified xsi:type="dcterms:W3CDTF">2015-12-21T14:09:49Z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0x010100EC8D0F09C22B4C4AB25CA30ADC8FDF91</vt:lpwstr>
  </property>
  <property fmtid="{D5CDD505-2E9C-101B-9397-08002B2CF9AE}" pid="3" name="Order">
    <vt:r8>9600</vt:r8>
  </property>
  <property fmtid="{D5CDD505-2E9C-101B-9397-08002B2CF9AE}" pid="4" name="_dlc_DocIdItemGuid">
    <vt:lpwstr>1c0d62eb-b997-4bb8-b4c6-277e8105ca8b</vt:lpwstr>
  </property>
</Properties>
</file>